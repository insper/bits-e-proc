
<file path=[Content_Types].xml><?xml version="1.0" encoding="utf-8"?>
<Types xmlns="http://schemas.openxmlformats.org/package/2006/content-types">
  <Default Extension="bin" ContentType="application/vnd.openxmlformats-officedocument.oleObject"/>
  <Default Extension="gif" ContentType="image/gif"/>
  <Default Extension="jp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5"/>
  </p:notesMasterIdLst>
  <p:handoutMasterIdLst>
    <p:handoutMasterId r:id="rId26"/>
  </p:handoutMasterIdLst>
  <p:sldIdLst>
    <p:sldId id="269" r:id="rId2"/>
    <p:sldId id="331" r:id="rId3"/>
    <p:sldId id="375" r:id="rId4"/>
    <p:sldId id="309" r:id="rId5"/>
    <p:sldId id="311" r:id="rId6"/>
    <p:sldId id="337" r:id="rId7"/>
    <p:sldId id="338" r:id="rId8"/>
    <p:sldId id="339" r:id="rId9"/>
    <p:sldId id="389" r:id="rId10"/>
    <p:sldId id="326" r:id="rId11"/>
    <p:sldId id="313" r:id="rId12"/>
    <p:sldId id="361" r:id="rId13"/>
    <p:sldId id="320" r:id="rId14"/>
    <p:sldId id="344" r:id="rId15"/>
    <p:sldId id="316" r:id="rId16"/>
    <p:sldId id="345" r:id="rId17"/>
    <p:sldId id="346" r:id="rId18"/>
    <p:sldId id="347" r:id="rId19"/>
    <p:sldId id="351" r:id="rId20"/>
    <p:sldId id="352" r:id="rId21"/>
    <p:sldId id="388" r:id="rId22"/>
    <p:sldId id="353" r:id="rId23"/>
    <p:sldId id="26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84C31C-1F91-4B9B-8D1B-34ADBFAFA918}" v="47" dt="2026-09-03T22:41:40.1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09" autoAdjust="0"/>
    <p:restoredTop sz="94731" autoAdjust="0"/>
  </p:normalViewPr>
  <p:slideViewPr>
    <p:cSldViewPr snapToGrid="0" snapToObjects="1" showGuides="1">
      <p:cViewPr varScale="1">
        <p:scale>
          <a:sx n="122" d="100"/>
          <a:sy n="122" d="100"/>
        </p:scale>
        <p:origin x="1488" y="102"/>
      </p:cViewPr>
      <p:guideLst>
        <p:guide orient="horz" pos="2160"/>
        <p:guide pos="2880"/>
      </p:guideLst>
    </p:cSldViewPr>
  </p:slideViewPr>
  <p:outlineViewPr>
    <p:cViewPr>
      <p:scale>
        <a:sx n="33" d="100"/>
        <a:sy n="33" d="100"/>
      </p:scale>
      <p:origin x="0" y="708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no Pereira Soares" userId="16c53e34-c952-423e-8700-c0525d23304f" providerId="ADAL" clId="{1D55A5D4-1FC1-4934-A025-59DDC391468D}"/>
    <pc:docChg chg="undo custSel delSld modSld">
      <pc:chgData name="Luciano Pereira Soares" userId="16c53e34-c952-423e-8700-c0525d23304f" providerId="ADAL" clId="{1D55A5D4-1FC1-4934-A025-59DDC391468D}" dt="2026-09-03T22:41:42.685" v="263" actId="14100"/>
      <pc:docMkLst>
        <pc:docMk/>
      </pc:docMkLst>
      <pc:sldChg chg="delSp mod delAnim">
        <pc:chgData name="Luciano Pereira Soares" userId="16c53e34-c952-423e-8700-c0525d23304f" providerId="ADAL" clId="{1D55A5D4-1FC1-4934-A025-59DDC391468D}" dt="2026-09-03T21:18:15.147" v="73" actId="478"/>
        <pc:sldMkLst>
          <pc:docMk/>
          <pc:sldMk cId="0" sldId="262"/>
        </pc:sldMkLst>
        <pc:picChg chg="del">
          <ac:chgData name="Luciano Pereira Soares" userId="16c53e34-c952-423e-8700-c0525d23304f" providerId="ADAL" clId="{1D55A5D4-1FC1-4934-A025-59DDC391468D}" dt="2026-09-03T21:18:15.147" v="73" actId="478"/>
          <ac:picMkLst>
            <pc:docMk/>
            <pc:sldMk cId="0" sldId="262"/>
            <ac:picMk id="6" creationId="{00000000-0000-0000-0000-000000000000}"/>
          </ac:picMkLst>
        </pc:picChg>
      </pc:sldChg>
      <pc:sldChg chg="delSp modSp mod delAnim">
        <pc:chgData name="Luciano Pereira Soares" userId="16c53e34-c952-423e-8700-c0525d23304f" providerId="ADAL" clId="{1D55A5D4-1FC1-4934-A025-59DDC391468D}" dt="2026-09-03T21:16:56.396" v="52" actId="478"/>
        <pc:sldMkLst>
          <pc:docMk/>
          <pc:sldMk cId="2842346991" sldId="269"/>
        </pc:sldMkLst>
        <pc:spChg chg="mod">
          <ac:chgData name="Luciano Pereira Soares" userId="16c53e34-c952-423e-8700-c0525d23304f" providerId="ADAL" clId="{1D55A5D4-1FC1-4934-A025-59DDC391468D}" dt="2026-09-03T21:07:04.335" v="2" actId="6549"/>
          <ac:spMkLst>
            <pc:docMk/>
            <pc:sldMk cId="2842346991" sldId="269"/>
            <ac:spMk id="3" creationId="{00000000-0000-0000-0000-000000000000}"/>
          </ac:spMkLst>
        </pc:spChg>
        <pc:spChg chg="mod">
          <ac:chgData name="Luciano Pereira Soares" userId="16c53e34-c952-423e-8700-c0525d23304f" providerId="ADAL" clId="{1D55A5D4-1FC1-4934-A025-59DDC391468D}" dt="2026-09-03T21:07:10.611" v="23" actId="20577"/>
          <ac:spMkLst>
            <pc:docMk/>
            <pc:sldMk cId="2842346991" sldId="269"/>
            <ac:spMk id="8" creationId="{00000000-0000-0000-0000-000000000000}"/>
          </ac:spMkLst>
        </pc:spChg>
        <pc:picChg chg="del">
          <ac:chgData name="Luciano Pereira Soares" userId="16c53e34-c952-423e-8700-c0525d23304f" providerId="ADAL" clId="{1D55A5D4-1FC1-4934-A025-59DDC391468D}" dt="2026-09-03T21:16:56.396" v="52" actId="478"/>
          <ac:picMkLst>
            <pc:docMk/>
            <pc:sldMk cId="2842346991" sldId="269"/>
            <ac:picMk id="4" creationId="{00000000-0000-0000-0000-000000000000}"/>
          </ac:picMkLst>
        </pc:picChg>
      </pc:sldChg>
      <pc:sldChg chg="delSp modSp mod delAnim">
        <pc:chgData name="Luciano Pereira Soares" userId="16c53e34-c952-423e-8700-c0525d23304f" providerId="ADAL" clId="{1D55A5D4-1FC1-4934-A025-59DDC391468D}" dt="2026-09-03T22:00:01.536" v="219" actId="20577"/>
        <pc:sldMkLst>
          <pc:docMk/>
          <pc:sldMk cId="3539310379" sldId="309"/>
        </pc:sldMkLst>
        <pc:spChg chg="mod">
          <ac:chgData name="Luciano Pereira Soares" userId="16c53e34-c952-423e-8700-c0525d23304f" providerId="ADAL" clId="{1D55A5D4-1FC1-4934-A025-59DDC391468D}" dt="2026-09-03T22:00:01.536" v="219" actId="20577"/>
          <ac:spMkLst>
            <pc:docMk/>
            <pc:sldMk cId="3539310379" sldId="309"/>
            <ac:spMk id="3" creationId="{00000000-0000-0000-0000-000000000000}"/>
          </ac:spMkLst>
        </pc:spChg>
        <pc:picChg chg="del">
          <ac:chgData name="Luciano Pereira Soares" userId="16c53e34-c952-423e-8700-c0525d23304f" providerId="ADAL" clId="{1D55A5D4-1FC1-4934-A025-59DDC391468D}" dt="2026-09-03T21:17:06.538" v="55" actId="478"/>
          <ac:picMkLst>
            <pc:docMk/>
            <pc:sldMk cId="3539310379" sldId="309"/>
            <ac:picMk id="7" creationId="{00000000-0000-0000-0000-000000000000}"/>
          </ac:picMkLst>
        </pc:picChg>
      </pc:sldChg>
      <pc:sldChg chg="addSp delSp modSp mod delAnim modAnim">
        <pc:chgData name="Luciano Pereira Soares" userId="16c53e34-c952-423e-8700-c0525d23304f" providerId="ADAL" clId="{1D55A5D4-1FC1-4934-A025-59DDC391468D}" dt="2026-09-03T21:17:09.251" v="56" actId="478"/>
        <pc:sldMkLst>
          <pc:docMk/>
          <pc:sldMk cId="1787857689" sldId="311"/>
        </pc:sldMkLst>
        <pc:spChg chg="mod">
          <ac:chgData name="Luciano Pereira Soares" userId="16c53e34-c952-423e-8700-c0525d23304f" providerId="ADAL" clId="{1D55A5D4-1FC1-4934-A025-59DDC391468D}" dt="2026-09-03T21:14:47.354" v="32" actId="20577"/>
          <ac:spMkLst>
            <pc:docMk/>
            <pc:sldMk cId="1787857689" sldId="311"/>
            <ac:spMk id="2" creationId="{00000000-0000-0000-0000-000000000000}"/>
          </ac:spMkLst>
        </pc:spChg>
        <pc:spChg chg="add mod">
          <ac:chgData name="Luciano Pereira Soares" userId="16c53e34-c952-423e-8700-c0525d23304f" providerId="ADAL" clId="{1D55A5D4-1FC1-4934-A025-59DDC391468D}" dt="2026-09-03T21:15:34.213" v="49" actId="208"/>
          <ac:spMkLst>
            <pc:docMk/>
            <pc:sldMk cId="1787857689" sldId="311"/>
            <ac:spMk id="7" creationId="{AD6005B6-B59E-6BA7-D265-DE419B50E865}"/>
          </ac:spMkLst>
        </pc:spChg>
        <pc:picChg chg="del">
          <ac:chgData name="Luciano Pereira Soares" userId="16c53e34-c952-423e-8700-c0525d23304f" providerId="ADAL" clId="{1D55A5D4-1FC1-4934-A025-59DDC391468D}" dt="2026-09-03T21:17:09.251" v="56" actId="478"/>
          <ac:picMkLst>
            <pc:docMk/>
            <pc:sldMk cId="1787857689" sldId="311"/>
            <ac:picMk id="8" creationId="{00000000-0000-0000-0000-000000000000}"/>
          </ac:picMkLst>
        </pc:picChg>
      </pc:sldChg>
      <pc:sldChg chg="delSp modSp mod delAnim">
        <pc:chgData name="Luciano Pereira Soares" userId="16c53e34-c952-423e-8700-c0525d23304f" providerId="ADAL" clId="{1D55A5D4-1FC1-4934-A025-59DDC391468D}" dt="2026-09-03T21:52:33.054" v="150" actId="20577"/>
        <pc:sldMkLst>
          <pc:docMk/>
          <pc:sldMk cId="2006696339" sldId="313"/>
        </pc:sldMkLst>
        <pc:spChg chg="mod">
          <ac:chgData name="Luciano Pereira Soares" userId="16c53e34-c952-423e-8700-c0525d23304f" providerId="ADAL" clId="{1D55A5D4-1FC1-4934-A025-59DDC391468D}" dt="2026-09-03T21:52:33.054" v="150" actId="20577"/>
          <ac:spMkLst>
            <pc:docMk/>
            <pc:sldMk cId="2006696339" sldId="313"/>
            <ac:spMk id="3" creationId="{00000000-0000-0000-0000-000000000000}"/>
          </ac:spMkLst>
        </pc:spChg>
        <pc:spChg chg="mod">
          <ac:chgData name="Luciano Pereira Soares" userId="16c53e34-c952-423e-8700-c0525d23304f" providerId="ADAL" clId="{1D55A5D4-1FC1-4934-A025-59DDC391468D}" dt="2026-09-03T21:48:37.606" v="146" actId="20577"/>
          <ac:spMkLst>
            <pc:docMk/>
            <pc:sldMk cId="2006696339" sldId="313"/>
            <ac:spMk id="7" creationId="{00000000-0000-0000-0000-000000000000}"/>
          </ac:spMkLst>
        </pc:spChg>
        <pc:spChg chg="mod">
          <ac:chgData name="Luciano Pereira Soares" userId="16c53e34-c952-423e-8700-c0525d23304f" providerId="ADAL" clId="{1D55A5D4-1FC1-4934-A025-59DDC391468D}" dt="2026-09-03T21:49:01.545" v="147" actId="20577"/>
          <ac:spMkLst>
            <pc:docMk/>
            <pc:sldMk cId="2006696339" sldId="313"/>
            <ac:spMk id="9" creationId="{00000000-0000-0000-0000-000000000000}"/>
          </ac:spMkLst>
        </pc:spChg>
        <pc:picChg chg="del">
          <ac:chgData name="Luciano Pereira Soares" userId="16c53e34-c952-423e-8700-c0525d23304f" providerId="ADAL" clId="{1D55A5D4-1FC1-4934-A025-59DDC391468D}" dt="2026-09-03T21:17:27.485" v="61" actId="478"/>
          <ac:picMkLst>
            <pc:docMk/>
            <pc:sldMk cId="2006696339" sldId="313"/>
            <ac:picMk id="10" creationId="{00000000-0000-0000-0000-000000000000}"/>
          </ac:picMkLst>
        </pc:picChg>
      </pc:sldChg>
      <pc:sldChg chg="addSp delSp modSp mod delAnim modNotesTx">
        <pc:chgData name="Luciano Pereira Soares" userId="16c53e34-c952-423e-8700-c0525d23304f" providerId="ADAL" clId="{1D55A5D4-1FC1-4934-A025-59DDC391468D}" dt="2026-09-03T21:54:19.221" v="183" actId="1076"/>
        <pc:sldMkLst>
          <pc:docMk/>
          <pc:sldMk cId="1001621593" sldId="316"/>
        </pc:sldMkLst>
        <pc:spChg chg="add mod">
          <ac:chgData name="Luciano Pereira Soares" userId="16c53e34-c952-423e-8700-c0525d23304f" providerId="ADAL" clId="{1D55A5D4-1FC1-4934-A025-59DDC391468D}" dt="2026-09-03T21:54:19.221" v="183" actId="1076"/>
          <ac:spMkLst>
            <pc:docMk/>
            <pc:sldMk cId="1001621593" sldId="316"/>
            <ac:spMk id="15" creationId="{0F300C5C-26DD-EB76-8994-36BB34DB4F5C}"/>
          </ac:spMkLst>
        </pc:spChg>
        <pc:picChg chg="del">
          <ac:chgData name="Luciano Pereira Soares" userId="16c53e34-c952-423e-8700-c0525d23304f" providerId="ADAL" clId="{1D55A5D4-1FC1-4934-A025-59DDC391468D}" dt="2026-09-03T21:17:51.330" v="65" actId="478"/>
          <ac:picMkLst>
            <pc:docMk/>
            <pc:sldMk cId="1001621593" sldId="316"/>
            <ac:picMk id="7" creationId="{00000000-0000-0000-0000-000000000000}"/>
          </ac:picMkLst>
        </pc:picChg>
      </pc:sldChg>
      <pc:sldChg chg="delSp modSp mod delAnim">
        <pc:chgData name="Luciano Pereira Soares" userId="16c53e34-c952-423e-8700-c0525d23304f" providerId="ADAL" clId="{1D55A5D4-1FC1-4934-A025-59DDC391468D}" dt="2026-09-03T21:53:20.064" v="154" actId="14100"/>
        <pc:sldMkLst>
          <pc:docMk/>
          <pc:sldMk cId="3980877792" sldId="320"/>
        </pc:sldMkLst>
        <pc:spChg chg="mod">
          <ac:chgData name="Luciano Pereira Soares" userId="16c53e34-c952-423e-8700-c0525d23304f" providerId="ADAL" clId="{1D55A5D4-1FC1-4934-A025-59DDC391468D}" dt="2026-09-03T21:53:20.064" v="154" actId="14100"/>
          <ac:spMkLst>
            <pc:docMk/>
            <pc:sldMk cId="3980877792" sldId="320"/>
            <ac:spMk id="2" creationId="{00000000-0000-0000-0000-000000000000}"/>
          </ac:spMkLst>
        </pc:spChg>
        <pc:picChg chg="del">
          <ac:chgData name="Luciano Pereira Soares" userId="16c53e34-c952-423e-8700-c0525d23304f" providerId="ADAL" clId="{1D55A5D4-1FC1-4934-A025-59DDC391468D}" dt="2026-09-03T21:17:47.127" v="63" actId="478"/>
          <ac:picMkLst>
            <pc:docMk/>
            <pc:sldMk cId="3980877792" sldId="320"/>
            <ac:picMk id="3" creationId="{00000000-0000-0000-0000-000000000000}"/>
          </ac:picMkLst>
        </pc:picChg>
      </pc:sldChg>
      <pc:sldChg chg="delSp modSp mod delAnim">
        <pc:chgData name="Luciano Pereira Soares" userId="16c53e34-c952-423e-8700-c0525d23304f" providerId="ADAL" clId="{1D55A5D4-1FC1-4934-A025-59DDC391468D}" dt="2026-09-03T22:32:19.384" v="220" actId="20577"/>
        <pc:sldMkLst>
          <pc:docMk/>
          <pc:sldMk cId="980221586" sldId="326"/>
        </pc:sldMkLst>
        <pc:spChg chg="mod">
          <ac:chgData name="Luciano Pereira Soares" userId="16c53e34-c952-423e-8700-c0525d23304f" providerId="ADAL" clId="{1D55A5D4-1FC1-4934-A025-59DDC391468D}" dt="2026-09-03T22:32:19.384" v="220" actId="20577"/>
          <ac:spMkLst>
            <pc:docMk/>
            <pc:sldMk cId="980221586" sldId="326"/>
            <ac:spMk id="3" creationId="{00000000-0000-0000-0000-000000000000}"/>
          </ac:spMkLst>
        </pc:spChg>
        <pc:picChg chg="del">
          <ac:chgData name="Luciano Pereira Soares" userId="16c53e34-c952-423e-8700-c0525d23304f" providerId="ADAL" clId="{1D55A5D4-1FC1-4934-A025-59DDC391468D}" dt="2026-09-03T21:17:24.740" v="60" actId="478"/>
          <ac:picMkLst>
            <pc:docMk/>
            <pc:sldMk cId="980221586" sldId="326"/>
            <ac:picMk id="12" creationId="{00000000-0000-0000-0000-000000000000}"/>
          </ac:picMkLst>
        </pc:picChg>
      </pc:sldChg>
      <pc:sldChg chg="delSp modSp mod delAnim">
        <pc:chgData name="Luciano Pereira Soares" userId="16c53e34-c952-423e-8700-c0525d23304f" providerId="ADAL" clId="{1D55A5D4-1FC1-4934-A025-59DDC391468D}" dt="2026-09-03T21:56:20.127" v="198" actId="20577"/>
        <pc:sldMkLst>
          <pc:docMk/>
          <pc:sldMk cId="197056866" sldId="331"/>
        </pc:sldMkLst>
        <pc:spChg chg="mod">
          <ac:chgData name="Luciano Pereira Soares" userId="16c53e34-c952-423e-8700-c0525d23304f" providerId="ADAL" clId="{1D55A5D4-1FC1-4934-A025-59DDC391468D}" dt="2026-09-03T21:56:20.127" v="198" actId="20577"/>
          <ac:spMkLst>
            <pc:docMk/>
            <pc:sldMk cId="197056866" sldId="331"/>
            <ac:spMk id="3" creationId="{00000000-0000-0000-0000-000000000000}"/>
          </ac:spMkLst>
        </pc:spChg>
        <pc:picChg chg="mod">
          <ac:chgData name="Luciano Pereira Soares" userId="16c53e34-c952-423e-8700-c0525d23304f" providerId="ADAL" clId="{1D55A5D4-1FC1-4934-A025-59DDC391468D}" dt="2026-09-03T21:56:06.491" v="194" actId="1076"/>
          <ac:picMkLst>
            <pc:docMk/>
            <pc:sldMk cId="197056866" sldId="331"/>
            <ac:picMk id="8" creationId="{00000000-0000-0000-0000-000000000000}"/>
          </ac:picMkLst>
        </pc:picChg>
        <pc:picChg chg="del">
          <ac:chgData name="Luciano Pereira Soares" userId="16c53e34-c952-423e-8700-c0525d23304f" providerId="ADAL" clId="{1D55A5D4-1FC1-4934-A025-59DDC391468D}" dt="2026-09-03T21:16:59.346" v="53" actId="478"/>
          <ac:picMkLst>
            <pc:docMk/>
            <pc:sldMk cId="197056866" sldId="331"/>
            <ac:picMk id="15" creationId="{00000000-0000-0000-0000-000000000000}"/>
          </ac:picMkLst>
        </pc:picChg>
      </pc:sldChg>
      <pc:sldChg chg="delSp mod delAnim">
        <pc:chgData name="Luciano Pereira Soares" userId="16c53e34-c952-423e-8700-c0525d23304f" providerId="ADAL" clId="{1D55A5D4-1FC1-4934-A025-59DDC391468D}" dt="2026-09-03T21:17:11.722" v="57" actId="478"/>
        <pc:sldMkLst>
          <pc:docMk/>
          <pc:sldMk cId="2731117646" sldId="337"/>
        </pc:sldMkLst>
        <pc:picChg chg="del">
          <ac:chgData name="Luciano Pereira Soares" userId="16c53e34-c952-423e-8700-c0525d23304f" providerId="ADAL" clId="{1D55A5D4-1FC1-4934-A025-59DDC391468D}" dt="2026-09-03T21:17:11.722" v="57" actId="478"/>
          <ac:picMkLst>
            <pc:docMk/>
            <pc:sldMk cId="2731117646" sldId="337"/>
            <ac:picMk id="11" creationId="{00000000-0000-0000-0000-000000000000}"/>
          </ac:picMkLst>
        </pc:picChg>
      </pc:sldChg>
      <pc:sldChg chg="delSp modSp mod delAnim">
        <pc:chgData name="Luciano Pereira Soares" userId="16c53e34-c952-423e-8700-c0525d23304f" providerId="ADAL" clId="{1D55A5D4-1FC1-4934-A025-59DDC391468D}" dt="2026-09-03T21:42:07.541" v="90" actId="20577"/>
        <pc:sldMkLst>
          <pc:docMk/>
          <pc:sldMk cId="2610403686" sldId="338"/>
        </pc:sldMkLst>
        <pc:spChg chg="mod">
          <ac:chgData name="Luciano Pereira Soares" userId="16c53e34-c952-423e-8700-c0525d23304f" providerId="ADAL" clId="{1D55A5D4-1FC1-4934-A025-59DDC391468D}" dt="2026-09-03T21:42:07.541" v="90" actId="20577"/>
          <ac:spMkLst>
            <pc:docMk/>
            <pc:sldMk cId="2610403686" sldId="338"/>
            <ac:spMk id="3" creationId="{00000000-0000-0000-0000-000000000000}"/>
          </ac:spMkLst>
        </pc:spChg>
        <pc:picChg chg="del">
          <ac:chgData name="Luciano Pereira Soares" userId="16c53e34-c952-423e-8700-c0525d23304f" providerId="ADAL" clId="{1D55A5D4-1FC1-4934-A025-59DDC391468D}" dt="2026-09-03T21:17:14.779" v="58" actId="478"/>
          <ac:picMkLst>
            <pc:docMk/>
            <pc:sldMk cId="2610403686" sldId="338"/>
            <ac:picMk id="14" creationId="{00000000-0000-0000-0000-000000000000}"/>
          </ac:picMkLst>
        </pc:picChg>
      </pc:sldChg>
      <pc:sldChg chg="addSp delSp modSp mod addAnim delAnim modAnim">
        <pc:chgData name="Luciano Pereira Soares" userId="16c53e34-c952-423e-8700-c0525d23304f" providerId="ADAL" clId="{1D55A5D4-1FC1-4934-A025-59DDC391468D}" dt="2026-09-03T21:46:14.158" v="123" actId="1036"/>
        <pc:sldMkLst>
          <pc:docMk/>
          <pc:sldMk cId="868850266" sldId="339"/>
        </pc:sldMkLst>
        <pc:spChg chg="mod">
          <ac:chgData name="Luciano Pereira Soares" userId="16c53e34-c952-423e-8700-c0525d23304f" providerId="ADAL" clId="{1D55A5D4-1FC1-4934-A025-59DDC391468D}" dt="2026-09-03T21:46:04.401" v="108" actId="20577"/>
          <ac:spMkLst>
            <pc:docMk/>
            <pc:sldMk cId="868850266" sldId="339"/>
            <ac:spMk id="3" creationId="{00000000-0000-0000-0000-000000000000}"/>
          </ac:spMkLst>
        </pc:spChg>
        <pc:spChg chg="mod">
          <ac:chgData name="Luciano Pereira Soares" userId="16c53e34-c952-423e-8700-c0525d23304f" providerId="ADAL" clId="{1D55A5D4-1FC1-4934-A025-59DDC391468D}" dt="2026-09-03T21:46:14.158" v="123" actId="1036"/>
          <ac:spMkLst>
            <pc:docMk/>
            <pc:sldMk cId="868850266" sldId="339"/>
            <ac:spMk id="6" creationId="{00000000-0000-0000-0000-000000000000}"/>
          </ac:spMkLst>
        </pc:spChg>
        <pc:spChg chg="add mod">
          <ac:chgData name="Luciano Pereira Soares" userId="16c53e34-c952-423e-8700-c0525d23304f" providerId="ADAL" clId="{1D55A5D4-1FC1-4934-A025-59DDC391468D}" dt="2026-09-03T21:46:14.158" v="123" actId="1036"/>
          <ac:spMkLst>
            <pc:docMk/>
            <pc:sldMk cId="868850266" sldId="339"/>
            <ac:spMk id="7" creationId="{B0308FEB-EB6A-EF28-BCE7-2954CBE3EBDB}"/>
          </ac:spMkLst>
        </pc:spChg>
        <pc:spChg chg="add mod">
          <ac:chgData name="Luciano Pereira Soares" userId="16c53e34-c952-423e-8700-c0525d23304f" providerId="ADAL" clId="{1D55A5D4-1FC1-4934-A025-59DDC391468D}" dt="2026-09-03T21:46:14.158" v="123" actId="1036"/>
          <ac:spMkLst>
            <pc:docMk/>
            <pc:sldMk cId="868850266" sldId="339"/>
            <ac:spMk id="15" creationId="{7189C6F6-6036-B7E0-A555-A7C1FDDFAAEE}"/>
          </ac:spMkLst>
        </pc:spChg>
        <pc:spChg chg="add mod">
          <ac:chgData name="Luciano Pereira Soares" userId="16c53e34-c952-423e-8700-c0525d23304f" providerId="ADAL" clId="{1D55A5D4-1FC1-4934-A025-59DDC391468D}" dt="2026-09-03T21:46:14.158" v="123" actId="1036"/>
          <ac:spMkLst>
            <pc:docMk/>
            <pc:sldMk cId="868850266" sldId="339"/>
            <ac:spMk id="17" creationId="{5D0D5ADA-5B4A-3962-752F-B20FDF3BC9B6}"/>
          </ac:spMkLst>
        </pc:spChg>
        <pc:spChg chg="add mod">
          <ac:chgData name="Luciano Pereira Soares" userId="16c53e34-c952-423e-8700-c0525d23304f" providerId="ADAL" clId="{1D55A5D4-1FC1-4934-A025-59DDC391468D}" dt="2026-09-03T21:46:14.158" v="123" actId="1036"/>
          <ac:spMkLst>
            <pc:docMk/>
            <pc:sldMk cId="868850266" sldId="339"/>
            <ac:spMk id="19" creationId="{F7E18461-F42A-9CCF-A3EE-0A4650E9C17F}"/>
          </ac:spMkLst>
        </pc:spChg>
        <pc:spChg chg="mod">
          <ac:chgData name="Luciano Pereira Soares" userId="16c53e34-c952-423e-8700-c0525d23304f" providerId="ADAL" clId="{1D55A5D4-1FC1-4934-A025-59DDC391468D}" dt="2026-09-03T21:46:14.158" v="123" actId="1036"/>
          <ac:spMkLst>
            <pc:docMk/>
            <pc:sldMk cId="868850266" sldId="339"/>
            <ac:spMk id="33" creationId="{00000000-0000-0000-0000-000000000000}"/>
          </ac:spMkLst>
        </pc:spChg>
        <pc:grpChg chg="mod">
          <ac:chgData name="Luciano Pereira Soares" userId="16c53e34-c952-423e-8700-c0525d23304f" providerId="ADAL" clId="{1D55A5D4-1FC1-4934-A025-59DDC391468D}" dt="2026-09-03T21:46:14.158" v="123" actId="1036"/>
          <ac:grpSpMkLst>
            <pc:docMk/>
            <pc:sldMk cId="868850266" sldId="339"/>
            <ac:grpSpMk id="51" creationId="{00000000-0000-0000-0000-000000000000}"/>
          </ac:grpSpMkLst>
        </pc:grpChg>
        <pc:grpChg chg="mod">
          <ac:chgData name="Luciano Pereira Soares" userId="16c53e34-c952-423e-8700-c0525d23304f" providerId="ADAL" clId="{1D55A5D4-1FC1-4934-A025-59DDC391468D}" dt="2026-09-03T21:46:14.158" v="123" actId="1036"/>
          <ac:grpSpMkLst>
            <pc:docMk/>
            <pc:sldMk cId="868850266" sldId="339"/>
            <ac:grpSpMk id="90" creationId="{00000000-0000-0000-0000-000000000000}"/>
          </ac:grpSpMkLst>
        </pc:grpChg>
        <pc:grpChg chg="mod">
          <ac:chgData name="Luciano Pereira Soares" userId="16c53e34-c952-423e-8700-c0525d23304f" providerId="ADAL" clId="{1D55A5D4-1FC1-4934-A025-59DDC391468D}" dt="2026-09-03T21:46:14.158" v="123" actId="1036"/>
          <ac:grpSpMkLst>
            <pc:docMk/>
            <pc:sldMk cId="868850266" sldId="339"/>
            <ac:grpSpMk id="100" creationId="{00000000-0000-0000-0000-000000000000}"/>
          </ac:grpSpMkLst>
        </pc:grpChg>
        <pc:grpChg chg="mod">
          <ac:chgData name="Luciano Pereira Soares" userId="16c53e34-c952-423e-8700-c0525d23304f" providerId="ADAL" clId="{1D55A5D4-1FC1-4934-A025-59DDC391468D}" dt="2026-09-03T21:46:14.158" v="123" actId="1036"/>
          <ac:grpSpMkLst>
            <pc:docMk/>
            <pc:sldMk cId="868850266" sldId="339"/>
            <ac:grpSpMk id="110" creationId="{00000000-0000-0000-0000-000000000000}"/>
          </ac:grpSpMkLst>
        </pc:grpChg>
        <pc:picChg chg="del">
          <ac:chgData name="Luciano Pereira Soares" userId="16c53e34-c952-423e-8700-c0525d23304f" providerId="ADAL" clId="{1D55A5D4-1FC1-4934-A025-59DDC391468D}" dt="2026-09-03T21:17:18.896" v="59" actId="478"/>
          <ac:picMkLst>
            <pc:docMk/>
            <pc:sldMk cId="868850266" sldId="339"/>
            <ac:picMk id="11" creationId="{00000000-0000-0000-0000-000000000000}"/>
          </ac:picMkLst>
        </pc:picChg>
        <pc:cxnChg chg="add mod">
          <ac:chgData name="Luciano Pereira Soares" userId="16c53e34-c952-423e-8700-c0525d23304f" providerId="ADAL" clId="{1D55A5D4-1FC1-4934-A025-59DDC391468D}" dt="2026-09-03T21:44:05.217" v="98" actId="14100"/>
          <ac:cxnSpMkLst>
            <pc:docMk/>
            <pc:sldMk cId="868850266" sldId="339"/>
            <ac:cxnSpMk id="9" creationId="{3570253A-F11F-8482-D2F1-53590BABAE7C}"/>
          </ac:cxnSpMkLst>
        </pc:cxnChg>
        <pc:cxnChg chg="add mod">
          <ac:chgData name="Luciano Pereira Soares" userId="16c53e34-c952-423e-8700-c0525d23304f" providerId="ADAL" clId="{1D55A5D4-1FC1-4934-A025-59DDC391468D}" dt="2026-09-03T21:44:14.483" v="100" actId="1076"/>
          <ac:cxnSpMkLst>
            <pc:docMk/>
            <pc:sldMk cId="868850266" sldId="339"/>
            <ac:cxnSpMk id="16" creationId="{0C14CFA5-06E2-CB48-E198-E3E56AD5A242}"/>
          </ac:cxnSpMkLst>
        </pc:cxnChg>
        <pc:cxnChg chg="add mod">
          <ac:chgData name="Luciano Pereira Soares" userId="16c53e34-c952-423e-8700-c0525d23304f" providerId="ADAL" clId="{1D55A5D4-1FC1-4934-A025-59DDC391468D}" dt="2026-09-03T21:44:34.902" v="105" actId="1076"/>
          <ac:cxnSpMkLst>
            <pc:docMk/>
            <pc:sldMk cId="868850266" sldId="339"/>
            <ac:cxnSpMk id="18" creationId="{631FFE9A-3178-E279-A936-70F1F5C4E7C2}"/>
          </ac:cxnSpMkLst>
        </pc:cxnChg>
        <pc:cxnChg chg="add mod">
          <ac:chgData name="Luciano Pereira Soares" userId="16c53e34-c952-423e-8700-c0525d23304f" providerId="ADAL" clId="{1D55A5D4-1FC1-4934-A025-59DDC391468D}" dt="2026-09-03T21:44:31.245" v="104" actId="1076"/>
          <ac:cxnSpMkLst>
            <pc:docMk/>
            <pc:sldMk cId="868850266" sldId="339"/>
            <ac:cxnSpMk id="20" creationId="{6078E5AA-F680-CB17-50E1-F8A60818E729}"/>
          </ac:cxnSpMkLst>
        </pc:cxnChg>
      </pc:sldChg>
      <pc:sldChg chg="delSp mod delAnim modShow">
        <pc:chgData name="Luciano Pereira Soares" userId="16c53e34-c952-423e-8700-c0525d23304f" providerId="ADAL" clId="{1D55A5D4-1FC1-4934-A025-59DDC391468D}" dt="2026-09-03T21:24:11.387" v="75" actId="729"/>
        <pc:sldMkLst>
          <pc:docMk/>
          <pc:sldMk cId="756607206" sldId="344"/>
        </pc:sldMkLst>
        <pc:picChg chg="del">
          <ac:chgData name="Luciano Pereira Soares" userId="16c53e34-c952-423e-8700-c0525d23304f" providerId="ADAL" clId="{1D55A5D4-1FC1-4934-A025-59DDC391468D}" dt="2026-09-03T21:17:49.127" v="64" actId="478"/>
          <ac:picMkLst>
            <pc:docMk/>
            <pc:sldMk cId="756607206" sldId="344"/>
            <ac:picMk id="3" creationId="{00000000-0000-0000-0000-000000000000}"/>
          </ac:picMkLst>
        </pc:picChg>
      </pc:sldChg>
      <pc:sldChg chg="addSp delSp modSp mod delAnim">
        <pc:chgData name="Luciano Pereira Soares" userId="16c53e34-c952-423e-8700-c0525d23304f" providerId="ADAL" clId="{1D55A5D4-1FC1-4934-A025-59DDC391468D}" dt="2026-09-03T21:54:23.291" v="184"/>
        <pc:sldMkLst>
          <pc:docMk/>
          <pc:sldMk cId="2157408286" sldId="345"/>
        </pc:sldMkLst>
        <pc:spChg chg="add mod">
          <ac:chgData name="Luciano Pereira Soares" userId="16c53e34-c952-423e-8700-c0525d23304f" providerId="ADAL" clId="{1D55A5D4-1FC1-4934-A025-59DDC391468D}" dt="2026-09-03T21:54:23.291" v="184"/>
          <ac:spMkLst>
            <pc:docMk/>
            <pc:sldMk cId="2157408286" sldId="345"/>
            <ac:spMk id="8" creationId="{7500C4A2-588D-DBCD-24DD-E9C2304A21A3}"/>
          </ac:spMkLst>
        </pc:spChg>
        <pc:picChg chg="del">
          <ac:chgData name="Luciano Pereira Soares" userId="16c53e34-c952-423e-8700-c0525d23304f" providerId="ADAL" clId="{1D55A5D4-1FC1-4934-A025-59DDC391468D}" dt="2026-09-03T21:17:53.943" v="66" actId="478"/>
          <ac:picMkLst>
            <pc:docMk/>
            <pc:sldMk cId="2157408286" sldId="345"/>
            <ac:picMk id="7" creationId="{00000000-0000-0000-0000-000000000000}"/>
          </ac:picMkLst>
        </pc:picChg>
      </pc:sldChg>
      <pc:sldChg chg="addSp delSp modSp mod delAnim">
        <pc:chgData name="Luciano Pereira Soares" userId="16c53e34-c952-423e-8700-c0525d23304f" providerId="ADAL" clId="{1D55A5D4-1FC1-4934-A025-59DDC391468D}" dt="2026-09-03T21:54:24.625" v="185"/>
        <pc:sldMkLst>
          <pc:docMk/>
          <pc:sldMk cId="2289230575" sldId="346"/>
        </pc:sldMkLst>
        <pc:spChg chg="add mod">
          <ac:chgData name="Luciano Pereira Soares" userId="16c53e34-c952-423e-8700-c0525d23304f" providerId="ADAL" clId="{1D55A5D4-1FC1-4934-A025-59DDC391468D}" dt="2026-09-03T21:54:24.625" v="185"/>
          <ac:spMkLst>
            <pc:docMk/>
            <pc:sldMk cId="2289230575" sldId="346"/>
            <ac:spMk id="8" creationId="{A644BFDB-8EF4-DEF0-5180-BCA743CA5ECC}"/>
          </ac:spMkLst>
        </pc:spChg>
        <pc:picChg chg="del">
          <ac:chgData name="Luciano Pereira Soares" userId="16c53e34-c952-423e-8700-c0525d23304f" providerId="ADAL" clId="{1D55A5D4-1FC1-4934-A025-59DDC391468D}" dt="2026-09-03T21:17:57.425" v="67" actId="478"/>
          <ac:picMkLst>
            <pc:docMk/>
            <pc:sldMk cId="2289230575" sldId="346"/>
            <ac:picMk id="7" creationId="{00000000-0000-0000-0000-000000000000}"/>
          </ac:picMkLst>
        </pc:picChg>
      </pc:sldChg>
      <pc:sldChg chg="addSp delSp modSp mod delAnim">
        <pc:chgData name="Luciano Pereira Soares" userId="16c53e34-c952-423e-8700-c0525d23304f" providerId="ADAL" clId="{1D55A5D4-1FC1-4934-A025-59DDC391468D}" dt="2026-09-03T21:54:25.780" v="186"/>
        <pc:sldMkLst>
          <pc:docMk/>
          <pc:sldMk cId="475993518" sldId="347"/>
        </pc:sldMkLst>
        <pc:spChg chg="add mod">
          <ac:chgData name="Luciano Pereira Soares" userId="16c53e34-c952-423e-8700-c0525d23304f" providerId="ADAL" clId="{1D55A5D4-1FC1-4934-A025-59DDC391468D}" dt="2026-09-03T21:54:25.780" v="186"/>
          <ac:spMkLst>
            <pc:docMk/>
            <pc:sldMk cId="475993518" sldId="347"/>
            <ac:spMk id="8" creationId="{DB0F8E96-704D-74C1-DA04-FF3C9AB81FB8}"/>
          </ac:spMkLst>
        </pc:spChg>
        <pc:picChg chg="del">
          <ac:chgData name="Luciano Pereira Soares" userId="16c53e34-c952-423e-8700-c0525d23304f" providerId="ADAL" clId="{1D55A5D4-1FC1-4934-A025-59DDC391468D}" dt="2026-09-03T21:17:59.332" v="68" actId="478"/>
          <ac:picMkLst>
            <pc:docMk/>
            <pc:sldMk cId="475993518" sldId="347"/>
            <ac:picMk id="7" creationId="{00000000-0000-0000-0000-000000000000}"/>
          </ac:picMkLst>
        </pc:picChg>
      </pc:sldChg>
      <pc:sldChg chg="delSp mod delAnim">
        <pc:chgData name="Luciano Pereira Soares" userId="16c53e34-c952-423e-8700-c0525d23304f" providerId="ADAL" clId="{1D55A5D4-1FC1-4934-A025-59DDC391468D}" dt="2026-09-03T21:18:02.177" v="69" actId="478"/>
        <pc:sldMkLst>
          <pc:docMk/>
          <pc:sldMk cId="1170245019" sldId="351"/>
        </pc:sldMkLst>
        <pc:picChg chg="del">
          <ac:chgData name="Luciano Pereira Soares" userId="16c53e34-c952-423e-8700-c0525d23304f" providerId="ADAL" clId="{1D55A5D4-1FC1-4934-A025-59DDC391468D}" dt="2026-09-03T21:18:02.177" v="69" actId="478"/>
          <ac:picMkLst>
            <pc:docMk/>
            <pc:sldMk cId="1170245019" sldId="351"/>
            <ac:picMk id="11" creationId="{00000000-0000-0000-0000-000000000000}"/>
          </ac:picMkLst>
        </pc:picChg>
      </pc:sldChg>
      <pc:sldChg chg="delSp modSp mod delAnim">
        <pc:chgData name="Luciano Pereira Soares" userId="16c53e34-c952-423e-8700-c0525d23304f" providerId="ADAL" clId="{1D55A5D4-1FC1-4934-A025-59DDC391468D}" dt="2026-09-03T22:33:42.300" v="225" actId="404"/>
        <pc:sldMkLst>
          <pc:docMk/>
          <pc:sldMk cId="963048599" sldId="352"/>
        </pc:sldMkLst>
        <pc:spChg chg="mod">
          <ac:chgData name="Luciano Pereira Soares" userId="16c53e34-c952-423e-8700-c0525d23304f" providerId="ADAL" clId="{1D55A5D4-1FC1-4934-A025-59DDC391468D}" dt="2026-09-03T22:33:42.300" v="225" actId="404"/>
          <ac:spMkLst>
            <pc:docMk/>
            <pc:sldMk cId="963048599" sldId="352"/>
            <ac:spMk id="3" creationId="{00000000-0000-0000-0000-000000000000}"/>
          </ac:spMkLst>
        </pc:spChg>
        <pc:picChg chg="del">
          <ac:chgData name="Luciano Pereira Soares" userId="16c53e34-c952-423e-8700-c0525d23304f" providerId="ADAL" clId="{1D55A5D4-1FC1-4934-A025-59DDC391468D}" dt="2026-09-03T21:18:04.672" v="70" actId="478"/>
          <ac:picMkLst>
            <pc:docMk/>
            <pc:sldMk cId="963048599" sldId="352"/>
            <ac:picMk id="8" creationId="{00000000-0000-0000-0000-000000000000}"/>
          </ac:picMkLst>
        </pc:picChg>
      </pc:sldChg>
      <pc:sldChg chg="addSp delSp modSp mod addAnim delAnim modAnim">
        <pc:chgData name="Luciano Pereira Soares" userId="16c53e34-c952-423e-8700-c0525d23304f" providerId="ADAL" clId="{1D55A5D4-1FC1-4934-A025-59DDC391468D}" dt="2026-09-03T22:41:42.685" v="263" actId="14100"/>
        <pc:sldMkLst>
          <pc:docMk/>
          <pc:sldMk cId="3469531190" sldId="353"/>
        </pc:sldMkLst>
        <pc:spChg chg="mod">
          <ac:chgData name="Luciano Pereira Soares" userId="16c53e34-c952-423e-8700-c0525d23304f" providerId="ADAL" clId="{1D55A5D4-1FC1-4934-A025-59DDC391468D}" dt="2026-09-03T22:37:37.840" v="238" actId="404"/>
          <ac:spMkLst>
            <pc:docMk/>
            <pc:sldMk cId="3469531190" sldId="353"/>
            <ac:spMk id="3" creationId="{00000000-0000-0000-0000-000000000000}"/>
          </ac:spMkLst>
        </pc:spChg>
        <pc:spChg chg="mod">
          <ac:chgData name="Luciano Pereira Soares" userId="16c53e34-c952-423e-8700-c0525d23304f" providerId="ADAL" clId="{1D55A5D4-1FC1-4934-A025-59DDC391468D}" dt="2026-09-03T22:41:42.685" v="263" actId="14100"/>
          <ac:spMkLst>
            <pc:docMk/>
            <pc:sldMk cId="3469531190" sldId="353"/>
            <ac:spMk id="9" creationId="{00000000-0000-0000-0000-000000000000}"/>
          </ac:spMkLst>
        </pc:spChg>
        <pc:spChg chg="mod">
          <ac:chgData name="Luciano Pereira Soares" userId="16c53e34-c952-423e-8700-c0525d23304f" providerId="ADAL" clId="{1D55A5D4-1FC1-4934-A025-59DDC391468D}" dt="2026-09-03T22:37:19.883" v="236" actId="14100"/>
          <ac:spMkLst>
            <pc:docMk/>
            <pc:sldMk cId="3469531190" sldId="353"/>
            <ac:spMk id="11" creationId="{00000000-0000-0000-0000-000000000000}"/>
          </ac:spMkLst>
        </pc:spChg>
        <pc:spChg chg="mod">
          <ac:chgData name="Luciano Pereira Soares" userId="16c53e34-c952-423e-8700-c0525d23304f" providerId="ADAL" clId="{1D55A5D4-1FC1-4934-A025-59DDC391468D}" dt="2026-09-03T22:41:34.744" v="259" actId="14100"/>
          <ac:spMkLst>
            <pc:docMk/>
            <pc:sldMk cId="3469531190" sldId="353"/>
            <ac:spMk id="13" creationId="{00000000-0000-0000-0000-000000000000}"/>
          </ac:spMkLst>
        </pc:spChg>
        <pc:picChg chg="del">
          <ac:chgData name="Luciano Pereira Soares" userId="16c53e34-c952-423e-8700-c0525d23304f" providerId="ADAL" clId="{1D55A5D4-1FC1-4934-A025-59DDC391468D}" dt="2026-09-03T22:38:51.234" v="239" actId="478"/>
          <ac:picMkLst>
            <pc:docMk/>
            <pc:sldMk cId="3469531190" sldId="353"/>
            <ac:picMk id="6" creationId="{00000000-0000-0000-0000-000000000000}"/>
          </ac:picMkLst>
        </pc:picChg>
        <pc:picChg chg="del">
          <ac:chgData name="Luciano Pereira Soares" userId="16c53e34-c952-423e-8700-c0525d23304f" providerId="ADAL" clId="{1D55A5D4-1FC1-4934-A025-59DDC391468D}" dt="2026-09-03T21:18:12.074" v="72" actId="478"/>
          <ac:picMkLst>
            <pc:docMk/>
            <pc:sldMk cId="3469531190" sldId="353"/>
            <ac:picMk id="10" creationId="{00000000-0000-0000-0000-000000000000}"/>
          </ac:picMkLst>
        </pc:picChg>
        <pc:picChg chg="add mod modCrop">
          <ac:chgData name="Luciano Pereira Soares" userId="16c53e34-c952-423e-8700-c0525d23304f" providerId="ADAL" clId="{1D55A5D4-1FC1-4934-A025-59DDC391468D}" dt="2026-09-03T22:39:20.484" v="247" actId="1076"/>
          <ac:picMkLst>
            <pc:docMk/>
            <pc:sldMk cId="3469531190" sldId="353"/>
            <ac:picMk id="12" creationId="{D2D8CA1D-4442-921D-BA6E-44F19002A9A3}"/>
          </ac:picMkLst>
        </pc:picChg>
      </pc:sldChg>
      <pc:sldChg chg="delSp mod delAnim">
        <pc:chgData name="Luciano Pereira Soares" userId="16c53e34-c952-423e-8700-c0525d23304f" providerId="ADAL" clId="{1D55A5D4-1FC1-4934-A025-59DDC391468D}" dt="2026-09-03T21:17:35.565" v="62" actId="478"/>
        <pc:sldMkLst>
          <pc:docMk/>
          <pc:sldMk cId="2185014460" sldId="361"/>
        </pc:sldMkLst>
        <pc:picChg chg="del">
          <ac:chgData name="Luciano Pereira Soares" userId="16c53e34-c952-423e-8700-c0525d23304f" providerId="ADAL" clId="{1D55A5D4-1FC1-4934-A025-59DDC391468D}" dt="2026-09-03T21:17:35.565" v="62" actId="478"/>
          <ac:picMkLst>
            <pc:docMk/>
            <pc:sldMk cId="2185014460" sldId="361"/>
            <ac:picMk id="6" creationId="{00000000-0000-0000-0000-000000000000}"/>
          </ac:picMkLst>
        </pc:picChg>
      </pc:sldChg>
      <pc:sldChg chg="delSp modSp mod delAnim modAnim">
        <pc:chgData name="Luciano Pereira Soares" userId="16c53e34-c952-423e-8700-c0525d23304f" providerId="ADAL" clId="{1D55A5D4-1FC1-4934-A025-59DDC391468D}" dt="2026-09-03T21:59:03.947" v="209" actId="790"/>
        <pc:sldMkLst>
          <pc:docMk/>
          <pc:sldMk cId="1930287214" sldId="375"/>
        </pc:sldMkLst>
        <pc:spChg chg="mod">
          <ac:chgData name="Luciano Pereira Soares" userId="16c53e34-c952-423e-8700-c0525d23304f" providerId="ADAL" clId="{1D55A5D4-1FC1-4934-A025-59DDC391468D}" dt="2026-09-03T21:59:03.947" v="209" actId="790"/>
          <ac:spMkLst>
            <pc:docMk/>
            <pc:sldMk cId="1930287214" sldId="375"/>
            <ac:spMk id="3" creationId="{00000000-0000-0000-0000-000000000000}"/>
          </ac:spMkLst>
        </pc:spChg>
        <pc:spChg chg="mod">
          <ac:chgData name="Luciano Pereira Soares" userId="16c53e34-c952-423e-8700-c0525d23304f" providerId="ADAL" clId="{1D55A5D4-1FC1-4934-A025-59DDC391468D}" dt="2026-09-03T21:58:37.620" v="208" actId="14100"/>
          <ac:spMkLst>
            <pc:docMk/>
            <pc:sldMk cId="1930287214" sldId="375"/>
            <ac:spMk id="12" creationId="{00000000-0000-0000-0000-000000000000}"/>
          </ac:spMkLst>
        </pc:spChg>
        <pc:picChg chg="del">
          <ac:chgData name="Luciano Pereira Soares" userId="16c53e34-c952-423e-8700-c0525d23304f" providerId="ADAL" clId="{1D55A5D4-1FC1-4934-A025-59DDC391468D}" dt="2026-09-03T21:17:03.350" v="54" actId="478"/>
          <ac:picMkLst>
            <pc:docMk/>
            <pc:sldMk cId="1930287214" sldId="375"/>
            <ac:picMk id="14" creationId="{00000000-0000-0000-0000-000000000000}"/>
          </ac:picMkLst>
        </pc:picChg>
      </pc:sldChg>
      <pc:sldChg chg="del">
        <pc:chgData name="Luciano Pereira Soares" userId="16c53e34-c952-423e-8700-c0525d23304f" providerId="ADAL" clId="{1D55A5D4-1FC1-4934-A025-59DDC391468D}" dt="2026-09-03T21:08:42.317" v="26" actId="47"/>
        <pc:sldMkLst>
          <pc:docMk/>
          <pc:sldMk cId="2045024334" sldId="386"/>
        </pc:sldMkLst>
      </pc:sldChg>
      <pc:sldChg chg="del">
        <pc:chgData name="Luciano Pereira Soares" userId="16c53e34-c952-423e-8700-c0525d23304f" providerId="ADAL" clId="{1D55A5D4-1FC1-4934-A025-59DDC391468D}" dt="2026-09-03T21:07:53.268" v="24" actId="47"/>
        <pc:sldMkLst>
          <pc:docMk/>
          <pc:sldMk cId="248211303" sldId="387"/>
        </pc:sldMkLst>
      </pc:sldChg>
      <pc:sldChg chg="delSp mod delAnim modShow">
        <pc:chgData name="Luciano Pereira Soares" userId="16c53e34-c952-423e-8700-c0525d23304f" providerId="ADAL" clId="{1D55A5D4-1FC1-4934-A025-59DDC391468D}" dt="2026-09-03T21:23:39.268" v="74" actId="729"/>
        <pc:sldMkLst>
          <pc:docMk/>
          <pc:sldMk cId="645743111" sldId="388"/>
        </pc:sldMkLst>
        <pc:picChg chg="del">
          <ac:chgData name="Luciano Pereira Soares" userId="16c53e34-c952-423e-8700-c0525d23304f" providerId="ADAL" clId="{1D55A5D4-1FC1-4934-A025-59DDC391468D}" dt="2026-09-03T21:18:08.944" v="71" actId="478"/>
          <ac:picMkLst>
            <pc:docMk/>
            <pc:sldMk cId="645743111" sldId="388"/>
            <ac:picMk id="13" creationId="{00000000-0000-0000-0000-000000000000}"/>
          </ac:picMkLst>
        </pc:picChg>
      </pc:sldChg>
      <pc:sldChg chg="addSp delSp modSp mod">
        <pc:chgData name="Luciano Pereira Soares" userId="16c53e34-c952-423e-8700-c0525d23304f" providerId="ADAL" clId="{1D55A5D4-1FC1-4934-A025-59DDC391468D}" dt="2026-09-03T21:48:04.423" v="142"/>
        <pc:sldMkLst>
          <pc:docMk/>
          <pc:sldMk cId="255657616" sldId="389"/>
        </pc:sldMkLst>
        <pc:spChg chg="mod">
          <ac:chgData name="Luciano Pereira Soares" userId="16c53e34-c952-423e-8700-c0525d23304f" providerId="ADAL" clId="{1D55A5D4-1FC1-4934-A025-59DDC391468D}" dt="2026-09-03T21:48:04.423" v="142"/>
          <ac:spMkLst>
            <pc:docMk/>
            <pc:sldMk cId="255657616" sldId="389"/>
            <ac:spMk id="2" creationId="{00000000-0000-0000-0000-000000000000}"/>
          </ac:spMkLst>
        </pc:spChg>
        <pc:spChg chg="del">
          <ac:chgData name="Luciano Pereira Soares" userId="16c53e34-c952-423e-8700-c0525d23304f" providerId="ADAL" clId="{1D55A5D4-1FC1-4934-A025-59DDC391468D}" dt="2026-09-03T21:08:07.779" v="25" actId="478"/>
          <ac:spMkLst>
            <pc:docMk/>
            <pc:sldMk cId="255657616" sldId="389"/>
            <ac:spMk id="3" creationId="{00000000-0000-0000-0000-000000000000}"/>
          </ac:spMkLst>
        </pc:spChg>
        <pc:spChg chg="add mod">
          <ac:chgData name="Luciano Pereira Soares" userId="16c53e34-c952-423e-8700-c0525d23304f" providerId="ADAL" clId="{1D55A5D4-1FC1-4934-A025-59DDC391468D}" dt="2026-09-03T21:47:36.116" v="140" actId="20577"/>
          <ac:spMkLst>
            <pc:docMk/>
            <pc:sldMk cId="255657616" sldId="389"/>
            <ac:spMk id="8" creationId="{C47C6FB3-8A68-D5A5-8AEC-2387EF55058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9/3/2026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03/09/2026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a:t>
            </a:r>
            <a:r>
              <a:rPr lang="pt-BR" dirty="0"/>
              <a:t>://alex9ufoexploer.blogspot.com.br/2014/06/4-x-4-bit-array-multiplier-for-unsigned.html</a:t>
            </a:r>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3034910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a:t>Vamos começar</a:t>
            </a:r>
            <a:r>
              <a:rPr lang="pt-BR" baseline="0" dirty="0"/>
              <a:t> falando de um computador que passou ligeiramente despercebido na evolução da informática, mas hoje é considerado um dos primeiros computadores, e acabou derrubando patentes como a do </a:t>
            </a:r>
            <a:r>
              <a:rPr lang="pt-BR" baseline="0" dirty="0" err="1"/>
              <a:t>Eniac</a:t>
            </a:r>
            <a:r>
              <a:rPr lang="pt-BR" baseline="0" dirty="0"/>
              <a:t>. Esse computador é chamado de ABC Computer, em função do nome dos seus criadores o professor John </a:t>
            </a:r>
            <a:r>
              <a:rPr lang="pt-BR" baseline="0" dirty="0" err="1"/>
              <a:t>Atanasoff</a:t>
            </a:r>
            <a:r>
              <a:rPr lang="pt-BR" baseline="0" dirty="0"/>
              <a:t> e seu então aluno Clifford Berry. Esse computador era capaz de fazer somas e subtrações usando válvulas, deixando claro o potencial dos circuitos lógicos para efetuar cálculos de forma rápida e automática.</a:t>
            </a:r>
          </a:p>
          <a:p>
            <a:endParaRPr lang="pt-BR" dirty="0"/>
          </a:p>
          <a:p>
            <a:r>
              <a:rPr lang="pt-BR" dirty="0"/>
              <a:t>http://trillian.randomstuff.org.uk/~stephen/history/timeline-NONMECH.html</a:t>
            </a:r>
          </a:p>
          <a:p>
            <a:r>
              <a:rPr lang="pt-BR" dirty="0" err="1"/>
              <a:t>http</a:t>
            </a:r>
            <a:r>
              <a:rPr lang="pt-BR" dirty="0"/>
              <a:t>://</a:t>
            </a:r>
            <a:r>
              <a:rPr lang="pt-BR" dirty="0" err="1"/>
              <a:t>jva.cs.iastate.edu</a:t>
            </a:r>
            <a:r>
              <a:rPr lang="pt-BR" dirty="0"/>
              <a:t>/</a:t>
            </a:r>
            <a:r>
              <a:rPr lang="pt-BR" dirty="0" err="1"/>
              <a:t>operation.php</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birth-of-the-computer</a:t>
            </a:r>
            <a:r>
              <a:rPr lang="pt-BR" dirty="0"/>
              <a:t>/4/99</a:t>
            </a:r>
          </a:p>
          <a:p>
            <a:r>
              <a:rPr lang="pt-BR" dirty="0" err="1"/>
              <a:t>http</a:t>
            </a:r>
            <a:r>
              <a:rPr lang="pt-BR" dirty="0"/>
              <a:t>://naz3.ueuo.com/</a:t>
            </a:r>
            <a:r>
              <a:rPr lang="pt-BR" dirty="0" err="1"/>
              <a:t>images</a:t>
            </a:r>
            <a:r>
              <a:rPr lang="pt-BR" dirty="0"/>
              <a:t>/page1.htm</a:t>
            </a:r>
          </a:p>
          <a:p>
            <a:r>
              <a:rPr lang="pt-BR" dirty="0" err="1"/>
              <a:t>http</a:t>
            </a:r>
            <a:r>
              <a:rPr lang="pt-BR" dirty="0"/>
              <a:t>://</a:t>
            </a:r>
            <a:r>
              <a:rPr lang="pt-BR" dirty="0" err="1"/>
              <a:t>history-computer.com</a:t>
            </a:r>
            <a:r>
              <a:rPr lang="pt-BR" dirty="0"/>
              <a:t>/</a:t>
            </a:r>
            <a:r>
              <a:rPr lang="pt-BR" dirty="0" err="1"/>
              <a:t>ModernComputer</a:t>
            </a:r>
            <a:r>
              <a:rPr lang="pt-BR" dirty="0"/>
              <a:t>/</a:t>
            </a:r>
            <a:r>
              <a:rPr lang="pt-BR" dirty="0" err="1"/>
              <a:t>Electronic</a:t>
            </a:r>
            <a:r>
              <a:rPr lang="pt-BR" dirty="0"/>
              <a:t>/</a:t>
            </a:r>
            <a:r>
              <a:rPr lang="pt-BR" dirty="0" err="1"/>
              <a:t>Atanasoff.html</a:t>
            </a:r>
            <a:endParaRPr lang="pt-BR" dirty="0"/>
          </a:p>
          <a:p>
            <a:r>
              <a:rPr lang="pt-BR" dirty="0" err="1"/>
              <a:t>http</a:t>
            </a:r>
            <a:r>
              <a:rPr lang="pt-BR" dirty="0"/>
              <a:t>://</a:t>
            </a:r>
            <a:r>
              <a:rPr lang="pt-BR" dirty="0" err="1"/>
              <a:t>www.add.lib.iastate.edu</a:t>
            </a:r>
            <a:r>
              <a:rPr lang="pt-BR" dirty="0"/>
              <a:t>/</a:t>
            </a:r>
            <a:r>
              <a:rPr lang="pt-BR" dirty="0" err="1"/>
              <a:t>spcl</a:t>
            </a:r>
            <a:r>
              <a:rPr lang="pt-BR" dirty="0"/>
              <a:t>/</a:t>
            </a:r>
            <a:r>
              <a:rPr lang="pt-BR" dirty="0" err="1"/>
              <a:t>exhibits</a:t>
            </a:r>
            <a:r>
              <a:rPr lang="pt-BR" dirty="0"/>
              <a:t>/Atanasoff/</a:t>
            </a:r>
            <a:r>
              <a:rPr lang="pt-BR" dirty="0" err="1"/>
              <a:t>biography.html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965151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a:t>
            </a:r>
            <a:r>
              <a:rPr lang="en-US" dirty="0" err="1"/>
              <a:t>maquinas</a:t>
            </a:r>
            <a:r>
              <a:rPr lang="en-US" dirty="0"/>
              <a:t> de </a:t>
            </a:r>
            <a:r>
              <a:rPr lang="en-US" dirty="0" err="1"/>
              <a:t>cartões</a:t>
            </a:r>
            <a:r>
              <a:rPr lang="en-US" dirty="0"/>
              <a:t> </a:t>
            </a:r>
            <a:r>
              <a:rPr lang="en-US" dirty="0" err="1"/>
              <a:t>perfurado</a:t>
            </a:r>
            <a:r>
              <a:rPr lang="en-US" dirty="0"/>
              <a:t> da IBM </a:t>
            </a:r>
            <a:r>
              <a:rPr lang="en-US" dirty="0" err="1"/>
              <a:t>ganharam</a:t>
            </a:r>
            <a:r>
              <a:rPr lang="en-US" dirty="0"/>
              <a:t> </a:t>
            </a:r>
            <a:r>
              <a:rPr lang="en-US" dirty="0" err="1"/>
              <a:t>uma</a:t>
            </a:r>
            <a:r>
              <a:rPr lang="en-US" dirty="0"/>
              <a:t> boa </a:t>
            </a:r>
            <a:r>
              <a:rPr lang="en-US" dirty="0" err="1"/>
              <a:t>reputação</a:t>
            </a:r>
            <a:r>
              <a:rPr lang="en-US" dirty="0"/>
              <a:t> pela </a:t>
            </a:r>
            <a:r>
              <a:rPr lang="en-US" dirty="0" err="1"/>
              <a:t>automação</a:t>
            </a:r>
            <a:r>
              <a:rPr lang="en-US" dirty="0"/>
              <a:t> de </a:t>
            </a:r>
            <a:r>
              <a:rPr lang="en-US" dirty="0" err="1"/>
              <a:t>processos</a:t>
            </a:r>
            <a:r>
              <a:rPr lang="en-US" baseline="0" dirty="0"/>
              <a:t> </a:t>
            </a:r>
            <a:r>
              <a:rPr lang="en-US" baseline="0" dirty="0" err="1"/>
              <a:t>nos</a:t>
            </a:r>
            <a:r>
              <a:rPr lang="en-US" baseline="0" dirty="0"/>
              <a:t> </a:t>
            </a:r>
            <a:r>
              <a:rPr lang="en-US" baseline="0" dirty="0" err="1"/>
              <a:t>anos</a:t>
            </a:r>
            <a:r>
              <a:rPr lang="en-US" baseline="0" dirty="0"/>
              <a:t> 40, </a:t>
            </a:r>
            <a:r>
              <a:rPr lang="en-US" baseline="0" dirty="0" err="1"/>
              <a:t>foi</a:t>
            </a:r>
            <a:r>
              <a:rPr lang="en-US" baseline="0" dirty="0"/>
              <a:t> </a:t>
            </a:r>
            <a:r>
              <a:rPr lang="en-US" baseline="0" dirty="0" err="1"/>
              <a:t>quando</a:t>
            </a:r>
            <a:r>
              <a:rPr lang="en-US" dirty="0"/>
              <a:t> Howard Aiken </a:t>
            </a:r>
            <a:r>
              <a:rPr lang="en-US" dirty="0" err="1"/>
              <a:t>recebeu</a:t>
            </a:r>
            <a:r>
              <a:rPr lang="en-US" baseline="0" dirty="0"/>
              <a:t> </a:t>
            </a:r>
            <a:r>
              <a:rPr lang="en-US" baseline="0" dirty="0" err="1"/>
              <a:t>fundos</a:t>
            </a:r>
            <a:r>
              <a:rPr lang="en-US" baseline="0" dirty="0"/>
              <a:t> e </a:t>
            </a:r>
            <a:r>
              <a:rPr lang="en-US" baseline="0" dirty="0" err="1"/>
              <a:t>apoio</a:t>
            </a:r>
            <a:r>
              <a:rPr lang="en-US" baseline="0" dirty="0"/>
              <a:t> d</a:t>
            </a:r>
            <a:r>
              <a:rPr lang="en-US" dirty="0"/>
              <a:t>a IBM para a </a:t>
            </a:r>
            <a:r>
              <a:rPr lang="en-US" dirty="0" err="1"/>
              <a:t>construção</a:t>
            </a:r>
            <a:r>
              <a:rPr lang="en-US" dirty="0"/>
              <a:t> de um </a:t>
            </a:r>
            <a:r>
              <a:rPr lang="en-US" dirty="0" err="1"/>
              <a:t>computador</a:t>
            </a:r>
            <a:r>
              <a:rPr lang="en-US" dirty="0"/>
              <a:t> </a:t>
            </a:r>
            <a:r>
              <a:rPr lang="en-US" dirty="0" err="1"/>
              <a:t>usando</a:t>
            </a:r>
            <a:r>
              <a:rPr lang="en-US" dirty="0"/>
              <a:t> </a:t>
            </a:r>
            <a:r>
              <a:rPr lang="en-US" dirty="0" err="1"/>
              <a:t>peças</a:t>
            </a:r>
            <a:r>
              <a:rPr lang="en-US" dirty="0"/>
              <a:t> das </a:t>
            </a:r>
            <a:r>
              <a:rPr lang="en-US" dirty="0" err="1"/>
              <a:t>máquinas</a:t>
            </a:r>
            <a:r>
              <a:rPr lang="en-US" dirty="0"/>
              <a:t> da IBM, </a:t>
            </a:r>
            <a:r>
              <a:rPr lang="en-US" dirty="0" err="1"/>
              <a:t>ele</a:t>
            </a:r>
            <a:r>
              <a:rPr lang="en-US" dirty="0"/>
              <a:t> </a:t>
            </a:r>
            <a:r>
              <a:rPr lang="en-US" dirty="0" err="1"/>
              <a:t>integrou</a:t>
            </a:r>
            <a:r>
              <a:rPr lang="en-US" dirty="0"/>
              <a:t> discos de </a:t>
            </a:r>
            <a:r>
              <a:rPr lang="en-US" dirty="0" err="1"/>
              <a:t>contagem</a:t>
            </a:r>
            <a:r>
              <a:rPr lang="en-US" dirty="0"/>
              <a:t> </a:t>
            </a:r>
            <a:r>
              <a:rPr lang="en-US" dirty="0" err="1"/>
              <a:t>mecânicos</a:t>
            </a:r>
            <a:r>
              <a:rPr lang="en-US" dirty="0"/>
              <a:t> e </a:t>
            </a:r>
            <a:r>
              <a:rPr lang="en-US" dirty="0" err="1"/>
              <a:t>relés</a:t>
            </a:r>
            <a:r>
              <a:rPr lang="en-US" dirty="0"/>
              <a:t> e </a:t>
            </a:r>
            <a:r>
              <a:rPr lang="en-US" dirty="0" err="1"/>
              <a:t>construiu</a:t>
            </a:r>
            <a:r>
              <a:rPr lang="en-US" dirty="0"/>
              <a:t> o Harvard Mark I.</a:t>
            </a:r>
            <a:r>
              <a:rPr lang="en-US" baseline="0" dirty="0"/>
              <a:t> Este</a:t>
            </a:r>
            <a:r>
              <a:rPr lang="en-US" dirty="0"/>
              <a:t> </a:t>
            </a:r>
            <a:r>
              <a:rPr lang="en-US" dirty="0" err="1"/>
              <a:t>computava</a:t>
            </a:r>
            <a:r>
              <a:rPr lang="en-US" dirty="0"/>
              <a:t> as </a:t>
            </a:r>
            <a:r>
              <a:rPr lang="en-US" dirty="0" err="1"/>
              <a:t>quatro</a:t>
            </a:r>
            <a:r>
              <a:rPr lang="en-US" dirty="0"/>
              <a:t> </a:t>
            </a:r>
            <a:r>
              <a:rPr lang="en-US" dirty="0" err="1"/>
              <a:t>operações</a:t>
            </a:r>
            <a:r>
              <a:rPr lang="en-US" dirty="0"/>
              <a:t> </a:t>
            </a:r>
            <a:r>
              <a:rPr lang="en-US" dirty="0" err="1"/>
              <a:t>aritméticas</a:t>
            </a:r>
            <a:r>
              <a:rPr lang="en-US" dirty="0"/>
              <a:t> </a:t>
            </a:r>
            <a:r>
              <a:rPr lang="en-US" dirty="0" err="1"/>
              <a:t>em</a:t>
            </a:r>
            <a:r>
              <a:rPr lang="en-US" dirty="0"/>
              <a:t> 23 </a:t>
            </a:r>
            <a:r>
              <a:rPr lang="en-US" dirty="0" err="1"/>
              <a:t>dígitos</a:t>
            </a:r>
            <a:r>
              <a:rPr lang="en-US" dirty="0"/>
              <a:t> </a:t>
            </a:r>
            <a:r>
              <a:rPr lang="en-US" dirty="0" err="1"/>
              <a:t>decimais</a:t>
            </a:r>
            <a:r>
              <a:rPr lang="en-US" dirty="0"/>
              <a:t>, </a:t>
            </a:r>
            <a:r>
              <a:rPr lang="en-US" dirty="0" err="1"/>
              <a:t>além</a:t>
            </a:r>
            <a:r>
              <a:rPr lang="en-US" dirty="0"/>
              <a:t> de </a:t>
            </a:r>
            <a:r>
              <a:rPr lang="en-US" dirty="0" err="1"/>
              <a:t>operações</a:t>
            </a:r>
            <a:r>
              <a:rPr lang="en-US" dirty="0"/>
              <a:t> </a:t>
            </a:r>
            <a:r>
              <a:rPr lang="en-US" dirty="0" err="1"/>
              <a:t>como</a:t>
            </a:r>
            <a:r>
              <a:rPr lang="en-US" dirty="0"/>
              <a:t> </a:t>
            </a:r>
            <a:r>
              <a:rPr lang="en-US" dirty="0" err="1"/>
              <a:t>logaritmos</a:t>
            </a:r>
            <a:r>
              <a:rPr lang="en-US" dirty="0"/>
              <a:t> e </a:t>
            </a:r>
            <a:r>
              <a:rPr lang="en-US" dirty="0" err="1"/>
              <a:t>funções</a:t>
            </a:r>
            <a:r>
              <a:rPr lang="en-US" dirty="0"/>
              <a:t> </a:t>
            </a:r>
            <a:r>
              <a:rPr lang="en-US" dirty="0" err="1"/>
              <a:t>trigonométricas</a:t>
            </a:r>
            <a:r>
              <a:rPr lang="en-US" dirty="0"/>
              <a:t>. O Mark I era </a:t>
            </a:r>
            <a:r>
              <a:rPr lang="en-US" dirty="0" err="1"/>
              <a:t>controlado</a:t>
            </a:r>
            <a:r>
              <a:rPr lang="en-US" dirty="0"/>
              <a:t> </a:t>
            </a:r>
            <a:r>
              <a:rPr lang="en-US" dirty="0" err="1"/>
              <a:t>por</a:t>
            </a:r>
            <a:r>
              <a:rPr lang="en-US" dirty="0"/>
              <a:t> </a:t>
            </a:r>
            <a:r>
              <a:rPr lang="en-US" dirty="0" err="1"/>
              <a:t>fitas</a:t>
            </a:r>
            <a:r>
              <a:rPr lang="en-US" dirty="0"/>
              <a:t> </a:t>
            </a:r>
            <a:r>
              <a:rPr lang="en-US" dirty="0" err="1"/>
              <a:t>perfuradas</a:t>
            </a:r>
            <a:r>
              <a:rPr lang="en-US" dirty="0"/>
              <a:t>, e a </a:t>
            </a:r>
            <a:r>
              <a:rPr lang="en-US" dirty="0" err="1"/>
              <a:t>saída</a:t>
            </a:r>
            <a:r>
              <a:rPr lang="en-US" dirty="0"/>
              <a:t> era </a:t>
            </a:r>
            <a:r>
              <a:rPr lang="en-US" dirty="0" err="1"/>
              <a:t>conectada</a:t>
            </a:r>
            <a:r>
              <a:rPr lang="en-US" dirty="0"/>
              <a:t> </a:t>
            </a:r>
            <a:r>
              <a:rPr lang="en-US" dirty="0" err="1"/>
              <a:t>em</a:t>
            </a:r>
            <a:r>
              <a:rPr lang="en-US" dirty="0"/>
              <a:t> </a:t>
            </a:r>
            <a:r>
              <a:rPr lang="en-US" dirty="0" err="1"/>
              <a:t>uma</a:t>
            </a:r>
            <a:r>
              <a:rPr lang="en-US" dirty="0"/>
              <a:t> </a:t>
            </a:r>
            <a:r>
              <a:rPr lang="en-US" dirty="0" err="1"/>
              <a:t>máquina</a:t>
            </a:r>
            <a:r>
              <a:rPr lang="en-US" dirty="0"/>
              <a:t> de </a:t>
            </a:r>
            <a:r>
              <a:rPr lang="en-US" dirty="0" err="1"/>
              <a:t>escrever</a:t>
            </a:r>
            <a:r>
              <a:rPr lang="en-US" dirty="0"/>
              <a:t>. </a:t>
            </a:r>
            <a:r>
              <a:rPr lang="en-US" dirty="0" err="1"/>
              <a:t>Após</a:t>
            </a:r>
            <a:r>
              <a:rPr lang="en-US" dirty="0"/>
              <a:t> o Harvard Mark I, Howard Aiken </a:t>
            </a:r>
            <a:r>
              <a:rPr lang="en-US" dirty="0" err="1"/>
              <a:t>desenvolveu</a:t>
            </a:r>
            <a:r>
              <a:rPr lang="en-US" dirty="0"/>
              <a:t> </a:t>
            </a:r>
            <a:r>
              <a:rPr lang="en-US" dirty="0" err="1"/>
              <a:t>muitos</a:t>
            </a:r>
            <a:r>
              <a:rPr lang="en-US" dirty="0"/>
              <a:t> outros </a:t>
            </a:r>
            <a:r>
              <a:rPr lang="en-US" dirty="0" err="1"/>
              <a:t>computadores</a:t>
            </a:r>
            <a:r>
              <a:rPr lang="en-US" dirty="0"/>
              <a:t>.</a:t>
            </a:r>
            <a:r>
              <a:rPr lang="pt-BR" baseline="0" dirty="0"/>
              <a:t> Embora o Mark I seja decimal, </a:t>
            </a:r>
            <a:r>
              <a:rPr lang="pt-BR" dirty="0"/>
              <a:t>vale aqui uma nota, que </a:t>
            </a:r>
            <a:r>
              <a:rPr lang="en-US" dirty="0"/>
              <a:t>o</a:t>
            </a:r>
            <a:r>
              <a:rPr lang="en-US" baseline="0" dirty="0"/>
              <a:t> </a:t>
            </a:r>
            <a:r>
              <a:rPr lang="en-US" baseline="0" dirty="0" err="1"/>
              <a:t>sistema</a:t>
            </a:r>
            <a:r>
              <a:rPr lang="en-US" baseline="0" dirty="0"/>
              <a:t> </a:t>
            </a:r>
            <a:r>
              <a:rPr lang="en-US" baseline="0" dirty="0" err="1"/>
              <a:t>numérico</a:t>
            </a:r>
            <a:r>
              <a:rPr lang="en-US" baseline="0" dirty="0"/>
              <a:t> </a:t>
            </a:r>
            <a:r>
              <a:rPr lang="en-US" baseline="0" dirty="0" err="1"/>
              <a:t>preferido</a:t>
            </a:r>
            <a:r>
              <a:rPr lang="en-US" baseline="0" dirty="0"/>
              <a:t> para o design de </a:t>
            </a:r>
            <a:r>
              <a:rPr lang="en-US" baseline="0" dirty="0" err="1"/>
              <a:t>computadores</a:t>
            </a:r>
            <a:r>
              <a:rPr lang="en-US" baseline="0" dirty="0"/>
              <a:t> se </a:t>
            </a:r>
            <a:r>
              <a:rPr lang="en-US" baseline="0" dirty="0" err="1"/>
              <a:t>estabelecu</a:t>
            </a:r>
            <a:r>
              <a:rPr lang="en-US" baseline="0" dirty="0"/>
              <a:t> </a:t>
            </a:r>
            <a:r>
              <a:rPr lang="en-US" baseline="0" dirty="0" err="1"/>
              <a:t>como</a:t>
            </a:r>
            <a:r>
              <a:rPr lang="en-US" baseline="0" dirty="0"/>
              <a:t> </a:t>
            </a:r>
            <a:r>
              <a:rPr lang="en-US" baseline="0" dirty="0" err="1"/>
              <a:t>complento</a:t>
            </a:r>
            <a:r>
              <a:rPr lang="en-US" baseline="0" dirty="0"/>
              <a:t> de 2 </a:t>
            </a:r>
            <a:r>
              <a:rPr lang="en-US" baseline="0" dirty="0" err="1"/>
              <a:t>binário</a:t>
            </a:r>
            <a:r>
              <a:rPr lang="en-US" baseline="0" dirty="0"/>
              <a:t> </a:t>
            </a:r>
            <a:r>
              <a:rPr lang="en-US" baseline="0" dirty="0" err="1"/>
              <a:t>lá</a:t>
            </a:r>
            <a:r>
              <a:rPr lang="en-US" baseline="0" dirty="0"/>
              <a:t> </a:t>
            </a:r>
            <a:r>
              <a:rPr lang="en-US" baseline="0" dirty="0" err="1"/>
              <a:t>pelo</a:t>
            </a:r>
            <a:r>
              <a:rPr lang="en-US" baseline="0" dirty="0"/>
              <a:t> </a:t>
            </a:r>
            <a:r>
              <a:rPr lang="en-US" baseline="0" dirty="0" err="1"/>
              <a:t>ano</a:t>
            </a:r>
            <a:r>
              <a:rPr lang="en-US" baseline="0" dirty="0"/>
              <a:t> de 1965, e </a:t>
            </a:r>
            <a:r>
              <a:rPr lang="en-US" baseline="0" dirty="0" err="1"/>
              <a:t>hoje</a:t>
            </a:r>
            <a:r>
              <a:rPr lang="en-US" baseline="0" dirty="0"/>
              <a:t> é </a:t>
            </a:r>
            <a:r>
              <a:rPr lang="en-US" baseline="0" dirty="0" err="1"/>
              <a:t>usado</a:t>
            </a:r>
            <a:r>
              <a:rPr lang="en-US" baseline="0" dirty="0"/>
              <a:t> </a:t>
            </a:r>
            <a:r>
              <a:rPr lang="en-US" baseline="0" dirty="0" err="1"/>
              <a:t>em</a:t>
            </a:r>
            <a:r>
              <a:rPr lang="en-US" baseline="0" dirty="0"/>
              <a:t> </a:t>
            </a:r>
            <a:r>
              <a:rPr lang="en-US" baseline="0" dirty="0" err="1"/>
              <a:t>basicamente</a:t>
            </a:r>
            <a:r>
              <a:rPr lang="en-US" baseline="0" dirty="0"/>
              <a:t> </a:t>
            </a:r>
            <a:r>
              <a:rPr lang="en-US" baseline="0" dirty="0" err="1"/>
              <a:t>todos</a:t>
            </a:r>
            <a:r>
              <a:rPr lang="en-US" baseline="0" dirty="0"/>
              <a:t> </a:t>
            </a:r>
            <a:r>
              <a:rPr lang="en-US" baseline="0" dirty="0" err="1"/>
              <a:t>os</a:t>
            </a:r>
            <a:r>
              <a:rPr lang="en-US" baseline="0" dirty="0"/>
              <a:t> </a:t>
            </a:r>
            <a:r>
              <a:rPr lang="en-US" baseline="0" dirty="0" err="1"/>
              <a:t>computadores</a:t>
            </a:r>
            <a:r>
              <a:rPr lang="en-US" dirty="0"/>
              <a:t>.</a:t>
            </a:r>
          </a:p>
          <a:p>
            <a:endParaRPr lang="pt-BR" dirty="0"/>
          </a:p>
          <a:p>
            <a:endParaRPr lang="pt-BR" dirty="0"/>
          </a:p>
          <a:p>
            <a:r>
              <a:rPr lang="pt-BR" dirty="0" err="1"/>
              <a:t>http</a:t>
            </a:r>
            <a:r>
              <a:rPr lang="pt-BR" dirty="0"/>
              <a:t>://</a:t>
            </a:r>
            <a:r>
              <a:rPr lang="pt-BR" dirty="0" err="1"/>
              <a:t>www.dai.ed.ac.uk</a:t>
            </a:r>
            <a:r>
              <a:rPr lang="pt-BR" dirty="0"/>
              <a:t>/homes/</a:t>
            </a:r>
            <a:r>
              <a:rPr lang="pt-BR" dirty="0" err="1"/>
              <a:t>cam</a:t>
            </a:r>
            <a:r>
              <a:rPr lang="pt-BR" dirty="0"/>
              <a:t>/</a:t>
            </a:r>
            <a:r>
              <a:rPr lang="pt-BR" dirty="0" err="1"/>
              <a:t>fcomp.shtml</a:t>
            </a:r>
            <a:endParaRPr lang="pt-BR" dirty="0"/>
          </a:p>
          <a:p>
            <a:r>
              <a:rPr lang="pt-BR" dirty="0" err="1"/>
              <a:t>http</a:t>
            </a:r>
            <a:r>
              <a:rPr lang="pt-BR" dirty="0"/>
              <a:t>://</a:t>
            </a:r>
            <a:r>
              <a:rPr lang="pt-BR" dirty="0" err="1"/>
              <a:t>www.edwardbosworth.com</a:t>
            </a:r>
            <a:r>
              <a:rPr lang="pt-BR" dirty="0"/>
              <a:t>/My3121Textbook_HTM/MyText3121_Ch03_V01.htm</a:t>
            </a:r>
          </a:p>
          <a:p>
            <a:r>
              <a:rPr lang="pt-BR" dirty="0" err="1"/>
              <a:t>https</a:t>
            </a:r>
            <a:r>
              <a:rPr lang="pt-BR" dirty="0"/>
              <a:t>://</a:t>
            </a:r>
            <a:r>
              <a:rPr lang="pt-BR" dirty="0" err="1"/>
              <a:t>www.computer.org</a:t>
            </a:r>
            <a:r>
              <a:rPr lang="pt-BR" dirty="0"/>
              <a:t>/web/</a:t>
            </a:r>
            <a:r>
              <a:rPr lang="pt-BR" dirty="0" err="1"/>
              <a:t>awards</a:t>
            </a:r>
            <a:r>
              <a:rPr lang="pt-BR" dirty="0"/>
              <a:t>/</a:t>
            </a:r>
            <a:r>
              <a:rPr lang="pt-BR" dirty="0" err="1"/>
              <a:t>goode-howard-aiken</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www.eingang.org</a:t>
            </a:r>
            <a:r>
              <a:rPr lang="pt-BR" dirty="0"/>
              <a:t>/</a:t>
            </a:r>
            <a:r>
              <a:rPr lang="pt-BR" dirty="0" err="1"/>
              <a:t>Lecture</a:t>
            </a:r>
            <a:r>
              <a:rPr lang="pt-BR" dirty="0"/>
              <a:t>/hmark1.html</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301750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A unidade lógica aritmética é circuito</a:t>
            </a:r>
            <a:r>
              <a:rPr lang="pt-BR" baseline="0" dirty="0"/>
              <a:t> que</a:t>
            </a:r>
            <a:r>
              <a:rPr lang="pt-BR" dirty="0"/>
              <a:t> possui normalmente duas entrada</a:t>
            </a:r>
            <a:r>
              <a:rPr lang="pt-BR" baseline="0" dirty="0"/>
              <a:t> que recebem um conjunto de bit e tem como saída, um outro conjunto de bits resultante de operações internas dessa unidade lógica, essas operações são normalmente aritméticas, porém podem ser operações lógicas como AND ou OR, ou mesmo um bit shift. Para controlar o comportamento da unidade lógica aritmética, alguns sinais de controle são fornecidos. Esses sinais informam o circuito interno como proceder. Além disso alguns sinais extra podem sair da unidade lógica, passando informações adicionais, como por exemplo se o resultado é positivo, negativo ou zero. </a:t>
            </a:r>
            <a:r>
              <a:rPr lang="pt-BR" b="1" i="1" dirty="0"/>
              <a:t>Símbolo usado para </a:t>
            </a:r>
            <a:r>
              <a:rPr lang="pt-BR" b="1" i="1" dirty="0" err="1"/>
              <a:t>ALUs</a:t>
            </a:r>
            <a:r>
              <a:rPr lang="pt-BR" b="1" i="1" dirty="0"/>
              <a:t> desde a década de 50.</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www.edwardbosworth.com</a:t>
            </a:r>
            <a:r>
              <a:rPr lang="pt-BR" dirty="0"/>
              <a:t>/My5155_Slides/Chapter09/</a:t>
            </a:r>
            <a:r>
              <a:rPr lang="pt-BR" dirty="0" err="1"/>
              <a:t>ComputerArchitectureOverview.htm</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354354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dirty="0"/>
              <a:t>/</a:t>
            </a:r>
            <a:r>
              <a:rPr lang="pt-BR" dirty="0" err="1"/>
              <a:t>Adder</a:t>
            </a:r>
            <a:r>
              <a:rPr lang="pt-BR" dirty="0"/>
              <a:t>_(</a:t>
            </a:r>
            <a:r>
              <a:rPr lang="pt-BR" dirty="0" err="1"/>
              <a:t>electronics</a:t>
            </a:r>
            <a:r>
              <a:rPr lang="pt-BR" dirty="0"/>
              <a:t>)</a:t>
            </a:r>
          </a:p>
        </p:txBody>
      </p:sp>
      <p:sp>
        <p:nvSpPr>
          <p:cNvPr id="4" name="Slide Number Placeholder 3"/>
          <p:cNvSpPr>
            <a:spLocks noGrp="1"/>
          </p:cNvSpPr>
          <p:nvPr>
            <p:ph type="sldNum" sz="quarter" idx="10"/>
          </p:nvPr>
        </p:nvSpPr>
        <p:spPr/>
        <p:txBody>
          <a:bodyPr/>
          <a:lstStyle/>
          <a:p>
            <a:fld id="{F23FB91E-A0DC-4A5F-B463-D7B8E79502D1}" type="slidenum">
              <a:rPr lang="pt-BR" smtClean="0"/>
              <a:t>5</a:t>
            </a:fld>
            <a:endParaRPr lang="pt-BR"/>
          </a:p>
        </p:txBody>
      </p:sp>
    </p:spTree>
    <p:extLst>
      <p:ext uri="{BB962C8B-B14F-4D97-AF65-F5344CB8AC3E}">
        <p14:creationId xmlns:p14="http://schemas.microsoft.com/office/powerpoint/2010/main" val="4210717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a:t>
            </a:fld>
            <a:endParaRPr lang="pt-BR"/>
          </a:p>
        </p:txBody>
      </p:sp>
    </p:spTree>
    <p:extLst>
      <p:ext uri="{BB962C8B-B14F-4D97-AF65-F5344CB8AC3E}">
        <p14:creationId xmlns:p14="http://schemas.microsoft.com/office/powerpoint/2010/main" val="3348138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melhora performance:</a:t>
            </a:r>
            <a:r>
              <a:rPr lang="pt-BR" baseline="0" dirty="0"/>
              <a:t> carry-lookahead </a:t>
            </a:r>
            <a:r>
              <a:rPr lang="pt-BR" baseline="0" dirty="0" err="1"/>
              <a:t>adders</a:t>
            </a:r>
            <a:r>
              <a:rPr lang="pt-BR" baseline="0" dirty="0"/>
              <a:t> </a:t>
            </a:r>
            <a:r>
              <a:rPr lang="pt-BR" baseline="0" dirty="0" err="1"/>
              <a:t>and</a:t>
            </a:r>
            <a:r>
              <a:rPr lang="pt-BR" baseline="0" dirty="0"/>
              <a:t> </a:t>
            </a:r>
            <a:r>
              <a:rPr lang="pt-BR" baseline="0" dirty="0" err="1"/>
              <a:t>ripple</a:t>
            </a:r>
            <a:r>
              <a:rPr lang="pt-BR" baseline="0" dirty="0"/>
              <a:t>-carry </a:t>
            </a:r>
            <a:r>
              <a:rPr lang="pt-BR" baseline="0" dirty="0" err="1"/>
              <a:t>adders</a:t>
            </a:r>
            <a:r>
              <a:rPr lang="pt-BR" baseline="0" dirty="0"/>
              <a:t>?</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a:t>
            </a:fld>
            <a:endParaRPr lang="pt-BR"/>
          </a:p>
        </p:txBody>
      </p:sp>
    </p:spTree>
    <p:extLst>
      <p:ext uri="{BB962C8B-B14F-4D97-AF65-F5344CB8AC3E}">
        <p14:creationId xmlns:p14="http://schemas.microsoft.com/office/powerpoint/2010/main" val="1983501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a:t>
            </a:fld>
            <a:endParaRPr lang="pt-BR"/>
          </a:p>
        </p:txBody>
      </p:sp>
    </p:spTree>
    <p:extLst>
      <p:ext uri="{BB962C8B-B14F-4D97-AF65-F5344CB8AC3E}">
        <p14:creationId xmlns:p14="http://schemas.microsoft.com/office/powerpoint/2010/main" val="3532347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a:t>/Adder%E2%80%93subtractor</a:t>
            </a:r>
          </a:p>
        </p:txBody>
      </p:sp>
      <p:sp>
        <p:nvSpPr>
          <p:cNvPr id="4" name="Slide Number Placeholder 3"/>
          <p:cNvSpPr>
            <a:spLocks noGrp="1"/>
          </p:cNvSpPr>
          <p:nvPr>
            <p:ph type="sldNum" sz="quarter" idx="10"/>
          </p:nvPr>
        </p:nvSpPr>
        <p:spPr/>
        <p:txBody>
          <a:bodyPr/>
          <a:lstStyle/>
          <a:p>
            <a:fld id="{F23FB91E-A0DC-4A5F-B463-D7B8E79502D1}" type="slidenum">
              <a:rPr lang="pt-BR" smtClean="0"/>
              <a:t>9</a:t>
            </a:fld>
            <a:endParaRPr lang="pt-BR"/>
          </a:p>
        </p:txBody>
      </p:sp>
    </p:spTree>
    <p:extLst>
      <p:ext uri="{BB962C8B-B14F-4D97-AF65-F5344CB8AC3E}">
        <p14:creationId xmlns:p14="http://schemas.microsoft.com/office/powerpoint/2010/main" val="1005812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www.righto.com</a:t>
            </a:r>
            <a:r>
              <a:rPr lang="pt-BR" dirty="0"/>
              <a:t>/2013/01/a-small-part-of-6502-chip-explained.html</a:t>
            </a:r>
          </a:p>
        </p:txBody>
      </p:sp>
      <p:sp>
        <p:nvSpPr>
          <p:cNvPr id="4" name="Slide Number Placeholder 3"/>
          <p:cNvSpPr>
            <a:spLocks noGrp="1"/>
          </p:cNvSpPr>
          <p:nvPr>
            <p:ph type="sldNum" sz="quarter" idx="10"/>
          </p:nvPr>
        </p:nvSpPr>
        <p:spPr/>
        <p:txBody>
          <a:bodyPr/>
          <a:lstStyle/>
          <a:p>
            <a:fld id="{F23FB91E-A0DC-4A5F-B463-D7B8E79502D1}" type="slidenum">
              <a:rPr lang="pt-BR" smtClean="0"/>
              <a:t>10</a:t>
            </a:fld>
            <a:endParaRPr lang="pt-BR"/>
          </a:p>
        </p:txBody>
      </p:sp>
    </p:spTree>
    <p:extLst>
      <p:ext uri="{BB962C8B-B14F-4D97-AF65-F5344CB8AC3E}">
        <p14:creationId xmlns:p14="http://schemas.microsoft.com/office/powerpoint/2010/main" val="1007368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Since</a:t>
            </a:r>
            <a:r>
              <a:rPr lang="pt-BR" dirty="0"/>
              <a:t> </a:t>
            </a:r>
            <a:r>
              <a:rPr lang="pt-BR" dirty="0" err="1"/>
              <a:t>the</a:t>
            </a:r>
            <a:r>
              <a:rPr lang="pt-BR" dirty="0"/>
              <a:t> overall </a:t>
            </a:r>
            <a:r>
              <a:rPr lang="pt-BR" dirty="0" err="1"/>
              <a:t>operation</a:t>
            </a:r>
            <a:r>
              <a:rPr lang="pt-BR" dirty="0"/>
              <a:t> </a:t>
            </a:r>
            <a:r>
              <a:rPr lang="pt-BR" dirty="0" err="1"/>
              <a:t>is</a:t>
            </a:r>
            <a:r>
              <a:rPr lang="pt-BR" dirty="0"/>
              <a:t> </a:t>
            </a:r>
            <a:r>
              <a:rPr lang="pt-BR" dirty="0" err="1"/>
              <a:t>driven</a:t>
            </a:r>
            <a:r>
              <a:rPr lang="pt-BR" dirty="0"/>
              <a:t> </a:t>
            </a:r>
            <a:r>
              <a:rPr lang="pt-BR" dirty="0" err="1"/>
              <a:t>by</a:t>
            </a:r>
            <a:r>
              <a:rPr lang="pt-BR" dirty="0"/>
              <a:t> </a:t>
            </a:r>
            <a:r>
              <a:rPr lang="pt-BR" dirty="0" err="1"/>
              <a:t>six</a:t>
            </a:r>
            <a:r>
              <a:rPr lang="pt-BR" dirty="0"/>
              <a:t> </a:t>
            </a:r>
            <a:r>
              <a:rPr lang="pt-BR" dirty="0" err="1"/>
              <a:t>control</a:t>
            </a:r>
            <a:r>
              <a:rPr lang="pt-BR" dirty="0"/>
              <a:t> bits, </a:t>
            </a:r>
            <a:r>
              <a:rPr lang="pt-BR" dirty="0" err="1"/>
              <a:t>the</a:t>
            </a:r>
            <a:r>
              <a:rPr lang="pt-BR" dirty="0"/>
              <a:t> ALU </a:t>
            </a:r>
            <a:r>
              <a:rPr lang="pt-BR" dirty="0" err="1"/>
              <a:t>can</a:t>
            </a:r>
            <a:r>
              <a:rPr lang="pt-BR" dirty="0"/>
              <a:t> </a:t>
            </a:r>
            <a:r>
              <a:rPr lang="pt-BR" dirty="0" err="1"/>
              <a:t>potentially</a:t>
            </a:r>
            <a:r>
              <a:rPr lang="pt-BR" dirty="0"/>
              <a:t> compute 64 </a:t>
            </a:r>
            <a:r>
              <a:rPr lang="pt-BR" dirty="0" err="1"/>
              <a:t>different</a:t>
            </a:r>
            <a:r>
              <a:rPr lang="pt-BR" dirty="0"/>
              <a:t> </a:t>
            </a:r>
            <a:r>
              <a:rPr lang="pt-BR" dirty="0" err="1"/>
              <a:t>functions</a:t>
            </a:r>
            <a:r>
              <a:rPr lang="pt-BR" dirty="0"/>
              <a:t>. </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11</a:t>
            </a:fld>
            <a:endParaRPr lang="pt-BR"/>
          </a:p>
        </p:txBody>
      </p:sp>
    </p:spTree>
    <p:extLst>
      <p:ext uri="{BB962C8B-B14F-4D97-AF65-F5344CB8AC3E}">
        <p14:creationId xmlns:p14="http://schemas.microsoft.com/office/powerpoint/2010/main" val="3480702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15</a:t>
            </a:fld>
            <a:endParaRPr lang="pt-BR"/>
          </a:p>
        </p:txBody>
      </p:sp>
    </p:spTree>
    <p:extLst>
      <p:ext uri="{BB962C8B-B14F-4D97-AF65-F5344CB8AC3E}">
        <p14:creationId xmlns:p14="http://schemas.microsoft.com/office/powerpoint/2010/main" val="741175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16</a:t>
            </a:fld>
            <a:endParaRPr lang="pt-BR"/>
          </a:p>
        </p:txBody>
      </p:sp>
    </p:spTree>
    <p:extLst>
      <p:ext uri="{BB962C8B-B14F-4D97-AF65-F5344CB8AC3E}">
        <p14:creationId xmlns:p14="http://schemas.microsoft.com/office/powerpoint/2010/main" val="741175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17</a:t>
            </a:fld>
            <a:endParaRPr lang="pt-BR"/>
          </a:p>
        </p:txBody>
      </p:sp>
    </p:spTree>
    <p:extLst>
      <p:ext uri="{BB962C8B-B14F-4D97-AF65-F5344CB8AC3E}">
        <p14:creationId xmlns:p14="http://schemas.microsoft.com/office/powerpoint/2010/main" val="741175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18</a:t>
            </a:fld>
            <a:endParaRPr lang="pt-BR"/>
          </a:p>
        </p:txBody>
      </p:sp>
    </p:spTree>
    <p:extLst>
      <p:ext uri="{BB962C8B-B14F-4D97-AF65-F5344CB8AC3E}">
        <p14:creationId xmlns:p14="http://schemas.microsoft.com/office/powerpoint/2010/main" val="741175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a:t>
            </a:r>
            <a:r>
              <a:rPr lang="pt-BR" dirty="0"/>
              <a:t>://</a:t>
            </a:r>
            <a:r>
              <a:rPr lang="pt-BR" dirty="0" err="1"/>
              <a:t>ecx.images-amazon.com</a:t>
            </a:r>
            <a:r>
              <a:rPr lang="pt-BR" dirty="0"/>
              <a:t>/</a:t>
            </a:r>
            <a:r>
              <a:rPr lang="pt-BR" dirty="0" err="1"/>
              <a:t>images</a:t>
            </a:r>
            <a:r>
              <a:rPr lang="pt-BR" dirty="0"/>
              <a:t>/</a:t>
            </a:r>
            <a:r>
              <a:rPr lang="pt-BR" dirty="0" err="1"/>
              <a:t>I</a:t>
            </a:r>
            <a:r>
              <a:rPr lang="pt-BR" dirty="0"/>
              <a:t>/31iGrrx%2BXXL._SY355_.jpg</a:t>
            </a:r>
          </a:p>
          <a:p>
            <a:r>
              <a:rPr lang="pt-BR" dirty="0" err="1"/>
              <a:t>http</a:t>
            </a:r>
            <a:r>
              <a:rPr lang="pt-BR" dirty="0"/>
              <a:t>://</a:t>
            </a:r>
            <a:r>
              <a:rPr lang="pt-BR" dirty="0" err="1"/>
              <a:t>www.electronics-tutorials.ws</a:t>
            </a:r>
            <a:r>
              <a:rPr lang="pt-BR" dirty="0"/>
              <a:t>/</a:t>
            </a:r>
            <a:r>
              <a:rPr lang="pt-BR" dirty="0" err="1"/>
              <a:t>combination</a:t>
            </a:r>
            <a:r>
              <a:rPr lang="pt-BR" dirty="0"/>
              <a:t>/comb_7.html</a:t>
            </a:r>
          </a:p>
        </p:txBody>
      </p:sp>
      <p:sp>
        <p:nvSpPr>
          <p:cNvPr id="4" name="Slide Number Placeholder 3"/>
          <p:cNvSpPr>
            <a:spLocks noGrp="1"/>
          </p:cNvSpPr>
          <p:nvPr>
            <p:ph type="sldNum" sz="quarter" idx="10"/>
          </p:nvPr>
        </p:nvSpPr>
        <p:spPr/>
        <p:txBody>
          <a:bodyPr/>
          <a:lstStyle/>
          <a:p>
            <a:fld id="{F23FB91E-A0DC-4A5F-B463-D7B8E79502D1}" type="slidenum">
              <a:rPr lang="pt-BR" smtClean="0"/>
              <a:t>19</a:t>
            </a:fld>
            <a:endParaRPr lang="pt-BR"/>
          </a:p>
        </p:txBody>
      </p:sp>
    </p:spTree>
    <p:extLst>
      <p:ext uri="{BB962C8B-B14F-4D97-AF65-F5344CB8AC3E}">
        <p14:creationId xmlns:p14="http://schemas.microsoft.com/office/powerpoint/2010/main" val="3663336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a:t>
            </a:r>
            <a:r>
              <a:rPr lang="pt-BR" dirty="0"/>
              <a:t>://</a:t>
            </a:r>
            <a:r>
              <a:rPr lang="pt-BR" dirty="0" err="1"/>
              <a:t>susta.cz</a:t>
            </a:r>
            <a:r>
              <a:rPr lang="pt-BR" dirty="0"/>
              <a:t>/fel/74/</a:t>
            </a:r>
            <a:r>
              <a:rPr lang="pt-BR" dirty="0" err="1"/>
              <a:t>pdf</a:t>
            </a:r>
            <a:r>
              <a:rPr lang="pt-BR" dirty="0"/>
              <a:t>/sn_74181.pdf</a:t>
            </a:r>
          </a:p>
          <a:p>
            <a:r>
              <a:rPr lang="pt-BR" dirty="0" err="1"/>
              <a:t>http</a:t>
            </a:r>
            <a:r>
              <a:rPr lang="pt-BR" dirty="0"/>
              <a:t>://</a:t>
            </a:r>
            <a:r>
              <a:rPr lang="pt-BR" dirty="0" err="1"/>
              <a:t>www.ti.com</a:t>
            </a:r>
            <a:r>
              <a:rPr lang="pt-BR" dirty="0"/>
              <a:t>/</a:t>
            </a:r>
            <a:r>
              <a:rPr lang="pt-BR" dirty="0" err="1"/>
              <a:t>product</a:t>
            </a:r>
            <a:r>
              <a:rPr lang="pt-BR" dirty="0"/>
              <a:t>/SN74LS181/</a:t>
            </a:r>
            <a:r>
              <a:rPr lang="pt-BR" dirty="0" err="1"/>
              <a:t>technicaldocuments</a:t>
            </a:r>
            <a:endParaRPr lang="pt-BR" dirty="0"/>
          </a:p>
          <a:p>
            <a:r>
              <a:rPr lang="pt-BR" dirty="0" err="1"/>
              <a:t>https</a:t>
            </a:r>
            <a:r>
              <a:rPr lang="pt-BR" dirty="0"/>
              <a:t>://</a:t>
            </a:r>
            <a:r>
              <a:rPr lang="pt-BR" dirty="0" err="1"/>
              <a:t>en.wikipedia.org</a:t>
            </a:r>
            <a:r>
              <a:rPr lang="pt-BR" dirty="0"/>
              <a:t>/</a:t>
            </a:r>
            <a:r>
              <a:rPr lang="pt-BR" dirty="0" err="1"/>
              <a:t>wiki</a:t>
            </a:r>
            <a:r>
              <a:rPr lang="pt-BR" dirty="0"/>
              <a:t>/74181</a:t>
            </a:r>
          </a:p>
          <a:p>
            <a:r>
              <a:rPr lang="pt-BR" dirty="0" err="1"/>
              <a:t>https</a:t>
            </a:r>
            <a:r>
              <a:rPr lang="pt-BR" dirty="0"/>
              <a:t>://</a:t>
            </a:r>
            <a:r>
              <a:rPr lang="pt-BR" dirty="0" err="1"/>
              <a:t>upload.wikimedia.org</a:t>
            </a:r>
            <a:r>
              <a:rPr lang="pt-BR" dirty="0"/>
              <a:t>/</a:t>
            </a:r>
            <a:r>
              <a:rPr lang="pt-BR" dirty="0" err="1"/>
              <a:t>wikipedia</a:t>
            </a:r>
            <a:r>
              <a:rPr lang="pt-BR" dirty="0"/>
              <a:t>/</a:t>
            </a:r>
            <a:r>
              <a:rPr lang="pt-BR" dirty="0" err="1"/>
              <a:t>commons</a:t>
            </a:r>
            <a:r>
              <a:rPr lang="pt-BR" dirty="0"/>
              <a:t>/</a:t>
            </a:r>
            <a:r>
              <a:rPr lang="pt-BR" dirty="0" err="1"/>
              <a:t>c</a:t>
            </a:r>
            <a:r>
              <a:rPr lang="pt-BR" dirty="0"/>
              <a:t>/c0/74181aluschematic.png</a:t>
            </a:r>
          </a:p>
          <a:p>
            <a:r>
              <a:rPr lang="pt-BR" dirty="0" err="1"/>
              <a:t>http</a:t>
            </a:r>
            <a:r>
              <a:rPr lang="pt-BR" dirty="0"/>
              <a:t>://</a:t>
            </a:r>
            <a:r>
              <a:rPr lang="pt-BR" dirty="0" err="1"/>
              <a:t>practicenunberone.blogspot.com.br</a:t>
            </a:r>
            <a:r>
              <a:rPr lang="pt-BR" dirty="0"/>
              <a:t>/2006/09/ensamblado-de-una-micro-</a:t>
            </a:r>
            <a:r>
              <a:rPr lang="pt-BR" dirty="0" err="1"/>
              <a:t>alu</a:t>
            </a:r>
            <a:r>
              <a:rPr lang="pt-BR" dirty="0"/>
              <a:t>-</a:t>
            </a:r>
            <a:r>
              <a:rPr lang="pt-BR" dirty="0" err="1"/>
              <a:t>operacin.html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20</a:t>
            </a:fld>
            <a:endParaRPr lang="pt-BR"/>
          </a:p>
        </p:txBody>
      </p:sp>
    </p:spTree>
    <p:extLst>
      <p:ext uri="{BB962C8B-B14F-4D97-AF65-F5344CB8AC3E}">
        <p14:creationId xmlns:p14="http://schemas.microsoft.com/office/powerpoint/2010/main" val="3158520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pt-BR" dirty="0" err="1"/>
              <a:t>http</a:t>
            </a:r>
            <a:r>
              <a:rPr lang="pt-BR" dirty="0"/>
              <a:t>://www2.elo.utfsm.cl/~</a:t>
            </a:r>
            <a:r>
              <a:rPr lang="pt-BR" dirty="0" err="1"/>
              <a:t>lsb</a:t>
            </a:r>
            <a:r>
              <a:rPr lang="pt-BR" dirty="0"/>
              <a:t>/elo211/</a:t>
            </a:r>
            <a:r>
              <a:rPr lang="pt-BR" dirty="0" err="1"/>
              <a:t>aplicaciones</a:t>
            </a:r>
            <a:r>
              <a:rPr lang="pt-BR" dirty="0"/>
              <a:t>/</a:t>
            </a:r>
            <a:r>
              <a:rPr lang="pt-BR" dirty="0" err="1"/>
              <a:t>katz</a:t>
            </a:r>
            <a:r>
              <a:rPr lang="pt-BR" dirty="0"/>
              <a:t>/chapter5/chapter05.doc5.html</a:t>
            </a:r>
          </a:p>
        </p:txBody>
      </p:sp>
      <p:sp>
        <p:nvSpPr>
          <p:cNvPr id="4" name="Slide Number Placeholder 3"/>
          <p:cNvSpPr>
            <a:spLocks noGrp="1"/>
          </p:cNvSpPr>
          <p:nvPr>
            <p:ph type="sldNum" sz="quarter" idx="10"/>
          </p:nvPr>
        </p:nvSpPr>
        <p:spPr/>
        <p:txBody>
          <a:bodyPr/>
          <a:lstStyle/>
          <a:p>
            <a:fld id="{F23FB91E-A0DC-4A5F-B463-D7B8E79502D1}" type="slidenum">
              <a:rPr lang="pt-BR" smtClean="0"/>
              <a:t>21</a:t>
            </a:fld>
            <a:endParaRPr lang="pt-BR"/>
          </a:p>
        </p:txBody>
      </p:sp>
    </p:spTree>
    <p:extLst>
      <p:ext uri="{BB962C8B-B14F-4D97-AF65-F5344CB8AC3E}">
        <p14:creationId xmlns:p14="http://schemas.microsoft.com/office/powerpoint/2010/main" val="392275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Um dos primeiros chips de sucesso foi o AMD AM9511 com diversas operações em ponto flutuante, já a Intel trouxe o 8087, turbinando os PCs. Hoje muitas </a:t>
            </a:r>
            <a:r>
              <a:rPr lang="pt-BR" sz="1200" dirty="0" err="1"/>
              <a:t>CPUs</a:t>
            </a:r>
            <a:r>
              <a:rPr lang="pt-BR" sz="1200" dirty="0"/>
              <a:t> já tem unidades de ponto flutuante internas, acessadas através de instruções como as extensões SSE.</a:t>
            </a:r>
          </a:p>
          <a:p>
            <a:endParaRPr lang="pt-BR" dirty="0"/>
          </a:p>
          <a:p>
            <a:endParaRPr lang="pt-BR" dirty="0"/>
          </a:p>
          <a:p>
            <a:r>
              <a:rPr lang="pt-BR" dirty="0" err="1"/>
              <a:t>http</a:t>
            </a:r>
            <a:r>
              <a:rPr lang="pt-BR" dirty="0"/>
              <a:t>://</a:t>
            </a:r>
            <a:r>
              <a:rPr lang="pt-BR" dirty="0" err="1"/>
              <a:t>micropartsusa.com</a:t>
            </a:r>
            <a:r>
              <a:rPr lang="pt-BR" dirty="0"/>
              <a:t>/sl3h7-intel-pentium-iii-600mhz-256kb-l2-cache-133mhz-fsb-slot-1-processor-only-refurbished.html</a:t>
            </a:r>
          </a:p>
          <a:p>
            <a:r>
              <a:rPr lang="pt-BR" dirty="0" err="1"/>
              <a:t>http</a:t>
            </a:r>
            <a:r>
              <a:rPr lang="pt-BR" dirty="0"/>
              <a:t>://</a:t>
            </a:r>
            <a:r>
              <a:rPr lang="pt-BR" dirty="0" err="1"/>
              <a:t>www.techbyter.com</a:t>
            </a:r>
            <a:r>
              <a:rPr lang="pt-BR" dirty="0"/>
              <a:t>/2015/0329.html</a:t>
            </a:r>
          </a:p>
        </p:txBody>
      </p:sp>
      <p:sp>
        <p:nvSpPr>
          <p:cNvPr id="4" name="Slide Number Placeholder 3"/>
          <p:cNvSpPr>
            <a:spLocks noGrp="1"/>
          </p:cNvSpPr>
          <p:nvPr>
            <p:ph type="sldNum" sz="quarter" idx="10"/>
          </p:nvPr>
        </p:nvSpPr>
        <p:spPr/>
        <p:txBody>
          <a:bodyPr/>
          <a:lstStyle/>
          <a:p>
            <a:fld id="{F23FB91E-A0DC-4A5F-B463-D7B8E79502D1}" type="slidenum">
              <a:rPr lang="pt-BR" smtClean="0"/>
              <a:t>22</a:t>
            </a:fld>
            <a:endParaRPr lang="pt-BR"/>
          </a:p>
        </p:txBody>
      </p:sp>
    </p:spTree>
    <p:extLst>
      <p:ext uri="{BB962C8B-B14F-4D97-AF65-F5344CB8AC3E}">
        <p14:creationId xmlns:p14="http://schemas.microsoft.com/office/powerpoint/2010/main" val="19654659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9/3/2026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9/3/2026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9/3/2026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9/3/2026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9/3/2026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9/3/2026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6.w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25.tiff"/></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8.jpg"/><Relationship Id="rId5" Type="http://schemas.microsoft.com/office/2007/relationships/hdphoto" Target="../media/hdphoto2.wdp"/><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25000" lnSpcReduction="20000"/>
          </a:bodyPr>
          <a:lstStyle/>
          <a:p>
            <a:pPr lvl="0" defTabSz="457200">
              <a:spcBef>
                <a:spcPct val="0"/>
              </a:spcBef>
              <a:spcAft>
                <a:spcPts val="600"/>
              </a:spcAft>
              <a:defRPr/>
            </a:pPr>
            <a:r>
              <a:rPr lang="pt-BR" sz="14400" dirty="0">
                <a:latin typeface="Verdana"/>
                <a:cs typeface="Verdana"/>
              </a:rPr>
              <a:t>Elementos de Sistemas</a:t>
            </a:r>
          </a:p>
        </p:txBody>
      </p:sp>
      <p:sp>
        <p:nvSpPr>
          <p:cNvPr id="3" name="Espaço Reservado para Conteúdo 2"/>
          <p:cNvSpPr>
            <a:spLocks noGrp="1"/>
          </p:cNvSpPr>
          <p:nvPr>
            <p:ph idx="13"/>
          </p:nvPr>
        </p:nvSpPr>
        <p:spPr/>
        <p:txBody>
          <a:bodyPr/>
          <a:lstStyle/>
          <a:p>
            <a:r>
              <a:rPr lang="pt-BR" dirty="0">
                <a:latin typeface="Verdana"/>
                <a:cs typeface="Verdana"/>
              </a:rPr>
              <a:t>Unidade Lógica Aritmética</a:t>
            </a:r>
          </a:p>
          <a:p>
            <a:endParaRPr lang="pt-BR" dirty="0"/>
          </a:p>
        </p:txBody>
      </p:sp>
      <p:sp>
        <p:nvSpPr>
          <p:cNvPr id="8" name="Espaço Reservado para Conteúdo 3"/>
          <p:cNvSpPr>
            <a:spLocks noGrp="1"/>
          </p:cNvSpPr>
          <p:nvPr>
            <p:ph idx="14"/>
          </p:nvPr>
        </p:nvSpPr>
        <p:spPr>
          <a:xfrm>
            <a:off x="900111" y="6233375"/>
            <a:ext cx="7343775" cy="361099"/>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
        <p:nvSpPr>
          <p:cNvPr id="9" name="Rectangle 8"/>
          <p:cNvSpPr/>
          <p:nvPr/>
        </p:nvSpPr>
        <p:spPr>
          <a:xfrm>
            <a:off x="197707" y="4456654"/>
            <a:ext cx="8427308" cy="1077218"/>
          </a:xfrm>
          <a:prstGeom prst="rect">
            <a:avLst/>
          </a:prstGeom>
        </p:spPr>
        <p:txBody>
          <a:bodyPr wrap="square">
            <a:spAutoFit/>
          </a:bodyPr>
          <a:lstStyle/>
          <a:p>
            <a:pPr defTabSz="914400">
              <a:defRPr/>
            </a:pPr>
            <a:r>
              <a:rPr lang="pt-BR" sz="1600" b="1" i="1" dirty="0">
                <a:solidFill>
                  <a:schemeClr val="bg1"/>
                </a:solidFill>
              </a:rPr>
              <a:t>"Contar é a religião desta geração, sua esperança e salvação."</a:t>
            </a:r>
          </a:p>
          <a:p>
            <a:pPr defTabSz="914400">
              <a:defRPr/>
            </a:pPr>
            <a:r>
              <a:rPr lang="en-US" sz="1600" b="1" i="1" dirty="0">
                <a:solidFill>
                  <a:schemeClr val="bg1"/>
                </a:solidFill>
              </a:rPr>
              <a:t>"Counting is the religion of this generation, its hope and salvation."</a:t>
            </a:r>
          </a:p>
          <a:p>
            <a:pPr defTabSz="914400">
              <a:defRPr/>
            </a:pPr>
            <a:r>
              <a:rPr lang="is-IS" sz="1600" b="1" i="1" dirty="0">
                <a:solidFill>
                  <a:schemeClr val="bg1"/>
                </a:solidFill>
              </a:rPr>
              <a:t>Gertrude Stein (1874–1946) </a:t>
            </a:r>
            <a:r>
              <a:rPr lang="pt-BR" sz="1600" b="1" dirty="0">
                <a:solidFill>
                  <a:schemeClr val="bg1"/>
                </a:solidFill>
              </a:rPr>
              <a:t>escritora americana</a:t>
            </a:r>
          </a:p>
          <a:p>
            <a:pPr defTabSz="914400">
              <a:defRPr/>
            </a:pPr>
            <a:r>
              <a:rPr lang="pt-BR" sz="1600" b="1" dirty="0">
                <a:solidFill>
                  <a:schemeClr val="bg1"/>
                </a:solidFill>
              </a:rPr>
              <a:t>apud </a:t>
            </a:r>
            <a:r>
              <a:rPr lang="pt-BR" sz="1600" b="1" dirty="0" err="1">
                <a:solidFill>
                  <a:schemeClr val="bg1"/>
                </a:solidFill>
              </a:rPr>
              <a:t>Nisan</a:t>
            </a:r>
            <a:r>
              <a:rPr lang="pt-BR" sz="1600" b="1" dirty="0">
                <a:solidFill>
                  <a:schemeClr val="bg1"/>
                </a:solidFill>
              </a:rPr>
              <a:t>, N. &amp; </a:t>
            </a:r>
            <a:r>
              <a:rPr lang="pt-BR" sz="1600" b="1" dirty="0" err="1">
                <a:solidFill>
                  <a:schemeClr val="bg1"/>
                </a:solidFill>
              </a:rPr>
              <a:t>Schocken</a:t>
            </a:r>
            <a:r>
              <a:rPr lang="pt-BR" sz="1600" b="1" dirty="0">
                <a:solidFill>
                  <a:schemeClr val="bg1"/>
                </a:solidFill>
              </a:rPr>
              <a:t>, S. 2005. </a:t>
            </a:r>
            <a:r>
              <a:rPr lang="en-US" sz="1600" b="1" dirty="0">
                <a:solidFill>
                  <a:schemeClr val="bg1"/>
                </a:solidFill>
              </a:rPr>
              <a:t>Elements of Computing Systems</a:t>
            </a:r>
          </a:p>
        </p:txBody>
      </p:sp>
    </p:spTree>
    <p:extLst>
      <p:ext uri="{BB962C8B-B14F-4D97-AF65-F5344CB8AC3E}">
        <p14:creationId xmlns:p14="http://schemas.microsoft.com/office/powerpoint/2010/main" val="2842346991"/>
      </p:ext>
    </p:extLst>
  </p:cSld>
  <p:clrMapOvr>
    <a:masterClrMapping/>
  </p:clrMapOvr>
  <mc:AlternateContent xmlns:mc="http://schemas.openxmlformats.org/markup-compatibility/2006" xmlns:p14="http://schemas.microsoft.com/office/powerpoint/2010/main">
    <mc:Choice Requires="p14">
      <p:transition spd="slow" p14:dur="1200" advTm="14469">
        <p14:prism/>
      </p:transition>
    </mc:Choice>
    <mc:Fallback xmlns="">
      <p:transition spd="slow" advTm="1446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1050"/>
            <a:ext cx="8686800" cy="619125"/>
          </a:xfrm>
        </p:spPr>
        <p:txBody>
          <a:bodyPr/>
          <a:lstStyle/>
          <a:p>
            <a:r>
              <a:rPr lang="pt-BR" dirty="0"/>
              <a:t>John Vincent Atanasoff  &amp; Clifford Berry</a:t>
            </a:r>
          </a:p>
        </p:txBody>
      </p:sp>
      <p:sp>
        <p:nvSpPr>
          <p:cNvPr id="3" name="Content Placeholder 2"/>
          <p:cNvSpPr>
            <a:spLocks noGrp="1"/>
          </p:cNvSpPr>
          <p:nvPr>
            <p:ph idx="1"/>
          </p:nvPr>
        </p:nvSpPr>
        <p:spPr>
          <a:xfrm>
            <a:off x="432541" y="1485900"/>
            <a:ext cx="8223898" cy="4724400"/>
          </a:xfrm>
        </p:spPr>
        <p:txBody>
          <a:bodyPr>
            <a:normAutofit/>
          </a:bodyPr>
          <a:lstStyle/>
          <a:p>
            <a:pPr>
              <a:spcBef>
                <a:spcPts val="0"/>
              </a:spcBef>
            </a:pPr>
            <a:r>
              <a:rPr lang="pt-BR" dirty="0"/>
              <a:t>John Atanasoff e Clifford Berry implementaram na Iowa State University em 1939 o primeiro somador de 16-bits a válvula, e em 1941 fizeram uma máquina para resolver equações lineares, chamado de ABC (Atanasoff-Berry Computer), com 60 posições de memória de 50-bit feitas de capacitores, rodando a 60Hz. O julgamento </a:t>
            </a:r>
            <a:r>
              <a:rPr lang="pt-BR" dirty="0" err="1"/>
              <a:t>Honeywell</a:t>
            </a:r>
            <a:r>
              <a:rPr lang="pt-BR" dirty="0"/>
              <a:t> v. Sperry Rand declarou inválida</a:t>
            </a:r>
          </a:p>
          <a:p>
            <a:pPr>
              <a:spcBef>
                <a:spcPts val="0"/>
              </a:spcBef>
            </a:pPr>
            <a:r>
              <a:rPr lang="pt-BR" dirty="0"/>
              <a:t>a patente do ENIAC e reconheceu que </a:t>
            </a:r>
            <a:r>
              <a:rPr lang="pt-BR" dirty="0" err="1"/>
              <a:t>Mauchly</a:t>
            </a:r>
            <a:r>
              <a:rPr lang="pt-BR" dirty="0"/>
              <a:t> havia </a:t>
            </a:r>
          </a:p>
          <a:p>
            <a:pPr>
              <a:spcBef>
                <a:spcPts val="0"/>
              </a:spcBef>
            </a:pPr>
            <a:r>
              <a:rPr lang="pt-BR" dirty="0"/>
              <a:t>obtido ideias a partir do trabalho de </a:t>
            </a:r>
            <a:r>
              <a:rPr lang="pt-BR" dirty="0" err="1"/>
              <a:t>Atanasoff</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7" name="Picture 6" descr="abc-ori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713" y="4109790"/>
            <a:ext cx="3074724" cy="2207914"/>
          </a:xfrm>
          <a:prstGeom prst="rect">
            <a:avLst/>
          </a:prstGeom>
        </p:spPr>
      </p:pic>
      <p:pic>
        <p:nvPicPr>
          <p:cNvPr id="8" name="Picture 7" descr="102624592p-03-03.jp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31407" y="2857413"/>
            <a:ext cx="2624923" cy="2138407"/>
          </a:xfrm>
          <a:prstGeom prst="rect">
            <a:avLst/>
          </a:prstGeom>
          <a:noFill/>
          <a:ln>
            <a:noFill/>
          </a:ln>
        </p:spPr>
      </p:pic>
      <p:pic>
        <p:nvPicPr>
          <p:cNvPr id="11" name="Picture 10" descr="ata_profile.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4328" y="4109790"/>
            <a:ext cx="1570998" cy="2273638"/>
          </a:xfrm>
          <a:prstGeom prst="rect">
            <a:avLst/>
          </a:prstGeom>
        </p:spPr>
      </p:pic>
      <p:pic>
        <p:nvPicPr>
          <p:cNvPr id="12" name="Picture 11" descr="Berry1962.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6870" y="4097460"/>
            <a:ext cx="1670208" cy="2273639"/>
          </a:xfrm>
          <a:prstGeom prst="rect">
            <a:avLst/>
          </a:prstGeom>
        </p:spPr>
      </p:pic>
      <p:sp>
        <p:nvSpPr>
          <p:cNvPr id="13" name="Rectangle 12"/>
          <p:cNvSpPr/>
          <p:nvPr/>
        </p:nvSpPr>
        <p:spPr>
          <a:xfrm>
            <a:off x="918585" y="6317704"/>
            <a:ext cx="1582484" cy="369332"/>
          </a:xfrm>
          <a:prstGeom prst="rect">
            <a:avLst/>
          </a:prstGeom>
        </p:spPr>
        <p:txBody>
          <a:bodyPr wrap="none">
            <a:spAutoFit/>
          </a:bodyPr>
          <a:lstStyle/>
          <a:p>
            <a:r>
              <a:rPr lang="pt-BR" dirty="0"/>
              <a:t>John Atanasoff </a:t>
            </a:r>
          </a:p>
        </p:txBody>
      </p:sp>
      <p:sp>
        <p:nvSpPr>
          <p:cNvPr id="14" name="Rectangle 13"/>
          <p:cNvSpPr/>
          <p:nvPr/>
        </p:nvSpPr>
        <p:spPr>
          <a:xfrm>
            <a:off x="2767025" y="6317704"/>
            <a:ext cx="1429899" cy="369332"/>
          </a:xfrm>
          <a:prstGeom prst="rect">
            <a:avLst/>
          </a:prstGeom>
        </p:spPr>
        <p:txBody>
          <a:bodyPr wrap="none">
            <a:spAutoFit/>
          </a:bodyPr>
          <a:lstStyle/>
          <a:p>
            <a:r>
              <a:rPr lang="pt-BR" dirty="0"/>
              <a:t>Clifford Berry</a:t>
            </a:r>
          </a:p>
        </p:txBody>
      </p:sp>
    </p:spTree>
    <p:extLst>
      <p:ext uri="{BB962C8B-B14F-4D97-AF65-F5344CB8AC3E}">
        <p14:creationId xmlns:p14="http://schemas.microsoft.com/office/powerpoint/2010/main" val="197056866"/>
      </p:ext>
    </p:extLst>
  </p:cSld>
  <p:clrMapOvr>
    <a:masterClrMapping/>
  </p:clrMapOvr>
  <mc:AlternateContent xmlns:mc="http://schemas.openxmlformats.org/markup-compatibility/2006" xmlns:p14="http://schemas.microsoft.com/office/powerpoint/2010/main">
    <mc:Choice Requires="p14">
      <p:transition spd="slow" p14:dur="1200" advTm="33117">
        <p14:prism/>
      </p:transition>
    </mc:Choice>
    <mc:Fallback xmlns="">
      <p:transition spd="slow" advTm="3311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3000" fill="hold"/>
                                        <p:tgtEl>
                                          <p:spTgt spid="11"/>
                                        </p:tgtEl>
                                        <p:attrNameLst>
                                          <p:attrName>ppt_w</p:attrName>
                                        </p:attrNameLst>
                                      </p:cBhvr>
                                      <p:tavLst>
                                        <p:tav tm="0">
                                          <p:val>
                                            <p:fltVal val="0"/>
                                          </p:val>
                                        </p:tav>
                                        <p:tav tm="100000">
                                          <p:val>
                                            <p:strVal val="#ppt_w"/>
                                          </p:val>
                                        </p:tav>
                                      </p:tavLst>
                                    </p:anim>
                                    <p:anim calcmode="lin" valueType="num">
                                      <p:cBhvr>
                                        <p:cTn id="8" dur="3000" fill="hold"/>
                                        <p:tgtEl>
                                          <p:spTgt spid="11"/>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2000" fill="hold"/>
                                        <p:tgtEl>
                                          <p:spTgt spid="12"/>
                                        </p:tgtEl>
                                        <p:attrNameLst>
                                          <p:attrName>ppt_w</p:attrName>
                                        </p:attrNameLst>
                                      </p:cBhvr>
                                      <p:tavLst>
                                        <p:tav tm="0">
                                          <p:val>
                                            <p:fltVal val="0"/>
                                          </p:val>
                                        </p:tav>
                                        <p:tav tm="100000">
                                          <p:val>
                                            <p:strVal val="#ppt_w"/>
                                          </p:val>
                                        </p:tav>
                                      </p:tavLst>
                                    </p:anim>
                                    <p:anim calcmode="lin" valueType="num">
                                      <p:cBhvr>
                                        <p:cTn id="12" dur="2000" fill="hold"/>
                                        <p:tgtEl>
                                          <p:spTgt spid="12"/>
                                        </p:tgtEl>
                                        <p:attrNameLst>
                                          <p:attrName>ppt_h</p:attrName>
                                        </p:attrNameLst>
                                      </p:cBhvr>
                                      <p:tavLst>
                                        <p:tav tm="0">
                                          <p:val>
                                            <p:fltVal val="0"/>
                                          </p:val>
                                        </p:tav>
                                        <p:tav tm="100000">
                                          <p:val>
                                            <p:strVal val="#ppt_h"/>
                                          </p:val>
                                        </p:tav>
                                      </p:tavLst>
                                    </p:anim>
                                  </p:childTnLst>
                                </p:cTn>
                              </p:par>
                              <p:par>
                                <p:cTn id="13" presetID="0" presetClass="path" presetSubtype="0" accel="50000" decel="50000" fill="hold" nodeType="withEffect">
                                  <p:stCondLst>
                                    <p:cond delay="0"/>
                                  </p:stCondLst>
                                  <p:childTnLst>
                                    <p:animMotion origin="layout" path="M -2.5E-6 -3.7037E-6 L -0.00677 0.00718 " pathEditMode="relative" rAng="0" ptsTypes="AA">
                                      <p:cBhvr>
                                        <p:cTn id="14" dur="3000" fill="hold"/>
                                        <p:tgtEl>
                                          <p:spTgt spid="8"/>
                                        </p:tgtEl>
                                        <p:attrNameLst>
                                          <p:attrName>ppt_x</p:attrName>
                                          <p:attrName>ppt_y</p:attrName>
                                        </p:attrNameLst>
                                      </p:cBhvr>
                                      <p:rCtr x="-347" y="347"/>
                                    </p:animMotion>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000"/>
                                        <p:tgtEl>
                                          <p:spTgt spid="7"/>
                                        </p:tgtEl>
                                      </p:cBhvr>
                                    </p:animEffect>
                                    <p:anim calcmode="lin" valueType="num">
                                      <p:cBhvr>
                                        <p:cTn id="18" dur="3000" fill="hold"/>
                                        <p:tgtEl>
                                          <p:spTgt spid="7"/>
                                        </p:tgtEl>
                                        <p:attrNameLst>
                                          <p:attrName>ppt_x</p:attrName>
                                        </p:attrNameLst>
                                      </p:cBhvr>
                                      <p:tavLst>
                                        <p:tav tm="0">
                                          <p:val>
                                            <p:strVal val="#ppt_x"/>
                                          </p:val>
                                        </p:tav>
                                        <p:tav tm="100000">
                                          <p:val>
                                            <p:strVal val="#ppt_x"/>
                                          </p:val>
                                        </p:tav>
                                      </p:tavLst>
                                    </p:anim>
                                    <p:anim calcmode="lin" valueType="num">
                                      <p:cBhvr>
                                        <p:cTn id="19" dur="3000" fill="hold"/>
                                        <p:tgtEl>
                                          <p:spTgt spid="7"/>
                                        </p:tgtEl>
                                        <p:attrNameLst>
                                          <p:attrName>ppt_y</p:attrName>
                                        </p:attrNameLst>
                                      </p:cBhvr>
                                      <p:tavLst>
                                        <p:tav tm="0">
                                          <p:val>
                                            <p:strVal val="#ppt_y+.1"/>
                                          </p:val>
                                        </p:tav>
                                        <p:tav tm="100000">
                                          <p:val>
                                            <p:strVal val="#ppt_y"/>
                                          </p:val>
                                        </p:tav>
                                      </p:tavLst>
                                    </p:anim>
                                  </p:childTnLst>
                                </p:cTn>
                              </p:par>
                            </p:childTnLst>
                          </p:cTn>
                        </p:par>
                        <p:par>
                          <p:cTn id="20" fill="hold">
                            <p:stCondLst>
                              <p:cond delay="3000"/>
                            </p:stCondLst>
                            <p:childTnLst>
                              <p:par>
                                <p:cTn id="21" presetID="1"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Harvard Mark 1 </a:t>
            </a:r>
          </a:p>
        </p:txBody>
      </p:sp>
      <p:sp>
        <p:nvSpPr>
          <p:cNvPr id="3" name="Content Placeholder 2"/>
          <p:cNvSpPr>
            <a:spLocks noGrp="1"/>
          </p:cNvSpPr>
          <p:nvPr>
            <p:ph idx="1"/>
          </p:nvPr>
        </p:nvSpPr>
        <p:spPr>
          <a:xfrm>
            <a:off x="457201" y="1485900"/>
            <a:ext cx="8382550" cy="4724400"/>
          </a:xfrm>
        </p:spPr>
        <p:txBody>
          <a:bodyPr>
            <a:normAutofit/>
          </a:bodyPr>
          <a:lstStyle/>
          <a:p>
            <a:r>
              <a:rPr lang="pt-BR" sz="2150" dirty="0"/>
              <a:t>O Harvard Mark 1 (</a:t>
            </a:r>
            <a:r>
              <a:rPr lang="en-US" sz="2150" noProof="0" dirty="0"/>
              <a:t>IBM automatic sequence controlled calculator</a:t>
            </a:r>
            <a:r>
              <a:rPr lang="pt-BR" sz="2150" dirty="0"/>
              <a:t>), foi criado em 1943, sendo um sistema eletromecânico à base de relés. Howard Aiken fez o design do hardware do Mark 1, baseado em uma representação e armazenamento numérico decimal.</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pic>
        <p:nvPicPr>
          <p:cNvPr id="7" name="Picture 6" descr="image057.gif"/>
          <p:cNvPicPr>
            <a:picLocks noChangeAspect="1"/>
          </p:cNvPicPr>
          <p:nvPr/>
        </p:nvPicPr>
        <p:blipFill rotWithShape="1">
          <a:blip r:embed="rId3">
            <a:extLst>
              <a:ext uri="{28A0092B-C50C-407E-A947-70E740481C1C}">
                <a14:useLocalDpi xmlns:a14="http://schemas.microsoft.com/office/drawing/2010/main" val="0"/>
              </a:ext>
            </a:extLst>
          </a:blip>
          <a:srcRect t="19992" b="15276"/>
          <a:stretch/>
        </p:blipFill>
        <p:spPr>
          <a:xfrm>
            <a:off x="652452" y="3720639"/>
            <a:ext cx="7961112" cy="2681536"/>
          </a:xfrm>
          <a:prstGeom prst="rect">
            <a:avLst/>
          </a:prstGeom>
        </p:spPr>
      </p:pic>
      <p:pic>
        <p:nvPicPr>
          <p:cNvPr id="8" name="Picture 7" descr="Harvard_Mark_I_constant_switches_detail.jpg"/>
          <p:cNvPicPr>
            <a:picLocks noChangeAspect="1"/>
          </p:cNvPicPr>
          <p:nvPr/>
        </p:nvPicPr>
        <p:blipFill rotWithShape="1">
          <a:blip r:embed="rId4">
            <a:extLst>
              <a:ext uri="{28A0092B-C50C-407E-A947-70E740481C1C}">
                <a14:useLocalDpi xmlns:a14="http://schemas.microsoft.com/office/drawing/2010/main" val="0"/>
              </a:ext>
            </a:extLst>
          </a:blip>
          <a:srcRect l="14764" t="19609"/>
          <a:stretch/>
        </p:blipFill>
        <p:spPr>
          <a:xfrm>
            <a:off x="272005" y="3442813"/>
            <a:ext cx="1884644" cy="1333146"/>
          </a:xfrm>
          <a:prstGeom prst="rect">
            <a:avLst/>
          </a:prstGeom>
        </p:spPr>
      </p:pic>
      <p:grpSp>
        <p:nvGrpSpPr>
          <p:cNvPr id="11" name="Group 10"/>
          <p:cNvGrpSpPr/>
          <p:nvPr/>
        </p:nvGrpSpPr>
        <p:grpSpPr>
          <a:xfrm>
            <a:off x="7034554" y="3039963"/>
            <a:ext cx="1805197" cy="1911276"/>
            <a:chOff x="7034553" y="3080494"/>
            <a:chExt cx="1805197" cy="1911276"/>
          </a:xfrm>
        </p:grpSpPr>
        <p:pic>
          <p:nvPicPr>
            <p:cNvPr id="9" name="Picture 8" descr="howardaiken.jpg"/>
            <p:cNvPicPr>
              <a:picLocks noChangeAspect="1"/>
            </p:cNvPicPr>
            <p:nvPr/>
          </p:nvPicPr>
          <p:blipFill rotWithShape="1">
            <a:blip r:embed="rId5">
              <a:extLst>
                <a:ext uri="{28A0092B-C50C-407E-A947-70E740481C1C}">
                  <a14:useLocalDpi xmlns:a14="http://schemas.microsoft.com/office/drawing/2010/main" val="0"/>
                </a:ext>
              </a:extLst>
            </a:blip>
            <a:srcRect b="16568"/>
            <a:stretch/>
          </p:blipFill>
          <p:spPr>
            <a:xfrm>
              <a:off x="7034553" y="3080494"/>
              <a:ext cx="1805197" cy="1911276"/>
            </a:xfrm>
            <a:prstGeom prst="rect">
              <a:avLst/>
            </a:prstGeom>
          </p:spPr>
        </p:pic>
        <p:sp>
          <p:nvSpPr>
            <p:cNvPr id="10" name="Rectangle 9"/>
            <p:cNvSpPr/>
            <p:nvPr/>
          </p:nvSpPr>
          <p:spPr>
            <a:xfrm>
              <a:off x="7193289" y="4622438"/>
              <a:ext cx="1545878" cy="369332"/>
            </a:xfrm>
            <a:prstGeom prst="rect">
              <a:avLst/>
            </a:prstGeom>
          </p:spPr>
          <p:txBody>
            <a:bodyPr wrap="none">
              <a:spAutoFit/>
            </a:bodyPr>
            <a:lstStyle/>
            <a:p>
              <a:r>
                <a:rPr lang="pt-BR" b="1" dirty="0">
                  <a:solidFill>
                    <a:srgbClr val="FFFFFF"/>
                  </a:solidFill>
                </a:rPr>
                <a:t>Howard Aiken</a:t>
              </a:r>
            </a:p>
          </p:txBody>
        </p:sp>
      </p:grpSp>
      <p:sp>
        <p:nvSpPr>
          <p:cNvPr id="12" name="Espaço Reservado para Conteúdo 2"/>
          <p:cNvSpPr txBox="1">
            <a:spLocks/>
          </p:cNvSpPr>
          <p:nvPr/>
        </p:nvSpPr>
        <p:spPr>
          <a:xfrm>
            <a:off x="652452" y="6402173"/>
            <a:ext cx="7921201" cy="365125"/>
          </a:xfrm>
          <a:prstGeom prst="rect">
            <a:avLst/>
          </a:prstGeom>
        </p:spPr>
        <p:txBody>
          <a:bodyPr>
            <a:normAutofit fontScale="62500" lnSpcReduction="20000"/>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dirty="0">
                <a:solidFill>
                  <a:srgbClr val="FF0000"/>
                </a:solidFill>
              </a:rPr>
              <a:t>O complemento de dois é a representação predominante de inteiros com sinal nos computadores atuais.</a:t>
            </a:r>
          </a:p>
        </p:txBody>
      </p:sp>
    </p:spTree>
    <p:extLst>
      <p:ext uri="{BB962C8B-B14F-4D97-AF65-F5344CB8AC3E}">
        <p14:creationId xmlns:p14="http://schemas.microsoft.com/office/powerpoint/2010/main" val="1930287214"/>
      </p:ext>
    </p:extLst>
  </p:cSld>
  <p:clrMapOvr>
    <a:masterClrMapping/>
  </p:clrMapOvr>
  <mc:AlternateContent xmlns:mc="http://schemas.openxmlformats.org/markup-compatibility/2006" xmlns:p14="http://schemas.microsoft.com/office/powerpoint/2010/main">
    <mc:Choice Requires="p14">
      <p:transition spd="slow" p14:dur="1200" advTm="55179">
        <p14:prism/>
      </p:transition>
    </mc:Choice>
    <mc:Fallback xmlns="">
      <p:transition spd="slow" advTm="5517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p:tgtEl>
                                          <p:spTgt spid="8"/>
                                        </p:tgtEl>
                                        <p:attrNameLst>
                                          <p:attrName>ppt_y</p:attrName>
                                        </p:attrNameLst>
                                      </p:cBhvr>
                                      <p:tavLst>
                                        <p:tav tm="0">
                                          <p:val>
                                            <p:strVal val="#ppt_y+#ppt_h*1.125000"/>
                                          </p:val>
                                        </p:tav>
                                        <p:tav tm="100000">
                                          <p:val>
                                            <p:strVal val="#ppt_y"/>
                                          </p:val>
                                        </p:tav>
                                      </p:tavLst>
                                    </p:anim>
                                    <p:animEffect transition="in" filter="wipe(up)">
                                      <p:cBhvr>
                                        <p:cTn id="12" dur="2000"/>
                                        <p:tgtEl>
                                          <p:spTgt spid="8"/>
                                        </p:tgtEl>
                                      </p:cBhvr>
                                    </p:animEffect>
                                  </p:childTnLst>
                                </p:cTn>
                              </p:par>
                              <p:par>
                                <p:cTn id="13" presetID="12" presetClass="entr" presetSubtype="1"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2000"/>
                                        <p:tgtEl>
                                          <p:spTgt spid="11"/>
                                        </p:tgtEl>
                                        <p:attrNameLst>
                                          <p:attrName>ppt_y</p:attrName>
                                        </p:attrNameLst>
                                      </p:cBhvr>
                                      <p:tavLst>
                                        <p:tav tm="0">
                                          <p:val>
                                            <p:strVal val="#ppt_y-#ppt_h*1.125000"/>
                                          </p:val>
                                        </p:tav>
                                        <p:tav tm="100000">
                                          <p:val>
                                            <p:strVal val="#ppt_y"/>
                                          </p:val>
                                        </p:tav>
                                      </p:tavLst>
                                    </p:anim>
                                    <p:animEffect transition="in" filter="wipe(down)">
                                      <p:cBhvr>
                                        <p:cTn id="16" dur="2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Unidade Lógica Aritmética (ULA) </a:t>
            </a:r>
          </a:p>
        </p:txBody>
      </p:sp>
      <p:sp>
        <p:nvSpPr>
          <p:cNvPr id="3" name="Content Placeholder 2"/>
          <p:cNvSpPr>
            <a:spLocks noGrp="1"/>
          </p:cNvSpPr>
          <p:nvPr>
            <p:ph idx="1"/>
          </p:nvPr>
        </p:nvSpPr>
        <p:spPr>
          <a:xfrm>
            <a:off x="369080" y="1621367"/>
            <a:ext cx="8182253" cy="2253051"/>
          </a:xfrm>
        </p:spPr>
        <p:txBody>
          <a:bodyPr>
            <a:noAutofit/>
          </a:bodyPr>
          <a:lstStyle/>
          <a:p>
            <a:r>
              <a:rPr lang="pt-BR" sz="2600" dirty="0"/>
              <a:t>ULA ou </a:t>
            </a:r>
            <a:r>
              <a:rPr lang="en-US" sz="2600" dirty="0"/>
              <a:t>Arithmetic Logic Unit </a:t>
            </a:r>
            <a:r>
              <a:rPr lang="pt-BR" sz="2600" dirty="0"/>
              <a:t>(</a:t>
            </a:r>
            <a:r>
              <a:rPr lang="pt-BR" sz="2600" b="1" dirty="0"/>
              <a:t>ALU</a:t>
            </a:r>
            <a:r>
              <a:rPr lang="pt-BR" sz="2600" dirty="0"/>
              <a:t>), </a:t>
            </a:r>
            <a:r>
              <a:rPr lang="pt-BR" sz="2800" dirty="0"/>
              <a:t>é um componente central do caminho de dados da CPU</a:t>
            </a:r>
            <a:r>
              <a:rPr lang="pt-BR" sz="2600" dirty="0"/>
              <a:t>. A </a:t>
            </a:r>
            <a:r>
              <a:rPr lang="pt-BR" sz="2600" b="1" dirty="0"/>
              <a:t>ALU</a:t>
            </a:r>
            <a:r>
              <a:rPr lang="pt-BR" sz="2600" dirty="0"/>
              <a:t> consiste de um circuito digital capaz de fazer operações aritméticas e lógicas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grpSp>
        <p:nvGrpSpPr>
          <p:cNvPr id="10" name="Group 9"/>
          <p:cNvGrpSpPr/>
          <p:nvPr/>
        </p:nvGrpSpPr>
        <p:grpSpPr>
          <a:xfrm>
            <a:off x="1667260" y="3403825"/>
            <a:ext cx="4353218" cy="2689152"/>
            <a:chOff x="1614348" y="3454624"/>
            <a:chExt cx="4353218" cy="2689152"/>
          </a:xfrm>
        </p:grpSpPr>
        <p:sp>
          <p:nvSpPr>
            <p:cNvPr id="8" name="Regular Pentagon 7"/>
            <p:cNvSpPr/>
            <p:nvPr/>
          </p:nvSpPr>
          <p:spPr>
            <a:xfrm>
              <a:off x="3327257" y="4349168"/>
              <a:ext cx="2640309" cy="929605"/>
            </a:xfrm>
            <a:custGeom>
              <a:avLst/>
              <a:gdLst>
                <a:gd name="connsiteX0" fmla="*/ 3 w 2640315"/>
                <a:gd name="connsiteY0" fmla="*/ 574527 h 1504136"/>
                <a:gd name="connsiteX1" fmla="*/ 1320158 w 2640315"/>
                <a:gd name="connsiteY1" fmla="*/ 0 h 1504136"/>
                <a:gd name="connsiteX2" fmla="*/ 2640312 w 2640315"/>
                <a:gd name="connsiteY2" fmla="*/ 574527 h 1504136"/>
                <a:gd name="connsiteX3" fmla="*/ 2136058 w 2640315"/>
                <a:gd name="connsiteY3" fmla="*/ 1504132 h 1504136"/>
                <a:gd name="connsiteX4" fmla="*/ 504257 w 2640315"/>
                <a:gd name="connsiteY4" fmla="*/ 1504132 h 1504136"/>
                <a:gd name="connsiteX5" fmla="*/ 3 w 2640315"/>
                <a:gd name="connsiteY5" fmla="*/ 574527 h 1504136"/>
                <a:gd name="connsiteX0" fmla="*/ 0 w 2640309"/>
                <a:gd name="connsiteY0" fmla="*/ 106025 h 1035630"/>
                <a:gd name="connsiteX1" fmla="*/ 1369474 w 2640309"/>
                <a:gd name="connsiteY1" fmla="*/ 0 h 1035630"/>
                <a:gd name="connsiteX2" fmla="*/ 2640309 w 2640309"/>
                <a:gd name="connsiteY2" fmla="*/ 106025 h 1035630"/>
                <a:gd name="connsiteX3" fmla="*/ 2136055 w 2640309"/>
                <a:gd name="connsiteY3" fmla="*/ 1035630 h 1035630"/>
                <a:gd name="connsiteX4" fmla="*/ 504254 w 2640309"/>
                <a:gd name="connsiteY4" fmla="*/ 1035630 h 1035630"/>
                <a:gd name="connsiteX5" fmla="*/ 0 w 2640309"/>
                <a:gd name="connsiteY5" fmla="*/ 106025 h 1035630"/>
                <a:gd name="connsiteX0" fmla="*/ 0 w 2640309"/>
                <a:gd name="connsiteY0" fmla="*/ 19722 h 949327"/>
                <a:gd name="connsiteX1" fmla="*/ 1369474 w 2640309"/>
                <a:gd name="connsiteY1" fmla="*/ 0 h 949327"/>
                <a:gd name="connsiteX2" fmla="*/ 2640309 w 2640309"/>
                <a:gd name="connsiteY2" fmla="*/ 19722 h 949327"/>
                <a:gd name="connsiteX3" fmla="*/ 2136055 w 2640309"/>
                <a:gd name="connsiteY3" fmla="*/ 949327 h 949327"/>
                <a:gd name="connsiteX4" fmla="*/ 504254 w 2640309"/>
                <a:gd name="connsiteY4" fmla="*/ 949327 h 949327"/>
                <a:gd name="connsiteX5" fmla="*/ 0 w 2640309"/>
                <a:gd name="connsiteY5" fmla="*/ 19722 h 949327"/>
                <a:gd name="connsiteX0" fmla="*/ 0 w 2640309"/>
                <a:gd name="connsiteY0" fmla="*/ 0 h 929605"/>
                <a:gd name="connsiteX1" fmla="*/ 1369474 w 2640309"/>
                <a:gd name="connsiteY1" fmla="*/ 4936 h 929605"/>
                <a:gd name="connsiteX2" fmla="*/ 2640309 w 2640309"/>
                <a:gd name="connsiteY2" fmla="*/ 0 h 929605"/>
                <a:gd name="connsiteX3" fmla="*/ 2136055 w 2640309"/>
                <a:gd name="connsiteY3" fmla="*/ 929605 h 929605"/>
                <a:gd name="connsiteX4" fmla="*/ 504254 w 2640309"/>
                <a:gd name="connsiteY4" fmla="*/ 929605 h 929605"/>
                <a:gd name="connsiteX5" fmla="*/ 0 w 2640309"/>
                <a:gd name="connsiteY5" fmla="*/ 0 h 929605"/>
                <a:gd name="connsiteX0" fmla="*/ 0 w 2640309"/>
                <a:gd name="connsiteY0" fmla="*/ 7394 h 936999"/>
                <a:gd name="connsiteX1" fmla="*/ 1369474 w 2640309"/>
                <a:gd name="connsiteY1" fmla="*/ 12330 h 936999"/>
                <a:gd name="connsiteX2" fmla="*/ 1999168 w 2640309"/>
                <a:gd name="connsiteY2" fmla="*/ 0 h 936999"/>
                <a:gd name="connsiteX3" fmla="*/ 2640309 w 2640309"/>
                <a:gd name="connsiteY3" fmla="*/ 7394 h 936999"/>
                <a:gd name="connsiteX4" fmla="*/ 2136055 w 2640309"/>
                <a:gd name="connsiteY4" fmla="*/ 936999 h 936999"/>
                <a:gd name="connsiteX5" fmla="*/ 504254 w 2640309"/>
                <a:gd name="connsiteY5" fmla="*/ 936999 h 936999"/>
                <a:gd name="connsiteX6" fmla="*/ 0 w 2640309"/>
                <a:gd name="connsiteY6" fmla="*/ 7394 h 936999"/>
                <a:gd name="connsiteX0" fmla="*/ 0 w 2640309"/>
                <a:gd name="connsiteY0" fmla="*/ 19723 h 949328"/>
                <a:gd name="connsiteX1" fmla="*/ 1369474 w 2640309"/>
                <a:gd name="connsiteY1" fmla="*/ 24659 h 949328"/>
                <a:gd name="connsiteX2" fmla="*/ 1629278 w 2640309"/>
                <a:gd name="connsiteY2" fmla="*/ 0 h 949328"/>
                <a:gd name="connsiteX3" fmla="*/ 1999168 w 2640309"/>
                <a:gd name="connsiteY3" fmla="*/ 12329 h 949328"/>
                <a:gd name="connsiteX4" fmla="*/ 2640309 w 2640309"/>
                <a:gd name="connsiteY4" fmla="*/ 19723 h 949328"/>
                <a:gd name="connsiteX5" fmla="*/ 2136055 w 2640309"/>
                <a:gd name="connsiteY5" fmla="*/ 949328 h 949328"/>
                <a:gd name="connsiteX6" fmla="*/ 504254 w 2640309"/>
                <a:gd name="connsiteY6" fmla="*/ 949328 h 949328"/>
                <a:gd name="connsiteX7" fmla="*/ 0 w 2640309"/>
                <a:gd name="connsiteY7" fmla="*/ 19723 h 949328"/>
                <a:gd name="connsiteX0" fmla="*/ 0 w 2640309"/>
                <a:gd name="connsiteY0" fmla="*/ 7394 h 936999"/>
                <a:gd name="connsiteX1" fmla="*/ 1369474 w 2640309"/>
                <a:gd name="connsiteY1" fmla="*/ 12330 h 936999"/>
                <a:gd name="connsiteX2" fmla="*/ 1777235 w 2640309"/>
                <a:gd name="connsiteY2" fmla="*/ 320554 h 936999"/>
                <a:gd name="connsiteX3" fmla="*/ 1999168 w 2640309"/>
                <a:gd name="connsiteY3" fmla="*/ 0 h 936999"/>
                <a:gd name="connsiteX4" fmla="*/ 2640309 w 2640309"/>
                <a:gd name="connsiteY4" fmla="*/ 7394 h 936999"/>
                <a:gd name="connsiteX5" fmla="*/ 2136055 w 2640309"/>
                <a:gd name="connsiteY5" fmla="*/ 936999 h 936999"/>
                <a:gd name="connsiteX6" fmla="*/ 504254 w 2640309"/>
                <a:gd name="connsiteY6" fmla="*/ 936999 h 936999"/>
                <a:gd name="connsiteX7" fmla="*/ 0 w 2640309"/>
                <a:gd name="connsiteY7" fmla="*/ 7394 h 936999"/>
                <a:gd name="connsiteX0" fmla="*/ 0 w 2640309"/>
                <a:gd name="connsiteY0" fmla="*/ 7394 h 936999"/>
                <a:gd name="connsiteX1" fmla="*/ 655233 w 2640309"/>
                <a:gd name="connsiteY1" fmla="*/ 12329 h 936999"/>
                <a:gd name="connsiteX2" fmla="*/ 1369474 w 2640309"/>
                <a:gd name="connsiteY2" fmla="*/ 12330 h 936999"/>
                <a:gd name="connsiteX3" fmla="*/ 1777235 w 2640309"/>
                <a:gd name="connsiteY3" fmla="*/ 320554 h 936999"/>
                <a:gd name="connsiteX4" fmla="*/ 1999168 w 2640309"/>
                <a:gd name="connsiteY4" fmla="*/ 0 h 936999"/>
                <a:gd name="connsiteX5" fmla="*/ 2640309 w 2640309"/>
                <a:gd name="connsiteY5" fmla="*/ 7394 h 936999"/>
                <a:gd name="connsiteX6" fmla="*/ 2136055 w 2640309"/>
                <a:gd name="connsiteY6" fmla="*/ 936999 h 936999"/>
                <a:gd name="connsiteX7" fmla="*/ 504254 w 2640309"/>
                <a:gd name="connsiteY7" fmla="*/ 936999 h 936999"/>
                <a:gd name="connsiteX8" fmla="*/ 0 w 2640309"/>
                <a:gd name="connsiteY8" fmla="*/ 7394 h 936999"/>
                <a:gd name="connsiteX0" fmla="*/ 0 w 2640309"/>
                <a:gd name="connsiteY0" fmla="*/ 7394 h 936999"/>
                <a:gd name="connsiteX1" fmla="*/ 655233 w 2640309"/>
                <a:gd name="connsiteY1" fmla="*/ 12329 h 936999"/>
                <a:gd name="connsiteX2" fmla="*/ 839298 w 2640309"/>
                <a:gd name="connsiteY2" fmla="*/ 320555 h 936999"/>
                <a:gd name="connsiteX3" fmla="*/ 1777235 w 2640309"/>
                <a:gd name="connsiteY3" fmla="*/ 320554 h 936999"/>
                <a:gd name="connsiteX4" fmla="*/ 1999168 w 2640309"/>
                <a:gd name="connsiteY4" fmla="*/ 0 h 936999"/>
                <a:gd name="connsiteX5" fmla="*/ 2640309 w 2640309"/>
                <a:gd name="connsiteY5" fmla="*/ 7394 h 936999"/>
                <a:gd name="connsiteX6" fmla="*/ 2136055 w 2640309"/>
                <a:gd name="connsiteY6" fmla="*/ 936999 h 936999"/>
                <a:gd name="connsiteX7" fmla="*/ 504254 w 2640309"/>
                <a:gd name="connsiteY7" fmla="*/ 936999 h 936999"/>
                <a:gd name="connsiteX8" fmla="*/ 0 w 2640309"/>
                <a:gd name="connsiteY8" fmla="*/ 7394 h 936999"/>
                <a:gd name="connsiteX0" fmla="*/ 0 w 2640309"/>
                <a:gd name="connsiteY0" fmla="*/ 0 h 929605"/>
                <a:gd name="connsiteX1" fmla="*/ 655233 w 2640309"/>
                <a:gd name="connsiteY1" fmla="*/ 4935 h 929605"/>
                <a:gd name="connsiteX2" fmla="*/ 839298 w 2640309"/>
                <a:gd name="connsiteY2" fmla="*/ 313161 h 929605"/>
                <a:gd name="connsiteX3" fmla="*/ 1777235 w 2640309"/>
                <a:gd name="connsiteY3" fmla="*/ 313160 h 929605"/>
                <a:gd name="connsiteX4" fmla="*/ 1986839 w 2640309"/>
                <a:gd name="connsiteY4" fmla="*/ 4935 h 929605"/>
                <a:gd name="connsiteX5" fmla="*/ 2640309 w 2640309"/>
                <a:gd name="connsiteY5" fmla="*/ 0 h 929605"/>
                <a:gd name="connsiteX6" fmla="*/ 2136055 w 2640309"/>
                <a:gd name="connsiteY6" fmla="*/ 929605 h 929605"/>
                <a:gd name="connsiteX7" fmla="*/ 504254 w 2640309"/>
                <a:gd name="connsiteY7" fmla="*/ 929605 h 929605"/>
                <a:gd name="connsiteX8" fmla="*/ 0 w 2640309"/>
                <a:gd name="connsiteY8" fmla="*/ 0 h 929605"/>
                <a:gd name="connsiteX0" fmla="*/ 0 w 2640309"/>
                <a:gd name="connsiteY0" fmla="*/ 0 h 929605"/>
                <a:gd name="connsiteX1" fmla="*/ 667563 w 2640309"/>
                <a:gd name="connsiteY1" fmla="*/ 4935 h 929605"/>
                <a:gd name="connsiteX2" fmla="*/ 839298 w 2640309"/>
                <a:gd name="connsiteY2" fmla="*/ 313161 h 929605"/>
                <a:gd name="connsiteX3" fmla="*/ 1777235 w 2640309"/>
                <a:gd name="connsiteY3" fmla="*/ 313160 h 929605"/>
                <a:gd name="connsiteX4" fmla="*/ 1986839 w 2640309"/>
                <a:gd name="connsiteY4" fmla="*/ 4935 h 929605"/>
                <a:gd name="connsiteX5" fmla="*/ 2640309 w 2640309"/>
                <a:gd name="connsiteY5" fmla="*/ 0 h 929605"/>
                <a:gd name="connsiteX6" fmla="*/ 2136055 w 2640309"/>
                <a:gd name="connsiteY6" fmla="*/ 929605 h 929605"/>
                <a:gd name="connsiteX7" fmla="*/ 504254 w 2640309"/>
                <a:gd name="connsiteY7" fmla="*/ 929605 h 929605"/>
                <a:gd name="connsiteX8" fmla="*/ 0 w 2640309"/>
                <a:gd name="connsiteY8" fmla="*/ 0 h 929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0309" h="929605">
                  <a:moveTo>
                    <a:pt x="0" y="0"/>
                  </a:moveTo>
                  <a:lnTo>
                    <a:pt x="667563" y="4935"/>
                  </a:lnTo>
                  <a:lnTo>
                    <a:pt x="839298" y="313161"/>
                  </a:lnTo>
                  <a:lnTo>
                    <a:pt x="1777235" y="313160"/>
                  </a:lnTo>
                  <a:lnTo>
                    <a:pt x="1986839" y="4935"/>
                  </a:lnTo>
                  <a:lnTo>
                    <a:pt x="2640309" y="0"/>
                  </a:lnTo>
                  <a:lnTo>
                    <a:pt x="2136055" y="929605"/>
                  </a:lnTo>
                  <a:lnTo>
                    <a:pt x="504254" y="929605"/>
                  </a:lnTo>
                  <a:lnTo>
                    <a:pt x="0" y="0"/>
                  </a:lnTo>
                  <a:close/>
                </a:path>
              </a:pathLst>
            </a:custGeom>
            <a:no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2" name="Straight Arrow Connector 11"/>
            <p:cNvCxnSpPr/>
            <p:nvPr/>
          </p:nvCxnSpPr>
          <p:spPr>
            <a:xfrm>
              <a:off x="3698909" y="3947246"/>
              <a:ext cx="0" cy="364935"/>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5602122" y="3947246"/>
              <a:ext cx="0" cy="36151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490474" y="3454624"/>
              <a:ext cx="417790" cy="553998"/>
            </a:xfrm>
            <a:prstGeom prst="rect">
              <a:avLst/>
            </a:prstGeom>
          </p:spPr>
          <p:txBody>
            <a:bodyPr wrap="none">
              <a:spAutoFit/>
            </a:bodyPr>
            <a:lstStyle/>
            <a:p>
              <a:r>
                <a:rPr lang="pt-BR" sz="3000" b="1" dirty="0"/>
                <a:t>A</a:t>
              </a:r>
            </a:p>
          </p:txBody>
        </p:sp>
        <p:sp>
          <p:nvSpPr>
            <p:cNvPr id="19" name="Rectangle 18"/>
            <p:cNvSpPr/>
            <p:nvPr/>
          </p:nvSpPr>
          <p:spPr>
            <a:xfrm>
              <a:off x="5405557" y="3454624"/>
              <a:ext cx="400320" cy="553998"/>
            </a:xfrm>
            <a:prstGeom prst="rect">
              <a:avLst/>
            </a:prstGeom>
          </p:spPr>
          <p:txBody>
            <a:bodyPr wrap="none">
              <a:spAutoFit/>
            </a:bodyPr>
            <a:lstStyle/>
            <a:p>
              <a:r>
                <a:rPr lang="pt-BR" sz="3000" b="1" dirty="0"/>
                <a:t>B</a:t>
              </a:r>
            </a:p>
          </p:txBody>
        </p:sp>
        <p:cxnSp>
          <p:nvCxnSpPr>
            <p:cNvPr id="22" name="Straight Arrow Connector 21"/>
            <p:cNvCxnSpPr/>
            <p:nvPr/>
          </p:nvCxnSpPr>
          <p:spPr>
            <a:xfrm>
              <a:off x="4652738" y="5303431"/>
              <a:ext cx="0" cy="364935"/>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703353" y="5589778"/>
              <a:ext cx="1898770" cy="553998"/>
            </a:xfrm>
            <a:prstGeom prst="rect">
              <a:avLst/>
            </a:prstGeom>
          </p:spPr>
          <p:txBody>
            <a:bodyPr wrap="square">
              <a:spAutoFit/>
            </a:bodyPr>
            <a:lstStyle/>
            <a:p>
              <a:pPr algn="ctr"/>
              <a:r>
                <a:rPr lang="pt-BR" sz="3000" b="1"/>
                <a:t>Resultado</a:t>
              </a:r>
              <a:endParaRPr lang="pt-BR" sz="3000" b="1" dirty="0"/>
            </a:p>
          </p:txBody>
        </p:sp>
        <p:cxnSp>
          <p:nvCxnSpPr>
            <p:cNvPr id="15" name="Straight Arrow Connector 14"/>
            <p:cNvCxnSpPr/>
            <p:nvPr/>
          </p:nvCxnSpPr>
          <p:spPr>
            <a:xfrm>
              <a:off x="2817609" y="4927625"/>
              <a:ext cx="782364" cy="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614348" y="4686824"/>
              <a:ext cx="1256173" cy="461665"/>
            </a:xfrm>
            <a:prstGeom prst="rect">
              <a:avLst/>
            </a:prstGeom>
          </p:spPr>
          <p:txBody>
            <a:bodyPr wrap="none">
              <a:spAutoFit/>
            </a:bodyPr>
            <a:lstStyle/>
            <a:p>
              <a:r>
                <a:rPr lang="pt-BR" sz="2400" b="1" dirty="0"/>
                <a:t>controle</a:t>
              </a:r>
            </a:p>
          </p:txBody>
        </p:sp>
      </p:grpSp>
      <p:cxnSp>
        <p:nvCxnSpPr>
          <p:cNvPr id="17" name="Straight Arrow Connector 16"/>
          <p:cNvCxnSpPr/>
          <p:nvPr/>
        </p:nvCxnSpPr>
        <p:spPr>
          <a:xfrm>
            <a:off x="5766121" y="4809092"/>
            <a:ext cx="782364" cy="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548485" y="4545291"/>
            <a:ext cx="803425" cy="461665"/>
          </a:xfrm>
          <a:prstGeom prst="rect">
            <a:avLst/>
          </a:prstGeom>
        </p:spPr>
        <p:txBody>
          <a:bodyPr wrap="none">
            <a:spAutoFit/>
          </a:bodyPr>
          <a:lstStyle/>
          <a:p>
            <a:r>
              <a:rPr lang="en-US" sz="2400" b="1" i="1" dirty="0"/>
              <a:t>flags</a:t>
            </a:r>
          </a:p>
        </p:txBody>
      </p:sp>
    </p:spTree>
    <p:extLst>
      <p:ext uri="{BB962C8B-B14F-4D97-AF65-F5344CB8AC3E}">
        <p14:creationId xmlns:p14="http://schemas.microsoft.com/office/powerpoint/2010/main" val="3539310379"/>
      </p:ext>
    </p:extLst>
  </p:cSld>
  <p:clrMapOvr>
    <a:masterClrMapping/>
  </p:clrMapOvr>
  <mc:AlternateContent xmlns:mc="http://schemas.openxmlformats.org/markup-compatibility/2006" xmlns:p14="http://schemas.microsoft.com/office/powerpoint/2010/main">
    <mc:Choice Requires="p14">
      <p:transition spd="slow" p14:dur="1200" advTm="48895">
        <p14:prism/>
      </p:transition>
    </mc:Choice>
    <mc:Fallback xmlns="">
      <p:transition spd="slow" advTm="48895">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Meio-somador (Half </a:t>
            </a:r>
            <a:r>
              <a:rPr lang="pt-BR" dirty="0" err="1"/>
              <a:t>Adder</a:t>
            </a:r>
            <a:r>
              <a:rPr lang="pt-BR" dirty="0"/>
              <a:t>)</a:t>
            </a:r>
            <a:endParaRPr lang="en-US" dirty="0"/>
          </a:p>
        </p:txBody>
      </p:sp>
      <p:sp>
        <p:nvSpPr>
          <p:cNvPr id="3" name="Content Placeholder 2"/>
          <p:cNvSpPr>
            <a:spLocks noGrp="1"/>
          </p:cNvSpPr>
          <p:nvPr>
            <p:ph idx="1"/>
          </p:nvPr>
        </p:nvSpPr>
        <p:spPr>
          <a:xfrm>
            <a:off x="657225" y="1485900"/>
            <a:ext cx="8029575" cy="709212"/>
          </a:xfrm>
        </p:spPr>
        <p:txBody>
          <a:bodyPr/>
          <a:lstStyle/>
          <a:p>
            <a:r>
              <a:rPr lang="pt-BR" dirty="0"/>
              <a:t>Adição binária é uma operação fundamental para quase todas as computações feitas em uma CPU:</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a:t>
            </a:fld>
            <a:endParaRPr lang="pt-BR" dirty="0"/>
          </a:p>
        </p:txBody>
      </p:sp>
      <p:graphicFrame>
        <p:nvGraphicFramePr>
          <p:cNvPr id="10" name="Table 9"/>
          <p:cNvGraphicFramePr>
            <a:graphicFrameLocks noGrp="1"/>
          </p:cNvGraphicFramePr>
          <p:nvPr>
            <p:extLst>
              <p:ext uri="{D42A27DB-BD31-4B8C-83A1-F6EECF244321}">
                <p14:modId xmlns:p14="http://schemas.microsoft.com/office/powerpoint/2010/main" val="644282228"/>
              </p:ext>
            </p:extLst>
          </p:nvPr>
        </p:nvGraphicFramePr>
        <p:xfrm>
          <a:off x="1431564" y="2837479"/>
          <a:ext cx="1135639" cy="1854200"/>
        </p:xfrm>
        <a:graphic>
          <a:graphicData uri="http://schemas.openxmlformats.org/drawingml/2006/table">
            <a:tbl>
              <a:tblPr>
                <a:tableStyleId>{5C22544A-7EE6-4342-B048-85BDC9FD1C3A}</a:tableStyleId>
              </a:tblPr>
              <a:tblGrid>
                <a:gridCol w="452542">
                  <a:extLst>
                    <a:ext uri="{9D8B030D-6E8A-4147-A177-3AD203B41FA5}">
                      <a16:colId xmlns:a16="http://schemas.microsoft.com/office/drawing/2014/main" val="20000"/>
                    </a:ext>
                  </a:extLst>
                </a:gridCol>
                <a:gridCol w="221002">
                  <a:extLst>
                    <a:ext uri="{9D8B030D-6E8A-4147-A177-3AD203B41FA5}">
                      <a16:colId xmlns:a16="http://schemas.microsoft.com/office/drawing/2014/main" val="20001"/>
                    </a:ext>
                  </a:extLst>
                </a:gridCol>
                <a:gridCol w="462095">
                  <a:extLst>
                    <a:ext uri="{9D8B030D-6E8A-4147-A177-3AD203B41FA5}">
                      <a16:colId xmlns:a16="http://schemas.microsoft.com/office/drawing/2014/main" val="20002"/>
                    </a:ext>
                  </a:extLst>
                </a:gridCol>
              </a:tblGrid>
              <a:tr h="370840">
                <a:tc>
                  <a:txBody>
                    <a:bodyPr/>
                    <a:lstStyle/>
                    <a:p>
                      <a:pPr algn="ctr"/>
                      <a:r>
                        <a:rPr lang="pt-BR" sz="2400" b="1" dirty="0"/>
                        <a:t>a</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400" b="1"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b="1" dirty="0"/>
                        <a:t>b</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grpSp>
        <p:nvGrpSpPr>
          <p:cNvPr id="50" name="Group 49"/>
          <p:cNvGrpSpPr/>
          <p:nvPr/>
        </p:nvGrpSpPr>
        <p:grpSpPr>
          <a:xfrm>
            <a:off x="308243" y="4653099"/>
            <a:ext cx="2724860" cy="1161977"/>
            <a:chOff x="308243" y="4653099"/>
            <a:chExt cx="2724860" cy="1161977"/>
          </a:xfrm>
        </p:grpSpPr>
        <p:sp>
          <p:nvSpPr>
            <p:cNvPr id="11" name="Rectangle 10"/>
            <p:cNvSpPr/>
            <p:nvPr/>
          </p:nvSpPr>
          <p:spPr>
            <a:xfrm>
              <a:off x="308243" y="5230300"/>
              <a:ext cx="2724860" cy="584776"/>
            </a:xfrm>
            <a:prstGeom prst="rect">
              <a:avLst/>
            </a:prstGeom>
            <a:ln>
              <a:solidFill>
                <a:schemeClr val="tx1"/>
              </a:solidFill>
            </a:ln>
          </p:spPr>
          <p:txBody>
            <a:bodyPr wrap="square">
              <a:spAutoFit/>
            </a:bodyPr>
            <a:lstStyle/>
            <a:p>
              <a:pPr algn="ctr"/>
              <a:r>
                <a:rPr lang="pt-BR" sz="1600" dirty="0"/>
                <a:t>Operador aritmético de soma.</a:t>
              </a:r>
            </a:p>
            <a:p>
              <a:pPr algn="ctr"/>
              <a:r>
                <a:rPr lang="pt-BR" sz="1600" dirty="0"/>
                <a:t>Não é o operador lógico OR.</a:t>
              </a:r>
            </a:p>
          </p:txBody>
        </p:sp>
        <p:cxnSp>
          <p:nvCxnSpPr>
            <p:cNvPr id="15" name="Curved Connector 14"/>
            <p:cNvCxnSpPr>
              <a:stCxn id="11" idx="0"/>
            </p:cNvCxnSpPr>
            <p:nvPr/>
          </p:nvCxnSpPr>
          <p:spPr>
            <a:xfrm rot="5400000" flipH="1" flipV="1">
              <a:off x="1542607" y="4781164"/>
              <a:ext cx="577202" cy="321071"/>
            </a:xfrm>
            <a:prstGeom prst="curvedConnector3">
              <a:avLst>
                <a:gd name="adj1" fmla="val 50000"/>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grpSp>
      <p:graphicFrame>
        <p:nvGraphicFramePr>
          <p:cNvPr id="17" name="Table 16"/>
          <p:cNvGraphicFramePr>
            <a:graphicFrameLocks noGrp="1"/>
          </p:cNvGraphicFramePr>
          <p:nvPr>
            <p:extLst>
              <p:ext uri="{D42A27DB-BD31-4B8C-83A1-F6EECF244321}">
                <p14:modId xmlns:p14="http://schemas.microsoft.com/office/powerpoint/2010/main" val="2571687631"/>
              </p:ext>
            </p:extLst>
          </p:nvPr>
        </p:nvGraphicFramePr>
        <p:xfrm>
          <a:off x="2821727" y="2837479"/>
          <a:ext cx="735597" cy="1854200"/>
        </p:xfrm>
        <a:graphic>
          <a:graphicData uri="http://schemas.openxmlformats.org/drawingml/2006/table">
            <a:tbl>
              <a:tblPr>
                <a:tableStyleId>{5C22544A-7EE6-4342-B048-85BDC9FD1C3A}</a:tableStyleId>
              </a:tblPr>
              <a:tblGrid>
                <a:gridCol w="735597">
                  <a:extLst>
                    <a:ext uri="{9D8B030D-6E8A-4147-A177-3AD203B41FA5}">
                      <a16:colId xmlns:a16="http://schemas.microsoft.com/office/drawing/2014/main" val="20000"/>
                    </a:ext>
                  </a:extLst>
                </a:gridCol>
              </a:tblGrid>
              <a:tr h="370840">
                <a:tc>
                  <a:txBody>
                    <a:bodyPr/>
                    <a:lstStyle/>
                    <a:p>
                      <a:pPr algn="ctr"/>
                      <a:r>
                        <a:rPr lang="pt-BR" sz="2400" b="1" dirty="0"/>
                        <a:t>soma</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2400" baseline="30000" dirty="0"/>
                        <a:t>   </a:t>
                      </a:r>
                      <a:r>
                        <a:rPr lang="pt-BR" sz="1800" baseline="30000" dirty="0"/>
                        <a:t> </a:t>
                      </a:r>
                      <a:r>
                        <a:rPr lang="pt-BR" sz="2000" baseline="50000" dirty="0"/>
                        <a:t>1</a:t>
                      </a:r>
                      <a:r>
                        <a:rPr lang="pt-BR" sz="2400" baseline="30000" dirty="0"/>
                        <a:t> </a:t>
                      </a:r>
                      <a:r>
                        <a:rPr lang="pt-BR" sz="2400" dirty="0"/>
                        <a:t>0 </a:t>
                      </a:r>
                      <a:endParaRPr lang="pt-BR" sz="2400" baseline="30000" dirty="0"/>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cxnSp>
        <p:nvCxnSpPr>
          <p:cNvPr id="19" name="Straight Connector 18"/>
          <p:cNvCxnSpPr/>
          <p:nvPr/>
        </p:nvCxnSpPr>
        <p:spPr>
          <a:xfrm>
            <a:off x="2702320" y="2837479"/>
            <a:ext cx="0" cy="185420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graphicFrame>
        <p:nvGraphicFramePr>
          <p:cNvPr id="20" name="Table 19"/>
          <p:cNvGraphicFramePr>
            <a:graphicFrameLocks noGrp="1"/>
          </p:cNvGraphicFramePr>
          <p:nvPr>
            <p:extLst>
              <p:ext uri="{D42A27DB-BD31-4B8C-83A1-F6EECF244321}">
                <p14:modId xmlns:p14="http://schemas.microsoft.com/office/powerpoint/2010/main" val="504139723"/>
              </p:ext>
            </p:extLst>
          </p:nvPr>
        </p:nvGraphicFramePr>
        <p:xfrm>
          <a:off x="3786586" y="2837479"/>
          <a:ext cx="747921" cy="1854200"/>
        </p:xfrm>
        <a:graphic>
          <a:graphicData uri="http://schemas.openxmlformats.org/drawingml/2006/table">
            <a:tbl>
              <a:tblPr>
                <a:tableStyleId>{5C22544A-7EE6-4342-B048-85BDC9FD1C3A}</a:tableStyleId>
              </a:tblPr>
              <a:tblGrid>
                <a:gridCol w="747921">
                  <a:extLst>
                    <a:ext uri="{9D8B030D-6E8A-4147-A177-3AD203B41FA5}">
                      <a16:colId xmlns:a16="http://schemas.microsoft.com/office/drawing/2014/main" val="20000"/>
                    </a:ext>
                  </a:extLst>
                </a:gridCol>
              </a:tblGrid>
              <a:tr h="370840">
                <a:tc>
                  <a:txBody>
                    <a:bodyPr/>
                    <a:lstStyle/>
                    <a:p>
                      <a:pPr algn="ctr"/>
                      <a:r>
                        <a:rPr lang="en-US" sz="2400" b="1" noProof="0" dirty="0"/>
                        <a:t>carry</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cxnSp>
        <p:nvCxnSpPr>
          <p:cNvPr id="21" name="Straight Connector 20"/>
          <p:cNvCxnSpPr/>
          <p:nvPr/>
        </p:nvCxnSpPr>
        <p:spPr>
          <a:xfrm>
            <a:off x="3667179" y="2837479"/>
            <a:ext cx="0" cy="185420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486784" y="2440535"/>
            <a:ext cx="2766000" cy="400110"/>
          </a:xfrm>
          <a:prstGeom prst="rect">
            <a:avLst/>
          </a:prstGeom>
        </p:spPr>
        <p:txBody>
          <a:bodyPr wrap="square">
            <a:spAutoFit/>
          </a:bodyPr>
          <a:lstStyle/>
          <a:p>
            <a:r>
              <a:rPr lang="pt-BR" sz="2000" i="1" dirty="0">
                <a:solidFill>
                  <a:schemeClr val="tx2">
                    <a:lumMod val="75000"/>
                  </a:schemeClr>
                </a:solidFill>
              </a:rPr>
              <a:t>Entradas              Saídas</a:t>
            </a:r>
          </a:p>
        </p:txBody>
      </p:sp>
      <p:sp>
        <p:nvSpPr>
          <p:cNvPr id="23" name="Rectangle 22"/>
          <p:cNvSpPr/>
          <p:nvPr/>
        </p:nvSpPr>
        <p:spPr>
          <a:xfrm>
            <a:off x="5727995" y="3587873"/>
            <a:ext cx="1432234" cy="112132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2800" b="1" dirty="0"/>
          </a:p>
        </p:txBody>
      </p:sp>
      <p:grpSp>
        <p:nvGrpSpPr>
          <p:cNvPr id="33" name="Group 32"/>
          <p:cNvGrpSpPr/>
          <p:nvPr/>
        </p:nvGrpSpPr>
        <p:grpSpPr>
          <a:xfrm>
            <a:off x="4878783" y="3605856"/>
            <a:ext cx="849212" cy="523220"/>
            <a:chOff x="5014838" y="2963157"/>
            <a:chExt cx="849212" cy="523220"/>
          </a:xfrm>
        </p:grpSpPr>
        <p:cxnSp>
          <p:nvCxnSpPr>
            <p:cNvPr id="25" name="Straight Arrow Connector 24"/>
            <p:cNvCxnSpPr/>
            <p:nvPr/>
          </p:nvCxnSpPr>
          <p:spPr>
            <a:xfrm>
              <a:off x="5296562" y="325590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6" name="Rectangle 25"/>
            <p:cNvSpPr/>
            <p:nvPr/>
          </p:nvSpPr>
          <p:spPr>
            <a:xfrm>
              <a:off x="5014838" y="2963157"/>
              <a:ext cx="356663" cy="523220"/>
            </a:xfrm>
            <a:prstGeom prst="rect">
              <a:avLst/>
            </a:prstGeom>
          </p:spPr>
          <p:txBody>
            <a:bodyPr wrap="none">
              <a:spAutoFit/>
            </a:bodyPr>
            <a:lstStyle/>
            <a:p>
              <a:r>
                <a:rPr lang="pt-BR" sz="2800" dirty="0"/>
                <a:t>a</a:t>
              </a:r>
            </a:p>
          </p:txBody>
        </p:sp>
      </p:grpSp>
      <p:grpSp>
        <p:nvGrpSpPr>
          <p:cNvPr id="34" name="Group 33"/>
          <p:cNvGrpSpPr/>
          <p:nvPr/>
        </p:nvGrpSpPr>
        <p:grpSpPr>
          <a:xfrm>
            <a:off x="4888615" y="4111841"/>
            <a:ext cx="849212" cy="523220"/>
            <a:chOff x="5024670" y="3469142"/>
            <a:chExt cx="849212" cy="523220"/>
          </a:xfrm>
        </p:grpSpPr>
        <p:cxnSp>
          <p:nvCxnSpPr>
            <p:cNvPr id="27" name="Straight Arrow Connector 26"/>
            <p:cNvCxnSpPr/>
            <p:nvPr/>
          </p:nvCxnSpPr>
          <p:spPr>
            <a:xfrm>
              <a:off x="530639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8" name="Rectangle 27"/>
            <p:cNvSpPr/>
            <p:nvPr/>
          </p:nvSpPr>
          <p:spPr>
            <a:xfrm>
              <a:off x="5024670" y="3469142"/>
              <a:ext cx="373319" cy="523220"/>
            </a:xfrm>
            <a:prstGeom prst="rect">
              <a:avLst/>
            </a:prstGeom>
          </p:spPr>
          <p:txBody>
            <a:bodyPr wrap="none">
              <a:spAutoFit/>
            </a:bodyPr>
            <a:lstStyle/>
            <a:p>
              <a:r>
                <a:rPr lang="pt-BR" sz="2800" dirty="0"/>
                <a:t>b</a:t>
              </a:r>
            </a:p>
          </p:txBody>
        </p:sp>
      </p:grpSp>
      <p:grpSp>
        <p:nvGrpSpPr>
          <p:cNvPr id="32" name="Group 31"/>
          <p:cNvGrpSpPr/>
          <p:nvPr/>
        </p:nvGrpSpPr>
        <p:grpSpPr>
          <a:xfrm>
            <a:off x="7160229" y="4067521"/>
            <a:ext cx="1513757" cy="523220"/>
            <a:chOff x="7296284" y="3477015"/>
            <a:chExt cx="1513757" cy="523220"/>
          </a:xfrm>
        </p:grpSpPr>
        <p:cxnSp>
          <p:nvCxnSpPr>
            <p:cNvPr id="29" name="Straight Arrow Connector 28"/>
            <p:cNvCxnSpPr/>
            <p:nvPr/>
          </p:nvCxnSpPr>
          <p:spPr>
            <a:xfrm>
              <a:off x="729628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0" name="Rectangle 29"/>
            <p:cNvSpPr/>
            <p:nvPr/>
          </p:nvSpPr>
          <p:spPr>
            <a:xfrm>
              <a:off x="7836748" y="3477015"/>
              <a:ext cx="973293" cy="523220"/>
            </a:xfrm>
            <a:prstGeom prst="rect">
              <a:avLst/>
            </a:prstGeom>
          </p:spPr>
          <p:txBody>
            <a:bodyPr wrap="none">
              <a:spAutoFit/>
            </a:bodyPr>
            <a:lstStyle/>
            <a:p>
              <a:r>
                <a:rPr lang="pt-BR" sz="2800" dirty="0"/>
                <a:t>soma</a:t>
              </a:r>
            </a:p>
          </p:txBody>
        </p:sp>
      </p:grpSp>
      <p:sp>
        <p:nvSpPr>
          <p:cNvPr id="31" name="Rectangle 30"/>
          <p:cNvSpPr/>
          <p:nvPr/>
        </p:nvSpPr>
        <p:spPr>
          <a:xfrm>
            <a:off x="5727995" y="3593969"/>
            <a:ext cx="1432234" cy="1077218"/>
          </a:xfrm>
          <a:prstGeom prst="rect">
            <a:avLst/>
          </a:prstGeom>
        </p:spPr>
        <p:txBody>
          <a:bodyPr wrap="square">
            <a:spAutoFit/>
          </a:bodyPr>
          <a:lstStyle/>
          <a:p>
            <a:pPr algn="ctr"/>
            <a:r>
              <a:rPr lang="en-US" sz="3200" b="1" dirty="0">
                <a:solidFill>
                  <a:schemeClr val="bg1">
                    <a:lumMod val="95000"/>
                  </a:schemeClr>
                </a:solidFill>
              </a:rPr>
              <a:t>Half</a:t>
            </a:r>
          </a:p>
          <a:p>
            <a:pPr algn="ctr"/>
            <a:r>
              <a:rPr lang="en-US" sz="3200" b="1" dirty="0">
                <a:solidFill>
                  <a:schemeClr val="bg1">
                    <a:lumMod val="95000"/>
                  </a:schemeClr>
                </a:solidFill>
              </a:rPr>
              <a:t>Adder</a:t>
            </a:r>
          </a:p>
        </p:txBody>
      </p:sp>
      <p:grpSp>
        <p:nvGrpSpPr>
          <p:cNvPr id="35" name="Group 34"/>
          <p:cNvGrpSpPr/>
          <p:nvPr/>
        </p:nvGrpSpPr>
        <p:grpSpPr>
          <a:xfrm>
            <a:off x="7160761" y="3623634"/>
            <a:ext cx="1531960" cy="523220"/>
            <a:chOff x="7320072" y="3422975"/>
            <a:chExt cx="1531960" cy="523220"/>
          </a:xfrm>
        </p:grpSpPr>
        <p:cxnSp>
          <p:nvCxnSpPr>
            <p:cNvPr id="36" name="Straight Arrow Connector 35"/>
            <p:cNvCxnSpPr/>
            <p:nvPr/>
          </p:nvCxnSpPr>
          <p:spPr>
            <a:xfrm>
              <a:off x="7320072" y="369794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7" name="Rectangle 36"/>
            <p:cNvSpPr/>
            <p:nvPr/>
          </p:nvSpPr>
          <p:spPr>
            <a:xfrm>
              <a:off x="7836748" y="3422975"/>
              <a:ext cx="1015284" cy="523220"/>
            </a:xfrm>
            <a:prstGeom prst="rect">
              <a:avLst/>
            </a:prstGeom>
          </p:spPr>
          <p:txBody>
            <a:bodyPr wrap="none">
              <a:spAutoFit/>
            </a:bodyPr>
            <a:lstStyle/>
            <a:p>
              <a:r>
                <a:rPr lang="en-US" sz="2800" i="1" dirty="0"/>
                <a:t>carry</a:t>
              </a:r>
            </a:p>
          </p:txBody>
        </p:sp>
      </p:grpSp>
      <p:grpSp>
        <p:nvGrpSpPr>
          <p:cNvPr id="49" name="Group 48"/>
          <p:cNvGrpSpPr/>
          <p:nvPr/>
        </p:nvGrpSpPr>
        <p:grpSpPr>
          <a:xfrm>
            <a:off x="4115932" y="4691679"/>
            <a:ext cx="580880" cy="1016212"/>
            <a:chOff x="3964663" y="4691679"/>
            <a:chExt cx="580880" cy="1016212"/>
          </a:xfrm>
        </p:grpSpPr>
        <p:cxnSp>
          <p:nvCxnSpPr>
            <p:cNvPr id="43" name="Curved Connector 42"/>
            <p:cNvCxnSpPr/>
            <p:nvPr/>
          </p:nvCxnSpPr>
          <p:spPr>
            <a:xfrm rot="16200000" flipV="1">
              <a:off x="3844868" y="4811474"/>
              <a:ext cx="538621" cy="299031"/>
            </a:xfrm>
            <a:prstGeom prst="curvedConnector3">
              <a:avLst>
                <a:gd name="adj1" fmla="val 50000"/>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pic>
          <p:nvPicPr>
            <p:cNvPr id="45" name="Picture 44" descr="Half_Adder.svg.png"/>
            <p:cNvPicPr>
              <a:picLocks noChangeAspect="1"/>
            </p:cNvPicPr>
            <p:nvPr/>
          </p:nvPicPr>
          <p:blipFill rotWithShape="1">
            <a:blip r:embed="rId4">
              <a:extLst>
                <a:ext uri="{28A0092B-C50C-407E-A947-70E740481C1C}">
                  <a14:useLocalDpi xmlns:a14="http://schemas.microsoft.com/office/drawing/2010/main" val="0"/>
                </a:ext>
              </a:extLst>
            </a:blip>
            <a:srcRect l="41206" t="54034" r="23243"/>
            <a:stretch/>
          </p:blipFill>
          <p:spPr>
            <a:xfrm>
              <a:off x="4027185" y="5335547"/>
              <a:ext cx="518358" cy="372344"/>
            </a:xfrm>
            <a:prstGeom prst="rect">
              <a:avLst/>
            </a:prstGeom>
          </p:spPr>
        </p:pic>
      </p:grpSp>
      <p:grpSp>
        <p:nvGrpSpPr>
          <p:cNvPr id="48" name="Group 47"/>
          <p:cNvGrpSpPr/>
          <p:nvPr/>
        </p:nvGrpSpPr>
        <p:grpSpPr>
          <a:xfrm>
            <a:off x="3202529" y="4691679"/>
            <a:ext cx="543229" cy="1020452"/>
            <a:chOff x="3105894" y="4691679"/>
            <a:chExt cx="543229" cy="1020452"/>
          </a:xfrm>
        </p:grpSpPr>
        <p:cxnSp>
          <p:nvCxnSpPr>
            <p:cNvPr id="41" name="Curved Connector 40"/>
            <p:cNvCxnSpPr/>
            <p:nvPr/>
          </p:nvCxnSpPr>
          <p:spPr>
            <a:xfrm rot="16200000" flipV="1">
              <a:off x="2986099" y="4811474"/>
              <a:ext cx="538621" cy="299031"/>
            </a:xfrm>
            <a:prstGeom prst="curvedConnector3">
              <a:avLst>
                <a:gd name="adj1" fmla="val 50000"/>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pic>
          <p:nvPicPr>
            <p:cNvPr id="47" name="Picture 46" descr="Half_Adder.svg.png"/>
            <p:cNvPicPr>
              <a:picLocks noChangeAspect="1"/>
            </p:cNvPicPr>
            <p:nvPr/>
          </p:nvPicPr>
          <p:blipFill rotWithShape="1">
            <a:blip r:embed="rId4">
              <a:extLst>
                <a:ext uri="{28A0092B-C50C-407E-A947-70E740481C1C}">
                  <a14:useLocalDpi xmlns:a14="http://schemas.microsoft.com/office/drawing/2010/main" val="0"/>
                </a:ext>
              </a:extLst>
            </a:blip>
            <a:srcRect l="41206" r="23243" b="55275"/>
            <a:stretch/>
          </p:blipFill>
          <p:spPr>
            <a:xfrm>
              <a:off x="3130764" y="5349842"/>
              <a:ext cx="518359" cy="362289"/>
            </a:xfrm>
            <a:prstGeom prst="rect">
              <a:avLst/>
            </a:prstGeom>
          </p:spPr>
        </p:pic>
      </p:grpSp>
      <p:sp>
        <p:nvSpPr>
          <p:cNvPr id="7" name="TextBox 6">
            <a:extLst>
              <a:ext uri="{FF2B5EF4-FFF2-40B4-BE49-F238E27FC236}">
                <a16:creationId xmlns:a16="http://schemas.microsoft.com/office/drawing/2014/main" id="{AD6005B6-B59E-6BA7-D265-DE419B50E865}"/>
              </a:ext>
            </a:extLst>
          </p:cNvPr>
          <p:cNvSpPr txBox="1"/>
          <p:nvPr/>
        </p:nvSpPr>
        <p:spPr>
          <a:xfrm>
            <a:off x="3177303" y="5827433"/>
            <a:ext cx="1519509" cy="830997"/>
          </a:xfrm>
          <a:prstGeom prst="rect">
            <a:avLst/>
          </a:prstGeom>
          <a:noFill/>
          <a:ln>
            <a:solidFill>
              <a:schemeClr val="tx1"/>
            </a:solidFill>
          </a:ln>
        </p:spPr>
        <p:txBody>
          <a:bodyPr wrap="square">
            <a:spAutoFit/>
          </a:bodyPr>
          <a:lstStyle/>
          <a:p>
            <a:r>
              <a:rPr lang="en-US" sz="2400" b="1" dirty="0"/>
              <a:t>S = </a:t>
            </a:r>
            <a:r>
              <a:rPr lang="en-US" sz="2400" b="1" dirty="0" err="1"/>
              <a:t>a⊕b</a:t>
            </a:r>
            <a:r>
              <a:rPr lang="en-US" sz="2400" b="1" dirty="0"/>
              <a:t> </a:t>
            </a:r>
          </a:p>
          <a:p>
            <a:r>
              <a:rPr lang="en-US" sz="2400" b="1" dirty="0"/>
              <a:t>C = </a:t>
            </a:r>
            <a:r>
              <a:rPr lang="en-US" sz="2400" b="1" dirty="0" err="1"/>
              <a:t>a⋅b</a:t>
            </a:r>
            <a:endParaRPr lang="pt-BR" sz="2400" b="1" dirty="0"/>
          </a:p>
        </p:txBody>
      </p:sp>
    </p:spTree>
    <p:custDataLst>
      <p:tags r:id="rId1"/>
    </p:custDataLst>
    <p:extLst>
      <p:ext uri="{BB962C8B-B14F-4D97-AF65-F5344CB8AC3E}">
        <p14:creationId xmlns:p14="http://schemas.microsoft.com/office/powerpoint/2010/main" val="1787857689"/>
      </p:ext>
    </p:extLst>
  </p:cSld>
  <p:clrMapOvr>
    <a:masterClrMapping/>
  </p:clrMapOvr>
  <mc:AlternateContent xmlns:mc="http://schemas.openxmlformats.org/markup-compatibility/2006" xmlns:p14="http://schemas.microsoft.com/office/powerpoint/2010/main">
    <mc:Choice Requires="p14">
      <p:transition spd="slow" p14:dur="1200" advTm="80636">
        <p14:prism/>
      </p:transition>
    </mc:Choice>
    <mc:Fallback xmlns="">
      <p:transition spd="slow" advTm="8063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900" decel="100000" fill="hold"/>
                                        <p:tgtEl>
                                          <p:spTgt spid="1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7"/>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900" decel="100000" fill="hold"/>
                                        <p:tgtEl>
                                          <p:spTgt spid="19"/>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900" decel="100000" fill="hold"/>
                                        <p:tgtEl>
                                          <p:spTgt spid="20"/>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par>
                                <p:cTn id="31" presetID="37"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1000"/>
                                        <p:tgtEl>
                                          <p:spTgt spid="21"/>
                                        </p:tgtEl>
                                      </p:cBhvr>
                                    </p:animEffect>
                                    <p:anim calcmode="lin" valueType="num">
                                      <p:cBhvr>
                                        <p:cTn id="34" dur="1000" fill="hold"/>
                                        <p:tgtEl>
                                          <p:spTgt spid="21"/>
                                        </p:tgtEl>
                                        <p:attrNameLst>
                                          <p:attrName>ppt_x</p:attrName>
                                        </p:attrNameLst>
                                      </p:cBhvr>
                                      <p:tavLst>
                                        <p:tav tm="0">
                                          <p:val>
                                            <p:strVal val="#ppt_x"/>
                                          </p:val>
                                        </p:tav>
                                        <p:tav tm="100000">
                                          <p:val>
                                            <p:strVal val="#ppt_x"/>
                                          </p:val>
                                        </p:tav>
                                      </p:tavLst>
                                    </p:anim>
                                    <p:anim calcmode="lin" valueType="num">
                                      <p:cBhvr>
                                        <p:cTn id="35" dur="900" decel="100000" fill="hold"/>
                                        <p:tgtEl>
                                          <p:spTgt spid="21"/>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p:cTn id="41" dur="1000" fill="hold"/>
                                        <p:tgtEl>
                                          <p:spTgt spid="35"/>
                                        </p:tgtEl>
                                        <p:attrNameLst>
                                          <p:attrName>ppt_w</p:attrName>
                                        </p:attrNameLst>
                                      </p:cBhvr>
                                      <p:tavLst>
                                        <p:tav tm="0">
                                          <p:val>
                                            <p:strVal val="#ppt_w*0.70"/>
                                          </p:val>
                                        </p:tav>
                                        <p:tav tm="100000">
                                          <p:val>
                                            <p:strVal val="#ppt_w"/>
                                          </p:val>
                                        </p:tav>
                                      </p:tavLst>
                                    </p:anim>
                                    <p:anim calcmode="lin" valueType="num">
                                      <p:cBhvr>
                                        <p:cTn id="42" dur="1000" fill="hold"/>
                                        <p:tgtEl>
                                          <p:spTgt spid="35"/>
                                        </p:tgtEl>
                                        <p:attrNameLst>
                                          <p:attrName>ppt_h</p:attrName>
                                        </p:attrNameLst>
                                      </p:cBhvr>
                                      <p:tavLst>
                                        <p:tav tm="0">
                                          <p:val>
                                            <p:strVal val="#ppt_h"/>
                                          </p:val>
                                        </p:tav>
                                        <p:tav tm="100000">
                                          <p:val>
                                            <p:strVal val="#ppt_h"/>
                                          </p:val>
                                        </p:tav>
                                      </p:tavLst>
                                    </p:anim>
                                    <p:animEffect transition="in" filter="fade">
                                      <p:cBhvr>
                                        <p:cTn id="43" dur="10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dissolve">
                                      <p:cBhvr>
                                        <p:cTn id="48" dur="500"/>
                                        <p:tgtEl>
                                          <p:spTgt spid="48"/>
                                        </p:tgtEl>
                                      </p:cBhvr>
                                    </p:animEffect>
                                  </p:childTnLst>
                                </p:cTn>
                              </p:par>
                            </p:childTnLst>
                          </p:cTn>
                        </p:par>
                        <p:par>
                          <p:cTn id="49" fill="hold">
                            <p:stCondLst>
                              <p:cond delay="500"/>
                            </p:stCondLst>
                            <p:childTnLst>
                              <p:par>
                                <p:cTn id="50" presetID="9" presetClass="entr" presetSubtype="0" fill="hold" nodeType="afterEffect">
                                  <p:stCondLst>
                                    <p:cond delay="1000"/>
                                  </p:stCondLst>
                                  <p:childTnLst>
                                    <p:set>
                                      <p:cBhvr>
                                        <p:cTn id="51" dur="1" fill="hold">
                                          <p:stCondLst>
                                            <p:cond delay="0"/>
                                          </p:stCondLst>
                                        </p:cTn>
                                        <p:tgtEl>
                                          <p:spTgt spid="49"/>
                                        </p:tgtEl>
                                        <p:attrNameLst>
                                          <p:attrName>style.visibility</p:attrName>
                                        </p:attrNameLst>
                                      </p:cBhvr>
                                      <p:to>
                                        <p:strVal val="visible"/>
                                      </p:to>
                                    </p:set>
                                    <p:animEffect transition="in" filter="dissolve">
                                      <p:cBhvr>
                                        <p:cTn id="52" dur="500"/>
                                        <p:tgtEl>
                                          <p:spTgt spid="49"/>
                                        </p:tgtEl>
                                      </p:cBhvr>
                                    </p:animEffect>
                                  </p:childTnLst>
                                </p:cTn>
                              </p:par>
                            </p:childTnLst>
                          </p:cTn>
                        </p:par>
                        <p:par>
                          <p:cTn id="53" fill="hold">
                            <p:stCondLst>
                              <p:cond delay="2000"/>
                            </p:stCondLst>
                            <p:childTnLst>
                              <p:par>
                                <p:cTn id="54" presetID="3" presetClass="entr" presetSubtype="10" fill="hold" grpId="0" nodeType="afterEffect">
                                  <p:stCondLst>
                                    <p:cond delay="2000"/>
                                  </p:stCondLst>
                                  <p:childTnLst>
                                    <p:set>
                                      <p:cBhvr>
                                        <p:cTn id="55" dur="1" fill="hold">
                                          <p:stCondLst>
                                            <p:cond delay="0"/>
                                          </p:stCondLst>
                                        </p:cTn>
                                        <p:tgtEl>
                                          <p:spTgt spid="31"/>
                                        </p:tgtEl>
                                        <p:attrNameLst>
                                          <p:attrName>style.visibility</p:attrName>
                                        </p:attrNameLst>
                                      </p:cBhvr>
                                      <p:to>
                                        <p:strVal val="visible"/>
                                      </p:to>
                                    </p:set>
                                    <p:animEffect transition="in" filter="blinds(horizontal)">
                                      <p:cBhvr>
                                        <p:cTn id="56" dur="500"/>
                                        <p:tgtEl>
                                          <p:spTgt spid="31"/>
                                        </p:tgtEl>
                                      </p:cBhvr>
                                    </p:animEffect>
                                  </p:childTnLst>
                                </p:cTn>
                              </p:par>
                            </p:childTnLst>
                          </p:cTn>
                        </p:par>
                        <p:par>
                          <p:cTn id="57" fill="hold">
                            <p:stCondLst>
                              <p:cond delay="4500"/>
                            </p:stCondLst>
                            <p:childTnLst>
                              <p:par>
                                <p:cTn id="58" presetID="1" presetClass="entr" presetSubtype="0"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childTnLst>
                          </p:cTn>
                        </p:par>
                        <p:par>
                          <p:cTn id="60" fill="hold">
                            <p:stCondLst>
                              <p:cond delay="4500"/>
                            </p:stCondLst>
                            <p:childTnLst>
                              <p:par>
                                <p:cTn id="61" presetID="1" presetClass="entr" presetSubtype="0" fill="hold" grpId="0" nodeType="after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1"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 Aritmético </a:t>
            </a:r>
            <a:r>
              <a:rPr lang="en-US" dirty="0"/>
              <a:t>– Adders (Full)</a:t>
            </a:r>
          </a:p>
        </p:txBody>
      </p:sp>
      <p:sp>
        <p:nvSpPr>
          <p:cNvPr id="3" name="Content Placeholder 2"/>
          <p:cNvSpPr>
            <a:spLocks noGrp="1"/>
          </p:cNvSpPr>
          <p:nvPr>
            <p:ph idx="1"/>
          </p:nvPr>
        </p:nvSpPr>
        <p:spPr>
          <a:xfrm>
            <a:off x="657225" y="1485900"/>
            <a:ext cx="8029575" cy="648676"/>
          </a:xfrm>
        </p:spPr>
        <p:txBody>
          <a:bodyPr/>
          <a:lstStyle/>
          <a:p>
            <a:r>
              <a:rPr lang="pt-BR" dirty="0"/>
              <a:t>Faz a adição de três bits, retornando a soma e o </a:t>
            </a:r>
            <a:r>
              <a:rPr lang="en-US" i="1" dirty="0"/>
              <a:t>carry</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a:t>
            </a:fld>
            <a:endParaRPr lang="pt-BR" dirty="0"/>
          </a:p>
        </p:txBody>
      </p:sp>
      <p:graphicFrame>
        <p:nvGraphicFramePr>
          <p:cNvPr id="10" name="Table 9"/>
          <p:cNvGraphicFramePr>
            <a:graphicFrameLocks noGrp="1"/>
          </p:cNvGraphicFramePr>
          <p:nvPr>
            <p:extLst>
              <p:ext uri="{D42A27DB-BD31-4B8C-83A1-F6EECF244321}">
                <p14:modId xmlns:p14="http://schemas.microsoft.com/office/powerpoint/2010/main" val="3539463675"/>
              </p:ext>
            </p:extLst>
          </p:nvPr>
        </p:nvGraphicFramePr>
        <p:xfrm>
          <a:off x="1013374" y="2675359"/>
          <a:ext cx="1553828" cy="3337560"/>
        </p:xfrm>
        <a:graphic>
          <a:graphicData uri="http://schemas.openxmlformats.org/drawingml/2006/table">
            <a:tbl>
              <a:tblPr>
                <a:tableStyleId>{5C22544A-7EE6-4342-B048-85BDC9FD1C3A}</a:tableStyleId>
              </a:tblPr>
              <a:tblGrid>
                <a:gridCol w="351301">
                  <a:extLst>
                    <a:ext uri="{9D8B030D-6E8A-4147-A177-3AD203B41FA5}">
                      <a16:colId xmlns:a16="http://schemas.microsoft.com/office/drawing/2014/main" val="20000"/>
                    </a:ext>
                  </a:extLst>
                </a:gridCol>
                <a:gridCol w="189163">
                  <a:extLst>
                    <a:ext uri="{9D8B030D-6E8A-4147-A177-3AD203B41FA5}">
                      <a16:colId xmlns:a16="http://schemas.microsoft.com/office/drawing/2014/main" val="20001"/>
                    </a:ext>
                  </a:extLst>
                </a:gridCol>
                <a:gridCol w="405349">
                  <a:extLst>
                    <a:ext uri="{9D8B030D-6E8A-4147-A177-3AD203B41FA5}">
                      <a16:colId xmlns:a16="http://schemas.microsoft.com/office/drawing/2014/main" val="20002"/>
                    </a:ext>
                  </a:extLst>
                </a:gridCol>
                <a:gridCol w="189163">
                  <a:extLst>
                    <a:ext uri="{9D8B030D-6E8A-4147-A177-3AD203B41FA5}">
                      <a16:colId xmlns:a16="http://schemas.microsoft.com/office/drawing/2014/main" val="20003"/>
                    </a:ext>
                  </a:extLst>
                </a:gridCol>
                <a:gridCol w="418852">
                  <a:extLst>
                    <a:ext uri="{9D8B030D-6E8A-4147-A177-3AD203B41FA5}">
                      <a16:colId xmlns:a16="http://schemas.microsoft.com/office/drawing/2014/main" val="20004"/>
                    </a:ext>
                  </a:extLst>
                </a:gridCol>
              </a:tblGrid>
              <a:tr h="370840">
                <a:tc>
                  <a:txBody>
                    <a:bodyPr/>
                    <a:lstStyle/>
                    <a:p>
                      <a:pPr algn="ctr"/>
                      <a:r>
                        <a:rPr lang="pt-BR" sz="2400" b="1" dirty="0"/>
                        <a:t>a</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400" b="1"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b="1" dirty="0"/>
                        <a:t>b</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400" b="1"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b="1" dirty="0"/>
                        <a:t>c</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70840">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lnSpc>
                          <a:spcPct val="100000"/>
                        </a:lnSpc>
                      </a:pPr>
                      <a:r>
                        <a:rPr lang="pt-BR" sz="2000" dirty="0"/>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143750862"/>
              </p:ext>
            </p:extLst>
          </p:nvPr>
        </p:nvGraphicFramePr>
        <p:xfrm>
          <a:off x="2821727" y="2675359"/>
          <a:ext cx="735597" cy="3337560"/>
        </p:xfrm>
        <a:graphic>
          <a:graphicData uri="http://schemas.openxmlformats.org/drawingml/2006/table">
            <a:tbl>
              <a:tblPr>
                <a:tableStyleId>{5C22544A-7EE6-4342-B048-85BDC9FD1C3A}</a:tableStyleId>
              </a:tblPr>
              <a:tblGrid>
                <a:gridCol w="735597">
                  <a:extLst>
                    <a:ext uri="{9D8B030D-6E8A-4147-A177-3AD203B41FA5}">
                      <a16:colId xmlns:a16="http://schemas.microsoft.com/office/drawing/2014/main" val="20000"/>
                    </a:ext>
                  </a:extLst>
                </a:gridCol>
              </a:tblGrid>
              <a:tr h="370840">
                <a:tc>
                  <a:txBody>
                    <a:bodyPr/>
                    <a:lstStyle/>
                    <a:p>
                      <a:pPr algn="ctr"/>
                      <a:r>
                        <a:rPr lang="pt-BR" sz="2400" b="1" dirty="0"/>
                        <a:t>soma</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2400" baseline="0" dirty="0"/>
                        <a:t>0</a:t>
                      </a:r>
                      <a:endParaRPr lang="pt-BR" sz="2400" baseline="30000" dirty="0"/>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2400" baseline="0" dirty="0"/>
                        <a:t>1</a:t>
                      </a:r>
                      <a:endParaRPr lang="pt-BR" sz="2400" baseline="30000" dirty="0"/>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cxnSp>
        <p:nvCxnSpPr>
          <p:cNvPr id="15" name="Straight Connector 14"/>
          <p:cNvCxnSpPr/>
          <p:nvPr/>
        </p:nvCxnSpPr>
        <p:spPr>
          <a:xfrm>
            <a:off x="2702320" y="2675359"/>
            <a:ext cx="0" cy="333756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extLst>
              <p:ext uri="{D42A27DB-BD31-4B8C-83A1-F6EECF244321}">
                <p14:modId xmlns:p14="http://schemas.microsoft.com/office/powerpoint/2010/main" val="1673550576"/>
              </p:ext>
            </p:extLst>
          </p:nvPr>
        </p:nvGraphicFramePr>
        <p:xfrm>
          <a:off x="3786586" y="2675359"/>
          <a:ext cx="786407" cy="3337560"/>
        </p:xfrm>
        <a:graphic>
          <a:graphicData uri="http://schemas.openxmlformats.org/drawingml/2006/table">
            <a:tbl>
              <a:tblPr>
                <a:tableStyleId>{5C22544A-7EE6-4342-B048-85BDC9FD1C3A}</a:tableStyleId>
              </a:tblPr>
              <a:tblGrid>
                <a:gridCol w="786407">
                  <a:extLst>
                    <a:ext uri="{9D8B030D-6E8A-4147-A177-3AD203B41FA5}">
                      <a16:colId xmlns:a16="http://schemas.microsoft.com/office/drawing/2014/main" val="20000"/>
                    </a:ext>
                  </a:extLst>
                </a:gridCol>
              </a:tblGrid>
              <a:tr h="370840">
                <a:tc>
                  <a:txBody>
                    <a:bodyPr/>
                    <a:lstStyle/>
                    <a:p>
                      <a:pPr algn="ctr"/>
                      <a:r>
                        <a:rPr lang="en-US" sz="2400" b="1" noProof="0" dirty="0"/>
                        <a:t>carry</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70840">
                <a:tc>
                  <a:txBody>
                    <a:bodyPr/>
                    <a:lstStyle/>
                    <a:p>
                      <a:pPr algn="ctr"/>
                      <a:r>
                        <a:rPr lang="pt-BR" sz="2400" dirty="0"/>
                        <a:t>0</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70840">
                <a:tc>
                  <a:txBody>
                    <a:bodyPr/>
                    <a:lstStyle/>
                    <a:p>
                      <a:pPr algn="ctr"/>
                      <a:r>
                        <a:rPr lang="pt-BR" sz="2400" dirty="0"/>
                        <a:t>1</a:t>
                      </a:r>
                    </a:p>
                  </a:txBody>
                  <a:tcPr marL="0" marR="0" marT="0" marB="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cxnSp>
        <p:nvCxnSpPr>
          <p:cNvPr id="17" name="Straight Connector 16"/>
          <p:cNvCxnSpPr/>
          <p:nvPr/>
        </p:nvCxnSpPr>
        <p:spPr>
          <a:xfrm>
            <a:off x="3667179" y="2675359"/>
            <a:ext cx="0" cy="333756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486784" y="2278415"/>
            <a:ext cx="2766000" cy="400110"/>
          </a:xfrm>
          <a:prstGeom prst="rect">
            <a:avLst/>
          </a:prstGeom>
        </p:spPr>
        <p:txBody>
          <a:bodyPr wrap="square">
            <a:spAutoFit/>
          </a:bodyPr>
          <a:lstStyle/>
          <a:p>
            <a:r>
              <a:rPr lang="pt-BR" sz="2000" i="1" dirty="0">
                <a:solidFill>
                  <a:schemeClr val="tx2">
                    <a:lumMod val="75000"/>
                  </a:schemeClr>
                </a:solidFill>
              </a:rPr>
              <a:t>Entradas              Saídas</a:t>
            </a:r>
          </a:p>
        </p:txBody>
      </p:sp>
      <p:sp>
        <p:nvSpPr>
          <p:cNvPr id="19" name="Rectangle 18"/>
          <p:cNvSpPr/>
          <p:nvPr/>
        </p:nvSpPr>
        <p:spPr>
          <a:xfrm>
            <a:off x="5647858" y="3595345"/>
            <a:ext cx="1432234" cy="159417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2800" b="1" dirty="0"/>
          </a:p>
        </p:txBody>
      </p:sp>
      <p:grpSp>
        <p:nvGrpSpPr>
          <p:cNvPr id="20" name="Group 19"/>
          <p:cNvGrpSpPr/>
          <p:nvPr/>
        </p:nvGrpSpPr>
        <p:grpSpPr>
          <a:xfrm>
            <a:off x="4798646" y="3613328"/>
            <a:ext cx="849212" cy="523220"/>
            <a:chOff x="5014838" y="2963157"/>
            <a:chExt cx="849212" cy="523220"/>
          </a:xfrm>
        </p:grpSpPr>
        <p:cxnSp>
          <p:nvCxnSpPr>
            <p:cNvPr id="21" name="Straight Arrow Connector 20"/>
            <p:cNvCxnSpPr/>
            <p:nvPr/>
          </p:nvCxnSpPr>
          <p:spPr>
            <a:xfrm>
              <a:off x="5296562" y="325590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2" name="Rectangle 21"/>
            <p:cNvSpPr/>
            <p:nvPr/>
          </p:nvSpPr>
          <p:spPr>
            <a:xfrm>
              <a:off x="5014838" y="2963157"/>
              <a:ext cx="356663" cy="523220"/>
            </a:xfrm>
            <a:prstGeom prst="rect">
              <a:avLst/>
            </a:prstGeom>
          </p:spPr>
          <p:txBody>
            <a:bodyPr wrap="none">
              <a:spAutoFit/>
            </a:bodyPr>
            <a:lstStyle/>
            <a:p>
              <a:r>
                <a:rPr lang="pt-BR" sz="2800" dirty="0"/>
                <a:t>a</a:t>
              </a:r>
            </a:p>
          </p:txBody>
        </p:sp>
      </p:grpSp>
      <p:grpSp>
        <p:nvGrpSpPr>
          <p:cNvPr id="23" name="Group 22"/>
          <p:cNvGrpSpPr/>
          <p:nvPr/>
        </p:nvGrpSpPr>
        <p:grpSpPr>
          <a:xfrm>
            <a:off x="4808478" y="4119313"/>
            <a:ext cx="849212" cy="523220"/>
            <a:chOff x="5024670" y="3469142"/>
            <a:chExt cx="849212" cy="523220"/>
          </a:xfrm>
        </p:grpSpPr>
        <p:cxnSp>
          <p:nvCxnSpPr>
            <p:cNvPr id="24" name="Straight Arrow Connector 23"/>
            <p:cNvCxnSpPr/>
            <p:nvPr/>
          </p:nvCxnSpPr>
          <p:spPr>
            <a:xfrm>
              <a:off x="530639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5" name="Rectangle 24"/>
            <p:cNvSpPr/>
            <p:nvPr/>
          </p:nvSpPr>
          <p:spPr>
            <a:xfrm>
              <a:off x="5024670" y="3469142"/>
              <a:ext cx="373319" cy="523220"/>
            </a:xfrm>
            <a:prstGeom prst="rect">
              <a:avLst/>
            </a:prstGeom>
          </p:spPr>
          <p:txBody>
            <a:bodyPr wrap="none">
              <a:spAutoFit/>
            </a:bodyPr>
            <a:lstStyle/>
            <a:p>
              <a:r>
                <a:rPr lang="pt-BR" sz="2800" dirty="0"/>
                <a:t>b</a:t>
              </a:r>
            </a:p>
          </p:txBody>
        </p:sp>
      </p:grpSp>
      <p:grpSp>
        <p:nvGrpSpPr>
          <p:cNvPr id="26" name="Group 25"/>
          <p:cNvGrpSpPr/>
          <p:nvPr/>
        </p:nvGrpSpPr>
        <p:grpSpPr>
          <a:xfrm>
            <a:off x="7080092" y="4545456"/>
            <a:ext cx="1513757" cy="523220"/>
            <a:chOff x="7296284" y="3440028"/>
            <a:chExt cx="1513757" cy="523220"/>
          </a:xfrm>
        </p:grpSpPr>
        <p:cxnSp>
          <p:nvCxnSpPr>
            <p:cNvPr id="27" name="Straight Arrow Connector 26"/>
            <p:cNvCxnSpPr/>
            <p:nvPr/>
          </p:nvCxnSpPr>
          <p:spPr>
            <a:xfrm>
              <a:off x="729628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8" name="Rectangle 27"/>
            <p:cNvSpPr/>
            <p:nvPr/>
          </p:nvSpPr>
          <p:spPr>
            <a:xfrm>
              <a:off x="7836748" y="3440028"/>
              <a:ext cx="973293" cy="523220"/>
            </a:xfrm>
            <a:prstGeom prst="rect">
              <a:avLst/>
            </a:prstGeom>
          </p:spPr>
          <p:txBody>
            <a:bodyPr wrap="none">
              <a:spAutoFit/>
            </a:bodyPr>
            <a:lstStyle/>
            <a:p>
              <a:r>
                <a:rPr lang="pt-BR" sz="2800" dirty="0"/>
                <a:t>soma</a:t>
              </a:r>
            </a:p>
          </p:txBody>
        </p:sp>
      </p:grpSp>
      <p:sp>
        <p:nvSpPr>
          <p:cNvPr id="29" name="Rectangle 28"/>
          <p:cNvSpPr/>
          <p:nvPr/>
        </p:nvSpPr>
        <p:spPr>
          <a:xfrm>
            <a:off x="5647858" y="3821257"/>
            <a:ext cx="1432234" cy="1077218"/>
          </a:xfrm>
          <a:prstGeom prst="rect">
            <a:avLst/>
          </a:prstGeom>
        </p:spPr>
        <p:txBody>
          <a:bodyPr wrap="square">
            <a:spAutoFit/>
          </a:bodyPr>
          <a:lstStyle/>
          <a:p>
            <a:pPr algn="ctr"/>
            <a:r>
              <a:rPr lang="en-US" sz="3200" b="1" dirty="0">
                <a:solidFill>
                  <a:schemeClr val="bg1">
                    <a:lumMod val="95000"/>
                  </a:schemeClr>
                </a:solidFill>
              </a:rPr>
              <a:t>Full</a:t>
            </a:r>
          </a:p>
          <a:p>
            <a:pPr algn="ctr"/>
            <a:r>
              <a:rPr lang="en-US" sz="3200" b="1" dirty="0">
                <a:solidFill>
                  <a:schemeClr val="bg1">
                    <a:lumMod val="95000"/>
                  </a:schemeClr>
                </a:solidFill>
              </a:rPr>
              <a:t>Adder</a:t>
            </a:r>
          </a:p>
        </p:txBody>
      </p:sp>
      <p:grpSp>
        <p:nvGrpSpPr>
          <p:cNvPr id="30" name="Group 29"/>
          <p:cNvGrpSpPr/>
          <p:nvPr/>
        </p:nvGrpSpPr>
        <p:grpSpPr>
          <a:xfrm>
            <a:off x="7080624" y="3594119"/>
            <a:ext cx="1531960" cy="523220"/>
            <a:chOff x="7320072" y="3385988"/>
            <a:chExt cx="1531960" cy="523220"/>
          </a:xfrm>
        </p:grpSpPr>
        <p:cxnSp>
          <p:nvCxnSpPr>
            <p:cNvPr id="31" name="Straight Arrow Connector 30"/>
            <p:cNvCxnSpPr/>
            <p:nvPr/>
          </p:nvCxnSpPr>
          <p:spPr>
            <a:xfrm>
              <a:off x="7320072" y="3697943"/>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2" name="Rectangle 31"/>
            <p:cNvSpPr/>
            <p:nvPr/>
          </p:nvSpPr>
          <p:spPr>
            <a:xfrm>
              <a:off x="7836748" y="3385988"/>
              <a:ext cx="1015284" cy="523220"/>
            </a:xfrm>
            <a:prstGeom prst="rect">
              <a:avLst/>
            </a:prstGeom>
          </p:spPr>
          <p:txBody>
            <a:bodyPr wrap="none">
              <a:spAutoFit/>
            </a:bodyPr>
            <a:lstStyle/>
            <a:p>
              <a:r>
                <a:rPr lang="en-US" sz="2800" i="1" dirty="0"/>
                <a:t>carry</a:t>
              </a:r>
            </a:p>
          </p:txBody>
        </p:sp>
      </p:grpSp>
      <p:grpSp>
        <p:nvGrpSpPr>
          <p:cNvPr id="39" name="Group 38"/>
          <p:cNvGrpSpPr/>
          <p:nvPr/>
        </p:nvGrpSpPr>
        <p:grpSpPr>
          <a:xfrm>
            <a:off x="4812246" y="4582443"/>
            <a:ext cx="849212" cy="523220"/>
            <a:chOff x="5024670" y="3469142"/>
            <a:chExt cx="849212" cy="523220"/>
          </a:xfrm>
        </p:grpSpPr>
        <p:cxnSp>
          <p:nvCxnSpPr>
            <p:cNvPr id="40" name="Straight Arrow Connector 39"/>
            <p:cNvCxnSpPr/>
            <p:nvPr/>
          </p:nvCxnSpPr>
          <p:spPr>
            <a:xfrm>
              <a:off x="5306394" y="3761888"/>
              <a:ext cx="56748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1" name="Rectangle 40"/>
            <p:cNvSpPr/>
            <p:nvPr/>
          </p:nvSpPr>
          <p:spPr>
            <a:xfrm>
              <a:off x="5024670" y="3469142"/>
              <a:ext cx="336500" cy="523220"/>
            </a:xfrm>
            <a:prstGeom prst="rect">
              <a:avLst/>
            </a:prstGeom>
          </p:spPr>
          <p:txBody>
            <a:bodyPr wrap="none">
              <a:spAutoFit/>
            </a:bodyPr>
            <a:lstStyle/>
            <a:p>
              <a:r>
                <a:rPr lang="pt-BR" sz="2800" dirty="0"/>
                <a:t>c</a:t>
              </a:r>
            </a:p>
          </p:txBody>
        </p:sp>
      </p:grpSp>
    </p:spTree>
    <p:extLst>
      <p:ext uri="{BB962C8B-B14F-4D97-AF65-F5344CB8AC3E}">
        <p14:creationId xmlns:p14="http://schemas.microsoft.com/office/powerpoint/2010/main" val="2731117646"/>
      </p:ext>
    </p:extLst>
  </p:cSld>
  <p:clrMapOvr>
    <a:masterClrMapping/>
  </p:clrMapOvr>
  <mc:AlternateContent xmlns:mc="http://schemas.openxmlformats.org/markup-compatibility/2006" xmlns:p14="http://schemas.microsoft.com/office/powerpoint/2010/main">
    <mc:Choice Requires="p14">
      <p:transition spd="slow" p14:dur="1200" advTm="33111">
        <p14:prism/>
      </p:transition>
    </mc:Choice>
    <mc:Fallback xmlns="">
      <p:transition spd="slow" advTm="3311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 Aritmético – </a:t>
            </a:r>
            <a:r>
              <a:rPr lang="en-US" dirty="0"/>
              <a:t>Adder</a:t>
            </a:r>
          </a:p>
        </p:txBody>
      </p:sp>
      <p:sp>
        <p:nvSpPr>
          <p:cNvPr id="3" name="Content Placeholder 2"/>
          <p:cNvSpPr>
            <a:spLocks noGrp="1"/>
          </p:cNvSpPr>
          <p:nvPr>
            <p:ph idx="1"/>
          </p:nvPr>
        </p:nvSpPr>
        <p:spPr>
          <a:xfrm>
            <a:off x="657225" y="1485900"/>
            <a:ext cx="8029575" cy="709212"/>
          </a:xfrm>
        </p:spPr>
        <p:txBody>
          <a:bodyPr/>
          <a:lstStyle/>
          <a:p>
            <a:r>
              <a:rPr lang="pt-BR" dirty="0"/>
              <a:t>Um circuito para adicionar dois valores de n bits pode ser construído encadeando n somadores completos (Full </a:t>
            </a:r>
            <a:r>
              <a:rPr lang="pt-BR" dirty="0" err="1"/>
              <a:t>Adders</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a:t>
            </a:fld>
            <a:endParaRPr lang="pt-BR" dirty="0"/>
          </a:p>
        </p:txBody>
      </p:sp>
      <p:cxnSp>
        <p:nvCxnSpPr>
          <p:cNvPr id="31" name="Straight Arrow Connector 30"/>
          <p:cNvCxnSpPr/>
          <p:nvPr/>
        </p:nvCxnSpPr>
        <p:spPr>
          <a:xfrm flipH="1">
            <a:off x="7455513" y="3540484"/>
            <a:ext cx="34423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3" name="Rectangle 32"/>
          <p:cNvSpPr/>
          <p:nvPr/>
        </p:nvSpPr>
        <p:spPr>
          <a:xfrm>
            <a:off x="7743231" y="3307414"/>
            <a:ext cx="425417" cy="400110"/>
          </a:xfrm>
          <a:prstGeom prst="rect">
            <a:avLst/>
          </a:prstGeom>
        </p:spPr>
        <p:txBody>
          <a:bodyPr wrap="none">
            <a:spAutoFit/>
          </a:bodyPr>
          <a:lstStyle/>
          <a:p>
            <a:pPr algn="ctr"/>
            <a:r>
              <a:rPr lang="pt-BR" sz="2000" dirty="0"/>
              <a:t>C</a:t>
            </a:r>
            <a:r>
              <a:rPr lang="pt-BR" sz="1600" dirty="0"/>
              <a:t>0</a:t>
            </a:r>
            <a:endParaRPr lang="pt-BR" sz="2000" dirty="0"/>
          </a:p>
        </p:txBody>
      </p:sp>
      <p:grpSp>
        <p:nvGrpSpPr>
          <p:cNvPr id="51" name="Group 50"/>
          <p:cNvGrpSpPr/>
          <p:nvPr/>
        </p:nvGrpSpPr>
        <p:grpSpPr>
          <a:xfrm>
            <a:off x="5921864" y="2296695"/>
            <a:ext cx="1644851" cy="2387818"/>
            <a:chOff x="6354248" y="2695647"/>
            <a:chExt cx="1644851" cy="2605371"/>
          </a:xfrm>
        </p:grpSpPr>
        <p:sp>
          <p:nvSpPr>
            <p:cNvPr id="10" name="Rectangle 9"/>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2" name="Straight Arrow Connector 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3" name="Rectangle 12"/>
            <p:cNvSpPr/>
            <p:nvPr/>
          </p:nvSpPr>
          <p:spPr>
            <a:xfrm>
              <a:off x="6825436" y="2701555"/>
              <a:ext cx="620357" cy="400110"/>
            </a:xfrm>
            <a:prstGeom prst="rect">
              <a:avLst/>
            </a:prstGeom>
          </p:spPr>
          <p:txBody>
            <a:bodyPr wrap="none">
              <a:spAutoFit/>
            </a:bodyPr>
            <a:lstStyle/>
            <a:p>
              <a:pPr algn="ctr"/>
              <a:r>
                <a:rPr lang="pt-BR" sz="2000" dirty="0"/>
                <a:t>A[0]</a:t>
              </a:r>
            </a:p>
          </p:txBody>
        </p:sp>
        <p:cxnSp>
          <p:nvCxnSpPr>
            <p:cNvPr id="22" name="Straight Arrow Connector 21"/>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2" name="Rectangle 31"/>
            <p:cNvSpPr/>
            <p:nvPr/>
          </p:nvSpPr>
          <p:spPr>
            <a:xfrm>
              <a:off x="7387634" y="2695647"/>
              <a:ext cx="611465" cy="400110"/>
            </a:xfrm>
            <a:prstGeom prst="rect">
              <a:avLst/>
            </a:prstGeom>
          </p:spPr>
          <p:txBody>
            <a:bodyPr wrap="none">
              <a:spAutoFit/>
            </a:bodyPr>
            <a:lstStyle/>
            <a:p>
              <a:pPr algn="ctr"/>
              <a:r>
                <a:rPr lang="pt-BR" sz="2000" dirty="0"/>
                <a:t>B[0]</a:t>
              </a:r>
            </a:p>
          </p:txBody>
        </p:sp>
        <p:cxnSp>
          <p:nvCxnSpPr>
            <p:cNvPr id="34" name="Straight Arrow Connector 33"/>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5" name="Rectangle 34"/>
            <p:cNvSpPr/>
            <p:nvPr/>
          </p:nvSpPr>
          <p:spPr>
            <a:xfrm>
              <a:off x="7108542" y="4900908"/>
              <a:ext cx="589800" cy="400110"/>
            </a:xfrm>
            <a:prstGeom prst="rect">
              <a:avLst/>
            </a:prstGeom>
          </p:spPr>
          <p:txBody>
            <a:bodyPr wrap="none">
              <a:spAutoFit/>
            </a:bodyPr>
            <a:lstStyle/>
            <a:p>
              <a:pPr algn="ctr"/>
              <a:r>
                <a:rPr lang="pt-BR" sz="2000" dirty="0"/>
                <a:t>S[0]</a:t>
              </a:r>
            </a:p>
          </p:txBody>
        </p:sp>
        <p:sp>
          <p:nvSpPr>
            <p:cNvPr id="36" name="Rectangle 35"/>
            <p:cNvSpPr/>
            <p:nvPr/>
          </p:nvSpPr>
          <p:spPr>
            <a:xfrm>
              <a:off x="6475837" y="3714884"/>
              <a:ext cx="425417" cy="400110"/>
            </a:xfrm>
            <a:prstGeom prst="rect">
              <a:avLst/>
            </a:prstGeom>
          </p:spPr>
          <p:txBody>
            <a:bodyPr wrap="none">
              <a:spAutoFit/>
            </a:bodyPr>
            <a:lstStyle/>
            <a:p>
              <a:pPr algn="ctr"/>
              <a:r>
                <a:rPr lang="pt-BR" sz="2000" dirty="0"/>
                <a:t>C</a:t>
              </a:r>
              <a:r>
                <a:rPr lang="pt-BR" sz="1600" dirty="0"/>
                <a:t>1</a:t>
              </a:r>
              <a:endParaRPr lang="pt-BR" sz="2000" dirty="0"/>
            </a:p>
          </p:txBody>
        </p:sp>
      </p:grpSp>
      <p:grpSp>
        <p:nvGrpSpPr>
          <p:cNvPr id="90" name="Group 89"/>
          <p:cNvGrpSpPr/>
          <p:nvPr/>
        </p:nvGrpSpPr>
        <p:grpSpPr>
          <a:xfrm>
            <a:off x="4398602" y="2296695"/>
            <a:ext cx="1644851" cy="2421228"/>
            <a:chOff x="6354248" y="2695647"/>
            <a:chExt cx="1644851" cy="2641825"/>
          </a:xfrm>
        </p:grpSpPr>
        <p:sp>
          <p:nvSpPr>
            <p:cNvPr id="91" name="Rectangle 9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92" name="Straight Arrow Connector 9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3" name="Rectangle 92"/>
            <p:cNvSpPr/>
            <p:nvPr/>
          </p:nvSpPr>
          <p:spPr>
            <a:xfrm>
              <a:off x="6825436" y="2701555"/>
              <a:ext cx="620357" cy="436564"/>
            </a:xfrm>
            <a:prstGeom prst="rect">
              <a:avLst/>
            </a:prstGeom>
          </p:spPr>
          <p:txBody>
            <a:bodyPr wrap="none">
              <a:spAutoFit/>
            </a:bodyPr>
            <a:lstStyle/>
            <a:p>
              <a:pPr algn="ctr"/>
              <a:r>
                <a:rPr lang="pt-BR" sz="2000" dirty="0"/>
                <a:t>A[1]</a:t>
              </a:r>
            </a:p>
          </p:txBody>
        </p:sp>
        <p:cxnSp>
          <p:nvCxnSpPr>
            <p:cNvPr id="94" name="Straight Arrow Connector 9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95" name="Straight Arrow Connector 9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6" name="Rectangle 95"/>
            <p:cNvSpPr/>
            <p:nvPr/>
          </p:nvSpPr>
          <p:spPr>
            <a:xfrm>
              <a:off x="7387634" y="2695647"/>
              <a:ext cx="611465" cy="436564"/>
            </a:xfrm>
            <a:prstGeom prst="rect">
              <a:avLst/>
            </a:prstGeom>
          </p:spPr>
          <p:txBody>
            <a:bodyPr wrap="none">
              <a:spAutoFit/>
            </a:bodyPr>
            <a:lstStyle/>
            <a:p>
              <a:pPr algn="ctr"/>
              <a:r>
                <a:rPr lang="pt-BR" sz="2000" dirty="0"/>
                <a:t>B[1]</a:t>
              </a:r>
            </a:p>
          </p:txBody>
        </p:sp>
        <p:cxnSp>
          <p:nvCxnSpPr>
            <p:cNvPr id="97" name="Straight Arrow Connector 9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8" name="Rectangle 97"/>
            <p:cNvSpPr/>
            <p:nvPr/>
          </p:nvSpPr>
          <p:spPr>
            <a:xfrm>
              <a:off x="7108542" y="4900908"/>
              <a:ext cx="589800" cy="436564"/>
            </a:xfrm>
            <a:prstGeom prst="rect">
              <a:avLst/>
            </a:prstGeom>
          </p:spPr>
          <p:txBody>
            <a:bodyPr wrap="none">
              <a:spAutoFit/>
            </a:bodyPr>
            <a:lstStyle/>
            <a:p>
              <a:pPr algn="ctr"/>
              <a:r>
                <a:rPr lang="pt-BR" sz="2000" dirty="0" err="1"/>
                <a:t>S</a:t>
              </a:r>
              <a:r>
                <a:rPr lang="pt-BR" sz="2000" dirty="0"/>
                <a:t>[1]</a:t>
              </a:r>
            </a:p>
          </p:txBody>
        </p:sp>
        <p:sp>
          <p:nvSpPr>
            <p:cNvPr id="99" name="Rectangle 98"/>
            <p:cNvSpPr/>
            <p:nvPr/>
          </p:nvSpPr>
          <p:spPr>
            <a:xfrm>
              <a:off x="6475837" y="3714884"/>
              <a:ext cx="425417" cy="436564"/>
            </a:xfrm>
            <a:prstGeom prst="rect">
              <a:avLst/>
            </a:prstGeom>
          </p:spPr>
          <p:txBody>
            <a:bodyPr wrap="none">
              <a:spAutoFit/>
            </a:bodyPr>
            <a:lstStyle/>
            <a:p>
              <a:pPr algn="ctr"/>
              <a:r>
                <a:rPr lang="pt-BR" sz="2000" dirty="0"/>
                <a:t>C</a:t>
              </a:r>
              <a:r>
                <a:rPr lang="pt-BR" sz="1600" dirty="0"/>
                <a:t>2</a:t>
              </a:r>
              <a:endParaRPr lang="pt-BR" sz="2000" dirty="0"/>
            </a:p>
          </p:txBody>
        </p:sp>
      </p:grpSp>
      <p:grpSp>
        <p:nvGrpSpPr>
          <p:cNvPr id="100" name="Group 99"/>
          <p:cNvGrpSpPr/>
          <p:nvPr/>
        </p:nvGrpSpPr>
        <p:grpSpPr>
          <a:xfrm>
            <a:off x="2875340" y="2296695"/>
            <a:ext cx="1644851" cy="2421228"/>
            <a:chOff x="6354248" y="2695647"/>
            <a:chExt cx="1644851" cy="2641825"/>
          </a:xfrm>
        </p:grpSpPr>
        <p:sp>
          <p:nvSpPr>
            <p:cNvPr id="101" name="Rectangle 10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02" name="Straight Arrow Connector 10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3" name="Rectangle 102"/>
            <p:cNvSpPr/>
            <p:nvPr/>
          </p:nvSpPr>
          <p:spPr>
            <a:xfrm>
              <a:off x="6825436" y="2701555"/>
              <a:ext cx="620357" cy="436564"/>
            </a:xfrm>
            <a:prstGeom prst="rect">
              <a:avLst/>
            </a:prstGeom>
          </p:spPr>
          <p:txBody>
            <a:bodyPr wrap="none">
              <a:spAutoFit/>
            </a:bodyPr>
            <a:lstStyle/>
            <a:p>
              <a:pPr algn="ctr"/>
              <a:r>
                <a:rPr lang="pt-BR" sz="2000" dirty="0"/>
                <a:t>A[2]</a:t>
              </a:r>
            </a:p>
          </p:txBody>
        </p:sp>
        <p:cxnSp>
          <p:nvCxnSpPr>
            <p:cNvPr id="104" name="Straight Arrow Connector 10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05" name="Straight Arrow Connector 10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6" name="Rectangle 105"/>
            <p:cNvSpPr/>
            <p:nvPr/>
          </p:nvSpPr>
          <p:spPr>
            <a:xfrm>
              <a:off x="7387634" y="2695647"/>
              <a:ext cx="611465" cy="436564"/>
            </a:xfrm>
            <a:prstGeom prst="rect">
              <a:avLst/>
            </a:prstGeom>
          </p:spPr>
          <p:txBody>
            <a:bodyPr wrap="none">
              <a:spAutoFit/>
            </a:bodyPr>
            <a:lstStyle/>
            <a:p>
              <a:pPr algn="ctr"/>
              <a:r>
                <a:rPr lang="pt-BR" sz="2000" dirty="0"/>
                <a:t>B[2]</a:t>
              </a:r>
            </a:p>
          </p:txBody>
        </p:sp>
        <p:cxnSp>
          <p:nvCxnSpPr>
            <p:cNvPr id="107" name="Straight Arrow Connector 10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8" name="Rectangle 107"/>
            <p:cNvSpPr/>
            <p:nvPr/>
          </p:nvSpPr>
          <p:spPr>
            <a:xfrm>
              <a:off x="7108542" y="4900908"/>
              <a:ext cx="589800" cy="436564"/>
            </a:xfrm>
            <a:prstGeom prst="rect">
              <a:avLst/>
            </a:prstGeom>
          </p:spPr>
          <p:txBody>
            <a:bodyPr wrap="none">
              <a:spAutoFit/>
            </a:bodyPr>
            <a:lstStyle/>
            <a:p>
              <a:pPr algn="ctr"/>
              <a:r>
                <a:rPr lang="pt-BR" sz="2000" dirty="0" err="1"/>
                <a:t>S</a:t>
              </a:r>
              <a:r>
                <a:rPr lang="pt-BR" sz="2000" dirty="0"/>
                <a:t>[2]</a:t>
              </a:r>
            </a:p>
          </p:txBody>
        </p:sp>
        <p:sp>
          <p:nvSpPr>
            <p:cNvPr id="109" name="Rectangle 108"/>
            <p:cNvSpPr/>
            <p:nvPr/>
          </p:nvSpPr>
          <p:spPr>
            <a:xfrm>
              <a:off x="6475837" y="3714884"/>
              <a:ext cx="425417" cy="436564"/>
            </a:xfrm>
            <a:prstGeom prst="rect">
              <a:avLst/>
            </a:prstGeom>
          </p:spPr>
          <p:txBody>
            <a:bodyPr wrap="none">
              <a:spAutoFit/>
            </a:bodyPr>
            <a:lstStyle/>
            <a:p>
              <a:pPr algn="ctr"/>
              <a:r>
                <a:rPr lang="pt-BR" sz="2000" dirty="0"/>
                <a:t>C</a:t>
              </a:r>
              <a:r>
                <a:rPr lang="pt-BR" sz="1600" dirty="0"/>
                <a:t>3</a:t>
              </a:r>
              <a:endParaRPr lang="pt-BR" sz="2000" dirty="0"/>
            </a:p>
          </p:txBody>
        </p:sp>
      </p:grpSp>
      <p:grpSp>
        <p:nvGrpSpPr>
          <p:cNvPr id="110" name="Group 109"/>
          <p:cNvGrpSpPr/>
          <p:nvPr/>
        </p:nvGrpSpPr>
        <p:grpSpPr>
          <a:xfrm>
            <a:off x="1352078" y="2296695"/>
            <a:ext cx="1644851" cy="2421228"/>
            <a:chOff x="6354248" y="2695647"/>
            <a:chExt cx="1644851" cy="2641825"/>
          </a:xfrm>
        </p:grpSpPr>
        <p:sp>
          <p:nvSpPr>
            <p:cNvPr id="111" name="Rectangle 11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12" name="Straight Arrow Connector 1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3" name="Rectangle 112"/>
            <p:cNvSpPr/>
            <p:nvPr/>
          </p:nvSpPr>
          <p:spPr>
            <a:xfrm>
              <a:off x="6825436" y="2701555"/>
              <a:ext cx="620357" cy="436564"/>
            </a:xfrm>
            <a:prstGeom prst="rect">
              <a:avLst/>
            </a:prstGeom>
          </p:spPr>
          <p:txBody>
            <a:bodyPr wrap="none">
              <a:spAutoFit/>
            </a:bodyPr>
            <a:lstStyle/>
            <a:p>
              <a:pPr algn="ctr"/>
              <a:r>
                <a:rPr lang="pt-BR" sz="2000" dirty="0"/>
                <a:t>A[3]</a:t>
              </a:r>
            </a:p>
          </p:txBody>
        </p:sp>
        <p:cxnSp>
          <p:nvCxnSpPr>
            <p:cNvPr id="114" name="Straight Arrow Connector 11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15" name="Straight Arrow Connector 11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6" name="Rectangle 115"/>
            <p:cNvSpPr/>
            <p:nvPr/>
          </p:nvSpPr>
          <p:spPr>
            <a:xfrm>
              <a:off x="7387634" y="2695647"/>
              <a:ext cx="611465" cy="436564"/>
            </a:xfrm>
            <a:prstGeom prst="rect">
              <a:avLst/>
            </a:prstGeom>
          </p:spPr>
          <p:txBody>
            <a:bodyPr wrap="none">
              <a:spAutoFit/>
            </a:bodyPr>
            <a:lstStyle/>
            <a:p>
              <a:pPr algn="ctr"/>
              <a:r>
                <a:rPr lang="pt-BR" sz="2000" dirty="0"/>
                <a:t>B[3]</a:t>
              </a:r>
            </a:p>
          </p:txBody>
        </p:sp>
        <p:cxnSp>
          <p:nvCxnSpPr>
            <p:cNvPr id="117" name="Straight Arrow Connector 11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8" name="Rectangle 117"/>
            <p:cNvSpPr/>
            <p:nvPr/>
          </p:nvSpPr>
          <p:spPr>
            <a:xfrm>
              <a:off x="7108542" y="4900908"/>
              <a:ext cx="589800" cy="436564"/>
            </a:xfrm>
            <a:prstGeom prst="rect">
              <a:avLst/>
            </a:prstGeom>
          </p:spPr>
          <p:txBody>
            <a:bodyPr wrap="none">
              <a:spAutoFit/>
            </a:bodyPr>
            <a:lstStyle/>
            <a:p>
              <a:pPr algn="ctr"/>
              <a:r>
                <a:rPr lang="pt-BR" sz="2000" dirty="0" err="1"/>
                <a:t>S</a:t>
              </a:r>
              <a:r>
                <a:rPr lang="pt-BR" sz="2000" dirty="0"/>
                <a:t>[3]</a:t>
              </a:r>
            </a:p>
          </p:txBody>
        </p:sp>
        <p:sp>
          <p:nvSpPr>
            <p:cNvPr id="119" name="Rectangle 118"/>
            <p:cNvSpPr/>
            <p:nvPr/>
          </p:nvSpPr>
          <p:spPr>
            <a:xfrm>
              <a:off x="6474384" y="3714884"/>
              <a:ext cx="428322" cy="436564"/>
            </a:xfrm>
            <a:prstGeom prst="rect">
              <a:avLst/>
            </a:prstGeom>
          </p:spPr>
          <p:txBody>
            <a:bodyPr wrap="none">
              <a:spAutoFit/>
            </a:bodyPr>
            <a:lstStyle/>
            <a:p>
              <a:pPr algn="ctr"/>
              <a:r>
                <a:rPr lang="pt-BR" sz="2000" dirty="0"/>
                <a:t>C</a:t>
              </a:r>
              <a:r>
                <a:rPr lang="pt-BR" sz="1600" dirty="0"/>
                <a:t>4</a:t>
              </a:r>
              <a:endParaRPr lang="pt-BR" sz="2000" dirty="0"/>
            </a:p>
          </p:txBody>
        </p:sp>
      </p:grpSp>
      <p:grpSp>
        <p:nvGrpSpPr>
          <p:cNvPr id="148" name="Group 147"/>
          <p:cNvGrpSpPr/>
          <p:nvPr/>
        </p:nvGrpSpPr>
        <p:grpSpPr>
          <a:xfrm>
            <a:off x="686411" y="2296694"/>
            <a:ext cx="8217730" cy="4373893"/>
            <a:chOff x="1214828" y="2296694"/>
            <a:chExt cx="7160895" cy="4373893"/>
          </a:xfrm>
        </p:grpSpPr>
        <p:sp>
          <p:nvSpPr>
            <p:cNvPr id="134" name="Rectangle 133"/>
            <p:cNvSpPr/>
            <p:nvPr/>
          </p:nvSpPr>
          <p:spPr>
            <a:xfrm>
              <a:off x="1214828" y="2296694"/>
              <a:ext cx="7160895" cy="2521507"/>
            </a:xfrm>
            <a:prstGeom prst="rect">
              <a:avLst/>
            </a:prstGeom>
            <a:noFill/>
            <a:ln w="28575" cmpd="sng">
              <a:solidFill>
                <a:schemeClr val="tx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35" name="Rectangle 134"/>
            <p:cNvSpPr/>
            <p:nvPr/>
          </p:nvSpPr>
          <p:spPr>
            <a:xfrm>
              <a:off x="2816230" y="5273792"/>
              <a:ext cx="3979289" cy="1396795"/>
            </a:xfrm>
            <a:prstGeom prst="rect">
              <a:avLst/>
            </a:prstGeom>
            <a:noFill/>
            <a:ln w="28575" cmpd="sng">
              <a:solidFill>
                <a:schemeClr val="tx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38" name="Straight Connector 137"/>
            <p:cNvCxnSpPr/>
            <p:nvPr/>
          </p:nvCxnSpPr>
          <p:spPr>
            <a:xfrm>
              <a:off x="1214828" y="4818201"/>
              <a:ext cx="1601402" cy="1852386"/>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cxnSp>
          <p:nvCxnSpPr>
            <p:cNvPr id="139" name="Straight Connector 138"/>
            <p:cNvCxnSpPr/>
            <p:nvPr/>
          </p:nvCxnSpPr>
          <p:spPr>
            <a:xfrm>
              <a:off x="1214828" y="2302110"/>
              <a:ext cx="1601402" cy="2971682"/>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cxnSp>
          <p:nvCxnSpPr>
            <p:cNvPr id="142" name="Straight Connector 141"/>
            <p:cNvCxnSpPr/>
            <p:nvPr/>
          </p:nvCxnSpPr>
          <p:spPr>
            <a:xfrm flipH="1">
              <a:off x="6795519" y="2302110"/>
              <a:ext cx="1580204" cy="2971682"/>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cxnSp>
          <p:nvCxnSpPr>
            <p:cNvPr id="145" name="Straight Connector 144"/>
            <p:cNvCxnSpPr/>
            <p:nvPr/>
          </p:nvCxnSpPr>
          <p:spPr>
            <a:xfrm flipH="1">
              <a:off x="6795521" y="4818201"/>
              <a:ext cx="1580202" cy="1852386"/>
            </a:xfrm>
            <a:prstGeom prst="line">
              <a:avLst/>
            </a:prstGeom>
            <a:ln>
              <a:solidFill>
                <a:srgbClr val="000000"/>
              </a:solidFill>
              <a:prstDash val="dot"/>
            </a:ln>
          </p:spPr>
          <p:style>
            <a:lnRef idx="2">
              <a:schemeClr val="accent1"/>
            </a:lnRef>
            <a:fillRef idx="0">
              <a:schemeClr val="accent1"/>
            </a:fillRef>
            <a:effectRef idx="1">
              <a:schemeClr val="accent1"/>
            </a:effectRef>
            <a:fontRef idx="minor">
              <a:schemeClr val="tx1"/>
            </a:fontRef>
          </p:style>
        </p:cxnSp>
      </p:grpSp>
      <p:grpSp>
        <p:nvGrpSpPr>
          <p:cNvPr id="7" name="Group 6"/>
          <p:cNvGrpSpPr/>
          <p:nvPr/>
        </p:nvGrpSpPr>
        <p:grpSpPr>
          <a:xfrm>
            <a:off x="2816230" y="5399720"/>
            <a:ext cx="4241585" cy="1138513"/>
            <a:chOff x="2816230" y="5399720"/>
            <a:chExt cx="4241585" cy="1138513"/>
          </a:xfrm>
        </p:grpSpPr>
        <p:grpSp>
          <p:nvGrpSpPr>
            <p:cNvPr id="163" name="Group 162"/>
            <p:cNvGrpSpPr/>
            <p:nvPr/>
          </p:nvGrpSpPr>
          <p:grpSpPr>
            <a:xfrm>
              <a:off x="2816230" y="5399720"/>
              <a:ext cx="4241585" cy="1138513"/>
              <a:chOff x="2816230" y="5399720"/>
              <a:chExt cx="4241585" cy="1138513"/>
            </a:xfrm>
          </p:grpSpPr>
          <p:sp>
            <p:nvSpPr>
              <p:cNvPr id="120" name="Rectangle 119"/>
              <p:cNvSpPr/>
              <p:nvPr/>
            </p:nvSpPr>
            <p:spPr>
              <a:xfrm>
                <a:off x="3872517" y="5416905"/>
                <a:ext cx="1432234" cy="112132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b="1" dirty="0"/>
                  <a:t>Adder</a:t>
                </a:r>
              </a:p>
            </p:txBody>
          </p:sp>
          <p:grpSp>
            <p:nvGrpSpPr>
              <p:cNvPr id="121" name="Group 120"/>
              <p:cNvGrpSpPr/>
              <p:nvPr/>
            </p:nvGrpSpPr>
            <p:grpSpPr>
              <a:xfrm>
                <a:off x="2816230" y="5434888"/>
                <a:ext cx="1056287" cy="523220"/>
                <a:chOff x="4987228" y="2963157"/>
                <a:chExt cx="1056287" cy="523220"/>
              </a:xfrm>
            </p:grpSpPr>
            <p:cxnSp>
              <p:nvCxnSpPr>
                <p:cNvPr id="122" name="Straight Arrow Connector 121"/>
                <p:cNvCxnSpPr/>
                <p:nvPr/>
              </p:nvCxnSpPr>
              <p:spPr>
                <a:xfrm>
                  <a:off x="5296562" y="3255903"/>
                  <a:ext cx="746953" cy="0"/>
                </a:xfrm>
                <a:prstGeom prst="straightConnector1">
                  <a:avLst/>
                </a:prstGeom>
                <a:ln w="76200" cmpd="tri">
                  <a:tailEnd type="arrow" w="sm" len="sm"/>
                </a:ln>
              </p:spPr>
              <p:style>
                <a:lnRef idx="3">
                  <a:schemeClr val="accent4"/>
                </a:lnRef>
                <a:fillRef idx="0">
                  <a:schemeClr val="accent4"/>
                </a:fillRef>
                <a:effectRef idx="2">
                  <a:schemeClr val="accent4"/>
                </a:effectRef>
                <a:fontRef idx="minor">
                  <a:schemeClr val="tx1"/>
                </a:fontRef>
              </p:style>
            </p:cxnSp>
            <p:sp>
              <p:nvSpPr>
                <p:cNvPr id="123" name="Rectangle 122"/>
                <p:cNvSpPr/>
                <p:nvPr/>
              </p:nvSpPr>
              <p:spPr>
                <a:xfrm>
                  <a:off x="4987228" y="2963157"/>
                  <a:ext cx="392430" cy="523220"/>
                </a:xfrm>
                <a:prstGeom prst="rect">
                  <a:avLst/>
                </a:prstGeom>
              </p:spPr>
              <p:txBody>
                <a:bodyPr wrap="none">
                  <a:spAutoFit/>
                </a:bodyPr>
                <a:lstStyle/>
                <a:p>
                  <a:r>
                    <a:rPr lang="pt-BR" sz="2800" dirty="0"/>
                    <a:t>A</a:t>
                  </a:r>
                </a:p>
              </p:txBody>
            </p:sp>
          </p:grpSp>
          <p:grpSp>
            <p:nvGrpSpPr>
              <p:cNvPr id="152" name="Group 151"/>
              <p:cNvGrpSpPr/>
              <p:nvPr/>
            </p:nvGrpSpPr>
            <p:grpSpPr>
              <a:xfrm>
                <a:off x="2826062" y="5940873"/>
                <a:ext cx="1046455" cy="523220"/>
                <a:chOff x="2826062" y="5940873"/>
                <a:chExt cx="1046455" cy="523220"/>
              </a:xfrm>
            </p:grpSpPr>
            <p:sp>
              <p:nvSpPr>
                <p:cNvPr id="126" name="Rectangle 125"/>
                <p:cNvSpPr/>
                <p:nvPr/>
              </p:nvSpPr>
              <p:spPr>
                <a:xfrm>
                  <a:off x="2826062" y="5940873"/>
                  <a:ext cx="379982" cy="523220"/>
                </a:xfrm>
                <a:prstGeom prst="rect">
                  <a:avLst/>
                </a:prstGeom>
              </p:spPr>
              <p:txBody>
                <a:bodyPr wrap="none">
                  <a:spAutoFit/>
                </a:bodyPr>
                <a:lstStyle/>
                <a:p>
                  <a:r>
                    <a:rPr lang="pt-BR" sz="2800" dirty="0"/>
                    <a:t>B</a:t>
                  </a:r>
                </a:p>
              </p:txBody>
            </p:sp>
            <p:cxnSp>
              <p:nvCxnSpPr>
                <p:cNvPr id="150" name="Straight Arrow Connector 149"/>
                <p:cNvCxnSpPr/>
                <p:nvPr/>
              </p:nvCxnSpPr>
              <p:spPr>
                <a:xfrm>
                  <a:off x="3125564" y="6240295"/>
                  <a:ext cx="746953" cy="0"/>
                </a:xfrm>
                <a:prstGeom prst="straightConnector1">
                  <a:avLst/>
                </a:prstGeom>
                <a:ln w="76200" cmpd="tri">
                  <a:tailEnd type="arrow" w="sm" len="sm"/>
                </a:ln>
              </p:spPr>
              <p:style>
                <a:lnRef idx="3">
                  <a:schemeClr val="accent4"/>
                </a:lnRef>
                <a:fillRef idx="0">
                  <a:schemeClr val="accent4"/>
                </a:fillRef>
                <a:effectRef idx="2">
                  <a:schemeClr val="accent4"/>
                </a:effectRef>
                <a:fontRef idx="minor">
                  <a:schemeClr val="tx1"/>
                </a:fontRef>
              </p:style>
            </p:cxnSp>
          </p:grpSp>
          <p:grpSp>
            <p:nvGrpSpPr>
              <p:cNvPr id="153" name="Group 152"/>
              <p:cNvGrpSpPr/>
              <p:nvPr/>
            </p:nvGrpSpPr>
            <p:grpSpPr>
              <a:xfrm>
                <a:off x="5334129" y="5717075"/>
                <a:ext cx="1723686" cy="523220"/>
                <a:chOff x="5334129" y="5717075"/>
                <a:chExt cx="1723686" cy="523220"/>
              </a:xfrm>
            </p:grpSpPr>
            <p:sp>
              <p:nvSpPr>
                <p:cNvPr id="129" name="Rectangle 128"/>
                <p:cNvSpPr/>
                <p:nvPr/>
              </p:nvSpPr>
              <p:spPr>
                <a:xfrm>
                  <a:off x="5955655" y="5717075"/>
                  <a:ext cx="1102160" cy="523220"/>
                </a:xfrm>
                <a:prstGeom prst="rect">
                  <a:avLst/>
                </a:prstGeom>
              </p:spPr>
              <p:txBody>
                <a:bodyPr wrap="none">
                  <a:spAutoFit/>
                </a:bodyPr>
                <a:lstStyle/>
                <a:p>
                  <a:r>
                    <a:rPr lang="pt-BR" sz="2800" dirty="0"/>
                    <a:t>SOMA</a:t>
                  </a:r>
                </a:p>
              </p:txBody>
            </p:sp>
            <p:cxnSp>
              <p:nvCxnSpPr>
                <p:cNvPr id="151" name="Straight Arrow Connector 150"/>
                <p:cNvCxnSpPr/>
                <p:nvPr/>
              </p:nvCxnSpPr>
              <p:spPr>
                <a:xfrm>
                  <a:off x="5334129" y="5999526"/>
                  <a:ext cx="695519" cy="0"/>
                </a:xfrm>
                <a:prstGeom prst="straightConnector1">
                  <a:avLst/>
                </a:prstGeom>
                <a:ln w="76200" cmpd="tri">
                  <a:tailEnd type="arrow" w="sm" len="sm"/>
                </a:ln>
              </p:spPr>
              <p:style>
                <a:lnRef idx="3">
                  <a:schemeClr val="accent4"/>
                </a:lnRef>
                <a:fillRef idx="0">
                  <a:schemeClr val="accent4"/>
                </a:fillRef>
                <a:effectRef idx="2">
                  <a:schemeClr val="accent4"/>
                </a:effectRef>
                <a:fontRef idx="minor">
                  <a:schemeClr val="tx1"/>
                </a:fontRef>
              </p:style>
            </p:cxnSp>
          </p:grpSp>
          <p:sp>
            <p:nvSpPr>
              <p:cNvPr id="160" name="Rectangle 159"/>
              <p:cNvSpPr/>
              <p:nvPr/>
            </p:nvSpPr>
            <p:spPr>
              <a:xfrm>
                <a:off x="3204932" y="5399720"/>
                <a:ext cx="288661" cy="338554"/>
              </a:xfrm>
              <a:prstGeom prst="rect">
                <a:avLst/>
              </a:prstGeom>
            </p:spPr>
            <p:txBody>
              <a:bodyPr wrap="none">
                <a:spAutoFit/>
              </a:bodyPr>
              <a:lstStyle/>
              <a:p>
                <a:r>
                  <a:rPr lang="pt-BR" sz="1600" dirty="0"/>
                  <a:t>4</a:t>
                </a:r>
              </a:p>
            </p:txBody>
          </p:sp>
          <p:sp>
            <p:nvSpPr>
              <p:cNvPr id="161" name="Rectangle 160"/>
              <p:cNvSpPr/>
              <p:nvPr/>
            </p:nvSpPr>
            <p:spPr>
              <a:xfrm>
                <a:off x="3204932" y="5915547"/>
                <a:ext cx="288661" cy="338554"/>
              </a:xfrm>
              <a:prstGeom prst="rect">
                <a:avLst/>
              </a:prstGeom>
            </p:spPr>
            <p:txBody>
              <a:bodyPr wrap="none">
                <a:spAutoFit/>
              </a:bodyPr>
              <a:lstStyle/>
              <a:p>
                <a:r>
                  <a:rPr lang="pt-BR" sz="1600" dirty="0"/>
                  <a:t>4</a:t>
                </a:r>
              </a:p>
            </p:txBody>
          </p:sp>
          <p:sp>
            <p:nvSpPr>
              <p:cNvPr id="162" name="Rectangle 161"/>
              <p:cNvSpPr/>
              <p:nvPr/>
            </p:nvSpPr>
            <p:spPr>
              <a:xfrm>
                <a:off x="5389832" y="5674778"/>
                <a:ext cx="288661" cy="338554"/>
              </a:xfrm>
              <a:prstGeom prst="rect">
                <a:avLst/>
              </a:prstGeom>
            </p:spPr>
            <p:txBody>
              <a:bodyPr wrap="none">
                <a:spAutoFit/>
              </a:bodyPr>
              <a:lstStyle/>
              <a:p>
                <a:r>
                  <a:rPr lang="pt-BR" sz="1600" dirty="0"/>
                  <a:t>4</a:t>
                </a:r>
              </a:p>
            </p:txBody>
          </p:sp>
        </p:grpSp>
        <p:cxnSp>
          <p:nvCxnSpPr>
            <p:cNvPr id="69" name="Straight Arrow Connector 68"/>
            <p:cNvCxnSpPr/>
            <p:nvPr/>
          </p:nvCxnSpPr>
          <p:spPr>
            <a:xfrm flipV="1">
              <a:off x="3339614" y="5613133"/>
              <a:ext cx="144382" cy="205256"/>
            </a:xfrm>
            <a:prstGeom prst="straightConnector1">
              <a:avLst/>
            </a:prstGeom>
            <a:ln w="38100" cmpd="sng">
              <a:tailEnd type="none" w="sm" len="sm"/>
            </a:ln>
          </p:spPr>
          <p:style>
            <a:lnRef idx="3">
              <a:schemeClr val="accent4"/>
            </a:lnRef>
            <a:fillRef idx="0">
              <a:schemeClr val="accent4"/>
            </a:fillRef>
            <a:effectRef idx="2">
              <a:schemeClr val="accent4"/>
            </a:effectRef>
            <a:fontRef idx="minor">
              <a:schemeClr val="tx1"/>
            </a:fontRef>
          </p:style>
        </p:cxnSp>
        <p:cxnSp>
          <p:nvCxnSpPr>
            <p:cNvPr id="71" name="Straight Arrow Connector 70"/>
            <p:cNvCxnSpPr/>
            <p:nvPr/>
          </p:nvCxnSpPr>
          <p:spPr>
            <a:xfrm flipV="1">
              <a:off x="3337825" y="6137667"/>
              <a:ext cx="144382" cy="205256"/>
            </a:xfrm>
            <a:prstGeom prst="straightConnector1">
              <a:avLst/>
            </a:prstGeom>
            <a:ln w="38100" cmpd="sng">
              <a:tailEnd type="none" w="sm" len="sm"/>
            </a:ln>
          </p:spPr>
          <p:style>
            <a:lnRef idx="3">
              <a:schemeClr val="accent4"/>
            </a:lnRef>
            <a:fillRef idx="0">
              <a:schemeClr val="accent4"/>
            </a:fillRef>
            <a:effectRef idx="2">
              <a:schemeClr val="accent4"/>
            </a:effectRef>
            <a:fontRef idx="minor">
              <a:schemeClr val="tx1"/>
            </a:fontRef>
          </p:style>
        </p:cxnSp>
        <p:cxnSp>
          <p:nvCxnSpPr>
            <p:cNvPr id="72" name="Straight Arrow Connector 71"/>
            <p:cNvCxnSpPr/>
            <p:nvPr/>
          </p:nvCxnSpPr>
          <p:spPr>
            <a:xfrm flipV="1">
              <a:off x="5525917" y="5885051"/>
              <a:ext cx="144382" cy="205256"/>
            </a:xfrm>
            <a:prstGeom prst="straightConnector1">
              <a:avLst/>
            </a:prstGeom>
            <a:ln w="38100" cmpd="sng">
              <a:tailEnd type="none" w="sm" len="sm"/>
            </a:ln>
          </p:spPr>
          <p:style>
            <a:lnRef idx="3">
              <a:schemeClr val="accent4"/>
            </a:lnRef>
            <a:fillRef idx="0">
              <a:schemeClr val="accent4"/>
            </a:fillRef>
            <a:effectRef idx="2">
              <a:schemeClr val="accent4"/>
            </a:effectRef>
            <a:fontRef idx="minor">
              <a:schemeClr val="tx1"/>
            </a:fontRef>
          </p:style>
        </p:cxnSp>
      </p:grpSp>
    </p:spTree>
    <p:custDataLst>
      <p:tags r:id="rId1"/>
    </p:custDataLst>
    <p:extLst>
      <p:ext uri="{BB962C8B-B14F-4D97-AF65-F5344CB8AC3E}">
        <p14:creationId xmlns:p14="http://schemas.microsoft.com/office/powerpoint/2010/main" val="2610403686"/>
      </p:ext>
    </p:extLst>
  </p:cSld>
  <p:clrMapOvr>
    <a:masterClrMapping/>
  </p:clrMapOvr>
  <mc:AlternateContent xmlns:mc="http://schemas.openxmlformats.org/markup-compatibility/2006" xmlns:p14="http://schemas.microsoft.com/office/powerpoint/2010/main">
    <mc:Choice Requires="p14">
      <p:transition spd="slow" p14:dur="1200" advTm="45706">
        <p14:prism/>
      </p:transition>
    </mc:Choice>
    <mc:Fallback xmlns="">
      <p:transition spd="slow" advTm="4570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additive="base">
                                        <p:cTn id="7" dur="1000" fill="hold"/>
                                        <p:tgtEl>
                                          <p:spTgt spid="90"/>
                                        </p:tgtEl>
                                        <p:attrNameLst>
                                          <p:attrName>ppt_x</p:attrName>
                                        </p:attrNameLst>
                                      </p:cBhvr>
                                      <p:tavLst>
                                        <p:tav tm="0">
                                          <p:val>
                                            <p:strVal val="1+#ppt_w/2"/>
                                          </p:val>
                                        </p:tav>
                                        <p:tav tm="100000">
                                          <p:val>
                                            <p:strVal val="#ppt_x"/>
                                          </p:val>
                                        </p:tav>
                                      </p:tavLst>
                                    </p:anim>
                                    <p:anim calcmode="lin" valueType="num">
                                      <p:cBhvr additive="base">
                                        <p:cTn id="8" dur="1000" fill="hold"/>
                                        <p:tgtEl>
                                          <p:spTgt spid="9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1000" fill="hold"/>
                                        <p:tgtEl>
                                          <p:spTgt spid="100"/>
                                        </p:tgtEl>
                                        <p:attrNameLst>
                                          <p:attrName>ppt_x</p:attrName>
                                        </p:attrNameLst>
                                      </p:cBhvr>
                                      <p:tavLst>
                                        <p:tav tm="0">
                                          <p:val>
                                            <p:strVal val="1+#ppt_w/2"/>
                                          </p:val>
                                        </p:tav>
                                        <p:tav tm="100000">
                                          <p:val>
                                            <p:strVal val="#ppt_x"/>
                                          </p:val>
                                        </p:tav>
                                      </p:tavLst>
                                    </p:anim>
                                    <p:anim calcmode="lin" valueType="num">
                                      <p:cBhvr additive="base">
                                        <p:cTn id="12" dur="1000" fill="hold"/>
                                        <p:tgtEl>
                                          <p:spTgt spid="10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10"/>
                                        </p:tgtEl>
                                        <p:attrNameLst>
                                          <p:attrName>style.visibility</p:attrName>
                                        </p:attrNameLst>
                                      </p:cBhvr>
                                      <p:to>
                                        <p:strVal val="visible"/>
                                      </p:to>
                                    </p:set>
                                    <p:anim calcmode="lin" valueType="num">
                                      <p:cBhvr additive="base">
                                        <p:cTn id="15" dur="1000" fill="hold"/>
                                        <p:tgtEl>
                                          <p:spTgt spid="110"/>
                                        </p:tgtEl>
                                        <p:attrNameLst>
                                          <p:attrName>ppt_x</p:attrName>
                                        </p:attrNameLst>
                                      </p:cBhvr>
                                      <p:tavLst>
                                        <p:tav tm="0">
                                          <p:val>
                                            <p:strVal val="1+#ppt_w/2"/>
                                          </p:val>
                                        </p:tav>
                                        <p:tav tm="100000">
                                          <p:val>
                                            <p:strVal val="#ppt_x"/>
                                          </p:val>
                                        </p:tav>
                                      </p:tavLst>
                                    </p:anim>
                                    <p:anim calcmode="lin" valueType="num">
                                      <p:cBhvr additive="base">
                                        <p:cTn id="16" dur="1000" fill="hold"/>
                                        <p:tgtEl>
                                          <p:spTgt spid="11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8"/>
                                        </p:tgtEl>
                                        <p:attrNameLst>
                                          <p:attrName>style.visibility</p:attrName>
                                        </p:attrNameLst>
                                      </p:cBhvr>
                                      <p:to>
                                        <p:strVal val="visible"/>
                                      </p:to>
                                    </p:set>
                                    <p:animEffect transition="in" filter="fade">
                                      <p:cBhvr>
                                        <p:cTn id="21" dur="500"/>
                                        <p:tgtEl>
                                          <p:spTgt spid="148"/>
                                        </p:tgtEl>
                                      </p:cBhvr>
                                    </p:animEffect>
                                  </p:childTnLst>
                                </p:cTn>
                              </p:par>
                              <p:par>
                                <p:cTn id="22" presetID="1"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 Aritmético – Incrementador</a:t>
            </a:r>
          </a:p>
        </p:txBody>
      </p:sp>
      <p:sp>
        <p:nvSpPr>
          <p:cNvPr id="3" name="Content Placeholder 2"/>
          <p:cNvSpPr>
            <a:spLocks noGrp="1"/>
          </p:cNvSpPr>
          <p:nvPr>
            <p:ph idx="1"/>
          </p:nvPr>
        </p:nvSpPr>
        <p:spPr>
          <a:xfrm>
            <a:off x="657225" y="1485900"/>
            <a:ext cx="8029575" cy="709212"/>
          </a:xfrm>
        </p:spPr>
        <p:txBody>
          <a:bodyPr>
            <a:normAutofit/>
          </a:bodyPr>
          <a:lstStyle/>
          <a:p>
            <a:r>
              <a:rPr lang="pt-BR" dirty="0"/>
              <a:t>Um incrementador, ou seja, um circuito que soma 1 a um valor binário, pode ser usado por exemplo para um contador.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a:t>
            </a:fld>
            <a:endParaRPr lang="pt-BR" dirty="0"/>
          </a:p>
        </p:txBody>
      </p:sp>
      <p:cxnSp>
        <p:nvCxnSpPr>
          <p:cNvPr id="31" name="Straight Arrow Connector 30"/>
          <p:cNvCxnSpPr/>
          <p:nvPr/>
        </p:nvCxnSpPr>
        <p:spPr>
          <a:xfrm flipH="1">
            <a:off x="7455513" y="4226377"/>
            <a:ext cx="344238"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3" name="Rectangle 32"/>
          <p:cNvSpPr/>
          <p:nvPr/>
        </p:nvSpPr>
        <p:spPr>
          <a:xfrm>
            <a:off x="7743231" y="3993307"/>
            <a:ext cx="425417" cy="400110"/>
          </a:xfrm>
          <a:prstGeom prst="rect">
            <a:avLst/>
          </a:prstGeom>
        </p:spPr>
        <p:txBody>
          <a:bodyPr wrap="none">
            <a:spAutoFit/>
          </a:bodyPr>
          <a:lstStyle/>
          <a:p>
            <a:pPr algn="ctr"/>
            <a:r>
              <a:rPr lang="pt-BR" sz="2000" dirty="0"/>
              <a:t>C</a:t>
            </a:r>
            <a:r>
              <a:rPr lang="pt-BR" sz="1600" dirty="0"/>
              <a:t>0</a:t>
            </a:r>
            <a:endParaRPr lang="pt-BR" sz="2000" dirty="0"/>
          </a:p>
        </p:txBody>
      </p:sp>
      <p:grpSp>
        <p:nvGrpSpPr>
          <p:cNvPr id="51" name="Group 50"/>
          <p:cNvGrpSpPr/>
          <p:nvPr/>
        </p:nvGrpSpPr>
        <p:grpSpPr>
          <a:xfrm>
            <a:off x="5921864" y="2982588"/>
            <a:ext cx="1644851" cy="2387818"/>
            <a:chOff x="6354248" y="2695647"/>
            <a:chExt cx="1644851" cy="2605371"/>
          </a:xfrm>
        </p:grpSpPr>
        <p:sp>
          <p:nvSpPr>
            <p:cNvPr id="10" name="Rectangle 9"/>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2" name="Straight Arrow Connector 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3" name="Rectangle 12"/>
            <p:cNvSpPr/>
            <p:nvPr/>
          </p:nvSpPr>
          <p:spPr>
            <a:xfrm>
              <a:off x="6825436" y="2701555"/>
              <a:ext cx="620357" cy="400110"/>
            </a:xfrm>
            <a:prstGeom prst="rect">
              <a:avLst/>
            </a:prstGeom>
          </p:spPr>
          <p:txBody>
            <a:bodyPr wrap="none">
              <a:spAutoFit/>
            </a:bodyPr>
            <a:lstStyle/>
            <a:p>
              <a:pPr algn="ctr"/>
              <a:r>
                <a:rPr lang="pt-BR" sz="2000" dirty="0"/>
                <a:t>A[0]</a:t>
              </a:r>
            </a:p>
          </p:txBody>
        </p:sp>
        <p:cxnSp>
          <p:nvCxnSpPr>
            <p:cNvPr id="22" name="Straight Arrow Connector 21"/>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2" name="Rectangle 31"/>
            <p:cNvSpPr/>
            <p:nvPr/>
          </p:nvSpPr>
          <p:spPr>
            <a:xfrm>
              <a:off x="7387634" y="2695647"/>
              <a:ext cx="611465" cy="400110"/>
            </a:xfrm>
            <a:prstGeom prst="rect">
              <a:avLst/>
            </a:prstGeom>
          </p:spPr>
          <p:txBody>
            <a:bodyPr wrap="none">
              <a:spAutoFit/>
            </a:bodyPr>
            <a:lstStyle/>
            <a:p>
              <a:pPr algn="ctr"/>
              <a:r>
                <a:rPr lang="pt-BR" sz="2000" dirty="0"/>
                <a:t>B[0]</a:t>
              </a:r>
            </a:p>
          </p:txBody>
        </p:sp>
        <p:cxnSp>
          <p:nvCxnSpPr>
            <p:cNvPr id="34" name="Straight Arrow Connector 33"/>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5" name="Rectangle 34"/>
            <p:cNvSpPr/>
            <p:nvPr/>
          </p:nvSpPr>
          <p:spPr>
            <a:xfrm>
              <a:off x="7108542" y="4900908"/>
              <a:ext cx="589800" cy="400110"/>
            </a:xfrm>
            <a:prstGeom prst="rect">
              <a:avLst/>
            </a:prstGeom>
          </p:spPr>
          <p:txBody>
            <a:bodyPr wrap="none">
              <a:spAutoFit/>
            </a:bodyPr>
            <a:lstStyle/>
            <a:p>
              <a:pPr algn="ctr"/>
              <a:r>
                <a:rPr lang="pt-BR" sz="2000" dirty="0"/>
                <a:t>S[0]</a:t>
              </a:r>
            </a:p>
          </p:txBody>
        </p:sp>
        <p:sp>
          <p:nvSpPr>
            <p:cNvPr id="36" name="Rectangle 35"/>
            <p:cNvSpPr/>
            <p:nvPr/>
          </p:nvSpPr>
          <p:spPr>
            <a:xfrm>
              <a:off x="6475837" y="3714884"/>
              <a:ext cx="425417" cy="400110"/>
            </a:xfrm>
            <a:prstGeom prst="rect">
              <a:avLst/>
            </a:prstGeom>
          </p:spPr>
          <p:txBody>
            <a:bodyPr wrap="none">
              <a:spAutoFit/>
            </a:bodyPr>
            <a:lstStyle/>
            <a:p>
              <a:pPr algn="ctr"/>
              <a:r>
                <a:rPr lang="pt-BR" sz="2000" dirty="0"/>
                <a:t>C</a:t>
              </a:r>
              <a:r>
                <a:rPr lang="pt-BR" sz="1600" dirty="0"/>
                <a:t>1</a:t>
              </a:r>
              <a:endParaRPr lang="pt-BR" sz="2000" dirty="0"/>
            </a:p>
          </p:txBody>
        </p:sp>
      </p:grpSp>
      <p:grpSp>
        <p:nvGrpSpPr>
          <p:cNvPr id="90" name="Group 89"/>
          <p:cNvGrpSpPr/>
          <p:nvPr/>
        </p:nvGrpSpPr>
        <p:grpSpPr>
          <a:xfrm>
            <a:off x="4398602" y="2982588"/>
            <a:ext cx="1644851" cy="2421228"/>
            <a:chOff x="6354248" y="2695647"/>
            <a:chExt cx="1644851" cy="2641825"/>
          </a:xfrm>
        </p:grpSpPr>
        <p:sp>
          <p:nvSpPr>
            <p:cNvPr id="91" name="Rectangle 9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92" name="Straight Arrow Connector 9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3" name="Rectangle 92"/>
            <p:cNvSpPr/>
            <p:nvPr/>
          </p:nvSpPr>
          <p:spPr>
            <a:xfrm>
              <a:off x="6825436" y="2701555"/>
              <a:ext cx="620357" cy="436564"/>
            </a:xfrm>
            <a:prstGeom prst="rect">
              <a:avLst/>
            </a:prstGeom>
          </p:spPr>
          <p:txBody>
            <a:bodyPr wrap="none">
              <a:spAutoFit/>
            </a:bodyPr>
            <a:lstStyle/>
            <a:p>
              <a:pPr algn="ctr"/>
              <a:r>
                <a:rPr lang="pt-BR" sz="2000" dirty="0"/>
                <a:t>A[1]</a:t>
              </a:r>
            </a:p>
          </p:txBody>
        </p:sp>
        <p:cxnSp>
          <p:nvCxnSpPr>
            <p:cNvPr id="94" name="Straight Arrow Connector 9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95" name="Straight Arrow Connector 9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6" name="Rectangle 95"/>
            <p:cNvSpPr/>
            <p:nvPr/>
          </p:nvSpPr>
          <p:spPr>
            <a:xfrm>
              <a:off x="7387634" y="2695647"/>
              <a:ext cx="611465" cy="436564"/>
            </a:xfrm>
            <a:prstGeom prst="rect">
              <a:avLst/>
            </a:prstGeom>
          </p:spPr>
          <p:txBody>
            <a:bodyPr wrap="none">
              <a:spAutoFit/>
            </a:bodyPr>
            <a:lstStyle/>
            <a:p>
              <a:pPr algn="ctr"/>
              <a:r>
                <a:rPr lang="pt-BR" sz="2000" dirty="0"/>
                <a:t>B[1]</a:t>
              </a:r>
            </a:p>
          </p:txBody>
        </p:sp>
        <p:cxnSp>
          <p:nvCxnSpPr>
            <p:cNvPr id="97" name="Straight Arrow Connector 9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98" name="Rectangle 97"/>
            <p:cNvSpPr/>
            <p:nvPr/>
          </p:nvSpPr>
          <p:spPr>
            <a:xfrm>
              <a:off x="7108542" y="4900908"/>
              <a:ext cx="589800" cy="436564"/>
            </a:xfrm>
            <a:prstGeom prst="rect">
              <a:avLst/>
            </a:prstGeom>
          </p:spPr>
          <p:txBody>
            <a:bodyPr wrap="none">
              <a:spAutoFit/>
            </a:bodyPr>
            <a:lstStyle/>
            <a:p>
              <a:pPr algn="ctr"/>
              <a:r>
                <a:rPr lang="pt-BR" sz="2000" dirty="0" err="1"/>
                <a:t>S</a:t>
              </a:r>
              <a:r>
                <a:rPr lang="pt-BR" sz="2000" dirty="0"/>
                <a:t>[1]</a:t>
              </a:r>
            </a:p>
          </p:txBody>
        </p:sp>
        <p:sp>
          <p:nvSpPr>
            <p:cNvPr id="99" name="Rectangle 98"/>
            <p:cNvSpPr/>
            <p:nvPr/>
          </p:nvSpPr>
          <p:spPr>
            <a:xfrm>
              <a:off x="6475837" y="3714884"/>
              <a:ext cx="425417" cy="436564"/>
            </a:xfrm>
            <a:prstGeom prst="rect">
              <a:avLst/>
            </a:prstGeom>
          </p:spPr>
          <p:txBody>
            <a:bodyPr wrap="none">
              <a:spAutoFit/>
            </a:bodyPr>
            <a:lstStyle/>
            <a:p>
              <a:pPr algn="ctr"/>
              <a:r>
                <a:rPr lang="pt-BR" sz="2000" dirty="0"/>
                <a:t>C</a:t>
              </a:r>
              <a:r>
                <a:rPr lang="pt-BR" sz="1600" dirty="0"/>
                <a:t>2</a:t>
              </a:r>
              <a:endParaRPr lang="pt-BR" sz="2000" dirty="0"/>
            </a:p>
          </p:txBody>
        </p:sp>
      </p:grpSp>
      <p:grpSp>
        <p:nvGrpSpPr>
          <p:cNvPr id="100" name="Group 99"/>
          <p:cNvGrpSpPr/>
          <p:nvPr/>
        </p:nvGrpSpPr>
        <p:grpSpPr>
          <a:xfrm>
            <a:off x="2875340" y="2982588"/>
            <a:ext cx="1644851" cy="2421228"/>
            <a:chOff x="6354248" y="2695647"/>
            <a:chExt cx="1644851" cy="2641825"/>
          </a:xfrm>
        </p:grpSpPr>
        <p:sp>
          <p:nvSpPr>
            <p:cNvPr id="101" name="Rectangle 10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02" name="Straight Arrow Connector 10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3" name="Rectangle 102"/>
            <p:cNvSpPr/>
            <p:nvPr/>
          </p:nvSpPr>
          <p:spPr>
            <a:xfrm>
              <a:off x="6825436" y="2701555"/>
              <a:ext cx="620357" cy="436564"/>
            </a:xfrm>
            <a:prstGeom prst="rect">
              <a:avLst/>
            </a:prstGeom>
          </p:spPr>
          <p:txBody>
            <a:bodyPr wrap="none">
              <a:spAutoFit/>
            </a:bodyPr>
            <a:lstStyle/>
            <a:p>
              <a:pPr algn="ctr"/>
              <a:r>
                <a:rPr lang="pt-BR" sz="2000" dirty="0"/>
                <a:t>A[2]</a:t>
              </a:r>
            </a:p>
          </p:txBody>
        </p:sp>
        <p:cxnSp>
          <p:nvCxnSpPr>
            <p:cNvPr id="104" name="Straight Arrow Connector 10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05" name="Straight Arrow Connector 10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6" name="Rectangle 105"/>
            <p:cNvSpPr/>
            <p:nvPr/>
          </p:nvSpPr>
          <p:spPr>
            <a:xfrm>
              <a:off x="7387634" y="2695647"/>
              <a:ext cx="611465" cy="436564"/>
            </a:xfrm>
            <a:prstGeom prst="rect">
              <a:avLst/>
            </a:prstGeom>
          </p:spPr>
          <p:txBody>
            <a:bodyPr wrap="none">
              <a:spAutoFit/>
            </a:bodyPr>
            <a:lstStyle/>
            <a:p>
              <a:pPr algn="ctr"/>
              <a:r>
                <a:rPr lang="pt-BR" sz="2000" dirty="0"/>
                <a:t>B[2]</a:t>
              </a:r>
            </a:p>
          </p:txBody>
        </p:sp>
        <p:cxnSp>
          <p:nvCxnSpPr>
            <p:cNvPr id="107" name="Straight Arrow Connector 10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08" name="Rectangle 107"/>
            <p:cNvSpPr/>
            <p:nvPr/>
          </p:nvSpPr>
          <p:spPr>
            <a:xfrm>
              <a:off x="7108542" y="4900908"/>
              <a:ext cx="589800" cy="436564"/>
            </a:xfrm>
            <a:prstGeom prst="rect">
              <a:avLst/>
            </a:prstGeom>
          </p:spPr>
          <p:txBody>
            <a:bodyPr wrap="none">
              <a:spAutoFit/>
            </a:bodyPr>
            <a:lstStyle/>
            <a:p>
              <a:pPr algn="ctr"/>
              <a:r>
                <a:rPr lang="pt-BR" sz="2000" dirty="0" err="1"/>
                <a:t>S</a:t>
              </a:r>
              <a:r>
                <a:rPr lang="pt-BR" sz="2000" dirty="0"/>
                <a:t>[2]</a:t>
              </a:r>
            </a:p>
          </p:txBody>
        </p:sp>
        <p:sp>
          <p:nvSpPr>
            <p:cNvPr id="109" name="Rectangle 108"/>
            <p:cNvSpPr/>
            <p:nvPr/>
          </p:nvSpPr>
          <p:spPr>
            <a:xfrm>
              <a:off x="6475837" y="3714884"/>
              <a:ext cx="425417" cy="436564"/>
            </a:xfrm>
            <a:prstGeom prst="rect">
              <a:avLst/>
            </a:prstGeom>
          </p:spPr>
          <p:txBody>
            <a:bodyPr wrap="none">
              <a:spAutoFit/>
            </a:bodyPr>
            <a:lstStyle/>
            <a:p>
              <a:pPr algn="ctr"/>
              <a:r>
                <a:rPr lang="pt-BR" sz="2000" dirty="0"/>
                <a:t>C</a:t>
              </a:r>
              <a:r>
                <a:rPr lang="pt-BR" sz="1600" dirty="0"/>
                <a:t>3</a:t>
              </a:r>
              <a:endParaRPr lang="pt-BR" sz="2000" dirty="0"/>
            </a:p>
          </p:txBody>
        </p:sp>
      </p:grpSp>
      <p:grpSp>
        <p:nvGrpSpPr>
          <p:cNvPr id="110" name="Group 109"/>
          <p:cNvGrpSpPr/>
          <p:nvPr/>
        </p:nvGrpSpPr>
        <p:grpSpPr>
          <a:xfrm>
            <a:off x="1352078" y="2982588"/>
            <a:ext cx="1644851" cy="2421228"/>
            <a:chOff x="6354248" y="2695647"/>
            <a:chExt cx="1644851" cy="2641825"/>
          </a:xfrm>
        </p:grpSpPr>
        <p:sp>
          <p:nvSpPr>
            <p:cNvPr id="111" name="Rectangle 110"/>
            <p:cNvSpPr/>
            <p:nvPr/>
          </p:nvSpPr>
          <p:spPr>
            <a:xfrm>
              <a:off x="6881196" y="3594525"/>
              <a:ext cx="1017147" cy="987098"/>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bg1">
                      <a:lumMod val="95000"/>
                    </a:schemeClr>
                  </a:solidFill>
                </a:rPr>
                <a:t>Full</a:t>
              </a:r>
            </a:p>
            <a:p>
              <a:pPr algn="ctr"/>
              <a:r>
                <a:rPr lang="en-US" sz="2400" b="1" dirty="0">
                  <a:solidFill>
                    <a:schemeClr val="bg1">
                      <a:lumMod val="95000"/>
                    </a:schemeClr>
                  </a:solidFill>
                </a:rPr>
                <a:t>Adder</a:t>
              </a:r>
            </a:p>
          </p:txBody>
        </p:sp>
        <p:cxnSp>
          <p:nvCxnSpPr>
            <p:cNvPr id="112" name="Straight Arrow Connector 111"/>
            <p:cNvCxnSpPr/>
            <p:nvPr/>
          </p:nvCxnSpPr>
          <p:spPr>
            <a:xfrm>
              <a:off x="7137920" y="3108390"/>
              <a:ext cx="0" cy="4861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3" name="Rectangle 112"/>
            <p:cNvSpPr/>
            <p:nvPr/>
          </p:nvSpPr>
          <p:spPr>
            <a:xfrm>
              <a:off x="6825436" y="2701555"/>
              <a:ext cx="620357" cy="436564"/>
            </a:xfrm>
            <a:prstGeom prst="rect">
              <a:avLst/>
            </a:prstGeom>
          </p:spPr>
          <p:txBody>
            <a:bodyPr wrap="none">
              <a:spAutoFit/>
            </a:bodyPr>
            <a:lstStyle/>
            <a:p>
              <a:pPr algn="ctr"/>
              <a:r>
                <a:rPr lang="pt-BR" sz="2000" dirty="0"/>
                <a:t>A[3]</a:t>
              </a:r>
            </a:p>
          </p:txBody>
        </p:sp>
        <p:cxnSp>
          <p:nvCxnSpPr>
            <p:cNvPr id="114" name="Straight Arrow Connector 113"/>
            <p:cNvCxnSpPr/>
            <p:nvPr/>
          </p:nvCxnSpPr>
          <p:spPr>
            <a:xfrm flipH="1">
              <a:off x="6354248" y="4094394"/>
              <a:ext cx="51343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15" name="Straight Arrow Connector 114"/>
            <p:cNvCxnSpPr/>
            <p:nvPr/>
          </p:nvCxnSpPr>
          <p:spPr>
            <a:xfrm>
              <a:off x="7695663" y="3108390"/>
              <a:ext cx="0" cy="493715"/>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6" name="Rectangle 115"/>
            <p:cNvSpPr/>
            <p:nvPr/>
          </p:nvSpPr>
          <p:spPr>
            <a:xfrm>
              <a:off x="7387634" y="2695647"/>
              <a:ext cx="611465" cy="436564"/>
            </a:xfrm>
            <a:prstGeom prst="rect">
              <a:avLst/>
            </a:prstGeom>
          </p:spPr>
          <p:txBody>
            <a:bodyPr wrap="none">
              <a:spAutoFit/>
            </a:bodyPr>
            <a:lstStyle/>
            <a:p>
              <a:pPr algn="ctr"/>
              <a:r>
                <a:rPr lang="pt-BR" sz="2000" dirty="0"/>
                <a:t>B[3]</a:t>
              </a:r>
            </a:p>
          </p:txBody>
        </p:sp>
        <p:cxnSp>
          <p:nvCxnSpPr>
            <p:cNvPr id="117" name="Straight Arrow Connector 116"/>
            <p:cNvCxnSpPr/>
            <p:nvPr/>
          </p:nvCxnSpPr>
          <p:spPr>
            <a:xfrm>
              <a:off x="7387634" y="4581623"/>
              <a:ext cx="0" cy="4136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118" name="Rectangle 117"/>
            <p:cNvSpPr/>
            <p:nvPr/>
          </p:nvSpPr>
          <p:spPr>
            <a:xfrm>
              <a:off x="7108542" y="4900908"/>
              <a:ext cx="589800" cy="436564"/>
            </a:xfrm>
            <a:prstGeom prst="rect">
              <a:avLst/>
            </a:prstGeom>
          </p:spPr>
          <p:txBody>
            <a:bodyPr wrap="none">
              <a:spAutoFit/>
            </a:bodyPr>
            <a:lstStyle/>
            <a:p>
              <a:pPr algn="ctr"/>
              <a:r>
                <a:rPr lang="pt-BR" sz="2000" dirty="0" err="1"/>
                <a:t>S</a:t>
              </a:r>
              <a:r>
                <a:rPr lang="pt-BR" sz="2000" dirty="0"/>
                <a:t>[3]</a:t>
              </a:r>
            </a:p>
          </p:txBody>
        </p:sp>
        <p:sp>
          <p:nvSpPr>
            <p:cNvPr id="119" name="Rectangle 118"/>
            <p:cNvSpPr/>
            <p:nvPr/>
          </p:nvSpPr>
          <p:spPr>
            <a:xfrm>
              <a:off x="6474384" y="3714884"/>
              <a:ext cx="428322" cy="436564"/>
            </a:xfrm>
            <a:prstGeom prst="rect">
              <a:avLst/>
            </a:prstGeom>
          </p:spPr>
          <p:txBody>
            <a:bodyPr wrap="none">
              <a:spAutoFit/>
            </a:bodyPr>
            <a:lstStyle/>
            <a:p>
              <a:pPr algn="ctr"/>
              <a:r>
                <a:rPr lang="pt-BR" sz="2000" dirty="0"/>
                <a:t>C</a:t>
              </a:r>
              <a:r>
                <a:rPr lang="pt-BR" sz="1600" dirty="0"/>
                <a:t>4</a:t>
              </a:r>
              <a:endParaRPr lang="pt-BR" sz="2000" dirty="0"/>
            </a:p>
          </p:txBody>
        </p:sp>
      </p:grpSp>
      <p:sp>
        <p:nvSpPr>
          <p:cNvPr id="6" name="TextBox 5"/>
          <p:cNvSpPr txBox="1"/>
          <p:nvPr/>
        </p:nvSpPr>
        <p:spPr>
          <a:xfrm>
            <a:off x="8168648" y="2517113"/>
            <a:ext cx="689812" cy="584776"/>
          </a:xfrm>
          <a:prstGeom prst="rect">
            <a:avLst/>
          </a:prstGeom>
          <a:noFill/>
        </p:spPr>
        <p:txBody>
          <a:bodyPr wrap="none" rtlCol="0">
            <a:spAutoFit/>
          </a:bodyPr>
          <a:lstStyle/>
          <a:p>
            <a:r>
              <a:rPr lang="pt-BR" sz="3200" b="1" dirty="0">
                <a:solidFill>
                  <a:srgbClr val="FF0000"/>
                </a:solidFill>
              </a:rPr>
              <a:t>+ 1</a:t>
            </a:r>
          </a:p>
        </p:txBody>
      </p:sp>
      <p:cxnSp>
        <p:nvCxnSpPr>
          <p:cNvPr id="8" name="Straight Arrow Connector 7"/>
          <p:cNvCxnSpPr/>
          <p:nvPr/>
        </p:nvCxnSpPr>
        <p:spPr>
          <a:xfrm flipH="1">
            <a:off x="7882581" y="3170917"/>
            <a:ext cx="368897" cy="441783"/>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0308FEB-EB6A-EF28-BCE7-2954CBE3EBDB}"/>
              </a:ext>
            </a:extLst>
          </p:cNvPr>
          <p:cNvSpPr txBox="1"/>
          <p:nvPr/>
        </p:nvSpPr>
        <p:spPr>
          <a:xfrm>
            <a:off x="3108627" y="2233843"/>
            <a:ext cx="393056" cy="584775"/>
          </a:xfrm>
          <a:prstGeom prst="rect">
            <a:avLst/>
          </a:prstGeom>
          <a:noFill/>
        </p:spPr>
        <p:txBody>
          <a:bodyPr wrap="none" rtlCol="0">
            <a:spAutoFit/>
          </a:bodyPr>
          <a:lstStyle/>
          <a:p>
            <a:r>
              <a:rPr lang="pt-BR" sz="3200" b="1" dirty="0">
                <a:solidFill>
                  <a:srgbClr val="FF0000"/>
                </a:solidFill>
              </a:rPr>
              <a:t>0</a:t>
            </a:r>
          </a:p>
        </p:txBody>
      </p:sp>
      <p:cxnSp>
        <p:nvCxnSpPr>
          <p:cNvPr id="9" name="Straight Arrow Connector 8">
            <a:extLst>
              <a:ext uri="{FF2B5EF4-FFF2-40B4-BE49-F238E27FC236}">
                <a16:creationId xmlns:a16="http://schemas.microsoft.com/office/drawing/2014/main" id="{3570253A-F11F-8482-D2F1-53590BABAE7C}"/>
              </a:ext>
            </a:extLst>
          </p:cNvPr>
          <p:cNvCxnSpPr>
            <a:cxnSpLocks/>
          </p:cNvCxnSpPr>
          <p:nvPr/>
        </p:nvCxnSpPr>
        <p:spPr>
          <a:xfrm flipH="1">
            <a:off x="2754586" y="2673047"/>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189C6F6-6036-B7E0-A555-A7C1FDDFAAEE}"/>
              </a:ext>
            </a:extLst>
          </p:cNvPr>
          <p:cNvSpPr txBox="1"/>
          <p:nvPr/>
        </p:nvSpPr>
        <p:spPr>
          <a:xfrm>
            <a:off x="4675837" y="2208590"/>
            <a:ext cx="393056" cy="584775"/>
          </a:xfrm>
          <a:prstGeom prst="rect">
            <a:avLst/>
          </a:prstGeom>
          <a:noFill/>
        </p:spPr>
        <p:txBody>
          <a:bodyPr wrap="none" rtlCol="0">
            <a:spAutoFit/>
          </a:bodyPr>
          <a:lstStyle/>
          <a:p>
            <a:r>
              <a:rPr lang="pt-BR" sz="3200" b="1" dirty="0">
                <a:solidFill>
                  <a:srgbClr val="FF0000"/>
                </a:solidFill>
              </a:rPr>
              <a:t>0</a:t>
            </a:r>
          </a:p>
        </p:txBody>
      </p:sp>
      <p:cxnSp>
        <p:nvCxnSpPr>
          <p:cNvPr id="16" name="Straight Arrow Connector 15">
            <a:extLst>
              <a:ext uri="{FF2B5EF4-FFF2-40B4-BE49-F238E27FC236}">
                <a16:creationId xmlns:a16="http://schemas.microsoft.com/office/drawing/2014/main" id="{0C14CFA5-06E2-CB48-E198-E3E56AD5A242}"/>
              </a:ext>
            </a:extLst>
          </p:cNvPr>
          <p:cNvCxnSpPr>
            <a:cxnSpLocks/>
          </p:cNvCxnSpPr>
          <p:nvPr/>
        </p:nvCxnSpPr>
        <p:spPr>
          <a:xfrm flipH="1">
            <a:off x="4321796" y="2647794"/>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D0D5ADA-5B4A-3962-752F-B20FDF3BC9B6}"/>
              </a:ext>
            </a:extLst>
          </p:cNvPr>
          <p:cNvSpPr txBox="1"/>
          <p:nvPr/>
        </p:nvSpPr>
        <p:spPr>
          <a:xfrm>
            <a:off x="6139983" y="2223650"/>
            <a:ext cx="393056" cy="584775"/>
          </a:xfrm>
          <a:prstGeom prst="rect">
            <a:avLst/>
          </a:prstGeom>
          <a:noFill/>
        </p:spPr>
        <p:txBody>
          <a:bodyPr wrap="none" rtlCol="0">
            <a:spAutoFit/>
          </a:bodyPr>
          <a:lstStyle/>
          <a:p>
            <a:r>
              <a:rPr lang="pt-BR" sz="3200" b="1" dirty="0">
                <a:solidFill>
                  <a:srgbClr val="FF0000"/>
                </a:solidFill>
              </a:rPr>
              <a:t>0</a:t>
            </a:r>
          </a:p>
        </p:txBody>
      </p:sp>
      <p:cxnSp>
        <p:nvCxnSpPr>
          <p:cNvPr id="18" name="Straight Arrow Connector 17">
            <a:extLst>
              <a:ext uri="{FF2B5EF4-FFF2-40B4-BE49-F238E27FC236}">
                <a16:creationId xmlns:a16="http://schemas.microsoft.com/office/drawing/2014/main" id="{631FFE9A-3178-E279-A936-70F1F5C4E7C2}"/>
              </a:ext>
            </a:extLst>
          </p:cNvPr>
          <p:cNvCxnSpPr>
            <a:cxnSpLocks/>
          </p:cNvCxnSpPr>
          <p:nvPr/>
        </p:nvCxnSpPr>
        <p:spPr>
          <a:xfrm flipH="1">
            <a:off x="5785942" y="2662854"/>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7E18461-F42A-9CCF-A3EE-0A4650E9C17F}"/>
              </a:ext>
            </a:extLst>
          </p:cNvPr>
          <p:cNvSpPr txBox="1"/>
          <p:nvPr/>
        </p:nvSpPr>
        <p:spPr>
          <a:xfrm>
            <a:off x="7678266" y="2223650"/>
            <a:ext cx="393056" cy="584775"/>
          </a:xfrm>
          <a:prstGeom prst="rect">
            <a:avLst/>
          </a:prstGeom>
          <a:noFill/>
        </p:spPr>
        <p:txBody>
          <a:bodyPr wrap="none" rtlCol="0">
            <a:spAutoFit/>
          </a:bodyPr>
          <a:lstStyle/>
          <a:p>
            <a:r>
              <a:rPr lang="pt-BR" sz="3200" b="1" dirty="0">
                <a:solidFill>
                  <a:srgbClr val="FF0000"/>
                </a:solidFill>
              </a:rPr>
              <a:t>0</a:t>
            </a:r>
          </a:p>
        </p:txBody>
      </p:sp>
      <p:cxnSp>
        <p:nvCxnSpPr>
          <p:cNvPr id="20" name="Straight Arrow Connector 19">
            <a:extLst>
              <a:ext uri="{FF2B5EF4-FFF2-40B4-BE49-F238E27FC236}">
                <a16:creationId xmlns:a16="http://schemas.microsoft.com/office/drawing/2014/main" id="{6078E5AA-F680-CB17-50E1-F8A60818E729}"/>
              </a:ext>
            </a:extLst>
          </p:cNvPr>
          <p:cNvCxnSpPr>
            <a:cxnSpLocks/>
          </p:cNvCxnSpPr>
          <p:nvPr/>
        </p:nvCxnSpPr>
        <p:spPr>
          <a:xfrm flipH="1">
            <a:off x="7324225" y="2662854"/>
            <a:ext cx="388936" cy="368178"/>
          </a:xfrm>
          <a:prstGeom prst="straightConnector1">
            <a:avLst/>
          </a:prstGeom>
          <a:ln w="57150"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868850266"/>
      </p:ext>
    </p:extLst>
  </p:cSld>
  <p:clrMapOvr>
    <a:masterClrMapping/>
  </p:clrMapOvr>
  <mc:AlternateContent xmlns:mc="http://schemas.openxmlformats.org/markup-compatibility/2006" xmlns:p14="http://schemas.microsoft.com/office/powerpoint/2010/main">
    <mc:Choice Requires="p14">
      <p:transition spd="slow" p14:dur="1200" advTm="27547">
        <p14:prism/>
      </p:transition>
    </mc:Choice>
    <mc:Fallback xmlns="">
      <p:transition spd="slow" advTm="2754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30" presetClass="entr" presetSubtype="0" fill="hold" nodeType="afterEffect">
                                  <p:stCondLst>
                                    <p:cond delay="10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800" decel="100000"/>
                                        <p:tgtEl>
                                          <p:spTgt spid="8"/>
                                        </p:tgtEl>
                                      </p:cBhvr>
                                    </p:animEffect>
                                    <p:anim calcmode="lin" valueType="num">
                                      <p:cBhvr>
                                        <p:cTn id="11" dur="800" decel="100000" fill="hold"/>
                                        <p:tgtEl>
                                          <p:spTgt spid="8"/>
                                        </p:tgtEl>
                                        <p:attrNameLst>
                                          <p:attrName>style.rotation</p:attrName>
                                        </p:attrNameLst>
                                      </p:cBhvr>
                                      <p:tavLst>
                                        <p:tav tm="0">
                                          <p:val>
                                            <p:fltVal val="-90"/>
                                          </p:val>
                                        </p:tav>
                                        <p:tav tm="100000">
                                          <p:val>
                                            <p:fltVal val="0"/>
                                          </p:val>
                                        </p:tav>
                                      </p:tavLst>
                                    </p:anim>
                                    <p:anim calcmode="lin" valueType="num">
                                      <p:cBhvr>
                                        <p:cTn id="12" dur="800" decel="100000" fill="hold"/>
                                        <p:tgtEl>
                                          <p:spTgt spid="8"/>
                                        </p:tgtEl>
                                        <p:attrNameLst>
                                          <p:attrName>ppt_x</p:attrName>
                                        </p:attrNameLst>
                                      </p:cBhvr>
                                      <p:tavLst>
                                        <p:tav tm="0">
                                          <p:val>
                                            <p:strVal val="#ppt_x+0.4"/>
                                          </p:val>
                                        </p:tav>
                                        <p:tav tm="100000">
                                          <p:val>
                                            <p:strVal val="#ppt_x-0.05"/>
                                          </p:val>
                                        </p:tav>
                                      </p:tavLst>
                                    </p:anim>
                                    <p:anim calcmode="lin" valueType="num">
                                      <p:cBhvr>
                                        <p:cTn id="13" dur="800" decel="100000" fill="hold"/>
                                        <p:tgtEl>
                                          <p:spTgt spid="8"/>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par>
                          <p:cTn id="19" fill="hold">
                            <p:stCondLst>
                              <p:cond delay="2000"/>
                            </p:stCondLst>
                            <p:childTnLst>
                              <p:par>
                                <p:cTn id="20" presetID="30"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800" decel="100000"/>
                                        <p:tgtEl>
                                          <p:spTgt spid="9"/>
                                        </p:tgtEl>
                                      </p:cBhvr>
                                    </p:animEffect>
                                    <p:anim calcmode="lin" valueType="num">
                                      <p:cBhvr>
                                        <p:cTn id="23" dur="800" decel="100000" fill="hold"/>
                                        <p:tgtEl>
                                          <p:spTgt spid="9"/>
                                        </p:tgtEl>
                                        <p:attrNameLst>
                                          <p:attrName>style.rotation</p:attrName>
                                        </p:attrNameLst>
                                      </p:cBhvr>
                                      <p:tavLst>
                                        <p:tav tm="0">
                                          <p:val>
                                            <p:fltVal val="-90"/>
                                          </p:val>
                                        </p:tav>
                                        <p:tav tm="100000">
                                          <p:val>
                                            <p:fltVal val="0"/>
                                          </p:val>
                                        </p:tav>
                                      </p:tavLst>
                                    </p:anim>
                                    <p:anim calcmode="lin" valueType="num">
                                      <p:cBhvr>
                                        <p:cTn id="24" dur="800" decel="100000" fill="hold"/>
                                        <p:tgtEl>
                                          <p:spTgt spid="9"/>
                                        </p:tgtEl>
                                        <p:attrNameLst>
                                          <p:attrName>ppt_x</p:attrName>
                                        </p:attrNameLst>
                                      </p:cBhvr>
                                      <p:tavLst>
                                        <p:tav tm="0">
                                          <p:val>
                                            <p:strVal val="#ppt_x+0.4"/>
                                          </p:val>
                                        </p:tav>
                                        <p:tav tm="100000">
                                          <p:val>
                                            <p:strVal val="#ppt_x-0.05"/>
                                          </p:val>
                                        </p:tav>
                                      </p:tavLst>
                                    </p:anim>
                                    <p:anim calcmode="lin" valueType="num">
                                      <p:cBhvr>
                                        <p:cTn id="25" dur="800" decel="100000" fill="hold"/>
                                        <p:tgtEl>
                                          <p:spTgt spid="9"/>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9"/>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9"/>
                                        </p:tgtEl>
                                        <p:attrNameLst>
                                          <p:attrName>ppt_y</p:attrName>
                                        </p:attrNameLst>
                                      </p:cBhvr>
                                      <p:tavLst>
                                        <p:tav tm="0">
                                          <p:val>
                                            <p:strVal val="#ppt_y+0.1"/>
                                          </p:val>
                                        </p:tav>
                                        <p:tav tm="100000">
                                          <p:val>
                                            <p:strVal val="#ppt_y"/>
                                          </p:val>
                                        </p:tav>
                                      </p:tavLst>
                                    </p:anim>
                                  </p:childTnLst>
                                </p:cTn>
                              </p:par>
                            </p:childTnLst>
                          </p:cTn>
                        </p:par>
                        <p:par>
                          <p:cTn id="28" fill="hold">
                            <p:stCondLst>
                              <p:cond delay="3000"/>
                            </p:stCondLst>
                            <p:childTnLst>
                              <p:par>
                                <p:cTn id="29" presetID="1"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par>
                          <p:cTn id="31" fill="hold">
                            <p:stCondLst>
                              <p:cond delay="3000"/>
                            </p:stCondLst>
                            <p:childTnLst>
                              <p:par>
                                <p:cTn id="32" presetID="30" presetClass="entr" presetSubtype="0"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800" decel="100000"/>
                                        <p:tgtEl>
                                          <p:spTgt spid="16"/>
                                        </p:tgtEl>
                                      </p:cBhvr>
                                    </p:animEffect>
                                    <p:anim calcmode="lin" valueType="num">
                                      <p:cBhvr>
                                        <p:cTn id="35" dur="800" decel="100000" fill="hold"/>
                                        <p:tgtEl>
                                          <p:spTgt spid="16"/>
                                        </p:tgtEl>
                                        <p:attrNameLst>
                                          <p:attrName>style.rotation</p:attrName>
                                        </p:attrNameLst>
                                      </p:cBhvr>
                                      <p:tavLst>
                                        <p:tav tm="0">
                                          <p:val>
                                            <p:fltVal val="-90"/>
                                          </p:val>
                                        </p:tav>
                                        <p:tav tm="100000">
                                          <p:val>
                                            <p:fltVal val="0"/>
                                          </p:val>
                                        </p:tav>
                                      </p:tavLst>
                                    </p:anim>
                                    <p:anim calcmode="lin" valueType="num">
                                      <p:cBhvr>
                                        <p:cTn id="36" dur="800" decel="100000" fill="hold"/>
                                        <p:tgtEl>
                                          <p:spTgt spid="16"/>
                                        </p:tgtEl>
                                        <p:attrNameLst>
                                          <p:attrName>ppt_x</p:attrName>
                                        </p:attrNameLst>
                                      </p:cBhvr>
                                      <p:tavLst>
                                        <p:tav tm="0">
                                          <p:val>
                                            <p:strVal val="#ppt_x+0.4"/>
                                          </p:val>
                                        </p:tav>
                                        <p:tav tm="100000">
                                          <p:val>
                                            <p:strVal val="#ppt_x-0.05"/>
                                          </p:val>
                                        </p:tav>
                                      </p:tavLst>
                                    </p:anim>
                                    <p:anim calcmode="lin" valueType="num">
                                      <p:cBhvr>
                                        <p:cTn id="37" dur="800" decel="100000" fill="hold"/>
                                        <p:tgtEl>
                                          <p:spTgt spid="16"/>
                                        </p:tgtEl>
                                        <p:attrNameLst>
                                          <p:attrName>ppt_y</p:attrName>
                                        </p:attrNameLst>
                                      </p:cBhvr>
                                      <p:tavLst>
                                        <p:tav tm="0">
                                          <p:val>
                                            <p:strVal val="#ppt_y-0.4"/>
                                          </p:val>
                                        </p:tav>
                                        <p:tav tm="100000">
                                          <p:val>
                                            <p:strVal val="#ppt_y+0.1"/>
                                          </p:val>
                                        </p:tav>
                                      </p:tavLst>
                                    </p:anim>
                                    <p:anim calcmode="lin" valueType="num">
                                      <p:cBhvr>
                                        <p:cTn id="38" dur="200" accel="100000" fill="hold">
                                          <p:stCondLst>
                                            <p:cond delay="800"/>
                                          </p:stCondLst>
                                        </p:cTn>
                                        <p:tgtEl>
                                          <p:spTgt spid="16"/>
                                        </p:tgtEl>
                                        <p:attrNameLst>
                                          <p:attrName>ppt_x</p:attrName>
                                        </p:attrNameLst>
                                      </p:cBhvr>
                                      <p:tavLst>
                                        <p:tav tm="0">
                                          <p:val>
                                            <p:strVal val="#ppt_x-0.05"/>
                                          </p:val>
                                        </p:tav>
                                        <p:tav tm="100000">
                                          <p:val>
                                            <p:strVal val="#ppt_x"/>
                                          </p:val>
                                        </p:tav>
                                      </p:tavLst>
                                    </p:anim>
                                    <p:anim calcmode="lin" valueType="num">
                                      <p:cBhvr>
                                        <p:cTn id="39" dur="200" accel="100000" fill="hold">
                                          <p:stCondLst>
                                            <p:cond delay="800"/>
                                          </p:stCondLst>
                                        </p:cTn>
                                        <p:tgtEl>
                                          <p:spTgt spid="16"/>
                                        </p:tgtEl>
                                        <p:attrNameLst>
                                          <p:attrName>ppt_y</p:attrName>
                                        </p:attrNameLst>
                                      </p:cBhvr>
                                      <p:tavLst>
                                        <p:tav tm="0">
                                          <p:val>
                                            <p:strVal val="#ppt_y+0.1"/>
                                          </p:val>
                                        </p:tav>
                                        <p:tav tm="100000">
                                          <p:val>
                                            <p:strVal val="#ppt_y"/>
                                          </p:val>
                                        </p:tav>
                                      </p:tavLst>
                                    </p:anim>
                                  </p:childTnLst>
                                </p:cTn>
                              </p:par>
                            </p:childTnLst>
                          </p:cTn>
                        </p:par>
                        <p:par>
                          <p:cTn id="40" fill="hold">
                            <p:stCondLst>
                              <p:cond delay="4000"/>
                            </p:stCondLst>
                            <p:childTnLst>
                              <p:par>
                                <p:cTn id="41" presetID="1"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par>
                          <p:cTn id="43" fill="hold">
                            <p:stCondLst>
                              <p:cond delay="4000"/>
                            </p:stCondLst>
                            <p:childTnLst>
                              <p:par>
                                <p:cTn id="44" presetID="30" presetClass="entr" presetSubtype="0" fill="hold"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800" decel="100000"/>
                                        <p:tgtEl>
                                          <p:spTgt spid="18"/>
                                        </p:tgtEl>
                                      </p:cBhvr>
                                    </p:animEffect>
                                    <p:anim calcmode="lin" valueType="num">
                                      <p:cBhvr>
                                        <p:cTn id="47" dur="800" decel="100000" fill="hold"/>
                                        <p:tgtEl>
                                          <p:spTgt spid="18"/>
                                        </p:tgtEl>
                                        <p:attrNameLst>
                                          <p:attrName>style.rotation</p:attrName>
                                        </p:attrNameLst>
                                      </p:cBhvr>
                                      <p:tavLst>
                                        <p:tav tm="0">
                                          <p:val>
                                            <p:fltVal val="-90"/>
                                          </p:val>
                                        </p:tav>
                                        <p:tav tm="100000">
                                          <p:val>
                                            <p:fltVal val="0"/>
                                          </p:val>
                                        </p:tav>
                                      </p:tavLst>
                                    </p:anim>
                                    <p:anim calcmode="lin" valueType="num">
                                      <p:cBhvr>
                                        <p:cTn id="48" dur="800" decel="100000" fill="hold"/>
                                        <p:tgtEl>
                                          <p:spTgt spid="18"/>
                                        </p:tgtEl>
                                        <p:attrNameLst>
                                          <p:attrName>ppt_x</p:attrName>
                                        </p:attrNameLst>
                                      </p:cBhvr>
                                      <p:tavLst>
                                        <p:tav tm="0">
                                          <p:val>
                                            <p:strVal val="#ppt_x+0.4"/>
                                          </p:val>
                                        </p:tav>
                                        <p:tav tm="100000">
                                          <p:val>
                                            <p:strVal val="#ppt_x-0.05"/>
                                          </p:val>
                                        </p:tav>
                                      </p:tavLst>
                                    </p:anim>
                                    <p:anim calcmode="lin" valueType="num">
                                      <p:cBhvr>
                                        <p:cTn id="49" dur="800" decel="100000" fill="hold"/>
                                        <p:tgtEl>
                                          <p:spTgt spid="18"/>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18"/>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18"/>
                                        </p:tgtEl>
                                        <p:attrNameLst>
                                          <p:attrName>ppt_y</p:attrName>
                                        </p:attrNameLst>
                                      </p:cBhvr>
                                      <p:tavLst>
                                        <p:tav tm="0">
                                          <p:val>
                                            <p:strVal val="#ppt_y+0.1"/>
                                          </p:val>
                                        </p:tav>
                                        <p:tav tm="100000">
                                          <p:val>
                                            <p:strVal val="#ppt_y"/>
                                          </p:val>
                                        </p:tav>
                                      </p:tavLst>
                                    </p:anim>
                                  </p:childTnLst>
                                </p:cTn>
                              </p:par>
                            </p:childTnLst>
                          </p:cTn>
                        </p:par>
                        <p:par>
                          <p:cTn id="52" fill="hold">
                            <p:stCondLst>
                              <p:cond delay="5000"/>
                            </p:stCondLst>
                            <p:childTnLst>
                              <p:par>
                                <p:cTn id="53" presetID="1"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par>
                          <p:cTn id="55" fill="hold">
                            <p:stCondLst>
                              <p:cond delay="5000"/>
                            </p:stCondLst>
                            <p:childTnLst>
                              <p:par>
                                <p:cTn id="56" presetID="30" presetClass="entr" presetSubtype="0" fill="hold"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800" decel="100000"/>
                                        <p:tgtEl>
                                          <p:spTgt spid="20"/>
                                        </p:tgtEl>
                                      </p:cBhvr>
                                    </p:animEffect>
                                    <p:anim calcmode="lin" valueType="num">
                                      <p:cBhvr>
                                        <p:cTn id="59" dur="800" decel="100000" fill="hold"/>
                                        <p:tgtEl>
                                          <p:spTgt spid="20"/>
                                        </p:tgtEl>
                                        <p:attrNameLst>
                                          <p:attrName>style.rotation</p:attrName>
                                        </p:attrNameLst>
                                      </p:cBhvr>
                                      <p:tavLst>
                                        <p:tav tm="0">
                                          <p:val>
                                            <p:fltVal val="-90"/>
                                          </p:val>
                                        </p:tav>
                                        <p:tav tm="100000">
                                          <p:val>
                                            <p:fltVal val="0"/>
                                          </p:val>
                                        </p:tav>
                                      </p:tavLst>
                                    </p:anim>
                                    <p:anim calcmode="lin" valueType="num">
                                      <p:cBhvr>
                                        <p:cTn id="60" dur="800" decel="100000" fill="hold"/>
                                        <p:tgtEl>
                                          <p:spTgt spid="20"/>
                                        </p:tgtEl>
                                        <p:attrNameLst>
                                          <p:attrName>ppt_x</p:attrName>
                                        </p:attrNameLst>
                                      </p:cBhvr>
                                      <p:tavLst>
                                        <p:tav tm="0">
                                          <p:val>
                                            <p:strVal val="#ppt_x+0.4"/>
                                          </p:val>
                                        </p:tav>
                                        <p:tav tm="100000">
                                          <p:val>
                                            <p:strVal val="#ppt_x-0.05"/>
                                          </p:val>
                                        </p:tav>
                                      </p:tavLst>
                                    </p:anim>
                                    <p:anim calcmode="lin" valueType="num">
                                      <p:cBhvr>
                                        <p:cTn id="61" dur="800" decel="100000" fill="hold"/>
                                        <p:tgtEl>
                                          <p:spTgt spid="20"/>
                                        </p:tgtEl>
                                        <p:attrNameLst>
                                          <p:attrName>ppt_y</p:attrName>
                                        </p:attrNameLst>
                                      </p:cBhvr>
                                      <p:tavLst>
                                        <p:tav tm="0">
                                          <p:val>
                                            <p:strVal val="#ppt_y-0.4"/>
                                          </p:val>
                                        </p:tav>
                                        <p:tav tm="100000">
                                          <p:val>
                                            <p:strVal val="#ppt_y+0.1"/>
                                          </p:val>
                                        </p:tav>
                                      </p:tavLst>
                                    </p:anim>
                                    <p:anim calcmode="lin" valueType="num">
                                      <p:cBhvr>
                                        <p:cTn id="62" dur="200" accel="100000" fill="hold">
                                          <p:stCondLst>
                                            <p:cond delay="800"/>
                                          </p:stCondLst>
                                        </p:cTn>
                                        <p:tgtEl>
                                          <p:spTgt spid="20"/>
                                        </p:tgtEl>
                                        <p:attrNameLst>
                                          <p:attrName>ppt_x</p:attrName>
                                        </p:attrNameLst>
                                      </p:cBhvr>
                                      <p:tavLst>
                                        <p:tav tm="0">
                                          <p:val>
                                            <p:strVal val="#ppt_x-0.05"/>
                                          </p:val>
                                        </p:tav>
                                        <p:tav tm="100000">
                                          <p:val>
                                            <p:strVal val="#ppt_x"/>
                                          </p:val>
                                        </p:tav>
                                      </p:tavLst>
                                    </p:anim>
                                    <p:anim calcmode="lin" valueType="num">
                                      <p:cBhvr>
                                        <p:cTn id="63" dur="200" accel="100000" fill="hold">
                                          <p:stCondLst>
                                            <p:cond delay="800"/>
                                          </p:stCondLst>
                                        </p:cTn>
                                        <p:tgtEl>
                                          <p:spTgt spid="20"/>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5" grpId="0"/>
      <p:bldP spid="17"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Somador/Subtrator de 4 bits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9</a:t>
            </a:fld>
            <a:endParaRPr lang="pt-BR" dirty="0"/>
          </a:p>
        </p:txBody>
      </p:sp>
      <p:pic>
        <p:nvPicPr>
          <p:cNvPr id="6" name="Picture 5"/>
          <p:cNvPicPr>
            <a:picLocks noChangeAspect="1"/>
          </p:cNvPicPr>
          <p:nvPr/>
        </p:nvPicPr>
        <p:blipFill>
          <a:blip r:embed="rId3"/>
          <a:stretch>
            <a:fillRect/>
          </a:stretch>
        </p:blipFill>
        <p:spPr>
          <a:xfrm>
            <a:off x="1238250" y="1524000"/>
            <a:ext cx="6667500" cy="3810000"/>
          </a:xfrm>
          <a:prstGeom prst="rect">
            <a:avLst/>
          </a:prstGeom>
        </p:spPr>
      </p:pic>
      <p:sp>
        <p:nvSpPr>
          <p:cNvPr id="8" name="TextBox 7">
            <a:extLst>
              <a:ext uri="{FF2B5EF4-FFF2-40B4-BE49-F238E27FC236}">
                <a16:creationId xmlns:a16="http://schemas.microsoft.com/office/drawing/2014/main" id="{C47C6FB3-8A68-D5A5-8AEC-2387EF55058D}"/>
              </a:ext>
            </a:extLst>
          </p:cNvPr>
          <p:cNvSpPr txBox="1"/>
          <p:nvPr/>
        </p:nvSpPr>
        <p:spPr>
          <a:xfrm>
            <a:off x="1238250" y="5599613"/>
            <a:ext cx="6742723" cy="523220"/>
          </a:xfrm>
          <a:prstGeom prst="rect">
            <a:avLst/>
          </a:prstGeom>
          <a:noFill/>
        </p:spPr>
        <p:txBody>
          <a:bodyPr wrap="square">
            <a:spAutoFit/>
          </a:bodyPr>
          <a:lstStyle/>
          <a:p>
            <a:r>
              <a:rPr lang="pt-BR" sz="2800" dirty="0"/>
              <a:t>somador/subtrator que calcula </a:t>
            </a:r>
            <a:r>
              <a:rPr lang="pt-BR" sz="2800" b="1" dirty="0">
                <a:latin typeface="Courier New" panose="02070309020205020404" pitchFamily="49" charset="0"/>
              </a:rPr>
              <a:t>B+A e B-A</a:t>
            </a:r>
            <a:r>
              <a:rPr lang="pt-BR" sz="2800" dirty="0"/>
              <a:t> </a:t>
            </a:r>
          </a:p>
        </p:txBody>
      </p:sp>
    </p:spTree>
    <p:extLst>
      <p:ext uri="{BB962C8B-B14F-4D97-AF65-F5344CB8AC3E}">
        <p14:creationId xmlns:p14="http://schemas.microsoft.com/office/powerpoint/2010/main" val="255657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Somador em CPU</a:t>
            </a:r>
            <a:endParaRPr lang="pt-BR" i="1" dirty="0"/>
          </a:p>
        </p:txBody>
      </p:sp>
      <p:sp>
        <p:nvSpPr>
          <p:cNvPr id="3" name="Content Placeholder 2"/>
          <p:cNvSpPr>
            <a:spLocks noGrp="1"/>
          </p:cNvSpPr>
          <p:nvPr>
            <p:ph idx="1"/>
          </p:nvPr>
        </p:nvSpPr>
        <p:spPr/>
        <p:txBody>
          <a:bodyPr/>
          <a:lstStyle/>
          <a:p>
            <a:r>
              <a:rPr lang="pt-BR" dirty="0"/>
              <a:t>Diversas otimizações podem ser realizadas, mas o princípio de circuito para soma é sempre muito parecido.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10</a:t>
            </a:fld>
            <a:endParaRPr lang="pt-BR" dirty="0"/>
          </a:p>
        </p:txBody>
      </p:sp>
      <p:pic>
        <p:nvPicPr>
          <p:cNvPr id="6" name="Picture 5" descr="metal-crop.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5961" y="2593584"/>
            <a:ext cx="5080000" cy="3810000"/>
          </a:xfrm>
          <a:prstGeom prst="rect">
            <a:avLst/>
          </a:prstGeom>
        </p:spPr>
      </p:pic>
      <p:pic>
        <p:nvPicPr>
          <p:cNvPr id="8" name="Picture 7" descr="layers-crop.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45961" y="2593584"/>
            <a:ext cx="5080000" cy="3810000"/>
          </a:xfrm>
          <a:prstGeom prst="rect">
            <a:avLst/>
          </a:prstGeom>
        </p:spPr>
      </p:pic>
      <p:sp>
        <p:nvSpPr>
          <p:cNvPr id="9" name="Rectangle 8"/>
          <p:cNvSpPr/>
          <p:nvPr/>
        </p:nvSpPr>
        <p:spPr>
          <a:xfrm>
            <a:off x="5987387" y="6413952"/>
            <a:ext cx="1274808" cy="276999"/>
          </a:xfrm>
          <a:prstGeom prst="rect">
            <a:avLst/>
          </a:prstGeom>
        </p:spPr>
        <p:txBody>
          <a:bodyPr wrap="none">
            <a:spAutoFit/>
          </a:bodyPr>
          <a:lstStyle/>
          <a:p>
            <a:r>
              <a:rPr lang="pt-BR" sz="1200" dirty="0"/>
              <a:t>Ken </a:t>
            </a:r>
            <a:r>
              <a:rPr lang="pt-BR" sz="1200" dirty="0" err="1"/>
              <a:t>Shirriff's</a:t>
            </a:r>
            <a:r>
              <a:rPr lang="pt-BR" sz="1200" dirty="0"/>
              <a:t> blog</a:t>
            </a:r>
          </a:p>
        </p:txBody>
      </p:sp>
      <p:pic>
        <p:nvPicPr>
          <p:cNvPr id="10" name="Picture 9" descr="68747470733a2f2f7261772e6769746875622e636f6d2f626c69747a636f64652f6e65736b656c6c2f6d61737465722f363530322e706e67.png"/>
          <p:cNvPicPr>
            <a:picLocks noChangeAspect="1"/>
          </p:cNvPicPr>
          <p:nvPr/>
        </p:nvPicPr>
        <p:blipFill>
          <a:blip r:embed="rId6">
            <a:extLst>
              <a:ext uri="{BEBA8EAE-BF5A-486C-A8C5-ECC9F3942E4B}">
                <a14:imgProps xmlns:a14="http://schemas.microsoft.com/office/drawing/2010/main">
                  <a14:imgLayer r:embed="rId7">
                    <a14:imgEffect>
                      <a14:backgroundRemoval t="3232" b="100000" l="86" r="100000">
                        <a14:foregroundMark x1="41781" y1="74905" x2="41781" y2="74905"/>
                        <a14:backgroundMark x1="97260" y1="38403" x2="97260" y2="38403"/>
                        <a14:backgroundMark x1="94863" y1="8175" x2="94863" y2="8175"/>
                      </a14:backgroundRemoval>
                    </a14:imgEffect>
                  </a14:imgLayer>
                </a14:imgProps>
              </a:ext>
              <a:ext uri="{28A0092B-C50C-407E-A947-70E740481C1C}">
                <a14:useLocalDpi xmlns:a14="http://schemas.microsoft.com/office/drawing/2010/main" val="0"/>
              </a:ext>
            </a:extLst>
          </a:blip>
          <a:stretch>
            <a:fillRect/>
          </a:stretch>
        </p:blipFill>
        <p:spPr>
          <a:xfrm rot="1632953">
            <a:off x="6080872" y="2040648"/>
            <a:ext cx="2455627" cy="1105874"/>
          </a:xfrm>
          <a:prstGeom prst="rect">
            <a:avLst/>
          </a:prstGeom>
        </p:spPr>
      </p:pic>
      <p:sp>
        <p:nvSpPr>
          <p:cNvPr id="7" name="Rectangle 6"/>
          <p:cNvSpPr/>
          <p:nvPr/>
        </p:nvSpPr>
        <p:spPr>
          <a:xfrm>
            <a:off x="3915864" y="6370436"/>
            <a:ext cx="1095259" cy="369332"/>
          </a:xfrm>
          <a:prstGeom prst="rect">
            <a:avLst/>
          </a:prstGeom>
        </p:spPr>
        <p:txBody>
          <a:bodyPr wrap="none">
            <a:spAutoFit/>
          </a:bodyPr>
          <a:lstStyle/>
          <a:p>
            <a:r>
              <a:rPr lang="pt-BR" dirty="0"/>
              <a:t>CPU 6502</a:t>
            </a:r>
          </a:p>
        </p:txBody>
      </p:sp>
    </p:spTree>
    <p:custDataLst>
      <p:tags r:id="rId1"/>
    </p:custDataLst>
    <p:extLst>
      <p:ext uri="{BB962C8B-B14F-4D97-AF65-F5344CB8AC3E}">
        <p14:creationId xmlns:p14="http://schemas.microsoft.com/office/powerpoint/2010/main" val="980221586"/>
      </p:ext>
    </p:extLst>
  </p:cSld>
  <p:clrMapOvr>
    <a:masterClrMapping/>
  </p:clrMapOvr>
  <mc:AlternateContent xmlns:mc="http://schemas.openxmlformats.org/markup-compatibility/2006" xmlns:p14="http://schemas.microsoft.com/office/powerpoint/2010/main">
    <mc:Choice Requires="p14">
      <p:transition spd="slow" p14:dur="1200" advTm="40612">
        <p14:prism/>
      </p:transition>
    </mc:Choice>
    <mc:Fallback xmlns="">
      <p:transition spd="slow" advTm="4061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ALU do Z0 (baseada no </a:t>
            </a:r>
            <a:r>
              <a:rPr lang="pt-BR" dirty="0" err="1"/>
              <a:t>Hack</a:t>
            </a:r>
            <a:r>
              <a:rPr lang="pt-BR" dirty="0"/>
              <a:t>)</a:t>
            </a:r>
          </a:p>
        </p:txBody>
      </p:sp>
      <p:sp>
        <p:nvSpPr>
          <p:cNvPr id="3" name="Content Placeholder 2"/>
          <p:cNvSpPr>
            <a:spLocks noGrp="1"/>
          </p:cNvSpPr>
          <p:nvPr>
            <p:ph idx="1"/>
          </p:nvPr>
        </p:nvSpPr>
        <p:spPr>
          <a:xfrm>
            <a:off x="657225" y="1485900"/>
            <a:ext cx="8029575" cy="1619935"/>
          </a:xfrm>
        </p:spPr>
        <p:txBody>
          <a:bodyPr>
            <a:normAutofit/>
          </a:bodyPr>
          <a:lstStyle/>
          <a:p>
            <a:r>
              <a:rPr lang="pt-BR" sz="2000" dirty="0"/>
              <a:t>A arquitetura do Z0 (</a:t>
            </a:r>
            <a:r>
              <a:rPr lang="pt-BR" sz="2000" dirty="0" err="1"/>
              <a:t>Hack</a:t>
            </a:r>
            <a:r>
              <a:rPr lang="pt-BR" sz="2000" dirty="0"/>
              <a:t>) é baseada em 16 bits. Ou seja, ele tem de fazer operações com entradas de 16 bits e sair com o valor da operação também em 16 bits. Existem 6 bits de controle e mais dois bits de resultado (flags).</a:t>
            </a:r>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11</a:t>
            </a:fld>
            <a:endParaRPr lang="pt-BR" dirty="0"/>
          </a:p>
        </p:txBody>
      </p:sp>
      <p:graphicFrame>
        <p:nvGraphicFramePr>
          <p:cNvPr id="6" name="Object 10"/>
          <p:cNvGraphicFramePr>
            <a:graphicFrameLocks noChangeAspect="1"/>
          </p:cNvGraphicFramePr>
          <p:nvPr>
            <p:extLst>
              <p:ext uri="{D42A27DB-BD31-4B8C-83A1-F6EECF244321}">
                <p14:modId xmlns:p14="http://schemas.microsoft.com/office/powerpoint/2010/main" val="2419846748"/>
              </p:ext>
            </p:extLst>
          </p:nvPr>
        </p:nvGraphicFramePr>
        <p:xfrm>
          <a:off x="4800600" y="3838452"/>
          <a:ext cx="3886200" cy="2743200"/>
        </p:xfrm>
        <a:graphic>
          <a:graphicData uri="http://schemas.openxmlformats.org/presentationml/2006/ole">
            <mc:AlternateContent xmlns:mc="http://schemas.openxmlformats.org/markup-compatibility/2006">
              <mc:Choice xmlns:v="urn:schemas-microsoft-com:vml" Requires="v">
                <p:oleObj r:id="rId4" imgW="5448300" imgH="4381500" progId="Visio.Drawing.6">
                  <p:embed/>
                </p:oleObj>
              </mc:Choice>
              <mc:Fallback>
                <p:oleObj r:id="rId4" imgW="5448300" imgH="4381500" progId="Visio.Drawing.6">
                  <p:embed/>
                  <p:pic>
                    <p:nvPicPr>
                      <p:cNvPr id="6" name="Object 10"/>
                      <p:cNvPicPr>
                        <a:picLocks noChangeAspect="1" noChangeArrowheads="1"/>
                      </p:cNvPicPr>
                      <p:nvPr/>
                    </p:nvPicPr>
                    <p:blipFill>
                      <a:blip r:embed="rId5">
                        <a:extLst>
                          <a:ext uri="{28A0092B-C50C-407E-A947-70E740481C1C}">
                            <a14:useLocalDpi xmlns:a14="http://schemas.microsoft.com/office/drawing/2010/main" val="0"/>
                          </a:ext>
                        </a:extLst>
                      </a:blip>
                      <a:srcRect l="-862" t="20767" r="11543" b="818"/>
                      <a:stretch>
                        <a:fillRect/>
                      </a:stretch>
                    </p:blipFill>
                    <p:spPr bwMode="auto">
                      <a:xfrm>
                        <a:off x="4800600" y="3838452"/>
                        <a:ext cx="3886200" cy="2743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7" name="Rectangle 11"/>
          <p:cNvSpPr>
            <a:spLocks noChangeArrowheads="1"/>
          </p:cNvSpPr>
          <p:nvPr/>
        </p:nvSpPr>
        <p:spPr bwMode="auto">
          <a:xfrm>
            <a:off x="767103" y="3866064"/>
            <a:ext cx="3650456" cy="2370865"/>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lIns="92075" tIns="46038" rIns="0" bIns="46038"/>
          <a:lstStyle/>
          <a:p>
            <a:pPr marL="270000" indent="-342900" algn="l">
              <a:buClr>
                <a:srgbClr val="006600"/>
              </a:buClr>
              <a:buSzPct val="85000"/>
              <a:buFont typeface="Wingdings" charset="0"/>
              <a:buNone/>
            </a:pPr>
            <a:r>
              <a:rPr lang="en-US" sz="2400" b="1" dirty="0" err="1">
                <a:latin typeface="Courier New" charset="0"/>
                <a:cs typeface="Courier New" charset="0"/>
              </a:rPr>
              <a:t>x+y</a:t>
            </a:r>
            <a:r>
              <a:rPr lang="en-US" sz="2400" b="1" dirty="0">
                <a:latin typeface="Courier New" charset="0"/>
                <a:cs typeface="Courier New" charset="0"/>
              </a:rPr>
              <a:t>, x-y, y–x,</a:t>
            </a:r>
          </a:p>
          <a:p>
            <a:pPr marL="270000" indent="-342900" algn="l">
              <a:buClr>
                <a:srgbClr val="003399"/>
              </a:buClr>
              <a:buSzPct val="70000"/>
              <a:buFont typeface="Wingdings" charset="0"/>
              <a:buNone/>
            </a:pPr>
            <a:r>
              <a:rPr lang="en-US" sz="2400" b="1" dirty="0">
                <a:latin typeface="Courier New" charset="0"/>
                <a:cs typeface="Courier New" charset="0"/>
              </a:rPr>
              <a:t>0, 1, -1,</a:t>
            </a:r>
          </a:p>
          <a:p>
            <a:pPr marL="270000" indent="-342900" algn="l">
              <a:buClr>
                <a:srgbClr val="003399"/>
              </a:buClr>
              <a:buSzPct val="70000"/>
              <a:buFont typeface="Wingdings" charset="0"/>
              <a:buNone/>
            </a:pPr>
            <a:r>
              <a:rPr lang="en-US" sz="2400" b="1" dirty="0">
                <a:latin typeface="Courier New" charset="0"/>
                <a:cs typeface="Courier New" charset="0"/>
              </a:rPr>
              <a:t>x, y, -x, -y,</a:t>
            </a:r>
          </a:p>
          <a:p>
            <a:pPr marL="270000" indent="-342900">
              <a:buClr>
                <a:srgbClr val="003399"/>
              </a:buClr>
              <a:buSzPct val="70000"/>
            </a:pPr>
            <a:r>
              <a:rPr lang="en-US" sz="2400" b="1" dirty="0">
                <a:latin typeface="Courier New" charset="0"/>
                <a:cs typeface="Courier New" charset="0"/>
              </a:rPr>
              <a:t>!x, !y,</a:t>
            </a:r>
          </a:p>
          <a:p>
            <a:pPr marL="270000" indent="-342900" algn="l">
              <a:buClr>
                <a:srgbClr val="003399"/>
              </a:buClr>
              <a:buSzPct val="70000"/>
              <a:buFont typeface="Wingdings" charset="0"/>
              <a:buNone/>
            </a:pPr>
            <a:r>
              <a:rPr lang="en-US" sz="2400" b="1" dirty="0">
                <a:latin typeface="Courier New" charset="0"/>
                <a:cs typeface="Courier New" charset="0"/>
              </a:rPr>
              <a:t>x+1, y+1, x-1, y-1,</a:t>
            </a:r>
          </a:p>
          <a:p>
            <a:pPr marL="270000" indent="-342900" algn="l">
              <a:buClr>
                <a:srgbClr val="003399"/>
              </a:buClr>
              <a:buSzPct val="70000"/>
              <a:buFont typeface="Wingdings" charset="0"/>
              <a:buNone/>
            </a:pPr>
            <a:r>
              <a:rPr lang="en-US" sz="2400" b="1" dirty="0" err="1">
                <a:latin typeface="Courier New" charset="0"/>
                <a:cs typeface="Courier New" charset="0"/>
              </a:rPr>
              <a:t>x&amp;y</a:t>
            </a:r>
            <a:r>
              <a:rPr lang="en-US" sz="2400" b="1" dirty="0">
                <a:latin typeface="Courier New" charset="0"/>
                <a:cs typeface="Courier New" charset="0"/>
              </a:rPr>
              <a:t>, </a:t>
            </a:r>
            <a:r>
              <a:rPr lang="en-US" sz="2400" b="1" dirty="0" err="1">
                <a:latin typeface="Courier New" charset="0"/>
                <a:cs typeface="Courier New" charset="0"/>
              </a:rPr>
              <a:t>x|y</a:t>
            </a:r>
            <a:endParaRPr lang="en-US" sz="2400" b="1" dirty="0">
              <a:latin typeface="Courier New" charset="0"/>
              <a:cs typeface="Courier New" charset="0"/>
            </a:endParaRPr>
          </a:p>
        </p:txBody>
      </p:sp>
      <p:sp>
        <p:nvSpPr>
          <p:cNvPr id="8" name="Rectangle 7"/>
          <p:cNvSpPr/>
          <p:nvPr/>
        </p:nvSpPr>
        <p:spPr>
          <a:xfrm>
            <a:off x="698078" y="3077767"/>
            <a:ext cx="3816114" cy="646331"/>
          </a:xfrm>
          <a:prstGeom prst="rect">
            <a:avLst/>
          </a:prstGeom>
        </p:spPr>
        <p:txBody>
          <a:bodyPr wrap="square">
            <a:spAutoFit/>
          </a:bodyPr>
          <a:lstStyle/>
          <a:p>
            <a:r>
              <a:rPr lang="pt-BR" dirty="0">
                <a:latin typeface="Verdana"/>
                <a:cs typeface="Verdana"/>
              </a:rPr>
              <a:t>As operações desejadas devem retornar as seguintes saídas:</a:t>
            </a:r>
          </a:p>
        </p:txBody>
      </p:sp>
      <p:sp>
        <p:nvSpPr>
          <p:cNvPr id="9" name="Rectangle 8"/>
          <p:cNvSpPr/>
          <p:nvPr/>
        </p:nvSpPr>
        <p:spPr>
          <a:xfrm>
            <a:off x="5080192" y="3077767"/>
            <a:ext cx="3606608" cy="646331"/>
          </a:xfrm>
          <a:prstGeom prst="rect">
            <a:avLst/>
          </a:prstGeom>
        </p:spPr>
        <p:txBody>
          <a:bodyPr wrap="square">
            <a:spAutoFit/>
          </a:bodyPr>
          <a:lstStyle/>
          <a:p>
            <a:r>
              <a:rPr lang="pt-BR" dirty="0">
                <a:latin typeface="Verdana"/>
                <a:cs typeface="Verdana"/>
              </a:rPr>
              <a:t>Para isso os seguintes controles podem ser usados:</a:t>
            </a:r>
          </a:p>
        </p:txBody>
      </p:sp>
    </p:spTree>
    <p:custDataLst>
      <p:tags r:id="rId1"/>
    </p:custDataLst>
    <p:extLst>
      <p:ext uri="{BB962C8B-B14F-4D97-AF65-F5344CB8AC3E}">
        <p14:creationId xmlns:p14="http://schemas.microsoft.com/office/powerpoint/2010/main" val="2006696339"/>
      </p:ext>
    </p:extLst>
  </p:cSld>
  <p:clrMapOvr>
    <a:masterClrMapping/>
  </p:clrMapOvr>
  <mc:AlternateContent xmlns:mc="http://schemas.openxmlformats.org/markup-compatibility/2006" xmlns:p14="http://schemas.microsoft.com/office/powerpoint/2010/main">
    <mc:Choice Requires="p14">
      <p:transition spd="slow" p14:dur="1200" advTm="59412">
        <p14:prism/>
      </p:transition>
    </mc:Choice>
    <mc:Fallback xmlns="">
      <p:transition spd="slow" advTm="5941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Negar e Inverter</a:t>
            </a:r>
          </a:p>
        </p:txBody>
      </p:sp>
      <p:sp>
        <p:nvSpPr>
          <p:cNvPr id="3" name="Content Placeholder 2"/>
          <p:cNvSpPr>
            <a:spLocks noGrp="1"/>
          </p:cNvSpPr>
          <p:nvPr>
            <p:ph idx="1"/>
          </p:nvPr>
        </p:nvSpPr>
        <p:spPr>
          <a:xfrm>
            <a:off x="470218" y="1538974"/>
            <a:ext cx="8486775" cy="4724400"/>
          </a:xfrm>
        </p:spPr>
        <p:txBody>
          <a:bodyPr>
            <a:normAutofit/>
          </a:bodyPr>
          <a:lstStyle/>
          <a:p>
            <a:r>
              <a:rPr lang="pt-BR" sz="2000" dirty="0"/>
              <a:t>A negação é representada com o símbolo – (menos aritmético) </a:t>
            </a:r>
          </a:p>
          <a:p>
            <a:r>
              <a:rPr lang="pt-BR" sz="2000" dirty="0"/>
              <a:t>	Por exemplo</a:t>
            </a:r>
            <a:r>
              <a:rPr lang="pt-BR" sz="2400" dirty="0">
                <a:latin typeface="Courier"/>
                <a:cs typeface="Courier"/>
              </a:rPr>
              <a:t> </a:t>
            </a:r>
            <a:r>
              <a:rPr lang="pt-BR" sz="2000" dirty="0">
                <a:latin typeface="Courier"/>
                <a:cs typeface="Courier"/>
              </a:rPr>
              <a:t>A =  5</a:t>
            </a:r>
            <a:r>
              <a:rPr lang="pt-BR" sz="2000" baseline="-25000" dirty="0">
                <a:latin typeface="Courier"/>
                <a:cs typeface="Courier"/>
              </a:rPr>
              <a:t>10</a:t>
            </a:r>
            <a:r>
              <a:rPr lang="pt-BR" sz="2000" dirty="0">
                <a:latin typeface="Courier"/>
                <a:cs typeface="Courier"/>
              </a:rPr>
              <a:t> = 00000101</a:t>
            </a:r>
            <a:r>
              <a:rPr lang="pt-BR" sz="2000" baseline="-25000" dirty="0">
                <a:latin typeface="Courier"/>
                <a:cs typeface="Courier"/>
              </a:rPr>
              <a:t>2</a:t>
            </a:r>
          </a:p>
          <a:p>
            <a:r>
              <a:rPr lang="pt-BR" sz="2000" baseline="-25000" dirty="0">
                <a:latin typeface="Courier"/>
                <a:cs typeface="Courier"/>
              </a:rPr>
              <a:t>		</a:t>
            </a:r>
            <a:r>
              <a:rPr lang="pt-BR" sz="2000" dirty="0">
                <a:latin typeface="Courier"/>
                <a:cs typeface="Courier"/>
              </a:rPr>
              <a:t>    </a:t>
            </a:r>
            <a:r>
              <a:rPr lang="pt-BR" sz="1200" dirty="0">
                <a:latin typeface="Courier"/>
                <a:cs typeface="Courier"/>
              </a:rPr>
              <a:t> </a:t>
            </a:r>
            <a:r>
              <a:rPr lang="pt-BR" sz="2000" dirty="0">
                <a:latin typeface="Courier"/>
                <a:cs typeface="Courier"/>
              </a:rPr>
              <a:t>-A = -5</a:t>
            </a:r>
            <a:r>
              <a:rPr lang="pt-BR" sz="2000" baseline="-25000" dirty="0">
                <a:latin typeface="Courier"/>
                <a:cs typeface="Courier"/>
              </a:rPr>
              <a:t>10</a:t>
            </a:r>
            <a:r>
              <a:rPr lang="pt-BR" sz="2000" dirty="0">
                <a:latin typeface="Courier"/>
                <a:cs typeface="Courier"/>
              </a:rPr>
              <a:t> = 11111011</a:t>
            </a:r>
            <a:r>
              <a:rPr lang="pt-BR" sz="2000" baseline="-25000" dirty="0">
                <a:latin typeface="Courier"/>
                <a:cs typeface="Courier"/>
              </a:rPr>
              <a:t>2</a:t>
            </a:r>
          </a:p>
          <a:p>
            <a:endParaRPr lang="pt-BR" sz="2000" baseline="-25000" dirty="0">
              <a:latin typeface="Courier"/>
              <a:cs typeface="Courier"/>
            </a:endParaRPr>
          </a:p>
          <a:p>
            <a:endParaRPr lang="pt-BR" sz="2000" baseline="-25000" dirty="0">
              <a:latin typeface="Courier"/>
              <a:cs typeface="Courier"/>
            </a:endParaRPr>
          </a:p>
          <a:p>
            <a:endParaRPr lang="pt-BR" sz="2000" baseline="-25000" dirty="0">
              <a:latin typeface="Courier"/>
              <a:cs typeface="Courier"/>
            </a:endParaRPr>
          </a:p>
          <a:p>
            <a:r>
              <a:rPr lang="pt-BR" sz="2000" dirty="0"/>
              <a:t>A inversão é representada com o símbolo ! (operador lógico </a:t>
            </a:r>
            <a:r>
              <a:rPr lang="pt-BR" sz="2000" dirty="0" err="1"/>
              <a:t>not</a:t>
            </a:r>
            <a:r>
              <a:rPr lang="pt-BR" sz="2000" dirty="0"/>
              <a:t>)</a:t>
            </a:r>
          </a:p>
          <a:p>
            <a:r>
              <a:rPr lang="pt-BR" sz="2000" dirty="0"/>
              <a:t>	Por exemplo</a:t>
            </a:r>
            <a:r>
              <a:rPr lang="pt-BR" sz="2000" dirty="0">
                <a:latin typeface="Courier"/>
                <a:cs typeface="Courier"/>
              </a:rPr>
              <a:t> A = 5</a:t>
            </a:r>
            <a:r>
              <a:rPr lang="pt-BR" sz="2000" baseline="-25000" dirty="0">
                <a:latin typeface="Courier"/>
                <a:cs typeface="Courier"/>
              </a:rPr>
              <a:t>10</a:t>
            </a:r>
            <a:r>
              <a:rPr lang="pt-BR" sz="2000" dirty="0">
                <a:latin typeface="Courier"/>
                <a:cs typeface="Courier"/>
              </a:rPr>
              <a:t> = 00000101</a:t>
            </a:r>
            <a:r>
              <a:rPr lang="pt-BR" sz="2000" baseline="-25000" dirty="0">
                <a:latin typeface="Courier"/>
                <a:cs typeface="Courier"/>
              </a:rPr>
              <a:t>2</a:t>
            </a:r>
          </a:p>
          <a:p>
            <a:r>
              <a:rPr lang="pt-BR" sz="2000" baseline="-25000" dirty="0">
                <a:latin typeface="Courier"/>
                <a:cs typeface="Courier"/>
              </a:rPr>
              <a:t>		</a:t>
            </a:r>
            <a:r>
              <a:rPr lang="pt-BR" sz="2000" dirty="0">
                <a:latin typeface="Courier"/>
                <a:cs typeface="Courier"/>
              </a:rPr>
              <a:t>         !A = 11111010</a:t>
            </a:r>
            <a:r>
              <a:rPr lang="pt-BR" sz="2000" baseline="-25000" dirty="0">
                <a:latin typeface="Courier"/>
                <a:cs typeface="Courier"/>
              </a:rPr>
              <a:t>2 </a:t>
            </a:r>
            <a:r>
              <a:rPr lang="pt-BR" sz="2000" dirty="0">
                <a:latin typeface="Courier"/>
                <a:cs typeface="Courier"/>
              </a:rPr>
              <a:t>= -6</a:t>
            </a:r>
            <a:r>
              <a:rPr lang="pt-BR" sz="2000" baseline="-25000" dirty="0">
                <a:latin typeface="Courier"/>
                <a:cs typeface="Courier"/>
              </a:rPr>
              <a:t>10</a:t>
            </a:r>
            <a:endParaRPr lang="pt-BR" sz="2000" dirty="0"/>
          </a:p>
          <a:p>
            <a:r>
              <a:rPr lang="pt-BR" sz="2000" dirty="0"/>
              <a:t>	Também conhecido como </a:t>
            </a:r>
            <a:r>
              <a:rPr lang="pt-BR" sz="2000" b="1" dirty="0" err="1"/>
              <a:t>bitwise</a:t>
            </a:r>
            <a:r>
              <a:rPr lang="pt-BR" sz="2000" b="1" dirty="0"/>
              <a:t> </a:t>
            </a:r>
            <a:r>
              <a:rPr lang="pt-BR" sz="2000" b="1" dirty="0" err="1"/>
              <a:t>not</a:t>
            </a:r>
            <a:endParaRPr lang="pt-BR" sz="2000" b="1" dirty="0"/>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12</a:t>
            </a:fld>
            <a:endParaRPr lang="pt-BR" dirty="0"/>
          </a:p>
        </p:txBody>
      </p:sp>
    </p:spTree>
    <p:extLst>
      <p:ext uri="{BB962C8B-B14F-4D97-AF65-F5344CB8AC3E}">
        <p14:creationId xmlns:p14="http://schemas.microsoft.com/office/powerpoint/2010/main" val="2185014460"/>
      </p:ext>
    </p:extLst>
  </p:cSld>
  <p:clrMapOvr>
    <a:masterClrMapping/>
  </p:clrMapOvr>
  <mc:AlternateContent xmlns:mc="http://schemas.openxmlformats.org/markup-compatibility/2006" xmlns:p14="http://schemas.microsoft.com/office/powerpoint/2010/main">
    <mc:Choice Requires="p14">
      <p:transition spd="slow" p14:dur="2000" advTm="41989"/>
    </mc:Choice>
    <mc:Fallback xmlns="">
      <p:transition spd="slow" advTm="4198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781050"/>
            <a:ext cx="8444523" cy="619125"/>
          </a:xfrm>
        </p:spPr>
        <p:txBody>
          <a:bodyPr/>
          <a:lstStyle/>
          <a:p>
            <a:r>
              <a:rPr lang="pt-BR" dirty="0"/>
              <a:t>Tabela de controle da ALU do Z0 (Hack)</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13</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1663185921"/>
              </p:ext>
            </p:extLst>
          </p:nvPr>
        </p:nvGraphicFramePr>
        <p:xfrm>
          <a:off x="457198" y="1372563"/>
          <a:ext cx="8229599" cy="5076183"/>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1175657">
                  <a:extLst>
                    <a:ext uri="{9D8B030D-6E8A-4147-A177-3AD203B41FA5}">
                      <a16:colId xmlns:a16="http://schemas.microsoft.com/office/drawing/2014/main" val="20004"/>
                    </a:ext>
                  </a:extLst>
                </a:gridCol>
                <a:gridCol w="1175657">
                  <a:extLst>
                    <a:ext uri="{9D8B030D-6E8A-4147-A177-3AD203B41FA5}">
                      <a16:colId xmlns:a16="http://schemas.microsoft.com/office/drawing/2014/main" val="20005"/>
                    </a:ext>
                  </a:extLst>
                </a:gridCol>
                <a:gridCol w="1175657">
                  <a:extLst>
                    <a:ext uri="{9D8B030D-6E8A-4147-A177-3AD203B41FA5}">
                      <a16:colId xmlns:a16="http://schemas.microsoft.com/office/drawing/2014/main" val="20006"/>
                    </a:ext>
                  </a:extLst>
                </a:gridCol>
              </a:tblGrid>
              <a:tr h="333357">
                <a:tc>
                  <a:txBody>
                    <a:bodyPr/>
                    <a:lstStyle/>
                    <a:p>
                      <a:pPr algn="ctr">
                        <a:lnSpc>
                          <a:spcPts val="1640"/>
                        </a:lnSpc>
                      </a:pPr>
                      <a:r>
                        <a:rPr lang="pt-BR" sz="1700" b="1" noProof="1"/>
                        <a:t>se zx:</a:t>
                      </a:r>
                      <a:br>
                        <a:rPr lang="pt-BR" sz="1700" b="1" noProof="1"/>
                      </a:br>
                      <a:r>
                        <a:rPr lang="pt-BR" sz="1700" b="1" noProof="1"/>
                        <a:t> x=0</a:t>
                      </a:r>
                    </a:p>
                  </a:txBody>
                  <a:tcPr marL="0" marR="0" marT="0" marB="14400" anchor="ctr"/>
                </a:tc>
                <a:tc>
                  <a:txBody>
                    <a:bodyPr/>
                    <a:lstStyle/>
                    <a:p>
                      <a:pPr algn="ctr">
                        <a:lnSpc>
                          <a:spcPts val="1640"/>
                        </a:lnSpc>
                      </a:pPr>
                      <a:r>
                        <a:rPr lang="pt-BR" sz="1700" b="1" noProof="1"/>
                        <a:t>se nx:</a:t>
                      </a:r>
                      <a:br>
                        <a:rPr lang="pt-BR" sz="1700" b="1" noProof="1"/>
                      </a:br>
                      <a:r>
                        <a:rPr lang="pt-BR" sz="1700" b="1" noProof="1"/>
                        <a:t> x=!x</a:t>
                      </a:r>
                    </a:p>
                  </a:txBody>
                  <a:tcPr marL="0" marR="0" marT="0" marB="14400" anchor="ctr"/>
                </a:tc>
                <a:tc>
                  <a:txBody>
                    <a:bodyPr/>
                    <a:lstStyle/>
                    <a:p>
                      <a:pPr algn="ctr">
                        <a:lnSpc>
                          <a:spcPts val="1640"/>
                        </a:lnSpc>
                      </a:pPr>
                      <a:r>
                        <a:rPr lang="pt-BR" sz="1700" b="1" noProof="1"/>
                        <a:t>se zy:</a:t>
                      </a:r>
                      <a:br>
                        <a:rPr lang="pt-BR" sz="1700" b="1" noProof="1"/>
                      </a:br>
                      <a:r>
                        <a:rPr lang="pt-BR" sz="1700" b="1" noProof="1"/>
                        <a:t> y=0</a:t>
                      </a:r>
                    </a:p>
                  </a:txBody>
                  <a:tcPr marL="0" marR="0" marT="0" marB="14400" anchor="ctr"/>
                </a:tc>
                <a:tc>
                  <a:txBody>
                    <a:bodyPr/>
                    <a:lstStyle/>
                    <a:p>
                      <a:pPr algn="ctr">
                        <a:lnSpc>
                          <a:spcPts val="1640"/>
                        </a:lnSpc>
                      </a:pPr>
                      <a:r>
                        <a:rPr lang="pt-BR" sz="1700" b="1" noProof="1"/>
                        <a:t>se ny:</a:t>
                      </a:r>
                      <a:br>
                        <a:rPr lang="pt-BR" sz="1700" b="1" noProof="1"/>
                      </a:br>
                      <a:r>
                        <a:rPr lang="pt-BR" sz="1700" b="1" noProof="1"/>
                        <a:t> y=!y</a:t>
                      </a:r>
                    </a:p>
                  </a:txBody>
                  <a:tcPr marL="0" marR="0" marT="0" marB="14400" anchor="ctr"/>
                </a:tc>
                <a:tc>
                  <a:txBody>
                    <a:bodyPr/>
                    <a:lstStyle/>
                    <a:p>
                      <a:pPr algn="ctr">
                        <a:lnSpc>
                          <a:spcPts val="1640"/>
                        </a:lnSpc>
                      </a:pPr>
                      <a:r>
                        <a:rPr lang="pt-BR" sz="1700" b="1" noProof="1"/>
                        <a:t>se f:</a:t>
                      </a:r>
                      <a:r>
                        <a:rPr lang="pt-BR" sz="1700" b="1" baseline="0" noProof="1"/>
                        <a:t> </a:t>
                      </a:r>
                      <a:r>
                        <a:rPr lang="pt-BR" sz="1700" b="1" noProof="1"/>
                        <a:t>x+y</a:t>
                      </a:r>
                    </a:p>
                    <a:p>
                      <a:pPr algn="ctr">
                        <a:lnSpc>
                          <a:spcPts val="1640"/>
                        </a:lnSpc>
                      </a:pPr>
                      <a:r>
                        <a:rPr lang="pt-BR" sz="1700" b="1" noProof="1"/>
                        <a:t>senão: x&amp;y</a:t>
                      </a:r>
                    </a:p>
                  </a:txBody>
                  <a:tcPr marL="0" marR="0" marT="0" marB="14400" anchor="ctr"/>
                </a:tc>
                <a:tc>
                  <a:txBody>
                    <a:bodyPr/>
                    <a:lstStyle/>
                    <a:p>
                      <a:pPr algn="ctr">
                        <a:lnSpc>
                          <a:spcPts val="1640"/>
                        </a:lnSpc>
                      </a:pPr>
                      <a:r>
                        <a:rPr lang="pt-BR" sz="1700" b="1" noProof="1"/>
                        <a:t>se no:</a:t>
                      </a:r>
                      <a:br>
                        <a:rPr lang="pt-BR" sz="1700" b="1" noProof="1"/>
                      </a:br>
                      <a:r>
                        <a:rPr lang="pt-BR" sz="1700" b="1" noProof="1"/>
                        <a:t>out=!out</a:t>
                      </a:r>
                    </a:p>
                  </a:txBody>
                  <a:tcPr marL="0" marR="0" marT="0" marB="14400" anchor="ctr"/>
                </a:tc>
                <a:tc>
                  <a:txBody>
                    <a:bodyPr/>
                    <a:lstStyle/>
                    <a:p>
                      <a:pPr algn="ctr">
                        <a:lnSpc>
                          <a:spcPts val="1640"/>
                        </a:lnSpc>
                      </a:pPr>
                      <a:r>
                        <a:rPr lang="pt-BR" sz="1700" b="1" noProof="1"/>
                        <a:t>out</a:t>
                      </a:r>
                    </a:p>
                  </a:txBody>
                  <a:tcPr marL="0" marR="0" marT="0" marB="14400" anchor="ctr"/>
                </a:tc>
                <a:extLst>
                  <a:ext uri="{0D108BD9-81ED-4DB2-BD59-A6C34878D82A}">
                    <a16:rowId xmlns:a16="http://schemas.microsoft.com/office/drawing/2014/main" val="10000"/>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extLst>
                  <a:ext uri="{0D108BD9-81ED-4DB2-BD59-A6C34878D82A}">
                    <a16:rowId xmlns:a16="http://schemas.microsoft.com/office/drawing/2014/main" val="10001"/>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extLst>
                  <a:ext uri="{0D108BD9-81ED-4DB2-BD59-A6C34878D82A}">
                    <a16:rowId xmlns:a16="http://schemas.microsoft.com/office/drawing/2014/main" val="10002"/>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extLst>
                  <a:ext uri="{0D108BD9-81ED-4DB2-BD59-A6C34878D82A}">
                    <a16:rowId xmlns:a16="http://schemas.microsoft.com/office/drawing/2014/main" val="10003"/>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a:t>
                      </a:r>
                    </a:p>
                  </a:txBody>
                  <a:tcPr marL="0" marR="0" marT="0" marB="14400"/>
                </a:tc>
                <a:extLst>
                  <a:ext uri="{0D108BD9-81ED-4DB2-BD59-A6C34878D82A}">
                    <a16:rowId xmlns:a16="http://schemas.microsoft.com/office/drawing/2014/main" val="10004"/>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y</a:t>
                      </a:r>
                    </a:p>
                  </a:txBody>
                  <a:tcPr marL="0" marR="0" marT="0" marB="14400"/>
                </a:tc>
                <a:extLst>
                  <a:ext uri="{0D108BD9-81ED-4DB2-BD59-A6C34878D82A}">
                    <a16:rowId xmlns:a16="http://schemas.microsoft.com/office/drawing/2014/main" val="10005"/>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a:t>
                      </a:r>
                    </a:p>
                  </a:txBody>
                  <a:tcPr marL="0" marR="0" marT="0" marB="14400"/>
                </a:tc>
                <a:extLst>
                  <a:ext uri="{0D108BD9-81ED-4DB2-BD59-A6C34878D82A}">
                    <a16:rowId xmlns:a16="http://schemas.microsoft.com/office/drawing/2014/main" val="10006"/>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a:t>
                      </a:r>
                    </a:p>
                  </a:txBody>
                  <a:tcPr marL="0" marR="0" marT="0" marB="14400"/>
                </a:tc>
                <a:extLst>
                  <a:ext uri="{0D108BD9-81ED-4DB2-BD59-A6C34878D82A}">
                    <a16:rowId xmlns:a16="http://schemas.microsoft.com/office/drawing/2014/main" val="10007"/>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a:t>
                      </a:r>
                    </a:p>
                  </a:txBody>
                  <a:tcPr marL="0" marR="0" marT="0" marB="14400"/>
                </a:tc>
                <a:extLst>
                  <a:ext uri="{0D108BD9-81ED-4DB2-BD59-A6C34878D82A}">
                    <a16:rowId xmlns:a16="http://schemas.microsoft.com/office/drawing/2014/main" val="10008"/>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a:t>
                      </a:r>
                    </a:p>
                  </a:txBody>
                  <a:tcPr marL="0" marR="0" marT="0" marB="14400"/>
                </a:tc>
                <a:extLst>
                  <a:ext uri="{0D108BD9-81ED-4DB2-BD59-A6C34878D82A}">
                    <a16:rowId xmlns:a16="http://schemas.microsoft.com/office/drawing/2014/main" val="10009"/>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x+1</a:t>
                      </a:r>
                    </a:p>
                  </a:txBody>
                  <a:tcPr marL="0" marR="0" marT="0" marB="14400"/>
                </a:tc>
                <a:extLst>
                  <a:ext uri="{0D108BD9-81ED-4DB2-BD59-A6C34878D82A}">
                    <a16:rowId xmlns:a16="http://schemas.microsoft.com/office/drawing/2014/main" val="10010"/>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y+1</a:t>
                      </a:r>
                    </a:p>
                  </a:txBody>
                  <a:tcPr marL="0" marR="0" marT="0" marB="14400"/>
                </a:tc>
                <a:extLst>
                  <a:ext uri="{0D108BD9-81ED-4DB2-BD59-A6C34878D82A}">
                    <a16:rowId xmlns:a16="http://schemas.microsoft.com/office/drawing/2014/main" val="10011"/>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x-1</a:t>
                      </a:r>
                    </a:p>
                  </a:txBody>
                  <a:tcPr marL="0" marR="0" marT="0" marB="14400"/>
                </a:tc>
                <a:extLst>
                  <a:ext uri="{0D108BD9-81ED-4DB2-BD59-A6C34878D82A}">
                    <a16:rowId xmlns:a16="http://schemas.microsoft.com/office/drawing/2014/main" val="10012"/>
                  </a:ext>
                </a:extLst>
              </a:tr>
              <a:tr h="170082">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y-1</a:t>
                      </a:r>
                    </a:p>
                  </a:txBody>
                  <a:tcPr marL="0" marR="0" marT="0" marB="14400"/>
                </a:tc>
                <a:extLst>
                  <a:ext uri="{0D108BD9-81ED-4DB2-BD59-A6C34878D82A}">
                    <a16:rowId xmlns:a16="http://schemas.microsoft.com/office/drawing/2014/main" val="10013"/>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x+y</a:t>
                      </a:r>
                    </a:p>
                  </a:txBody>
                  <a:tcPr marL="0" marR="0" marT="0" marB="14400"/>
                </a:tc>
                <a:extLst>
                  <a:ext uri="{0D108BD9-81ED-4DB2-BD59-A6C34878D82A}">
                    <a16:rowId xmlns:a16="http://schemas.microsoft.com/office/drawing/2014/main" val="10014"/>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y-x</a:t>
                      </a:r>
                    </a:p>
                  </a:txBody>
                  <a:tcPr marL="0" marR="0" marT="0" marB="14400"/>
                </a:tc>
                <a:extLst>
                  <a:ext uri="{0D108BD9-81ED-4DB2-BD59-A6C34878D82A}">
                    <a16:rowId xmlns:a16="http://schemas.microsoft.com/office/drawing/2014/main" val="10015"/>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x&amp;y</a:t>
                      </a:r>
                    </a:p>
                  </a:txBody>
                  <a:tcPr marL="0" marR="0" marT="0" marB="14400"/>
                </a:tc>
                <a:extLst>
                  <a:ext uri="{0D108BD9-81ED-4DB2-BD59-A6C34878D82A}">
                    <a16:rowId xmlns:a16="http://schemas.microsoft.com/office/drawing/2014/main" val="10016"/>
                  </a:ext>
                </a:extLst>
              </a:tr>
              <a:tr h="170082">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0</a:t>
                      </a:r>
                    </a:p>
                  </a:txBody>
                  <a:tcPr marL="0" marR="0" marT="0" marB="14400"/>
                </a:tc>
                <a:tc>
                  <a:txBody>
                    <a:bodyPr/>
                    <a:lstStyle/>
                    <a:p>
                      <a:pPr algn="ctr"/>
                      <a:r>
                        <a:rPr lang="pt-BR" sz="1700" b="1" noProof="1">
                          <a:latin typeface="Courier"/>
                          <a:cs typeface="Courier"/>
                        </a:rPr>
                        <a:t>1</a:t>
                      </a:r>
                    </a:p>
                  </a:txBody>
                  <a:tcPr marL="0" marR="0" marT="0" marB="14400"/>
                </a:tc>
                <a:tc>
                  <a:txBody>
                    <a:bodyPr/>
                    <a:lstStyle/>
                    <a:p>
                      <a:pPr algn="ctr"/>
                      <a:r>
                        <a:rPr lang="pt-BR" sz="1700" b="1" noProof="1">
                          <a:latin typeface="Courier"/>
                          <a:cs typeface="Courier"/>
                        </a:rPr>
                        <a:t>x|y</a:t>
                      </a:r>
                    </a:p>
                  </a:txBody>
                  <a:tcPr marL="0" marR="0" marT="0" marB="14400"/>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3980877792"/>
      </p:ext>
    </p:extLst>
  </p:cSld>
  <p:clrMapOvr>
    <a:masterClrMapping/>
  </p:clrMapOvr>
  <mc:AlternateContent xmlns:mc="http://schemas.openxmlformats.org/markup-compatibility/2006" xmlns:p14="http://schemas.microsoft.com/office/powerpoint/2010/main">
    <mc:Choice Requires="p14">
      <p:transition spd="slow" p14:dur="1200" advTm="19522">
        <p14:prism/>
      </p:transition>
    </mc:Choice>
    <mc:Fallback xmlns="">
      <p:transition spd="slow" advTm="19522">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clrChange>
              <a:clrFrom>
                <a:srgbClr val="FFFFFF"/>
              </a:clrFrom>
              <a:clrTo>
                <a:srgbClr val="FFFFFF">
                  <a:alpha val="0"/>
                </a:srgbClr>
              </a:clrTo>
            </a:clrChange>
          </a:blip>
          <a:stretch>
            <a:fillRect/>
          </a:stretch>
        </p:blipFill>
        <p:spPr>
          <a:xfrm>
            <a:off x="5763432" y="2395960"/>
            <a:ext cx="3352596" cy="2512112"/>
          </a:xfrm>
          <a:prstGeom prst="rect">
            <a:avLst/>
          </a:prstGeom>
        </p:spPr>
      </p:pic>
      <p:sp>
        <p:nvSpPr>
          <p:cNvPr id="2" name="Title 1"/>
          <p:cNvSpPr>
            <a:spLocks noGrp="1"/>
          </p:cNvSpPr>
          <p:nvPr>
            <p:ph type="title"/>
          </p:nvPr>
        </p:nvSpPr>
        <p:spPr/>
        <p:txBody>
          <a:bodyPr/>
          <a:lstStyle/>
          <a:p>
            <a:r>
              <a:rPr lang="pt-BR" dirty="0"/>
              <a:t>VHDL da ALU do Z0 (</a:t>
            </a:r>
            <a:r>
              <a:rPr lang="pt-BR" dirty="0" err="1"/>
              <a:t>Hack</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14</a:t>
            </a:fld>
            <a:endParaRPr lang="pt-BR" dirty="0"/>
          </a:p>
        </p:txBody>
      </p:sp>
      <p:sp>
        <p:nvSpPr>
          <p:cNvPr id="7" name="Rectangle 6"/>
          <p:cNvSpPr/>
          <p:nvPr/>
        </p:nvSpPr>
        <p:spPr>
          <a:xfrm>
            <a:off x="300758" y="1962657"/>
            <a:ext cx="5359262" cy="3046988"/>
          </a:xfrm>
          <a:prstGeom prst="rect">
            <a:avLst/>
          </a:prstGeom>
          <a:ln>
            <a:solidFill>
              <a:schemeClr val="tx1"/>
            </a:solidFill>
            <a:prstDash val="dash"/>
          </a:ln>
        </p:spPr>
        <p:txBody>
          <a:bodyPr wrap="square">
            <a:spAutoFit/>
          </a:bodyPr>
          <a:lstStyle/>
          <a:p>
            <a:r>
              <a:rPr lang="pt-BR" sz="1200" noProof="1">
                <a:latin typeface="Courier" charset="0"/>
                <a:ea typeface="Courier" charset="0"/>
                <a:cs typeface="Courier" charset="0"/>
              </a:rPr>
              <a:t>library IEEE;</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use IEEE.STD_LOGIC_1164.ALL;</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entity alu is</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port ( </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x,y:   in STD_LOGIC_VECTOR(15 downto 0); -- entradas</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zx:    in STD_LOGIC;  -- zera a entrada x</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nx:    in STD_LOGIC;  -- inverte a entrada x</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zy:    in STD_LOGIC;  -- zera a entrada y</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ny:    in STD_LOGIC;  -- inverte a entrada y</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f:     in STD_LOGIC;  -- se 0 calcula x&amp;y, senão x+y</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no:    in STD_LOGIC;  -- inverte o valor da saída</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zr:    in STD_LOGIC;  -- setado se saída igual a zero</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ng:    out STD_LOGIC; -- setado se saída é negativa</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saida: out STD_LOGIC_VECTOR(15 downto 0) -- saída</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 ); </a:t>
            </a:r>
            <a:endParaRPr lang="en-US" sz="1200" noProof="1">
              <a:latin typeface="Courier" charset="0"/>
              <a:ea typeface="Courier" charset="0"/>
              <a:cs typeface="Courier" charset="0"/>
            </a:endParaRPr>
          </a:p>
          <a:p>
            <a:r>
              <a:rPr lang="pt-BR" sz="1200" noProof="1">
                <a:latin typeface="Courier" charset="0"/>
                <a:ea typeface="Courier" charset="0"/>
                <a:cs typeface="Courier" charset="0"/>
              </a:rPr>
              <a:t>end entity; </a:t>
            </a:r>
            <a:endParaRPr lang="en-US" sz="1200" noProof="1">
              <a:latin typeface="Courier" charset="0"/>
              <a:ea typeface="Courier" charset="0"/>
              <a:cs typeface="Courier" charset="0"/>
            </a:endParaRPr>
          </a:p>
        </p:txBody>
      </p:sp>
    </p:spTree>
    <p:extLst>
      <p:ext uri="{BB962C8B-B14F-4D97-AF65-F5344CB8AC3E}">
        <p14:creationId xmlns:p14="http://schemas.microsoft.com/office/powerpoint/2010/main" val="756607206"/>
      </p:ext>
    </p:extLst>
  </p:cSld>
  <p:clrMapOvr>
    <a:masterClrMapping/>
  </p:clrMapOvr>
  <mc:AlternateContent xmlns:mc="http://schemas.openxmlformats.org/markup-compatibility/2006">
    <mc:Choice xmlns:p14="http://schemas.microsoft.com/office/powerpoint/2010/main" Requires="p14">
      <p:transition spd="slow" p14:dur="1200" advTm="19282">
        <p14:prism/>
      </p:transition>
    </mc:Choice>
    <mc:Fallback>
      <p:transition spd="slow" advTm="19282">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1</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15</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2314471278"/>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83454264"/>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tc>
                <a:tc>
                  <a:txBody>
                    <a:bodyPr/>
                    <a:lstStyle/>
                    <a:p>
                      <a:pPr algn="ctr"/>
                      <a:r>
                        <a:rPr lang="pt-BR" sz="1600" b="1" dirty="0"/>
                        <a:t>0</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8</a:t>
              </a:r>
            </a:p>
          </p:txBody>
        </p:sp>
      </p:grpSp>
      <p:sp>
        <p:nvSpPr>
          <p:cNvPr id="15" name="TextBox 14">
            <a:extLst>
              <a:ext uri="{FF2B5EF4-FFF2-40B4-BE49-F238E27FC236}">
                <a16:creationId xmlns:a16="http://schemas.microsoft.com/office/drawing/2014/main" id="{0F300C5C-26DD-EB76-8994-36BB34DB4F5C}"/>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Tree>
    <p:custDataLst>
      <p:tags r:id="rId1"/>
    </p:custDataLst>
    <p:extLst>
      <p:ext uri="{BB962C8B-B14F-4D97-AF65-F5344CB8AC3E}">
        <p14:creationId xmlns:p14="http://schemas.microsoft.com/office/powerpoint/2010/main" val="1001621593"/>
      </p:ext>
    </p:extLst>
  </p:cSld>
  <p:clrMapOvr>
    <a:masterClrMapping/>
  </p:clrMapOvr>
  <mc:AlternateContent xmlns:mc="http://schemas.openxmlformats.org/markup-compatibility/2006" xmlns:p14="http://schemas.microsoft.com/office/powerpoint/2010/main">
    <mc:Choice Requires="p14">
      <p:transition spd="slow" p14:dur="1200" advTm="45078">
        <p14:prism/>
      </p:transition>
    </mc:Choice>
    <mc:Fallback xmlns="">
      <p:transition spd="slow" advTm="450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2</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16</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2218603957"/>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06617758"/>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tc>
                <a:tc>
                  <a:txBody>
                    <a:bodyPr/>
                    <a:lstStyle/>
                    <a:p>
                      <a:pPr algn="ctr"/>
                      <a:r>
                        <a:rPr lang="pt-BR" sz="1600" b="1" dirty="0"/>
                        <a:t>0</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9</a:t>
              </a:r>
            </a:p>
          </p:txBody>
        </p:sp>
      </p:grpSp>
      <p:sp>
        <p:nvSpPr>
          <p:cNvPr id="8" name="TextBox 7">
            <a:extLst>
              <a:ext uri="{FF2B5EF4-FFF2-40B4-BE49-F238E27FC236}">
                <a16:creationId xmlns:a16="http://schemas.microsoft.com/office/drawing/2014/main" id="{7500C4A2-588D-DBCD-24DD-E9C2304A21A3}"/>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Tree>
    <p:custDataLst>
      <p:tags r:id="rId1"/>
    </p:custDataLst>
    <p:extLst>
      <p:ext uri="{BB962C8B-B14F-4D97-AF65-F5344CB8AC3E}">
        <p14:creationId xmlns:p14="http://schemas.microsoft.com/office/powerpoint/2010/main" val="2157408286"/>
      </p:ext>
    </p:extLst>
  </p:cSld>
  <p:clrMapOvr>
    <a:masterClrMapping/>
  </p:clrMapOvr>
  <mc:AlternateContent xmlns:mc="http://schemas.openxmlformats.org/markup-compatibility/2006" xmlns:p14="http://schemas.microsoft.com/office/powerpoint/2010/main">
    <mc:Choice Requires="p14">
      <p:transition spd="slow" p14:dur="1100" advTm="38249">
        <p14:switch dir="r"/>
      </p:transition>
    </mc:Choice>
    <mc:Fallback xmlns="">
      <p:transition spd="slow" advTm="3824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3</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17</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4071113347"/>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766829461"/>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tc>
                <a:tc>
                  <a:txBody>
                    <a:bodyPr/>
                    <a:lstStyle/>
                    <a:p>
                      <a:pPr algn="ctr"/>
                      <a:r>
                        <a:rPr lang="pt-BR" sz="1600" b="1" dirty="0"/>
                        <a:t>1</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-10</a:t>
              </a:r>
            </a:p>
          </p:txBody>
        </p:sp>
      </p:grpSp>
      <p:sp>
        <p:nvSpPr>
          <p:cNvPr id="8" name="TextBox 7">
            <a:extLst>
              <a:ext uri="{FF2B5EF4-FFF2-40B4-BE49-F238E27FC236}">
                <a16:creationId xmlns:a16="http://schemas.microsoft.com/office/drawing/2014/main" id="{A644BFDB-8EF4-DEF0-5180-BCA743CA5ECC}"/>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Tree>
    <p:custDataLst>
      <p:tags r:id="rId1"/>
    </p:custDataLst>
    <p:extLst>
      <p:ext uri="{BB962C8B-B14F-4D97-AF65-F5344CB8AC3E}">
        <p14:creationId xmlns:p14="http://schemas.microsoft.com/office/powerpoint/2010/main" val="2289230575"/>
      </p:ext>
    </p:extLst>
  </p:cSld>
  <p:clrMapOvr>
    <a:masterClrMapping/>
  </p:clrMapOvr>
  <mc:AlternateContent xmlns:mc="http://schemas.openxmlformats.org/markup-compatibility/2006" xmlns:p14="http://schemas.microsoft.com/office/powerpoint/2010/main">
    <mc:Choice Requires="p14">
      <p:transition spd="slow" p14:dur="1100" advTm="48748">
        <p14:switch dir="r"/>
      </p:transition>
    </mc:Choice>
    <mc:Fallback xmlns="">
      <p:transition spd="slow" advTm="4874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Exemplos de comportamento da ALU</a:t>
            </a:r>
          </a:p>
        </p:txBody>
      </p:sp>
      <p:sp>
        <p:nvSpPr>
          <p:cNvPr id="3" name="Content Placeholder 2"/>
          <p:cNvSpPr>
            <a:spLocks noGrp="1"/>
          </p:cNvSpPr>
          <p:nvPr>
            <p:ph idx="1"/>
          </p:nvPr>
        </p:nvSpPr>
        <p:spPr>
          <a:xfrm>
            <a:off x="657225" y="1485900"/>
            <a:ext cx="8029575" cy="523725"/>
          </a:xfrm>
        </p:spPr>
        <p:txBody>
          <a:bodyPr/>
          <a:lstStyle/>
          <a:p>
            <a:r>
              <a:rPr lang="pt-BR" b="1" dirty="0"/>
              <a:t>Exemplo 4</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18</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210683089"/>
              </p:ext>
            </p:extLst>
          </p:nvPr>
        </p:nvGraphicFramePr>
        <p:xfrm>
          <a:off x="258922" y="2371211"/>
          <a:ext cx="8717082" cy="2915757"/>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gridCol w="792462">
                  <a:extLst>
                    <a:ext uri="{9D8B030D-6E8A-4147-A177-3AD203B41FA5}">
                      <a16:colId xmlns:a16="http://schemas.microsoft.com/office/drawing/2014/main" val="20010"/>
                    </a:ext>
                  </a:extLst>
                </a:gridCol>
              </a:tblGrid>
              <a:tr h="333357">
                <a:tc>
                  <a:txBody>
                    <a:bodyPr/>
                    <a:lstStyle/>
                    <a:p>
                      <a:pPr marL="0" marR="0" indent="0" algn="ctr" defTabSz="914400" rtl="0" eaLnBrk="1" fontAlgn="auto" latinLnBrk="0" hangingPunct="1">
                        <a:lnSpc>
                          <a:spcPts val="1640"/>
                        </a:lnSpc>
                        <a:spcBef>
                          <a:spcPts val="0"/>
                        </a:spcBef>
                        <a:spcAft>
                          <a:spcPts val="0"/>
                        </a:spcAft>
                        <a:buClrTx/>
                        <a:buSzTx/>
                        <a:buFontTx/>
                        <a:buNone/>
                        <a:tabLst/>
                        <a:defRPr/>
                      </a:pPr>
                      <a:r>
                        <a:rPr lang="pt-BR" sz="1600" b="1" noProof="1"/>
                        <a:t>controle</a:t>
                      </a:r>
                    </a:p>
                  </a:txBody>
                  <a:tcPr marL="0" marR="0" marT="0" marB="14400" anchor="ctr"/>
                </a:tc>
                <a:tc>
                  <a:txBody>
                    <a:bodyPr/>
                    <a:lstStyle/>
                    <a:p>
                      <a:pPr algn="ctr">
                        <a:lnSpc>
                          <a:spcPts val="1640"/>
                        </a:lnSpc>
                      </a:pPr>
                      <a:r>
                        <a:rPr lang="pt-BR" sz="1600" b="1" noProof="1"/>
                        <a:t>zx</a:t>
                      </a:r>
                    </a:p>
                  </a:txBody>
                  <a:tcPr marL="0" marR="0" marT="0" marB="14400" anchor="ctr">
                    <a:solidFill>
                      <a:schemeClr val="tx2">
                        <a:lumMod val="40000"/>
                        <a:lumOff val="60000"/>
                      </a:schemeClr>
                    </a:solidFill>
                  </a:tcPr>
                </a:tc>
                <a:tc>
                  <a:txBody>
                    <a:bodyPr/>
                    <a:lstStyle/>
                    <a:p>
                      <a:pPr algn="ctr">
                        <a:lnSpc>
                          <a:spcPts val="1640"/>
                        </a:lnSpc>
                      </a:pPr>
                      <a:r>
                        <a:rPr lang="pt-BR" sz="1600" b="1" noProof="1"/>
                        <a:t>nx</a:t>
                      </a:r>
                    </a:p>
                  </a:txBody>
                  <a:tcPr marL="0" marR="0" marT="0" marB="14400" anchor="ctr">
                    <a:solidFill>
                      <a:schemeClr val="tx2">
                        <a:lumMod val="40000"/>
                        <a:lumOff val="60000"/>
                      </a:schemeClr>
                    </a:solidFill>
                  </a:tcPr>
                </a:tc>
                <a:tc>
                  <a:txBody>
                    <a:bodyPr/>
                    <a:lstStyle/>
                    <a:p>
                      <a:pPr algn="ctr">
                        <a:lnSpc>
                          <a:spcPts val="1640"/>
                        </a:lnSpc>
                      </a:pPr>
                      <a:r>
                        <a:rPr lang="pt-BR" sz="1600" b="1" noProof="1"/>
                        <a:t>zy</a:t>
                      </a:r>
                    </a:p>
                  </a:txBody>
                  <a:tcPr marL="0" marR="0" marT="0" marB="14400" anchor="ctr">
                    <a:solidFill>
                      <a:schemeClr val="tx2">
                        <a:lumMod val="40000"/>
                        <a:lumOff val="60000"/>
                      </a:schemeClr>
                    </a:solidFill>
                  </a:tcPr>
                </a:tc>
                <a:tc>
                  <a:txBody>
                    <a:bodyPr/>
                    <a:lstStyle/>
                    <a:p>
                      <a:pPr algn="ctr">
                        <a:lnSpc>
                          <a:spcPts val="1640"/>
                        </a:lnSpc>
                      </a:pPr>
                      <a:r>
                        <a:rPr lang="pt-BR" sz="1600" b="1" noProof="1"/>
                        <a:t>ny</a:t>
                      </a:r>
                    </a:p>
                  </a:txBody>
                  <a:tcPr marL="0" marR="0" marT="0" marB="14400" anchor="ctr">
                    <a:solidFill>
                      <a:schemeClr val="tx2">
                        <a:lumMod val="40000"/>
                        <a:lumOff val="60000"/>
                      </a:schemeClr>
                    </a:solidFill>
                  </a:tcPr>
                </a:tc>
                <a:tc>
                  <a:txBody>
                    <a:bodyPr/>
                    <a:lstStyle/>
                    <a:p>
                      <a:pPr algn="ctr">
                        <a:lnSpc>
                          <a:spcPts val="1640"/>
                        </a:lnSpc>
                      </a:pPr>
                      <a:r>
                        <a:rPr lang="pt-BR" sz="1600" b="1" noProof="1"/>
                        <a:t>f</a:t>
                      </a:r>
                      <a:r>
                        <a:rPr lang="pt-BR" sz="1600" b="1" baseline="0" noProof="1"/>
                        <a:t> </a:t>
                      </a:r>
                      <a:r>
                        <a:rPr lang="pt-BR" sz="1400" b="0" baseline="0" noProof="1"/>
                        <a:t>?</a:t>
                      </a:r>
                      <a:r>
                        <a:rPr lang="pt-BR" sz="1600" b="1" baseline="0" noProof="1"/>
                        <a:t> </a:t>
                      </a:r>
                      <a:r>
                        <a:rPr lang="pt-BR" sz="1600" b="1" noProof="1"/>
                        <a:t>+</a:t>
                      </a:r>
                      <a:r>
                        <a:rPr lang="pt-BR" sz="1600" b="1" baseline="0" noProof="1"/>
                        <a:t> </a:t>
                      </a:r>
                      <a:r>
                        <a:rPr lang="pt-BR" sz="1400" b="0" baseline="0" noProof="1"/>
                        <a:t>:</a:t>
                      </a:r>
                      <a:r>
                        <a:rPr lang="pt-BR" sz="1600" b="1" baseline="0" noProof="1"/>
                        <a:t> </a:t>
                      </a:r>
                      <a:r>
                        <a:rPr lang="pt-BR" sz="1600" b="1" noProof="1"/>
                        <a:t>&amp; </a:t>
                      </a:r>
                    </a:p>
                  </a:txBody>
                  <a:tcPr marL="0" marR="0" marT="0" marB="14400" anchor="ctr">
                    <a:solidFill>
                      <a:schemeClr val="tx2">
                        <a:lumMod val="40000"/>
                        <a:lumOff val="60000"/>
                      </a:schemeClr>
                    </a:solidFill>
                  </a:tcPr>
                </a:tc>
                <a:tc>
                  <a:txBody>
                    <a:bodyPr/>
                    <a:lstStyle/>
                    <a:p>
                      <a:pPr algn="ctr">
                        <a:lnSpc>
                          <a:spcPts val="1640"/>
                        </a:lnSpc>
                      </a:pPr>
                      <a:r>
                        <a:rPr lang="pt-BR" sz="1600" b="1" noProof="1"/>
                        <a:t>no</a:t>
                      </a:r>
                    </a:p>
                  </a:txBody>
                  <a:tcPr marL="0" marR="0" marT="0" marB="14400" anchor="ctr">
                    <a:solidFill>
                      <a:schemeClr val="tx2">
                        <a:lumMod val="40000"/>
                        <a:lumOff val="60000"/>
                      </a:schemeClr>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tc>
                  <a:txBody>
                    <a:bodyPr/>
                    <a:lstStyle/>
                    <a:p>
                      <a:pPr algn="ctr">
                        <a:lnSpc>
                          <a:spcPts val="1640"/>
                        </a:lnSpc>
                      </a:pPr>
                      <a:endParaRPr lang="pt-BR" sz="1600" b="1" noProof="1"/>
                    </a:p>
                  </a:txBody>
                  <a:tcPr marL="0" marR="0" marT="0" marB="14400" anchor="ctr">
                    <a:solidFill>
                      <a:srgbClr val="FFFFFF"/>
                    </a:solidFill>
                  </a:tcPr>
                </a:tc>
                <a:extLst>
                  <a:ext uri="{0D108BD9-81ED-4DB2-BD59-A6C34878D82A}">
                    <a16:rowId xmlns:a16="http://schemas.microsoft.com/office/drawing/2014/main" val="10000"/>
                  </a:ext>
                </a:extLst>
              </a:tr>
              <a:tr h="170082">
                <a:tc>
                  <a:txBody>
                    <a:bodyPr/>
                    <a:lstStyle/>
                    <a:p>
                      <a:pPr algn="ctr"/>
                      <a:endParaRPr lang="pt-BR" sz="12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r>
                        <a:rPr lang="pt-BR" sz="1600" b="1" noProof="1">
                          <a:latin typeface="Courier"/>
                          <a:cs typeface="Courier"/>
                        </a:rPr>
                        <a:t>1</a:t>
                      </a:r>
                    </a:p>
                  </a:txBody>
                  <a:tcPr marL="0" marR="0" marT="0" marB="14400" anchor="ctr"/>
                </a:tc>
                <a:tc>
                  <a:txBody>
                    <a:bodyPr/>
                    <a:lstStyle/>
                    <a:p>
                      <a:pPr algn="ctr"/>
                      <a:r>
                        <a:rPr lang="pt-BR" sz="1600" b="1" noProof="1">
                          <a:latin typeface="Courier"/>
                          <a:cs typeface="Courier"/>
                        </a:rPr>
                        <a:t>0</a:t>
                      </a:r>
                    </a:p>
                  </a:txBody>
                  <a:tcPr marL="0" marR="0" marT="0" marB="14400" anchor="ct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1"/>
                  </a:ext>
                </a:extLst>
              </a:tr>
              <a:tr h="170082">
                <a:tc>
                  <a:txBody>
                    <a:bodyPr/>
                    <a:lstStyle/>
                    <a:p>
                      <a:pPr algn="ctr"/>
                      <a:endParaRPr lang="pt-BR" sz="1600" b="1" noProof="1">
                        <a:latin typeface="Courier"/>
                        <a:cs typeface="Courier"/>
                      </a:endParaRPr>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no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2"/>
                  </a:ext>
                </a:extLst>
              </a:tr>
              <a:tr h="170082">
                <a:tc>
                  <a:txBody>
                    <a:bodyPr/>
                    <a:lstStyle/>
                    <a:p>
                      <a:pPr algn="ctr"/>
                      <a:r>
                        <a:rPr lang="pt-BR" sz="1600" b="1" noProof="1">
                          <a:latin typeface="Courier"/>
                          <a:cs typeface="Courier"/>
                        </a:rPr>
                        <a:t>x</a:t>
                      </a:r>
                    </a:p>
                  </a:txBody>
                  <a:tcPr marL="0" marR="0" marT="0" marB="14400" anchor="ctr"/>
                </a:tc>
                <a:tc>
                  <a:txBody>
                    <a:bodyPr/>
                    <a:lstStyle/>
                    <a:p>
                      <a:pPr algn="ctr"/>
                      <a:r>
                        <a:rPr lang="pt-BR" sz="1600" b="1" noProof="1">
                          <a:latin typeface="Courier"/>
                          <a:cs typeface="Courier"/>
                        </a:rPr>
                        <a:t>x[7]</a:t>
                      </a:r>
                    </a:p>
                  </a:txBody>
                  <a:tcPr marL="0" marR="0" marT="0" marB="14400" anchor="ctr">
                    <a:solidFill>
                      <a:srgbClr val="8EB4E3"/>
                    </a:solidFill>
                  </a:tcPr>
                </a:tc>
                <a:tc>
                  <a:txBody>
                    <a:bodyPr/>
                    <a:lstStyle/>
                    <a:p>
                      <a:pPr algn="ctr"/>
                      <a:r>
                        <a:rPr lang="pt-BR" sz="1600" b="1" noProof="1">
                          <a:latin typeface="Courier"/>
                          <a:cs typeface="Courier"/>
                        </a:rPr>
                        <a:t>x[6]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x[0]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3"/>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1</a:t>
                      </a:r>
                    </a:p>
                  </a:txBody>
                  <a:tcPr marL="0" marR="0" marT="0" marB="14400" anchor="ctr">
                    <a:solidFill>
                      <a:schemeClr val="accent3">
                        <a:lumMod val="20000"/>
                        <a:lumOff val="80000"/>
                      </a:schemeClr>
                    </a:solidFill>
                  </a:tcPr>
                </a:tc>
                <a:tc>
                  <a:txBody>
                    <a:bodyPr/>
                    <a:lstStyle/>
                    <a:p>
                      <a:pPr algn="ctr"/>
                      <a:r>
                        <a:rPr lang="pt-BR" sz="1600" b="1" noProof="1">
                          <a:latin typeface="Courier"/>
                          <a:cs typeface="Courier"/>
                        </a:rPr>
                        <a:t>0</a:t>
                      </a:r>
                    </a:p>
                  </a:txBody>
                  <a:tcPr marL="0" marR="0" marT="0" marB="14400" anchor="ctr">
                    <a:solidFill>
                      <a:schemeClr val="accent3">
                        <a:lumMod val="20000"/>
                        <a:lumOff val="80000"/>
                      </a:schemeClr>
                    </a:solidFill>
                  </a:tcPr>
                </a:tc>
                <a:tc>
                  <a:txBody>
                    <a:bodyPr/>
                    <a:lstStyle/>
                    <a:p>
                      <a:pPr algn="ctr"/>
                      <a:r>
                        <a:rPr lang="pt-BR" sz="1600" b="1" dirty="0"/>
                        <a:t>1</a:t>
                      </a:r>
                    </a:p>
                  </a:txBody>
                  <a:tcPr marL="0" marR="0" marT="0" marB="14400" anchor="ctr">
                    <a:solidFill>
                      <a:schemeClr val="accent3">
                        <a:lumMod val="20000"/>
                        <a:lumOff val="80000"/>
                      </a:schemeClr>
                    </a:solidFill>
                  </a:tcPr>
                </a:tc>
                <a:tc>
                  <a:txBody>
                    <a:bodyPr/>
                    <a:lstStyle/>
                    <a:p>
                      <a:pPr algn="ctr"/>
                      <a:r>
                        <a:rPr lang="pt-BR" sz="1600" b="1" dirty="0"/>
                        <a:t>0</a:t>
                      </a:r>
                    </a:p>
                  </a:txBody>
                  <a:tcPr marL="0" marR="0" marT="0" marB="14400" anchor="ctr">
                    <a:solidFill>
                      <a:schemeClr val="accent3">
                        <a:lumMod val="20000"/>
                        <a:lumOff val="80000"/>
                      </a:schemeClr>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4"/>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5"/>
                  </a:ext>
                </a:extLst>
              </a:tr>
              <a:tr h="170082">
                <a:tc>
                  <a:txBody>
                    <a:bodyPr/>
                    <a:lstStyle/>
                    <a:p>
                      <a:pPr algn="ctr"/>
                      <a:r>
                        <a:rPr lang="pt-BR" sz="1600" b="1" noProof="1">
                          <a:latin typeface="Courier"/>
                          <a:cs typeface="Courier"/>
                        </a:rPr>
                        <a:t>y</a:t>
                      </a:r>
                    </a:p>
                  </a:txBody>
                  <a:tcPr marL="0" marR="0" marT="0" marB="14400" anchor="ctr"/>
                </a:tc>
                <a:tc>
                  <a:txBody>
                    <a:bodyPr/>
                    <a:lstStyle/>
                    <a:p>
                      <a:pPr algn="ctr"/>
                      <a:r>
                        <a:rPr lang="pt-BR" sz="1600" b="1" noProof="1">
                          <a:latin typeface="Courier"/>
                          <a:cs typeface="Courier"/>
                        </a:rPr>
                        <a:t>y[7]</a:t>
                      </a:r>
                    </a:p>
                  </a:txBody>
                  <a:tcPr marL="0" marR="0" marT="0" marB="14400" anchor="ctr">
                    <a:solidFill>
                      <a:srgbClr val="8EB4E3"/>
                    </a:solidFill>
                  </a:tcPr>
                </a:tc>
                <a:tc>
                  <a:txBody>
                    <a:bodyPr/>
                    <a:lstStyle/>
                    <a:p>
                      <a:pPr algn="ctr"/>
                      <a:r>
                        <a:rPr lang="pt-BR" sz="1600" b="1" noProof="1">
                          <a:latin typeface="Courier"/>
                          <a:cs typeface="Courier"/>
                        </a:rPr>
                        <a:t>y[6]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y[0]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600" b="1" noProof="1">
                        <a:latin typeface="Courier"/>
                        <a:cs typeface="Courier"/>
                      </a:endParaRPr>
                    </a:p>
                  </a:txBody>
                  <a:tcPr marL="0" marR="0" marT="0" marB="14400" anchor="ctr">
                    <a:solidFill>
                      <a:srgbClr val="FFFFFF"/>
                    </a:solidFill>
                  </a:tcPr>
                </a:tc>
                <a:extLst>
                  <a:ext uri="{0D108BD9-81ED-4DB2-BD59-A6C34878D82A}">
                    <a16:rowId xmlns:a16="http://schemas.microsoft.com/office/drawing/2014/main" val="10006"/>
                  </a:ext>
                </a:extLst>
              </a:tr>
              <a:tr h="170082">
                <a:tc>
                  <a:txBody>
                    <a:bodyPr/>
                    <a:lstStyle/>
                    <a:p>
                      <a:pPr algn="ctr"/>
                      <a:endParaRPr lang="pt-BR" sz="1600" b="1" noProof="1">
                        <a:latin typeface="Courier"/>
                        <a:cs typeface="Courier"/>
                      </a:endParaRPr>
                    </a:p>
                  </a:txBody>
                  <a:tcPr marL="0" marR="0" marT="0" marB="14400" anchor="ct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noProof="1">
                          <a:latin typeface="Courier"/>
                          <a:cs typeface="Courier"/>
                        </a:rPr>
                        <a:t>1</a:t>
                      </a:r>
                    </a:p>
                  </a:txBody>
                  <a:tcPr marL="0" marR="0" marT="0" marB="14400" anchor="ctr">
                    <a:solidFill>
                      <a:srgbClr val="EBF1DE"/>
                    </a:solidFill>
                  </a:tcPr>
                </a:tc>
                <a:tc>
                  <a:txBody>
                    <a:bodyPr/>
                    <a:lstStyle/>
                    <a:p>
                      <a:pPr algn="ctr"/>
                      <a:r>
                        <a:rPr lang="pt-BR" sz="1600" b="1" dirty="0"/>
                        <a:t>1</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endParaRPr lang="pt-BR" sz="1600" b="1" dirty="0"/>
                    </a:p>
                  </a:txBody>
                  <a:tcPr marL="0" marR="0" marT="0" marB="14400" anchor="ctr">
                    <a:solidFill>
                      <a:srgbClr val="FFFFFF"/>
                    </a:solidFill>
                  </a:tcPr>
                </a:tc>
                <a:tc>
                  <a:txBody>
                    <a:bodyPr/>
                    <a:lstStyle/>
                    <a:p>
                      <a:pPr algn="ctr"/>
                      <a:endParaRPr lang="pt-BR" sz="1600" b="1" dirty="0"/>
                    </a:p>
                  </a:txBody>
                  <a:tcPr marL="0" marR="0" marT="0" marB="14400" anchor="ctr">
                    <a:solidFill>
                      <a:srgbClr val="FFFFFF"/>
                    </a:solidFill>
                  </a:tcPr>
                </a:tc>
                <a:extLst>
                  <a:ext uri="{0D108BD9-81ED-4DB2-BD59-A6C34878D82A}">
                    <a16:rowId xmlns:a16="http://schemas.microsoft.com/office/drawing/2014/main" val="10007"/>
                  </a:ext>
                </a:extLst>
              </a:tr>
              <a:tr h="170082">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b="1" noProof="1">
                        <a:latin typeface="Courier"/>
                        <a:cs typeface="Courier"/>
                      </a:endParaRPr>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tc>
                  <a:txBody>
                    <a:bodyPr/>
                    <a:lstStyle/>
                    <a:p>
                      <a:pPr algn="ctr"/>
                      <a:endParaRPr lang="pt-BR" sz="1600" dirty="0"/>
                    </a:p>
                  </a:txBody>
                  <a:tcPr marL="0" marR="0" marT="0" marB="14400" anchor="ctr">
                    <a:solidFill>
                      <a:srgbClr val="FFFFFF"/>
                    </a:solidFill>
                  </a:tcPr>
                </a:tc>
                <a:extLst>
                  <a:ext uri="{0D108BD9-81ED-4DB2-BD59-A6C34878D82A}">
                    <a16:rowId xmlns:a16="http://schemas.microsoft.com/office/drawing/2014/main" val="10008"/>
                  </a:ext>
                </a:extLst>
              </a:tr>
              <a:tr h="170082">
                <a:tc>
                  <a:txBody>
                    <a:bodyPr/>
                    <a:lstStyle/>
                    <a:p>
                      <a:pPr algn="ctr"/>
                      <a:r>
                        <a:rPr lang="pt-BR" sz="1400" b="1" noProof="1">
                          <a:latin typeface="Courier"/>
                          <a:cs typeface="Courier"/>
                        </a:rPr>
                        <a:t>saída</a:t>
                      </a:r>
                    </a:p>
                  </a:txBody>
                  <a:tcPr marL="0" marR="0" marT="0" marB="14400" anchor="ctr"/>
                </a:tc>
                <a:tc>
                  <a:txBody>
                    <a:bodyPr/>
                    <a:lstStyle/>
                    <a:p>
                      <a:pPr algn="ctr"/>
                      <a:r>
                        <a:rPr lang="pt-BR" sz="1600" b="1" noProof="1">
                          <a:latin typeface="Courier"/>
                          <a:cs typeface="Courier"/>
                        </a:rPr>
                        <a:t>out[7]</a:t>
                      </a:r>
                    </a:p>
                  </a:txBody>
                  <a:tcPr marL="0" marR="0" marT="0" marB="14400" anchor="ctr">
                    <a:solidFill>
                      <a:srgbClr val="8EB4E3"/>
                    </a:solidFill>
                  </a:tcPr>
                </a:tc>
                <a:tc>
                  <a:txBody>
                    <a:bodyPr/>
                    <a:lstStyle/>
                    <a:p>
                      <a:pPr algn="ctr"/>
                      <a:r>
                        <a:rPr lang="pt-BR" sz="1600" b="1" noProof="1">
                          <a:latin typeface="Courier"/>
                          <a:cs typeface="Courier"/>
                        </a:rPr>
                        <a:t>out[6]</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out[5]</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out[4]</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out[3]</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out[2]</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out[1]</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out[0]</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zr</a:t>
                      </a:r>
                    </a:p>
                  </a:txBody>
                  <a:tcPr marL="0" marR="0" marT="0" marB="1440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600" b="1" noProof="1">
                          <a:latin typeface="Courier"/>
                          <a:cs typeface="Courier"/>
                        </a:rPr>
                        <a:t>ng</a:t>
                      </a:r>
                    </a:p>
                  </a:txBody>
                  <a:tcPr marL="0" marR="0" marT="0" marB="14400" anchor="ctr">
                    <a:solidFill>
                      <a:srgbClr val="8EB4E3"/>
                    </a:solidFill>
                  </a:tcPr>
                </a:tc>
                <a:extLst>
                  <a:ext uri="{0D108BD9-81ED-4DB2-BD59-A6C34878D82A}">
                    <a16:rowId xmlns:a16="http://schemas.microsoft.com/office/drawing/2014/main" val="10009"/>
                  </a:ext>
                </a:extLst>
              </a:tr>
              <a:tr h="170082">
                <a:tc>
                  <a:txBody>
                    <a:bodyPr/>
                    <a:lstStyle/>
                    <a:p>
                      <a:pPr algn="ctr"/>
                      <a:endParaRPr lang="pt-BR" sz="1400" b="1" noProof="1">
                        <a:latin typeface="Courier"/>
                        <a:cs typeface="Courier"/>
                      </a:endParaRPr>
                    </a:p>
                  </a:txBody>
                  <a:tcPr marL="0" marR="0" marT="0" marB="14400" anchor="ct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solidFill>
                      <a:srgbClr val="EBF1DE"/>
                    </a:solidFill>
                  </a:tcPr>
                </a:tc>
                <a:tc>
                  <a:txBody>
                    <a:bodyPr/>
                    <a:lstStyle/>
                    <a:p>
                      <a:endParaRPr lang="pt-BR" sz="1600" b="1" dirty="0"/>
                    </a:p>
                  </a:txBody>
                  <a:tcPr marL="0" marR="0" marT="0" marB="14400" anchor="ctr"/>
                </a:tc>
                <a:tc>
                  <a:txBody>
                    <a:bodyPr/>
                    <a:lstStyle/>
                    <a:p>
                      <a:endParaRPr lang="pt-BR" sz="1600" b="1" dirty="0"/>
                    </a:p>
                  </a:txBody>
                  <a:tcPr marL="0" marR="0" marT="0" marB="14400" anchor="ct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695067268"/>
              </p:ext>
            </p:extLst>
          </p:nvPr>
        </p:nvGraphicFramePr>
        <p:xfrm>
          <a:off x="1051384" y="5028728"/>
          <a:ext cx="7924620" cy="258240"/>
        </p:xfrm>
        <a:graphic>
          <a:graphicData uri="http://schemas.openxmlformats.org/drawingml/2006/table">
            <a:tbl>
              <a:tblPr>
                <a:tableStyleId>{5C22544A-7EE6-4342-B048-85BDC9FD1C3A}</a:tableStyleId>
              </a:tblPr>
              <a:tblGrid>
                <a:gridCol w="792462">
                  <a:extLst>
                    <a:ext uri="{9D8B030D-6E8A-4147-A177-3AD203B41FA5}">
                      <a16:colId xmlns:a16="http://schemas.microsoft.com/office/drawing/2014/main" val="20000"/>
                    </a:ext>
                  </a:extLst>
                </a:gridCol>
                <a:gridCol w="792462">
                  <a:extLst>
                    <a:ext uri="{9D8B030D-6E8A-4147-A177-3AD203B41FA5}">
                      <a16:colId xmlns:a16="http://schemas.microsoft.com/office/drawing/2014/main" val="20001"/>
                    </a:ext>
                  </a:extLst>
                </a:gridCol>
                <a:gridCol w="792462">
                  <a:extLst>
                    <a:ext uri="{9D8B030D-6E8A-4147-A177-3AD203B41FA5}">
                      <a16:colId xmlns:a16="http://schemas.microsoft.com/office/drawing/2014/main" val="20002"/>
                    </a:ext>
                  </a:extLst>
                </a:gridCol>
                <a:gridCol w="792462">
                  <a:extLst>
                    <a:ext uri="{9D8B030D-6E8A-4147-A177-3AD203B41FA5}">
                      <a16:colId xmlns:a16="http://schemas.microsoft.com/office/drawing/2014/main" val="20003"/>
                    </a:ext>
                  </a:extLst>
                </a:gridCol>
                <a:gridCol w="792462">
                  <a:extLst>
                    <a:ext uri="{9D8B030D-6E8A-4147-A177-3AD203B41FA5}">
                      <a16:colId xmlns:a16="http://schemas.microsoft.com/office/drawing/2014/main" val="20004"/>
                    </a:ext>
                  </a:extLst>
                </a:gridCol>
                <a:gridCol w="792462">
                  <a:extLst>
                    <a:ext uri="{9D8B030D-6E8A-4147-A177-3AD203B41FA5}">
                      <a16:colId xmlns:a16="http://schemas.microsoft.com/office/drawing/2014/main" val="20005"/>
                    </a:ext>
                  </a:extLst>
                </a:gridCol>
                <a:gridCol w="792462">
                  <a:extLst>
                    <a:ext uri="{9D8B030D-6E8A-4147-A177-3AD203B41FA5}">
                      <a16:colId xmlns:a16="http://schemas.microsoft.com/office/drawing/2014/main" val="20006"/>
                    </a:ext>
                  </a:extLst>
                </a:gridCol>
                <a:gridCol w="792462">
                  <a:extLst>
                    <a:ext uri="{9D8B030D-6E8A-4147-A177-3AD203B41FA5}">
                      <a16:colId xmlns:a16="http://schemas.microsoft.com/office/drawing/2014/main" val="20007"/>
                    </a:ext>
                  </a:extLst>
                </a:gridCol>
                <a:gridCol w="792462">
                  <a:extLst>
                    <a:ext uri="{9D8B030D-6E8A-4147-A177-3AD203B41FA5}">
                      <a16:colId xmlns:a16="http://schemas.microsoft.com/office/drawing/2014/main" val="20008"/>
                    </a:ext>
                  </a:extLst>
                </a:gridCol>
                <a:gridCol w="792462">
                  <a:extLst>
                    <a:ext uri="{9D8B030D-6E8A-4147-A177-3AD203B41FA5}">
                      <a16:colId xmlns:a16="http://schemas.microsoft.com/office/drawing/2014/main" val="20009"/>
                    </a:ext>
                  </a:extLst>
                </a:gridCol>
              </a:tblGrid>
              <a:tr h="0">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0</a:t>
                      </a:r>
                    </a:p>
                  </a:txBody>
                  <a:tcPr marL="0" marR="0" marT="0" marB="14400" anchor="ctr">
                    <a:solidFill>
                      <a:srgbClr val="EBF1DE"/>
                    </a:solidFill>
                  </a:tcPr>
                </a:tc>
                <a:tc>
                  <a:txBody>
                    <a:bodyPr/>
                    <a:lstStyle/>
                    <a:p>
                      <a:pPr algn="ctr"/>
                      <a:r>
                        <a:rPr lang="pt-BR" sz="1600" b="1" dirty="0"/>
                        <a:t>1</a:t>
                      </a:r>
                    </a:p>
                  </a:txBody>
                  <a:tcPr marL="0" marR="0" marT="0" marB="14400" anchor="ctr"/>
                </a:tc>
                <a:tc>
                  <a:txBody>
                    <a:bodyPr/>
                    <a:lstStyle/>
                    <a:p>
                      <a:pPr algn="ctr"/>
                      <a:r>
                        <a:rPr lang="pt-BR" sz="1600" b="1" dirty="0"/>
                        <a:t>0</a:t>
                      </a:r>
                    </a:p>
                  </a:txBody>
                  <a:tcPr marL="0" marR="0" marT="0" marB="14400" anchor="ctr"/>
                </a:tc>
                <a:extLst>
                  <a:ext uri="{0D108BD9-81ED-4DB2-BD59-A6C34878D82A}">
                    <a16:rowId xmlns:a16="http://schemas.microsoft.com/office/drawing/2014/main" val="10000"/>
                  </a:ext>
                </a:extLst>
              </a:tr>
            </a:tbl>
          </a:graphicData>
        </a:graphic>
      </p:graphicFrame>
      <p:sp>
        <p:nvSpPr>
          <p:cNvPr id="10" name="Rectangle 9"/>
          <p:cNvSpPr/>
          <p:nvPr/>
        </p:nvSpPr>
        <p:spPr>
          <a:xfrm>
            <a:off x="7432024" y="3293650"/>
            <a:ext cx="753256" cy="523220"/>
          </a:xfrm>
          <a:prstGeom prst="rect">
            <a:avLst/>
          </a:prstGeom>
        </p:spPr>
        <p:txBody>
          <a:bodyPr wrap="none">
            <a:spAutoFit/>
          </a:bodyPr>
          <a:lstStyle/>
          <a:p>
            <a:r>
              <a:rPr lang="pt-BR" sz="2800" b="1" dirty="0"/>
              <a:t>} 10</a:t>
            </a:r>
          </a:p>
        </p:txBody>
      </p:sp>
      <p:sp>
        <p:nvSpPr>
          <p:cNvPr id="11" name="Rectangle 10"/>
          <p:cNvSpPr/>
          <p:nvPr/>
        </p:nvSpPr>
        <p:spPr>
          <a:xfrm>
            <a:off x="7444354" y="4067238"/>
            <a:ext cx="681196" cy="523220"/>
          </a:xfrm>
          <a:prstGeom prst="rect">
            <a:avLst/>
          </a:prstGeom>
        </p:spPr>
        <p:txBody>
          <a:bodyPr wrap="none">
            <a:spAutoFit/>
          </a:bodyPr>
          <a:lstStyle/>
          <a:p>
            <a:r>
              <a:rPr lang="pt-BR" sz="2800" b="1" dirty="0"/>
              <a:t>} -2</a:t>
            </a:r>
          </a:p>
        </p:txBody>
      </p:sp>
      <p:grpSp>
        <p:nvGrpSpPr>
          <p:cNvPr id="14" name="Group 13"/>
          <p:cNvGrpSpPr/>
          <p:nvPr/>
        </p:nvGrpSpPr>
        <p:grpSpPr>
          <a:xfrm>
            <a:off x="1039054" y="5393924"/>
            <a:ext cx="6392970" cy="732919"/>
            <a:chOff x="1039054" y="5393924"/>
            <a:chExt cx="6392970" cy="732919"/>
          </a:xfrm>
        </p:grpSpPr>
        <p:sp>
          <p:nvSpPr>
            <p:cNvPr id="12" name="Left Brace 11"/>
            <p:cNvSpPr/>
            <p:nvPr/>
          </p:nvSpPr>
          <p:spPr>
            <a:xfrm rot="16200000">
              <a:off x="4081418" y="2351560"/>
              <a:ext cx="308242" cy="6392970"/>
            </a:xfrm>
            <a:prstGeom prst="leftBrace">
              <a:avLst>
                <a:gd name="adj1" fmla="val 60333"/>
                <a:gd name="adj2" fmla="val 50000"/>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3" name="Rectangle 12"/>
            <p:cNvSpPr/>
            <p:nvPr/>
          </p:nvSpPr>
          <p:spPr>
            <a:xfrm>
              <a:off x="3737563" y="5603623"/>
              <a:ext cx="984705" cy="523220"/>
            </a:xfrm>
            <a:prstGeom prst="rect">
              <a:avLst/>
            </a:prstGeom>
          </p:spPr>
          <p:txBody>
            <a:bodyPr wrap="square">
              <a:spAutoFit/>
            </a:bodyPr>
            <a:lstStyle/>
            <a:p>
              <a:pPr algn="ctr"/>
              <a:r>
                <a:rPr lang="pt-BR" sz="2800" b="1" dirty="0"/>
                <a:t>0</a:t>
              </a:r>
            </a:p>
          </p:txBody>
        </p:sp>
      </p:grpSp>
      <p:sp>
        <p:nvSpPr>
          <p:cNvPr id="8" name="TextBox 7">
            <a:extLst>
              <a:ext uri="{FF2B5EF4-FFF2-40B4-BE49-F238E27FC236}">
                <a16:creationId xmlns:a16="http://schemas.microsoft.com/office/drawing/2014/main" id="{DB0F8E96-704D-74C1-DA04-FF3C9AB81FB8}"/>
              </a:ext>
            </a:extLst>
          </p:cNvPr>
          <p:cNvSpPr txBox="1"/>
          <p:nvPr/>
        </p:nvSpPr>
        <p:spPr>
          <a:xfrm>
            <a:off x="808893" y="6498826"/>
            <a:ext cx="4572000" cy="307777"/>
          </a:xfrm>
          <a:prstGeom prst="rect">
            <a:avLst/>
          </a:prstGeom>
          <a:noFill/>
        </p:spPr>
        <p:txBody>
          <a:bodyPr wrap="square">
            <a:spAutoFit/>
          </a:bodyPr>
          <a:lstStyle/>
          <a:p>
            <a:r>
              <a:rPr lang="pt-BR" sz="1400" dirty="0" err="1">
                <a:solidFill>
                  <a:srgbClr val="FF0000"/>
                </a:solidFill>
              </a:rPr>
              <a:t>Obs</a:t>
            </a:r>
            <a:r>
              <a:rPr lang="pt-BR" sz="1400" dirty="0">
                <a:solidFill>
                  <a:srgbClr val="FF0000"/>
                </a:solidFill>
              </a:rPr>
              <a:t>: Exemplo com 8 bits</a:t>
            </a:r>
          </a:p>
        </p:txBody>
      </p:sp>
    </p:spTree>
    <p:custDataLst>
      <p:tags r:id="rId1"/>
    </p:custDataLst>
    <p:extLst>
      <p:ext uri="{BB962C8B-B14F-4D97-AF65-F5344CB8AC3E}">
        <p14:creationId xmlns:p14="http://schemas.microsoft.com/office/powerpoint/2010/main" val="475993518"/>
      </p:ext>
    </p:extLst>
  </p:cSld>
  <p:clrMapOvr>
    <a:masterClrMapping/>
  </p:clrMapOvr>
  <mc:AlternateContent xmlns:mc="http://schemas.openxmlformats.org/markup-compatibility/2006" xmlns:p14="http://schemas.microsoft.com/office/powerpoint/2010/main">
    <mc:Choice Requires="p14">
      <p:transition spd="slow" p14:dur="1100" advTm="21566">
        <p14:switch dir="r"/>
      </p:transition>
    </mc:Choice>
    <mc:Fallback xmlns="">
      <p:transition spd="slow" advTm="2156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7483</a:t>
            </a:r>
          </a:p>
        </p:txBody>
      </p:sp>
      <p:sp>
        <p:nvSpPr>
          <p:cNvPr id="3" name="Content Placeholder 2"/>
          <p:cNvSpPr>
            <a:spLocks noGrp="1"/>
          </p:cNvSpPr>
          <p:nvPr>
            <p:ph idx="1"/>
          </p:nvPr>
        </p:nvSpPr>
        <p:spPr/>
        <p:txBody>
          <a:bodyPr>
            <a:normAutofit/>
          </a:bodyPr>
          <a:lstStyle/>
          <a:p>
            <a:r>
              <a:rPr lang="pt-BR" sz="2200" dirty="0"/>
              <a:t>O 7483 é um circuito integrado somador de 4-bits com </a:t>
            </a:r>
            <a:r>
              <a:rPr lang="pt-BR" sz="2200" i="1" dirty="0"/>
              <a:t>carry lookahead</a:t>
            </a:r>
            <a:r>
              <a:rPr lang="pt-BR" sz="2200" dirty="0"/>
              <a:t>, tendo </a:t>
            </a:r>
            <a:r>
              <a:rPr lang="pt-BR" sz="2200" i="1" dirty="0"/>
              <a:t>carry</a:t>
            </a:r>
            <a:r>
              <a:rPr lang="pt-BR" sz="2200" dirty="0"/>
              <a:t> de entrada e saída.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19</a:t>
            </a:fld>
            <a:endParaRPr lang="pt-BR" dirty="0"/>
          </a:p>
        </p:txBody>
      </p:sp>
      <p:sp>
        <p:nvSpPr>
          <p:cNvPr id="6" name="Rectangle 5"/>
          <p:cNvSpPr/>
          <p:nvPr/>
        </p:nvSpPr>
        <p:spPr>
          <a:xfrm>
            <a:off x="3906196" y="5599171"/>
            <a:ext cx="912630" cy="523220"/>
          </a:xfrm>
          <a:prstGeom prst="rect">
            <a:avLst/>
          </a:prstGeom>
        </p:spPr>
        <p:txBody>
          <a:bodyPr wrap="none">
            <a:spAutoFit/>
          </a:bodyPr>
          <a:lstStyle/>
          <a:p>
            <a:r>
              <a:rPr lang="pt-BR" sz="2800" b="1" dirty="0"/>
              <a:t>7483</a:t>
            </a:r>
          </a:p>
        </p:txBody>
      </p:sp>
      <p:pic>
        <p:nvPicPr>
          <p:cNvPr id="7" name="Picture 6" descr="comb50.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983" y="4176749"/>
            <a:ext cx="2749082" cy="1936397"/>
          </a:xfrm>
          <a:prstGeom prst="rect">
            <a:avLst/>
          </a:prstGeom>
        </p:spPr>
      </p:pic>
      <p:pic>
        <p:nvPicPr>
          <p:cNvPr id="8" name="Picture 7" descr="31iGrrx+XXL._SY355_.jp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54264" y="2449138"/>
            <a:ext cx="1874272" cy="1874272"/>
          </a:xfrm>
          <a:prstGeom prst="rect">
            <a:avLst/>
          </a:prstGeom>
        </p:spPr>
      </p:pic>
      <p:pic>
        <p:nvPicPr>
          <p:cNvPr id="9" name="Picture 8"/>
          <p:cNvPicPr>
            <a:picLocks noChangeAspect="1"/>
          </p:cNvPicPr>
          <p:nvPr/>
        </p:nvPicPr>
        <p:blipFill>
          <a:blip r:embed="rId5"/>
          <a:stretch>
            <a:fillRect/>
          </a:stretch>
        </p:blipFill>
        <p:spPr>
          <a:xfrm>
            <a:off x="725688" y="2449138"/>
            <a:ext cx="5401295" cy="3953036"/>
          </a:xfrm>
          <a:prstGeom prst="rect">
            <a:avLst/>
          </a:prstGeom>
        </p:spPr>
      </p:pic>
    </p:spTree>
    <p:extLst>
      <p:ext uri="{BB962C8B-B14F-4D97-AF65-F5344CB8AC3E}">
        <p14:creationId xmlns:p14="http://schemas.microsoft.com/office/powerpoint/2010/main" val="1170245019"/>
      </p:ext>
    </p:extLst>
  </p:cSld>
  <p:clrMapOvr>
    <a:masterClrMapping/>
  </p:clrMapOvr>
  <mc:AlternateContent xmlns:mc="http://schemas.openxmlformats.org/markup-compatibility/2006" xmlns:p14="http://schemas.microsoft.com/office/powerpoint/2010/main">
    <mc:Choice Requires="p14">
      <p:transition spd="slow" p14:dur="1200" advTm="20899">
        <p14:prism/>
      </p:transition>
    </mc:Choice>
    <mc:Fallback xmlns="">
      <p:transition spd="slow" advTm="20899">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pt-BR" dirty="0"/>
              <a:t>74181</a:t>
            </a:r>
          </a:p>
        </p:txBody>
      </p:sp>
      <p:sp>
        <p:nvSpPr>
          <p:cNvPr id="3" name="Content Placeholder 2"/>
          <p:cNvSpPr>
            <a:spLocks noGrp="1"/>
          </p:cNvSpPr>
          <p:nvPr>
            <p:ph idx="1"/>
          </p:nvPr>
        </p:nvSpPr>
        <p:spPr>
          <a:xfrm>
            <a:off x="457200" y="1602768"/>
            <a:ext cx="8506477" cy="1516466"/>
          </a:xfrm>
        </p:spPr>
        <p:txBody>
          <a:bodyPr>
            <a:noAutofit/>
          </a:bodyPr>
          <a:lstStyle/>
          <a:p>
            <a:pPr>
              <a:spcBef>
                <a:spcPts val="0"/>
              </a:spcBef>
            </a:pPr>
            <a:r>
              <a:rPr lang="pt-BR" dirty="0"/>
              <a:t>O 74181 foi utilizado na implementação da ALU de diversos computadores, como o PDP-11 e o Nova, sendo a primeira unidade lógica aritmética em um único chip, equivalente a 75 portas lógicas.</a:t>
            </a:r>
          </a:p>
          <a:p>
            <a:endParaRPr lang="pt-BR" dirty="0"/>
          </a:p>
        </p:txBody>
      </p:sp>
      <p:sp>
        <p:nvSpPr>
          <p:cNvPr id="11" name="Text Placeholder 10"/>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20</a:t>
            </a:fld>
            <a:endParaRPr lang="pt-BR" dirty="0"/>
          </a:p>
        </p:txBody>
      </p:sp>
      <p:pic>
        <p:nvPicPr>
          <p:cNvPr id="7" name="Picture 6" descr="SN74LS181.jpg"/>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29605" y="480830"/>
            <a:ext cx="2503173" cy="1466144"/>
          </a:xfrm>
          <a:prstGeom prst="rect">
            <a:avLst/>
          </a:prstGeom>
        </p:spPr>
      </p:pic>
      <p:pic>
        <p:nvPicPr>
          <p:cNvPr id="13" name="Picture 12"/>
          <p:cNvPicPr>
            <a:picLocks noChangeAspect="1"/>
          </p:cNvPicPr>
          <p:nvPr/>
        </p:nvPicPr>
        <p:blipFill>
          <a:blip r:embed="rId4"/>
          <a:stretch>
            <a:fillRect/>
          </a:stretch>
        </p:blipFill>
        <p:spPr>
          <a:xfrm>
            <a:off x="94432" y="2695305"/>
            <a:ext cx="3393067" cy="2330179"/>
          </a:xfrm>
          <a:prstGeom prst="rect">
            <a:avLst/>
          </a:prstGeom>
        </p:spPr>
      </p:pic>
      <p:pic>
        <p:nvPicPr>
          <p:cNvPr id="14" name="Picture 13" descr="Screen Shot 2016-03-05 at 6.50.18 A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6934" y="3020602"/>
            <a:ext cx="5677746" cy="3189697"/>
          </a:xfrm>
          <a:prstGeom prst="rect">
            <a:avLst/>
          </a:prstGeom>
        </p:spPr>
      </p:pic>
      <p:grpSp>
        <p:nvGrpSpPr>
          <p:cNvPr id="21" name="Group 20"/>
          <p:cNvGrpSpPr/>
          <p:nvPr/>
        </p:nvGrpSpPr>
        <p:grpSpPr>
          <a:xfrm>
            <a:off x="632565" y="5062471"/>
            <a:ext cx="2285745" cy="1688128"/>
            <a:chOff x="657225" y="5062471"/>
            <a:chExt cx="2285745" cy="1688128"/>
          </a:xfrm>
        </p:grpSpPr>
        <p:pic>
          <p:nvPicPr>
            <p:cNvPr id="16" name="Picture 15" descr="diagrama de conexion del 74181.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7225" y="5062471"/>
              <a:ext cx="2285745" cy="1667841"/>
            </a:xfrm>
            <a:prstGeom prst="rect">
              <a:avLst/>
            </a:prstGeom>
          </p:spPr>
        </p:pic>
        <p:sp>
          <p:nvSpPr>
            <p:cNvPr id="17" name="Rectangle 16"/>
            <p:cNvSpPr/>
            <p:nvPr/>
          </p:nvSpPr>
          <p:spPr>
            <a:xfrm>
              <a:off x="1286126" y="5071252"/>
              <a:ext cx="320632" cy="107722"/>
            </a:xfrm>
            <a:prstGeom prst="rect">
              <a:avLst/>
            </a:prstGeom>
            <a:solidFill>
              <a:srgbClr val="FFFFFF"/>
            </a:solidFill>
          </p:spPr>
          <p:txBody>
            <a:bodyPr wrap="none" lIns="0" tIns="0" rIns="0" bIns="0" anchor="ctr" anchorCtr="0">
              <a:spAutoFit/>
            </a:bodyPr>
            <a:lstStyle/>
            <a:p>
              <a:pPr algn="ctr"/>
              <a:r>
                <a:rPr lang="pt-BR" sz="700" dirty="0"/>
                <a:t>Entradas</a:t>
              </a:r>
            </a:p>
          </p:txBody>
        </p:sp>
        <p:sp>
          <p:nvSpPr>
            <p:cNvPr id="18" name="Rectangle 17"/>
            <p:cNvSpPr/>
            <p:nvPr/>
          </p:nvSpPr>
          <p:spPr>
            <a:xfrm>
              <a:off x="2293053" y="5071252"/>
              <a:ext cx="230832" cy="107722"/>
            </a:xfrm>
            <a:prstGeom prst="rect">
              <a:avLst/>
            </a:prstGeom>
            <a:solidFill>
              <a:srgbClr val="FFFFFF"/>
            </a:solidFill>
          </p:spPr>
          <p:txBody>
            <a:bodyPr wrap="none" lIns="0" tIns="0" rIns="0" bIns="0" anchor="ctr" anchorCtr="0">
              <a:spAutoFit/>
            </a:bodyPr>
            <a:lstStyle/>
            <a:p>
              <a:pPr algn="ctr"/>
              <a:r>
                <a:rPr lang="pt-BR" sz="700" dirty="0"/>
                <a:t>Saídas</a:t>
              </a:r>
            </a:p>
          </p:txBody>
        </p:sp>
        <p:sp>
          <p:nvSpPr>
            <p:cNvPr id="19" name="Rectangle 18"/>
            <p:cNvSpPr/>
            <p:nvPr/>
          </p:nvSpPr>
          <p:spPr>
            <a:xfrm>
              <a:off x="1282951" y="6642877"/>
              <a:ext cx="320632" cy="107722"/>
            </a:xfrm>
            <a:prstGeom prst="rect">
              <a:avLst/>
            </a:prstGeom>
            <a:solidFill>
              <a:srgbClr val="FFFFFF"/>
            </a:solidFill>
          </p:spPr>
          <p:txBody>
            <a:bodyPr wrap="none" lIns="0" tIns="0" rIns="0" bIns="0" anchor="ctr" anchorCtr="0">
              <a:spAutoFit/>
            </a:bodyPr>
            <a:lstStyle/>
            <a:p>
              <a:pPr algn="ctr"/>
              <a:r>
                <a:rPr lang="pt-BR" sz="700" dirty="0"/>
                <a:t>Entradas</a:t>
              </a:r>
            </a:p>
          </p:txBody>
        </p:sp>
        <p:sp>
          <p:nvSpPr>
            <p:cNvPr id="20" name="Rectangle 19"/>
            <p:cNvSpPr/>
            <p:nvPr/>
          </p:nvSpPr>
          <p:spPr>
            <a:xfrm>
              <a:off x="2289878" y="6642877"/>
              <a:ext cx="230832" cy="107722"/>
            </a:xfrm>
            <a:prstGeom prst="rect">
              <a:avLst/>
            </a:prstGeom>
            <a:solidFill>
              <a:srgbClr val="FFFFFF"/>
            </a:solidFill>
          </p:spPr>
          <p:txBody>
            <a:bodyPr wrap="none" lIns="0" tIns="0" rIns="0" bIns="0" anchor="ctr" anchorCtr="0">
              <a:spAutoFit/>
            </a:bodyPr>
            <a:lstStyle/>
            <a:p>
              <a:pPr algn="ctr"/>
              <a:r>
                <a:rPr lang="pt-BR" sz="700" dirty="0"/>
                <a:t>Saídas</a:t>
              </a:r>
            </a:p>
          </p:txBody>
        </p:sp>
      </p:grpSp>
    </p:spTree>
    <p:extLst>
      <p:ext uri="{BB962C8B-B14F-4D97-AF65-F5344CB8AC3E}">
        <p14:creationId xmlns:p14="http://schemas.microsoft.com/office/powerpoint/2010/main" val="963048599"/>
      </p:ext>
    </p:extLst>
  </p:cSld>
  <p:clrMapOvr>
    <a:masterClrMapping/>
  </p:clrMapOvr>
  <mc:AlternateContent xmlns:mc="http://schemas.openxmlformats.org/markup-compatibility/2006" xmlns:p14="http://schemas.microsoft.com/office/powerpoint/2010/main">
    <mc:Choice Requires="p14">
      <p:transition spd="slow" p14:dur="1200" advTm="14887">
        <p14:prism/>
      </p:transition>
    </mc:Choice>
    <mc:Fallback xmlns="">
      <p:transition spd="slow" advTm="14887">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Multiplicação Binária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21</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991914308"/>
              </p:ext>
            </p:extLst>
          </p:nvPr>
        </p:nvGraphicFramePr>
        <p:xfrm>
          <a:off x="161924" y="1883743"/>
          <a:ext cx="6442072" cy="561340"/>
        </p:xfrm>
        <a:graphic>
          <a:graphicData uri="http://schemas.openxmlformats.org/drawingml/2006/table">
            <a:tbl>
              <a:tblPr>
                <a:tableStyleId>{5C22544A-7EE6-4342-B048-85BDC9FD1C3A}</a:tableStyleId>
              </a:tblPr>
              <a:tblGrid>
                <a:gridCol w="805259">
                  <a:extLst>
                    <a:ext uri="{9D8B030D-6E8A-4147-A177-3AD203B41FA5}">
                      <a16:colId xmlns:a16="http://schemas.microsoft.com/office/drawing/2014/main" val="20000"/>
                    </a:ext>
                  </a:extLst>
                </a:gridCol>
                <a:gridCol w="805259">
                  <a:extLst>
                    <a:ext uri="{9D8B030D-6E8A-4147-A177-3AD203B41FA5}">
                      <a16:colId xmlns:a16="http://schemas.microsoft.com/office/drawing/2014/main" val="20001"/>
                    </a:ext>
                  </a:extLst>
                </a:gridCol>
                <a:gridCol w="805259">
                  <a:extLst>
                    <a:ext uri="{9D8B030D-6E8A-4147-A177-3AD203B41FA5}">
                      <a16:colId xmlns:a16="http://schemas.microsoft.com/office/drawing/2014/main" val="20002"/>
                    </a:ext>
                  </a:extLst>
                </a:gridCol>
                <a:gridCol w="805259">
                  <a:extLst>
                    <a:ext uri="{9D8B030D-6E8A-4147-A177-3AD203B41FA5}">
                      <a16:colId xmlns:a16="http://schemas.microsoft.com/office/drawing/2014/main" val="20003"/>
                    </a:ext>
                  </a:extLst>
                </a:gridCol>
                <a:gridCol w="805259">
                  <a:extLst>
                    <a:ext uri="{9D8B030D-6E8A-4147-A177-3AD203B41FA5}">
                      <a16:colId xmlns:a16="http://schemas.microsoft.com/office/drawing/2014/main" val="20004"/>
                    </a:ext>
                  </a:extLst>
                </a:gridCol>
                <a:gridCol w="805259">
                  <a:extLst>
                    <a:ext uri="{9D8B030D-6E8A-4147-A177-3AD203B41FA5}">
                      <a16:colId xmlns:a16="http://schemas.microsoft.com/office/drawing/2014/main" val="20005"/>
                    </a:ext>
                  </a:extLst>
                </a:gridCol>
                <a:gridCol w="805259">
                  <a:extLst>
                    <a:ext uri="{9D8B030D-6E8A-4147-A177-3AD203B41FA5}">
                      <a16:colId xmlns:a16="http://schemas.microsoft.com/office/drawing/2014/main" val="20006"/>
                    </a:ext>
                  </a:extLst>
                </a:gridCol>
                <a:gridCol w="805259">
                  <a:extLst>
                    <a:ext uri="{9D8B030D-6E8A-4147-A177-3AD203B41FA5}">
                      <a16:colId xmlns:a16="http://schemas.microsoft.com/office/drawing/2014/main" val="20007"/>
                    </a:ext>
                  </a:extLst>
                </a:gridCol>
              </a:tblGrid>
              <a:tr h="203200">
                <a:tc>
                  <a:txBody>
                    <a:bodyPr/>
                    <a:lstStyle/>
                    <a:p>
                      <a:pPr algn="ctr" fontAlgn="b"/>
                      <a:endParaRPr lang="en-US" sz="1800" b="0" i="0" u="none" strike="noStrike" dirty="0">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ctr" fontAlgn="b"/>
                      <a:r>
                        <a:rPr lang="en-US" sz="1800" u="none" strike="noStrike">
                          <a:effectLst/>
                        </a:rPr>
                        <a:t>a3</a:t>
                      </a:r>
                      <a:endParaRPr lang="en-US" sz="1800" b="0" i="0" u="none" strike="noStrike">
                        <a:solidFill>
                          <a:srgbClr val="000000"/>
                        </a:solidFill>
                        <a:effectLst/>
                        <a:latin typeface="Calibri" charset="0"/>
                      </a:endParaRPr>
                    </a:p>
                  </a:txBody>
                  <a:tcPr marL="6350" marR="6350" marT="6350" marB="0" anchor="b">
                    <a:noFill/>
                  </a:tcPr>
                </a:tc>
                <a:tc>
                  <a:txBody>
                    <a:bodyPr/>
                    <a:lstStyle/>
                    <a:p>
                      <a:pPr algn="ctr" fontAlgn="b"/>
                      <a:r>
                        <a:rPr lang="is-IS" sz="1800" u="none" strike="noStrike">
                          <a:effectLst/>
                        </a:rPr>
                        <a:t>a2</a:t>
                      </a:r>
                      <a:endParaRPr lang="is-IS" sz="1800" b="0" i="0" u="none" strike="noStrike">
                        <a:solidFill>
                          <a:srgbClr val="000000"/>
                        </a:solidFill>
                        <a:effectLst/>
                        <a:latin typeface="Calibri" charset="0"/>
                      </a:endParaRPr>
                    </a:p>
                  </a:txBody>
                  <a:tcPr marL="6350" marR="6350" marT="6350" marB="0" anchor="b">
                    <a:noFill/>
                  </a:tcPr>
                </a:tc>
                <a:tc>
                  <a:txBody>
                    <a:bodyPr/>
                    <a:lstStyle/>
                    <a:p>
                      <a:pPr algn="ctr" fontAlgn="b"/>
                      <a:r>
                        <a:rPr lang="it-IT" sz="1800" u="none" strike="noStrike">
                          <a:effectLst/>
                        </a:rPr>
                        <a:t>a1</a:t>
                      </a:r>
                      <a:endParaRPr lang="it-IT" sz="1800" b="0" i="0" u="none" strike="noStrike">
                        <a:solidFill>
                          <a:srgbClr val="000000"/>
                        </a:solidFill>
                        <a:effectLst/>
                        <a:latin typeface="Calibri" charset="0"/>
                      </a:endParaRPr>
                    </a:p>
                  </a:txBody>
                  <a:tcPr marL="6350" marR="6350" marT="6350" marB="0" anchor="b">
                    <a:noFill/>
                  </a:tcPr>
                </a:tc>
                <a:tc>
                  <a:txBody>
                    <a:bodyPr/>
                    <a:lstStyle/>
                    <a:p>
                      <a:pPr algn="ctr" fontAlgn="b"/>
                      <a:r>
                        <a:rPr lang="en-US" sz="1800" u="none" strike="noStrike">
                          <a:effectLst/>
                        </a:rPr>
                        <a:t>a0</a:t>
                      </a:r>
                      <a:endParaRPr lang="en-US" sz="1800" b="0" i="0" u="none" strike="noStrike">
                        <a:solidFill>
                          <a:srgbClr val="000000"/>
                        </a:solidFill>
                        <a:effectLst/>
                        <a:latin typeface="Calibri" charset="0"/>
                      </a:endParaRPr>
                    </a:p>
                  </a:txBody>
                  <a:tcPr marL="6350" marR="6350" marT="6350" marB="0" anchor="b">
                    <a:noFill/>
                  </a:tcPr>
                </a:tc>
                <a:extLst>
                  <a:ext uri="{0D108BD9-81ED-4DB2-BD59-A6C34878D82A}">
                    <a16:rowId xmlns:a16="http://schemas.microsoft.com/office/drawing/2014/main" val="10000"/>
                  </a:ext>
                </a:extLst>
              </a:tr>
              <a:tr h="203200">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r" fontAlgn="b"/>
                      <a:r>
                        <a:rPr lang="mr-IN" sz="1800" u="none" strike="noStrike" dirty="0">
                          <a:effectLst/>
                        </a:rPr>
                        <a:t>*</a:t>
                      </a:r>
                      <a:endParaRPr lang="mr-IN" sz="1800" b="0" i="0" u="none" strike="noStrike" dirty="0">
                        <a:solidFill>
                          <a:srgbClr val="000000"/>
                        </a:solidFill>
                        <a:effectLst/>
                        <a:latin typeface="Calibri" charset="0"/>
                      </a:endParaRPr>
                    </a:p>
                  </a:txBody>
                  <a:tcPr marL="6350" marR="6350" marT="6350" marB="0" anchor="b">
                    <a:noFill/>
                  </a:tcPr>
                </a:tc>
                <a:tc>
                  <a:txBody>
                    <a:bodyPr/>
                    <a:lstStyle/>
                    <a:p>
                      <a:pPr algn="ctr" fontAlgn="b"/>
                      <a:r>
                        <a:rPr lang="en-US" sz="1800" u="none" strike="noStrike">
                          <a:effectLst/>
                        </a:rPr>
                        <a:t>b3</a:t>
                      </a:r>
                      <a:endParaRPr lang="en-US" sz="1800" b="0" i="0" u="none" strike="noStrike">
                        <a:solidFill>
                          <a:srgbClr val="000000"/>
                        </a:solidFill>
                        <a:effectLst/>
                        <a:latin typeface="Calibri" charset="0"/>
                      </a:endParaRPr>
                    </a:p>
                  </a:txBody>
                  <a:tcPr marL="6350" marR="6350" marT="6350" marB="0" anchor="b">
                    <a:lnB w="12700" cap="flat" cmpd="sng" algn="ctr">
                      <a:solidFill>
                        <a:schemeClr val="tx1"/>
                      </a:solidFill>
                      <a:prstDash val="solid"/>
                      <a:round/>
                      <a:headEnd type="none" w="med" len="med"/>
                      <a:tailEnd type="none" w="med" len="med"/>
                    </a:lnB>
                    <a:noFill/>
                  </a:tcPr>
                </a:tc>
                <a:tc>
                  <a:txBody>
                    <a:bodyPr/>
                    <a:lstStyle/>
                    <a:p>
                      <a:pPr algn="ctr" fontAlgn="b"/>
                      <a:r>
                        <a:rPr lang="is-IS" sz="1800" u="none" strike="noStrike">
                          <a:effectLst/>
                        </a:rPr>
                        <a:t>b2</a:t>
                      </a:r>
                      <a:endParaRPr lang="is-IS" sz="1800" b="0" i="0" u="none" strike="noStrike">
                        <a:solidFill>
                          <a:srgbClr val="000000"/>
                        </a:solidFill>
                        <a:effectLst/>
                        <a:latin typeface="Calibri" charset="0"/>
                      </a:endParaRPr>
                    </a:p>
                  </a:txBody>
                  <a:tcPr marL="6350" marR="6350" marT="6350" marB="0" anchor="b">
                    <a:lnB w="12700" cap="flat" cmpd="sng" algn="ctr">
                      <a:solidFill>
                        <a:schemeClr val="tx1"/>
                      </a:solidFill>
                      <a:prstDash val="solid"/>
                      <a:round/>
                      <a:headEnd type="none" w="med" len="med"/>
                      <a:tailEnd type="none" w="med" len="med"/>
                    </a:lnB>
                    <a:noFill/>
                  </a:tcPr>
                </a:tc>
                <a:tc>
                  <a:txBody>
                    <a:bodyPr/>
                    <a:lstStyle/>
                    <a:p>
                      <a:pPr algn="ctr" fontAlgn="b"/>
                      <a:r>
                        <a:rPr lang="en-US" sz="1800" u="none" strike="noStrike">
                          <a:effectLst/>
                        </a:rPr>
                        <a:t>b1</a:t>
                      </a:r>
                      <a:endParaRPr lang="en-US" sz="1800" b="0" i="0" u="none" strike="noStrike">
                        <a:solidFill>
                          <a:srgbClr val="000000"/>
                        </a:solidFill>
                        <a:effectLst/>
                        <a:latin typeface="Calibri" charset="0"/>
                      </a:endParaRPr>
                    </a:p>
                  </a:txBody>
                  <a:tcPr marL="6350" marR="6350" marT="6350" marB="0" anchor="b">
                    <a:lnB w="12700" cap="flat" cmpd="sng" algn="ctr">
                      <a:solidFill>
                        <a:schemeClr val="tx1"/>
                      </a:solidFill>
                      <a:prstDash val="solid"/>
                      <a:round/>
                      <a:headEnd type="none" w="med" len="med"/>
                      <a:tailEnd type="none" w="med" len="med"/>
                    </a:lnB>
                    <a:noFill/>
                  </a:tcPr>
                </a:tc>
                <a:tc>
                  <a:txBody>
                    <a:bodyPr/>
                    <a:lstStyle/>
                    <a:p>
                      <a:pPr algn="ctr" fontAlgn="b"/>
                      <a:r>
                        <a:rPr lang="en-US" sz="1800" u="none" strike="noStrike" dirty="0">
                          <a:effectLst/>
                        </a:rPr>
                        <a:t>b0</a:t>
                      </a:r>
                      <a:endParaRPr lang="en-US" sz="1800" b="0" i="0" u="none" strike="noStrike" dirty="0">
                        <a:solidFill>
                          <a:srgbClr val="000000"/>
                        </a:solidFill>
                        <a:effectLst/>
                        <a:latin typeface="Calibri" charset="0"/>
                      </a:endParaRPr>
                    </a:p>
                  </a:txBody>
                  <a:tcPr marL="6350" marR="6350" marT="6350"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18784234"/>
              </p:ext>
            </p:extLst>
          </p:nvPr>
        </p:nvGraphicFramePr>
        <p:xfrm>
          <a:off x="161924" y="2445083"/>
          <a:ext cx="6442072" cy="1122680"/>
        </p:xfrm>
        <a:graphic>
          <a:graphicData uri="http://schemas.openxmlformats.org/drawingml/2006/table">
            <a:tbl>
              <a:tblPr>
                <a:tableStyleId>{5C22544A-7EE6-4342-B048-85BDC9FD1C3A}</a:tableStyleId>
              </a:tblPr>
              <a:tblGrid>
                <a:gridCol w="805259">
                  <a:extLst>
                    <a:ext uri="{9D8B030D-6E8A-4147-A177-3AD203B41FA5}">
                      <a16:colId xmlns:a16="http://schemas.microsoft.com/office/drawing/2014/main" val="20000"/>
                    </a:ext>
                  </a:extLst>
                </a:gridCol>
                <a:gridCol w="805259">
                  <a:extLst>
                    <a:ext uri="{9D8B030D-6E8A-4147-A177-3AD203B41FA5}">
                      <a16:colId xmlns:a16="http://schemas.microsoft.com/office/drawing/2014/main" val="20001"/>
                    </a:ext>
                  </a:extLst>
                </a:gridCol>
                <a:gridCol w="805259">
                  <a:extLst>
                    <a:ext uri="{9D8B030D-6E8A-4147-A177-3AD203B41FA5}">
                      <a16:colId xmlns:a16="http://schemas.microsoft.com/office/drawing/2014/main" val="20002"/>
                    </a:ext>
                  </a:extLst>
                </a:gridCol>
                <a:gridCol w="805259">
                  <a:extLst>
                    <a:ext uri="{9D8B030D-6E8A-4147-A177-3AD203B41FA5}">
                      <a16:colId xmlns:a16="http://schemas.microsoft.com/office/drawing/2014/main" val="20003"/>
                    </a:ext>
                  </a:extLst>
                </a:gridCol>
                <a:gridCol w="805259">
                  <a:extLst>
                    <a:ext uri="{9D8B030D-6E8A-4147-A177-3AD203B41FA5}">
                      <a16:colId xmlns:a16="http://schemas.microsoft.com/office/drawing/2014/main" val="20004"/>
                    </a:ext>
                  </a:extLst>
                </a:gridCol>
                <a:gridCol w="805259">
                  <a:extLst>
                    <a:ext uri="{9D8B030D-6E8A-4147-A177-3AD203B41FA5}">
                      <a16:colId xmlns:a16="http://schemas.microsoft.com/office/drawing/2014/main" val="20005"/>
                    </a:ext>
                  </a:extLst>
                </a:gridCol>
                <a:gridCol w="805259">
                  <a:extLst>
                    <a:ext uri="{9D8B030D-6E8A-4147-A177-3AD203B41FA5}">
                      <a16:colId xmlns:a16="http://schemas.microsoft.com/office/drawing/2014/main" val="20006"/>
                    </a:ext>
                  </a:extLst>
                </a:gridCol>
                <a:gridCol w="805259">
                  <a:extLst>
                    <a:ext uri="{9D8B030D-6E8A-4147-A177-3AD203B41FA5}">
                      <a16:colId xmlns:a16="http://schemas.microsoft.com/office/drawing/2014/main" val="20007"/>
                    </a:ext>
                  </a:extLst>
                </a:gridCol>
              </a:tblGrid>
              <a:tr h="203200">
                <a:tc>
                  <a:txBody>
                    <a:bodyPr/>
                    <a:lstStyle/>
                    <a:p>
                      <a:pPr algn="ctr" fontAlgn="b"/>
                      <a:endParaRPr lang="en-US" sz="1800" b="0" i="0" u="none" strike="noStrike" dirty="0">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noFill/>
                  </a:tcPr>
                </a:tc>
                <a:tc>
                  <a:txBody>
                    <a:bodyPr/>
                    <a:lstStyle/>
                    <a:p>
                      <a:pPr algn="ctr" fontAlgn="b"/>
                      <a:r>
                        <a:rPr lang="mr-IN" sz="1800" u="none" strike="noStrike" dirty="0">
                          <a:effectLst/>
                        </a:rPr>
                        <a:t>a3*b0</a:t>
                      </a:r>
                      <a:endParaRPr lang="mr-IN" sz="1800" b="0" i="0" u="none" strike="noStrike" dirty="0">
                        <a:solidFill>
                          <a:srgbClr val="000000"/>
                        </a:solidFill>
                        <a:effectLst/>
                        <a:latin typeface="Calibri" charset="0"/>
                      </a:endParaRPr>
                    </a:p>
                  </a:txBody>
                  <a:tcPr marL="6350" marR="6350" marT="6350" marB="0" anchor="b">
                    <a:lnT w="12700" cap="flat" cmpd="sng" algn="ctr">
                      <a:solidFill>
                        <a:schemeClr val="tx1"/>
                      </a:solidFill>
                      <a:prstDash val="solid"/>
                      <a:round/>
                      <a:headEnd type="none" w="med" len="med"/>
                      <a:tailEnd type="none" w="med" len="med"/>
                    </a:lnT>
                    <a:noFill/>
                  </a:tcPr>
                </a:tc>
                <a:tc>
                  <a:txBody>
                    <a:bodyPr/>
                    <a:lstStyle/>
                    <a:p>
                      <a:pPr algn="ctr" fontAlgn="b"/>
                      <a:r>
                        <a:rPr lang="mr-IN" sz="1800" u="none" strike="noStrike" dirty="0">
                          <a:effectLst/>
                        </a:rPr>
                        <a:t>a2*b0</a:t>
                      </a:r>
                      <a:endParaRPr lang="mr-IN" sz="1800" b="0" i="0" u="none" strike="noStrike" dirty="0">
                        <a:solidFill>
                          <a:srgbClr val="000000"/>
                        </a:solidFill>
                        <a:effectLst/>
                        <a:latin typeface="Calibri" charset="0"/>
                      </a:endParaRPr>
                    </a:p>
                  </a:txBody>
                  <a:tcPr marL="6350" marR="6350" marT="6350" marB="0" anchor="b">
                    <a:lnT w="12700" cap="flat" cmpd="sng" algn="ctr">
                      <a:solidFill>
                        <a:schemeClr val="tx1"/>
                      </a:solidFill>
                      <a:prstDash val="solid"/>
                      <a:round/>
                      <a:headEnd type="none" w="med" len="med"/>
                      <a:tailEnd type="none" w="med" len="med"/>
                    </a:lnT>
                    <a:noFill/>
                  </a:tcPr>
                </a:tc>
                <a:tc>
                  <a:txBody>
                    <a:bodyPr/>
                    <a:lstStyle/>
                    <a:p>
                      <a:pPr algn="ctr" fontAlgn="b"/>
                      <a:r>
                        <a:rPr lang="mr-IN" sz="1800" u="none" strike="noStrike" dirty="0">
                          <a:effectLst/>
                        </a:rPr>
                        <a:t>a1*b0</a:t>
                      </a:r>
                      <a:endParaRPr lang="mr-IN" sz="1800" b="0" i="0" u="none" strike="noStrike" dirty="0">
                        <a:solidFill>
                          <a:srgbClr val="000000"/>
                        </a:solidFill>
                        <a:effectLst/>
                        <a:latin typeface="Calibri" charset="0"/>
                      </a:endParaRPr>
                    </a:p>
                  </a:txBody>
                  <a:tcPr marL="6350" marR="6350" marT="6350" marB="0" anchor="b">
                    <a:lnT w="12700" cap="flat" cmpd="sng" algn="ctr">
                      <a:solidFill>
                        <a:schemeClr val="tx1"/>
                      </a:solidFill>
                      <a:prstDash val="solid"/>
                      <a:round/>
                      <a:headEnd type="none" w="med" len="med"/>
                      <a:tailEnd type="none" w="med" len="med"/>
                    </a:lnT>
                    <a:noFill/>
                  </a:tcPr>
                </a:tc>
                <a:tc>
                  <a:txBody>
                    <a:bodyPr/>
                    <a:lstStyle/>
                    <a:p>
                      <a:pPr algn="ctr" fontAlgn="b"/>
                      <a:r>
                        <a:rPr lang="mr-IN" sz="1800" u="none" strike="noStrike" dirty="0">
                          <a:effectLst/>
                        </a:rPr>
                        <a:t>a0*b0</a:t>
                      </a:r>
                      <a:endParaRPr lang="mr-IN" sz="1800" b="0" i="0" u="none" strike="noStrike" dirty="0">
                        <a:solidFill>
                          <a:srgbClr val="000000"/>
                        </a:solidFill>
                        <a:effectLst/>
                        <a:latin typeface="Calibri" charset="0"/>
                      </a:endParaRPr>
                    </a:p>
                  </a:txBody>
                  <a:tcPr marL="6350" marR="6350" marT="6350"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203200">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r" fontAlgn="b"/>
                      <a:r>
                        <a:rPr lang="mr-IN" sz="1800" u="none" strike="noStrike" dirty="0">
                          <a:effectLst/>
                        </a:rPr>
                        <a:t>+</a:t>
                      </a:r>
                      <a:endParaRPr lang="mr-IN" sz="1800" b="0" i="0" u="none" strike="noStrike" dirty="0">
                        <a:solidFill>
                          <a:srgbClr val="000000"/>
                        </a:solidFill>
                        <a:effectLst/>
                        <a:latin typeface="Calibri" charset="0"/>
                      </a:endParaRPr>
                    </a:p>
                  </a:txBody>
                  <a:tcPr marL="6350" marR="6350" marT="6350" marB="0" anchor="b">
                    <a:noFill/>
                  </a:tcPr>
                </a:tc>
                <a:tc>
                  <a:txBody>
                    <a:bodyPr/>
                    <a:lstStyle/>
                    <a:p>
                      <a:pPr algn="ctr" fontAlgn="b"/>
                      <a:r>
                        <a:rPr lang="mr-IN" sz="1800" u="none" strike="noStrike" dirty="0">
                          <a:effectLst/>
                        </a:rPr>
                        <a:t>a3*b1</a:t>
                      </a:r>
                      <a:endParaRPr lang="mr-IN" sz="1800" b="0" i="0" u="none" strike="noStrike" dirty="0">
                        <a:solidFill>
                          <a:srgbClr val="000000"/>
                        </a:solidFill>
                        <a:effectLst/>
                        <a:latin typeface="Calibri" charset="0"/>
                      </a:endParaRPr>
                    </a:p>
                  </a:txBody>
                  <a:tcPr marL="6350" marR="6350" marT="6350" marB="0" anchor="b">
                    <a:noFill/>
                  </a:tcPr>
                </a:tc>
                <a:tc>
                  <a:txBody>
                    <a:bodyPr/>
                    <a:lstStyle/>
                    <a:p>
                      <a:pPr algn="ctr" fontAlgn="b"/>
                      <a:r>
                        <a:rPr lang="mr-IN" sz="1800" u="none" strike="noStrike" dirty="0">
                          <a:effectLst/>
                        </a:rPr>
                        <a:t>a2*b1</a:t>
                      </a:r>
                      <a:endParaRPr lang="mr-IN" sz="1800" b="0" i="0" u="none" strike="noStrike" dirty="0">
                        <a:solidFill>
                          <a:srgbClr val="000000"/>
                        </a:solidFill>
                        <a:effectLst/>
                        <a:latin typeface="Calibri" charset="0"/>
                      </a:endParaRPr>
                    </a:p>
                  </a:txBody>
                  <a:tcPr marL="6350" marR="6350" marT="6350" marB="0" anchor="b">
                    <a:noFill/>
                  </a:tcPr>
                </a:tc>
                <a:tc>
                  <a:txBody>
                    <a:bodyPr/>
                    <a:lstStyle/>
                    <a:p>
                      <a:pPr algn="ctr" fontAlgn="b"/>
                      <a:r>
                        <a:rPr lang="mr-IN" sz="1800" u="none" strike="noStrike" dirty="0">
                          <a:effectLst/>
                        </a:rPr>
                        <a:t>a1*b1</a:t>
                      </a:r>
                      <a:endParaRPr lang="mr-IN" sz="1800" b="0" i="0" u="none" strike="noStrike" dirty="0">
                        <a:solidFill>
                          <a:srgbClr val="000000"/>
                        </a:solidFill>
                        <a:effectLst/>
                        <a:latin typeface="Calibri" charset="0"/>
                      </a:endParaRPr>
                    </a:p>
                  </a:txBody>
                  <a:tcPr marL="6350" marR="6350" marT="6350" marB="0" anchor="b">
                    <a:noFill/>
                  </a:tcPr>
                </a:tc>
                <a:tc>
                  <a:txBody>
                    <a:bodyPr/>
                    <a:lstStyle/>
                    <a:p>
                      <a:pPr algn="ctr" fontAlgn="b"/>
                      <a:r>
                        <a:rPr lang="mr-IN" sz="1800" u="none" strike="noStrike" dirty="0">
                          <a:effectLst/>
                        </a:rPr>
                        <a:t>a0*b1</a:t>
                      </a:r>
                      <a:endParaRPr lang="mr-IN" sz="1800" b="0" i="0" u="none" strike="noStrike" dirty="0">
                        <a:solidFill>
                          <a:srgbClr val="000000"/>
                        </a:solidFill>
                        <a:effectLst/>
                        <a:latin typeface="Calibri" charset="0"/>
                      </a:endParaRPr>
                    </a:p>
                  </a:txBody>
                  <a:tcPr marL="6350" marR="6350" marT="6350" marB="0" anchor="b">
                    <a:noFill/>
                  </a:tcPr>
                </a:tc>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extLst>
                  <a:ext uri="{0D108BD9-81ED-4DB2-BD59-A6C34878D82A}">
                    <a16:rowId xmlns:a16="http://schemas.microsoft.com/office/drawing/2014/main" val="10001"/>
                  </a:ext>
                </a:extLst>
              </a:tr>
              <a:tr h="203200">
                <a:tc>
                  <a:txBody>
                    <a:bodyPr/>
                    <a:lstStyle/>
                    <a:p>
                      <a:pPr algn="ctr" fontAlgn="b"/>
                      <a:endParaRPr lang="en-US" sz="1800" b="0" i="0" u="none" strike="noStrike">
                        <a:solidFill>
                          <a:srgbClr val="000000"/>
                        </a:solidFill>
                        <a:effectLst/>
                        <a:latin typeface="Calibri" charset="0"/>
                      </a:endParaRPr>
                    </a:p>
                  </a:txBody>
                  <a:tcPr marL="6350" marR="6350" marT="6350" marB="0" anchor="b">
                    <a:noFill/>
                  </a:tcPr>
                </a:tc>
                <a:tc>
                  <a:txBody>
                    <a:bodyPr/>
                    <a:lstStyle/>
                    <a:p>
                      <a:pPr algn="r" fontAlgn="b"/>
                      <a:r>
                        <a:rPr lang="mr-IN" sz="1800" u="none" strike="noStrike" dirty="0">
                          <a:effectLst/>
                        </a:rPr>
                        <a:t>+</a:t>
                      </a:r>
                      <a:endParaRPr lang="mr-IN" sz="1800" b="0" i="0" u="none" strike="noStrike" dirty="0">
                        <a:solidFill>
                          <a:srgbClr val="000000"/>
                        </a:solidFill>
                        <a:effectLst/>
                        <a:latin typeface="Calibri" charset="0"/>
                      </a:endParaRPr>
                    </a:p>
                  </a:txBody>
                  <a:tcPr marL="6350" marR="6350" marT="6350" marB="0" anchor="b">
                    <a:lnB w="12700" cap="flat" cmpd="sng" algn="ctr">
                      <a:noFill/>
                      <a:prstDash val="solid"/>
                      <a:round/>
                      <a:headEnd type="none" w="med" len="med"/>
                      <a:tailEnd type="none" w="med" len="med"/>
                    </a:lnB>
                    <a:noFill/>
                  </a:tcPr>
                </a:tc>
                <a:tc>
                  <a:txBody>
                    <a:bodyPr/>
                    <a:lstStyle/>
                    <a:p>
                      <a:pPr algn="ctr" fontAlgn="b"/>
                      <a:r>
                        <a:rPr lang="mr-IN" sz="1800" u="none" strike="noStrike">
                          <a:effectLst/>
                        </a:rPr>
                        <a:t>a3*b2</a:t>
                      </a:r>
                      <a:endParaRPr lang="mr-IN" sz="1800" b="0" i="0" u="none" strike="noStrike">
                        <a:solidFill>
                          <a:srgbClr val="000000"/>
                        </a:solidFill>
                        <a:effectLst/>
                        <a:latin typeface="Calibri" charset="0"/>
                      </a:endParaRPr>
                    </a:p>
                  </a:txBody>
                  <a:tcPr marL="6350" marR="6350" marT="6350" marB="0" anchor="b">
                    <a:lnB w="12700" cap="flat" cmpd="sng" algn="ctr">
                      <a:noFill/>
                      <a:prstDash val="solid"/>
                      <a:round/>
                      <a:headEnd type="none" w="med" len="med"/>
                      <a:tailEnd type="none" w="med" len="med"/>
                    </a:lnB>
                    <a:noFill/>
                  </a:tcPr>
                </a:tc>
                <a:tc>
                  <a:txBody>
                    <a:bodyPr/>
                    <a:lstStyle/>
                    <a:p>
                      <a:pPr algn="ctr" fontAlgn="b"/>
                      <a:r>
                        <a:rPr lang="mr-IN" sz="1800" u="none" strike="noStrike">
                          <a:effectLst/>
                        </a:rPr>
                        <a:t>a2*b2</a:t>
                      </a:r>
                      <a:endParaRPr lang="mr-IN" sz="1800" b="0" i="0" u="none" strike="noStrike">
                        <a:solidFill>
                          <a:srgbClr val="000000"/>
                        </a:solidFill>
                        <a:effectLst/>
                        <a:latin typeface="Calibri" charset="0"/>
                      </a:endParaRPr>
                    </a:p>
                  </a:txBody>
                  <a:tcPr marL="6350" marR="6350" marT="6350" marB="0" anchor="b">
                    <a:lnB w="12700" cap="flat" cmpd="sng" algn="ctr">
                      <a:noFill/>
                      <a:prstDash val="solid"/>
                      <a:round/>
                      <a:headEnd type="none" w="med" len="med"/>
                      <a:tailEnd type="none" w="med" len="med"/>
                    </a:lnB>
                    <a:noFill/>
                  </a:tcPr>
                </a:tc>
                <a:tc>
                  <a:txBody>
                    <a:bodyPr/>
                    <a:lstStyle/>
                    <a:p>
                      <a:pPr algn="ctr" fontAlgn="b"/>
                      <a:r>
                        <a:rPr lang="mr-IN" sz="1800" u="none" strike="noStrike">
                          <a:effectLst/>
                        </a:rPr>
                        <a:t>a1*b2</a:t>
                      </a:r>
                      <a:endParaRPr lang="mr-IN" sz="1800" b="0" i="0" u="none" strike="noStrike">
                        <a:solidFill>
                          <a:srgbClr val="000000"/>
                        </a:solidFill>
                        <a:effectLst/>
                        <a:latin typeface="Calibri" charset="0"/>
                      </a:endParaRPr>
                    </a:p>
                  </a:txBody>
                  <a:tcPr marL="6350" marR="6350" marT="6350" marB="0" anchor="b">
                    <a:lnB w="12700" cap="flat" cmpd="sng" algn="ctr">
                      <a:noFill/>
                      <a:prstDash val="solid"/>
                      <a:round/>
                      <a:headEnd type="none" w="med" len="med"/>
                      <a:tailEnd type="none" w="med" len="med"/>
                    </a:lnB>
                    <a:noFill/>
                  </a:tcPr>
                </a:tc>
                <a:tc>
                  <a:txBody>
                    <a:bodyPr/>
                    <a:lstStyle/>
                    <a:p>
                      <a:pPr algn="ctr" fontAlgn="b"/>
                      <a:r>
                        <a:rPr lang="mr-IN" sz="1800" u="none" strike="noStrike" dirty="0">
                          <a:effectLst/>
                        </a:rPr>
                        <a:t>a0*b2</a:t>
                      </a:r>
                      <a:endParaRPr lang="mr-IN" sz="1800" b="0" i="0" u="none" strike="noStrike" dirty="0">
                        <a:solidFill>
                          <a:srgbClr val="000000"/>
                        </a:solidFill>
                        <a:effectLst/>
                        <a:latin typeface="Calibri" charset="0"/>
                      </a:endParaRPr>
                    </a:p>
                  </a:txBody>
                  <a:tcPr marL="6350" marR="6350" marT="6350" marB="0" anchor="b">
                    <a:lnB w="12700" cap="flat" cmpd="sng" algn="ctr">
                      <a:no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lnB w="12700" cap="flat" cmpd="sng" algn="ctr">
                      <a:no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lnB w="12700" cap="flat" cmpd="sng" algn="ctr">
                      <a:noFill/>
                      <a:prstDash val="solid"/>
                      <a:round/>
                      <a:headEnd type="none" w="med" len="med"/>
                      <a:tailEnd type="none" w="med" len="med"/>
                    </a:lnB>
                    <a:noFill/>
                  </a:tcPr>
                </a:tc>
                <a:extLst>
                  <a:ext uri="{0D108BD9-81ED-4DB2-BD59-A6C34878D82A}">
                    <a16:rowId xmlns:a16="http://schemas.microsoft.com/office/drawing/2014/main" val="10002"/>
                  </a:ext>
                </a:extLst>
              </a:tr>
              <a:tr h="203200">
                <a:tc>
                  <a:txBody>
                    <a:bodyPr/>
                    <a:lstStyle/>
                    <a:p>
                      <a:pPr algn="r" fontAlgn="b"/>
                      <a:r>
                        <a:rPr lang="mr-IN" sz="1800" u="none" strike="noStrike" dirty="0">
                          <a:effectLst/>
                        </a:rPr>
                        <a:t>+</a:t>
                      </a:r>
                      <a:endParaRPr lang="mr-IN" sz="1800" b="0" i="0" u="none" strike="noStrike" dirty="0">
                        <a:solidFill>
                          <a:srgbClr val="000000"/>
                        </a:solidFill>
                        <a:effectLst/>
                        <a:latin typeface="Calibri" charset="0"/>
                      </a:endParaRPr>
                    </a:p>
                  </a:txBody>
                  <a:tcPr marL="6350" marR="6350" marT="6350" marB="0" anchor="b">
                    <a:noFill/>
                  </a:tcPr>
                </a:tc>
                <a:tc>
                  <a:txBody>
                    <a:bodyPr/>
                    <a:lstStyle/>
                    <a:p>
                      <a:pPr algn="ctr" fontAlgn="b"/>
                      <a:r>
                        <a:rPr lang="mr-IN" sz="1800" u="none" strike="noStrike" dirty="0">
                          <a:effectLst/>
                        </a:rPr>
                        <a:t>a3*b3</a:t>
                      </a:r>
                      <a:endParaRPr lang="mr-IN" sz="1800" b="0" i="0" u="none" strike="noStrike" dirty="0">
                        <a:solidFill>
                          <a:srgbClr val="000000"/>
                        </a:solidFill>
                        <a:effectLst/>
                        <a:latin typeface="Calibri" charset="0"/>
                      </a:endParaRPr>
                    </a:p>
                  </a:txBody>
                  <a:tcPr marL="6350" marR="6350" marT="6350"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mr-IN" sz="1800" u="none" strike="noStrike">
                          <a:effectLst/>
                        </a:rPr>
                        <a:t>a2*b3</a:t>
                      </a:r>
                      <a:endParaRPr lang="mr-IN" sz="1800" b="0" i="0" u="none" strike="noStrike">
                        <a:solidFill>
                          <a:srgbClr val="000000"/>
                        </a:solidFill>
                        <a:effectLst/>
                        <a:latin typeface="Calibri" charset="0"/>
                      </a:endParaRPr>
                    </a:p>
                  </a:txBody>
                  <a:tcPr marL="6350" marR="6350" marT="6350"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mr-IN" sz="1800" u="none" strike="noStrike" dirty="0">
                          <a:effectLst/>
                        </a:rPr>
                        <a:t>a1*b3</a:t>
                      </a:r>
                      <a:endParaRPr lang="mr-IN" sz="1800" b="0" i="0" u="none" strike="noStrike" dirty="0">
                        <a:solidFill>
                          <a:srgbClr val="000000"/>
                        </a:solidFill>
                        <a:effectLst/>
                        <a:latin typeface="Calibri" charset="0"/>
                      </a:endParaRPr>
                    </a:p>
                  </a:txBody>
                  <a:tcPr marL="6350" marR="6350" marT="6350"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mr-IN" sz="1800" u="none" strike="noStrike" dirty="0">
                          <a:effectLst/>
                        </a:rPr>
                        <a:t>a0*b3</a:t>
                      </a:r>
                      <a:endParaRPr lang="mr-IN" sz="1800" b="0" i="0" u="none" strike="noStrike" dirty="0">
                        <a:solidFill>
                          <a:srgbClr val="000000"/>
                        </a:solidFill>
                        <a:effectLst/>
                        <a:latin typeface="Calibri" charset="0"/>
                      </a:endParaRPr>
                    </a:p>
                  </a:txBody>
                  <a:tcPr marL="6350" marR="6350" marT="6350"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Calibri" charset="0"/>
                      </a:endParaRPr>
                    </a:p>
                  </a:txBody>
                  <a:tcPr marL="6350" marR="6350" marT="6350"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944267057"/>
              </p:ext>
            </p:extLst>
          </p:nvPr>
        </p:nvGraphicFramePr>
        <p:xfrm>
          <a:off x="7164345" y="1883743"/>
          <a:ext cx="1707807" cy="1684020"/>
        </p:xfrm>
        <a:graphic>
          <a:graphicData uri="http://schemas.openxmlformats.org/drawingml/2006/table">
            <a:tbl>
              <a:tblPr firstRow="1" firstCol="1">
                <a:tableStyleId>{5C22544A-7EE6-4342-B048-85BDC9FD1C3A}</a:tableStyleId>
              </a:tblPr>
              <a:tblGrid>
                <a:gridCol w="569269">
                  <a:extLst>
                    <a:ext uri="{9D8B030D-6E8A-4147-A177-3AD203B41FA5}">
                      <a16:colId xmlns:a16="http://schemas.microsoft.com/office/drawing/2014/main" val="20000"/>
                    </a:ext>
                  </a:extLst>
                </a:gridCol>
                <a:gridCol w="569269">
                  <a:extLst>
                    <a:ext uri="{9D8B030D-6E8A-4147-A177-3AD203B41FA5}">
                      <a16:colId xmlns:a16="http://schemas.microsoft.com/office/drawing/2014/main" val="20001"/>
                    </a:ext>
                  </a:extLst>
                </a:gridCol>
                <a:gridCol w="569269">
                  <a:extLst>
                    <a:ext uri="{9D8B030D-6E8A-4147-A177-3AD203B41FA5}">
                      <a16:colId xmlns:a16="http://schemas.microsoft.com/office/drawing/2014/main" val="20002"/>
                    </a:ext>
                  </a:extLst>
                </a:gridCol>
              </a:tblGrid>
              <a:tr h="561340">
                <a:tc>
                  <a:txBody>
                    <a:bodyPr/>
                    <a:lstStyle/>
                    <a:p>
                      <a:pPr algn="ctr" fontAlgn="b"/>
                      <a:r>
                        <a:rPr lang="mr-IN" sz="1800" u="none" strike="noStrike" dirty="0">
                          <a:effectLst/>
                        </a:rPr>
                        <a:t>*</a:t>
                      </a:r>
                      <a:endParaRPr lang="mr-IN" sz="1800" b="0" i="0" u="none" strike="noStrike" dirty="0">
                        <a:solidFill>
                          <a:srgbClr val="000000"/>
                        </a:solidFill>
                        <a:effectLst/>
                        <a:latin typeface="Courier" charset="0"/>
                        <a:ea typeface="Courier" charset="0"/>
                        <a:cs typeface="Courier" charset="0"/>
                      </a:endParaRPr>
                    </a:p>
                  </a:txBody>
                  <a:tcPr marL="6350" marR="6350" marT="6350" marB="0" anchor="ctr">
                    <a:lnB w="12700" cap="flat" cmpd="sng" algn="ctr">
                      <a:solidFill>
                        <a:schemeClr val="bg1"/>
                      </a:solidFill>
                      <a:prstDash val="solid"/>
                      <a:round/>
                      <a:headEnd type="none" w="med" len="med"/>
                      <a:tailEnd type="none" w="med" len="med"/>
                    </a:lnB>
                  </a:tcPr>
                </a:tc>
                <a:tc>
                  <a:txBody>
                    <a:bodyPr/>
                    <a:lstStyle/>
                    <a:p>
                      <a:pPr algn="ctr" fontAlgn="b"/>
                      <a:r>
                        <a:rPr lang="en-US" sz="1800" u="none" strike="noStrike" dirty="0">
                          <a:effectLst/>
                        </a:rPr>
                        <a:t>0</a:t>
                      </a:r>
                      <a:endParaRPr lang="en-US" sz="1800" b="0" i="0" u="none" strike="noStrike" dirty="0">
                        <a:solidFill>
                          <a:srgbClr val="000000"/>
                        </a:solidFill>
                        <a:effectLst/>
                        <a:latin typeface="Courier" charset="0"/>
                        <a:ea typeface="Courier" charset="0"/>
                        <a:cs typeface="Courier" charset="0"/>
                      </a:endParaRPr>
                    </a:p>
                  </a:txBody>
                  <a:tcPr marL="6350" marR="6350" marT="6350" marB="0" anchor="ctr">
                    <a:lnB w="12700" cap="flat" cmpd="sng" algn="ctr">
                      <a:solidFill>
                        <a:schemeClr val="bg1"/>
                      </a:solidFill>
                      <a:prstDash val="solid"/>
                      <a:round/>
                      <a:headEnd type="none" w="med" len="med"/>
                      <a:tailEnd type="none" w="med" len="med"/>
                    </a:lnB>
                  </a:tcPr>
                </a:tc>
                <a:tc>
                  <a:txBody>
                    <a:bodyPr/>
                    <a:lstStyle/>
                    <a:p>
                      <a:pPr algn="ctr" fontAlgn="b"/>
                      <a:r>
                        <a:rPr lang="en-US" sz="1800" u="none" strike="noStrike" dirty="0">
                          <a:effectLst/>
                        </a:rPr>
                        <a:t>1</a:t>
                      </a:r>
                      <a:endParaRPr lang="en-US" sz="1800" b="0" i="0" u="none" strike="noStrike" dirty="0">
                        <a:solidFill>
                          <a:srgbClr val="000000"/>
                        </a:solidFill>
                        <a:effectLst/>
                        <a:latin typeface="Courier" charset="0"/>
                        <a:ea typeface="Courier" charset="0"/>
                        <a:cs typeface="Courier" charset="0"/>
                      </a:endParaRPr>
                    </a:p>
                  </a:txBody>
                  <a:tcPr marL="6350" marR="6350" marT="6350" marB="0" anchor="ct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561340">
                <a:tc>
                  <a:txBody>
                    <a:bodyPr/>
                    <a:lstStyle/>
                    <a:p>
                      <a:pPr algn="ctr" fontAlgn="b"/>
                      <a:r>
                        <a:rPr lang="en-US" sz="1800" u="none" strike="noStrike">
                          <a:effectLst/>
                        </a:rPr>
                        <a:t>0</a:t>
                      </a:r>
                      <a:endParaRPr lang="en-US" sz="1800" b="0" i="0" u="none" strike="noStrike">
                        <a:solidFill>
                          <a:srgbClr val="000000"/>
                        </a:solidFill>
                        <a:effectLst/>
                        <a:latin typeface="Courier" charset="0"/>
                        <a:ea typeface="Courier" charset="0"/>
                        <a:cs typeface="Courier" charset="0"/>
                      </a:endParaRPr>
                    </a:p>
                  </a:txBody>
                  <a:tcPr marL="6350" marR="6350" marT="6350" marB="0" anchor="ctr">
                    <a:lnT w="12700" cap="flat" cmpd="sng" algn="ctr">
                      <a:solidFill>
                        <a:schemeClr val="bg1"/>
                      </a:solidFill>
                      <a:prstDash val="solid"/>
                      <a:round/>
                      <a:headEnd type="none" w="med" len="med"/>
                      <a:tailEnd type="none" w="med" len="med"/>
                    </a:lnT>
                  </a:tcPr>
                </a:tc>
                <a:tc>
                  <a:txBody>
                    <a:bodyPr/>
                    <a:lstStyle/>
                    <a:p>
                      <a:pPr algn="ctr" fontAlgn="b"/>
                      <a:r>
                        <a:rPr lang="en-US" sz="1800" u="none" strike="noStrike">
                          <a:effectLst/>
                        </a:rPr>
                        <a:t>0</a:t>
                      </a:r>
                      <a:endParaRPr lang="en-US" sz="1800" b="0" i="0" u="none" strike="noStrike">
                        <a:solidFill>
                          <a:srgbClr val="000000"/>
                        </a:solidFill>
                        <a:effectLst/>
                        <a:latin typeface="Courier" charset="0"/>
                        <a:ea typeface="Courier" charset="0"/>
                        <a:cs typeface="Courier" charset="0"/>
                      </a:endParaRPr>
                    </a:p>
                  </a:txBody>
                  <a:tcPr marL="6350" marR="6350" marT="6350" marB="0" anchor="ctr">
                    <a:lnT w="12700" cap="flat" cmpd="sng" algn="ctr">
                      <a:solidFill>
                        <a:schemeClr val="bg1"/>
                      </a:solidFill>
                      <a:prstDash val="solid"/>
                      <a:round/>
                      <a:headEnd type="none" w="med" len="med"/>
                      <a:tailEnd type="none" w="med" len="med"/>
                    </a:lnT>
                  </a:tcPr>
                </a:tc>
                <a:tc>
                  <a:txBody>
                    <a:bodyPr/>
                    <a:lstStyle/>
                    <a:p>
                      <a:pPr algn="ctr" fontAlgn="b"/>
                      <a:r>
                        <a:rPr lang="en-US" sz="1800" u="none" strike="noStrike" dirty="0">
                          <a:effectLst/>
                        </a:rPr>
                        <a:t>0</a:t>
                      </a:r>
                      <a:endParaRPr lang="en-US" sz="1800" b="0" i="0" u="none" strike="noStrike" dirty="0">
                        <a:solidFill>
                          <a:srgbClr val="000000"/>
                        </a:solidFill>
                        <a:effectLst/>
                        <a:latin typeface="Courier" charset="0"/>
                        <a:ea typeface="Courier" charset="0"/>
                        <a:cs typeface="Courier" charset="0"/>
                      </a:endParaRPr>
                    </a:p>
                  </a:txBody>
                  <a:tcPr marL="6350" marR="6350" marT="6350" marB="0" anchor="ct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r h="561340">
                <a:tc>
                  <a:txBody>
                    <a:bodyPr/>
                    <a:lstStyle/>
                    <a:p>
                      <a:pPr algn="ctr" fontAlgn="b"/>
                      <a:r>
                        <a:rPr lang="en-US" sz="1800" u="none" strike="noStrike">
                          <a:effectLst/>
                        </a:rPr>
                        <a:t>1</a:t>
                      </a:r>
                      <a:endParaRPr lang="en-US" sz="1800" b="0" i="0" u="none" strike="noStrike">
                        <a:solidFill>
                          <a:srgbClr val="000000"/>
                        </a:solidFill>
                        <a:effectLst/>
                        <a:latin typeface="Courier" charset="0"/>
                        <a:ea typeface="Courier" charset="0"/>
                        <a:cs typeface="Courier" charset="0"/>
                      </a:endParaRPr>
                    </a:p>
                  </a:txBody>
                  <a:tcPr marL="6350" marR="6350" marT="6350" marB="0" anchor="ctr"/>
                </a:tc>
                <a:tc>
                  <a:txBody>
                    <a:bodyPr/>
                    <a:lstStyle/>
                    <a:p>
                      <a:pPr algn="ctr" fontAlgn="b"/>
                      <a:r>
                        <a:rPr lang="en-US" sz="1800" u="none" strike="noStrike">
                          <a:effectLst/>
                        </a:rPr>
                        <a:t>0</a:t>
                      </a:r>
                      <a:endParaRPr lang="en-US" sz="1800" b="0" i="0" u="none" strike="noStrike">
                        <a:solidFill>
                          <a:srgbClr val="000000"/>
                        </a:solidFill>
                        <a:effectLst/>
                        <a:latin typeface="Courier" charset="0"/>
                        <a:ea typeface="Courier" charset="0"/>
                        <a:cs typeface="Courier" charset="0"/>
                      </a:endParaRPr>
                    </a:p>
                  </a:txBody>
                  <a:tcPr marL="6350" marR="6350" marT="6350" marB="0" anchor="ctr"/>
                </a:tc>
                <a:tc>
                  <a:txBody>
                    <a:bodyPr/>
                    <a:lstStyle/>
                    <a:p>
                      <a:pPr algn="ctr" fontAlgn="b"/>
                      <a:r>
                        <a:rPr lang="en-US" sz="1800" u="none" strike="noStrike" dirty="0">
                          <a:effectLst/>
                        </a:rPr>
                        <a:t>1</a:t>
                      </a:r>
                      <a:endParaRPr lang="en-US" sz="1800" b="0" i="0" u="none" strike="noStrike" dirty="0">
                        <a:solidFill>
                          <a:srgbClr val="000000"/>
                        </a:solidFill>
                        <a:effectLst/>
                        <a:latin typeface="Courier" charset="0"/>
                        <a:ea typeface="Courier" charset="0"/>
                        <a:cs typeface="Courier" charset="0"/>
                      </a:endParaRPr>
                    </a:p>
                  </a:txBody>
                  <a:tcPr marL="6350" marR="6350" marT="6350" marB="0" anchor="ctr"/>
                </a:tc>
                <a:extLst>
                  <a:ext uri="{0D108BD9-81ED-4DB2-BD59-A6C34878D82A}">
                    <a16:rowId xmlns:a16="http://schemas.microsoft.com/office/drawing/2014/main" val="10002"/>
                  </a:ext>
                </a:extLst>
              </a:tr>
            </a:tbl>
          </a:graphicData>
        </a:graphic>
      </p:graphicFrame>
      <p:sp>
        <p:nvSpPr>
          <p:cNvPr id="10" name="Rectangle 9"/>
          <p:cNvSpPr/>
          <p:nvPr/>
        </p:nvSpPr>
        <p:spPr>
          <a:xfrm>
            <a:off x="7312629" y="1553297"/>
            <a:ext cx="1436099" cy="369332"/>
          </a:xfrm>
          <a:prstGeom prst="rect">
            <a:avLst/>
          </a:prstGeom>
        </p:spPr>
        <p:txBody>
          <a:bodyPr wrap="none">
            <a:spAutoFit/>
          </a:bodyPr>
          <a:lstStyle/>
          <a:p>
            <a:r>
              <a:rPr lang="pt-BR"/>
              <a:t>multiplicação</a:t>
            </a:r>
          </a:p>
        </p:txBody>
      </p:sp>
      <p:pic>
        <p:nvPicPr>
          <p:cNvPr id="12" name="Picture 11"/>
          <p:cNvPicPr>
            <a:picLocks noChangeAspect="1"/>
          </p:cNvPicPr>
          <p:nvPr/>
        </p:nvPicPr>
        <p:blipFill rotWithShape="1">
          <a:blip r:embed="rId4"/>
          <a:srcRect t="37607" b="12357"/>
          <a:stretch/>
        </p:blipFill>
        <p:spPr>
          <a:xfrm>
            <a:off x="1606550" y="3987433"/>
            <a:ext cx="5930900" cy="2414741"/>
          </a:xfrm>
          <a:prstGeom prst="rect">
            <a:avLst/>
          </a:prstGeom>
        </p:spPr>
      </p:pic>
    </p:spTree>
    <p:custDataLst>
      <p:tags r:id="rId1"/>
    </p:custDataLst>
    <p:extLst>
      <p:ext uri="{BB962C8B-B14F-4D97-AF65-F5344CB8AC3E}">
        <p14:creationId xmlns:p14="http://schemas.microsoft.com/office/powerpoint/2010/main" val="645743111"/>
      </p:ext>
    </p:extLst>
  </p:cSld>
  <p:clrMapOvr>
    <a:masterClrMapping/>
  </p:clrMapOvr>
  <mc:AlternateContent xmlns:mc="http://schemas.openxmlformats.org/markup-compatibility/2006">
    <mc:Choice xmlns:p14="http://schemas.microsoft.com/office/powerpoint/2010/main" Requires="p14">
      <p:transition spd="slow" p14:dur="1200" advTm="58379">
        <p14:prism/>
      </p:transition>
    </mc:Choice>
    <mc:Fallback>
      <p:transition spd="slow" advTm="5837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Unidade de Ponto Flutuante</a:t>
            </a:r>
          </a:p>
        </p:txBody>
      </p:sp>
      <p:sp>
        <p:nvSpPr>
          <p:cNvPr id="3" name="Content Placeholder 2"/>
          <p:cNvSpPr>
            <a:spLocks noGrp="1"/>
          </p:cNvSpPr>
          <p:nvPr>
            <p:ph idx="1"/>
          </p:nvPr>
        </p:nvSpPr>
        <p:spPr>
          <a:xfrm>
            <a:off x="558584" y="1485900"/>
            <a:ext cx="8477912" cy="4724400"/>
          </a:xfrm>
        </p:spPr>
        <p:txBody>
          <a:bodyPr>
            <a:normAutofit/>
          </a:bodyPr>
          <a:lstStyle/>
          <a:p>
            <a:r>
              <a:rPr lang="pt-BR" sz="2400" dirty="0"/>
              <a:t>Uma unidade de ponto flutuante, ou FPU (</a:t>
            </a:r>
            <a:r>
              <a:rPr lang="pt-BR" sz="2400" i="1" dirty="0"/>
              <a:t>Floating-Point Unit</a:t>
            </a:r>
            <a:r>
              <a:rPr lang="pt-BR" sz="2400" dirty="0"/>
              <a:t>), é um circuito especializado na execução de operações com números representados em ponto flutuante. Ela pode existir como um coprocessador separado ou estar integrada ao processador principal.</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22</a:t>
            </a:fld>
            <a:endParaRPr lang="pt-BR" dirty="0"/>
          </a:p>
        </p:txBody>
      </p:sp>
      <p:pic>
        <p:nvPicPr>
          <p:cNvPr id="7" name="Picture 6" descr="8087_MG_3168_BB.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2701" y="4560209"/>
            <a:ext cx="2490596" cy="1006201"/>
          </a:xfrm>
          <a:prstGeom prst="rect">
            <a:avLst/>
          </a:prstGeom>
        </p:spPr>
      </p:pic>
      <p:sp>
        <p:nvSpPr>
          <p:cNvPr id="9" name="Rectangle 8"/>
          <p:cNvSpPr/>
          <p:nvPr/>
        </p:nvSpPr>
        <p:spPr>
          <a:xfrm>
            <a:off x="3516924" y="5495996"/>
            <a:ext cx="1458074" cy="369332"/>
          </a:xfrm>
          <a:prstGeom prst="rect">
            <a:avLst/>
          </a:prstGeom>
        </p:spPr>
        <p:txBody>
          <a:bodyPr wrap="square">
            <a:spAutoFit/>
          </a:bodyPr>
          <a:lstStyle/>
          <a:p>
            <a:r>
              <a:rPr lang="en-US" dirty="0"/>
              <a:t>Intel  </a:t>
            </a:r>
            <a:r>
              <a:rPr lang="fi-FI" dirty="0"/>
              <a:t>8087</a:t>
            </a:r>
            <a:endParaRPr lang="pt-BR" dirty="0"/>
          </a:p>
        </p:txBody>
      </p:sp>
      <p:sp>
        <p:nvSpPr>
          <p:cNvPr id="11" name="Rectangle 10"/>
          <p:cNvSpPr/>
          <p:nvPr/>
        </p:nvSpPr>
        <p:spPr>
          <a:xfrm>
            <a:off x="6549292" y="5495996"/>
            <a:ext cx="2154199" cy="369332"/>
          </a:xfrm>
          <a:prstGeom prst="rect">
            <a:avLst/>
          </a:prstGeom>
        </p:spPr>
        <p:txBody>
          <a:bodyPr wrap="square">
            <a:spAutoFit/>
          </a:bodyPr>
          <a:lstStyle/>
          <a:p>
            <a:r>
              <a:rPr lang="en-US" dirty="0"/>
              <a:t>Motorola 68881</a:t>
            </a:r>
            <a:endParaRPr lang="pt-BR" dirty="0"/>
          </a:p>
        </p:txBody>
      </p:sp>
      <p:pic>
        <p:nvPicPr>
          <p:cNvPr id="8" name="Picture 7" descr="AMDAM9511DM.jpg"/>
          <p:cNvPicPr>
            <a:picLocks noChangeAspect="1"/>
          </p:cNvPicPr>
          <p:nvPr/>
        </p:nvPicPr>
        <p:blipFill>
          <a:blip r:embed="rId4">
            <a:extLst>
              <a:ext uri="{BEBA8EAE-BF5A-486C-A8C5-ECC9F3942E4B}">
                <a14:imgProps xmlns:a14="http://schemas.microsoft.com/office/drawing/2010/main">
                  <a14:imgLayer r:embed="rId5">
                    <a14:imgEffect>
                      <a14:backgroundRemoval t="4800" b="90000" l="3756" r="95423">
                        <a14:foregroundMark x1="57746" y1="78600" x2="57746" y2="78600"/>
                        <a14:foregroundMark x1="55164" y1="78600" x2="55164" y2="78600"/>
                      </a14:backgroundRemoval>
                    </a14:imgEffect>
                  </a14:imgLayer>
                </a14:imgProps>
              </a:ext>
              <a:ext uri="{28A0092B-C50C-407E-A947-70E740481C1C}">
                <a14:useLocalDpi xmlns:a14="http://schemas.microsoft.com/office/drawing/2010/main" val="0"/>
              </a:ext>
            </a:extLst>
          </a:blip>
          <a:stretch>
            <a:fillRect/>
          </a:stretch>
        </p:blipFill>
        <p:spPr>
          <a:xfrm>
            <a:off x="457200" y="4477348"/>
            <a:ext cx="2023831" cy="1187694"/>
          </a:xfrm>
          <a:prstGeom prst="rect">
            <a:avLst/>
          </a:prstGeom>
        </p:spPr>
      </p:pic>
      <p:sp>
        <p:nvSpPr>
          <p:cNvPr id="13" name="Rectangle 12"/>
          <p:cNvSpPr/>
          <p:nvPr/>
        </p:nvSpPr>
        <p:spPr>
          <a:xfrm>
            <a:off x="656492" y="5495996"/>
            <a:ext cx="1825392" cy="369332"/>
          </a:xfrm>
          <a:prstGeom prst="rect">
            <a:avLst/>
          </a:prstGeom>
        </p:spPr>
        <p:txBody>
          <a:bodyPr wrap="square">
            <a:spAutoFit/>
          </a:bodyPr>
          <a:lstStyle/>
          <a:p>
            <a:r>
              <a:rPr lang="en-US" dirty="0"/>
              <a:t>AMD </a:t>
            </a:r>
            <a:r>
              <a:rPr lang="cs-CZ" dirty="0"/>
              <a:t>AM9511</a:t>
            </a:r>
            <a:endParaRPr lang="pt-BR" dirty="0"/>
          </a:p>
        </p:txBody>
      </p:sp>
      <p:pic>
        <p:nvPicPr>
          <p:cNvPr id="12" name="Picture 11" descr="Motorola 68881 (FPU)">
            <a:extLst>
              <a:ext uri="{FF2B5EF4-FFF2-40B4-BE49-F238E27FC236}">
                <a16:creationId xmlns:a16="http://schemas.microsoft.com/office/drawing/2014/main" id="{D2D8CA1D-4442-921D-BA6E-44F19002A9A3}"/>
              </a:ext>
            </a:extLst>
          </p:cNvPr>
          <p:cNvPicPr>
            <a:picLocks noChangeAspect="1"/>
          </p:cNvPicPr>
          <p:nvPr/>
        </p:nvPicPr>
        <p:blipFill>
          <a:blip r:embed="rId6"/>
          <a:srcRect l="26006" t="20842" r="22665" b="20235"/>
          <a:stretch>
            <a:fillRect/>
          </a:stretch>
        </p:blipFill>
        <p:spPr>
          <a:xfrm>
            <a:off x="6662971" y="3962778"/>
            <a:ext cx="1396980" cy="1603633"/>
          </a:xfrm>
          <a:prstGeom prst="rect">
            <a:avLst/>
          </a:prstGeom>
        </p:spPr>
      </p:pic>
    </p:spTree>
    <p:extLst>
      <p:ext uri="{BB962C8B-B14F-4D97-AF65-F5344CB8AC3E}">
        <p14:creationId xmlns:p14="http://schemas.microsoft.com/office/powerpoint/2010/main" val="3469531190"/>
      </p:ext>
    </p:extLst>
  </p:cSld>
  <p:clrMapOvr>
    <a:masterClrMapping/>
  </p:clrMapOvr>
  <mc:AlternateContent xmlns:mc="http://schemas.openxmlformats.org/markup-compatibility/2006" xmlns:p14="http://schemas.microsoft.com/office/powerpoint/2010/main">
    <mc:Choice Requires="p14">
      <p:transition spd="slow" p14:dur="1200" advTm="37618">
        <p14:prism/>
      </p:transition>
    </mc:Choice>
    <mc:Fallback xmlns="">
      <p:transition spd="slow" advTm="3761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0"/>
                                        <p:tgtEl>
                                          <p:spTgt spid="8"/>
                                        </p:tgtEl>
                                      </p:cBhvr>
                                    </p:animEffect>
                                    <p:anim calcmode="lin" valueType="num">
                                      <p:cBhvr>
                                        <p:cTn id="8" dur="5000" fill="hold"/>
                                        <p:tgtEl>
                                          <p:spTgt spid="8"/>
                                        </p:tgtEl>
                                        <p:attrNameLst>
                                          <p:attrName>ppt_x</p:attrName>
                                        </p:attrNameLst>
                                      </p:cBhvr>
                                      <p:tavLst>
                                        <p:tav tm="0">
                                          <p:val>
                                            <p:strVal val="#ppt_x"/>
                                          </p:val>
                                        </p:tav>
                                        <p:tav tm="100000">
                                          <p:val>
                                            <p:strVal val="#ppt_x"/>
                                          </p:val>
                                        </p:tav>
                                      </p:tavLst>
                                    </p:anim>
                                    <p:anim calcmode="lin" valueType="num">
                                      <p:cBhvr>
                                        <p:cTn id="9" dur="5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0"/>
                                        <p:tgtEl>
                                          <p:spTgt spid="7"/>
                                        </p:tgtEl>
                                      </p:cBhvr>
                                    </p:animEffect>
                                    <p:anim calcmode="lin" valueType="num">
                                      <p:cBhvr>
                                        <p:cTn id="13" dur="5000" fill="hold"/>
                                        <p:tgtEl>
                                          <p:spTgt spid="7"/>
                                        </p:tgtEl>
                                        <p:attrNameLst>
                                          <p:attrName>ppt_x</p:attrName>
                                        </p:attrNameLst>
                                      </p:cBhvr>
                                      <p:tavLst>
                                        <p:tav tm="0">
                                          <p:val>
                                            <p:strVal val="#ppt_x"/>
                                          </p:val>
                                        </p:tav>
                                        <p:tav tm="100000">
                                          <p:val>
                                            <p:strVal val="#ppt_x"/>
                                          </p:val>
                                        </p:tav>
                                      </p:tavLst>
                                    </p:anim>
                                    <p:anim calcmode="lin" valueType="num">
                                      <p:cBhvr>
                                        <p:cTn id="14" dur="5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0"/>
                                        <p:tgtEl>
                                          <p:spTgt spid="12"/>
                                        </p:tgtEl>
                                      </p:cBhvr>
                                    </p:animEffect>
                                    <p:anim calcmode="lin" valueType="num">
                                      <p:cBhvr>
                                        <p:cTn id="18" dur="5000" fill="hold"/>
                                        <p:tgtEl>
                                          <p:spTgt spid="12"/>
                                        </p:tgtEl>
                                        <p:attrNameLst>
                                          <p:attrName>ppt_x</p:attrName>
                                        </p:attrNameLst>
                                      </p:cBhvr>
                                      <p:tavLst>
                                        <p:tav tm="0">
                                          <p:val>
                                            <p:strVal val="#ppt_x"/>
                                          </p:val>
                                        </p:tav>
                                        <p:tav tm="100000">
                                          <p:val>
                                            <p:strVal val="#ppt_x"/>
                                          </p:val>
                                        </p:tav>
                                      </p:tavLst>
                                    </p:anim>
                                    <p:anim calcmode="lin" valueType="num">
                                      <p:cBhvr>
                                        <p:cTn id="19" dur="5000" fill="hold"/>
                                        <p:tgtEl>
                                          <p:spTgt spid="12"/>
                                        </p:tgtEl>
                                        <p:attrNameLst>
                                          <p:attrName>ppt_y</p:attrName>
                                        </p:attrNameLst>
                                      </p:cBhvr>
                                      <p:tavLst>
                                        <p:tav tm="0">
                                          <p:val>
                                            <p:strVal val="#ppt_y+.1"/>
                                          </p:val>
                                        </p:tav>
                                        <p:tav tm="100000">
                                          <p:val>
                                            <p:strVal val="#ppt_y"/>
                                          </p:val>
                                        </p:tav>
                                      </p:tavLst>
                                    </p:anim>
                                  </p:childTnLst>
                                </p:cTn>
                              </p:par>
                            </p:childTnLst>
                          </p:cTn>
                        </p:par>
                        <p:par>
                          <p:cTn id="20" fill="hold">
                            <p:stCondLst>
                              <p:cond delay="7000"/>
                            </p:stCondLst>
                            <p:childTnLst>
                              <p:par>
                                <p:cTn id="21" presetID="1"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682">
        <p14:prism/>
      </p:transition>
    </mc:Choice>
    <mc:Fallback xmlns="">
      <p:transition spd="slow" advTm="2682">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36|8.151|23.341|12.819|4.646"/>
</p:tagLst>
</file>

<file path=ppt/tags/tag2.xml><?xml version="1.0" encoding="utf-8"?>
<p:tagLst xmlns:a="http://schemas.openxmlformats.org/drawingml/2006/main" xmlns:r="http://schemas.openxmlformats.org/officeDocument/2006/relationships" xmlns:p="http://schemas.openxmlformats.org/presentationml/2006/main">
  <p:tag name="TIMING" val="|7.088|23.048"/>
</p:tagLst>
</file>

<file path=ppt/tags/tag3.xml><?xml version="1.0" encoding="utf-8"?>
<p:tagLst xmlns:a="http://schemas.openxmlformats.org/drawingml/2006/main" xmlns:r="http://schemas.openxmlformats.org/officeDocument/2006/relationships" xmlns:p="http://schemas.openxmlformats.org/presentationml/2006/main">
  <p:tag name="TIMING" val="|14.386"/>
</p:tagLst>
</file>

<file path=ppt/tags/tag4.xml><?xml version="1.0" encoding="utf-8"?>
<p:tagLst xmlns:a="http://schemas.openxmlformats.org/drawingml/2006/main" xmlns:r="http://schemas.openxmlformats.org/officeDocument/2006/relationships" xmlns:p="http://schemas.openxmlformats.org/presentationml/2006/main">
  <p:tag name="TIMING" val="|15.175"/>
</p:tagLst>
</file>

<file path=ppt/tags/tag5.xml><?xml version="1.0" encoding="utf-8"?>
<p:tagLst xmlns:a="http://schemas.openxmlformats.org/drawingml/2006/main" xmlns:r="http://schemas.openxmlformats.org/officeDocument/2006/relationships" xmlns:p="http://schemas.openxmlformats.org/presentationml/2006/main">
  <p:tag name="TIMING" val="|16.006|25.931"/>
</p:tagLst>
</file>

<file path=ppt/tags/tag6.xml><?xml version="1.0" encoding="utf-8"?>
<p:tagLst xmlns:a="http://schemas.openxmlformats.org/drawingml/2006/main" xmlns:r="http://schemas.openxmlformats.org/officeDocument/2006/relationships" xmlns:p="http://schemas.openxmlformats.org/presentationml/2006/main">
  <p:tag name="TIMING" val="|20.368|3.391001|15.68|2.413002"/>
</p:tagLst>
</file>

<file path=ppt/tags/tag7.xml><?xml version="1.0" encoding="utf-8"?>
<p:tagLst xmlns:a="http://schemas.openxmlformats.org/drawingml/2006/main" xmlns:r="http://schemas.openxmlformats.org/officeDocument/2006/relationships" xmlns:p="http://schemas.openxmlformats.org/presentationml/2006/main">
  <p:tag name="TIMING" val="|17.487|2.934|8.27|2.834"/>
</p:tagLst>
</file>

<file path=ppt/tags/tag8.xml><?xml version="1.0" encoding="utf-8"?>
<p:tagLst xmlns:a="http://schemas.openxmlformats.org/drawingml/2006/main" xmlns:r="http://schemas.openxmlformats.org/officeDocument/2006/relationships" xmlns:p="http://schemas.openxmlformats.org/presentationml/2006/main">
  <p:tag name="TIMING" val="|15.396|1.639|3.315001|2.138"/>
</p:tagLst>
</file>

<file path=ppt/tags/tag9.xml><?xml version="1.0" encoding="utf-8"?>
<p:tagLst xmlns:a="http://schemas.openxmlformats.org/drawingml/2006/main" xmlns:r="http://schemas.openxmlformats.org/officeDocument/2006/relationships" xmlns:p="http://schemas.openxmlformats.org/presentationml/2006/main">
  <p:tag name="TIMING" val="|7.164|0.9330001|5.739|1.441"/>
</p:tagLst>
</file>

<file path=ppt/tags/tag10.xml><?xml version="1.0" encoding="utf-8"?>
<p:tagLst xmlns:a="http://schemas.openxmlformats.org/drawingml/2006/main" xmlns:r="http://schemas.openxmlformats.org/officeDocument/2006/relationships" xmlns:p="http://schemas.openxmlformats.org/presentationml/2006/main">
  <p:tag name="TIMING" val="|18.085|16.98|11.903"/>
</p:tagLst>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22801</TotalTime>
  <Words>2951</Words>
  <Application>Microsoft Office PowerPoint</Application>
  <PresentationFormat>On-screen Show (4:3)</PresentationFormat>
  <Paragraphs>801</Paragraphs>
  <Slides>23</Slides>
  <Notes>19</Notes>
  <HiddenSlides>2</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1" baseType="lpstr">
      <vt:lpstr>Arial</vt:lpstr>
      <vt:lpstr>Calibri</vt:lpstr>
      <vt:lpstr>Courier</vt:lpstr>
      <vt:lpstr>Courier New</vt:lpstr>
      <vt:lpstr>Verdana</vt:lpstr>
      <vt:lpstr>Wingdings</vt:lpstr>
      <vt:lpstr>Personalizar design</vt:lpstr>
      <vt:lpstr>Visio.Drawing.6</vt:lpstr>
      <vt:lpstr>PowerPoint Presentation</vt:lpstr>
      <vt:lpstr>John Vincent Atanasoff  &amp; Clifford Berry</vt:lpstr>
      <vt:lpstr>Harvard Mark 1 </vt:lpstr>
      <vt:lpstr>Unidade Lógica Aritmética (ULA) </vt:lpstr>
      <vt:lpstr>Meio-somador (Half Adder)</vt:lpstr>
      <vt:lpstr>Circuito Aritmético – Adders (Full)</vt:lpstr>
      <vt:lpstr>Circuito Aritmético – Adder</vt:lpstr>
      <vt:lpstr>Circuito Aritmético – Incrementador</vt:lpstr>
      <vt:lpstr>Somador/Subtrator de 4 bits</vt:lpstr>
      <vt:lpstr>Somador em CPU</vt:lpstr>
      <vt:lpstr>ALU do Z0 (baseada no Hack)</vt:lpstr>
      <vt:lpstr>Negar e Inverter</vt:lpstr>
      <vt:lpstr>Tabela de controle da ALU do Z0 (Hack)</vt:lpstr>
      <vt:lpstr>VHDL da ALU do Z0 (Hack)</vt:lpstr>
      <vt:lpstr>Exemplos de comportamento da ALU</vt:lpstr>
      <vt:lpstr>Exemplos de comportamento da ALU</vt:lpstr>
      <vt:lpstr>Exemplos de comportamento da ALU</vt:lpstr>
      <vt:lpstr>Exemplos de comportamento da ALU</vt:lpstr>
      <vt:lpstr>7483</vt:lpstr>
      <vt:lpstr>74181</vt:lpstr>
      <vt:lpstr>Multiplicação Binária</vt:lpstr>
      <vt:lpstr>Unidade de Ponto Flutuante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2 - Python</dc:title>
  <dc:subject/>
  <dc:creator>Luciano Pereira Soares</dc:creator>
  <cp:keywords/>
  <dc:description/>
  <cp:lastModifiedBy>Luciano Soares</cp:lastModifiedBy>
  <cp:revision>734</cp:revision>
  <cp:lastPrinted>2015-05-25T01:17:28Z</cp:lastPrinted>
  <dcterms:created xsi:type="dcterms:W3CDTF">2014-04-17T20:05:08Z</dcterms:created>
  <dcterms:modified xsi:type="dcterms:W3CDTF">2026-09-03T22:41:50Z</dcterms:modified>
  <cp:category/>
</cp:coreProperties>
</file>