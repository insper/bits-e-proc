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416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0026"/>
    <a:srgbClr val="BCBEC0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/>
    <p:restoredTop sz="83288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67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https://en.wikiquote.org/wiki/Gottfried_Leibniz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910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93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8/28/2026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8/28/2026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8/28/2026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8/28/2026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8/28/2026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ED924-9D16-4A38-9B8F-043BDA0BE473}" type="datetime1">
              <a:rPr lang="pt-BR" smtClean="0"/>
              <a:t>28/08/2026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04547-F0A7-41A7-8ADB-B6B38A1338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9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8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8/28/2026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  <p:sldLayoutId id="2147483673" r:id="rId8"/>
    <p:sldLayoutId id="2147483674" r:id="rId9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Elementos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>
                <a:latin typeface="Verdana"/>
                <a:cs typeface="Verdana"/>
              </a:rPr>
              <a:t>Descrição de Dados Digitais (Continuação)</a:t>
            </a:r>
          </a:p>
          <a:p>
            <a:endParaRPr lang="pt-BR" dirty="0"/>
          </a:p>
        </p:txBody>
      </p:sp>
      <p:sp>
        <p:nvSpPr>
          <p:cNvPr id="7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146800"/>
            <a:ext cx="7343775" cy="447674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da Computação 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  <p:sp>
        <p:nvSpPr>
          <p:cNvPr id="6" name="Rectangle 7"/>
          <p:cNvSpPr/>
          <p:nvPr/>
        </p:nvSpPr>
        <p:spPr>
          <a:xfrm>
            <a:off x="234948" y="4456654"/>
            <a:ext cx="86741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sz="1600" b="1" i="1" dirty="0">
                <a:solidFill>
                  <a:schemeClr val="bg1"/>
                </a:solidFill>
              </a:rPr>
              <a:t>“The fundamental problem of communication is that of reproducing at one point either exactly or approximately a message selected at another point.”</a:t>
            </a:r>
          </a:p>
          <a:p>
            <a:pPr defTabSz="914400">
              <a:defRPr/>
            </a:pPr>
            <a:r>
              <a:rPr lang="pt-BR" sz="1600" b="1" i="1" noProof="1">
                <a:solidFill>
                  <a:schemeClr val="bg1"/>
                </a:solidFill>
              </a:rPr>
              <a:t>“O problema fundamental da comunicação é reproduzir, em um ponto, exata ou aproximadamente, uma mensagem selecionada em outro ponto.”</a:t>
            </a:r>
          </a:p>
          <a:p>
            <a:pPr defTabSz="914400">
              <a:defRPr/>
            </a:pPr>
            <a:r>
              <a:rPr lang="pt-BR" sz="1600" b="1" i="1" noProof="1">
                <a:solidFill>
                  <a:schemeClr val="bg1"/>
                </a:solidFill>
              </a:rPr>
              <a:t>— Claude Shannon, A Mathematical Theory of Communication (1948)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3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8A4176-B19E-CC92-AD64-BB3C397B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731" y="781050"/>
            <a:ext cx="8537331" cy="619125"/>
          </a:xfrm>
        </p:spPr>
        <p:txBody>
          <a:bodyPr/>
          <a:lstStyle/>
          <a:p>
            <a:r>
              <a:rPr lang="pt-BR" sz="3100" dirty="0"/>
              <a:t>Multiplicação e divisão por potências de 2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42D408-492D-811B-043D-6F082AA40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fazer de forma rápida.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DF58B3-EAE6-2E94-8DAB-BC75BD67B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2116D-177F-2C29-CB53-01105ADC8BA6}"/>
              </a:ext>
            </a:extLst>
          </p:cNvPr>
          <p:cNvSpPr txBox="1"/>
          <p:nvPr/>
        </p:nvSpPr>
        <p:spPr>
          <a:xfrm>
            <a:off x="593192" y="2041861"/>
            <a:ext cx="3255065" cy="5001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 </a:t>
            </a:r>
            <a:r>
              <a:rPr lang="en-US" sz="2800" dirty="0"/>
              <a:t>×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 1 (</a:t>
            </a:r>
            <a:r>
              <a:rPr lang="en-US" sz="2700" dirty="0"/>
              <a:t>00000001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9AAA3-9414-3749-3B5D-57BBEBE75401}"/>
              </a:ext>
            </a:extLst>
          </p:cNvPr>
          <p:cNvSpPr txBox="1"/>
          <p:nvPr/>
        </p:nvSpPr>
        <p:spPr>
          <a:xfrm>
            <a:off x="3649474" y="2041861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 (</a:t>
            </a:r>
            <a:r>
              <a:rPr lang="en-US" sz="2700"/>
              <a:t>00000010</a:t>
            </a:r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9B5EC-63AD-FC54-ECA1-990EC638F64A}"/>
              </a:ext>
            </a:extLst>
          </p:cNvPr>
          <p:cNvSpPr txBox="1"/>
          <p:nvPr/>
        </p:nvSpPr>
        <p:spPr>
          <a:xfrm>
            <a:off x="593191" y="2468218"/>
            <a:ext cx="3255065" cy="5001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 </a:t>
            </a:r>
            <a:r>
              <a:rPr lang="en-US" sz="2800" dirty="0"/>
              <a:t>×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 2 (</a:t>
            </a:r>
            <a:r>
              <a:rPr lang="en-US" sz="2700" dirty="0"/>
              <a:t>00000010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3759C9-8625-4FE4-0E2C-9C470E640CD6}"/>
              </a:ext>
            </a:extLst>
          </p:cNvPr>
          <p:cNvSpPr txBox="1"/>
          <p:nvPr/>
        </p:nvSpPr>
        <p:spPr>
          <a:xfrm>
            <a:off x="3654917" y="2473661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4 (</a:t>
            </a:r>
            <a:r>
              <a:rPr lang="en-US" sz="2700"/>
              <a:t>00000100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C8ED1A-61E2-CFAD-B31E-FB415EA29AD7}"/>
              </a:ext>
            </a:extLst>
          </p:cNvPr>
          <p:cNvSpPr txBox="1"/>
          <p:nvPr/>
        </p:nvSpPr>
        <p:spPr>
          <a:xfrm>
            <a:off x="598634" y="2909089"/>
            <a:ext cx="3255065" cy="5001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 </a:t>
            </a:r>
            <a:r>
              <a:rPr lang="en-US" sz="2800" dirty="0"/>
              <a:t>×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 4 (</a:t>
            </a:r>
            <a:r>
              <a:rPr lang="en-US" sz="2700" dirty="0"/>
              <a:t>00000100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7FDDDC-374F-16FC-EEF1-F28E6F5FFB9A}"/>
              </a:ext>
            </a:extLst>
          </p:cNvPr>
          <p:cNvSpPr txBox="1"/>
          <p:nvPr/>
        </p:nvSpPr>
        <p:spPr>
          <a:xfrm>
            <a:off x="3660360" y="2914532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8 (</a:t>
            </a:r>
            <a:r>
              <a:rPr lang="en-US" sz="2700">
                <a:latin typeface="Aptos"/>
                <a:ea typeface="Open Sans"/>
                <a:cs typeface="Open Sans"/>
              </a:rPr>
              <a:t>00001000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B432D9-557C-5807-A35D-D1E1DA050A09}"/>
              </a:ext>
            </a:extLst>
          </p:cNvPr>
          <p:cNvSpPr txBox="1"/>
          <p:nvPr/>
        </p:nvSpPr>
        <p:spPr>
          <a:xfrm>
            <a:off x="535215" y="3429000"/>
            <a:ext cx="8218714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Em binário, para multiplicar um número sem sinal por 2, basta deslocar seus bits uma posição para a esquerda.</a:t>
            </a:r>
            <a:endParaRPr lang="pt-B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18378B-EFBB-940F-1EB0-976EF2D15E37}"/>
              </a:ext>
            </a:extLst>
          </p:cNvPr>
          <p:cNvSpPr txBox="1"/>
          <p:nvPr/>
        </p:nvSpPr>
        <p:spPr>
          <a:xfrm>
            <a:off x="634920" y="4151875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4 / 2 (</a:t>
            </a:r>
            <a:r>
              <a:rPr lang="en-US" sz="2700"/>
              <a:t>00000100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B57574-C018-CBD9-F935-53330F86CB09}"/>
              </a:ext>
            </a:extLst>
          </p:cNvPr>
          <p:cNvSpPr txBox="1"/>
          <p:nvPr/>
        </p:nvSpPr>
        <p:spPr>
          <a:xfrm>
            <a:off x="3696646" y="4157318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 (</a:t>
            </a:r>
            <a:r>
              <a:rPr lang="en-US" sz="2700">
                <a:latin typeface="Aptos"/>
                <a:ea typeface="Open Sans"/>
                <a:cs typeface="Open Sans"/>
              </a:rPr>
              <a:t>00000010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0DF659-0603-5363-E62F-614E9CACC482}"/>
              </a:ext>
            </a:extLst>
          </p:cNvPr>
          <p:cNvSpPr txBox="1"/>
          <p:nvPr/>
        </p:nvSpPr>
        <p:spPr>
          <a:xfrm>
            <a:off x="640363" y="4592746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2 / 2 (</a:t>
            </a:r>
            <a:r>
              <a:rPr lang="en-US" sz="2700"/>
              <a:t>00000010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B85CF9-A75A-46C5-CA40-D86416B1EB31}"/>
              </a:ext>
            </a:extLst>
          </p:cNvPr>
          <p:cNvSpPr txBox="1"/>
          <p:nvPr/>
        </p:nvSpPr>
        <p:spPr>
          <a:xfrm>
            <a:off x="3702088" y="4598189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1 (</a:t>
            </a:r>
            <a:r>
              <a:rPr lang="en-US" sz="2700">
                <a:solidFill>
                  <a:srgbClr val="000000"/>
                </a:solidFill>
                <a:latin typeface="Aptos"/>
                <a:ea typeface="Open Sans"/>
                <a:cs typeface="Open Sans"/>
              </a:rPr>
              <a:t>00000001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8C4B60-4EB4-4CB3-484D-8E7EBB2DC464}"/>
              </a:ext>
            </a:extLst>
          </p:cNvPr>
          <p:cNvSpPr txBox="1"/>
          <p:nvPr/>
        </p:nvSpPr>
        <p:spPr>
          <a:xfrm>
            <a:off x="531586" y="5076371"/>
            <a:ext cx="7982857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Para dividir um número sem sinal por 2, basta deslocar seus bits uma posição para a direita. O bit menos significativo é descartado.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C7A790-8E93-7D22-55D8-49F392695EA0}"/>
                  </a:ext>
                </a:extLst>
              </p:cNvPr>
              <p:cNvSpPr txBox="1"/>
              <p:nvPr/>
            </p:nvSpPr>
            <p:spPr>
              <a:xfrm>
                <a:off x="535214" y="5904439"/>
                <a:ext cx="7518539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noProof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Para multiplicar ou dividir por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pt-BR" noProof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basta deslocar </a:t>
                </a:r>
                <a14:m>
                  <m:oMath xmlns:m="http://schemas.openxmlformats.org/officeDocument/2006/math">
                    <m:r>
                      <a:rPr lang="pt-BR" i="1" noProof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noProof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posições.</a:t>
                </a:r>
                <a:endParaRPr lang="pt-BR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C7A790-8E93-7D22-55D8-49F392695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14" y="5904439"/>
                <a:ext cx="7518539" cy="374270"/>
              </a:xfrm>
              <a:prstGeom prst="rect">
                <a:avLst/>
              </a:prstGeom>
              <a:blipFill>
                <a:blip r:embed="rId2"/>
                <a:stretch>
                  <a:fillRect l="-730" t="-8197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4" grpId="0"/>
      <p:bldP spid="15" grpId="0"/>
      <p:bldP spid="20" grpId="0"/>
      <p:bldP spid="22" grpId="0"/>
      <p:bldP spid="24" grpId="0"/>
      <p:bldP spid="26" grpId="0"/>
      <p:bldP spid="39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E8D58-B1EE-4016-8B0F-36CD6637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Multiplicação/Divisão por múltiplo de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BC985-38FB-F3B4-9CCE-070EBC906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527502"/>
          </a:xfrm>
        </p:spPr>
        <p:txBody>
          <a:bodyPr vert="horz" lIns="68580" tIns="34290" rIns="68580" bIns="34290" rtlCol="0" anchor="t">
            <a:normAutofit/>
          </a:bodyPr>
          <a:lstStyle/>
          <a:p>
            <a:pPr marL="0" indent="0">
              <a:buNone/>
            </a:pPr>
            <a:r>
              <a:rPr lang="pt-BR" noProof="0" dirty="0"/>
              <a:t>E se dividirmos 9 /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FC728-2665-6F77-FDED-14F3EC7D7A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337A5-08B3-710D-253D-9455C3D9B111}"/>
              </a:ext>
            </a:extLst>
          </p:cNvPr>
          <p:cNvSpPr txBox="1"/>
          <p:nvPr/>
        </p:nvSpPr>
        <p:spPr>
          <a:xfrm>
            <a:off x="660319" y="2031135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9 / 2 (</a:t>
            </a:r>
            <a:r>
              <a:rPr lang="en-US" sz="2700"/>
              <a:t>00001001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EE085-6127-D65B-083B-2C81192B429C}"/>
              </a:ext>
            </a:extLst>
          </p:cNvPr>
          <p:cNvSpPr txBox="1"/>
          <p:nvPr/>
        </p:nvSpPr>
        <p:spPr>
          <a:xfrm>
            <a:off x="3722045" y="2036578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4 (</a:t>
            </a:r>
            <a:r>
              <a:rPr lang="en-US" sz="2700">
                <a:latin typeface="Aptos"/>
                <a:ea typeface="Open Sans"/>
                <a:cs typeface="Open Sans"/>
              </a:rPr>
              <a:t>00000100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96EC32-68BA-76C0-3051-6858F9EBB0C7}"/>
              </a:ext>
            </a:extLst>
          </p:cNvPr>
          <p:cNvSpPr txBox="1"/>
          <p:nvPr/>
        </p:nvSpPr>
        <p:spPr>
          <a:xfrm>
            <a:off x="460829" y="2632690"/>
            <a:ext cx="8218714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Para números sem sinal, o deslocamento à direita descarta a parte fracionária, equivalendo ao </a:t>
            </a:r>
            <a:r>
              <a:rPr lang="pt-BR" dirty="0" err="1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floor</a:t>
            </a:r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 (piso) da divisão por 2.</a:t>
            </a:r>
            <a:endParaRPr lang="pt-B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E45559-3858-DF3C-E4C3-F0CE582AC6DB}"/>
              </a:ext>
            </a:extLst>
          </p:cNvPr>
          <p:cNvSpPr txBox="1"/>
          <p:nvPr/>
        </p:nvSpPr>
        <p:spPr>
          <a:xfrm>
            <a:off x="457200" y="3456931"/>
            <a:ext cx="8218714" cy="900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E se for um número com sinal (complemento de 2)?</a:t>
            </a:r>
            <a:endParaRPr lang="en-US" sz="1350" dirty="0">
              <a:solidFill>
                <a:srgbClr val="000000"/>
              </a:solidFill>
              <a:latin typeface="Aptos" panose="02110004020202020204"/>
              <a:ea typeface="Open Sans"/>
              <a:cs typeface="Open Sans"/>
            </a:endParaRPr>
          </a:p>
          <a:p>
            <a:r>
              <a:rPr lang="pt-BR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Por exemplo:</a:t>
            </a:r>
          </a:p>
          <a:p>
            <a:pPr algn="ctr"/>
            <a:endParaRPr lang="pt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A24C14-36DC-D02F-14D1-329288C323EF}"/>
              </a:ext>
            </a:extLst>
          </p:cNvPr>
          <p:cNvSpPr txBox="1"/>
          <p:nvPr/>
        </p:nvSpPr>
        <p:spPr>
          <a:xfrm>
            <a:off x="638547" y="4161663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-64/2 (11</a:t>
            </a:r>
            <a:r>
              <a:rPr lang="en-US" sz="2700" dirty="0"/>
              <a:t>000000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9690A1-D0A1-2DA9-9539-B54292023B9E}"/>
              </a:ext>
            </a:extLst>
          </p:cNvPr>
          <p:cNvSpPr txBox="1"/>
          <p:nvPr/>
        </p:nvSpPr>
        <p:spPr>
          <a:xfrm>
            <a:off x="3718416" y="4167106"/>
            <a:ext cx="2375137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96 (</a:t>
            </a:r>
            <a:r>
              <a:rPr lang="en-US" sz="2700">
                <a:latin typeface="Aptos"/>
                <a:ea typeface="Open Sans"/>
                <a:cs typeface="Open Sans"/>
              </a:rPr>
              <a:t>01100000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DE5024FB-86F6-1CC6-71D8-80FB54CF54D5}"/>
              </a:ext>
            </a:extLst>
          </p:cNvPr>
          <p:cNvSpPr/>
          <p:nvPr/>
        </p:nvSpPr>
        <p:spPr>
          <a:xfrm>
            <a:off x="4290896" y="3683902"/>
            <a:ext cx="1405373" cy="1462042"/>
          </a:xfrm>
          <a:prstGeom prst="mathMultiply">
            <a:avLst>
              <a:gd name="adj1" fmla="val 7254"/>
            </a:avLst>
          </a:prstGeom>
          <a:solidFill>
            <a:srgbClr val="FF0000">
              <a:alpha val="5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DEDE02-8A84-7E4B-0D17-79A9F0AA9762}"/>
              </a:ext>
            </a:extLst>
          </p:cNvPr>
          <p:cNvSpPr txBox="1"/>
          <p:nvPr/>
        </p:nvSpPr>
        <p:spPr>
          <a:xfrm>
            <a:off x="3691686" y="5303455"/>
            <a:ext cx="2846850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-32 (1</a:t>
            </a:r>
            <a:r>
              <a:rPr lang="en-US" sz="2700" dirty="0">
                <a:latin typeface="Aptos"/>
                <a:ea typeface="Open Sans"/>
                <a:cs typeface="Open Sans"/>
              </a:rPr>
              <a:t>1100000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</a:t>
            </a:r>
            <a:endParaRPr lang="en-US" sz="2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A3B93-ED1D-C769-9AD4-617718F2C823}"/>
              </a:ext>
            </a:extLst>
          </p:cNvPr>
          <p:cNvSpPr txBox="1"/>
          <p:nvPr/>
        </p:nvSpPr>
        <p:spPr>
          <a:xfrm>
            <a:off x="638546" y="5312694"/>
            <a:ext cx="325506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-64/2 (11</a:t>
            </a:r>
            <a:r>
              <a:rPr lang="en-US" sz="2700" dirty="0"/>
              <a:t>000000</a:t>
            </a:r>
            <a:r>
              <a:rPr lang="en-US" sz="27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) =</a:t>
            </a:r>
            <a:endParaRPr lang="en-US" sz="2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046A07-0D35-82B6-DA26-D218A9B02EE8}"/>
              </a:ext>
            </a:extLst>
          </p:cNvPr>
          <p:cNvSpPr txBox="1"/>
          <p:nvPr/>
        </p:nvSpPr>
        <p:spPr>
          <a:xfrm>
            <a:off x="6400800" y="4219371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noProof="0" dirty="0"/>
              <a:t>Deslocamento Lógico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1E92CE-757E-8C01-0119-63DE745D77C5}"/>
              </a:ext>
            </a:extLst>
          </p:cNvPr>
          <p:cNvSpPr txBox="1"/>
          <p:nvPr/>
        </p:nvSpPr>
        <p:spPr>
          <a:xfrm>
            <a:off x="6400800" y="5351143"/>
            <a:ext cx="2637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noProof="0" dirty="0"/>
              <a:t>Deslocamento aritmético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08C9A5-A320-6F73-0485-B24C5E415AD9}"/>
              </a:ext>
            </a:extLst>
          </p:cNvPr>
          <p:cNvSpPr txBox="1"/>
          <p:nvPr/>
        </p:nvSpPr>
        <p:spPr>
          <a:xfrm>
            <a:off x="460829" y="5957371"/>
            <a:ext cx="8225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Para números em complemento de 2, a divisão por 2 requer um deslocamento aritmético à direita, que replica o bit de sinal.</a:t>
            </a:r>
          </a:p>
        </p:txBody>
      </p:sp>
    </p:spTree>
    <p:extLst>
      <p:ext uri="{BB962C8B-B14F-4D97-AF65-F5344CB8AC3E}">
        <p14:creationId xmlns:p14="http://schemas.microsoft.com/office/powerpoint/2010/main" val="15295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  <p:bldP spid="16" grpId="0" animBg="1"/>
      <p:bldP spid="18" grpId="0"/>
      <p:bldP spid="6" grpId="0"/>
      <p:bldP spid="10" grpId="0"/>
      <p:bldP spid="14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9964-80AF-46DB-DF9E-2F9C4AA4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/>
              <a:t>Multiplicação Binária (</a:t>
            </a:r>
            <a:r>
              <a:rPr lang="pt-BR" noProof="0" dirty="0" err="1"/>
              <a:t>unsigned</a:t>
            </a:r>
            <a:r>
              <a:rPr lang="pt-BR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35DBE-4EB8-FF17-1E66-818158F8D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rgbClr val="090A11"/>
                </a:solidFill>
                <a:highlight>
                  <a:srgbClr val="FCFCFD"/>
                </a:highlight>
                <a:latin typeface="Open Sans"/>
                <a:ea typeface="Open Sans"/>
                <a:cs typeface="Open Sans"/>
              </a:rPr>
              <a:t>A multiplicação em binário segue o mesmo princípio que a multiplicação em decimal: vamos multiplicar cada bit do multiplicando com o multiplicador e somar os resultados.</a:t>
            </a:r>
            <a:endParaRPr lang="pt-BR" sz="33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4AFE9D3-B2B9-76CA-5332-82470D78FA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DDCAE-700B-048C-CD24-26EC805E8F64}"/>
              </a:ext>
            </a:extLst>
          </p:cNvPr>
          <p:cNvSpPr txBox="1"/>
          <p:nvPr/>
        </p:nvSpPr>
        <p:spPr>
          <a:xfrm>
            <a:off x="3791856" y="3193143"/>
            <a:ext cx="1967105" cy="8079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 101   (5) </a:t>
            </a:r>
          </a:p>
          <a:p>
            <a:r>
              <a:rPr lang="en-US" sz="2000" dirty="0"/>
              <a:t> </a:t>
            </a:r>
            <a:r>
              <a:rPr lang="en-US" sz="2400" dirty="0"/>
              <a:t>×</a:t>
            </a:r>
            <a:r>
              <a:rPr lang="en-US" sz="1050" dirty="0"/>
              <a:t> </a:t>
            </a:r>
            <a:r>
              <a:rPr lang="en-US" sz="2400" dirty="0"/>
              <a:t>11  </a:t>
            </a:r>
            <a:r>
              <a:rPr lang="en-US" sz="2000" dirty="0"/>
              <a:t> </a:t>
            </a:r>
            <a:r>
              <a:rPr lang="en-US" sz="2400" dirty="0"/>
              <a:t>(3)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4A035-C37A-22FC-9ED8-C3680DCDB8F1}"/>
              </a:ext>
            </a:extLst>
          </p:cNvPr>
          <p:cNvSpPr txBox="1"/>
          <p:nvPr/>
        </p:nvSpPr>
        <p:spPr>
          <a:xfrm>
            <a:off x="3909786" y="3991428"/>
            <a:ext cx="1106714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101  (5) </a:t>
            </a:r>
            <a:endParaRPr lang="en-US" sz="2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7F83C-83CC-759C-1DC5-9574B9EC628B}"/>
              </a:ext>
            </a:extLst>
          </p:cNvPr>
          <p:cNvSpPr txBox="1"/>
          <p:nvPr/>
        </p:nvSpPr>
        <p:spPr>
          <a:xfrm>
            <a:off x="3764642" y="4732519"/>
            <a:ext cx="1469576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1111  (15)</a:t>
            </a:r>
            <a:endParaRPr lang="en-US" sz="13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2B052-1F05-8DEC-6F47-EB6F5CB96ED1}"/>
              </a:ext>
            </a:extLst>
          </p:cNvPr>
          <p:cNvSpPr txBox="1"/>
          <p:nvPr/>
        </p:nvSpPr>
        <p:spPr>
          <a:xfrm>
            <a:off x="3728355" y="4363356"/>
            <a:ext cx="1678913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101     (5)</a:t>
            </a:r>
            <a:endParaRPr lang="en-US" sz="21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E0C275-6246-B800-3023-8A6B92803B70}"/>
              </a:ext>
            </a:extLst>
          </p:cNvPr>
          <p:cNvCxnSpPr/>
          <p:nvPr/>
        </p:nvCxnSpPr>
        <p:spPr>
          <a:xfrm>
            <a:off x="3783338" y="3962808"/>
            <a:ext cx="748022" cy="11339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7C05EA-8002-3439-C887-61257D20B746}"/>
              </a:ext>
            </a:extLst>
          </p:cNvPr>
          <p:cNvCxnSpPr>
            <a:cxnSpLocks/>
          </p:cNvCxnSpPr>
          <p:nvPr/>
        </p:nvCxnSpPr>
        <p:spPr>
          <a:xfrm>
            <a:off x="3756123" y="4752022"/>
            <a:ext cx="748022" cy="11339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A973942-40DF-235B-BA48-19335C73E681}"/>
              </a:ext>
            </a:extLst>
          </p:cNvPr>
          <p:cNvSpPr txBox="1"/>
          <p:nvPr/>
        </p:nvSpPr>
        <p:spPr>
          <a:xfrm>
            <a:off x="3474356" y="4363355"/>
            <a:ext cx="435428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+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1422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3338-4AE3-C1CB-4072-92097A3F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noProof="0" dirty="0"/>
              <a:t>Multiplicação Binária (com sinal)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B5F16B-1E04-EBC7-732B-F6E9CCA3E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7912" y="1835240"/>
            <a:ext cx="4648200" cy="349567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082A7-67E5-7AE3-0CA7-6B2477EE81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7527C-82E5-4F61-6C53-B60CA5746202}"/>
              </a:ext>
            </a:extLst>
          </p:cNvPr>
          <p:cNvSpPr txBox="1"/>
          <p:nvPr/>
        </p:nvSpPr>
        <p:spPr>
          <a:xfrm>
            <a:off x="308429" y="5765981"/>
            <a:ext cx="8699500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noProof="0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Observação</a:t>
            </a:r>
            <a:r>
              <a:rPr lang="pt-BR" noProof="0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: a multiplicação de dois números negativos exige cuidados adicionais com a extensão de sinal e não será abordada neste curso.</a:t>
            </a:r>
            <a:endParaRPr lang="pt-B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323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839E-66FD-FF21-791F-A119DD343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Ponto fixo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681C59-1075-EE64-25CF-3B42EF587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857" y="2789482"/>
            <a:ext cx="8029575" cy="135969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437D9-4204-1C4F-7DD5-49FC85B1AB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A68A0-B5B0-E9BD-45EE-9CC6BFEC8BCF}"/>
              </a:ext>
            </a:extLst>
          </p:cNvPr>
          <p:cNvSpPr txBox="1"/>
          <p:nvPr/>
        </p:nvSpPr>
        <p:spPr>
          <a:xfrm>
            <a:off x="619932" y="1522465"/>
            <a:ext cx="8037285" cy="900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noProof="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Para construirmos o valor </a:t>
            </a:r>
            <a:r>
              <a:rPr lang="pt-BR" noProof="0" dirty="0"/>
              <a:t>26.5</a:t>
            </a:r>
            <a:r>
              <a:rPr lang="pt-BR" noProof="0" dirty="0">
                <a:solidFill>
                  <a:srgbClr val="000000"/>
                </a:solidFill>
                <a:latin typeface="Aptos"/>
                <a:ea typeface="Open Sans"/>
                <a:cs typeface="Open Sans"/>
              </a:rPr>
              <a:t>, por exemplo, </a:t>
            </a:r>
            <a:r>
              <a:rPr lang="pt-BR" noProof="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basta selecionarmos os bits que somados dão esse valor:</a:t>
            </a:r>
            <a:endParaRPr lang="pt-BR" noProof="0" dirty="0"/>
          </a:p>
          <a:p>
            <a:pPr algn="ctr"/>
            <a:endParaRPr lang="pt-BR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7AF2BA-35E1-C6CD-8C88-117A16D6B911}"/>
              </a:ext>
            </a:extLst>
          </p:cNvPr>
          <p:cNvSpPr txBox="1"/>
          <p:nvPr/>
        </p:nvSpPr>
        <p:spPr>
          <a:xfrm>
            <a:off x="616857" y="4608286"/>
            <a:ext cx="8255000" cy="7463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/>
              <a:t>011010100</a:t>
            </a:r>
            <a:r>
              <a:rPr lang="en-US" sz="2200" b="1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sz="2200" dirty="0">
                <a:solidFill>
                  <a:srgbClr val="090A11"/>
                </a:solidFill>
                <a:latin typeface="Open Sans"/>
                <a:ea typeface="Open Sans"/>
                <a:cs typeface="Open Sans"/>
              </a:rPr>
              <a:t>: </a:t>
            </a:r>
            <a:r>
              <a:rPr lang="en-US" sz="2200" dirty="0"/>
              <a:t>0⋅32+1⋅16+1⋅8+0⋅4+1⋅2+0⋅1+1⋅0,5+0⋅0,25+0⋅0,125=26,5</a:t>
            </a:r>
          </a:p>
          <a:p>
            <a:pPr algn="ctr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1563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A500-DB27-CDC0-2927-9E40299F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(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sinal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AE9A3-47C6-4E6C-F28E-349AE2FCE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números inteiros sem sinal (</a:t>
            </a:r>
            <a:r>
              <a:rPr lang="pt-BR" dirty="0" err="1"/>
              <a:t>unsigned</a:t>
            </a:r>
            <a:r>
              <a:rPr lang="pt-BR" dirty="0"/>
              <a:t>), o </a:t>
            </a:r>
            <a:r>
              <a:rPr lang="pt-BR" dirty="0" err="1"/>
              <a:t>carry</a:t>
            </a:r>
            <a:r>
              <a:rPr lang="pt-BR" dirty="0"/>
              <a:t>-out </a:t>
            </a:r>
            <a:r>
              <a:rPr lang="en-BR" dirty="0"/>
              <a:t>indica que a soma excedeu a faixa representável</a:t>
            </a:r>
            <a:r>
              <a:rPr lang="pt-BR" dirty="0"/>
              <a:t> e logo o valor é inválido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629CB-0769-2C2F-F429-6B0D64E8A5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91AD9DC-7838-B251-6AED-996D57FA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95791"/>
              </p:ext>
            </p:extLst>
          </p:nvPr>
        </p:nvGraphicFramePr>
        <p:xfrm>
          <a:off x="55642" y="3325577"/>
          <a:ext cx="313518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</a:pPr>
                      <a:r>
                        <a:rPr lang="pt-BR" sz="4000" dirty="0"/>
                        <a:t>+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16301DD-DE66-2FC8-28B6-1B1721108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00965"/>
              </p:ext>
            </p:extLst>
          </p:nvPr>
        </p:nvGraphicFramePr>
        <p:xfrm>
          <a:off x="2563786" y="4361897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B4AB169-D493-8313-B9F5-66BD1FD3C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339701"/>
              </p:ext>
            </p:extLst>
          </p:nvPr>
        </p:nvGraphicFramePr>
        <p:xfrm>
          <a:off x="1936750" y="4361897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933D0DB-045B-1B08-8381-0BA5102A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69868"/>
              </p:ext>
            </p:extLst>
          </p:nvPr>
        </p:nvGraphicFramePr>
        <p:xfrm>
          <a:off x="1309714" y="4351064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A8CAF48-9EB1-6CE3-E3D6-504E1ED0F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140862"/>
              </p:ext>
            </p:extLst>
          </p:nvPr>
        </p:nvGraphicFramePr>
        <p:xfrm>
          <a:off x="682678" y="436725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EBAC333-A727-6B52-3B17-BB381ED15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764807"/>
              </p:ext>
            </p:extLst>
          </p:nvPr>
        </p:nvGraphicFramePr>
        <p:xfrm>
          <a:off x="4446934" y="3330931"/>
          <a:ext cx="313518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</a:pPr>
                      <a:r>
                        <a:rPr lang="pt-BR" sz="4000" dirty="0"/>
                        <a:t>+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701A834-6C93-F17D-60C3-42640FE88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82137"/>
              </p:ext>
            </p:extLst>
          </p:nvPr>
        </p:nvGraphicFramePr>
        <p:xfrm>
          <a:off x="6955078" y="436725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6320586-62DF-21B9-75B5-257A00F6C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648491"/>
              </p:ext>
            </p:extLst>
          </p:nvPr>
        </p:nvGraphicFramePr>
        <p:xfrm>
          <a:off x="6328042" y="436725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ACB55E7-CEF0-8689-C544-380C5E389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260813"/>
              </p:ext>
            </p:extLst>
          </p:nvPr>
        </p:nvGraphicFramePr>
        <p:xfrm>
          <a:off x="5701006" y="4356418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B16F76D-E6E6-9567-162E-B905CB783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414112"/>
              </p:ext>
            </p:extLst>
          </p:nvPr>
        </p:nvGraphicFramePr>
        <p:xfrm>
          <a:off x="5073970" y="4372605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79D164B-EDF4-8100-8AB2-E0A5A196B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549307"/>
              </p:ext>
            </p:extLst>
          </p:nvPr>
        </p:nvGraphicFramePr>
        <p:xfrm>
          <a:off x="4525014" y="4374994"/>
          <a:ext cx="627036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B60E6F55-6B36-9837-E3B1-9FC6B54D5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575546"/>
              </p:ext>
            </p:extLst>
          </p:nvPr>
        </p:nvGraphicFramePr>
        <p:xfrm>
          <a:off x="5747040" y="2960091"/>
          <a:ext cx="62703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D21E1372-41D6-AC2F-EA4B-28A9EBC7C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096572"/>
              </p:ext>
            </p:extLst>
          </p:nvPr>
        </p:nvGraphicFramePr>
        <p:xfrm>
          <a:off x="3328684" y="3322775"/>
          <a:ext cx="627036" cy="15464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Courier"/>
                          <a:cs typeface="Courier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7FD3C2F-5FAB-34C9-F411-FCF66ED26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41688"/>
              </p:ext>
            </p:extLst>
          </p:nvPr>
        </p:nvGraphicFramePr>
        <p:xfrm>
          <a:off x="7723734" y="3325577"/>
          <a:ext cx="627036" cy="15464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Courier"/>
                          <a:cs typeface="Courier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6" name="Group 45">
            <a:extLst>
              <a:ext uri="{FF2B5EF4-FFF2-40B4-BE49-F238E27FC236}">
                <a16:creationId xmlns:a16="http://schemas.microsoft.com/office/drawing/2014/main" id="{80A68162-B8C0-297D-ACE7-4EE2818482ED}"/>
              </a:ext>
            </a:extLst>
          </p:cNvPr>
          <p:cNvGrpSpPr/>
          <p:nvPr/>
        </p:nvGrpSpPr>
        <p:grpSpPr>
          <a:xfrm>
            <a:off x="3473739" y="4832194"/>
            <a:ext cx="1364793" cy="461665"/>
            <a:chOff x="5391716" y="2319700"/>
            <a:chExt cx="1364793" cy="46166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A6A0E64-110D-7255-94C6-CB6E11488CCA}"/>
                </a:ext>
              </a:extLst>
            </p:cNvPr>
            <p:cNvSpPr/>
            <p:nvPr/>
          </p:nvSpPr>
          <p:spPr>
            <a:xfrm>
              <a:off x="5391716" y="2319700"/>
              <a:ext cx="1042914" cy="461665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r"/>
              <a:r>
                <a:rPr lang="en-US" dirty="0"/>
                <a:t>carry-out</a:t>
              </a:r>
              <a:endParaRPr lang="en-US" sz="600" dirty="0"/>
            </a:p>
            <a:p>
              <a:pPr algn="r"/>
              <a:endParaRPr lang="en-US" sz="600" dirty="0"/>
            </a:p>
          </p:txBody>
        </p:sp>
        <p:cxnSp>
          <p:nvCxnSpPr>
            <p:cNvPr id="48" name="Curved Connector 43">
              <a:extLst>
                <a:ext uri="{FF2B5EF4-FFF2-40B4-BE49-F238E27FC236}">
                  <a16:creationId xmlns:a16="http://schemas.microsoft.com/office/drawing/2014/main" id="{09F115EF-994A-0D50-D8E1-13D4241C1786}"/>
                </a:ext>
              </a:extLst>
            </p:cNvPr>
            <p:cNvCxnSpPr>
              <a:stCxn id="47" idx="3"/>
              <a:endCxn id="39" idx="2"/>
            </p:cNvCxnSpPr>
            <p:nvPr/>
          </p:nvCxnSpPr>
          <p:spPr>
            <a:xfrm flipV="1">
              <a:off x="6434630" y="2328492"/>
              <a:ext cx="321879" cy="222041"/>
            </a:xfrm>
            <a:prstGeom prst="curvedConnector2">
              <a:avLst/>
            </a:prstGeom>
            <a:ln w="28575" cmpd="sng"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Picture 48" descr="120657385441132693Arnoud999_Right_or_wrong_2.svg.med.png">
            <a:extLst>
              <a:ext uri="{FF2B5EF4-FFF2-40B4-BE49-F238E27FC236}">
                <a16:creationId xmlns:a16="http://schemas.microsoft.com/office/drawing/2014/main" id="{25F903E5-54E4-6F51-0446-2DFFEF8D8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006" y="2402538"/>
            <a:ext cx="976267" cy="976267"/>
          </a:xfrm>
          <a:prstGeom prst="rect">
            <a:avLst/>
          </a:prstGeom>
        </p:spPr>
      </p:pic>
      <p:pic>
        <p:nvPicPr>
          <p:cNvPr id="50" name="Picture 49" descr="1206573862448734250Arnoud999_Right_or_wrong_3.svg.med.png">
            <a:extLst>
              <a:ext uri="{FF2B5EF4-FFF2-40B4-BE49-F238E27FC236}">
                <a16:creationId xmlns:a16="http://schemas.microsoft.com/office/drawing/2014/main" id="{0C2E70DD-8A3F-C051-DF85-FF195FB53C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079" y="2471957"/>
            <a:ext cx="976267" cy="97626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2ADCD00-7003-2F4C-25FF-047AF5329CCA}"/>
              </a:ext>
            </a:extLst>
          </p:cNvPr>
          <p:cNvSpPr txBox="1"/>
          <p:nvPr/>
        </p:nvSpPr>
        <p:spPr>
          <a:xfrm>
            <a:off x="5409322" y="4993120"/>
            <a:ext cx="1929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Limitando o número a 4 bits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A82804E-BA34-8FB6-C543-6E3EE1FE02AE}"/>
              </a:ext>
            </a:extLst>
          </p:cNvPr>
          <p:cNvGrpSpPr/>
          <p:nvPr/>
        </p:nvGrpSpPr>
        <p:grpSpPr>
          <a:xfrm>
            <a:off x="412551" y="4872027"/>
            <a:ext cx="1278352" cy="589476"/>
            <a:chOff x="5156278" y="2191889"/>
            <a:chExt cx="1278352" cy="58947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4F02F38-4D22-84AB-BCAD-EACAA2AD64E8}"/>
                </a:ext>
              </a:extLst>
            </p:cNvPr>
            <p:cNvSpPr/>
            <p:nvPr/>
          </p:nvSpPr>
          <p:spPr>
            <a:xfrm>
              <a:off x="5391716" y="2319700"/>
              <a:ext cx="1042914" cy="461665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r"/>
              <a:r>
                <a:rPr lang="en-US" dirty="0"/>
                <a:t>carry-out</a:t>
              </a:r>
              <a:endParaRPr lang="en-US" sz="600" dirty="0"/>
            </a:p>
            <a:p>
              <a:pPr algn="r"/>
              <a:endParaRPr lang="en-US" sz="600" dirty="0"/>
            </a:p>
          </p:txBody>
        </p:sp>
        <p:cxnSp>
          <p:nvCxnSpPr>
            <p:cNvPr id="54" name="Curved Connector 43">
              <a:extLst>
                <a:ext uri="{FF2B5EF4-FFF2-40B4-BE49-F238E27FC236}">
                  <a16:creationId xmlns:a16="http://schemas.microsoft.com/office/drawing/2014/main" id="{8CB3B9B8-70B1-7707-B733-92DAD2543335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rot="10800000">
              <a:off x="5156278" y="2191889"/>
              <a:ext cx="235438" cy="358645"/>
            </a:xfrm>
            <a:prstGeom prst="curvedConnector2">
              <a:avLst/>
            </a:prstGeom>
            <a:ln w="28575" cmpd="sng"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5F2641CE-2074-12F0-F9CD-9519189EC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49591"/>
              </p:ext>
            </p:extLst>
          </p:nvPr>
        </p:nvGraphicFramePr>
        <p:xfrm>
          <a:off x="77906" y="4367251"/>
          <a:ext cx="627036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86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 decel="100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800" decel="100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A8DF-6268-8C6F-C581-6231B3AA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BF6F-2F92-36C3-52A4-1F04D6BD9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81050"/>
            <a:ext cx="8429625" cy="619125"/>
          </a:xfrm>
        </p:spPr>
        <p:txBody>
          <a:bodyPr/>
          <a:lstStyle/>
          <a:p>
            <a:r>
              <a:rPr lang="en-US" dirty="0"/>
              <a:t>Overflow (com </a:t>
            </a:r>
            <a:r>
              <a:rPr lang="en-US" dirty="0" err="1"/>
              <a:t>sinal</a:t>
            </a:r>
            <a:r>
              <a:rPr lang="en-US" dirty="0"/>
              <a:t>/</a:t>
            </a:r>
            <a:r>
              <a:rPr lang="en-US" dirty="0" err="1"/>
              <a:t>complemento</a:t>
            </a:r>
            <a:r>
              <a:rPr lang="en-US" dirty="0"/>
              <a:t> de 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412CA-35C3-019D-5EAE-69273BF7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123" y="1485900"/>
            <a:ext cx="8341702" cy="958338"/>
          </a:xfrm>
        </p:spPr>
        <p:txBody>
          <a:bodyPr>
            <a:normAutofit/>
          </a:bodyPr>
          <a:lstStyle/>
          <a:p>
            <a:r>
              <a:rPr lang="pt-BR" dirty="0"/>
              <a:t>Em números inteiros com sinal, em complemento de 2, comparamos o </a:t>
            </a:r>
            <a:r>
              <a:rPr lang="pt-BR" dirty="0" err="1"/>
              <a:t>carry</a:t>
            </a:r>
            <a:r>
              <a:rPr lang="pt-BR" dirty="0"/>
              <a:t> que entra no bit de sinal com o </a:t>
            </a:r>
            <a:r>
              <a:rPr lang="pt-BR" dirty="0" err="1"/>
              <a:t>carry</a:t>
            </a:r>
            <a:r>
              <a:rPr lang="pt-BR" dirty="0"/>
              <a:t> que sai desse bit. Se forem diferentes, há overflow.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9AC45-E9FD-8AE5-A420-43835179F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5B5D793-0157-F3AD-8426-110042CF6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24500"/>
              </p:ext>
            </p:extLst>
          </p:nvPr>
        </p:nvGraphicFramePr>
        <p:xfrm>
          <a:off x="55642" y="3448667"/>
          <a:ext cx="313518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</a:pPr>
                      <a:r>
                        <a:rPr lang="pt-BR" sz="4000" dirty="0"/>
                        <a:t>+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3D0D2D5-2A63-68C2-EB29-E5688E726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381304"/>
              </p:ext>
            </p:extLst>
          </p:nvPr>
        </p:nvGraphicFramePr>
        <p:xfrm>
          <a:off x="2563786" y="4484987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1E66C13-9C7C-307A-EC8E-3FA67E530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387774"/>
              </p:ext>
            </p:extLst>
          </p:nvPr>
        </p:nvGraphicFramePr>
        <p:xfrm>
          <a:off x="1936750" y="4484987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71AD9D3-7C26-A62D-925C-066448E11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66094"/>
              </p:ext>
            </p:extLst>
          </p:nvPr>
        </p:nvGraphicFramePr>
        <p:xfrm>
          <a:off x="1309714" y="4474154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E2F32C84-10EC-3AC8-B20C-3FDD26A9A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256100"/>
              </p:ext>
            </p:extLst>
          </p:nvPr>
        </p:nvGraphicFramePr>
        <p:xfrm>
          <a:off x="682678" y="449034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402D3FD-33C3-5755-97BB-43CB1D7E6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364725"/>
              </p:ext>
            </p:extLst>
          </p:nvPr>
        </p:nvGraphicFramePr>
        <p:xfrm>
          <a:off x="4446934" y="3454021"/>
          <a:ext cx="313518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lnSpc>
                          <a:spcPts val="2160"/>
                        </a:lnSpc>
                      </a:pPr>
                      <a:r>
                        <a:rPr lang="pt-BR" sz="4000" dirty="0"/>
                        <a:t>+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800" b="1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A7EF3FF-9570-BB27-DBAF-02A5483B1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130384"/>
              </p:ext>
            </p:extLst>
          </p:nvPr>
        </p:nvGraphicFramePr>
        <p:xfrm>
          <a:off x="6955078" y="449034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3C3DC43-0621-1FD9-57BC-44702861A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84769"/>
              </p:ext>
            </p:extLst>
          </p:nvPr>
        </p:nvGraphicFramePr>
        <p:xfrm>
          <a:off x="6328042" y="4490341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435AFDF-F513-CC8D-0515-4B2AF292C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796458"/>
              </p:ext>
            </p:extLst>
          </p:nvPr>
        </p:nvGraphicFramePr>
        <p:xfrm>
          <a:off x="5701006" y="4479508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2EB36B8-FBF7-6AC4-C9EB-A6A00E058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297033"/>
              </p:ext>
            </p:extLst>
          </p:nvPr>
        </p:nvGraphicFramePr>
        <p:xfrm>
          <a:off x="5073970" y="4495695"/>
          <a:ext cx="627036" cy="51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D172CD97-6222-45EA-13DD-8AF6D0A70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96737"/>
              </p:ext>
            </p:extLst>
          </p:nvPr>
        </p:nvGraphicFramePr>
        <p:xfrm>
          <a:off x="4525014" y="4498084"/>
          <a:ext cx="627036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9750B8B-0E5D-EFD1-5DC8-947CBB2D1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838506"/>
              </p:ext>
            </p:extLst>
          </p:nvPr>
        </p:nvGraphicFramePr>
        <p:xfrm>
          <a:off x="5747040" y="3083181"/>
          <a:ext cx="62703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9F681322-BE5B-12F3-0AF7-D4F4BBD6B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099640"/>
              </p:ext>
            </p:extLst>
          </p:nvPr>
        </p:nvGraphicFramePr>
        <p:xfrm>
          <a:off x="3328684" y="3445865"/>
          <a:ext cx="627036" cy="15464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+5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-4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Courier"/>
                          <a:cs typeface="Courier"/>
                        </a:rPr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ABA7D6C9-7DC5-E026-3A51-996284493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42246"/>
              </p:ext>
            </p:extLst>
          </p:nvPr>
        </p:nvGraphicFramePr>
        <p:xfrm>
          <a:off x="7723734" y="3448667"/>
          <a:ext cx="627036" cy="15464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+7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i="1" dirty="0">
                          <a:latin typeface="Courier"/>
                          <a:cs typeface="Courier"/>
                        </a:rPr>
                        <a:t>+1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483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1" dirty="0">
                          <a:latin typeface="Courier"/>
                          <a:cs typeface="Courier"/>
                        </a:rPr>
                        <a:t>-8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6" name="Group 45">
            <a:extLst>
              <a:ext uri="{FF2B5EF4-FFF2-40B4-BE49-F238E27FC236}">
                <a16:creationId xmlns:a16="http://schemas.microsoft.com/office/drawing/2014/main" id="{B1EF3254-0588-8E4E-281A-E62E34E5DE3D}"/>
              </a:ext>
            </a:extLst>
          </p:cNvPr>
          <p:cNvGrpSpPr/>
          <p:nvPr/>
        </p:nvGrpSpPr>
        <p:grpSpPr>
          <a:xfrm>
            <a:off x="3600211" y="4955284"/>
            <a:ext cx="1238321" cy="649490"/>
            <a:chOff x="5518188" y="2442790"/>
            <a:chExt cx="1238321" cy="64949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B4D89E5-541C-9B88-84A8-B676B0202D3E}"/>
                </a:ext>
              </a:extLst>
            </p:cNvPr>
            <p:cNvSpPr/>
            <p:nvPr/>
          </p:nvSpPr>
          <p:spPr>
            <a:xfrm>
              <a:off x="5518188" y="2630615"/>
              <a:ext cx="1042914" cy="461665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r"/>
              <a:r>
                <a:rPr lang="en-US" dirty="0"/>
                <a:t>carry-out</a:t>
              </a:r>
              <a:endParaRPr lang="en-US" sz="600" dirty="0"/>
            </a:p>
            <a:p>
              <a:pPr algn="r"/>
              <a:endParaRPr lang="en-US" sz="600" dirty="0"/>
            </a:p>
          </p:txBody>
        </p:sp>
        <p:cxnSp>
          <p:nvCxnSpPr>
            <p:cNvPr id="48" name="Curved Connector 43">
              <a:extLst>
                <a:ext uri="{FF2B5EF4-FFF2-40B4-BE49-F238E27FC236}">
                  <a16:creationId xmlns:a16="http://schemas.microsoft.com/office/drawing/2014/main" id="{2D1397F6-582C-C773-0BD6-5FC6531898D7}"/>
                </a:ext>
              </a:extLst>
            </p:cNvPr>
            <p:cNvCxnSpPr>
              <a:stCxn id="47" idx="3"/>
              <a:endCxn id="39" idx="2"/>
            </p:cNvCxnSpPr>
            <p:nvPr/>
          </p:nvCxnSpPr>
          <p:spPr>
            <a:xfrm flipV="1">
              <a:off x="6561102" y="2442790"/>
              <a:ext cx="195407" cy="418658"/>
            </a:xfrm>
            <a:prstGeom prst="curvedConnector2">
              <a:avLst/>
            </a:prstGeom>
            <a:ln w="28575" cmpd="sng"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Picture 48" descr="120657385441132693Arnoud999_Right_or_wrong_2.svg.med.png">
            <a:extLst>
              <a:ext uri="{FF2B5EF4-FFF2-40B4-BE49-F238E27FC236}">
                <a16:creationId xmlns:a16="http://schemas.microsoft.com/office/drawing/2014/main" id="{70DDC241-A4AB-4199-B644-96969C244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006" y="2525628"/>
            <a:ext cx="976267" cy="976267"/>
          </a:xfrm>
          <a:prstGeom prst="rect">
            <a:avLst/>
          </a:prstGeom>
        </p:spPr>
      </p:pic>
      <p:pic>
        <p:nvPicPr>
          <p:cNvPr id="50" name="Picture 49" descr="1206573862448734250Arnoud999_Right_or_wrong_3.svg.med.png">
            <a:extLst>
              <a:ext uri="{FF2B5EF4-FFF2-40B4-BE49-F238E27FC236}">
                <a16:creationId xmlns:a16="http://schemas.microsoft.com/office/drawing/2014/main" id="{B08F05A5-51C1-6D79-67F1-0CB1C774D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079" y="2595047"/>
            <a:ext cx="976267" cy="976267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5AD437A2-4869-77CB-D6CA-02CFD590B2AB}"/>
              </a:ext>
            </a:extLst>
          </p:cNvPr>
          <p:cNvGrpSpPr/>
          <p:nvPr/>
        </p:nvGrpSpPr>
        <p:grpSpPr>
          <a:xfrm>
            <a:off x="412551" y="4995117"/>
            <a:ext cx="1278352" cy="589476"/>
            <a:chOff x="5156278" y="2191889"/>
            <a:chExt cx="1278352" cy="58947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4B8AB61-2D01-6CFF-B9CD-CDC4FAA35DF6}"/>
                </a:ext>
              </a:extLst>
            </p:cNvPr>
            <p:cNvSpPr/>
            <p:nvPr/>
          </p:nvSpPr>
          <p:spPr>
            <a:xfrm>
              <a:off x="5391716" y="2319700"/>
              <a:ext cx="1042914" cy="461665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r"/>
              <a:r>
                <a:rPr lang="en-US" dirty="0"/>
                <a:t>carry-out</a:t>
              </a:r>
              <a:endParaRPr lang="en-US" sz="600" dirty="0"/>
            </a:p>
            <a:p>
              <a:pPr algn="r"/>
              <a:endParaRPr lang="en-US" sz="600" dirty="0"/>
            </a:p>
          </p:txBody>
        </p:sp>
        <p:cxnSp>
          <p:nvCxnSpPr>
            <p:cNvPr id="54" name="Curved Connector 43">
              <a:extLst>
                <a:ext uri="{FF2B5EF4-FFF2-40B4-BE49-F238E27FC236}">
                  <a16:creationId xmlns:a16="http://schemas.microsoft.com/office/drawing/2014/main" id="{A39AB4CE-8768-592E-7F47-1B20D16EF3CE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rot="10800000">
              <a:off x="5156278" y="2191889"/>
              <a:ext cx="235438" cy="358645"/>
            </a:xfrm>
            <a:prstGeom prst="curvedConnector2">
              <a:avLst/>
            </a:prstGeom>
            <a:ln w="28575" cmpd="sng"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90C46DB8-09D0-6344-FBB3-0967EE7AA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268454"/>
              </p:ext>
            </p:extLst>
          </p:nvPr>
        </p:nvGraphicFramePr>
        <p:xfrm>
          <a:off x="77906" y="4490341"/>
          <a:ext cx="627036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DF41897-7962-0351-D2F7-5E37D7EA2FC5}"/>
              </a:ext>
            </a:extLst>
          </p:cNvPr>
          <p:cNvGrpSpPr/>
          <p:nvPr/>
        </p:nvGrpSpPr>
        <p:grpSpPr>
          <a:xfrm>
            <a:off x="996196" y="2595047"/>
            <a:ext cx="1103040" cy="500367"/>
            <a:chOff x="5331590" y="2319700"/>
            <a:chExt cx="1103040" cy="50036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AB5F24-7833-590D-63EB-B7C77BBBFC6C}"/>
                </a:ext>
              </a:extLst>
            </p:cNvPr>
            <p:cNvSpPr/>
            <p:nvPr/>
          </p:nvSpPr>
          <p:spPr>
            <a:xfrm>
              <a:off x="5537590" y="2319700"/>
              <a:ext cx="897040" cy="461665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r"/>
              <a:r>
                <a:rPr lang="en-US" dirty="0"/>
                <a:t>carry-in</a:t>
              </a:r>
              <a:endParaRPr lang="en-US" sz="600" dirty="0"/>
            </a:p>
            <a:p>
              <a:pPr algn="r"/>
              <a:endParaRPr lang="en-US" sz="600" dirty="0"/>
            </a:p>
          </p:txBody>
        </p:sp>
        <p:cxnSp>
          <p:nvCxnSpPr>
            <p:cNvPr id="7" name="Curved Connector 37">
              <a:extLst>
                <a:ext uri="{FF2B5EF4-FFF2-40B4-BE49-F238E27FC236}">
                  <a16:creationId xmlns:a16="http://schemas.microsoft.com/office/drawing/2014/main" id="{B3C2CEE5-C957-2A86-9446-E0942D774A5A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rot="10800000" flipV="1">
              <a:off x="5331590" y="2550532"/>
              <a:ext cx="206000" cy="269535"/>
            </a:xfrm>
            <a:prstGeom prst="curvedConnector2">
              <a:avLst/>
            </a:prstGeom>
            <a:ln w="28575" cmpd="sng">
              <a:solidFill>
                <a:srgbClr val="00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934FAF-5DB5-65B6-F5FE-3CA431F6D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197119"/>
              </p:ext>
            </p:extLst>
          </p:nvPr>
        </p:nvGraphicFramePr>
        <p:xfrm>
          <a:off x="704942" y="3060270"/>
          <a:ext cx="62703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8AFA4E-2831-3325-DC69-E4B71F438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316167"/>
              </p:ext>
            </p:extLst>
          </p:nvPr>
        </p:nvGraphicFramePr>
        <p:xfrm>
          <a:off x="6356641" y="3059734"/>
          <a:ext cx="62703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BBA1CC6-D960-DAD2-4F85-E0E3DF9E4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897621"/>
              </p:ext>
            </p:extLst>
          </p:nvPr>
        </p:nvGraphicFramePr>
        <p:xfrm>
          <a:off x="5073970" y="3071458"/>
          <a:ext cx="62703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E3B3D9-EF1B-D77A-AFD5-D7C31AC7182D}"/>
                  </a:ext>
                </a:extLst>
              </p:cNvPr>
              <p:cNvSpPr txBox="1"/>
              <p:nvPr/>
            </p:nvSpPr>
            <p:spPr>
              <a:xfrm>
                <a:off x="2174753" y="6038536"/>
                <a:ext cx="451103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>
                          <a:latin typeface="Cambria Math" panose="02040503050406030204" pitchFamily="18" charset="0"/>
                        </a:rPr>
                        <m:t>𝑂𝑣𝑒𝑟𝑓𝑙𝑜𝑤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𝐶𝑖𝑛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​⊕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𝐶𝑜𝑢𝑡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​​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E3B3D9-EF1B-D77A-AFD5-D7C31AC71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4753" y="6038536"/>
                <a:ext cx="451103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05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 decel="100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800" decel="100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8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24524</TotalTime>
  <Words>645</Words>
  <Application>Microsoft Office PowerPoint</Application>
  <PresentationFormat>On-screen Show (4:3)</PresentationFormat>
  <Paragraphs>136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Cambria Math</vt:lpstr>
      <vt:lpstr>Courier</vt:lpstr>
      <vt:lpstr>Open Sans</vt:lpstr>
      <vt:lpstr>Verdana</vt:lpstr>
      <vt:lpstr>Personalizar design</vt:lpstr>
      <vt:lpstr>PowerPoint Presentation</vt:lpstr>
      <vt:lpstr>Multiplicação e divisão por potências de 2</vt:lpstr>
      <vt:lpstr>Multiplicação/Divisão por múltiplo de 2</vt:lpstr>
      <vt:lpstr>Multiplicação Binária (unsigned)</vt:lpstr>
      <vt:lpstr>Multiplicação Binária (com sinal)</vt:lpstr>
      <vt:lpstr>Ponto fixo</vt:lpstr>
      <vt:lpstr>Overflow (sem sinal)</vt:lpstr>
      <vt:lpstr>Overflow (com sinal/complemento de 2)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2 - Python</dc:title>
  <dc:subject/>
  <dc:creator>Luciano Pereira Soares</dc:creator>
  <cp:keywords/>
  <dc:description/>
  <cp:lastModifiedBy>Luciano Soares</cp:lastModifiedBy>
  <cp:revision>740</cp:revision>
  <cp:lastPrinted>2015-05-25T01:17:28Z</cp:lastPrinted>
  <dcterms:created xsi:type="dcterms:W3CDTF">2014-04-17T20:05:08Z</dcterms:created>
  <dcterms:modified xsi:type="dcterms:W3CDTF">2026-08-28T17:06:15Z</dcterms:modified>
  <cp:category/>
</cp:coreProperties>
</file>