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2"/>
  </p:notesMasterIdLst>
  <p:handoutMasterIdLst>
    <p:handoutMasterId r:id="rId13"/>
  </p:handoutMasterIdLst>
  <p:sldIdLst>
    <p:sldId id="368" r:id="rId2"/>
    <p:sldId id="374" r:id="rId3"/>
    <p:sldId id="375" r:id="rId4"/>
    <p:sldId id="376" r:id="rId5"/>
    <p:sldId id="377" r:id="rId6"/>
    <p:sldId id="378" r:id="rId7"/>
    <p:sldId id="360" r:id="rId8"/>
    <p:sldId id="363" r:id="rId9"/>
    <p:sldId id="379" r:id="rId10"/>
    <p:sldId id="26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22" autoAdjust="0"/>
    <p:restoredTop sz="86445" autoAdjust="0"/>
  </p:normalViewPr>
  <p:slideViewPr>
    <p:cSldViewPr snapToGrid="0" snapToObjects="1" showGuides="1">
      <p:cViewPr varScale="1">
        <p:scale>
          <a:sx n="103" d="100"/>
          <a:sy n="103" d="100"/>
        </p:scale>
        <p:origin x="1888" y="184"/>
      </p:cViewPr>
      <p:guideLst>
        <p:guide orient="horz" pos="2160"/>
        <p:guide pos="2880"/>
      </p:guideLst>
    </p:cSldViewPr>
  </p:slideViewPr>
  <p:outlineViewPr>
    <p:cViewPr>
      <p:scale>
        <a:sx n="33" d="100"/>
        <a:sy n="33" d="100"/>
      </p:scale>
      <p:origin x="0" y="708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Pereira Soares" userId="16c53e34-c952-423e-8700-c0525d23304f" providerId="ADAL" clId="{1D55A5D4-1FC1-4934-A025-59DDC391468D}"/>
    <pc:docChg chg="delSld modSld">
      <pc:chgData name="Luciano Pereira Soares" userId="16c53e34-c952-423e-8700-c0525d23304f" providerId="ADAL" clId="{1D55A5D4-1FC1-4934-A025-59DDC391468D}" dt="2026-09-03T21:06:23.011" v="37" actId="47"/>
      <pc:docMkLst>
        <pc:docMk/>
      </pc:docMkLst>
      <pc:sldChg chg="del">
        <pc:chgData name="Luciano Pereira Soares" userId="16c53e34-c952-423e-8700-c0525d23304f" providerId="ADAL" clId="{1D55A5D4-1FC1-4934-A025-59DDC391468D}" dt="2026-09-03T21:06:14.431" v="35" actId="47"/>
        <pc:sldMkLst>
          <pc:docMk/>
          <pc:sldMk cId="2089327550" sldId="352"/>
        </pc:sldMkLst>
      </pc:sldChg>
      <pc:sldChg chg="del">
        <pc:chgData name="Luciano Pereira Soares" userId="16c53e34-c952-423e-8700-c0525d23304f" providerId="ADAL" clId="{1D55A5D4-1FC1-4934-A025-59DDC391468D}" dt="2026-09-03T21:06:10.216" v="33" actId="47"/>
        <pc:sldMkLst>
          <pc:docMk/>
          <pc:sldMk cId="2118858186" sldId="353"/>
        </pc:sldMkLst>
      </pc:sldChg>
      <pc:sldChg chg="del">
        <pc:chgData name="Luciano Pereira Soares" userId="16c53e34-c952-423e-8700-c0525d23304f" providerId="ADAL" clId="{1D55A5D4-1FC1-4934-A025-59DDC391468D}" dt="2026-09-03T21:06:23.011" v="37" actId="47"/>
        <pc:sldMkLst>
          <pc:docMk/>
          <pc:sldMk cId="4656225" sldId="359"/>
        </pc:sldMkLst>
      </pc:sldChg>
      <pc:sldChg chg="del">
        <pc:chgData name="Luciano Pereira Soares" userId="16c53e34-c952-423e-8700-c0525d23304f" providerId="ADAL" clId="{1D55A5D4-1FC1-4934-A025-59DDC391468D}" dt="2026-09-03T21:06:18.921" v="36" actId="47"/>
        <pc:sldMkLst>
          <pc:docMk/>
          <pc:sldMk cId="1154480582" sldId="361"/>
        </pc:sldMkLst>
      </pc:sldChg>
      <pc:sldChg chg="modSp mod">
        <pc:chgData name="Luciano Pereira Soares" userId="16c53e34-c952-423e-8700-c0525d23304f" providerId="ADAL" clId="{1D55A5D4-1FC1-4934-A025-59DDC391468D}" dt="2026-09-03T21:03:36.508" v="27" actId="20577"/>
        <pc:sldMkLst>
          <pc:docMk/>
          <pc:sldMk cId="1053764701" sldId="368"/>
        </pc:sldMkLst>
        <pc:spChg chg="mod">
          <ac:chgData name="Luciano Pereira Soares" userId="16c53e34-c952-423e-8700-c0525d23304f" providerId="ADAL" clId="{1D55A5D4-1FC1-4934-A025-59DDC391468D}" dt="2026-09-03T21:03:26.681" v="2" actId="20577"/>
          <ac:spMkLst>
            <pc:docMk/>
            <pc:sldMk cId="1053764701" sldId="368"/>
            <ac:spMk id="3" creationId="{00000000-0000-0000-0000-000000000000}"/>
          </ac:spMkLst>
        </pc:spChg>
        <pc:spChg chg="mod">
          <ac:chgData name="Luciano Pereira Soares" userId="16c53e34-c952-423e-8700-c0525d23304f" providerId="ADAL" clId="{1D55A5D4-1FC1-4934-A025-59DDC391468D}" dt="2026-09-03T21:03:36.508" v="27" actId="20577"/>
          <ac:spMkLst>
            <pc:docMk/>
            <pc:sldMk cId="1053764701" sldId="368"/>
            <ac:spMk id="8" creationId="{00000000-0000-0000-0000-000000000000}"/>
          </ac:spMkLst>
        </pc:spChg>
      </pc:sldChg>
      <pc:sldChg chg="del">
        <pc:chgData name="Luciano Pereira Soares" userId="16c53e34-c952-423e-8700-c0525d23304f" providerId="ADAL" clId="{1D55A5D4-1FC1-4934-A025-59DDC391468D}" dt="2026-09-03T21:03:21.229" v="0" actId="47"/>
        <pc:sldMkLst>
          <pc:docMk/>
          <pc:sldMk cId="1572044442" sldId="369"/>
        </pc:sldMkLst>
      </pc:sldChg>
      <pc:sldChg chg="del">
        <pc:chgData name="Luciano Pereira Soares" userId="16c53e34-c952-423e-8700-c0525d23304f" providerId="ADAL" clId="{1D55A5D4-1FC1-4934-A025-59DDC391468D}" dt="2026-09-03T21:06:08.055" v="32" actId="47"/>
        <pc:sldMkLst>
          <pc:docMk/>
          <pc:sldMk cId="2108609855" sldId="371"/>
        </pc:sldMkLst>
      </pc:sldChg>
      <pc:sldChg chg="delSp modSp del mod">
        <pc:chgData name="Luciano Pereira Soares" userId="16c53e34-c952-423e-8700-c0525d23304f" providerId="ADAL" clId="{1D55A5D4-1FC1-4934-A025-59DDC391468D}" dt="2026-09-03T21:05:45.296" v="31" actId="47"/>
        <pc:sldMkLst>
          <pc:docMk/>
          <pc:sldMk cId="887109809" sldId="372"/>
        </pc:sldMkLst>
        <pc:spChg chg="del mod">
          <ac:chgData name="Luciano Pereira Soares" userId="16c53e34-c952-423e-8700-c0525d23304f" providerId="ADAL" clId="{1D55A5D4-1FC1-4934-A025-59DDC391468D}" dt="2026-09-03T21:05:44.491" v="30"/>
          <ac:spMkLst>
            <pc:docMk/>
            <pc:sldMk cId="887109809" sldId="372"/>
            <ac:spMk id="7" creationId="{00000000-0000-0000-0000-000000000000}"/>
          </ac:spMkLst>
        </pc:spChg>
      </pc:sldChg>
      <pc:sldChg chg="del">
        <pc:chgData name="Luciano Pereira Soares" userId="16c53e34-c952-423e-8700-c0525d23304f" providerId="ADAL" clId="{1D55A5D4-1FC1-4934-A025-59DDC391468D}" dt="2026-09-03T21:06:12.239" v="34" actId="47"/>
        <pc:sldMkLst>
          <pc:docMk/>
          <pc:sldMk cId="320649904"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9/10/26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10/09/2026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://alex9ufoexploer.blogspot.com.br/2014/06/4-x-4-bit-array-multiplier-for-unsigned.html</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25692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 unidade lógica aritmética é circuito</a:t>
            </a:r>
            <a:r>
              <a:rPr lang="pt-BR" baseline="0" dirty="0"/>
              <a:t> que</a:t>
            </a:r>
            <a:r>
              <a:rPr lang="pt-BR" dirty="0"/>
              <a:t> possui normalmente duas entrada</a:t>
            </a:r>
            <a:r>
              <a:rPr lang="pt-BR" baseline="0" dirty="0"/>
              <a:t> que recebem um conjunto de bit e tem como saída, um outro conjunto de bits resultante de operações internas dessa unidade lógica, essas operações são normalmente aritméticas, porém podem ser operações lógicas como AND ou OR, ou mesmo um bit shift. Para controlar o comportamento da unidade lógica aritmética, alguns sinais de controle são fornecidos. Esses sinais informam o circuito interno como proceder. Além disso alguns sinais extra podem sair da unidade lógica, passando informações adicionais, como por exemplo se o resultado é positivo, negativo ou zero. </a:t>
            </a:r>
            <a:r>
              <a:rPr lang="pt-BR" b="1" i="1" dirty="0"/>
              <a:t>Símbolo usado para </a:t>
            </a:r>
            <a:r>
              <a:rPr lang="pt-BR" b="1" i="1" dirty="0" err="1"/>
              <a:t>ALUs</a:t>
            </a:r>
            <a:r>
              <a:rPr lang="pt-BR" b="1" i="1" dirty="0"/>
              <a:t> desde a década de 50.</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www.edwardbosworth.com</a:t>
            </a:r>
            <a:r>
              <a:rPr lang="pt-BR" dirty="0"/>
              <a:t>/My5155_Slides/Chapter09/</a:t>
            </a:r>
            <a:r>
              <a:rPr lang="pt-BR" dirty="0" err="1"/>
              <a:t>ComputerArchitectureOverview.htm</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1782529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Melhoras para o </a:t>
            </a:r>
            <a:r>
              <a:rPr lang="pt-BR" dirty="0" err="1"/>
              <a:t>Adder</a:t>
            </a:r>
            <a:r>
              <a:rPr lang="pt-BR" dirty="0"/>
              <a:t>, pois carregando os bits pode ser lento. Usar o look-</a:t>
            </a:r>
            <a:r>
              <a:rPr lang="pt-BR" dirty="0" err="1"/>
              <a:t>ahead</a:t>
            </a:r>
            <a:r>
              <a:rPr lang="pt-BR" dirty="0"/>
              <a:t>.</a:t>
            </a:r>
          </a:p>
          <a:p>
            <a:r>
              <a:rPr lang="pt-BR" dirty="0"/>
              <a:t>As operações de multiplicação e divisão serão feitas por software usando o somador (</a:t>
            </a:r>
            <a:r>
              <a:rPr lang="pt-BR" dirty="0" err="1"/>
              <a:t>Adder</a:t>
            </a:r>
            <a:r>
              <a:rPr lang="pt-BR" dirty="0"/>
              <a:t>)</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11281606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9/10/26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9/10/26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9/10/26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9/10/26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9/10/26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9/10/26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media" Target="../media/media1.mp4"/><Relationship Id="rId2" Type="http://schemas.openxmlformats.org/officeDocument/2006/relationships/tags" Target="../tags/tag1.xml"/><Relationship Id="rId1" Type="http://schemas.openxmlformats.org/officeDocument/2006/relationships/video" Target="NULL" TargetMode="External"/><Relationship Id="rId6" Type="http://schemas.openxmlformats.org/officeDocument/2006/relationships/image" Target="../media/image4.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dirty="0">
                <a:latin typeface="Verdana"/>
                <a:cs typeface="Verdana"/>
              </a:rPr>
              <a:t>aula – Controle da ULA</a:t>
            </a:r>
          </a:p>
          <a:p>
            <a:endParaRPr lang="pt-BR" dirty="0"/>
          </a:p>
        </p:txBody>
      </p:sp>
      <p:sp>
        <p:nvSpPr>
          <p:cNvPr id="8"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9" name="Rectangle 8"/>
          <p:cNvSpPr/>
          <p:nvPr/>
        </p:nvSpPr>
        <p:spPr>
          <a:xfrm>
            <a:off x="197707" y="4456654"/>
            <a:ext cx="8427308" cy="1077218"/>
          </a:xfrm>
          <a:prstGeom prst="rect">
            <a:avLst/>
          </a:prstGeom>
        </p:spPr>
        <p:txBody>
          <a:bodyPr wrap="square">
            <a:spAutoFit/>
          </a:bodyPr>
          <a:lstStyle/>
          <a:p>
            <a:pPr defTabSz="914400">
              <a:defRPr/>
            </a:pPr>
            <a:r>
              <a:rPr lang="pt-BR" sz="1600" b="1" i="1" dirty="0">
                <a:solidFill>
                  <a:schemeClr val="bg1"/>
                </a:solidFill>
              </a:rPr>
              <a:t>"Contar é a religião desta geração, sua esperança e salvação."</a:t>
            </a:r>
          </a:p>
          <a:p>
            <a:pPr defTabSz="914400">
              <a:defRPr/>
            </a:pPr>
            <a:r>
              <a:rPr lang="en-US" sz="1600" b="1" i="1" dirty="0">
                <a:solidFill>
                  <a:schemeClr val="bg1"/>
                </a:solidFill>
              </a:rPr>
              <a:t>"Counting is the religion of this generation, its hope and salvation."</a:t>
            </a:r>
          </a:p>
          <a:p>
            <a:pPr defTabSz="914400">
              <a:defRPr/>
            </a:pPr>
            <a:r>
              <a:rPr lang="is-IS" sz="1600" b="1" i="1" dirty="0">
                <a:solidFill>
                  <a:schemeClr val="bg1"/>
                </a:solidFill>
              </a:rPr>
              <a:t>Gertrude Stein (1874–1946) </a:t>
            </a:r>
            <a:r>
              <a:rPr lang="pt-BR" sz="1600" b="1" dirty="0">
                <a:solidFill>
                  <a:schemeClr val="bg1"/>
                </a:solidFill>
              </a:rPr>
              <a:t>escritora americana</a:t>
            </a:r>
          </a:p>
          <a:p>
            <a:pPr defTabSz="914400">
              <a:defRPr/>
            </a:pPr>
            <a:r>
              <a:rPr lang="pt-BR" sz="1600" b="1" dirty="0">
                <a:solidFill>
                  <a:schemeClr val="bg1"/>
                </a:solidFill>
              </a:rPr>
              <a:t>apud </a:t>
            </a:r>
            <a:r>
              <a:rPr lang="pt-BR" sz="1600" b="1" dirty="0" err="1">
                <a:solidFill>
                  <a:schemeClr val="bg1"/>
                </a:solidFill>
              </a:rPr>
              <a:t>Nisan</a:t>
            </a:r>
            <a:r>
              <a:rPr lang="pt-BR" sz="1600" b="1" dirty="0">
                <a:solidFill>
                  <a:schemeClr val="bg1"/>
                </a:solidFill>
              </a:rPr>
              <a:t>, N. &amp; </a:t>
            </a:r>
            <a:r>
              <a:rPr lang="pt-BR" sz="1600" b="1" dirty="0" err="1">
                <a:solidFill>
                  <a:schemeClr val="bg1"/>
                </a:solidFill>
              </a:rPr>
              <a:t>Schocken</a:t>
            </a:r>
            <a:r>
              <a:rPr lang="pt-BR" sz="1600" b="1" dirty="0">
                <a:solidFill>
                  <a:schemeClr val="bg1"/>
                </a:solidFill>
              </a:rPr>
              <a:t>, S. 2005. </a:t>
            </a:r>
            <a:r>
              <a:rPr lang="en-US" sz="1600" b="1" dirty="0">
                <a:solidFill>
                  <a:schemeClr val="bg1"/>
                </a:solidFill>
              </a:rPr>
              <a:t>Elements of Computing Systems</a:t>
            </a:r>
          </a:p>
        </p:txBody>
      </p:sp>
    </p:spTree>
    <p:extLst>
      <p:ext uri="{BB962C8B-B14F-4D97-AF65-F5344CB8AC3E}">
        <p14:creationId xmlns:p14="http://schemas.microsoft.com/office/powerpoint/2010/main" val="10537647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Unidade Lógica Aritmética (ULA)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grpSp>
        <p:nvGrpSpPr>
          <p:cNvPr id="10" name="Group 9"/>
          <p:cNvGrpSpPr/>
          <p:nvPr/>
        </p:nvGrpSpPr>
        <p:grpSpPr>
          <a:xfrm>
            <a:off x="1531335" y="2402927"/>
            <a:ext cx="4353218" cy="2689152"/>
            <a:chOff x="1614348" y="3454624"/>
            <a:chExt cx="4353218" cy="2689152"/>
          </a:xfrm>
        </p:grpSpPr>
        <p:sp>
          <p:nvSpPr>
            <p:cNvPr id="8" name="Regular Pentagon 7"/>
            <p:cNvSpPr/>
            <p:nvPr/>
          </p:nvSpPr>
          <p:spPr>
            <a:xfrm>
              <a:off x="3327257" y="4349168"/>
              <a:ext cx="2640309" cy="929605"/>
            </a:xfrm>
            <a:custGeom>
              <a:avLst/>
              <a:gdLst>
                <a:gd name="connsiteX0" fmla="*/ 3 w 2640315"/>
                <a:gd name="connsiteY0" fmla="*/ 574527 h 1504136"/>
                <a:gd name="connsiteX1" fmla="*/ 1320158 w 2640315"/>
                <a:gd name="connsiteY1" fmla="*/ 0 h 1504136"/>
                <a:gd name="connsiteX2" fmla="*/ 2640312 w 2640315"/>
                <a:gd name="connsiteY2" fmla="*/ 574527 h 1504136"/>
                <a:gd name="connsiteX3" fmla="*/ 2136058 w 2640315"/>
                <a:gd name="connsiteY3" fmla="*/ 1504132 h 1504136"/>
                <a:gd name="connsiteX4" fmla="*/ 504257 w 2640315"/>
                <a:gd name="connsiteY4" fmla="*/ 1504132 h 1504136"/>
                <a:gd name="connsiteX5" fmla="*/ 3 w 2640315"/>
                <a:gd name="connsiteY5" fmla="*/ 574527 h 1504136"/>
                <a:gd name="connsiteX0" fmla="*/ 0 w 2640309"/>
                <a:gd name="connsiteY0" fmla="*/ 106025 h 1035630"/>
                <a:gd name="connsiteX1" fmla="*/ 1369474 w 2640309"/>
                <a:gd name="connsiteY1" fmla="*/ 0 h 1035630"/>
                <a:gd name="connsiteX2" fmla="*/ 2640309 w 2640309"/>
                <a:gd name="connsiteY2" fmla="*/ 106025 h 1035630"/>
                <a:gd name="connsiteX3" fmla="*/ 2136055 w 2640309"/>
                <a:gd name="connsiteY3" fmla="*/ 1035630 h 1035630"/>
                <a:gd name="connsiteX4" fmla="*/ 504254 w 2640309"/>
                <a:gd name="connsiteY4" fmla="*/ 1035630 h 1035630"/>
                <a:gd name="connsiteX5" fmla="*/ 0 w 2640309"/>
                <a:gd name="connsiteY5" fmla="*/ 106025 h 1035630"/>
                <a:gd name="connsiteX0" fmla="*/ 0 w 2640309"/>
                <a:gd name="connsiteY0" fmla="*/ 19722 h 949327"/>
                <a:gd name="connsiteX1" fmla="*/ 1369474 w 2640309"/>
                <a:gd name="connsiteY1" fmla="*/ 0 h 949327"/>
                <a:gd name="connsiteX2" fmla="*/ 2640309 w 2640309"/>
                <a:gd name="connsiteY2" fmla="*/ 19722 h 949327"/>
                <a:gd name="connsiteX3" fmla="*/ 2136055 w 2640309"/>
                <a:gd name="connsiteY3" fmla="*/ 949327 h 949327"/>
                <a:gd name="connsiteX4" fmla="*/ 504254 w 2640309"/>
                <a:gd name="connsiteY4" fmla="*/ 949327 h 949327"/>
                <a:gd name="connsiteX5" fmla="*/ 0 w 2640309"/>
                <a:gd name="connsiteY5" fmla="*/ 19722 h 949327"/>
                <a:gd name="connsiteX0" fmla="*/ 0 w 2640309"/>
                <a:gd name="connsiteY0" fmla="*/ 0 h 929605"/>
                <a:gd name="connsiteX1" fmla="*/ 1369474 w 2640309"/>
                <a:gd name="connsiteY1" fmla="*/ 4936 h 929605"/>
                <a:gd name="connsiteX2" fmla="*/ 2640309 w 2640309"/>
                <a:gd name="connsiteY2" fmla="*/ 0 h 929605"/>
                <a:gd name="connsiteX3" fmla="*/ 2136055 w 2640309"/>
                <a:gd name="connsiteY3" fmla="*/ 929605 h 929605"/>
                <a:gd name="connsiteX4" fmla="*/ 504254 w 2640309"/>
                <a:gd name="connsiteY4" fmla="*/ 929605 h 929605"/>
                <a:gd name="connsiteX5" fmla="*/ 0 w 2640309"/>
                <a:gd name="connsiteY5" fmla="*/ 0 h 929605"/>
                <a:gd name="connsiteX0" fmla="*/ 0 w 2640309"/>
                <a:gd name="connsiteY0" fmla="*/ 7394 h 936999"/>
                <a:gd name="connsiteX1" fmla="*/ 1369474 w 2640309"/>
                <a:gd name="connsiteY1" fmla="*/ 12330 h 936999"/>
                <a:gd name="connsiteX2" fmla="*/ 1999168 w 2640309"/>
                <a:gd name="connsiteY2" fmla="*/ 0 h 936999"/>
                <a:gd name="connsiteX3" fmla="*/ 2640309 w 2640309"/>
                <a:gd name="connsiteY3" fmla="*/ 7394 h 936999"/>
                <a:gd name="connsiteX4" fmla="*/ 2136055 w 2640309"/>
                <a:gd name="connsiteY4" fmla="*/ 936999 h 936999"/>
                <a:gd name="connsiteX5" fmla="*/ 504254 w 2640309"/>
                <a:gd name="connsiteY5" fmla="*/ 936999 h 936999"/>
                <a:gd name="connsiteX6" fmla="*/ 0 w 2640309"/>
                <a:gd name="connsiteY6" fmla="*/ 7394 h 936999"/>
                <a:gd name="connsiteX0" fmla="*/ 0 w 2640309"/>
                <a:gd name="connsiteY0" fmla="*/ 19723 h 949328"/>
                <a:gd name="connsiteX1" fmla="*/ 1369474 w 2640309"/>
                <a:gd name="connsiteY1" fmla="*/ 24659 h 949328"/>
                <a:gd name="connsiteX2" fmla="*/ 1629278 w 2640309"/>
                <a:gd name="connsiteY2" fmla="*/ 0 h 949328"/>
                <a:gd name="connsiteX3" fmla="*/ 1999168 w 2640309"/>
                <a:gd name="connsiteY3" fmla="*/ 12329 h 949328"/>
                <a:gd name="connsiteX4" fmla="*/ 2640309 w 2640309"/>
                <a:gd name="connsiteY4" fmla="*/ 19723 h 949328"/>
                <a:gd name="connsiteX5" fmla="*/ 2136055 w 2640309"/>
                <a:gd name="connsiteY5" fmla="*/ 949328 h 949328"/>
                <a:gd name="connsiteX6" fmla="*/ 504254 w 2640309"/>
                <a:gd name="connsiteY6" fmla="*/ 949328 h 949328"/>
                <a:gd name="connsiteX7" fmla="*/ 0 w 2640309"/>
                <a:gd name="connsiteY7" fmla="*/ 19723 h 949328"/>
                <a:gd name="connsiteX0" fmla="*/ 0 w 2640309"/>
                <a:gd name="connsiteY0" fmla="*/ 7394 h 936999"/>
                <a:gd name="connsiteX1" fmla="*/ 1369474 w 2640309"/>
                <a:gd name="connsiteY1" fmla="*/ 12330 h 936999"/>
                <a:gd name="connsiteX2" fmla="*/ 1777235 w 2640309"/>
                <a:gd name="connsiteY2" fmla="*/ 320554 h 936999"/>
                <a:gd name="connsiteX3" fmla="*/ 1999168 w 2640309"/>
                <a:gd name="connsiteY3" fmla="*/ 0 h 936999"/>
                <a:gd name="connsiteX4" fmla="*/ 2640309 w 2640309"/>
                <a:gd name="connsiteY4" fmla="*/ 7394 h 936999"/>
                <a:gd name="connsiteX5" fmla="*/ 2136055 w 2640309"/>
                <a:gd name="connsiteY5" fmla="*/ 936999 h 936999"/>
                <a:gd name="connsiteX6" fmla="*/ 504254 w 2640309"/>
                <a:gd name="connsiteY6" fmla="*/ 936999 h 936999"/>
                <a:gd name="connsiteX7" fmla="*/ 0 w 2640309"/>
                <a:gd name="connsiteY7" fmla="*/ 7394 h 936999"/>
                <a:gd name="connsiteX0" fmla="*/ 0 w 2640309"/>
                <a:gd name="connsiteY0" fmla="*/ 7394 h 936999"/>
                <a:gd name="connsiteX1" fmla="*/ 655233 w 2640309"/>
                <a:gd name="connsiteY1" fmla="*/ 12329 h 936999"/>
                <a:gd name="connsiteX2" fmla="*/ 1369474 w 2640309"/>
                <a:gd name="connsiteY2" fmla="*/ 12330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7394 h 936999"/>
                <a:gd name="connsiteX1" fmla="*/ 655233 w 2640309"/>
                <a:gd name="connsiteY1" fmla="*/ 12329 h 936999"/>
                <a:gd name="connsiteX2" fmla="*/ 839298 w 2640309"/>
                <a:gd name="connsiteY2" fmla="*/ 320555 h 936999"/>
                <a:gd name="connsiteX3" fmla="*/ 1777235 w 2640309"/>
                <a:gd name="connsiteY3" fmla="*/ 320554 h 936999"/>
                <a:gd name="connsiteX4" fmla="*/ 1999168 w 2640309"/>
                <a:gd name="connsiteY4" fmla="*/ 0 h 936999"/>
                <a:gd name="connsiteX5" fmla="*/ 2640309 w 2640309"/>
                <a:gd name="connsiteY5" fmla="*/ 7394 h 936999"/>
                <a:gd name="connsiteX6" fmla="*/ 2136055 w 2640309"/>
                <a:gd name="connsiteY6" fmla="*/ 936999 h 936999"/>
                <a:gd name="connsiteX7" fmla="*/ 504254 w 2640309"/>
                <a:gd name="connsiteY7" fmla="*/ 936999 h 936999"/>
                <a:gd name="connsiteX8" fmla="*/ 0 w 2640309"/>
                <a:gd name="connsiteY8" fmla="*/ 7394 h 936999"/>
                <a:gd name="connsiteX0" fmla="*/ 0 w 2640309"/>
                <a:gd name="connsiteY0" fmla="*/ 0 h 929605"/>
                <a:gd name="connsiteX1" fmla="*/ 65523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 name="connsiteX0" fmla="*/ 0 w 2640309"/>
                <a:gd name="connsiteY0" fmla="*/ 0 h 929605"/>
                <a:gd name="connsiteX1" fmla="*/ 667563 w 2640309"/>
                <a:gd name="connsiteY1" fmla="*/ 4935 h 929605"/>
                <a:gd name="connsiteX2" fmla="*/ 839298 w 2640309"/>
                <a:gd name="connsiteY2" fmla="*/ 313161 h 929605"/>
                <a:gd name="connsiteX3" fmla="*/ 1777235 w 2640309"/>
                <a:gd name="connsiteY3" fmla="*/ 313160 h 929605"/>
                <a:gd name="connsiteX4" fmla="*/ 1986839 w 2640309"/>
                <a:gd name="connsiteY4" fmla="*/ 4935 h 929605"/>
                <a:gd name="connsiteX5" fmla="*/ 2640309 w 2640309"/>
                <a:gd name="connsiteY5" fmla="*/ 0 h 929605"/>
                <a:gd name="connsiteX6" fmla="*/ 2136055 w 2640309"/>
                <a:gd name="connsiteY6" fmla="*/ 929605 h 929605"/>
                <a:gd name="connsiteX7" fmla="*/ 504254 w 2640309"/>
                <a:gd name="connsiteY7" fmla="*/ 929605 h 929605"/>
                <a:gd name="connsiteX8" fmla="*/ 0 w 2640309"/>
                <a:gd name="connsiteY8" fmla="*/ 0 h 92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0309" h="929605">
                  <a:moveTo>
                    <a:pt x="0" y="0"/>
                  </a:moveTo>
                  <a:lnTo>
                    <a:pt x="667563" y="4935"/>
                  </a:lnTo>
                  <a:lnTo>
                    <a:pt x="839298" y="313161"/>
                  </a:lnTo>
                  <a:lnTo>
                    <a:pt x="1777235" y="313160"/>
                  </a:lnTo>
                  <a:lnTo>
                    <a:pt x="1986839" y="4935"/>
                  </a:lnTo>
                  <a:lnTo>
                    <a:pt x="2640309" y="0"/>
                  </a:lnTo>
                  <a:lnTo>
                    <a:pt x="2136055" y="929605"/>
                  </a:lnTo>
                  <a:lnTo>
                    <a:pt x="504254" y="929605"/>
                  </a:lnTo>
                  <a:lnTo>
                    <a:pt x="0" y="0"/>
                  </a:lnTo>
                  <a:close/>
                </a:path>
              </a:pathLst>
            </a:custGeom>
            <a:no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2" name="Straight Arrow Connector 11"/>
            <p:cNvCxnSpPr/>
            <p:nvPr/>
          </p:nvCxnSpPr>
          <p:spPr>
            <a:xfrm>
              <a:off x="3698909" y="3947246"/>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5602122" y="3947246"/>
              <a:ext cx="0" cy="36151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490474" y="3454624"/>
              <a:ext cx="417790" cy="553998"/>
            </a:xfrm>
            <a:prstGeom prst="rect">
              <a:avLst/>
            </a:prstGeom>
          </p:spPr>
          <p:txBody>
            <a:bodyPr wrap="none">
              <a:spAutoFit/>
            </a:bodyPr>
            <a:lstStyle/>
            <a:p>
              <a:r>
                <a:rPr lang="pt-BR" sz="3000" b="1" dirty="0"/>
                <a:t>A</a:t>
              </a:r>
            </a:p>
          </p:txBody>
        </p:sp>
        <p:sp>
          <p:nvSpPr>
            <p:cNvPr id="19" name="Rectangle 18"/>
            <p:cNvSpPr/>
            <p:nvPr/>
          </p:nvSpPr>
          <p:spPr>
            <a:xfrm>
              <a:off x="5405557" y="3454624"/>
              <a:ext cx="400320" cy="553998"/>
            </a:xfrm>
            <a:prstGeom prst="rect">
              <a:avLst/>
            </a:prstGeom>
          </p:spPr>
          <p:txBody>
            <a:bodyPr wrap="none">
              <a:spAutoFit/>
            </a:bodyPr>
            <a:lstStyle/>
            <a:p>
              <a:r>
                <a:rPr lang="pt-BR" sz="3000" b="1" dirty="0"/>
                <a:t>B</a:t>
              </a:r>
            </a:p>
          </p:txBody>
        </p:sp>
        <p:cxnSp>
          <p:nvCxnSpPr>
            <p:cNvPr id="22" name="Straight Arrow Connector 21"/>
            <p:cNvCxnSpPr/>
            <p:nvPr/>
          </p:nvCxnSpPr>
          <p:spPr>
            <a:xfrm>
              <a:off x="4652738" y="5303431"/>
              <a:ext cx="0" cy="364935"/>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703353" y="5589778"/>
              <a:ext cx="1898770" cy="553998"/>
            </a:xfrm>
            <a:prstGeom prst="rect">
              <a:avLst/>
            </a:prstGeom>
          </p:spPr>
          <p:txBody>
            <a:bodyPr wrap="square">
              <a:spAutoFit/>
            </a:bodyPr>
            <a:lstStyle/>
            <a:p>
              <a:pPr algn="ctr"/>
              <a:r>
                <a:rPr lang="pt-BR" sz="3000" b="1"/>
                <a:t>Resultado</a:t>
              </a:r>
              <a:endParaRPr lang="pt-BR" sz="3000" b="1" dirty="0"/>
            </a:p>
          </p:txBody>
        </p:sp>
        <p:cxnSp>
          <p:nvCxnSpPr>
            <p:cNvPr id="15" name="Straight Arrow Connector 14"/>
            <p:cNvCxnSpPr/>
            <p:nvPr/>
          </p:nvCxnSpPr>
          <p:spPr>
            <a:xfrm>
              <a:off x="2817609" y="4927625"/>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614348" y="4686824"/>
              <a:ext cx="1256173" cy="461665"/>
            </a:xfrm>
            <a:prstGeom prst="rect">
              <a:avLst/>
            </a:prstGeom>
          </p:spPr>
          <p:txBody>
            <a:bodyPr wrap="none">
              <a:spAutoFit/>
            </a:bodyPr>
            <a:lstStyle/>
            <a:p>
              <a:r>
                <a:rPr lang="pt-BR" sz="2400" b="1" dirty="0"/>
                <a:t>controle</a:t>
              </a:r>
            </a:p>
          </p:txBody>
        </p:sp>
      </p:grpSp>
      <p:cxnSp>
        <p:nvCxnSpPr>
          <p:cNvPr id="17" name="Straight Arrow Connector 16"/>
          <p:cNvCxnSpPr/>
          <p:nvPr/>
        </p:nvCxnSpPr>
        <p:spPr>
          <a:xfrm>
            <a:off x="5630196" y="3808194"/>
            <a:ext cx="782364" cy="0"/>
          </a:xfrm>
          <a:prstGeom prst="straightConnector1">
            <a:avLst/>
          </a:prstGeom>
          <a:ln w="3810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412560" y="3544393"/>
            <a:ext cx="803425" cy="461665"/>
          </a:xfrm>
          <a:prstGeom prst="rect">
            <a:avLst/>
          </a:prstGeom>
        </p:spPr>
        <p:txBody>
          <a:bodyPr wrap="none">
            <a:spAutoFit/>
          </a:bodyPr>
          <a:lstStyle/>
          <a:p>
            <a:r>
              <a:rPr lang="en-US" sz="2400" b="1" i="1" dirty="0"/>
              <a:t>flags</a:t>
            </a:r>
          </a:p>
        </p:txBody>
      </p:sp>
      <p:pic>
        <p:nvPicPr>
          <p:cNvPr id="7" name="tmpD473">
            <a:hlinkClick r:id="" action="ppaction://media"/>
          </p:cNvPr>
          <p:cNvPicPr>
            <a:picLocks noChangeAspect="1"/>
          </p:cNvPicPr>
          <p:nvPr>
            <a:videoFile r:link="rId1"/>
            <p:custDataLst>
              <p:tags r:id="rId2"/>
            </p:custDataLst>
            <p:extLst>
              <p:ext uri="{DAA4B4D4-6D71-4841-9C94-3DE7FCFB9230}">
                <p14:media xmlns:p14="http://schemas.microsoft.com/office/powerpoint/2010/main" r:embed="rId3">
                  <p14:trim end="6.2018"/>
                </p14:media>
              </p:ext>
              <p:ext uri="{42D2F446-02D8-4167-A562-619A0277C38B}">
                <p15:isNarration xmlns:p15="http://schemas.microsoft.com/office/powerpoint/2012/main" val="1"/>
              </p:ext>
            </p:extLst>
          </p:nvPr>
        </p:nvPicPr>
        <p:blipFill>
          <a:blip r:embed="rId6"/>
          <a:stretch>
            <a:fillRect/>
          </a:stretch>
        </p:blipFill>
        <p:spPr>
          <a:xfrm>
            <a:off x="8813800" y="101600"/>
            <a:ext cx="228600" cy="228600"/>
          </a:xfrm>
          <a:prstGeom prst="rect">
            <a:avLst/>
          </a:prstGeom>
        </p:spPr>
      </p:pic>
    </p:spTree>
    <p:extLst>
      <p:ext uri="{BB962C8B-B14F-4D97-AF65-F5344CB8AC3E}">
        <p14:creationId xmlns:p14="http://schemas.microsoft.com/office/powerpoint/2010/main" val="2058404034"/>
      </p:ext>
    </p:extLst>
  </p:cSld>
  <p:clrMapOvr>
    <a:masterClrMapping/>
  </p:clrMapOvr>
  <mc:AlternateContent xmlns:mc="http://schemas.openxmlformats.org/markup-compatibility/2006" xmlns:p14="http://schemas.microsoft.com/office/powerpoint/2010/main">
    <mc:Choice Requires="p14">
      <p:transition spd="slow" p14:dur="1200" advTm="48895">
        <p14:prism/>
      </p:transition>
    </mc:Choice>
    <mc:Fallback xmlns="">
      <p:transition spd="slow" advTm="4889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1"/>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AFEBE-1BD5-B7C2-9AEB-FFD6198A4130}"/>
              </a:ext>
            </a:extLst>
          </p:cNvPr>
          <p:cNvSpPr>
            <a:spLocks noGrp="1"/>
          </p:cNvSpPr>
          <p:nvPr>
            <p:ph type="title"/>
          </p:nvPr>
        </p:nvSpPr>
        <p:spPr>
          <a:xfrm>
            <a:off x="457200" y="781050"/>
            <a:ext cx="8229600" cy="619125"/>
          </a:xfrm>
        </p:spPr>
        <p:txBody>
          <a:bodyPr>
            <a:normAutofit/>
          </a:bodyPr>
          <a:lstStyle/>
          <a:p>
            <a:r>
              <a:rPr lang="en-US" dirty="0"/>
              <a:t>ULA do Hack (Z01)</a:t>
            </a:r>
          </a:p>
        </p:txBody>
      </p:sp>
      <p:pic>
        <p:nvPicPr>
          <p:cNvPr id="6" name="Picture 5">
            <a:extLst>
              <a:ext uri="{FF2B5EF4-FFF2-40B4-BE49-F238E27FC236}">
                <a16:creationId xmlns:a16="http://schemas.microsoft.com/office/drawing/2014/main" id="{686023A9-6498-8AE0-D747-2683B93EB209}"/>
              </a:ext>
            </a:extLst>
          </p:cNvPr>
          <p:cNvPicPr>
            <a:picLocks noChangeAspect="1"/>
          </p:cNvPicPr>
          <p:nvPr/>
        </p:nvPicPr>
        <p:blipFill>
          <a:blip r:embed="rId2"/>
          <a:stretch>
            <a:fillRect/>
          </a:stretch>
        </p:blipFill>
        <p:spPr>
          <a:xfrm>
            <a:off x="657225" y="2031408"/>
            <a:ext cx="8029575" cy="3633383"/>
          </a:xfrm>
          <a:prstGeom prst="rect">
            <a:avLst/>
          </a:prstGeom>
          <a:noFill/>
        </p:spPr>
      </p:pic>
      <p:sp>
        <p:nvSpPr>
          <p:cNvPr id="11" name="Text Placeholder 3">
            <a:extLst>
              <a:ext uri="{FF2B5EF4-FFF2-40B4-BE49-F238E27FC236}">
                <a16:creationId xmlns:a16="http://schemas.microsoft.com/office/drawing/2014/main" id="{ABCC8040-3BFD-B683-3E53-159B756C78E3}"/>
              </a:ext>
            </a:extLst>
          </p:cNvPr>
          <p:cNvSpPr>
            <a:spLocks noGrp="1"/>
          </p:cNvSpPr>
          <p:nvPr>
            <p:ph type="body" sz="quarter" idx="13"/>
          </p:nvPr>
        </p:nvSpPr>
        <p:spPr>
          <a:xfrm>
            <a:off x="161925" y="85725"/>
            <a:ext cx="7229475" cy="352425"/>
          </a:xfrm>
        </p:spPr>
        <p:txBody>
          <a:bodyPr/>
          <a:lstStyle/>
          <a:p>
            <a:endParaRPr lang="en-US"/>
          </a:p>
        </p:txBody>
      </p:sp>
      <p:sp>
        <p:nvSpPr>
          <p:cNvPr id="5" name="Slide Number Placeholder 4">
            <a:extLst>
              <a:ext uri="{FF2B5EF4-FFF2-40B4-BE49-F238E27FC236}">
                <a16:creationId xmlns:a16="http://schemas.microsoft.com/office/drawing/2014/main" id="{2BF8DCA0-C4D4-982E-87C7-B33B1C406EAA}"/>
              </a:ext>
            </a:extLst>
          </p:cNvPr>
          <p:cNvSpPr>
            <a:spLocks noGrp="1"/>
          </p:cNvSpPr>
          <p:nvPr>
            <p:ph type="sldNum" sz="quarter" idx="4"/>
          </p:nvPr>
        </p:nvSpPr>
        <p:spPr>
          <a:xfrm>
            <a:off x="84172" y="6402174"/>
            <a:ext cx="641516" cy="365125"/>
          </a:xfrm>
        </p:spPr>
        <p:txBody>
          <a:bodyPr anchor="ctr">
            <a:normAutofit/>
          </a:bodyPr>
          <a:lstStyle/>
          <a:p>
            <a:pPr>
              <a:spcAft>
                <a:spcPts val="600"/>
              </a:spcAft>
            </a:pPr>
            <a:fld id="{7FFE5E5C-C80A-4D8D-A711-3102A7BA9258}" type="slidenum">
              <a:rPr lang="pt-BR" smtClean="0"/>
              <a:pPr>
                <a:spcAft>
                  <a:spcPts val="600"/>
                </a:spcAft>
              </a:pPr>
              <a:t>3</a:t>
            </a:fld>
            <a:endParaRPr lang="pt-BR"/>
          </a:p>
        </p:txBody>
      </p:sp>
    </p:spTree>
    <p:extLst>
      <p:ext uri="{BB962C8B-B14F-4D97-AF65-F5344CB8AC3E}">
        <p14:creationId xmlns:p14="http://schemas.microsoft.com/office/powerpoint/2010/main" val="243474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160A-EBA1-E8E0-EBF7-FBBFC97FE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42E48-A4BD-5F1F-852D-FAEDE2C341ED}"/>
              </a:ext>
            </a:extLst>
          </p:cNvPr>
          <p:cNvSpPr>
            <a:spLocks noGrp="1"/>
          </p:cNvSpPr>
          <p:nvPr>
            <p:ph type="title"/>
          </p:nvPr>
        </p:nvSpPr>
        <p:spPr>
          <a:xfrm>
            <a:off x="457200" y="781050"/>
            <a:ext cx="8229600" cy="619125"/>
          </a:xfrm>
        </p:spPr>
        <p:txBody>
          <a:bodyPr>
            <a:normAutofit/>
          </a:bodyPr>
          <a:lstStyle/>
          <a:p>
            <a:r>
              <a:rPr lang="en-US" dirty="0"/>
              <a:t>ULA do Hack (Z01)</a:t>
            </a:r>
          </a:p>
        </p:txBody>
      </p:sp>
      <p:pic>
        <p:nvPicPr>
          <p:cNvPr id="6" name="Picture 5">
            <a:extLst>
              <a:ext uri="{FF2B5EF4-FFF2-40B4-BE49-F238E27FC236}">
                <a16:creationId xmlns:a16="http://schemas.microsoft.com/office/drawing/2014/main" id="{ACA76E31-F716-671E-FC44-FE22B8798745}"/>
              </a:ext>
            </a:extLst>
          </p:cNvPr>
          <p:cNvPicPr>
            <a:picLocks noChangeAspect="1"/>
          </p:cNvPicPr>
          <p:nvPr/>
        </p:nvPicPr>
        <p:blipFill>
          <a:blip r:embed="rId2"/>
          <a:stretch>
            <a:fillRect/>
          </a:stretch>
        </p:blipFill>
        <p:spPr>
          <a:xfrm>
            <a:off x="2452816" y="1658921"/>
            <a:ext cx="6388443" cy="2890771"/>
          </a:xfrm>
          <a:prstGeom prst="rect">
            <a:avLst/>
          </a:prstGeom>
          <a:noFill/>
        </p:spPr>
      </p:pic>
      <p:sp>
        <p:nvSpPr>
          <p:cNvPr id="11" name="Text Placeholder 3">
            <a:extLst>
              <a:ext uri="{FF2B5EF4-FFF2-40B4-BE49-F238E27FC236}">
                <a16:creationId xmlns:a16="http://schemas.microsoft.com/office/drawing/2014/main" id="{CDAD6720-5E6C-0E37-976A-64297BDBF273}"/>
              </a:ext>
            </a:extLst>
          </p:cNvPr>
          <p:cNvSpPr>
            <a:spLocks noGrp="1"/>
          </p:cNvSpPr>
          <p:nvPr>
            <p:ph type="body" sz="quarter" idx="13"/>
          </p:nvPr>
        </p:nvSpPr>
        <p:spPr>
          <a:xfrm>
            <a:off x="161925" y="85725"/>
            <a:ext cx="7229475" cy="352425"/>
          </a:xfrm>
        </p:spPr>
        <p:txBody>
          <a:bodyPr/>
          <a:lstStyle/>
          <a:p>
            <a:endParaRPr lang="en-US"/>
          </a:p>
        </p:txBody>
      </p:sp>
      <p:sp>
        <p:nvSpPr>
          <p:cNvPr id="5" name="Slide Number Placeholder 4">
            <a:extLst>
              <a:ext uri="{FF2B5EF4-FFF2-40B4-BE49-F238E27FC236}">
                <a16:creationId xmlns:a16="http://schemas.microsoft.com/office/drawing/2014/main" id="{8C69AB13-CEAE-DE15-F08F-2BAB27648652}"/>
              </a:ext>
            </a:extLst>
          </p:cNvPr>
          <p:cNvSpPr>
            <a:spLocks noGrp="1"/>
          </p:cNvSpPr>
          <p:nvPr>
            <p:ph type="sldNum" sz="quarter" idx="4"/>
          </p:nvPr>
        </p:nvSpPr>
        <p:spPr>
          <a:xfrm>
            <a:off x="84172" y="6402174"/>
            <a:ext cx="641516" cy="365125"/>
          </a:xfrm>
        </p:spPr>
        <p:txBody>
          <a:bodyPr anchor="ctr">
            <a:normAutofit/>
          </a:bodyPr>
          <a:lstStyle/>
          <a:p>
            <a:pPr>
              <a:spcAft>
                <a:spcPts val="600"/>
              </a:spcAft>
            </a:pPr>
            <a:fld id="{7FFE5E5C-C80A-4D8D-A711-3102A7BA9258}" type="slidenum">
              <a:rPr lang="pt-BR" smtClean="0"/>
              <a:pPr>
                <a:spcAft>
                  <a:spcPts val="600"/>
                </a:spcAft>
              </a:pPr>
              <a:t>4</a:t>
            </a:fld>
            <a:endParaRPr lang="pt-BR"/>
          </a:p>
        </p:txBody>
      </p:sp>
      <p:sp>
        <p:nvSpPr>
          <p:cNvPr id="4" name="TextBox 3">
            <a:extLst>
              <a:ext uri="{FF2B5EF4-FFF2-40B4-BE49-F238E27FC236}">
                <a16:creationId xmlns:a16="http://schemas.microsoft.com/office/drawing/2014/main" id="{3B10D265-2783-7E92-8810-41173DEB088C}"/>
              </a:ext>
            </a:extLst>
          </p:cNvPr>
          <p:cNvSpPr txBox="1"/>
          <p:nvPr/>
        </p:nvSpPr>
        <p:spPr>
          <a:xfrm>
            <a:off x="914400" y="4808438"/>
            <a:ext cx="4732638" cy="1754326"/>
          </a:xfrm>
          <a:prstGeom prst="rect">
            <a:avLst/>
          </a:prstGeom>
          <a:noFill/>
          <a:ln>
            <a:solidFill>
              <a:schemeClr val="tx1"/>
            </a:solidFill>
          </a:ln>
        </p:spPr>
        <p:txBody>
          <a:bodyPr wrap="square">
            <a:spAutoFit/>
          </a:bodyPr>
          <a:lstStyle/>
          <a:p>
            <a:pPr marL="342900" marR="0" lvl="0" indent="-342900" algn="l">
              <a:buFont typeface="Arial" panose="020B0604020202020204" pitchFamily="34" charset="0"/>
              <a:buChar char="•"/>
            </a:pPr>
            <a:r>
              <a:rPr lang="en-BR" sz="1800" b="1" i="1" dirty="0">
                <a:solidFill>
                  <a:schemeClr val="tx1"/>
                </a:solidFill>
                <a:effectLst/>
                <a:latin typeface="+mn-lt"/>
              </a:rPr>
              <a:t>X</a:t>
            </a:r>
            <a:r>
              <a:rPr lang="en-BR" sz="1800" b="0" i="0" dirty="0">
                <a:solidFill>
                  <a:schemeClr val="tx1"/>
                </a:solidFill>
                <a:effectLst/>
                <a:latin typeface="+mn-lt"/>
              </a:rPr>
              <a:t> e </a:t>
            </a:r>
            <a:r>
              <a:rPr lang="en-BR" sz="1800" b="1" i="1" dirty="0">
                <a:solidFill>
                  <a:schemeClr val="tx1"/>
                </a:solidFill>
                <a:effectLst/>
                <a:latin typeface="+mn-lt"/>
              </a:rPr>
              <a:t>Y</a:t>
            </a:r>
            <a:r>
              <a:rPr lang="en-BR" sz="1800" b="0" i="0" dirty="0">
                <a:solidFill>
                  <a:schemeClr val="tx1"/>
                </a:solidFill>
                <a:effectLst/>
                <a:latin typeface="+mn-lt"/>
              </a:rPr>
              <a:t>: Entradas de 16 bits</a:t>
            </a:r>
          </a:p>
          <a:p>
            <a:pPr marL="342900" marR="0" lvl="0" indent="-342900" algn="l">
              <a:buFont typeface="Arial" panose="020B0604020202020204" pitchFamily="34" charset="0"/>
              <a:buChar char="•"/>
            </a:pPr>
            <a:r>
              <a:rPr lang="en-BR" sz="1800" b="1" i="1" dirty="0">
                <a:solidFill>
                  <a:schemeClr val="tx1"/>
                </a:solidFill>
                <a:effectLst/>
                <a:latin typeface="+mn-lt"/>
              </a:rPr>
              <a:t>OUT</a:t>
            </a:r>
            <a:r>
              <a:rPr lang="en-BR" sz="1800" b="0" i="0" dirty="0">
                <a:solidFill>
                  <a:schemeClr val="tx1"/>
                </a:solidFill>
                <a:effectLst/>
                <a:latin typeface="+mn-lt"/>
              </a:rPr>
              <a:t>: Saída da ULA</a:t>
            </a:r>
          </a:p>
          <a:p>
            <a:pPr marL="342900" marR="0" lvl="0" indent="-342900" algn="l">
              <a:buFont typeface="Arial" panose="020B0604020202020204" pitchFamily="34" charset="0"/>
              <a:buChar char="•"/>
            </a:pPr>
            <a:r>
              <a:rPr lang="en-BR" sz="1800" b="1" i="1" dirty="0">
                <a:solidFill>
                  <a:schemeClr val="tx1"/>
                </a:solidFill>
                <a:effectLst/>
                <a:latin typeface="+mn-lt"/>
              </a:rPr>
              <a:t>zx, nx, zy, ny, f, no</a:t>
            </a:r>
            <a:r>
              <a:rPr lang="en-BR" sz="1800" b="0" i="0" dirty="0">
                <a:solidFill>
                  <a:schemeClr val="tx1"/>
                </a:solidFill>
                <a:effectLst/>
                <a:latin typeface="+mn-lt"/>
              </a:rPr>
              <a:t>: Sinais de controle da ULA</a:t>
            </a:r>
          </a:p>
          <a:p>
            <a:pPr marL="342900" marR="0" lvl="0" indent="-342900" algn="l">
              <a:buFont typeface="Arial" panose="020B0604020202020204" pitchFamily="34" charset="0"/>
              <a:buChar char="•"/>
            </a:pPr>
            <a:r>
              <a:rPr lang="en-BR" sz="1800" b="1" i="1" dirty="0">
                <a:solidFill>
                  <a:schemeClr val="tx1"/>
                </a:solidFill>
                <a:effectLst/>
                <a:latin typeface="+mn-lt"/>
              </a:rPr>
              <a:t>zr</a:t>
            </a:r>
            <a:r>
              <a:rPr lang="en-BR" sz="1800" b="0" i="0" dirty="0">
                <a:solidFill>
                  <a:schemeClr val="tx1"/>
                </a:solidFill>
                <a:effectLst/>
                <a:latin typeface="+mn-lt"/>
              </a:rPr>
              <a:t> e </a:t>
            </a:r>
            <a:r>
              <a:rPr lang="en-BR" sz="1800" b="1" i="1" dirty="0">
                <a:solidFill>
                  <a:schemeClr val="tx1"/>
                </a:solidFill>
                <a:effectLst/>
                <a:latin typeface="+mn-lt"/>
              </a:rPr>
              <a:t>ng</a:t>
            </a:r>
            <a:r>
              <a:rPr lang="en-BR" sz="1800" b="0" i="0" dirty="0">
                <a:solidFill>
                  <a:schemeClr val="tx1"/>
                </a:solidFill>
                <a:effectLst/>
                <a:latin typeface="+mn-lt"/>
              </a:rPr>
              <a:t>: Saída de flags da ULA:</a:t>
            </a:r>
          </a:p>
          <a:p>
            <a:pPr marL="742950" marR="0" lvl="1" indent="-285750" algn="l">
              <a:buFont typeface="Arial" panose="020B0604020202020204" pitchFamily="34" charset="0"/>
              <a:buChar char="•"/>
            </a:pPr>
            <a:r>
              <a:rPr lang="en-BR" sz="1800" b="1" i="1" dirty="0">
                <a:solidFill>
                  <a:schemeClr val="tx1"/>
                </a:solidFill>
                <a:effectLst/>
                <a:latin typeface="+mn-lt"/>
              </a:rPr>
              <a:t>zr</a:t>
            </a:r>
            <a:r>
              <a:rPr lang="en-BR" sz="1800" b="0" i="0" dirty="0">
                <a:solidFill>
                  <a:schemeClr val="tx1"/>
                </a:solidFill>
                <a:effectLst/>
                <a:latin typeface="+mn-lt"/>
              </a:rPr>
              <a:t>: resultou em zero</a:t>
            </a:r>
          </a:p>
          <a:p>
            <a:pPr marL="742950" marR="0" lvl="1" indent="-285750" algn="l">
              <a:buFont typeface="Arial" panose="020B0604020202020204" pitchFamily="34" charset="0"/>
              <a:buChar char="•"/>
            </a:pPr>
            <a:r>
              <a:rPr lang="en-BR" sz="1800" b="1" i="1" dirty="0">
                <a:solidFill>
                  <a:schemeClr val="tx1"/>
                </a:solidFill>
                <a:effectLst/>
                <a:latin typeface="+mn-lt"/>
              </a:rPr>
              <a:t>ng</a:t>
            </a:r>
            <a:r>
              <a:rPr lang="en-BR" sz="1800" b="0" i="0" dirty="0">
                <a:solidFill>
                  <a:schemeClr val="tx1"/>
                </a:solidFill>
                <a:effectLst/>
                <a:latin typeface="+mn-lt"/>
              </a:rPr>
              <a:t>: resultou em um número negativo</a:t>
            </a:r>
          </a:p>
        </p:txBody>
      </p:sp>
    </p:spTree>
    <p:extLst>
      <p:ext uri="{BB962C8B-B14F-4D97-AF65-F5344CB8AC3E}">
        <p14:creationId xmlns:p14="http://schemas.microsoft.com/office/powerpoint/2010/main" val="1360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E047D-69FD-3FC2-CBD6-6C4807ADC53D}"/>
              </a:ext>
            </a:extLst>
          </p:cNvPr>
          <p:cNvSpPr>
            <a:spLocks noGrp="1"/>
          </p:cNvSpPr>
          <p:nvPr>
            <p:ph type="title"/>
          </p:nvPr>
        </p:nvSpPr>
        <p:spPr/>
        <p:txBody>
          <a:bodyPr/>
          <a:lstStyle/>
          <a:p>
            <a:r>
              <a:rPr lang="pt-BR" noProof="0" dirty="0"/>
              <a:t>Operações</a:t>
            </a:r>
          </a:p>
        </p:txBody>
      </p:sp>
      <p:sp>
        <p:nvSpPr>
          <p:cNvPr id="3" name="Content Placeholder 2">
            <a:extLst>
              <a:ext uri="{FF2B5EF4-FFF2-40B4-BE49-F238E27FC236}">
                <a16:creationId xmlns:a16="http://schemas.microsoft.com/office/drawing/2014/main" id="{6F93BCFC-B056-3AEF-0C86-5C9271255945}"/>
              </a:ext>
            </a:extLst>
          </p:cNvPr>
          <p:cNvSpPr>
            <a:spLocks noGrp="1"/>
          </p:cNvSpPr>
          <p:nvPr>
            <p:ph idx="1"/>
          </p:nvPr>
        </p:nvSpPr>
        <p:spPr>
          <a:xfrm>
            <a:off x="657225" y="1485900"/>
            <a:ext cx="8029575" cy="5112608"/>
          </a:xfrm>
        </p:spPr>
        <p:txBody>
          <a:bodyPr>
            <a:normAutofit fontScale="85000" lnSpcReduction="10000"/>
          </a:bodyPr>
          <a:lstStyle/>
          <a:p>
            <a:r>
              <a:rPr lang="en-BR" dirty="0"/>
              <a:t>As operações suportadas pela ULA são (OUT):</a:t>
            </a:r>
          </a:p>
          <a:p>
            <a:pPr lvl="0"/>
            <a:br>
              <a:rPr lang="en-BR" dirty="0"/>
            </a:br>
            <a:r>
              <a:rPr lang="en-BR" b="1" i="1" dirty="0"/>
              <a:t>0</a:t>
            </a:r>
            <a:r>
              <a:rPr lang="en-BR" dirty="0"/>
              <a:t>: Gera o valor 0 (</a:t>
            </a:r>
            <a:r>
              <a:rPr lang="en-BR" b="1" i="1" dirty="0"/>
              <a:t>000000000000000</a:t>
            </a:r>
            <a:r>
              <a:rPr lang="en-BR" dirty="0"/>
              <a:t>)</a:t>
            </a:r>
          </a:p>
          <a:p>
            <a:pPr lvl="0"/>
            <a:r>
              <a:rPr lang="en-BR" b="1" i="1" dirty="0"/>
              <a:t>1</a:t>
            </a:r>
            <a:r>
              <a:rPr lang="en-BR" dirty="0"/>
              <a:t>: Gera o número 1 (</a:t>
            </a:r>
            <a:r>
              <a:rPr lang="en-BR" b="1" i="1" dirty="0"/>
              <a:t>000000000000001</a:t>
            </a:r>
            <a:r>
              <a:rPr lang="en-BR" dirty="0"/>
              <a:t>)</a:t>
            </a:r>
          </a:p>
          <a:p>
            <a:pPr lvl="0"/>
            <a:r>
              <a:rPr lang="en-BR" b="1" i="1" dirty="0"/>
              <a:t>-1</a:t>
            </a:r>
            <a:r>
              <a:rPr lang="en-BR" dirty="0"/>
              <a:t>: Gera o número -1 (</a:t>
            </a:r>
            <a:r>
              <a:rPr lang="en-BR" b="1" i="1" dirty="0"/>
              <a:t>111111111111111</a:t>
            </a:r>
            <a:r>
              <a:rPr lang="en-BR" dirty="0"/>
              <a:t>)</a:t>
            </a:r>
          </a:p>
          <a:p>
            <a:pPr lvl="0"/>
            <a:r>
              <a:rPr lang="en-BR" b="1" i="1" dirty="0"/>
              <a:t>X</a:t>
            </a:r>
            <a:r>
              <a:rPr lang="en-BR" dirty="0"/>
              <a:t>: Replica a entrada X</a:t>
            </a:r>
          </a:p>
          <a:p>
            <a:pPr lvl="0"/>
            <a:r>
              <a:rPr lang="en-BR" b="1" i="1" dirty="0"/>
              <a:t>Y</a:t>
            </a:r>
            <a:r>
              <a:rPr lang="en-BR" dirty="0"/>
              <a:t>: Replica a entrada Y</a:t>
            </a:r>
          </a:p>
          <a:p>
            <a:pPr lvl="0"/>
            <a:r>
              <a:rPr lang="en-BR" b="1" i="1" dirty="0"/>
              <a:t>!X</a:t>
            </a:r>
            <a:r>
              <a:rPr lang="en-BR" dirty="0"/>
              <a:t>: Inverte bit a bit a entrada X</a:t>
            </a:r>
          </a:p>
          <a:p>
            <a:pPr lvl="0"/>
            <a:r>
              <a:rPr lang="en-BR" b="1" i="1" dirty="0"/>
              <a:t>!Y</a:t>
            </a:r>
            <a:r>
              <a:rPr lang="en-BR" dirty="0"/>
              <a:t>: Inverte bit a bit a entrada Y</a:t>
            </a:r>
          </a:p>
          <a:p>
            <a:pPr lvl="0"/>
            <a:r>
              <a:rPr lang="en-BR" b="1" i="1" dirty="0"/>
              <a:t>-X</a:t>
            </a:r>
            <a:r>
              <a:rPr lang="en-BR" dirty="0"/>
              <a:t>: Nega (complemento de dois) a entrada X</a:t>
            </a:r>
          </a:p>
          <a:p>
            <a:pPr lvl="0"/>
            <a:r>
              <a:rPr lang="en-BR" b="1" i="1" dirty="0"/>
              <a:t>-Y</a:t>
            </a:r>
            <a:r>
              <a:rPr lang="en-BR" dirty="0"/>
              <a:t>: Nega (complemento de dois) a entrada Y</a:t>
            </a:r>
          </a:p>
          <a:p>
            <a:pPr lvl="0"/>
            <a:r>
              <a:rPr lang="en-BR" b="1" i="1" dirty="0"/>
              <a:t>X+1</a:t>
            </a:r>
            <a:r>
              <a:rPr lang="en-BR" dirty="0"/>
              <a:t>: Soma um a entrada X</a:t>
            </a:r>
          </a:p>
          <a:p>
            <a:pPr lvl="0"/>
            <a:r>
              <a:rPr lang="en-BR" b="1" i="1" dirty="0"/>
              <a:t>Y+1</a:t>
            </a:r>
            <a:r>
              <a:rPr lang="en-BR" dirty="0"/>
              <a:t>: Soma um a entrada Y</a:t>
            </a:r>
          </a:p>
          <a:p>
            <a:pPr lvl="0"/>
            <a:r>
              <a:rPr lang="en-BR" b="1" i="1" dirty="0"/>
              <a:t>X-1</a:t>
            </a:r>
            <a:r>
              <a:rPr lang="en-BR" dirty="0"/>
              <a:t>: Subtrai um da entrada X</a:t>
            </a:r>
          </a:p>
          <a:p>
            <a:pPr lvl="0"/>
            <a:r>
              <a:rPr lang="en-BR" b="1" i="1" dirty="0"/>
              <a:t>Y-1</a:t>
            </a:r>
            <a:r>
              <a:rPr lang="en-BR" dirty="0"/>
              <a:t>: Subtrai um da entrada Y</a:t>
            </a:r>
          </a:p>
          <a:p>
            <a:pPr lvl="0"/>
            <a:r>
              <a:rPr lang="en-BR" b="1" i="1" dirty="0"/>
              <a:t>X+Y</a:t>
            </a:r>
            <a:r>
              <a:rPr lang="en-BR" dirty="0"/>
              <a:t>: Soma as entradas X e Y</a:t>
            </a:r>
          </a:p>
          <a:p>
            <a:pPr lvl="0"/>
            <a:r>
              <a:rPr lang="en-BR" b="1" i="1" dirty="0"/>
              <a:t>X-Y</a:t>
            </a:r>
            <a:r>
              <a:rPr lang="en-BR" dirty="0"/>
              <a:t>: Subtrai Y de X</a:t>
            </a:r>
          </a:p>
          <a:p>
            <a:pPr lvl="0"/>
            <a:r>
              <a:rPr lang="en-BR" b="1" i="1" dirty="0"/>
              <a:t>Y-X</a:t>
            </a:r>
            <a:r>
              <a:rPr lang="en-BR" dirty="0"/>
              <a:t>: Subtrai X de Y</a:t>
            </a:r>
          </a:p>
          <a:p>
            <a:pPr lvl="0"/>
            <a:r>
              <a:rPr lang="en-BR" b="1" i="1" dirty="0"/>
              <a:t>Y&amp;X</a:t>
            </a:r>
            <a:r>
              <a:rPr lang="en-BR" dirty="0"/>
              <a:t>: Realiza a operação AND bit a bit de X com Y</a:t>
            </a:r>
          </a:p>
          <a:p>
            <a:pPr lvl="0"/>
            <a:r>
              <a:rPr lang="en-BR" b="1" i="1" dirty="0"/>
              <a:t>Y|X</a:t>
            </a:r>
            <a:r>
              <a:rPr lang="en-BR" dirty="0"/>
              <a:t>: Realiza a operação OR bit a bit de X com Y</a:t>
            </a:r>
          </a:p>
          <a:p>
            <a:endParaRPr lang="en-US" dirty="0"/>
          </a:p>
        </p:txBody>
      </p:sp>
      <p:sp>
        <p:nvSpPr>
          <p:cNvPr id="4" name="Text Placeholder 3">
            <a:extLst>
              <a:ext uri="{FF2B5EF4-FFF2-40B4-BE49-F238E27FC236}">
                <a16:creationId xmlns:a16="http://schemas.microsoft.com/office/drawing/2014/main" id="{AB96F9C3-1DD9-4444-A214-946E9D46EBEC}"/>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83AA802A-ED31-8FC1-3DB4-A4015822963D}"/>
              </a:ext>
            </a:extLst>
          </p:cNvPr>
          <p:cNvSpPr>
            <a:spLocks noGrp="1"/>
          </p:cNvSpPr>
          <p:nvPr>
            <p:ph type="sldNum" sz="quarter" idx="4"/>
          </p:nvPr>
        </p:nvSpPr>
        <p:spPr/>
        <p:txBody>
          <a:bodyPr/>
          <a:lstStyle/>
          <a:p>
            <a:fld id="{7FFE5E5C-C80A-4D8D-A711-3102A7BA9258}" type="slidenum">
              <a:rPr lang="pt-BR" smtClean="0"/>
              <a:pPr/>
              <a:t>5</a:t>
            </a:fld>
            <a:endParaRPr lang="pt-BR" dirty="0"/>
          </a:p>
        </p:txBody>
      </p:sp>
    </p:spTree>
    <p:extLst>
      <p:ext uri="{BB962C8B-B14F-4D97-AF65-F5344CB8AC3E}">
        <p14:creationId xmlns:p14="http://schemas.microsoft.com/office/powerpoint/2010/main" val="3579503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8BF8C29-7201-4FBC-2E53-F9EE33A22700}"/>
              </a:ext>
            </a:extLst>
          </p:cNvPr>
          <p:cNvSpPr>
            <a:spLocks noGrp="1"/>
          </p:cNvSpPr>
          <p:nvPr>
            <p:ph type="sldNum" sz="quarter" idx="12"/>
          </p:nvPr>
        </p:nvSpPr>
        <p:spPr>
          <a:xfrm>
            <a:off x="6553200" y="6356350"/>
            <a:ext cx="2133600" cy="365125"/>
          </a:xfrm>
        </p:spPr>
        <p:txBody>
          <a:bodyPr anchor="ctr">
            <a:normAutofit/>
          </a:bodyPr>
          <a:lstStyle/>
          <a:p>
            <a:pPr>
              <a:spcAft>
                <a:spcPts val="600"/>
              </a:spcAft>
            </a:pPr>
            <a:fld id="{7FFE5E5C-C80A-4D8D-A711-3102A7BA9258}" type="slidenum">
              <a:rPr lang="pt-BR" smtClean="0"/>
              <a:pPr>
                <a:spcAft>
                  <a:spcPts val="600"/>
                </a:spcAft>
              </a:pPr>
              <a:t>6</a:t>
            </a:fld>
            <a:endParaRPr lang="pt-BR"/>
          </a:p>
        </p:txBody>
      </p:sp>
      <p:sp>
        <p:nvSpPr>
          <p:cNvPr id="16" name="Title 2">
            <a:extLst>
              <a:ext uri="{FF2B5EF4-FFF2-40B4-BE49-F238E27FC236}">
                <a16:creationId xmlns:a16="http://schemas.microsoft.com/office/drawing/2014/main" id="{B009F9A5-C286-88A9-C5FC-0BF3302F39C0}"/>
              </a:ext>
            </a:extLst>
          </p:cNvPr>
          <p:cNvSpPr>
            <a:spLocks noGrp="1"/>
          </p:cNvSpPr>
          <p:nvPr>
            <p:ph type="title"/>
          </p:nvPr>
        </p:nvSpPr>
        <p:spPr>
          <a:xfrm>
            <a:off x="457200" y="781050"/>
            <a:ext cx="8229600" cy="619125"/>
          </a:xfrm>
        </p:spPr>
        <p:txBody>
          <a:bodyPr/>
          <a:lstStyle/>
          <a:p>
            <a:r>
              <a:rPr lang="en-US" dirty="0"/>
              <a:t>Controle</a:t>
            </a:r>
          </a:p>
        </p:txBody>
      </p:sp>
      <p:sp>
        <p:nvSpPr>
          <p:cNvPr id="17" name="Text Placeholder 3">
            <a:extLst>
              <a:ext uri="{FF2B5EF4-FFF2-40B4-BE49-F238E27FC236}">
                <a16:creationId xmlns:a16="http://schemas.microsoft.com/office/drawing/2014/main" id="{A8A8E320-0F50-083F-3D24-02C5E4B1C884}"/>
              </a:ext>
            </a:extLst>
          </p:cNvPr>
          <p:cNvSpPr>
            <a:spLocks noGrp="1"/>
          </p:cNvSpPr>
          <p:nvPr>
            <p:ph type="body" sz="quarter" idx="13"/>
          </p:nvPr>
        </p:nvSpPr>
        <p:spPr>
          <a:xfrm>
            <a:off x="161925" y="85725"/>
            <a:ext cx="7229475" cy="352425"/>
          </a:xfrm>
        </p:spPr>
        <p:txBody>
          <a:bodyPr/>
          <a:lstStyle/>
          <a:p>
            <a:endParaRPr lang="en-US"/>
          </a:p>
        </p:txBody>
      </p:sp>
      <p:sp>
        <p:nvSpPr>
          <p:cNvPr id="15" name="Content Placeholder 4">
            <a:extLst>
              <a:ext uri="{FF2B5EF4-FFF2-40B4-BE49-F238E27FC236}">
                <a16:creationId xmlns:a16="http://schemas.microsoft.com/office/drawing/2014/main" id="{345C40A4-FA72-4F59-5485-46D417016D67}"/>
              </a:ext>
            </a:extLst>
          </p:cNvPr>
          <p:cNvSpPr>
            <a:spLocks noGrp="1"/>
          </p:cNvSpPr>
          <p:nvPr>
            <p:ph idx="1"/>
          </p:nvPr>
        </p:nvSpPr>
        <p:spPr>
          <a:xfrm>
            <a:off x="657225" y="1476375"/>
            <a:ext cx="3971925" cy="4667250"/>
          </a:xfrm>
        </p:spPr>
        <p:txBody>
          <a:bodyPr/>
          <a:lstStyle/>
          <a:p>
            <a:r>
              <a:rPr lang="pt-BR" noProof="0"/>
              <a:t>Para realizar as operações é necessário controlar o sinais de controle da ULA, a tabela a seguir indica o que deve ser feito para cada umas das operações suportadas:</a:t>
            </a:r>
          </a:p>
        </p:txBody>
      </p:sp>
      <p:graphicFrame>
        <p:nvGraphicFramePr>
          <p:cNvPr id="6" name="Content Placeholder 5">
            <a:extLst>
              <a:ext uri="{FF2B5EF4-FFF2-40B4-BE49-F238E27FC236}">
                <a16:creationId xmlns:a16="http://schemas.microsoft.com/office/drawing/2014/main" id="{CEB63277-D0B9-AFE8-AFDB-5E4661B32B9E}"/>
              </a:ext>
            </a:extLst>
          </p:cNvPr>
          <p:cNvGraphicFramePr>
            <a:graphicFrameLocks noGrp="1"/>
          </p:cNvGraphicFramePr>
          <p:nvPr>
            <p:ph idx="17"/>
            <p:extLst>
              <p:ext uri="{D42A27DB-BD31-4B8C-83A1-F6EECF244321}">
                <p14:modId xmlns:p14="http://schemas.microsoft.com/office/powerpoint/2010/main" val="3964940271"/>
              </p:ext>
            </p:extLst>
          </p:nvPr>
        </p:nvGraphicFramePr>
        <p:xfrm>
          <a:off x="4799303" y="1476375"/>
          <a:ext cx="3803072" cy="4676793"/>
        </p:xfrm>
        <a:graphic>
          <a:graphicData uri="http://schemas.openxmlformats.org/drawingml/2006/table">
            <a:tbl>
              <a:tblPr firstRow="1" bandRow="1">
                <a:tableStyleId>{5C22544A-7EE6-4342-B048-85BDC9FD1C3A}</a:tableStyleId>
              </a:tblPr>
              <a:tblGrid>
                <a:gridCol w="517341">
                  <a:extLst>
                    <a:ext uri="{9D8B030D-6E8A-4147-A177-3AD203B41FA5}">
                      <a16:colId xmlns:a16="http://schemas.microsoft.com/office/drawing/2014/main" val="3763116031"/>
                    </a:ext>
                  </a:extLst>
                </a:gridCol>
                <a:gridCol w="541543">
                  <a:extLst>
                    <a:ext uri="{9D8B030D-6E8A-4147-A177-3AD203B41FA5}">
                      <a16:colId xmlns:a16="http://schemas.microsoft.com/office/drawing/2014/main" val="2616503432"/>
                    </a:ext>
                  </a:extLst>
                </a:gridCol>
                <a:gridCol w="517689">
                  <a:extLst>
                    <a:ext uri="{9D8B030D-6E8A-4147-A177-3AD203B41FA5}">
                      <a16:colId xmlns:a16="http://schemas.microsoft.com/office/drawing/2014/main" val="3646376249"/>
                    </a:ext>
                  </a:extLst>
                </a:gridCol>
                <a:gridCol w="541717">
                  <a:extLst>
                    <a:ext uri="{9D8B030D-6E8A-4147-A177-3AD203B41FA5}">
                      <a16:colId xmlns:a16="http://schemas.microsoft.com/office/drawing/2014/main" val="2938537979"/>
                    </a:ext>
                  </a:extLst>
                </a:gridCol>
                <a:gridCol w="449872">
                  <a:extLst>
                    <a:ext uri="{9D8B030D-6E8A-4147-A177-3AD203B41FA5}">
                      <a16:colId xmlns:a16="http://schemas.microsoft.com/office/drawing/2014/main" val="2359929201"/>
                    </a:ext>
                  </a:extLst>
                </a:gridCol>
                <a:gridCol w="563045">
                  <a:extLst>
                    <a:ext uri="{9D8B030D-6E8A-4147-A177-3AD203B41FA5}">
                      <a16:colId xmlns:a16="http://schemas.microsoft.com/office/drawing/2014/main" val="332689058"/>
                    </a:ext>
                  </a:extLst>
                </a:gridCol>
                <a:gridCol w="671865">
                  <a:extLst>
                    <a:ext uri="{9D8B030D-6E8A-4147-A177-3AD203B41FA5}">
                      <a16:colId xmlns:a16="http://schemas.microsoft.com/office/drawing/2014/main" val="2787488107"/>
                    </a:ext>
                  </a:extLst>
                </a:gridCol>
              </a:tblGrid>
              <a:tr h="246147">
                <a:tc>
                  <a:txBody>
                    <a:bodyPr/>
                    <a:lstStyle/>
                    <a:p>
                      <a:pPr marL="0" marR="0" algn="l">
                        <a:buNone/>
                      </a:pPr>
                      <a:r>
                        <a:rPr lang="en-BR" sz="1000">
                          <a:effectLst/>
                        </a:rPr>
                        <a:t>zx</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nx</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zy</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ny</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f</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no</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out</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534209727"/>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3813542099"/>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261591187"/>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659840561"/>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1365456209"/>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460023755"/>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222338744"/>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3336639498"/>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4229425379"/>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796874167"/>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578018027"/>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2692935039"/>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1651411392"/>
                  </a:ext>
                </a:extLst>
              </a:tr>
              <a:tr h="246147">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y-1</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1875164770"/>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2796489051"/>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2022274756"/>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y-x</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3321228161"/>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x&amp;y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1391937861"/>
                  </a:ext>
                </a:extLst>
              </a:tr>
              <a:tr h="246147">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0</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1</a:t>
                      </a:r>
                      <a:endParaRPr lang="en-BR" sz="1000" b="0" i="0">
                        <a:solidFill>
                          <a:srgbClr val="090A11"/>
                        </a:solidFill>
                        <a:effectLst/>
                        <a:latin typeface="Open Sans" panose="020B0606030504020204" pitchFamily="34" charset="0"/>
                      </a:endParaRPr>
                    </a:p>
                  </a:txBody>
                  <a:tcPr marL="60197" marR="60197" marT="30098" marB="30098" anchor="ctr"/>
                </a:tc>
                <a:tc>
                  <a:txBody>
                    <a:bodyPr/>
                    <a:lstStyle/>
                    <a:p>
                      <a:pPr marL="0" marR="0" algn="l">
                        <a:buNone/>
                      </a:pPr>
                      <a:r>
                        <a:rPr lang="en-BR" sz="1000">
                          <a:effectLst/>
                        </a:rPr>
                        <a:t>x| y</a:t>
                      </a:r>
                      <a:endParaRPr lang="en-BR" sz="1000" b="0" i="0">
                        <a:solidFill>
                          <a:srgbClr val="090A11"/>
                        </a:solidFill>
                        <a:effectLst/>
                        <a:latin typeface="Open Sans" panose="020B0606030504020204" pitchFamily="34" charset="0"/>
                      </a:endParaRPr>
                    </a:p>
                  </a:txBody>
                  <a:tcPr marL="60197" marR="60197" marT="30098" marB="30098" anchor="ctr"/>
                </a:tc>
                <a:extLst>
                  <a:ext uri="{0D108BD9-81ED-4DB2-BD59-A6C34878D82A}">
                    <a16:rowId xmlns:a16="http://schemas.microsoft.com/office/drawing/2014/main" val="1223121249"/>
                  </a:ext>
                </a:extLst>
              </a:tr>
            </a:tbl>
          </a:graphicData>
        </a:graphic>
      </p:graphicFrame>
    </p:spTree>
    <p:extLst>
      <p:ext uri="{BB962C8B-B14F-4D97-AF65-F5344CB8AC3E}">
        <p14:creationId xmlns:p14="http://schemas.microsoft.com/office/powerpoint/2010/main" val="24216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0" name="Straight Arrow Connector 109"/>
          <p:cNvCxnSpPr/>
          <p:nvPr/>
        </p:nvCxnSpPr>
        <p:spPr>
          <a:xfrm flipV="1">
            <a:off x="1351606" y="5826556"/>
            <a:ext cx="1591" cy="388527"/>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2" name="Title 1"/>
          <p:cNvSpPr>
            <a:spLocks noGrp="1"/>
          </p:cNvSpPr>
          <p:nvPr>
            <p:ph type="title"/>
          </p:nvPr>
        </p:nvSpPr>
        <p:spPr/>
        <p:txBody>
          <a:bodyPr/>
          <a:lstStyle/>
          <a:p>
            <a:r>
              <a:rPr lang="pt-BR" dirty="0"/>
              <a:t>Exemplo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graphicFrame>
        <p:nvGraphicFramePr>
          <p:cNvPr id="58" name="Table 57"/>
          <p:cNvGraphicFramePr>
            <a:graphicFrameLocks noGrp="1"/>
          </p:cNvGraphicFramePr>
          <p:nvPr/>
        </p:nvGraphicFramePr>
        <p:xfrm>
          <a:off x="2660420" y="582600"/>
          <a:ext cx="6385600" cy="1711120"/>
        </p:xfrm>
        <a:graphic>
          <a:graphicData uri="http://schemas.openxmlformats.org/drawingml/2006/table">
            <a:tbl>
              <a:tblPr>
                <a:tableStyleId>{5C22544A-7EE6-4342-B048-85BDC9FD1C3A}</a:tableStyleId>
              </a:tblPr>
              <a:tblGrid>
                <a:gridCol w="638560">
                  <a:extLst>
                    <a:ext uri="{9D8B030D-6E8A-4147-A177-3AD203B41FA5}">
                      <a16:colId xmlns:a16="http://schemas.microsoft.com/office/drawing/2014/main" val="20000"/>
                    </a:ext>
                  </a:extLst>
                </a:gridCol>
                <a:gridCol w="638560">
                  <a:extLst>
                    <a:ext uri="{9D8B030D-6E8A-4147-A177-3AD203B41FA5}">
                      <a16:colId xmlns:a16="http://schemas.microsoft.com/office/drawing/2014/main" val="20001"/>
                    </a:ext>
                  </a:extLst>
                </a:gridCol>
                <a:gridCol w="638560">
                  <a:extLst>
                    <a:ext uri="{9D8B030D-6E8A-4147-A177-3AD203B41FA5}">
                      <a16:colId xmlns:a16="http://schemas.microsoft.com/office/drawing/2014/main" val="20002"/>
                    </a:ext>
                  </a:extLst>
                </a:gridCol>
                <a:gridCol w="638560">
                  <a:extLst>
                    <a:ext uri="{9D8B030D-6E8A-4147-A177-3AD203B41FA5}">
                      <a16:colId xmlns:a16="http://schemas.microsoft.com/office/drawing/2014/main" val="20003"/>
                    </a:ext>
                  </a:extLst>
                </a:gridCol>
                <a:gridCol w="638560">
                  <a:extLst>
                    <a:ext uri="{9D8B030D-6E8A-4147-A177-3AD203B41FA5}">
                      <a16:colId xmlns:a16="http://schemas.microsoft.com/office/drawing/2014/main" val="20004"/>
                    </a:ext>
                  </a:extLst>
                </a:gridCol>
                <a:gridCol w="638560">
                  <a:extLst>
                    <a:ext uri="{9D8B030D-6E8A-4147-A177-3AD203B41FA5}">
                      <a16:colId xmlns:a16="http://schemas.microsoft.com/office/drawing/2014/main" val="20005"/>
                    </a:ext>
                  </a:extLst>
                </a:gridCol>
                <a:gridCol w="638560">
                  <a:extLst>
                    <a:ext uri="{9D8B030D-6E8A-4147-A177-3AD203B41FA5}">
                      <a16:colId xmlns:a16="http://schemas.microsoft.com/office/drawing/2014/main" val="20006"/>
                    </a:ext>
                  </a:extLst>
                </a:gridCol>
                <a:gridCol w="638560">
                  <a:extLst>
                    <a:ext uri="{9D8B030D-6E8A-4147-A177-3AD203B41FA5}">
                      <a16:colId xmlns:a16="http://schemas.microsoft.com/office/drawing/2014/main" val="20007"/>
                    </a:ext>
                  </a:extLst>
                </a:gridCol>
                <a:gridCol w="638560">
                  <a:extLst>
                    <a:ext uri="{9D8B030D-6E8A-4147-A177-3AD203B41FA5}">
                      <a16:colId xmlns:a16="http://schemas.microsoft.com/office/drawing/2014/main" val="20008"/>
                    </a:ext>
                  </a:extLst>
                </a:gridCol>
                <a:gridCol w="638560">
                  <a:extLst>
                    <a:ext uri="{9D8B030D-6E8A-4147-A177-3AD203B41FA5}">
                      <a16:colId xmlns:a16="http://schemas.microsoft.com/office/drawing/2014/main" val="20009"/>
                    </a:ext>
                  </a:extLst>
                </a:gridCol>
              </a:tblGrid>
              <a:tr h="116235">
                <a:tc>
                  <a:txBody>
                    <a:bodyPr/>
                    <a:lstStyle/>
                    <a:p>
                      <a:pPr algn="ctr">
                        <a:lnSpc>
                          <a:spcPts val="1640"/>
                        </a:lnSpc>
                      </a:pPr>
                      <a:r>
                        <a:rPr lang="pt-BR" sz="1400" b="1" noProof="1"/>
                        <a:t>zx</a:t>
                      </a:r>
                    </a:p>
                  </a:txBody>
                  <a:tcPr marL="0" marR="0" marT="0" marB="0" anchor="ctr">
                    <a:solidFill>
                      <a:schemeClr val="tx2">
                        <a:lumMod val="40000"/>
                        <a:lumOff val="60000"/>
                      </a:schemeClr>
                    </a:solidFill>
                  </a:tcPr>
                </a:tc>
                <a:tc>
                  <a:txBody>
                    <a:bodyPr/>
                    <a:lstStyle/>
                    <a:p>
                      <a:pPr algn="ctr">
                        <a:lnSpc>
                          <a:spcPts val="1640"/>
                        </a:lnSpc>
                      </a:pPr>
                      <a:r>
                        <a:rPr lang="pt-BR" sz="1400" b="1" noProof="1"/>
                        <a:t>nx</a:t>
                      </a:r>
                    </a:p>
                  </a:txBody>
                  <a:tcPr marL="0" marR="0" marT="0" marB="0" anchor="ctr">
                    <a:solidFill>
                      <a:schemeClr val="tx2">
                        <a:lumMod val="40000"/>
                        <a:lumOff val="60000"/>
                      </a:schemeClr>
                    </a:solidFill>
                  </a:tcPr>
                </a:tc>
                <a:tc>
                  <a:txBody>
                    <a:bodyPr/>
                    <a:lstStyle/>
                    <a:p>
                      <a:pPr algn="ctr">
                        <a:lnSpc>
                          <a:spcPts val="1640"/>
                        </a:lnSpc>
                      </a:pPr>
                      <a:r>
                        <a:rPr lang="pt-BR" sz="1400" b="1" noProof="1"/>
                        <a:t>zy</a:t>
                      </a:r>
                    </a:p>
                  </a:txBody>
                  <a:tcPr marL="0" marR="0" marT="0" marB="0" anchor="ctr">
                    <a:solidFill>
                      <a:schemeClr val="tx2">
                        <a:lumMod val="40000"/>
                        <a:lumOff val="60000"/>
                      </a:schemeClr>
                    </a:solidFill>
                  </a:tcPr>
                </a:tc>
                <a:tc>
                  <a:txBody>
                    <a:bodyPr/>
                    <a:lstStyle/>
                    <a:p>
                      <a:pPr algn="ctr">
                        <a:lnSpc>
                          <a:spcPts val="1640"/>
                        </a:lnSpc>
                      </a:pPr>
                      <a:r>
                        <a:rPr lang="pt-BR" sz="1400" b="1" noProof="1"/>
                        <a:t>ny</a:t>
                      </a:r>
                    </a:p>
                  </a:txBody>
                  <a:tcPr marL="0" marR="0" marT="0" marB="0" anchor="ctr">
                    <a:solidFill>
                      <a:schemeClr val="tx2">
                        <a:lumMod val="40000"/>
                        <a:lumOff val="60000"/>
                      </a:schemeClr>
                    </a:solidFill>
                  </a:tcPr>
                </a:tc>
                <a:tc>
                  <a:txBody>
                    <a:bodyPr/>
                    <a:lstStyle/>
                    <a:p>
                      <a:pPr algn="ctr">
                        <a:lnSpc>
                          <a:spcPts val="1640"/>
                        </a:lnSpc>
                      </a:pPr>
                      <a:r>
                        <a:rPr lang="pt-BR" sz="1400" b="1" noProof="1"/>
                        <a:t>f</a:t>
                      </a:r>
                      <a:r>
                        <a:rPr lang="pt-BR" sz="1400" b="1" baseline="0" noProof="1"/>
                        <a:t> </a:t>
                      </a:r>
                      <a:r>
                        <a:rPr lang="pt-BR" sz="1200" b="0" baseline="0" noProof="1"/>
                        <a:t>?</a:t>
                      </a:r>
                      <a:r>
                        <a:rPr lang="pt-BR" sz="1400" b="1" baseline="0" noProof="1"/>
                        <a:t> </a:t>
                      </a:r>
                      <a:r>
                        <a:rPr lang="pt-BR" sz="1400" b="1" noProof="1"/>
                        <a:t>+</a:t>
                      </a:r>
                      <a:r>
                        <a:rPr lang="pt-BR" sz="1400" b="1" baseline="0" noProof="1"/>
                        <a:t> </a:t>
                      </a:r>
                      <a:r>
                        <a:rPr lang="pt-BR" sz="1200" b="0" baseline="0" noProof="1"/>
                        <a:t>:</a:t>
                      </a:r>
                      <a:r>
                        <a:rPr lang="pt-BR" sz="1400" b="1" baseline="0" noProof="1"/>
                        <a:t> </a:t>
                      </a:r>
                      <a:r>
                        <a:rPr lang="pt-BR" sz="1400" b="1" noProof="1"/>
                        <a:t>&amp; </a:t>
                      </a:r>
                    </a:p>
                  </a:txBody>
                  <a:tcPr marL="0" marR="0" marT="0" marB="0" anchor="ctr">
                    <a:solidFill>
                      <a:schemeClr val="tx2">
                        <a:lumMod val="40000"/>
                        <a:lumOff val="60000"/>
                      </a:schemeClr>
                    </a:solidFill>
                  </a:tcPr>
                </a:tc>
                <a:tc>
                  <a:txBody>
                    <a:bodyPr/>
                    <a:lstStyle/>
                    <a:p>
                      <a:pPr algn="ctr">
                        <a:lnSpc>
                          <a:spcPts val="1640"/>
                        </a:lnSpc>
                      </a:pPr>
                      <a:r>
                        <a:rPr lang="pt-BR" sz="1400" b="1" noProof="1"/>
                        <a:t>no</a:t>
                      </a:r>
                    </a:p>
                  </a:txBody>
                  <a:tcPr marL="0" marR="0" marT="0" marB="0" anchor="ctr">
                    <a:lnR w="12700" cmpd="sng">
                      <a:noFill/>
                    </a:lnR>
                    <a:solidFill>
                      <a:schemeClr val="tx2">
                        <a:lumMod val="40000"/>
                        <a:lumOff val="60000"/>
                      </a:schemeClr>
                    </a:solidFill>
                  </a:tcPr>
                </a:tc>
                <a:tc>
                  <a:txBody>
                    <a:bodyPr/>
                    <a:lstStyle/>
                    <a:p>
                      <a:pPr algn="ctr">
                        <a:lnSpc>
                          <a:spcPts val="1640"/>
                        </a:lnSpc>
                      </a:pPr>
                      <a:endParaRPr lang="pt-BR" sz="1400" b="1" noProof="1"/>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640"/>
                        </a:lnSpc>
                      </a:pPr>
                      <a:endParaRPr lang="pt-BR" sz="1400" b="1" noProof="1"/>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640"/>
                        </a:lnSpc>
                      </a:pPr>
                      <a:endParaRPr lang="pt-BR" sz="1400" b="1" noProof="1"/>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640"/>
                        </a:lnSpc>
                      </a:pPr>
                      <a:endParaRPr lang="pt-BR" sz="1400" b="1" noProof="1"/>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9070">
                <a:tc>
                  <a:txBody>
                    <a:bodyPr/>
                    <a:lstStyle/>
                    <a:p>
                      <a:pPr algn="ctr"/>
                      <a:r>
                        <a:rPr lang="pt-BR" sz="1400" b="1" noProof="1">
                          <a:latin typeface="Courier"/>
                          <a:cs typeface="Courier"/>
                        </a:rPr>
                        <a:t>0</a:t>
                      </a:r>
                    </a:p>
                  </a:txBody>
                  <a:tcPr marL="0" marR="0" marT="0" marB="0" anchor="ctr"/>
                </a:tc>
                <a:tc>
                  <a:txBody>
                    <a:bodyPr/>
                    <a:lstStyle/>
                    <a:p>
                      <a:pPr algn="ctr"/>
                      <a:r>
                        <a:rPr lang="pt-BR" sz="1400" b="1" noProof="1">
                          <a:latin typeface="Courier"/>
                          <a:cs typeface="Courier"/>
                        </a:rPr>
                        <a:t>0</a:t>
                      </a:r>
                    </a:p>
                  </a:txBody>
                  <a:tcPr marL="0" marR="0" marT="0" marB="0" anchor="ctr"/>
                </a:tc>
                <a:tc>
                  <a:txBody>
                    <a:bodyPr/>
                    <a:lstStyle/>
                    <a:p>
                      <a:pPr algn="ctr"/>
                      <a:r>
                        <a:rPr lang="pt-BR" sz="1400" b="1" noProof="1">
                          <a:latin typeface="Courier"/>
                          <a:cs typeface="Courier"/>
                        </a:rPr>
                        <a:t>1</a:t>
                      </a:r>
                    </a:p>
                  </a:txBody>
                  <a:tcPr marL="0" marR="0" marT="0" marB="0" anchor="ctr"/>
                </a:tc>
                <a:tc>
                  <a:txBody>
                    <a:bodyPr/>
                    <a:lstStyle/>
                    <a:p>
                      <a:pPr algn="ctr"/>
                      <a:r>
                        <a:rPr lang="pt-BR" sz="1400" b="1" noProof="1">
                          <a:latin typeface="Courier"/>
                          <a:cs typeface="Courier"/>
                        </a:rPr>
                        <a:t>1</a:t>
                      </a:r>
                    </a:p>
                  </a:txBody>
                  <a:tcPr marL="0" marR="0" marT="0" marB="0" anchor="ctr"/>
                </a:tc>
                <a:tc>
                  <a:txBody>
                    <a:bodyPr/>
                    <a:lstStyle/>
                    <a:p>
                      <a:pPr algn="ctr"/>
                      <a:r>
                        <a:rPr lang="pt-BR" sz="1400" b="1" noProof="1">
                          <a:latin typeface="Courier"/>
                          <a:cs typeface="Courier"/>
                        </a:rPr>
                        <a:t>1</a:t>
                      </a:r>
                    </a:p>
                  </a:txBody>
                  <a:tcPr marL="0" marR="0" marT="0" marB="0" anchor="ctr"/>
                </a:tc>
                <a:tc>
                  <a:txBody>
                    <a:bodyPr/>
                    <a:lstStyle/>
                    <a:p>
                      <a:pPr algn="ctr"/>
                      <a:r>
                        <a:rPr lang="pt-BR" sz="1400" b="1" noProof="1">
                          <a:latin typeface="Courier"/>
                          <a:cs typeface="Courier"/>
                        </a:rPr>
                        <a:t>1</a:t>
                      </a:r>
                    </a:p>
                  </a:txBody>
                  <a:tcPr marL="0" marR="0" marT="0" marB="0" anchor="ctr">
                    <a:lnR w="12700" cmpd="sng">
                      <a:noFill/>
                    </a:lnR>
                  </a:tcPr>
                </a:tc>
                <a:tc>
                  <a:txBody>
                    <a:bodyPr/>
                    <a:lstStyle/>
                    <a:p>
                      <a:pPr algn="ctr"/>
                      <a:endParaRPr lang="pt-BR" sz="14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pt-BR" sz="14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pt-BR" sz="14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pt-BR" sz="1400"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9070">
                <a:tc>
                  <a:txBody>
                    <a:bodyPr/>
                    <a:lstStyle/>
                    <a:p>
                      <a:pPr algn="ctr"/>
                      <a:r>
                        <a:rPr lang="pt-BR" sz="1400" b="1" noProof="1">
                          <a:latin typeface="Courier"/>
                          <a:cs typeface="Courier"/>
                        </a:rPr>
                        <a:t>x[7]</a:t>
                      </a:r>
                    </a:p>
                  </a:txBody>
                  <a:tcPr marL="0" marR="0" marT="0" marB="0" anchor="ctr">
                    <a:solidFill>
                      <a:srgbClr val="8EB4E3"/>
                    </a:solidFill>
                  </a:tcPr>
                </a:tc>
                <a:tc>
                  <a:txBody>
                    <a:bodyPr/>
                    <a:lstStyle/>
                    <a:p>
                      <a:pPr algn="ctr"/>
                      <a:r>
                        <a:rPr lang="pt-BR" sz="1400" b="1" noProof="1">
                          <a:latin typeface="Courier"/>
                          <a:cs typeface="Courier"/>
                        </a:rPr>
                        <a:t>x[6]</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x[5]</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x[4]</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x[3]</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x[2]</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x[1]</a:t>
                      </a:r>
                    </a:p>
                  </a:txBody>
                  <a:tcPr marL="0" marR="0" marT="0" marB="0" anchor="ctr">
                    <a:lnT w="12700" cmpd="sng">
                      <a:noFill/>
                    </a:lnT>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x[0]</a:t>
                      </a:r>
                    </a:p>
                  </a:txBody>
                  <a:tcPr marL="0" marR="0" marT="0" marB="0" anchor="ctr">
                    <a:lnR w="12700" cmpd="sng">
                      <a:noFill/>
                    </a:lnR>
                    <a:lnT w="12700" cmpd="sng">
                      <a:noFill/>
                    </a:lnT>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400" b="1" noProof="1">
                        <a:latin typeface="Courier"/>
                        <a:cs typeface="Courier"/>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400" b="1" noProof="1">
                        <a:latin typeface="Courier"/>
                        <a:cs typeface="Courier"/>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9070">
                <a:tc>
                  <a:txBody>
                    <a:bodyPr/>
                    <a:lstStyle/>
                    <a:p>
                      <a:pPr algn="ctr"/>
                      <a:r>
                        <a:rPr lang="pt-BR" sz="1400" b="1" noProof="1">
                          <a:latin typeface="Courier"/>
                          <a:cs typeface="Courier"/>
                        </a:rPr>
                        <a:t>0</a:t>
                      </a:r>
                    </a:p>
                  </a:txBody>
                  <a:tcPr marL="0" marR="0" marT="0" marB="0" anchor="ctr">
                    <a:solidFill>
                      <a:schemeClr val="accent3">
                        <a:lumMod val="20000"/>
                        <a:lumOff val="80000"/>
                      </a:schemeClr>
                    </a:solidFill>
                  </a:tcPr>
                </a:tc>
                <a:tc>
                  <a:txBody>
                    <a:bodyPr/>
                    <a:lstStyle/>
                    <a:p>
                      <a:pPr algn="ctr"/>
                      <a:r>
                        <a:rPr lang="pt-BR" sz="1400" b="1" noProof="1">
                          <a:latin typeface="Courier"/>
                          <a:cs typeface="Courier"/>
                        </a:rPr>
                        <a:t>0</a:t>
                      </a:r>
                    </a:p>
                  </a:txBody>
                  <a:tcPr marL="0" marR="0" marT="0" marB="0" anchor="ctr">
                    <a:solidFill>
                      <a:schemeClr val="accent3">
                        <a:lumMod val="20000"/>
                        <a:lumOff val="80000"/>
                      </a:schemeClr>
                    </a:solidFill>
                  </a:tcPr>
                </a:tc>
                <a:tc>
                  <a:txBody>
                    <a:bodyPr/>
                    <a:lstStyle/>
                    <a:p>
                      <a:pPr algn="ctr"/>
                      <a:r>
                        <a:rPr lang="pt-BR" sz="1400" b="1" noProof="1">
                          <a:latin typeface="Courier"/>
                          <a:cs typeface="Courier"/>
                        </a:rPr>
                        <a:t>0</a:t>
                      </a:r>
                    </a:p>
                  </a:txBody>
                  <a:tcPr marL="0" marR="0" marT="0" marB="0" anchor="ctr">
                    <a:solidFill>
                      <a:schemeClr val="accent3">
                        <a:lumMod val="20000"/>
                        <a:lumOff val="80000"/>
                      </a:schemeClr>
                    </a:solidFill>
                  </a:tcPr>
                </a:tc>
                <a:tc>
                  <a:txBody>
                    <a:bodyPr/>
                    <a:lstStyle/>
                    <a:p>
                      <a:pPr algn="ctr"/>
                      <a:r>
                        <a:rPr lang="pt-BR" sz="1400" b="1" noProof="1">
                          <a:latin typeface="Courier"/>
                          <a:cs typeface="Courier"/>
                        </a:rPr>
                        <a:t>0</a:t>
                      </a:r>
                    </a:p>
                  </a:txBody>
                  <a:tcPr marL="0" marR="0" marT="0" marB="0" anchor="ctr">
                    <a:solidFill>
                      <a:schemeClr val="accent3">
                        <a:lumMod val="20000"/>
                        <a:lumOff val="80000"/>
                      </a:schemeClr>
                    </a:solidFill>
                  </a:tcPr>
                </a:tc>
                <a:tc>
                  <a:txBody>
                    <a:bodyPr/>
                    <a:lstStyle/>
                    <a:p>
                      <a:pPr algn="ctr"/>
                      <a:r>
                        <a:rPr lang="pt-BR" sz="1400" b="1" noProof="1">
                          <a:latin typeface="Courier"/>
                          <a:cs typeface="Courier"/>
                        </a:rPr>
                        <a:t>1</a:t>
                      </a:r>
                    </a:p>
                  </a:txBody>
                  <a:tcPr marL="0" marR="0" marT="0" marB="0" anchor="ctr">
                    <a:solidFill>
                      <a:schemeClr val="accent3">
                        <a:lumMod val="20000"/>
                        <a:lumOff val="80000"/>
                      </a:schemeClr>
                    </a:solidFill>
                  </a:tcPr>
                </a:tc>
                <a:tc>
                  <a:txBody>
                    <a:bodyPr/>
                    <a:lstStyle/>
                    <a:p>
                      <a:pPr algn="ctr"/>
                      <a:r>
                        <a:rPr lang="pt-BR" sz="1400" b="1" noProof="1">
                          <a:latin typeface="Courier"/>
                          <a:cs typeface="Courier"/>
                        </a:rPr>
                        <a:t>0</a:t>
                      </a:r>
                    </a:p>
                  </a:txBody>
                  <a:tcPr marL="0" marR="0" marT="0" marB="0" anchor="ctr">
                    <a:solidFill>
                      <a:schemeClr val="accent3">
                        <a:lumMod val="20000"/>
                        <a:lumOff val="80000"/>
                      </a:schemeClr>
                    </a:solidFill>
                  </a:tcPr>
                </a:tc>
                <a:tc>
                  <a:txBody>
                    <a:bodyPr/>
                    <a:lstStyle/>
                    <a:p>
                      <a:pPr algn="ctr"/>
                      <a:r>
                        <a:rPr lang="pt-BR" sz="1400" b="1" dirty="0"/>
                        <a:t>1</a:t>
                      </a:r>
                    </a:p>
                  </a:txBody>
                  <a:tcPr marL="0" marR="0" marT="0" marB="0" anchor="ctr">
                    <a:solidFill>
                      <a:schemeClr val="accent3">
                        <a:lumMod val="20000"/>
                        <a:lumOff val="80000"/>
                      </a:schemeClr>
                    </a:solidFill>
                  </a:tcPr>
                </a:tc>
                <a:tc>
                  <a:txBody>
                    <a:bodyPr/>
                    <a:lstStyle/>
                    <a:p>
                      <a:pPr algn="ctr"/>
                      <a:r>
                        <a:rPr lang="pt-BR" sz="1400" b="1" dirty="0"/>
                        <a:t>0</a:t>
                      </a:r>
                    </a:p>
                  </a:txBody>
                  <a:tcPr marL="0" marR="0" marT="0" marB="0" anchor="ctr">
                    <a:lnR w="12700" cmpd="sng">
                      <a:noFill/>
                    </a:lnR>
                    <a:solidFill>
                      <a:schemeClr val="accent3">
                        <a:lumMod val="20000"/>
                        <a:lumOff val="80000"/>
                      </a:schemeClr>
                    </a:solidFill>
                  </a:tcPr>
                </a:tc>
                <a:tc>
                  <a:txBody>
                    <a:bodyPr/>
                    <a:lstStyle/>
                    <a:p>
                      <a:pPr algn="ctr"/>
                      <a:endParaRPr lang="pt-BR" sz="14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pt-BR" sz="14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19070">
                <a:tc>
                  <a:txBody>
                    <a:bodyPr/>
                    <a:lstStyle/>
                    <a:p>
                      <a:pPr algn="ctr"/>
                      <a:r>
                        <a:rPr lang="pt-BR" sz="1400" b="1" noProof="1">
                          <a:latin typeface="Courier"/>
                          <a:cs typeface="Courier"/>
                        </a:rPr>
                        <a:t>y[7]</a:t>
                      </a:r>
                    </a:p>
                  </a:txBody>
                  <a:tcPr marL="0" marR="0" marT="0" marB="0" anchor="ctr">
                    <a:solidFill>
                      <a:srgbClr val="8EB4E3"/>
                    </a:solidFill>
                  </a:tcPr>
                </a:tc>
                <a:tc>
                  <a:txBody>
                    <a:bodyPr/>
                    <a:lstStyle/>
                    <a:p>
                      <a:pPr algn="ctr"/>
                      <a:r>
                        <a:rPr lang="pt-BR" sz="1400" b="1" noProof="1">
                          <a:latin typeface="Courier"/>
                          <a:cs typeface="Courier"/>
                        </a:rPr>
                        <a:t>y[6]</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y[5]</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y[4]</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y[3]</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y[2]</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y[1]</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y[0]</a:t>
                      </a:r>
                    </a:p>
                  </a:txBody>
                  <a:tcPr marL="0" marR="0" marT="0" marB="0" anchor="ctr">
                    <a:lnR w="12700" cmpd="sng">
                      <a:noFill/>
                    </a:ln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400" b="1" noProof="1">
                        <a:latin typeface="Courier"/>
                        <a:cs typeface="Courier"/>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sz="1400" b="1" noProof="1">
                        <a:latin typeface="Courier"/>
                        <a:cs typeface="Courier"/>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19070">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noProof="1">
                          <a:latin typeface="Courier"/>
                          <a:cs typeface="Courier"/>
                        </a:rPr>
                        <a:t>1</a:t>
                      </a:r>
                    </a:p>
                  </a:txBody>
                  <a:tcPr marL="0" marR="0" marT="0" marB="0" anchor="ctr">
                    <a:solidFill>
                      <a:srgbClr val="EBF1DE"/>
                    </a:solidFill>
                  </a:tcPr>
                </a:tc>
                <a:tc>
                  <a:txBody>
                    <a:bodyPr/>
                    <a:lstStyle/>
                    <a:p>
                      <a:pPr algn="ctr"/>
                      <a:r>
                        <a:rPr lang="pt-BR" sz="1400" b="1" dirty="0"/>
                        <a:t>1</a:t>
                      </a:r>
                    </a:p>
                  </a:txBody>
                  <a:tcPr marL="0" marR="0" marT="0" marB="0" anchor="ctr">
                    <a:solidFill>
                      <a:srgbClr val="EBF1DE"/>
                    </a:solidFill>
                  </a:tcPr>
                </a:tc>
                <a:tc>
                  <a:txBody>
                    <a:bodyPr/>
                    <a:lstStyle/>
                    <a:p>
                      <a:pPr algn="ctr"/>
                      <a:r>
                        <a:rPr lang="pt-BR" sz="1400" b="1" dirty="0"/>
                        <a:t>0</a:t>
                      </a:r>
                    </a:p>
                  </a:txBody>
                  <a:tcPr marL="0" marR="0" marT="0" marB="0" anchor="ctr">
                    <a:lnR w="12700" cmpd="sng">
                      <a:noFill/>
                    </a:lnR>
                    <a:solidFill>
                      <a:srgbClr val="EBF1DE"/>
                    </a:solidFill>
                  </a:tcPr>
                </a:tc>
                <a:tc>
                  <a:txBody>
                    <a:bodyPr/>
                    <a:lstStyle/>
                    <a:p>
                      <a:pPr algn="ctr"/>
                      <a:endParaRPr lang="pt-BR" sz="14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pt-BR" sz="14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19070">
                <a:tc>
                  <a:txBody>
                    <a:bodyPr/>
                    <a:lstStyle/>
                    <a:p>
                      <a:pPr algn="ctr"/>
                      <a:r>
                        <a:rPr lang="pt-BR" sz="1400" b="1" noProof="1">
                          <a:latin typeface="Courier"/>
                          <a:cs typeface="Courier"/>
                        </a:rPr>
                        <a:t>out[7]</a:t>
                      </a:r>
                    </a:p>
                  </a:txBody>
                  <a:tcPr marL="0" marR="0" marT="0" marB="0" anchor="ctr">
                    <a:solidFill>
                      <a:srgbClr val="8EB4E3"/>
                    </a:solidFill>
                  </a:tcPr>
                </a:tc>
                <a:tc>
                  <a:txBody>
                    <a:bodyPr/>
                    <a:lstStyle/>
                    <a:p>
                      <a:pPr algn="ctr"/>
                      <a:r>
                        <a:rPr lang="pt-BR" sz="1400" b="1" noProof="1">
                          <a:latin typeface="Courier"/>
                          <a:cs typeface="Courier"/>
                        </a:rPr>
                        <a:t>out[6]</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out[5]</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out[4]</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out[3]</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out[2]</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out[1]</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out[0]</a:t>
                      </a:r>
                    </a:p>
                  </a:txBody>
                  <a:tcPr marL="0" marR="0" marT="0" marB="0" anchor="ctr">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zr</a:t>
                      </a:r>
                    </a:p>
                  </a:txBody>
                  <a:tcPr marL="0" marR="0" marT="0" marB="0" anchor="ctr">
                    <a:lnT w="12700" cmpd="sng">
                      <a:noFill/>
                    </a:lnT>
                    <a:solidFill>
                      <a:srgbClr val="8EB4E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400" b="1" noProof="1">
                          <a:latin typeface="Courier"/>
                          <a:cs typeface="Courier"/>
                        </a:rPr>
                        <a:t>ng</a:t>
                      </a:r>
                    </a:p>
                  </a:txBody>
                  <a:tcPr marL="0" marR="0" marT="0" marB="0" anchor="ctr">
                    <a:lnT w="12700" cmpd="sng">
                      <a:noFill/>
                    </a:lnT>
                    <a:solidFill>
                      <a:srgbClr val="8EB4E3"/>
                    </a:solidFill>
                  </a:tcPr>
                </a:tc>
                <a:extLst>
                  <a:ext uri="{0D108BD9-81ED-4DB2-BD59-A6C34878D82A}">
                    <a16:rowId xmlns:a16="http://schemas.microsoft.com/office/drawing/2014/main" val="10006"/>
                  </a:ext>
                </a:extLst>
              </a:tr>
              <a:tr h="119070">
                <a:tc>
                  <a:txBody>
                    <a:bodyPr/>
                    <a:lstStyle/>
                    <a:p>
                      <a:pPr algn="ctr"/>
                      <a:r>
                        <a:rPr lang="pt-BR" sz="1400" b="1" dirty="0"/>
                        <a:t>1</a:t>
                      </a:r>
                    </a:p>
                  </a:txBody>
                  <a:tcPr marL="0" marR="0" marT="0" marB="14400" anchor="ctr">
                    <a:solidFill>
                      <a:srgbClr val="EBF1DE"/>
                    </a:solidFill>
                  </a:tcPr>
                </a:tc>
                <a:tc>
                  <a:txBody>
                    <a:bodyPr/>
                    <a:lstStyle/>
                    <a:p>
                      <a:pPr algn="ctr"/>
                      <a:r>
                        <a:rPr lang="pt-BR" sz="1400" b="1" dirty="0"/>
                        <a:t>1</a:t>
                      </a:r>
                    </a:p>
                  </a:txBody>
                  <a:tcPr marL="0" marR="0" marT="0" marB="14400" anchor="ctr">
                    <a:solidFill>
                      <a:srgbClr val="EBF1DE"/>
                    </a:solidFill>
                  </a:tcPr>
                </a:tc>
                <a:tc>
                  <a:txBody>
                    <a:bodyPr/>
                    <a:lstStyle/>
                    <a:p>
                      <a:pPr algn="ctr"/>
                      <a:r>
                        <a:rPr lang="pt-BR" sz="1400" b="1" dirty="0"/>
                        <a:t>1</a:t>
                      </a:r>
                    </a:p>
                  </a:txBody>
                  <a:tcPr marL="0" marR="0" marT="0" marB="14400" anchor="ctr">
                    <a:solidFill>
                      <a:srgbClr val="EBF1DE"/>
                    </a:solidFill>
                  </a:tcPr>
                </a:tc>
                <a:tc>
                  <a:txBody>
                    <a:bodyPr/>
                    <a:lstStyle/>
                    <a:p>
                      <a:pPr algn="ctr"/>
                      <a:r>
                        <a:rPr lang="pt-BR" sz="1400" b="1" dirty="0"/>
                        <a:t>1</a:t>
                      </a:r>
                    </a:p>
                  </a:txBody>
                  <a:tcPr marL="0" marR="0" marT="0" marB="14400" anchor="ctr">
                    <a:solidFill>
                      <a:srgbClr val="EBF1DE"/>
                    </a:solidFill>
                  </a:tcPr>
                </a:tc>
                <a:tc>
                  <a:txBody>
                    <a:bodyPr/>
                    <a:lstStyle/>
                    <a:p>
                      <a:pPr algn="ctr"/>
                      <a:r>
                        <a:rPr lang="pt-BR" sz="1400" b="1" dirty="0"/>
                        <a:t>0</a:t>
                      </a:r>
                    </a:p>
                  </a:txBody>
                  <a:tcPr marL="0" marR="0" marT="0" marB="14400" anchor="ctr">
                    <a:solidFill>
                      <a:srgbClr val="EBF1DE"/>
                    </a:solidFill>
                  </a:tcPr>
                </a:tc>
                <a:tc>
                  <a:txBody>
                    <a:bodyPr/>
                    <a:lstStyle/>
                    <a:p>
                      <a:pPr algn="ctr"/>
                      <a:r>
                        <a:rPr lang="pt-BR" sz="1400" b="1" dirty="0"/>
                        <a:t>1</a:t>
                      </a:r>
                    </a:p>
                  </a:txBody>
                  <a:tcPr marL="0" marR="0" marT="0" marB="14400" anchor="ctr">
                    <a:solidFill>
                      <a:srgbClr val="EBF1DE"/>
                    </a:solidFill>
                  </a:tcPr>
                </a:tc>
                <a:tc>
                  <a:txBody>
                    <a:bodyPr/>
                    <a:lstStyle/>
                    <a:p>
                      <a:pPr algn="ctr"/>
                      <a:r>
                        <a:rPr lang="pt-BR" sz="1400" b="1" dirty="0"/>
                        <a:t>1</a:t>
                      </a:r>
                    </a:p>
                  </a:txBody>
                  <a:tcPr marL="0" marR="0" marT="0" marB="14400" anchor="ctr">
                    <a:solidFill>
                      <a:srgbClr val="EBF1DE"/>
                    </a:solidFill>
                  </a:tcPr>
                </a:tc>
                <a:tc>
                  <a:txBody>
                    <a:bodyPr/>
                    <a:lstStyle/>
                    <a:p>
                      <a:pPr algn="ctr"/>
                      <a:r>
                        <a:rPr lang="pt-BR" sz="1400" b="1" dirty="0"/>
                        <a:t>0</a:t>
                      </a:r>
                    </a:p>
                  </a:txBody>
                  <a:tcPr marL="0" marR="0" marT="0" marB="14400" anchor="ctr">
                    <a:solidFill>
                      <a:srgbClr val="EBF1DE"/>
                    </a:solidFill>
                  </a:tcPr>
                </a:tc>
                <a:tc>
                  <a:txBody>
                    <a:bodyPr/>
                    <a:lstStyle/>
                    <a:p>
                      <a:pPr algn="ctr"/>
                      <a:r>
                        <a:rPr lang="pt-BR" sz="1400" b="1" dirty="0"/>
                        <a:t>0</a:t>
                      </a:r>
                    </a:p>
                  </a:txBody>
                  <a:tcPr marL="0" marR="0" marT="0" marB="14400" anchor="ctr"/>
                </a:tc>
                <a:tc>
                  <a:txBody>
                    <a:bodyPr/>
                    <a:lstStyle/>
                    <a:p>
                      <a:pPr algn="ctr"/>
                      <a:r>
                        <a:rPr lang="pt-BR" sz="1400" b="1" dirty="0"/>
                        <a:t>1</a:t>
                      </a:r>
                    </a:p>
                  </a:txBody>
                  <a:tcPr marL="0" marR="0" marT="0" marB="14400" anchor="ctr"/>
                </a:tc>
                <a:extLst>
                  <a:ext uri="{0D108BD9-81ED-4DB2-BD59-A6C34878D82A}">
                    <a16:rowId xmlns:a16="http://schemas.microsoft.com/office/drawing/2014/main" val="10007"/>
                  </a:ext>
                </a:extLst>
              </a:tr>
            </a:tbl>
          </a:graphicData>
        </a:graphic>
      </p:graphicFrame>
      <p:sp>
        <p:nvSpPr>
          <p:cNvPr id="59" name="Rectangle 58"/>
          <p:cNvSpPr/>
          <p:nvPr/>
        </p:nvSpPr>
        <p:spPr>
          <a:xfrm>
            <a:off x="1677846" y="2870012"/>
            <a:ext cx="774571" cy="276999"/>
          </a:xfrm>
          <a:prstGeom prst="rect">
            <a:avLst/>
          </a:prstGeom>
        </p:spPr>
        <p:txBody>
          <a:bodyPr wrap="none">
            <a:spAutoFit/>
          </a:bodyPr>
          <a:lstStyle/>
          <a:p>
            <a:r>
              <a:rPr lang="pt-BR" sz="1200" b="1" kern="700" spc="-170" noProof="1">
                <a:solidFill>
                  <a:srgbClr val="FF0000"/>
                </a:solidFill>
                <a:latin typeface="Courier"/>
                <a:cs typeface="Courier"/>
              </a:rPr>
              <a:t>00001010</a:t>
            </a:r>
            <a:endParaRPr lang="pt-BR" sz="1200" kern="700" spc="-170" dirty="0">
              <a:solidFill>
                <a:srgbClr val="FF0000"/>
              </a:solidFill>
              <a:latin typeface="Courier"/>
              <a:cs typeface="Courier"/>
            </a:endParaRPr>
          </a:p>
        </p:txBody>
      </p:sp>
      <p:grpSp>
        <p:nvGrpSpPr>
          <p:cNvPr id="60" name="Group 59"/>
          <p:cNvGrpSpPr/>
          <p:nvPr/>
        </p:nvGrpSpPr>
        <p:grpSpPr>
          <a:xfrm>
            <a:off x="5996" y="2211951"/>
            <a:ext cx="9128141" cy="4313800"/>
            <a:chOff x="27672" y="1706160"/>
            <a:chExt cx="9392484" cy="4438723"/>
          </a:xfrm>
        </p:grpSpPr>
        <p:sp>
          <p:nvSpPr>
            <p:cNvPr id="61" name="Rectangle 60"/>
            <p:cNvSpPr/>
            <p:nvPr/>
          </p:nvSpPr>
          <p:spPr>
            <a:xfrm>
              <a:off x="4226042" y="2420736"/>
              <a:ext cx="705830" cy="1482860"/>
            </a:xfrm>
            <a:prstGeom prst="rect">
              <a:avLst/>
            </a:prstGeom>
          </p:spPr>
          <p:style>
            <a:lnRef idx="2">
              <a:schemeClr val="dk1"/>
            </a:lnRef>
            <a:fillRef idx="1">
              <a:schemeClr val="lt1"/>
            </a:fillRef>
            <a:effectRef idx="0">
              <a:schemeClr val="dk1"/>
            </a:effectRef>
            <a:fontRef idx="minor">
              <a:schemeClr val="dk1"/>
            </a:fontRef>
          </p:style>
          <p:txBody>
            <a:bodyPr vert="wordArtVert" tIns="0" bIns="0" rtlCol="0" anchor="ctr"/>
            <a:lstStyle/>
            <a:p>
              <a:pPr algn="ctr"/>
              <a:r>
                <a:rPr lang="pt-BR" sz="2200" b="1" noProof="1">
                  <a:solidFill>
                    <a:schemeClr val="tx1"/>
                  </a:solidFill>
                </a:rPr>
                <a:t>And</a:t>
              </a:r>
            </a:p>
          </p:txBody>
        </p:sp>
        <p:sp>
          <p:nvSpPr>
            <p:cNvPr id="62" name="Rectangle 61"/>
            <p:cNvSpPr/>
            <p:nvPr/>
          </p:nvSpPr>
          <p:spPr>
            <a:xfrm>
              <a:off x="27672" y="2457723"/>
              <a:ext cx="508272" cy="76944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4400" b="1" noProof="1">
                  <a:solidFill>
                    <a:schemeClr val="tx1"/>
                  </a:solidFill>
                </a:rPr>
                <a:t>X</a:t>
              </a:r>
            </a:p>
          </p:txBody>
        </p:sp>
        <p:sp>
          <p:nvSpPr>
            <p:cNvPr id="63" name="Rectangle 62"/>
            <p:cNvSpPr/>
            <p:nvPr/>
          </p:nvSpPr>
          <p:spPr>
            <a:xfrm>
              <a:off x="27672" y="4744475"/>
              <a:ext cx="492443" cy="76944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4400" b="1" noProof="1">
                  <a:solidFill>
                    <a:schemeClr val="tx1"/>
                  </a:solidFill>
                </a:rPr>
                <a:t>Y</a:t>
              </a:r>
            </a:p>
          </p:txBody>
        </p:sp>
        <p:sp>
          <p:nvSpPr>
            <p:cNvPr id="64" name="Rectangle 63"/>
            <p:cNvSpPr/>
            <p:nvPr/>
          </p:nvSpPr>
          <p:spPr>
            <a:xfrm>
              <a:off x="8133992" y="3537651"/>
              <a:ext cx="972331" cy="677108"/>
            </a:xfrm>
            <a:prstGeom prst="rect">
              <a:avLst/>
            </a:prstGeom>
            <a:ln>
              <a:noFill/>
            </a:ln>
          </p:spPr>
          <p:style>
            <a:lnRef idx="2">
              <a:schemeClr val="dk1"/>
            </a:lnRef>
            <a:fillRef idx="1">
              <a:schemeClr val="lt1"/>
            </a:fillRef>
            <a:effectRef idx="0">
              <a:schemeClr val="dk1"/>
            </a:effectRef>
            <a:fontRef idx="minor">
              <a:schemeClr val="dk1"/>
            </a:fontRef>
          </p:style>
          <p:txBody>
            <a:bodyPr wrap="none" tIns="0" rIns="0" bIns="0">
              <a:spAutoFit/>
            </a:bodyPr>
            <a:lstStyle/>
            <a:p>
              <a:r>
                <a:rPr lang="pt-BR" sz="4400" b="1" noProof="1">
                  <a:solidFill>
                    <a:schemeClr val="tx1"/>
                  </a:solidFill>
                </a:rPr>
                <a:t>Out</a:t>
              </a:r>
            </a:p>
          </p:txBody>
        </p:sp>
        <p:sp>
          <p:nvSpPr>
            <p:cNvPr id="65" name="Rectangle 64"/>
            <p:cNvSpPr/>
            <p:nvPr/>
          </p:nvSpPr>
          <p:spPr>
            <a:xfrm>
              <a:off x="998676" y="2664934"/>
              <a:ext cx="838441" cy="4523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Zerador</a:t>
              </a:r>
            </a:p>
          </p:txBody>
        </p:sp>
        <p:grpSp>
          <p:nvGrpSpPr>
            <p:cNvPr id="66" name="Group 65"/>
            <p:cNvGrpSpPr/>
            <p:nvPr/>
          </p:nvGrpSpPr>
          <p:grpSpPr>
            <a:xfrm>
              <a:off x="5437832" y="3387770"/>
              <a:ext cx="709968" cy="1124620"/>
              <a:chOff x="2085357" y="5200521"/>
              <a:chExt cx="1245121" cy="1294617"/>
            </a:xfrm>
          </p:grpSpPr>
          <p:sp>
            <p:nvSpPr>
              <p:cNvPr id="105" name="Isosceles Triangle 104"/>
              <p:cNvSpPr/>
              <p:nvPr/>
            </p:nvSpPr>
            <p:spPr>
              <a:xfrm rot="5400000">
                <a:off x="2125145" y="5289805"/>
                <a:ext cx="1294617" cy="1116049"/>
              </a:xfrm>
              <a:prstGeom prst="triangle">
                <a:avLst/>
              </a:prstGeom>
              <a:no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06" name="Rectangle 105"/>
              <p:cNvSpPr/>
              <p:nvPr/>
            </p:nvSpPr>
            <p:spPr>
              <a:xfrm>
                <a:off x="2085357" y="5528691"/>
                <a:ext cx="1116050" cy="744030"/>
              </a:xfrm>
              <a:prstGeom prst="rect">
                <a:avLst/>
              </a:prstGeom>
            </p:spPr>
            <p:txBody>
              <a:bodyPr wrap="square">
                <a:spAutoFit/>
              </a:bodyPr>
              <a:lstStyle/>
              <a:p>
                <a:r>
                  <a:rPr lang="pt-BR" b="1" dirty="0"/>
                  <a:t>Mux</a:t>
                </a:r>
              </a:p>
              <a:p>
                <a:r>
                  <a:rPr lang="pt-BR" b="1" dirty="0"/>
                  <a:t>16</a:t>
                </a:r>
              </a:p>
            </p:txBody>
          </p:sp>
        </p:grpSp>
        <p:sp>
          <p:nvSpPr>
            <p:cNvPr id="67" name="Right Arrow 66"/>
            <p:cNvSpPr/>
            <p:nvPr/>
          </p:nvSpPr>
          <p:spPr>
            <a:xfrm>
              <a:off x="7619024" y="3706738"/>
              <a:ext cx="576617"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200" noProof="1">
                  <a:solidFill>
                    <a:schemeClr val="tx1"/>
                  </a:solidFill>
                </a:rPr>
                <a:t>16 bits</a:t>
              </a:r>
            </a:p>
          </p:txBody>
        </p:sp>
        <p:sp>
          <p:nvSpPr>
            <p:cNvPr id="68" name="Rectangle 67"/>
            <p:cNvSpPr/>
            <p:nvPr/>
          </p:nvSpPr>
          <p:spPr>
            <a:xfrm>
              <a:off x="7225628" y="4993282"/>
              <a:ext cx="1149692" cy="1011983"/>
            </a:xfrm>
            <a:prstGeom prst="rect">
              <a:avLst/>
            </a:prstGeom>
          </p:spPr>
          <p:style>
            <a:lnRef idx="2">
              <a:schemeClr val="dk1"/>
            </a:lnRef>
            <a:fillRef idx="1">
              <a:schemeClr val="lt1"/>
            </a:fillRef>
            <a:effectRef idx="0">
              <a:schemeClr val="dk1"/>
            </a:effectRef>
            <a:fontRef idx="minor">
              <a:schemeClr val="dk1"/>
            </a:fontRef>
          </p:style>
          <p:txBody>
            <a:bodyPr tIns="0" bIns="0" rtlCol="0" anchor="ctr"/>
            <a:lstStyle/>
            <a:p>
              <a:pPr algn="ctr"/>
              <a:r>
                <a:rPr lang="pt-BR" sz="2800" b="1" noProof="1">
                  <a:solidFill>
                    <a:schemeClr val="tx1"/>
                  </a:solidFill>
                </a:rPr>
                <a:t>Comp</a:t>
              </a:r>
            </a:p>
          </p:txBody>
        </p:sp>
        <p:sp>
          <p:nvSpPr>
            <p:cNvPr id="69" name="Right Arrow 68"/>
            <p:cNvSpPr/>
            <p:nvPr/>
          </p:nvSpPr>
          <p:spPr>
            <a:xfrm>
              <a:off x="446135" y="2661129"/>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70" name="Right Arrow 69"/>
            <p:cNvSpPr/>
            <p:nvPr/>
          </p:nvSpPr>
          <p:spPr>
            <a:xfrm>
              <a:off x="3306930" y="2647815"/>
              <a:ext cx="882122"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200" noProof="1">
                  <a:solidFill>
                    <a:schemeClr val="tx1"/>
                  </a:solidFill>
                </a:rPr>
                <a:t>16 bits</a:t>
              </a:r>
            </a:p>
          </p:txBody>
        </p:sp>
        <p:sp>
          <p:nvSpPr>
            <p:cNvPr id="71" name="Bent Arrow 70"/>
            <p:cNvSpPr/>
            <p:nvPr/>
          </p:nvSpPr>
          <p:spPr>
            <a:xfrm flipV="1">
              <a:off x="3353664" y="2990972"/>
              <a:ext cx="838077" cy="1763207"/>
            </a:xfrm>
            <a:prstGeom prst="bentArrow">
              <a:avLst>
                <a:gd name="adj1" fmla="val 23431"/>
                <a:gd name="adj2" fmla="val 25000"/>
                <a:gd name="adj3" fmla="val 25000"/>
                <a:gd name="adj4" fmla="val 59435"/>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
          <p:nvSpPr>
            <p:cNvPr id="72" name="Rectangle 71"/>
            <p:cNvSpPr/>
            <p:nvPr/>
          </p:nvSpPr>
          <p:spPr>
            <a:xfrm>
              <a:off x="4226042" y="4129749"/>
              <a:ext cx="705830" cy="1482860"/>
            </a:xfrm>
            <a:prstGeom prst="rect">
              <a:avLst/>
            </a:prstGeom>
          </p:spPr>
          <p:style>
            <a:lnRef idx="2">
              <a:schemeClr val="dk1"/>
            </a:lnRef>
            <a:fillRef idx="1">
              <a:schemeClr val="lt1"/>
            </a:fillRef>
            <a:effectRef idx="0">
              <a:schemeClr val="dk1"/>
            </a:effectRef>
            <a:fontRef idx="minor">
              <a:schemeClr val="dk1"/>
            </a:fontRef>
          </p:style>
          <p:txBody>
            <a:bodyPr vert="wordArtVert" tIns="0" bIns="0" rtlCol="0" anchor="ctr"/>
            <a:lstStyle/>
            <a:p>
              <a:pPr algn="ctr"/>
              <a:r>
                <a:rPr lang="pt-BR" sz="2200" b="1" noProof="1">
                  <a:solidFill>
                    <a:schemeClr val="tx1"/>
                  </a:solidFill>
                </a:rPr>
                <a:t>Add</a:t>
              </a:r>
            </a:p>
          </p:txBody>
        </p:sp>
        <p:sp>
          <p:nvSpPr>
            <p:cNvPr id="73" name="Right Arrow 72"/>
            <p:cNvSpPr/>
            <p:nvPr/>
          </p:nvSpPr>
          <p:spPr>
            <a:xfrm rot="5400000">
              <a:off x="7320771" y="4284305"/>
              <a:ext cx="92169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200" noProof="1">
                <a:solidFill>
                  <a:schemeClr val="tx1"/>
                </a:solidFill>
              </a:endParaRPr>
            </a:p>
          </p:txBody>
        </p:sp>
        <p:cxnSp>
          <p:nvCxnSpPr>
            <p:cNvPr id="74" name="Straight Arrow Connector 73"/>
            <p:cNvCxnSpPr/>
            <p:nvPr/>
          </p:nvCxnSpPr>
          <p:spPr>
            <a:xfrm>
              <a:off x="8375320" y="5274592"/>
              <a:ext cx="422450" cy="0"/>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75" name="Rectangle 74"/>
            <p:cNvSpPr/>
            <p:nvPr/>
          </p:nvSpPr>
          <p:spPr>
            <a:xfrm>
              <a:off x="8711460" y="5045414"/>
              <a:ext cx="651687" cy="380028"/>
            </a:xfrm>
            <a:prstGeom prst="rect">
              <a:avLst/>
            </a:prstGeom>
          </p:spPr>
          <p:txBody>
            <a:bodyPr wrap="none" tIns="0" rIns="0" bIns="0">
              <a:spAutoFit/>
            </a:bodyPr>
            <a:lstStyle/>
            <a:p>
              <a:r>
                <a:rPr lang="pt-BR" sz="2400" b="1" noProof="1"/>
                <a:t>zr</a:t>
              </a:r>
              <a:r>
                <a:rPr lang="pt-BR" sz="2400" noProof="1"/>
                <a:t>=0</a:t>
              </a:r>
            </a:p>
          </p:txBody>
        </p:sp>
        <p:cxnSp>
          <p:nvCxnSpPr>
            <p:cNvPr id="76" name="Straight Arrow Connector 75"/>
            <p:cNvCxnSpPr/>
            <p:nvPr/>
          </p:nvCxnSpPr>
          <p:spPr>
            <a:xfrm>
              <a:off x="8363012" y="5709369"/>
              <a:ext cx="422450" cy="0"/>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77" name="Rectangle 76"/>
            <p:cNvSpPr/>
            <p:nvPr/>
          </p:nvSpPr>
          <p:spPr>
            <a:xfrm>
              <a:off x="8686822" y="5482894"/>
              <a:ext cx="733334" cy="380028"/>
            </a:xfrm>
            <a:prstGeom prst="rect">
              <a:avLst/>
            </a:prstGeom>
          </p:spPr>
          <p:txBody>
            <a:bodyPr wrap="none" tIns="0" rIns="0" bIns="0">
              <a:spAutoFit/>
            </a:bodyPr>
            <a:lstStyle/>
            <a:p>
              <a:r>
                <a:rPr lang="pt-BR" sz="2400" b="1" noProof="1"/>
                <a:t>ng</a:t>
              </a:r>
              <a:r>
                <a:rPr lang="pt-BR" sz="2400" noProof="1"/>
                <a:t>=1</a:t>
              </a:r>
            </a:p>
          </p:txBody>
        </p:sp>
        <p:sp>
          <p:nvSpPr>
            <p:cNvPr id="78" name="Rectangle 77"/>
            <p:cNvSpPr/>
            <p:nvPr/>
          </p:nvSpPr>
          <p:spPr>
            <a:xfrm>
              <a:off x="7683500" y="4023282"/>
              <a:ext cx="193675" cy="338503"/>
            </a:xfrm>
            <a:prstGeom prst="rect">
              <a:avLst/>
            </a:prstGeom>
            <a:solidFill>
              <a:schemeClr val="bg1"/>
            </a:solidFill>
            <a:ln w="9525" cmpd="sng">
              <a:solidFill>
                <a:schemeClr val="bg1"/>
              </a:solidFill>
            </a:ln>
          </p:spPr>
          <p:style>
            <a:lnRef idx="2">
              <a:schemeClr val="dk1"/>
            </a:lnRef>
            <a:fillRef idx="1">
              <a:schemeClr val="lt1"/>
            </a:fillRef>
            <a:effectRef idx="0">
              <a:schemeClr val="dk1"/>
            </a:effectRef>
            <a:fontRef idx="minor">
              <a:schemeClr val="dk1"/>
            </a:fontRef>
          </p:style>
          <p:txBody>
            <a:bodyPr tIns="0" bIns="0" rtlCol="0" anchor="ctr"/>
            <a:lstStyle/>
            <a:p>
              <a:pPr algn="ctr"/>
              <a:endParaRPr lang="pt-BR" sz="2800" b="1" noProof="1">
                <a:solidFill>
                  <a:schemeClr val="tx1"/>
                </a:solidFill>
              </a:endParaRPr>
            </a:p>
          </p:txBody>
        </p:sp>
        <p:sp>
          <p:nvSpPr>
            <p:cNvPr id="79" name="Right Arrow 78"/>
            <p:cNvSpPr/>
            <p:nvPr/>
          </p:nvSpPr>
          <p:spPr>
            <a:xfrm>
              <a:off x="1876374" y="265260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80" name="Rectangle 79"/>
            <p:cNvSpPr/>
            <p:nvPr/>
          </p:nvSpPr>
          <p:spPr>
            <a:xfrm>
              <a:off x="2426560" y="2652605"/>
              <a:ext cx="838441" cy="4523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750" b="1" noProof="1">
                  <a:solidFill>
                    <a:schemeClr val="tx1"/>
                  </a:solidFill>
                </a:rPr>
                <a:t>Inversor</a:t>
              </a:r>
            </a:p>
          </p:txBody>
        </p:sp>
        <p:sp>
          <p:nvSpPr>
            <p:cNvPr id="81" name="Rectangle 80"/>
            <p:cNvSpPr/>
            <p:nvPr/>
          </p:nvSpPr>
          <p:spPr>
            <a:xfrm>
              <a:off x="998676" y="4960350"/>
              <a:ext cx="838441" cy="4523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Zerador</a:t>
              </a:r>
            </a:p>
          </p:txBody>
        </p:sp>
        <p:sp>
          <p:nvSpPr>
            <p:cNvPr id="82" name="Right Arrow 81"/>
            <p:cNvSpPr/>
            <p:nvPr/>
          </p:nvSpPr>
          <p:spPr>
            <a:xfrm>
              <a:off x="446135" y="495654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83" name="Right Arrow 82"/>
            <p:cNvSpPr/>
            <p:nvPr/>
          </p:nvSpPr>
          <p:spPr>
            <a:xfrm>
              <a:off x="3306930" y="4943231"/>
              <a:ext cx="882122"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200" noProof="1">
                  <a:solidFill>
                    <a:schemeClr val="tx1"/>
                  </a:solidFill>
                </a:rPr>
                <a:t>16 bits</a:t>
              </a:r>
            </a:p>
          </p:txBody>
        </p:sp>
        <p:sp>
          <p:nvSpPr>
            <p:cNvPr id="84" name="Bent Arrow 83"/>
            <p:cNvSpPr/>
            <p:nvPr/>
          </p:nvSpPr>
          <p:spPr>
            <a:xfrm>
              <a:off x="3649578" y="3284984"/>
              <a:ext cx="539474" cy="1768449"/>
            </a:xfrm>
            <a:prstGeom prst="bentArrow">
              <a:avLst>
                <a:gd name="adj1" fmla="val 36753"/>
                <a:gd name="adj2" fmla="val 43144"/>
                <a:gd name="adj3" fmla="val 36975"/>
                <a:gd name="adj4" fmla="val 63025"/>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
          <p:nvSpPr>
            <p:cNvPr id="85" name="Right Arrow 84"/>
            <p:cNvSpPr/>
            <p:nvPr/>
          </p:nvSpPr>
          <p:spPr>
            <a:xfrm>
              <a:off x="1876374" y="4948021"/>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86" name="Rectangle 85"/>
            <p:cNvSpPr/>
            <p:nvPr/>
          </p:nvSpPr>
          <p:spPr>
            <a:xfrm>
              <a:off x="2426560" y="4948021"/>
              <a:ext cx="838441" cy="4523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750" b="1" noProof="1">
                  <a:solidFill>
                    <a:schemeClr val="tx1"/>
                  </a:solidFill>
                </a:rPr>
                <a:t>Inversor</a:t>
              </a:r>
            </a:p>
          </p:txBody>
        </p:sp>
        <p:sp>
          <p:nvSpPr>
            <p:cNvPr id="87" name="Rectangle 86"/>
            <p:cNvSpPr/>
            <p:nvPr/>
          </p:nvSpPr>
          <p:spPr>
            <a:xfrm>
              <a:off x="991353" y="1706160"/>
              <a:ext cx="783807" cy="475035"/>
            </a:xfrm>
            <a:prstGeom prst="rect">
              <a:avLst/>
            </a:prstGeom>
          </p:spPr>
          <p:txBody>
            <a:bodyPr wrap="none">
              <a:spAutoFit/>
            </a:bodyPr>
            <a:lstStyle/>
            <a:p>
              <a:r>
                <a:rPr lang="pt-BR" sz="2400" b="1" noProof="1"/>
                <a:t>zx</a:t>
              </a:r>
              <a:r>
                <a:rPr lang="pt-BR" sz="2400" noProof="1"/>
                <a:t>=0</a:t>
              </a:r>
            </a:p>
          </p:txBody>
        </p:sp>
        <p:cxnSp>
          <p:nvCxnSpPr>
            <p:cNvPr id="88" name="Straight Arrow Connector 87"/>
            <p:cNvCxnSpPr/>
            <p:nvPr/>
          </p:nvCxnSpPr>
          <p:spPr>
            <a:xfrm>
              <a:off x="1376497" y="2103322"/>
              <a:ext cx="0" cy="544493"/>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cxnSp>
          <p:nvCxnSpPr>
            <p:cNvPr id="89" name="Straight Arrow Connector 88"/>
            <p:cNvCxnSpPr/>
            <p:nvPr/>
          </p:nvCxnSpPr>
          <p:spPr>
            <a:xfrm>
              <a:off x="2848173" y="2103322"/>
              <a:ext cx="0" cy="544493"/>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90" name="Rectangle 89"/>
            <p:cNvSpPr/>
            <p:nvPr/>
          </p:nvSpPr>
          <p:spPr>
            <a:xfrm>
              <a:off x="2439650" y="1706160"/>
              <a:ext cx="823702" cy="475035"/>
            </a:xfrm>
            <a:prstGeom prst="rect">
              <a:avLst/>
            </a:prstGeom>
          </p:spPr>
          <p:txBody>
            <a:bodyPr wrap="none">
              <a:spAutoFit/>
            </a:bodyPr>
            <a:lstStyle/>
            <a:p>
              <a:r>
                <a:rPr lang="pt-BR" sz="2400" b="1" noProof="1"/>
                <a:t>nx</a:t>
              </a:r>
              <a:r>
                <a:rPr lang="pt-BR" sz="2400" noProof="1"/>
                <a:t>=0</a:t>
              </a:r>
            </a:p>
          </p:txBody>
        </p:sp>
        <p:sp>
          <p:nvSpPr>
            <p:cNvPr id="91" name="Rectangle 90"/>
            <p:cNvSpPr/>
            <p:nvPr/>
          </p:nvSpPr>
          <p:spPr>
            <a:xfrm>
              <a:off x="1031075" y="5669849"/>
              <a:ext cx="784116" cy="475034"/>
            </a:xfrm>
            <a:prstGeom prst="rect">
              <a:avLst/>
            </a:prstGeom>
          </p:spPr>
          <p:txBody>
            <a:bodyPr wrap="none">
              <a:spAutoFit/>
            </a:bodyPr>
            <a:lstStyle/>
            <a:p>
              <a:r>
                <a:rPr lang="pt-BR" sz="2400" b="1" noProof="1"/>
                <a:t>zy</a:t>
              </a:r>
              <a:r>
                <a:rPr lang="pt-BR" sz="2400" noProof="1"/>
                <a:t>=1</a:t>
              </a:r>
            </a:p>
          </p:txBody>
        </p:sp>
        <p:sp>
          <p:nvSpPr>
            <p:cNvPr id="92" name="Rectangle 91"/>
            <p:cNvSpPr/>
            <p:nvPr/>
          </p:nvSpPr>
          <p:spPr>
            <a:xfrm>
              <a:off x="2453942" y="5657133"/>
              <a:ext cx="828187" cy="475034"/>
            </a:xfrm>
            <a:prstGeom prst="rect">
              <a:avLst/>
            </a:prstGeom>
          </p:spPr>
          <p:txBody>
            <a:bodyPr wrap="none">
              <a:spAutoFit/>
            </a:bodyPr>
            <a:lstStyle/>
            <a:p>
              <a:r>
                <a:rPr lang="pt-BR" sz="2400" b="1" noProof="1"/>
                <a:t>ny</a:t>
              </a:r>
              <a:r>
                <a:rPr lang="pt-BR" sz="2400" noProof="1"/>
                <a:t>=1</a:t>
              </a:r>
            </a:p>
          </p:txBody>
        </p:sp>
        <p:cxnSp>
          <p:nvCxnSpPr>
            <p:cNvPr id="93" name="Straight Arrow Connector 92"/>
            <p:cNvCxnSpPr>
              <a:endCxn id="86" idx="2"/>
            </p:cNvCxnSpPr>
            <p:nvPr/>
          </p:nvCxnSpPr>
          <p:spPr>
            <a:xfrm flipV="1">
              <a:off x="2844143" y="5400388"/>
              <a:ext cx="1637" cy="399778"/>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95" name="Right Arrow 94"/>
            <p:cNvSpPr/>
            <p:nvPr/>
          </p:nvSpPr>
          <p:spPr>
            <a:xfrm>
              <a:off x="4966464" y="348833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96" name="Right Arrow 95"/>
            <p:cNvSpPr/>
            <p:nvPr/>
          </p:nvSpPr>
          <p:spPr>
            <a:xfrm>
              <a:off x="4966464" y="4071788"/>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100" noProof="1">
                  <a:solidFill>
                    <a:schemeClr val="tx1"/>
                  </a:solidFill>
                </a:rPr>
                <a:t>16 bits</a:t>
              </a:r>
            </a:p>
          </p:txBody>
        </p:sp>
        <p:sp>
          <p:nvSpPr>
            <p:cNvPr id="97" name="Rectangle 96"/>
            <p:cNvSpPr/>
            <p:nvPr/>
          </p:nvSpPr>
          <p:spPr>
            <a:xfrm>
              <a:off x="6751925" y="3706738"/>
              <a:ext cx="838441" cy="4523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750" b="1" noProof="1">
                  <a:solidFill>
                    <a:schemeClr val="tx1"/>
                  </a:solidFill>
                </a:rPr>
                <a:t>Inversor</a:t>
              </a:r>
            </a:p>
          </p:txBody>
        </p:sp>
        <p:cxnSp>
          <p:nvCxnSpPr>
            <p:cNvPr id="98" name="Straight Arrow Connector 97"/>
            <p:cNvCxnSpPr/>
            <p:nvPr/>
          </p:nvCxnSpPr>
          <p:spPr>
            <a:xfrm>
              <a:off x="7234803" y="3157455"/>
              <a:ext cx="0" cy="544493"/>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99" name="Rectangle 98"/>
            <p:cNvSpPr/>
            <p:nvPr/>
          </p:nvSpPr>
          <p:spPr>
            <a:xfrm>
              <a:off x="6812669" y="2760293"/>
              <a:ext cx="848444" cy="475034"/>
            </a:xfrm>
            <a:prstGeom prst="rect">
              <a:avLst/>
            </a:prstGeom>
          </p:spPr>
          <p:txBody>
            <a:bodyPr wrap="none">
              <a:spAutoFit/>
            </a:bodyPr>
            <a:lstStyle/>
            <a:p>
              <a:r>
                <a:rPr lang="pt-BR" sz="2400" b="1" noProof="1"/>
                <a:t>no</a:t>
              </a:r>
              <a:r>
                <a:rPr lang="pt-BR" sz="2400" noProof="1"/>
                <a:t>=1</a:t>
              </a:r>
            </a:p>
          </p:txBody>
        </p:sp>
        <p:sp>
          <p:nvSpPr>
            <p:cNvPr id="100" name="Right Arrow 99"/>
            <p:cNvSpPr/>
            <p:nvPr/>
          </p:nvSpPr>
          <p:spPr>
            <a:xfrm>
              <a:off x="6172465" y="3701948"/>
              <a:ext cx="575060"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pt-BR" sz="1200" noProof="1">
                  <a:solidFill>
                    <a:schemeClr val="tx1"/>
                  </a:solidFill>
                </a:rPr>
                <a:t>16 bits</a:t>
              </a:r>
            </a:p>
          </p:txBody>
        </p:sp>
        <p:cxnSp>
          <p:nvCxnSpPr>
            <p:cNvPr id="101" name="Straight Arrow Connector 100"/>
            <p:cNvCxnSpPr/>
            <p:nvPr/>
          </p:nvCxnSpPr>
          <p:spPr>
            <a:xfrm>
              <a:off x="5818546" y="3092952"/>
              <a:ext cx="0" cy="544493"/>
            </a:xfrm>
            <a:prstGeom prst="straightConnector1">
              <a:avLst/>
            </a:prstGeom>
            <a:ln>
              <a:solidFill>
                <a:srgbClr val="000000"/>
              </a:solidFill>
              <a:tailEnd type="arrow"/>
            </a:ln>
            <a:effectLst/>
          </p:spPr>
          <p:style>
            <a:lnRef idx="3">
              <a:schemeClr val="accent4"/>
            </a:lnRef>
            <a:fillRef idx="0">
              <a:schemeClr val="accent4"/>
            </a:fillRef>
            <a:effectRef idx="2">
              <a:schemeClr val="accent4"/>
            </a:effectRef>
            <a:fontRef idx="minor">
              <a:schemeClr val="tx1"/>
            </a:fontRef>
          </p:style>
        </p:cxnSp>
        <p:sp>
          <p:nvSpPr>
            <p:cNvPr id="102" name="Rectangle 101"/>
            <p:cNvSpPr/>
            <p:nvPr/>
          </p:nvSpPr>
          <p:spPr>
            <a:xfrm>
              <a:off x="5522274" y="2671132"/>
              <a:ext cx="608452" cy="475034"/>
            </a:xfrm>
            <a:prstGeom prst="rect">
              <a:avLst/>
            </a:prstGeom>
          </p:spPr>
          <p:txBody>
            <a:bodyPr wrap="none">
              <a:spAutoFit/>
            </a:bodyPr>
            <a:lstStyle/>
            <a:p>
              <a:r>
                <a:rPr lang="pt-BR" sz="2400" b="1" noProof="1"/>
                <a:t>f</a:t>
              </a:r>
              <a:r>
                <a:rPr lang="pt-BR" sz="2400" noProof="1"/>
                <a:t>=1</a:t>
              </a:r>
            </a:p>
          </p:txBody>
        </p:sp>
        <p:sp>
          <p:nvSpPr>
            <p:cNvPr id="103" name="Rectangle 102"/>
            <p:cNvSpPr/>
            <p:nvPr/>
          </p:nvSpPr>
          <p:spPr>
            <a:xfrm>
              <a:off x="3366365" y="2963545"/>
              <a:ext cx="170586" cy="338503"/>
            </a:xfrm>
            <a:prstGeom prst="rect">
              <a:avLst/>
            </a:prstGeom>
            <a:solidFill>
              <a:schemeClr val="bg1"/>
            </a:solidFill>
            <a:ln w="9525" cmpd="sng">
              <a:noFill/>
            </a:ln>
          </p:spPr>
          <p:style>
            <a:lnRef idx="2">
              <a:schemeClr val="dk1"/>
            </a:lnRef>
            <a:fillRef idx="1">
              <a:schemeClr val="lt1"/>
            </a:fillRef>
            <a:effectRef idx="0">
              <a:schemeClr val="dk1"/>
            </a:effectRef>
            <a:fontRef idx="minor">
              <a:schemeClr val="dk1"/>
            </a:fontRef>
          </p:style>
          <p:txBody>
            <a:bodyPr tIns="0" bIns="0" rtlCol="0" anchor="ctr"/>
            <a:lstStyle/>
            <a:p>
              <a:pPr algn="ctr"/>
              <a:endParaRPr lang="pt-BR" sz="2800" b="1" noProof="1">
                <a:solidFill>
                  <a:schemeClr val="tx1"/>
                </a:solidFill>
              </a:endParaRPr>
            </a:p>
          </p:txBody>
        </p:sp>
        <p:sp>
          <p:nvSpPr>
            <p:cNvPr id="104" name="Rectangle 103"/>
            <p:cNvSpPr/>
            <p:nvPr/>
          </p:nvSpPr>
          <p:spPr>
            <a:xfrm>
              <a:off x="3665453" y="4754180"/>
              <a:ext cx="170586" cy="338503"/>
            </a:xfrm>
            <a:prstGeom prst="rect">
              <a:avLst/>
            </a:prstGeom>
            <a:solidFill>
              <a:schemeClr val="bg1"/>
            </a:solidFill>
            <a:ln w="9525" cmpd="sng">
              <a:noFill/>
            </a:ln>
          </p:spPr>
          <p:style>
            <a:lnRef idx="2">
              <a:schemeClr val="dk1"/>
            </a:lnRef>
            <a:fillRef idx="1">
              <a:schemeClr val="lt1"/>
            </a:fillRef>
            <a:effectRef idx="0">
              <a:schemeClr val="dk1"/>
            </a:effectRef>
            <a:fontRef idx="minor">
              <a:schemeClr val="dk1"/>
            </a:fontRef>
          </p:style>
          <p:txBody>
            <a:bodyPr tIns="0" bIns="0" rtlCol="0" anchor="ctr"/>
            <a:lstStyle/>
            <a:p>
              <a:pPr algn="ctr"/>
              <a:endParaRPr lang="pt-BR" sz="2800" b="1" noProof="1">
                <a:solidFill>
                  <a:schemeClr val="tx1"/>
                </a:solidFill>
              </a:endParaRPr>
            </a:p>
          </p:txBody>
        </p:sp>
      </p:grpSp>
      <p:sp>
        <p:nvSpPr>
          <p:cNvPr id="108" name="Rectangle 107"/>
          <p:cNvSpPr/>
          <p:nvPr/>
        </p:nvSpPr>
        <p:spPr>
          <a:xfrm>
            <a:off x="4152622" y="2896261"/>
            <a:ext cx="574196" cy="369332"/>
          </a:xfrm>
          <a:prstGeom prst="rect">
            <a:avLst/>
          </a:prstGeom>
        </p:spPr>
        <p:txBody>
          <a:bodyPr wrap="none">
            <a:spAutoFit/>
          </a:bodyPr>
          <a:lstStyle/>
          <a:p>
            <a:pPr algn="ctr"/>
            <a:r>
              <a:rPr lang="pt-BR" noProof="1"/>
              <a:t>X&amp;Y</a:t>
            </a:r>
          </a:p>
        </p:txBody>
      </p:sp>
      <p:sp>
        <p:nvSpPr>
          <p:cNvPr id="109" name="Rectangle 108"/>
          <p:cNvSpPr/>
          <p:nvPr/>
        </p:nvSpPr>
        <p:spPr>
          <a:xfrm>
            <a:off x="4169900" y="4583797"/>
            <a:ext cx="532518" cy="369332"/>
          </a:xfrm>
          <a:prstGeom prst="rect">
            <a:avLst/>
          </a:prstGeom>
        </p:spPr>
        <p:txBody>
          <a:bodyPr wrap="none">
            <a:spAutoFit/>
          </a:bodyPr>
          <a:lstStyle/>
          <a:p>
            <a:pPr algn="ctr"/>
            <a:r>
              <a:rPr lang="pt-BR" noProof="1"/>
              <a:t>X+Y</a:t>
            </a:r>
          </a:p>
        </p:txBody>
      </p:sp>
      <p:sp>
        <p:nvSpPr>
          <p:cNvPr id="113" name="Rectangle 112"/>
          <p:cNvSpPr/>
          <p:nvPr/>
        </p:nvSpPr>
        <p:spPr>
          <a:xfrm>
            <a:off x="3168859" y="2863044"/>
            <a:ext cx="774571" cy="276999"/>
          </a:xfrm>
          <a:prstGeom prst="rect">
            <a:avLst/>
          </a:prstGeom>
        </p:spPr>
        <p:txBody>
          <a:bodyPr wrap="none">
            <a:spAutoFit/>
          </a:bodyPr>
          <a:lstStyle/>
          <a:p>
            <a:r>
              <a:rPr lang="pt-BR" sz="1200" b="1" kern="700" spc="-170" noProof="1">
                <a:solidFill>
                  <a:srgbClr val="FF0000"/>
                </a:solidFill>
                <a:latin typeface="Courier"/>
                <a:cs typeface="Courier"/>
              </a:rPr>
              <a:t>00001010</a:t>
            </a:r>
            <a:endParaRPr lang="pt-BR" sz="1200" kern="700" spc="-170" dirty="0">
              <a:solidFill>
                <a:srgbClr val="FF0000"/>
              </a:solidFill>
              <a:latin typeface="Courier"/>
              <a:cs typeface="Courier"/>
            </a:endParaRPr>
          </a:p>
        </p:txBody>
      </p:sp>
      <p:sp>
        <p:nvSpPr>
          <p:cNvPr id="114" name="Rectangle 113"/>
          <p:cNvSpPr/>
          <p:nvPr/>
        </p:nvSpPr>
        <p:spPr>
          <a:xfrm>
            <a:off x="285236" y="2870012"/>
            <a:ext cx="774571" cy="276999"/>
          </a:xfrm>
          <a:prstGeom prst="rect">
            <a:avLst/>
          </a:prstGeom>
        </p:spPr>
        <p:txBody>
          <a:bodyPr wrap="none">
            <a:spAutoFit/>
          </a:bodyPr>
          <a:lstStyle/>
          <a:p>
            <a:r>
              <a:rPr lang="pt-BR" sz="1200" b="1" kern="700" spc="-170" noProof="1">
                <a:solidFill>
                  <a:srgbClr val="FF0000"/>
                </a:solidFill>
                <a:latin typeface="Courier"/>
                <a:cs typeface="Courier"/>
              </a:rPr>
              <a:t>00001010</a:t>
            </a:r>
            <a:endParaRPr lang="pt-BR" sz="1200" kern="700" spc="-170" dirty="0">
              <a:solidFill>
                <a:srgbClr val="FF0000"/>
              </a:solidFill>
              <a:latin typeface="Courier"/>
              <a:cs typeface="Courier"/>
            </a:endParaRPr>
          </a:p>
        </p:txBody>
      </p:sp>
      <p:sp>
        <p:nvSpPr>
          <p:cNvPr id="115" name="Rectangle 114"/>
          <p:cNvSpPr/>
          <p:nvPr/>
        </p:nvSpPr>
        <p:spPr>
          <a:xfrm>
            <a:off x="1647668" y="5806681"/>
            <a:ext cx="774571" cy="276999"/>
          </a:xfrm>
          <a:prstGeom prst="rect">
            <a:avLst/>
          </a:prstGeom>
        </p:spPr>
        <p:txBody>
          <a:bodyPr wrap="none">
            <a:spAutoFit/>
          </a:bodyPr>
          <a:lstStyle/>
          <a:p>
            <a:r>
              <a:rPr lang="pt-BR" sz="1200" b="1" kern="700" spc="-170" noProof="1">
                <a:solidFill>
                  <a:srgbClr val="FF0000"/>
                </a:solidFill>
                <a:latin typeface="Courier"/>
                <a:cs typeface="Courier"/>
              </a:rPr>
              <a:t>00000000</a:t>
            </a:r>
            <a:endParaRPr lang="pt-BR" sz="1200" kern="700" spc="-170" dirty="0">
              <a:solidFill>
                <a:srgbClr val="FF0000"/>
              </a:solidFill>
              <a:latin typeface="Courier"/>
              <a:cs typeface="Courier"/>
            </a:endParaRPr>
          </a:p>
        </p:txBody>
      </p:sp>
      <p:sp>
        <p:nvSpPr>
          <p:cNvPr id="116" name="Rectangle 115"/>
          <p:cNvSpPr/>
          <p:nvPr/>
        </p:nvSpPr>
        <p:spPr>
          <a:xfrm>
            <a:off x="3138681" y="5799713"/>
            <a:ext cx="774571" cy="276999"/>
          </a:xfrm>
          <a:prstGeom prst="rect">
            <a:avLst/>
          </a:prstGeom>
        </p:spPr>
        <p:txBody>
          <a:bodyPr wrap="none">
            <a:spAutoFit/>
          </a:bodyPr>
          <a:lstStyle/>
          <a:p>
            <a:r>
              <a:rPr lang="pt-BR" sz="1200" b="1" kern="700" spc="-170" noProof="1">
                <a:solidFill>
                  <a:srgbClr val="FF0000"/>
                </a:solidFill>
                <a:latin typeface="Courier"/>
                <a:cs typeface="Courier"/>
              </a:rPr>
              <a:t>11111111</a:t>
            </a:r>
            <a:endParaRPr lang="pt-BR" sz="1200" kern="700" spc="-170" dirty="0">
              <a:solidFill>
                <a:srgbClr val="FF0000"/>
              </a:solidFill>
              <a:latin typeface="Courier"/>
              <a:cs typeface="Courier"/>
            </a:endParaRPr>
          </a:p>
        </p:txBody>
      </p:sp>
      <p:sp>
        <p:nvSpPr>
          <p:cNvPr id="117" name="Rectangle 116"/>
          <p:cNvSpPr/>
          <p:nvPr/>
        </p:nvSpPr>
        <p:spPr>
          <a:xfrm>
            <a:off x="255058" y="5806681"/>
            <a:ext cx="774571" cy="276999"/>
          </a:xfrm>
          <a:prstGeom prst="rect">
            <a:avLst/>
          </a:prstGeom>
        </p:spPr>
        <p:txBody>
          <a:bodyPr wrap="none">
            <a:spAutoFit/>
          </a:bodyPr>
          <a:lstStyle/>
          <a:p>
            <a:r>
              <a:rPr lang="pt-BR" sz="1200" b="1" kern="700" spc="-170" noProof="1">
                <a:solidFill>
                  <a:srgbClr val="FF0000"/>
                </a:solidFill>
                <a:latin typeface="Courier"/>
                <a:cs typeface="Courier"/>
              </a:rPr>
              <a:t>11111110</a:t>
            </a:r>
            <a:endParaRPr lang="pt-BR" sz="1200" kern="700" spc="-170" dirty="0">
              <a:solidFill>
                <a:srgbClr val="FF0000"/>
              </a:solidFill>
              <a:latin typeface="Courier"/>
              <a:cs typeface="Courier"/>
            </a:endParaRPr>
          </a:p>
        </p:txBody>
      </p:sp>
      <p:sp>
        <p:nvSpPr>
          <p:cNvPr id="118" name="Rectangle 117"/>
          <p:cNvSpPr/>
          <p:nvPr/>
        </p:nvSpPr>
        <p:spPr>
          <a:xfrm>
            <a:off x="4705684" y="4903362"/>
            <a:ext cx="774571" cy="276999"/>
          </a:xfrm>
          <a:prstGeom prst="rect">
            <a:avLst/>
          </a:prstGeom>
        </p:spPr>
        <p:txBody>
          <a:bodyPr wrap="none">
            <a:spAutoFit/>
          </a:bodyPr>
          <a:lstStyle/>
          <a:p>
            <a:r>
              <a:rPr lang="pt-BR" sz="1200" b="1" kern="700" spc="-170" noProof="1">
                <a:solidFill>
                  <a:srgbClr val="FF0000"/>
                </a:solidFill>
                <a:latin typeface="Courier"/>
                <a:cs typeface="Courier"/>
              </a:rPr>
              <a:t>00001010</a:t>
            </a:r>
            <a:endParaRPr lang="pt-BR" sz="1200" kern="700" spc="-170" dirty="0">
              <a:solidFill>
                <a:srgbClr val="FF0000"/>
              </a:solidFill>
              <a:latin typeface="Courier"/>
              <a:cs typeface="Courier"/>
            </a:endParaRPr>
          </a:p>
        </p:txBody>
      </p:sp>
      <p:sp>
        <p:nvSpPr>
          <p:cNvPr id="119" name="Rectangle 118"/>
          <p:cNvSpPr/>
          <p:nvPr/>
        </p:nvSpPr>
        <p:spPr>
          <a:xfrm>
            <a:off x="4704582" y="3568150"/>
            <a:ext cx="774571" cy="276999"/>
          </a:xfrm>
          <a:prstGeom prst="rect">
            <a:avLst/>
          </a:prstGeom>
        </p:spPr>
        <p:txBody>
          <a:bodyPr wrap="none">
            <a:spAutoFit/>
          </a:bodyPr>
          <a:lstStyle/>
          <a:p>
            <a:r>
              <a:rPr lang="pt-BR" sz="1200" b="1" kern="700" spc="-170" noProof="1">
                <a:solidFill>
                  <a:srgbClr val="FF0000"/>
                </a:solidFill>
                <a:latin typeface="Courier"/>
                <a:cs typeface="Courier"/>
              </a:rPr>
              <a:t>00001001</a:t>
            </a:r>
            <a:endParaRPr lang="pt-BR" sz="1200" kern="700" spc="-170" dirty="0">
              <a:solidFill>
                <a:srgbClr val="FF0000"/>
              </a:solidFill>
              <a:latin typeface="Courier"/>
              <a:cs typeface="Courier"/>
            </a:endParaRPr>
          </a:p>
        </p:txBody>
      </p:sp>
      <p:sp>
        <p:nvSpPr>
          <p:cNvPr id="120" name="Rectangle 119"/>
          <p:cNvSpPr/>
          <p:nvPr/>
        </p:nvSpPr>
        <p:spPr>
          <a:xfrm>
            <a:off x="5813993" y="4543293"/>
            <a:ext cx="774571" cy="276999"/>
          </a:xfrm>
          <a:prstGeom prst="rect">
            <a:avLst/>
          </a:prstGeom>
        </p:spPr>
        <p:txBody>
          <a:bodyPr wrap="none">
            <a:spAutoFit/>
          </a:bodyPr>
          <a:lstStyle/>
          <a:p>
            <a:r>
              <a:rPr lang="pt-BR" sz="1200" b="1" kern="700" spc="-170" noProof="1">
                <a:solidFill>
                  <a:srgbClr val="FF0000"/>
                </a:solidFill>
                <a:latin typeface="Courier"/>
                <a:cs typeface="Courier"/>
              </a:rPr>
              <a:t>00001001</a:t>
            </a:r>
            <a:endParaRPr lang="pt-BR" sz="1200" kern="700" spc="-170" dirty="0">
              <a:solidFill>
                <a:srgbClr val="FF0000"/>
              </a:solidFill>
              <a:latin typeface="Courier"/>
              <a:cs typeface="Courier"/>
            </a:endParaRPr>
          </a:p>
        </p:txBody>
      </p:sp>
      <p:sp>
        <p:nvSpPr>
          <p:cNvPr id="121" name="Rectangle 120"/>
          <p:cNvSpPr/>
          <p:nvPr/>
        </p:nvSpPr>
        <p:spPr>
          <a:xfrm>
            <a:off x="7247295" y="3845149"/>
            <a:ext cx="774571" cy="276999"/>
          </a:xfrm>
          <a:prstGeom prst="rect">
            <a:avLst/>
          </a:prstGeom>
        </p:spPr>
        <p:txBody>
          <a:bodyPr wrap="none">
            <a:spAutoFit/>
          </a:bodyPr>
          <a:lstStyle/>
          <a:p>
            <a:r>
              <a:rPr lang="pt-BR" sz="1200" b="1" kern="700" spc="-170" noProof="1">
                <a:solidFill>
                  <a:srgbClr val="FF0000"/>
                </a:solidFill>
                <a:latin typeface="Courier"/>
                <a:cs typeface="Courier"/>
              </a:rPr>
              <a:t>11110110</a:t>
            </a:r>
            <a:endParaRPr lang="pt-BR" sz="1200" kern="700" spc="-170" dirty="0">
              <a:solidFill>
                <a:srgbClr val="FF0000"/>
              </a:solidFill>
              <a:latin typeface="Courier"/>
              <a:cs typeface="Courier"/>
            </a:endParaRPr>
          </a:p>
        </p:txBody>
      </p:sp>
      <p:sp>
        <p:nvSpPr>
          <p:cNvPr id="107" name="Rectangle 106"/>
          <p:cNvSpPr/>
          <p:nvPr/>
        </p:nvSpPr>
        <p:spPr>
          <a:xfrm>
            <a:off x="5996" y="2293720"/>
            <a:ext cx="9128141" cy="4152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47762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107"/>
                                        </p:tgtEl>
                                      </p:cBhvr>
                                    </p:animEffect>
                                    <p:set>
                                      <p:cBhvr>
                                        <p:cTn id="7" dur="1" fill="hold">
                                          <p:stCondLst>
                                            <p:cond delay="1999"/>
                                          </p:stCondLst>
                                        </p:cTn>
                                        <p:tgtEl>
                                          <p:spTgt spid="1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Reflexões</a:t>
            </a:r>
          </a:p>
        </p:txBody>
      </p:sp>
      <p:sp>
        <p:nvSpPr>
          <p:cNvPr id="3" name="Content Placeholder 2"/>
          <p:cNvSpPr>
            <a:spLocks noGrp="1"/>
          </p:cNvSpPr>
          <p:nvPr>
            <p:ph idx="1"/>
          </p:nvPr>
        </p:nvSpPr>
        <p:spPr/>
        <p:txBody>
          <a:bodyPr/>
          <a:lstStyle/>
          <a:p>
            <a:pPr marL="285750" indent="-285750">
              <a:buFont typeface="Arial"/>
              <a:buChar char="•"/>
            </a:pPr>
            <a:r>
              <a:rPr lang="pt-BR" dirty="0"/>
              <a:t>Complexidade</a:t>
            </a:r>
          </a:p>
          <a:p>
            <a:pPr marL="285750" indent="-285750">
              <a:buFont typeface="Arial"/>
              <a:buChar char="•"/>
            </a:pPr>
            <a:r>
              <a:rPr lang="pt-BR" dirty="0"/>
              <a:t>Velocidade/Performance</a:t>
            </a:r>
          </a:p>
          <a:p>
            <a:pPr marL="285750" indent="-285750">
              <a:buFont typeface="Arial"/>
              <a:buChar char="•"/>
            </a:pPr>
            <a:r>
              <a:rPr lang="pt-BR" dirty="0"/>
              <a:t>Otimizações</a:t>
            </a:r>
          </a:p>
          <a:p>
            <a:pPr marL="285750" indent="-285750">
              <a:buFont typeface="Arial"/>
              <a:buChar char="•"/>
            </a:pPr>
            <a:r>
              <a:rPr lang="pt-BR" dirty="0"/>
              <a:t>Outras operações (multiplicação e divisão)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367460" y="3018148"/>
            <a:ext cx="4408244" cy="3303113"/>
          </a:xfrm>
          <a:prstGeom prst="rect">
            <a:avLst/>
          </a:prstGeom>
        </p:spPr>
      </p:pic>
    </p:spTree>
    <p:extLst>
      <p:ext uri="{BB962C8B-B14F-4D97-AF65-F5344CB8AC3E}">
        <p14:creationId xmlns:p14="http://schemas.microsoft.com/office/powerpoint/2010/main" val="13286525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1EA7-F041-CA35-6991-A6D4CC5BE60C}"/>
              </a:ext>
            </a:extLst>
          </p:cNvPr>
          <p:cNvSpPr>
            <a:spLocks noGrp="1"/>
          </p:cNvSpPr>
          <p:nvPr>
            <p:ph type="title"/>
          </p:nvPr>
        </p:nvSpPr>
        <p:spPr/>
        <p:txBody>
          <a:bodyPr/>
          <a:lstStyle/>
          <a:p>
            <a:r>
              <a:rPr lang="pt-BR" noProof="0" dirty="0"/>
              <a:t>Atividades </a:t>
            </a:r>
            <a:r>
              <a:rPr lang="en-US" dirty="0"/>
              <a:t>(</a:t>
            </a:r>
            <a:r>
              <a:rPr lang="en-US" dirty="0" err="1"/>
              <a:t>PrairieLearn</a:t>
            </a:r>
            <a:r>
              <a:rPr lang="en-US" dirty="0"/>
              <a:t>)</a:t>
            </a:r>
          </a:p>
        </p:txBody>
      </p:sp>
      <p:sp>
        <p:nvSpPr>
          <p:cNvPr id="3" name="Content Placeholder 2">
            <a:extLst>
              <a:ext uri="{FF2B5EF4-FFF2-40B4-BE49-F238E27FC236}">
                <a16:creationId xmlns:a16="http://schemas.microsoft.com/office/drawing/2014/main" id="{3233B120-3AC8-3512-0ED4-FD1654A297D1}"/>
              </a:ext>
            </a:extLst>
          </p:cNvPr>
          <p:cNvSpPr>
            <a:spLocks noGrp="1"/>
          </p:cNvSpPr>
          <p:nvPr>
            <p:ph idx="1"/>
          </p:nvPr>
        </p:nvSpPr>
        <p:spPr/>
        <p:txBody>
          <a:bodyPr>
            <a:normAutofit/>
          </a:bodyPr>
          <a:lstStyle/>
          <a:p>
            <a:r>
              <a:rPr lang="pt-BR" sz="2400" noProof="0" dirty="0"/>
              <a:t>Na aula hoje:</a:t>
            </a:r>
          </a:p>
          <a:p>
            <a:pPr marL="285750" indent="-285750">
              <a:buFont typeface="Arial" panose="020B0604020202020204" pitchFamily="34" charset="0"/>
              <a:buChar char="•"/>
            </a:pPr>
            <a:r>
              <a:rPr lang="pt-BR" sz="2400" noProof="0" dirty="0"/>
              <a:t>Baixar o teste de ULA desenvolvido para a FPGA e validar respostas</a:t>
            </a:r>
          </a:p>
          <a:p>
            <a:pPr marL="285750" indent="-285750">
              <a:buFont typeface="Arial" panose="020B0604020202020204" pitchFamily="34" charset="0"/>
              <a:buChar char="•"/>
            </a:pPr>
            <a:r>
              <a:rPr lang="pt-BR" sz="2400" noProof="0" dirty="0"/>
              <a:t>Enviar uma foto da FPGA funcionando com o Código de ULA</a:t>
            </a:r>
          </a:p>
          <a:p>
            <a:endParaRPr lang="pt-BR" sz="2400" noProof="0" dirty="0"/>
          </a:p>
          <a:p>
            <a:r>
              <a:rPr lang="pt-BR" sz="2400" noProof="0" dirty="0"/>
              <a:t>Lição de casa:</a:t>
            </a:r>
          </a:p>
          <a:p>
            <a:pPr marL="342900" indent="-342900">
              <a:buFont typeface="Arial" panose="020B0604020202020204" pitchFamily="34" charset="0"/>
              <a:buChar char="•"/>
            </a:pPr>
            <a:r>
              <a:rPr lang="pt-BR" sz="2400" noProof="0" dirty="0"/>
              <a:t>Estudos de funcionamento de ULA</a:t>
            </a:r>
          </a:p>
        </p:txBody>
      </p:sp>
      <p:sp>
        <p:nvSpPr>
          <p:cNvPr id="4" name="Text Placeholder 3">
            <a:extLst>
              <a:ext uri="{FF2B5EF4-FFF2-40B4-BE49-F238E27FC236}">
                <a16:creationId xmlns:a16="http://schemas.microsoft.com/office/drawing/2014/main" id="{387925B5-91FE-54F5-53F4-F6C035BCB9E1}"/>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218813EF-EDAF-C82A-C490-E5818B90F104}"/>
              </a:ext>
            </a:extLst>
          </p:cNvPr>
          <p:cNvSpPr>
            <a:spLocks noGrp="1"/>
          </p:cNvSpPr>
          <p:nvPr>
            <p:ph type="sldNum" sz="quarter" idx="4"/>
          </p:nvPr>
        </p:nvSpPr>
        <p:spPr/>
        <p:txBody>
          <a:bodyPr/>
          <a:lstStyle/>
          <a:p>
            <a:fld id="{7FFE5E5C-C80A-4D8D-A711-3102A7BA9258}" type="slidenum">
              <a:rPr lang="pt-BR" smtClean="0"/>
              <a:pPr/>
              <a:t>9</a:t>
            </a:fld>
            <a:endParaRPr lang="pt-BR" dirty="0"/>
          </a:p>
        </p:txBody>
      </p:sp>
    </p:spTree>
    <p:extLst>
      <p:ext uri="{BB962C8B-B14F-4D97-AF65-F5344CB8AC3E}">
        <p14:creationId xmlns:p14="http://schemas.microsoft.com/office/powerpoint/2010/main" val="289795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THENA.MIXSHAPE" val="|streamable=true|audioOnly=true|recordStart=0|recordEnd=48895|recordLength=48901|start=0|end=48895|audioFormat={00001610-0000-0010-8000-00AA00389B71}|audioRate=44100|muted=false|volume=0.8|fadeIn=0|fadeOut=0|videoFormat={34363248-0000-0010-8000-00AA00389B71}|videoRate=15|videoWidth=256|videoHeight=256"/>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20664</TotalTime>
  <Words>976</Words>
  <Application>Microsoft Macintosh PowerPoint</Application>
  <PresentationFormat>On-screen Show (4:3)</PresentationFormat>
  <Paragraphs>315</Paragraphs>
  <Slides>10</Slides>
  <Notes>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vt:lpstr>
      <vt:lpstr>Open Sans</vt:lpstr>
      <vt:lpstr>Verdana</vt:lpstr>
      <vt:lpstr>Personalizar design</vt:lpstr>
      <vt:lpstr>PowerPoint Presentation</vt:lpstr>
      <vt:lpstr>Unidade Lógica Aritmética (ULA) </vt:lpstr>
      <vt:lpstr>ULA do Hack (Z01)</vt:lpstr>
      <vt:lpstr>ULA do Hack (Z01)</vt:lpstr>
      <vt:lpstr>Operações</vt:lpstr>
      <vt:lpstr>Controle</vt:lpstr>
      <vt:lpstr>Exemplo</vt:lpstr>
      <vt:lpstr>Reflexões</vt:lpstr>
      <vt:lpstr>Atividades (PrairieLearn)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Pereira Soares</cp:lastModifiedBy>
  <cp:revision>717</cp:revision>
  <cp:lastPrinted>2015-05-25T01:17:28Z</cp:lastPrinted>
  <dcterms:created xsi:type="dcterms:W3CDTF">2014-04-17T20:05:08Z</dcterms:created>
  <dcterms:modified xsi:type="dcterms:W3CDTF">2026-09-10T23:19:44Z</dcterms:modified>
  <cp:category/>
</cp:coreProperties>
</file>