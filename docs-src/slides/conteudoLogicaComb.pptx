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ink/inkAction1.xml" ContentType="application/vnd.ms-office.inkAction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269" r:id="rId2"/>
    <p:sldId id="466" r:id="rId3"/>
    <p:sldId id="396" r:id="rId4"/>
    <p:sldId id="398" r:id="rId5"/>
    <p:sldId id="455" r:id="rId6"/>
    <p:sldId id="476" r:id="rId7"/>
    <p:sldId id="477" r:id="rId8"/>
    <p:sldId id="478" r:id="rId9"/>
    <p:sldId id="458" r:id="rId10"/>
    <p:sldId id="459" r:id="rId11"/>
    <p:sldId id="480" r:id="rId12"/>
    <p:sldId id="456" r:id="rId13"/>
    <p:sldId id="403" r:id="rId14"/>
    <p:sldId id="453" r:id="rId15"/>
    <p:sldId id="481" r:id="rId16"/>
    <p:sldId id="482" r:id="rId17"/>
    <p:sldId id="483" r:id="rId18"/>
    <p:sldId id="484" r:id="rId19"/>
    <p:sldId id="485" r:id="rId20"/>
    <p:sldId id="486" r:id="rId21"/>
    <p:sldId id="26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EC0"/>
    <a:srgbClr val="C00026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/>
    <p:restoredTop sz="83333" autoAdjust="0"/>
  </p:normalViewPr>
  <p:slideViewPr>
    <p:cSldViewPr snapToGrid="0" snapToObjects="1" showGuides="1">
      <p:cViewPr varScale="1">
        <p:scale>
          <a:sx n="99" d="100"/>
          <a:sy n="99" d="100"/>
        </p:scale>
        <p:origin x="24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units="cm"/>
          <inkml:channel name="Y" type="integer" units="cm"/>
          <inkml:channel name="T" type="integer" max="2.14748E9" units="dev"/>
        </inkml:traceFormat>
        <inkml:channelProperties>
          <inkml:channelProperty channel="X" name="resolution" value="0.28222" units="1/cm"/>
          <inkml:channelProperty channel="Y" name="resolution" value="0.28222" units="1/cm"/>
          <inkml:channelProperty channel="T" name="resolution" value="1" units="1/dev"/>
        </inkml:channelProperties>
      </inkml:inkSource>
      <inkml:timestamp xml:id="ts0" timeString="2017-02-13T18:21:10.722Z"/>
    </inkml:context>
    <inkml:brush xml:id="br0">
      <inkml:brushProperty name="width" value="0.07689" units="cm"/>
      <inkml:brushProperty name="height" value="0.07689" units="cm"/>
      <inkml:brushProperty name="color" value="#FF0000"/>
    </inkml:brush>
    <inkml:brush xml:id="brinv">
      <inkml:brushProperty name="width" value="0.05" units="cm"/>
      <inkml:brushProperty name="height" value="0.05" units="cm"/>
      <inkml:brushProperty name="color" value="#000000"/>
      <inkml:brushProperty name="transparency" value="255"/>
    </inkml:brush>
  </inkml:definitions>
  <iact:action type="add" startTime="9554">
    <iact:property name="dataType"/>
    <iact:actionData xml:id="d0">
      <inkml:trace xmlns:inkml="http://www.w3.org/2003/InkML" xml:id="stk0" contextRef="#ctx0" brushRef="#br0">9 119 0,'5'0'0,"1"0"187,5 -11 -171,0 5 -16,-11 1 16,11 -1 -16,-6 -5 15,6 11 -15,-11 -5 16,6 -1 -16,-1 6 15,1 -5 -15,-6 -1 16,5 6 -16,1 -5 16,-1 -1 -16,1 1 15,-1 -1 1,-5 1 0,6 5 -16,-6 -6 15,5 6 32,-5 -5 68,0 -1 -37,6 6 -31,-6 -5 -47,5 5 78,1 0 -62</inkml:trace>
    </iact:actionData>
  </iact:action>
  <iact:action type="add" startTime="9555">
    <iact:property name="dataType"/>
    <iact:actionData xml:id="d1">
      <inkml:trace xmlns:inkml="http://www.w3.org/2003/InkML" xml:id="stk1" contextRef="#ctx0" brushRef="#brinv">0 0 0</inkml:trace>
    </iact:actionData>
  </iact:action>
  <iact:action type="add" startTime="9556">
    <iact:property name="dataType"/>
    <iact:actionData xml:id="d2">
      <inkml:trace xmlns:inkml="http://www.w3.org/2003/InkML" xml:id="stk2" contextRef="#ctx0" brushRef="#brinv">150 128 0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ainyquote.com/quotes/authors/w/william_h_gass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lumbia.edu/cu/computinghistory/eniac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fortune.com/2014/09/18/walter-isaacson-the-women-of-eniac/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ecs.umich.edu/courses/eecs452/Lec/452L05F14_kurt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ftp://ftp.altera.com/up/pub/Tutorials/DE2/Digital_Logic/tut_quartus_intro_vhdl.pdf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bg1"/>
                </a:solidFill>
              </a:rPr>
              <a:t>Read more at: </a:t>
            </a:r>
            <a:r>
              <a:rPr lang="en-US" sz="1200" b="1" dirty="0">
                <a:solidFill>
                  <a:schemeClr val="bg1"/>
                </a:solidFill>
                <a:hlinkClick r:id="rId3"/>
              </a:rPr>
              <a:t>https://www.brainyquote.com/quotes/authors/w/william_h_gass.html</a:t>
            </a:r>
            <a:endParaRPr lang="en-US" sz="1200" b="1" dirty="0">
              <a:solidFill>
                <a:schemeClr val="bg1"/>
              </a:solidFill>
            </a:endParaRP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910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The Z1's </a:t>
            </a:r>
            <a:r>
              <a:rPr lang="pt-BR" dirty="0" err="1"/>
              <a:t>instruction</a:t>
            </a:r>
            <a:r>
              <a:rPr lang="pt-BR" dirty="0"/>
              <a:t> set </a:t>
            </a:r>
            <a:r>
              <a:rPr lang="pt-BR" dirty="0" err="1"/>
              <a:t>had</a:t>
            </a:r>
            <a:r>
              <a:rPr lang="pt-BR" dirty="0"/>
              <a:t> nine </a:t>
            </a:r>
            <a:r>
              <a:rPr lang="pt-BR" dirty="0" err="1"/>
              <a:t>instructions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it </a:t>
            </a:r>
            <a:r>
              <a:rPr lang="pt-BR" dirty="0" err="1"/>
              <a:t>took</a:t>
            </a:r>
            <a:r>
              <a:rPr lang="pt-BR" dirty="0"/>
              <a:t> </a:t>
            </a:r>
            <a:r>
              <a:rPr lang="pt-BR" dirty="0" err="1"/>
              <a:t>between</a:t>
            </a:r>
            <a:r>
              <a:rPr lang="pt-BR" dirty="0"/>
              <a:t> </a:t>
            </a:r>
            <a:r>
              <a:rPr lang="pt-BR" dirty="0" err="1"/>
              <a:t>one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twenty</a:t>
            </a:r>
            <a:r>
              <a:rPr lang="pt-BR" dirty="0"/>
              <a:t> </a:t>
            </a:r>
            <a:r>
              <a:rPr lang="pt-BR" dirty="0" err="1"/>
              <a:t>cycles</a:t>
            </a:r>
            <a:r>
              <a:rPr lang="pt-BR" dirty="0"/>
              <a:t> per </a:t>
            </a:r>
            <a:r>
              <a:rPr lang="pt-BR" dirty="0" err="1"/>
              <a:t>instruction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people.idsia.ch</a:t>
            </a:r>
            <a:r>
              <a:rPr lang="pt-BR" dirty="0"/>
              <a:t>/~</a:t>
            </a:r>
            <a:r>
              <a:rPr lang="pt-BR" dirty="0" err="1"/>
              <a:t>juergen</a:t>
            </a:r>
            <a:r>
              <a:rPr lang="pt-BR" dirty="0"/>
              <a:t>/</a:t>
            </a:r>
            <a:r>
              <a:rPr lang="pt-BR" dirty="0" err="1"/>
              <a:t>zuse.html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www.computerhope.com</a:t>
            </a:r>
            <a:r>
              <a:rPr lang="pt-BR" dirty="0"/>
              <a:t>/</a:t>
            </a:r>
            <a:r>
              <a:rPr lang="pt-BR" dirty="0" err="1"/>
              <a:t>jargon</a:t>
            </a:r>
            <a:r>
              <a:rPr lang="pt-BR" dirty="0"/>
              <a:t>/</a:t>
            </a:r>
            <a:r>
              <a:rPr lang="pt-BR" dirty="0" err="1"/>
              <a:t>z</a:t>
            </a:r>
            <a:r>
              <a:rPr lang="pt-BR" dirty="0"/>
              <a:t>/z1.htm</a:t>
            </a:r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/Z1_(</a:t>
            </a:r>
            <a:r>
              <a:rPr lang="pt-BR" dirty="0" err="1"/>
              <a:t>computer</a:t>
            </a:r>
            <a:r>
              <a:rPr lang="pt-BR" dirty="0"/>
              <a:t>)</a:t>
            </a:r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www.computinghistory.org.uk</a:t>
            </a:r>
            <a:r>
              <a:rPr lang="pt-BR" dirty="0"/>
              <a:t>/</a:t>
            </a:r>
            <a:r>
              <a:rPr lang="pt-BR" dirty="0" err="1"/>
              <a:t>det</a:t>
            </a:r>
            <a:r>
              <a:rPr lang="pt-BR" dirty="0"/>
              <a:t>/6170/Zuse-Z1-built-by-Konrad-Zuse/</a:t>
            </a:r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history.stackexchange.com</a:t>
            </a:r>
            <a:r>
              <a:rPr lang="pt-BR" dirty="0"/>
              <a:t>/</a:t>
            </a:r>
            <a:r>
              <a:rPr lang="pt-BR" dirty="0" err="1"/>
              <a:t>questions</a:t>
            </a:r>
            <a:r>
              <a:rPr lang="pt-BR" dirty="0"/>
              <a:t>/7882/which-floating-point-representation-did-konrad-zuses-z1-use</a:t>
            </a:r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history-computer.com</a:t>
            </a:r>
            <a:r>
              <a:rPr lang="pt-BR" dirty="0"/>
              <a:t>/</a:t>
            </a:r>
            <a:r>
              <a:rPr lang="pt-BR" dirty="0" err="1"/>
              <a:t>ModernComputer</a:t>
            </a:r>
            <a:r>
              <a:rPr lang="pt-BR" dirty="0"/>
              <a:t>/Relays/</a:t>
            </a:r>
            <a:r>
              <a:rPr lang="pt-BR" dirty="0" err="1"/>
              <a:t>Zuse.html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zuse.zib.de</a:t>
            </a:r>
            <a:r>
              <a:rPr lang="pt-BR" dirty="0"/>
              <a:t>/z1</a:t>
            </a:r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/Z3_(</a:t>
            </a:r>
            <a:r>
              <a:rPr lang="pt-BR" dirty="0" err="1"/>
              <a:t>computer</a:t>
            </a:r>
            <a:r>
              <a:rPr lang="pt-BR" dirty="0"/>
              <a:t>)</a:t>
            </a:r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/Z2_(</a:t>
            </a:r>
            <a:r>
              <a:rPr lang="pt-BR" dirty="0" err="1"/>
              <a:t>computer</a:t>
            </a:r>
            <a:r>
              <a:rPr lang="pt-BR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116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Eckert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Mauchly</a:t>
            </a:r>
            <a:r>
              <a:rPr lang="pt-BR" dirty="0"/>
              <a:t> later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patent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their</a:t>
            </a:r>
            <a:r>
              <a:rPr lang="pt-BR" dirty="0"/>
              <a:t>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when</a:t>
            </a:r>
            <a:r>
              <a:rPr lang="pt-BR" dirty="0"/>
              <a:t> it </a:t>
            </a:r>
            <a:r>
              <a:rPr lang="pt-BR" dirty="0" err="1"/>
              <a:t>was</a:t>
            </a:r>
            <a:r>
              <a:rPr lang="pt-BR" dirty="0"/>
              <a:t> </a:t>
            </a:r>
            <a:r>
              <a:rPr lang="pt-BR" dirty="0" err="1"/>
              <a:t>claimed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another</a:t>
            </a:r>
            <a:r>
              <a:rPr lang="pt-BR" dirty="0"/>
              <a:t> </a:t>
            </a:r>
            <a:r>
              <a:rPr lang="pt-BR" dirty="0" err="1"/>
              <a:t>early</a:t>
            </a:r>
            <a:r>
              <a:rPr lang="pt-BR" dirty="0"/>
              <a:t> </a:t>
            </a:r>
            <a:r>
              <a:rPr lang="pt-BR" dirty="0" err="1"/>
              <a:t>experimenter</a:t>
            </a:r>
            <a:r>
              <a:rPr lang="pt-BR" dirty="0"/>
              <a:t>, John </a:t>
            </a:r>
            <a:r>
              <a:rPr lang="pt-BR" dirty="0" err="1"/>
              <a:t>Atanasoff</a:t>
            </a:r>
            <a:r>
              <a:rPr lang="pt-BR" dirty="0"/>
              <a:t>, </a:t>
            </a:r>
            <a:r>
              <a:rPr lang="pt-BR" dirty="0" err="1"/>
              <a:t>had</a:t>
            </a:r>
            <a:r>
              <a:rPr lang="pt-BR" dirty="0"/>
              <a:t> </a:t>
            </a:r>
            <a:r>
              <a:rPr lang="pt-BR" dirty="0" err="1"/>
              <a:t>given</a:t>
            </a:r>
            <a:r>
              <a:rPr lang="pt-BR" dirty="0"/>
              <a:t> </a:t>
            </a:r>
            <a:r>
              <a:rPr lang="pt-BR" dirty="0" err="1"/>
              <a:t>them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ideas</a:t>
            </a:r>
            <a:r>
              <a:rPr lang="pt-BR" dirty="0"/>
              <a:t> </a:t>
            </a:r>
            <a:r>
              <a:rPr lang="pt-BR" dirty="0" err="1"/>
              <a:t>about</a:t>
            </a:r>
            <a:r>
              <a:rPr lang="pt-BR" dirty="0"/>
              <a:t> ENIAC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mattered</a:t>
            </a:r>
            <a:r>
              <a:rPr lang="pt-BR" dirty="0"/>
              <a:t>.</a:t>
            </a:r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www.ideafinder.com</a:t>
            </a:r>
            <a:r>
              <a:rPr lang="pt-BR" dirty="0"/>
              <a:t>/</a:t>
            </a:r>
            <a:r>
              <a:rPr lang="pt-BR" dirty="0" err="1"/>
              <a:t>history</a:t>
            </a:r>
            <a:r>
              <a:rPr lang="pt-BR" dirty="0"/>
              <a:t>/</a:t>
            </a:r>
            <a:r>
              <a:rPr lang="pt-BR" dirty="0" err="1"/>
              <a:t>inventions</a:t>
            </a:r>
            <a:r>
              <a:rPr lang="pt-BR" dirty="0"/>
              <a:t>/</a:t>
            </a:r>
            <a:r>
              <a:rPr lang="pt-BR" dirty="0" err="1"/>
              <a:t>comeniac.htm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www.smithsonianmag.com</a:t>
            </a:r>
            <a:r>
              <a:rPr lang="pt-BR" dirty="0"/>
              <a:t>/</a:t>
            </a:r>
            <a:r>
              <a:rPr lang="pt-BR" dirty="0" err="1"/>
              <a:t>history</a:t>
            </a:r>
            <a:r>
              <a:rPr lang="pt-BR" dirty="0"/>
              <a:t>/the-brief-history-of-the-eniac-computer-3889120/?no-</a:t>
            </a:r>
            <a:r>
              <a:rPr lang="pt-BR" dirty="0" err="1"/>
              <a:t>ist</a:t>
            </a:r>
            <a:endParaRPr lang="pt-BR" dirty="0"/>
          </a:p>
          <a:p>
            <a:r>
              <a:rPr lang="pt-BR" dirty="0">
                <a:hlinkClick r:id="rId3"/>
              </a:rPr>
              <a:t>http://www.columbia.edu/cu/computinghistory/eniac.html</a:t>
            </a:r>
            <a:endParaRPr lang="pt-BR" dirty="0"/>
          </a:p>
          <a:p>
            <a:r>
              <a:rPr lang="pt-BR" dirty="0">
                <a:hlinkClick r:id="rId4"/>
              </a:rPr>
              <a:t>http://fortune.com/2014/09/18/walter-isaacson-the-women-of-eniac/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191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Com essas linguagens é possível fazer o design e simular os circuitos,  testar a velocidade do chip, consumo de energia e até custo de produção.</a:t>
            </a:r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www.columbia.edu</a:t>
            </a:r>
            <a:r>
              <a:rPr lang="pt-BR" dirty="0"/>
              <a:t>/cu/</a:t>
            </a:r>
            <a:r>
              <a:rPr lang="pt-BR" dirty="0" err="1"/>
              <a:t>computinghistory</a:t>
            </a:r>
            <a:r>
              <a:rPr lang="pt-BR" dirty="0"/>
              <a:t>/</a:t>
            </a:r>
            <a:r>
              <a:rPr lang="pt-BR" dirty="0" err="1"/>
              <a:t>eniac.html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www.semiwiki.com</a:t>
            </a:r>
            <a:r>
              <a:rPr lang="pt-BR" dirty="0"/>
              <a:t>/</a:t>
            </a:r>
            <a:r>
              <a:rPr lang="pt-BR" dirty="0" err="1"/>
              <a:t>forum</a:t>
            </a:r>
            <a:r>
              <a:rPr lang="pt-BR" dirty="0"/>
              <a:t>/</a:t>
            </a:r>
            <a:r>
              <a:rPr lang="pt-BR" dirty="0" err="1"/>
              <a:t>content</a:t>
            </a:r>
            <a:r>
              <a:rPr lang="pt-BR" dirty="0"/>
              <a:t>/2139-visual-debugging-altera-billion-transistor-chips.html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153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Queremos</a:t>
            </a:r>
            <a:r>
              <a:rPr lang="pt-BR" baseline="0" dirty="0"/>
              <a:t> agora</a:t>
            </a:r>
            <a:r>
              <a:rPr lang="pt-BR" dirty="0"/>
              <a:t> criar circuitos mais sofisticado, que responsam a um número maior de</a:t>
            </a:r>
            <a:r>
              <a:rPr lang="pt-BR" baseline="0" dirty="0"/>
              <a:t> </a:t>
            </a:r>
            <a:r>
              <a:rPr lang="pt-BR" dirty="0"/>
              <a:t>entradas e que realize alguma operação bem definida por nós, para isso iremos combinar portas lógicas em um arranjo que realize essa operação. Perceba que na</a:t>
            </a:r>
            <a:r>
              <a:rPr lang="pt-BR" baseline="0" dirty="0"/>
              <a:t> lógica </a:t>
            </a:r>
            <a:r>
              <a:rPr lang="pt-BR" baseline="0" dirty="0" err="1"/>
              <a:t>combinacional</a:t>
            </a:r>
            <a:r>
              <a:rPr lang="pt-BR" baseline="0" dirty="0"/>
              <a:t>, a resposta é sempre a mesma para uma entrada, ou seja, se colocarmos certos valores nas entradas, os valores da saída serão sempre os mesmos. Falo isso, pois em breve veremos a lógica sequencial, onde os circuitos tem memória e conforme estados anteriores a saída pode variar. </a:t>
            </a:r>
          </a:p>
          <a:p>
            <a:r>
              <a:rPr lang="pt-BR" baseline="0" dirty="0"/>
              <a:t> </a:t>
            </a:r>
            <a:endParaRPr lang="pt-BR" dirty="0"/>
          </a:p>
          <a:p>
            <a:r>
              <a:rPr lang="pt-BR" dirty="0"/>
              <a:t>Referências:</a:t>
            </a:r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faculty.kfupm.edu.sa</a:t>
            </a:r>
            <a:r>
              <a:rPr lang="pt-BR" dirty="0"/>
              <a:t>/COE/</a:t>
            </a:r>
            <a:r>
              <a:rPr lang="pt-BR" dirty="0" err="1"/>
              <a:t>ashraf</a:t>
            </a:r>
            <a:r>
              <a:rPr lang="pt-BR" dirty="0"/>
              <a:t>/</a:t>
            </a:r>
            <a:r>
              <a:rPr lang="pt-BR" dirty="0" err="1"/>
              <a:t>RichFilesTeaching</a:t>
            </a:r>
            <a:r>
              <a:rPr lang="pt-BR" dirty="0"/>
              <a:t>/COE043_200/Chapter3Part1_files/excess-3-circuit.gif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3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/>
              <a:buNone/>
            </a:pPr>
            <a:r>
              <a:rPr lang="pt-BR" dirty="0"/>
              <a:t>Outro ponto que gostaria de trazer são os barramentos, até o momento trabalhamos</a:t>
            </a:r>
            <a:r>
              <a:rPr lang="pt-BR" baseline="0" dirty="0"/>
              <a:t> com somente um sinal de cada vez, ou seja, um bit. Porém normalmente os nossos dados são organizados em vários bits, como por exemplo 8 que é apresentado no slide, e que chamamos de byte. Assim implementaremos 8 linhas de sinais em paralelo para formar o byte, essas linhas em paralelo são chamadas de barramento, outros barramentos comuns são de 16, 32 e 64 bits.</a:t>
            </a:r>
          </a:p>
          <a:p>
            <a:pPr marL="0" indent="0">
              <a:buFont typeface="Arial"/>
              <a:buNone/>
            </a:pPr>
            <a:endParaRPr lang="pt-BR" baseline="0" dirty="0"/>
          </a:p>
          <a:p>
            <a:pPr marL="0" indent="0">
              <a:buFont typeface="Arial"/>
              <a:buNone/>
            </a:pPr>
            <a:r>
              <a:rPr lang="pt-BR" dirty="0"/>
              <a:t>Os bits são acessados individualmente, usando a notação do canal com o bit entre parênteses: </a:t>
            </a:r>
          </a:p>
          <a:p>
            <a:r>
              <a:rPr lang="pt-BR" dirty="0"/>
              <a:t>       data(3), data(2), data(1), data(0)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www.camiresearch.com</a:t>
            </a:r>
            <a:r>
              <a:rPr lang="en-US" dirty="0"/>
              <a:t>/</a:t>
            </a:r>
            <a:r>
              <a:rPr lang="en-US" dirty="0" err="1"/>
              <a:t>Data_Com_Basics</a:t>
            </a:r>
            <a:r>
              <a:rPr lang="en-US" dirty="0"/>
              <a:t>/</a:t>
            </a:r>
            <a:r>
              <a:rPr lang="en-US" dirty="0" err="1"/>
              <a:t>data_com_tutorial.html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763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Aqui por exemplo, está uma porta AND com duas entradas de 16 bits, para indicarmos que é um barramento e não um bit</a:t>
            </a:r>
            <a:r>
              <a:rPr lang="pt-BR" baseline="0" dirty="0"/>
              <a:t> só, usamos esse traço e o número de vias. Nesse caso, a porta lógica ira fazer uma lógica AND em cada sinal, ou seja, o primeiro bit da porta A com o primeiro bit da porta B e assim por diante. Perceba que a saída também é um barramento de 16 bits.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8513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Um outro elemento que podemos usar com barramentos é um bit </a:t>
            </a:r>
            <a:r>
              <a:rPr lang="pt-BR" sz="1200" dirty="0" err="1"/>
              <a:t>shifter</a:t>
            </a:r>
            <a:r>
              <a:rPr lang="pt-BR" sz="1200" dirty="0"/>
              <a:t>, como por exemplo</a:t>
            </a:r>
            <a:r>
              <a:rPr lang="pt-BR" sz="1200" baseline="0" dirty="0"/>
              <a:t> o </a:t>
            </a:r>
            <a:r>
              <a:rPr lang="pt-BR" sz="1200" baseline="0" dirty="0" err="1"/>
              <a:t>Barrel</a:t>
            </a:r>
            <a:r>
              <a:rPr lang="pt-BR" sz="1200" baseline="0" dirty="0"/>
              <a:t> </a:t>
            </a:r>
            <a:r>
              <a:rPr lang="pt-BR" sz="1200" baseline="0" dirty="0" err="1"/>
              <a:t>Shifter</a:t>
            </a:r>
            <a:r>
              <a:rPr lang="pt-BR" sz="1200" baseline="0" dirty="0"/>
              <a:t>. Aqui no exemplo estamos movendo os bits de entrada para a esquerda, e adicionando um 0 no bit menos significativo.  Posteriormente podemos adicionar maiores controles, como por exemplo a direção do deslocamento e o n</a:t>
            </a:r>
            <a:r>
              <a:rPr lang="pt-BR" sz="1200" dirty="0"/>
              <a:t>úmero de casas a deslocar. Embora simples, circuitos como esse vão</a:t>
            </a:r>
            <a:r>
              <a:rPr lang="pt-BR" sz="1200" baseline="0" dirty="0"/>
              <a:t> nos permitir fazer, por exemplo, multiplicações de potências de 2.</a:t>
            </a:r>
            <a:endParaRPr lang="pt-BR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/>
              <a:t>Também </a:t>
            </a:r>
            <a:r>
              <a:rPr lang="pt-BR" sz="1200" dirty="0"/>
              <a:t>é possível fazer cíclico, ou seja, o bit empurrado para fora, reaparece do outro lado, ou senão, sempre preencher com 0 por exemplo.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</a:t>
            </a:r>
            <a:r>
              <a:rPr lang="pt-BR" dirty="0" err="1"/>
              <a:t>Barrel_shifter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preserve.lehigh.edu</a:t>
            </a:r>
            <a:r>
              <a:rPr lang="pt-BR" dirty="0"/>
              <a:t>/</a:t>
            </a:r>
            <a:r>
              <a:rPr lang="pt-BR" dirty="0" err="1"/>
              <a:t>cgi</a:t>
            </a:r>
            <a:r>
              <a:rPr lang="pt-BR" dirty="0"/>
              <a:t>/</a:t>
            </a:r>
            <a:r>
              <a:rPr lang="pt-BR" dirty="0" err="1"/>
              <a:t>viewcontent.cgi?article</a:t>
            </a:r>
            <a:r>
              <a:rPr lang="pt-BR" dirty="0"/>
              <a:t>=1714&amp;context=</a:t>
            </a:r>
            <a:r>
              <a:rPr lang="pt-BR" dirty="0" err="1"/>
              <a:t>etd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5755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dispositivos lógicos programáveis, ou como costumamos falar as </a:t>
            </a:r>
            <a:r>
              <a:rPr lang="pt-BR" dirty="0" err="1"/>
              <a:t>FPGAs</a:t>
            </a:r>
            <a:r>
              <a:rPr lang="pt-BR" dirty="0"/>
              <a:t> Field </a:t>
            </a:r>
            <a:r>
              <a:rPr lang="pt-BR" dirty="0" err="1"/>
              <a:t>Programmable</a:t>
            </a:r>
            <a:r>
              <a:rPr lang="pt-BR" dirty="0"/>
              <a:t> Gate </a:t>
            </a:r>
            <a:r>
              <a:rPr lang="pt-BR" dirty="0" err="1"/>
              <a:t>Array</a:t>
            </a:r>
            <a:r>
              <a:rPr lang="pt-BR" dirty="0"/>
              <a:t>,</a:t>
            </a:r>
            <a:r>
              <a:rPr lang="pt-BR" baseline="0" dirty="0"/>
              <a:t> são chips que podem ter seu comportamento reprogramado, ou seja, existem diversas portas lógicas dentro dele, e a conexão ou funcionamento delas pode ser remontada para uma aplicações específica que desejamos. Os kits de desenvolvimento como a DE0-nano apresentada na imagem, possuem uma FPGA  (NEXT) que esta conectada a </a:t>
            </a:r>
            <a:r>
              <a:rPr lang="pt-BR" baseline="0" dirty="0" err="1"/>
              <a:t>LEDs</a:t>
            </a:r>
            <a:r>
              <a:rPr lang="pt-BR" baseline="0" dirty="0"/>
              <a:t>, botões e pinos como no caso aqui de GPIO e também um circuito programador, que pelo cabo USB permite que coloquemos novos comportamentos na FPGA.</a:t>
            </a:r>
            <a:endParaRPr lang="pt-B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estudar:</a:t>
            </a:r>
            <a:r>
              <a:rPr lang="pt-BR" baseline="0" dirty="0"/>
              <a:t> </a:t>
            </a:r>
            <a:r>
              <a:rPr lang="pt-B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http://www.eecs.umich.edu/courses/eecs452/Lec/452L05F14_kurt.pdf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0591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https</a:t>
            </a:r>
            <a:r>
              <a:rPr lang="pt-BR" dirty="0"/>
              <a:t>://www.element14.com/</a:t>
            </a:r>
            <a:r>
              <a:rPr lang="pt-BR" dirty="0" err="1"/>
              <a:t>community</a:t>
            </a:r>
            <a:r>
              <a:rPr lang="pt-BR" dirty="0"/>
              <a:t>/</a:t>
            </a:r>
            <a:r>
              <a:rPr lang="pt-BR" dirty="0" err="1"/>
              <a:t>servlet</a:t>
            </a:r>
            <a:r>
              <a:rPr lang="pt-BR" dirty="0"/>
              <a:t>/</a:t>
            </a:r>
            <a:r>
              <a:rPr lang="pt-BR" dirty="0" err="1"/>
              <a:t>JiveServlet</a:t>
            </a:r>
            <a:r>
              <a:rPr lang="pt-BR" dirty="0"/>
              <a:t>/</a:t>
            </a:r>
            <a:r>
              <a:rPr lang="pt-BR" dirty="0" err="1"/>
              <a:t>showImage</a:t>
            </a:r>
            <a:r>
              <a:rPr lang="pt-BR" dirty="0"/>
              <a:t>/102-40098-9-143280/20.jpg</a:t>
            </a:r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www.primrosebank.net</a:t>
            </a:r>
            <a:r>
              <a:rPr lang="pt-BR" dirty="0"/>
              <a:t>/</a:t>
            </a:r>
            <a:r>
              <a:rPr lang="pt-BR" dirty="0" err="1"/>
              <a:t>computers</a:t>
            </a:r>
            <a:r>
              <a:rPr lang="pt-BR" dirty="0"/>
              <a:t>/</a:t>
            </a:r>
            <a:r>
              <a:rPr lang="pt-BR" dirty="0" err="1"/>
              <a:t>mtx</a:t>
            </a:r>
            <a:r>
              <a:rPr lang="pt-BR" dirty="0"/>
              <a:t>/</a:t>
            </a:r>
            <a:r>
              <a:rPr lang="pt-BR" dirty="0" err="1"/>
              <a:t>projects</a:t>
            </a:r>
            <a:r>
              <a:rPr lang="pt-BR" dirty="0"/>
              <a:t>/</a:t>
            </a:r>
            <a:r>
              <a:rPr lang="pt-BR" dirty="0" err="1"/>
              <a:t>mtxplus</a:t>
            </a:r>
            <a:r>
              <a:rPr lang="pt-BR" dirty="0"/>
              <a:t>/</a:t>
            </a:r>
            <a:r>
              <a:rPr lang="pt-BR" dirty="0" err="1"/>
              <a:t>cpu</a:t>
            </a:r>
            <a:r>
              <a:rPr lang="pt-BR" dirty="0"/>
              <a:t>/</a:t>
            </a:r>
            <a:r>
              <a:rPr lang="pt-BR" dirty="0" err="1"/>
              <a:t>cpld</a:t>
            </a:r>
            <a:r>
              <a:rPr lang="pt-BR" dirty="0"/>
              <a:t>/</a:t>
            </a:r>
            <a:r>
              <a:rPr lang="pt-BR" dirty="0" err="1"/>
              <a:t>quartus_eg.jpg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</a:t>
            </a:r>
            <a:r>
              <a:rPr lang="pt-BR" dirty="0" err="1"/>
              <a:t>Xilinx_ISE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www.primrosebank.net</a:t>
            </a:r>
            <a:r>
              <a:rPr lang="pt-BR" dirty="0"/>
              <a:t>/</a:t>
            </a:r>
            <a:r>
              <a:rPr lang="pt-BR" dirty="0" err="1"/>
              <a:t>computers</a:t>
            </a:r>
            <a:r>
              <a:rPr lang="pt-BR" dirty="0"/>
              <a:t>/</a:t>
            </a:r>
            <a:r>
              <a:rPr lang="pt-BR" dirty="0" err="1"/>
              <a:t>mtx</a:t>
            </a:r>
            <a:r>
              <a:rPr lang="pt-BR" dirty="0"/>
              <a:t>/</a:t>
            </a:r>
            <a:r>
              <a:rPr lang="pt-BR" dirty="0" err="1"/>
              <a:t>projects</a:t>
            </a:r>
            <a:r>
              <a:rPr lang="pt-BR" dirty="0"/>
              <a:t>/</a:t>
            </a:r>
            <a:r>
              <a:rPr lang="pt-BR" dirty="0" err="1"/>
              <a:t>mtxplus</a:t>
            </a:r>
            <a:r>
              <a:rPr lang="pt-BR" dirty="0"/>
              <a:t>/</a:t>
            </a:r>
            <a:r>
              <a:rPr lang="pt-BR" dirty="0" err="1"/>
              <a:t>cpu</a:t>
            </a:r>
            <a:r>
              <a:rPr lang="pt-BR" dirty="0"/>
              <a:t>/</a:t>
            </a:r>
            <a:r>
              <a:rPr lang="pt-BR" dirty="0" err="1"/>
              <a:t>cpld</a:t>
            </a:r>
            <a:r>
              <a:rPr lang="pt-BR" dirty="0"/>
              <a:t>/</a:t>
            </a:r>
            <a:r>
              <a:rPr lang="pt-BR" dirty="0" err="1"/>
              <a:t>quartus_eg.jpg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381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</a:t>
            </a:r>
            <a:r>
              <a:rPr lang="en-US" dirty="0" err="1"/>
              <a:t>std_logic</a:t>
            </a:r>
            <a:r>
              <a:rPr lang="en-US" dirty="0"/>
              <a:t> type is defined in the std_logic_1164 package of the IEEE library.</a:t>
            </a:r>
            <a:endParaRPr lang="pt-BR" dirty="0"/>
          </a:p>
          <a:p>
            <a:endParaRPr lang="pt-BR" dirty="0"/>
          </a:p>
          <a:p>
            <a:r>
              <a:rPr lang="pt-BR" dirty="0"/>
              <a:t>file:///</a:t>
            </a:r>
            <a:r>
              <a:rPr lang="pt-BR" dirty="0" err="1"/>
              <a:t>Users</a:t>
            </a:r>
            <a:r>
              <a:rPr lang="pt-BR" dirty="0"/>
              <a:t>/</a:t>
            </a:r>
            <a:r>
              <a:rPr lang="pt-BR" dirty="0" err="1"/>
              <a:t>lpsoares</a:t>
            </a:r>
            <a:r>
              <a:rPr lang="pt-BR" dirty="0"/>
              <a:t>/</a:t>
            </a:r>
            <a:r>
              <a:rPr lang="pt-BR" dirty="0" err="1"/>
              <a:t>Dropbox</a:t>
            </a:r>
            <a:r>
              <a:rPr lang="pt-BR" dirty="0"/>
              <a:t>/</a:t>
            </a:r>
            <a:r>
              <a:rPr lang="pt-BR" dirty="0" err="1"/>
              <a:t>Shared</a:t>
            </a:r>
            <a:r>
              <a:rPr lang="pt-BR" dirty="0"/>
              <a:t>/</a:t>
            </a:r>
            <a:r>
              <a:rPr lang="pt-BR" dirty="0" err="1"/>
              <a:t>ElementosDeSistemas</a:t>
            </a:r>
            <a:r>
              <a:rPr lang="pt-BR" dirty="0"/>
              <a:t>/www.nand2tetris.org/software/HDL%20Survival%20Guide.html</a:t>
            </a:r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vlsiexperiments.blogspot.com.br</a:t>
            </a:r>
            <a:r>
              <a:rPr lang="pt-BR" dirty="0"/>
              <a:t>/2013/06/</a:t>
            </a:r>
            <a:r>
              <a:rPr lang="pt-BR" dirty="0" err="1"/>
              <a:t>write</a:t>
            </a:r>
            <a:r>
              <a:rPr lang="pt-BR" dirty="0"/>
              <a:t>-</a:t>
            </a:r>
            <a:r>
              <a:rPr lang="pt-BR" dirty="0" err="1"/>
              <a:t>vhdl</a:t>
            </a:r>
            <a:r>
              <a:rPr lang="pt-BR" dirty="0"/>
              <a:t>-</a:t>
            </a:r>
            <a:r>
              <a:rPr lang="pt-BR" dirty="0" err="1"/>
              <a:t>code</a:t>
            </a:r>
            <a:r>
              <a:rPr lang="pt-BR" dirty="0"/>
              <a:t>-for-</a:t>
            </a:r>
            <a:r>
              <a:rPr lang="pt-BR" dirty="0" err="1"/>
              <a:t>making</a:t>
            </a:r>
            <a:r>
              <a:rPr lang="pt-BR" dirty="0"/>
              <a:t>-</a:t>
            </a:r>
            <a:r>
              <a:rPr lang="pt-BR" dirty="0" err="1"/>
              <a:t>xor-gate.html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electrofriends.com</a:t>
            </a:r>
            <a:r>
              <a:rPr lang="pt-BR" dirty="0"/>
              <a:t>/</a:t>
            </a:r>
            <a:r>
              <a:rPr lang="pt-BR" dirty="0" err="1"/>
              <a:t>source-codes</a:t>
            </a:r>
            <a:r>
              <a:rPr lang="pt-BR" dirty="0"/>
              <a:t>/digital-</a:t>
            </a:r>
            <a:r>
              <a:rPr lang="pt-BR" dirty="0" err="1"/>
              <a:t>electroninc</a:t>
            </a:r>
            <a:r>
              <a:rPr lang="pt-BR" dirty="0"/>
              <a:t>/</a:t>
            </a:r>
            <a:r>
              <a:rPr lang="pt-BR" dirty="0" err="1"/>
              <a:t>verilog-hdl</a:t>
            </a:r>
            <a:r>
              <a:rPr lang="pt-BR" dirty="0"/>
              <a:t>/</a:t>
            </a:r>
            <a:r>
              <a:rPr lang="pt-BR" dirty="0" err="1"/>
              <a:t>verilog</a:t>
            </a:r>
            <a:r>
              <a:rPr lang="pt-BR" dirty="0"/>
              <a:t>-</a:t>
            </a:r>
            <a:r>
              <a:rPr lang="pt-BR" dirty="0" err="1"/>
              <a:t>hdl</a:t>
            </a:r>
            <a:r>
              <a:rPr lang="pt-BR" dirty="0"/>
              <a:t>-</a:t>
            </a:r>
            <a:r>
              <a:rPr lang="pt-BR" dirty="0" err="1"/>
              <a:t>program</a:t>
            </a:r>
            <a:r>
              <a:rPr lang="pt-BR" dirty="0"/>
              <a:t>-for-exclusive-</a:t>
            </a:r>
            <a:r>
              <a:rPr lang="pt-BR" dirty="0" err="1"/>
              <a:t>or</a:t>
            </a:r>
            <a:r>
              <a:rPr lang="pt-BR" dirty="0"/>
              <a:t>-</a:t>
            </a:r>
            <a:r>
              <a:rPr lang="pt-BR" dirty="0" err="1"/>
              <a:t>logic-gate</a:t>
            </a:r>
            <a:r>
              <a:rPr lang="pt-BR" dirty="0"/>
              <a:t>/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367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689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Cada fábrica pode usar uma tecnologia diferente.</a:t>
            </a:r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cva.stanford.edu</a:t>
            </a:r>
            <a:r>
              <a:rPr lang="pt-BR" dirty="0"/>
              <a:t>/</a:t>
            </a:r>
            <a:r>
              <a:rPr lang="pt-BR" dirty="0" err="1"/>
              <a:t>projects</a:t>
            </a:r>
            <a:r>
              <a:rPr lang="pt-BR" dirty="0"/>
              <a:t>/imagine/</a:t>
            </a:r>
            <a:r>
              <a:rPr lang="pt-BR" dirty="0" err="1"/>
              <a:t>project</a:t>
            </a:r>
            <a:r>
              <a:rPr lang="pt-BR" dirty="0"/>
              <a:t>/</a:t>
            </a:r>
            <a:r>
              <a:rPr lang="pt-BR" dirty="0" err="1"/>
              <a:t>wafer_small.jpg</a:t>
            </a:r>
            <a:endParaRPr lang="pt-BR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CAD flow involves the following steps: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Design Entry – the desired circuit is specified either by means of a schematic diagram, or by using a hardware description language, such as Verilog or VHDL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Synthesis – the entered design is synthesized into a circuit that consists of the logic elements (LEs) provided in the FPGA chip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Functional Simulation – the synthesized circuit is tested to verify its functional correctness; this simulation does not take into account any timing issues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Fitting – the CAD Fitter tool determines the placement of the LEs defined in the netlist into the LEs in an actual FPGA chip; it also chooses routing wires in the chip to make the required connections between specific LEs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Timing Analysis – propagation delays along the various paths in the fitted circuit are analyzed to provide an indication of the expected performance of the circuit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Timing Simulation – the fitted circuit is tested to verify both its functional correctness and timing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Programming and Configuration – the designed circuit is implemented in a physical FPGA chip by programming the configuration switches that configure the LEs and establish the required wiring connections</a:t>
            </a:r>
          </a:p>
          <a:p>
            <a:r>
              <a:rPr lang="pt-B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action="ppaction://hlinkfile"/>
              </a:rPr>
              <a:t>ftp://ftp.altera.com/up/pub/Tutorials/DE2/Digital_Logic/tut_quartus_intro_vhdl.pdf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31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9/7/26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9/7/26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9/7/26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9/7/26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9/7/26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9/7/26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microsoft.com/office/2011/relationships/inkAction" Target="../ink/inkAction1.xml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250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Elementos de 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>
                <a:latin typeface="Verdana"/>
                <a:cs typeface="Verdana"/>
              </a:rPr>
              <a:t>Lógica Combinacional</a:t>
            </a:r>
          </a:p>
          <a:p>
            <a:endParaRPr lang="pt-BR" dirty="0"/>
          </a:p>
        </p:txBody>
      </p:sp>
      <p:sp>
        <p:nvSpPr>
          <p:cNvPr id="9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233375"/>
            <a:ext cx="7343775" cy="361099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da Computação 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193183" y="4539921"/>
            <a:ext cx="8822028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700" dirty="0">
                <a:solidFill>
                  <a:schemeClr val="bg1"/>
                </a:solidFill>
              </a:rPr>
              <a:t>"Conversamos como vivemos ao repetir, combinar e recombinar alguns elementos repetidamente, assim como a natureza faz quando, de partículas elementares, constrói um mundo."</a:t>
            </a:r>
          </a:p>
          <a:p>
            <a:r>
              <a:rPr lang="en-US" sz="1700" dirty="0">
                <a:solidFill>
                  <a:schemeClr val="bg1"/>
                </a:solidFill>
              </a:rPr>
              <a:t>"We converse as we live by repeating, by combining and recombining a few elements over and over again just as nature does when of elementary particles it builds a world." </a:t>
            </a:r>
          </a:p>
          <a:p>
            <a:r>
              <a:rPr lang="en-US" sz="1700" dirty="0">
                <a:solidFill>
                  <a:schemeClr val="bg1"/>
                </a:solidFill>
              </a:rPr>
              <a:t>William Howard </a:t>
            </a:r>
            <a:r>
              <a:rPr lang="en-US" sz="1700" dirty="0" err="1">
                <a:solidFill>
                  <a:schemeClr val="bg1"/>
                </a:solidFill>
              </a:rPr>
              <a:t>Gass</a:t>
            </a:r>
            <a:r>
              <a:rPr lang="pt-BR" sz="1700" dirty="0">
                <a:solidFill>
                  <a:schemeClr val="bg1"/>
                </a:solidFill>
              </a:rPr>
              <a:t>, Escritor Americano</a:t>
            </a:r>
          </a:p>
        </p:txBody>
      </p:sp>
    </p:spTree>
    <p:extLst>
      <p:ext uri="{BB962C8B-B14F-4D97-AF65-F5344CB8AC3E}">
        <p14:creationId xmlns:p14="http://schemas.microsoft.com/office/powerpoint/2010/main" val="2842346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Konrad </a:t>
            </a:r>
            <a:r>
              <a:rPr lang="pt-BR" dirty="0" err="1"/>
              <a:t>Zuse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89" y="1485900"/>
            <a:ext cx="6407595" cy="4724400"/>
          </a:xfrm>
        </p:spPr>
        <p:txBody>
          <a:bodyPr>
            <a:normAutofit/>
          </a:bodyPr>
          <a:lstStyle/>
          <a:p>
            <a:r>
              <a:rPr lang="pt-BR" sz="2100" dirty="0"/>
              <a:t>Konrad Zuse foi um engenheiro alemão que em 1936 começou a desenvolver o </a:t>
            </a:r>
            <a:r>
              <a:rPr lang="pt-BR" sz="2100" b="1" dirty="0"/>
              <a:t>Z1</a:t>
            </a:r>
            <a:r>
              <a:rPr lang="pt-BR" sz="2100" dirty="0"/>
              <a:t> primeiro computador eletromecânico digital. O </a:t>
            </a:r>
            <a:r>
              <a:rPr lang="pt-BR" sz="2100" b="1" dirty="0"/>
              <a:t>Z1</a:t>
            </a:r>
            <a:r>
              <a:rPr lang="pt-BR" sz="2100" dirty="0"/>
              <a:t> tinha um </a:t>
            </a:r>
            <a:r>
              <a:rPr lang="pt-BR" sz="2100" i="1" dirty="0"/>
              <a:t>clock</a:t>
            </a:r>
            <a:r>
              <a:rPr lang="pt-BR" sz="2100" dirty="0"/>
              <a:t> de 1Hz, reconhecia 9 instruções que eram lidas de uma fita perfurada e já fazia operações em ponto flutuante. Os computadores de Zuse foram destruídos na Segunda Guerra Mundial.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  <p:pic>
        <p:nvPicPr>
          <p:cNvPr id="6" name="Picture 5" descr="zuse4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5" t="11123"/>
          <a:stretch/>
        </p:blipFill>
        <p:spPr>
          <a:xfrm>
            <a:off x="6815475" y="1405506"/>
            <a:ext cx="2095402" cy="274936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422020" y="6338702"/>
            <a:ext cx="22491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/>
              <a:t>http</a:t>
            </a:r>
            <a:r>
              <a:rPr lang="pt-BR" dirty="0"/>
              <a:t>://zuse-z1.zib.de/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788453" y="4428576"/>
            <a:ext cx="3156574" cy="2264749"/>
            <a:chOff x="887562" y="4182154"/>
            <a:chExt cx="3533170" cy="2534945"/>
          </a:xfrm>
        </p:grpSpPr>
        <p:pic>
          <p:nvPicPr>
            <p:cNvPr id="7" name="Picture 6" descr="z1.jp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44"/>
            <a:stretch/>
          </p:blipFill>
          <p:spPr>
            <a:xfrm>
              <a:off x="887562" y="4182154"/>
              <a:ext cx="3533170" cy="2228036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942151" y="6347767"/>
              <a:ext cx="128134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Z1 em 1937</a:t>
              </a:r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89" y="4477892"/>
            <a:ext cx="2929092" cy="1841019"/>
          </a:xfrm>
          <a:prstGeom prst="rect">
            <a:avLst/>
          </a:prstGeom>
        </p:spPr>
      </p:pic>
      <p:pic>
        <p:nvPicPr>
          <p:cNvPr id="15" name="Picture 14" descr="simulation1.jp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018" y="4315146"/>
            <a:ext cx="2335802" cy="169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80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12875E-6 -7.87402E-8 L 0.00815 -0.01251 " pathEditMode="relative" ptsTypes="AA">
                                      <p:cBhvr>
                                        <p:cTn id="6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2743E-6 2.60306E-6 L 0.00399 0.00903 " pathEditMode="relative" ptsTypes="AA">
                                      <p:cBhvr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ENIAC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12775"/>
            <a:ext cx="8152564" cy="5097645"/>
          </a:xfrm>
        </p:spPr>
        <p:txBody>
          <a:bodyPr>
            <a:normAutofit/>
          </a:bodyPr>
          <a:lstStyle/>
          <a:p>
            <a:r>
              <a:rPr lang="pt-BR" dirty="0"/>
              <a:t>ENIAC foi apresentado em 1946 na Universidade da </a:t>
            </a:r>
            <a:r>
              <a:rPr lang="en-BR" dirty="0"/>
              <a:t>Pensilvânia</a:t>
            </a:r>
            <a:r>
              <a:rPr lang="pt-BR" dirty="0"/>
              <a:t>, pesando mais de 27 toneladas, 18.000 válvulas, 10.000 capacitores, 6.000 interruptores e 1.500 relés.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 ENIAC é ”descrito como uma coleção de máquinas de calcular eletrônicas e outras unidades aritméticas, que foram originalmente controladas por uma rede de grandes cabos elétricos" (David Alan </a:t>
            </a:r>
            <a:r>
              <a:rPr lang="pt-BR" dirty="0" err="1"/>
              <a:t>Grier</a:t>
            </a:r>
            <a:r>
              <a:rPr lang="pt-BR" dirty="0"/>
              <a:t>, IEEE </a:t>
            </a:r>
            <a:r>
              <a:rPr lang="pt-BR" dirty="0" err="1"/>
              <a:t>Annals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History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Computing</a:t>
            </a:r>
            <a:r>
              <a:rPr lang="pt-BR" dirty="0"/>
              <a:t>, Jul-Set 2004, p.2 ).</a:t>
            </a:r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3</a:t>
            </a:fld>
            <a:endParaRPr lang="pt-BR" dirty="0"/>
          </a:p>
        </p:txBody>
      </p:sp>
      <p:grpSp>
        <p:nvGrpSpPr>
          <p:cNvPr id="8" name="Group 7"/>
          <p:cNvGrpSpPr/>
          <p:nvPr/>
        </p:nvGrpSpPr>
        <p:grpSpPr>
          <a:xfrm>
            <a:off x="765792" y="2456283"/>
            <a:ext cx="8030629" cy="2657773"/>
            <a:chOff x="779160" y="2372981"/>
            <a:chExt cx="8847825" cy="292822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9160" y="2372981"/>
              <a:ext cx="4300453" cy="2928228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3683" y="2372981"/>
              <a:ext cx="4413302" cy="29282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3105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das conexões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6" y="1485900"/>
            <a:ext cx="8219406" cy="1281363"/>
          </a:xfrm>
        </p:spPr>
        <p:txBody>
          <a:bodyPr>
            <a:normAutofit/>
          </a:bodyPr>
          <a:lstStyle/>
          <a:p>
            <a:r>
              <a:rPr lang="pt-BR" sz="2100" dirty="0"/>
              <a:t>Atualmente conexões de hardware são feitas por linguagens próprias que permitem especificar as conexões lógicas dos circuitos de um hardware reprogramável.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4</a:t>
            </a:fld>
            <a:endParaRPr lang="pt-BR" dirty="0"/>
          </a:p>
        </p:txBody>
      </p:sp>
      <p:pic>
        <p:nvPicPr>
          <p:cNvPr id="6" name="Picture 5" descr="eniac1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9"/>
          <a:stretch/>
        </p:blipFill>
        <p:spPr>
          <a:xfrm>
            <a:off x="457200" y="2860834"/>
            <a:ext cx="3745836" cy="3189037"/>
          </a:xfrm>
          <a:prstGeom prst="rect">
            <a:avLst/>
          </a:prstGeom>
        </p:spPr>
      </p:pic>
      <p:pic>
        <p:nvPicPr>
          <p:cNvPr id="7" name="Picture 6" descr="Stratix IV FPGA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576" y="2860834"/>
            <a:ext cx="4183126" cy="3189037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4398212" y="4117466"/>
            <a:ext cx="374314" cy="695158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1945231" y="5998762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/>
              <a:t>ENIAC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1630" y="6000593"/>
            <a:ext cx="1643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err="1"/>
              <a:t>Stratix</a:t>
            </a:r>
            <a:r>
              <a:rPr lang="pt-BR" dirty="0"/>
              <a:t> IV FPGA</a:t>
            </a:r>
          </a:p>
        </p:txBody>
      </p:sp>
    </p:spTree>
    <p:extLst>
      <p:ext uri="{BB962C8B-B14F-4D97-AF65-F5344CB8AC3E}">
        <p14:creationId xmlns:p14="http://schemas.microsoft.com/office/powerpoint/2010/main" val="3654835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Lógica </a:t>
            </a:r>
            <a:r>
              <a:rPr lang="pt-BR" dirty="0" err="1"/>
              <a:t>Combinacional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Lógica </a:t>
            </a:r>
            <a:r>
              <a:rPr lang="pt-BR" sz="2000" dirty="0" err="1"/>
              <a:t>Combinacional</a:t>
            </a:r>
            <a:r>
              <a:rPr lang="pt-BR" sz="2000" dirty="0"/>
              <a:t> realiza as álgebras booleanas usando uma combinação de portas lógicas. </a:t>
            </a:r>
          </a:p>
          <a:p>
            <a:r>
              <a:rPr lang="pt-BR" sz="2000" dirty="0"/>
              <a:t>A saída de um circuito em lógica </a:t>
            </a:r>
            <a:r>
              <a:rPr lang="pt-BR" sz="2000" dirty="0" err="1"/>
              <a:t>combinacional</a:t>
            </a:r>
            <a:r>
              <a:rPr lang="pt-BR" sz="2000" dirty="0"/>
              <a:t> depende só de suas entradas, ou seja, a lógica não tem memória.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5</a:t>
            </a:fld>
            <a:endParaRPr lang="pt-B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882024"/>
            <a:ext cx="45720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8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Barramentos (Data Bus)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2000" dirty="0"/>
              <a:t>Barramentos são diversas linhas de comunicação, para a transmissão de vários bits ao mesmo tempo.</a:t>
            </a:r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Barramentos normalmente são de: 8, 16, 32 ou 64 bits.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6</a:t>
            </a:fld>
            <a:endParaRPr lang="pt-BR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626720"/>
              </p:ext>
            </p:extLst>
          </p:nvPr>
        </p:nvGraphicFramePr>
        <p:xfrm>
          <a:off x="1432347" y="3501671"/>
          <a:ext cx="6096000" cy="19018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699">
                <a:tc>
                  <a:txBody>
                    <a:bodyPr/>
                    <a:lstStyle/>
                    <a:p>
                      <a:endParaRPr lang="pt-BR" sz="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699">
                <a:tc>
                  <a:txBody>
                    <a:bodyPr/>
                    <a:lstStyle/>
                    <a:p>
                      <a:endParaRPr lang="pt-BR" sz="60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699">
                <a:tc>
                  <a:txBody>
                    <a:bodyPr/>
                    <a:lstStyle/>
                    <a:p>
                      <a:endParaRPr lang="pt-BR" sz="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699">
                <a:tc>
                  <a:txBody>
                    <a:bodyPr/>
                    <a:lstStyle/>
                    <a:p>
                      <a:endParaRPr lang="pt-BR" sz="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699">
                <a:tc>
                  <a:txBody>
                    <a:bodyPr/>
                    <a:lstStyle/>
                    <a:p>
                      <a:endParaRPr lang="pt-BR" sz="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699">
                <a:tc>
                  <a:txBody>
                    <a:bodyPr/>
                    <a:lstStyle/>
                    <a:p>
                      <a:endParaRPr lang="pt-BR" sz="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699">
                <a:tc>
                  <a:txBody>
                    <a:bodyPr/>
                    <a:lstStyle/>
                    <a:p>
                      <a:endParaRPr lang="pt-BR" sz="6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01223" y="3264629"/>
            <a:ext cx="857927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data(0)</a:t>
            </a:r>
          </a:p>
          <a:p>
            <a:r>
              <a:rPr lang="en-US" dirty="0"/>
              <a:t>data(1)</a:t>
            </a:r>
          </a:p>
          <a:p>
            <a:r>
              <a:rPr lang="en-US" dirty="0"/>
              <a:t>data(2)</a:t>
            </a:r>
          </a:p>
          <a:p>
            <a:r>
              <a:rPr lang="en-US" dirty="0"/>
              <a:t>data(3)</a:t>
            </a:r>
          </a:p>
          <a:p>
            <a:r>
              <a:rPr lang="en-US" dirty="0"/>
              <a:t>data(4]</a:t>
            </a:r>
          </a:p>
          <a:p>
            <a:r>
              <a:rPr lang="en-US" dirty="0"/>
              <a:t>data(5)</a:t>
            </a:r>
          </a:p>
          <a:p>
            <a:r>
              <a:rPr lang="en-US" dirty="0"/>
              <a:t>data(6)</a:t>
            </a:r>
          </a:p>
          <a:p>
            <a:r>
              <a:rPr lang="en-US" dirty="0"/>
              <a:t>data(7)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4251" y="3264629"/>
            <a:ext cx="86296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data(0)</a:t>
            </a:r>
          </a:p>
          <a:p>
            <a:r>
              <a:rPr lang="en-US" dirty="0"/>
              <a:t>data(1)</a:t>
            </a:r>
          </a:p>
          <a:p>
            <a:r>
              <a:rPr lang="en-US" dirty="0"/>
              <a:t>data(2)</a:t>
            </a:r>
          </a:p>
          <a:p>
            <a:r>
              <a:rPr lang="en-US" dirty="0"/>
              <a:t>data(3)</a:t>
            </a:r>
          </a:p>
          <a:p>
            <a:r>
              <a:rPr lang="en-US" dirty="0"/>
              <a:t>data(4]</a:t>
            </a:r>
          </a:p>
          <a:p>
            <a:r>
              <a:rPr lang="en-US" dirty="0"/>
              <a:t>data(5)</a:t>
            </a:r>
          </a:p>
          <a:p>
            <a:r>
              <a:rPr lang="en-US" dirty="0"/>
              <a:t>data(6)</a:t>
            </a:r>
          </a:p>
          <a:p>
            <a:r>
              <a:rPr lang="en-US" dirty="0"/>
              <a:t>data(7)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609859" y="3380541"/>
            <a:ext cx="412124" cy="2131618"/>
            <a:chOff x="1609859" y="3380540"/>
            <a:chExt cx="412124" cy="2192413"/>
          </a:xfrm>
        </p:grpSpPr>
        <p:sp>
          <p:nvSpPr>
            <p:cNvPr id="6" name="Right Arrow 5"/>
            <p:cNvSpPr/>
            <p:nvPr/>
          </p:nvSpPr>
          <p:spPr>
            <a:xfrm>
              <a:off x="1609859" y="3380540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1609859" y="3650410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ight Arrow 13"/>
            <p:cNvSpPr/>
            <p:nvPr/>
          </p:nvSpPr>
          <p:spPr>
            <a:xfrm>
              <a:off x="1609859" y="3920280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1609859" y="4224383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1609859" y="4494253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1609859" y="4764123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ight Arrow 17"/>
            <p:cNvSpPr/>
            <p:nvPr/>
          </p:nvSpPr>
          <p:spPr>
            <a:xfrm>
              <a:off x="1609859" y="5066041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1609859" y="5335911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054126" y="3386808"/>
            <a:ext cx="412124" cy="2131618"/>
            <a:chOff x="1609859" y="3380540"/>
            <a:chExt cx="412124" cy="2192413"/>
          </a:xfrm>
        </p:grpSpPr>
        <p:sp>
          <p:nvSpPr>
            <p:cNvPr id="22" name="Right Arrow 21"/>
            <p:cNvSpPr/>
            <p:nvPr/>
          </p:nvSpPr>
          <p:spPr>
            <a:xfrm>
              <a:off x="1609859" y="3380540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1609859" y="3650410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1609859" y="3920280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1609859" y="4224383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Right Arrow 25"/>
            <p:cNvSpPr/>
            <p:nvPr/>
          </p:nvSpPr>
          <p:spPr>
            <a:xfrm>
              <a:off x="1609859" y="4494253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Right Arrow 26"/>
            <p:cNvSpPr/>
            <p:nvPr/>
          </p:nvSpPr>
          <p:spPr>
            <a:xfrm>
              <a:off x="1609859" y="4764123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1609859" y="5066041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Right Arrow 28"/>
            <p:cNvSpPr/>
            <p:nvPr/>
          </p:nvSpPr>
          <p:spPr>
            <a:xfrm>
              <a:off x="1609859" y="5335911"/>
              <a:ext cx="412124" cy="237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021484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Portas Lógicas de Barramento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578102"/>
          </a:xfrm>
        </p:spPr>
        <p:txBody>
          <a:bodyPr/>
          <a:lstStyle/>
          <a:p>
            <a:r>
              <a:rPr lang="pt-BR" dirty="0"/>
              <a:t>Exemplo AND de 16 bits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7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l="9885" t="25288" r="29853" b="41599"/>
          <a:stretch/>
        </p:blipFill>
        <p:spPr>
          <a:xfrm>
            <a:off x="2498702" y="2382590"/>
            <a:ext cx="4088201" cy="208637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95404" y="5132794"/>
          <a:ext cx="6095996" cy="741680"/>
        </p:xfrm>
        <a:graphic>
          <a:graphicData uri="http://schemas.openxmlformats.org/drawingml/2006/table">
            <a:tbl>
              <a:tblPr firstCol="1" lastRow="1">
                <a:tableStyleId>{6E25E649-3F16-4E02-A733-19D2CDBF48F0}</a:tableStyleId>
              </a:tblPr>
              <a:tblGrid>
                <a:gridCol w="35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295404" y="5896760"/>
          <a:ext cx="6095996" cy="370840"/>
        </p:xfrm>
        <a:graphic>
          <a:graphicData uri="http://schemas.openxmlformats.org/drawingml/2006/table">
            <a:tbl>
              <a:tblPr firstCol="1" lastRow="1">
                <a:tableStyleId>{6E25E649-3F16-4E02-A733-19D2CDBF48F0}</a:tableStyleId>
              </a:tblPr>
              <a:tblGrid>
                <a:gridCol w="35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58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>
                          <a:solidFill>
                            <a:schemeClr val="bg1"/>
                          </a:solidFill>
                        </a:rPr>
                        <a:t>Q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6">
            <p14:nvContentPartPr>
              <p14:cNvPr id="13" name="Tinta 12"/>
              <p14:cNvContentPartPr/>
              <p14:nvPr>
                <p:custDataLst>
                  <p:tags r:id="rId2"/>
                </p:custDataLst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116693" y="2881561"/>
              <a:ext cx="237549" cy="202639"/>
            </p14:xfrm>
          </p:contentPart>
        </mc:Choice>
        <mc:Fallback xmlns="">
          <p:pic>
            <p:nvPicPr>
              <p:cNvPr id="13" name="Tinta 12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07695" y="2872563"/>
                <a:ext cx="255545" cy="220635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8790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</p:spPr>
        <p:txBody>
          <a:bodyPr>
            <a:normAutofit/>
          </a:bodyPr>
          <a:lstStyle/>
          <a:p>
            <a:r>
              <a:rPr lang="pt-BR" sz="2400" dirty="0"/>
              <a:t>Um </a:t>
            </a:r>
            <a:r>
              <a:rPr lang="en-US" sz="2400" dirty="0"/>
              <a:t>Barrel Shifter</a:t>
            </a:r>
            <a:r>
              <a:rPr lang="pt-BR" sz="2400" dirty="0"/>
              <a:t> permite deslocar ("</a:t>
            </a:r>
            <a:r>
              <a:rPr lang="pt-BR" sz="2400" dirty="0" err="1"/>
              <a:t>shiftar</a:t>
            </a:r>
            <a:r>
              <a:rPr lang="pt-BR" sz="2400" dirty="0"/>
              <a:t>") uma certa quantidade de bits de um barramento para um determinado lado.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42690"/>
              </p:ext>
            </p:extLst>
          </p:nvPr>
        </p:nvGraphicFramePr>
        <p:xfrm>
          <a:off x="1523998" y="3148522"/>
          <a:ext cx="598438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48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573487"/>
              </p:ext>
            </p:extLst>
          </p:nvPr>
        </p:nvGraphicFramePr>
        <p:xfrm>
          <a:off x="1523998" y="4447142"/>
          <a:ext cx="5984384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48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995528" y="444714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/>
              <a:t>0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1944710" y="3519362"/>
            <a:ext cx="721217" cy="9277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2665927" y="3519362"/>
            <a:ext cx="721217" cy="9277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387144" y="3519362"/>
            <a:ext cx="721217" cy="9277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125533" y="3519362"/>
            <a:ext cx="721217" cy="9277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846750" y="3519362"/>
            <a:ext cx="721217" cy="9277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5567967" y="3519362"/>
            <a:ext cx="721217" cy="9277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6434740" y="3519362"/>
            <a:ext cx="721217" cy="9277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572777" y="4632562"/>
            <a:ext cx="39924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F71AE87-8488-CBB1-BA4F-3B82F1BC9AA0}"/>
              </a:ext>
            </a:extLst>
          </p:cNvPr>
          <p:cNvSpPr txBox="1"/>
          <p:nvPr/>
        </p:nvSpPr>
        <p:spPr>
          <a:xfrm>
            <a:off x="725688" y="5410514"/>
            <a:ext cx="78516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Conforme o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Barrel Shifter</a:t>
            </a:r>
            <a:r>
              <a:rPr lang="pt-B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possível escolher a direção e quantidade de bits a deslocar.</a:t>
            </a:r>
          </a:p>
        </p:txBody>
      </p:sp>
    </p:spTree>
    <p:extLst>
      <p:ext uri="{BB962C8B-B14F-4D97-AF65-F5344CB8AC3E}">
        <p14:creationId xmlns:p14="http://schemas.microsoft.com/office/powerpoint/2010/main" val="264398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Dispositivos Lógicos Programáveis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 err="1"/>
              <a:t>FPGAs</a:t>
            </a:r>
            <a:r>
              <a:rPr lang="pt-BR" sz="2000" dirty="0"/>
              <a:t> são dispositivos lógicos programáveis. Neles é possível descrever como o hardware vai se comportar.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  <p:pic>
        <p:nvPicPr>
          <p:cNvPr id="6" name="Picture 5" descr="de0_nano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910" y="2477936"/>
            <a:ext cx="5521816" cy="40761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82634" y="588713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endParaRPr lang="pt-BR" dirty="0"/>
          </a:p>
          <a:p>
            <a:pPr algn="ctr"/>
            <a:r>
              <a:rPr lang="pt-BR" dirty="0"/>
              <a:t>DE0-Nano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572000" y="2224650"/>
            <a:ext cx="3216803" cy="2584723"/>
            <a:chOff x="4572000" y="2224650"/>
            <a:chExt cx="3216803" cy="2584723"/>
          </a:xfrm>
        </p:grpSpPr>
        <p:sp>
          <p:nvSpPr>
            <p:cNvPr id="8" name="Oval 7"/>
            <p:cNvSpPr/>
            <p:nvPr/>
          </p:nvSpPr>
          <p:spPr>
            <a:xfrm>
              <a:off x="4572000" y="3199514"/>
              <a:ext cx="1609859" cy="1609859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" name="Straight Arrow Connector 9"/>
            <p:cNvCxnSpPr>
              <a:stCxn id="8" idx="7"/>
            </p:cNvCxnSpPr>
            <p:nvPr/>
          </p:nvCxnSpPr>
          <p:spPr>
            <a:xfrm flipV="1">
              <a:off x="5946101" y="2477936"/>
              <a:ext cx="1111522" cy="95733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7031865" y="2224650"/>
              <a:ext cx="7569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2000" b="1" dirty="0"/>
                <a:t>FPGA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51107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B322D9D9-4ACD-134F-8B01-A480D460837D}"/>
              </a:ext>
            </a:extLst>
          </p:cNvPr>
          <p:cNvSpPr txBox="1"/>
          <p:nvPr/>
        </p:nvSpPr>
        <p:spPr>
          <a:xfrm>
            <a:off x="457200" y="1400175"/>
            <a:ext cx="85064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Dois programas importantes no mercado para o design e a simulação de diversos comportamentos em dispositivos lógicos programáveis são: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Design e Simulação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BC74ED-D74A-5C02-2AD2-48A5AAC507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118A3F4-6CF2-05F8-0A21-94EDC5CA14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14875" y="2604777"/>
            <a:ext cx="3971925" cy="639762"/>
          </a:xfrm>
        </p:spPr>
        <p:txBody>
          <a:bodyPr/>
          <a:lstStyle/>
          <a:p>
            <a:pPr algn="ctr"/>
            <a:r>
              <a:rPr lang="en-BR" dirty="0"/>
              <a:t>AMD Vivado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962837-44C6-7AB9-C479-929885480A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225" y="2607952"/>
            <a:ext cx="3971925" cy="639762"/>
          </a:xfrm>
        </p:spPr>
        <p:txBody>
          <a:bodyPr/>
          <a:lstStyle/>
          <a:p>
            <a:pPr algn="ctr"/>
            <a:r>
              <a:rPr lang="en-BR" dirty="0"/>
              <a:t>Intel Quartus Prime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3394769"/>
            <a:ext cx="3971925" cy="2748855"/>
          </a:xfrm>
        </p:spPr>
        <p:txBody>
          <a:bodyPr>
            <a:normAutofit/>
          </a:bodyPr>
          <a:lstStyle/>
          <a:p>
            <a:endParaRPr lang="pt-BR" sz="24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1032213-6F66-93E6-EE3A-30E5639A44A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14875" y="3404294"/>
            <a:ext cx="3971925" cy="2748855"/>
          </a:xfrm>
        </p:spPr>
        <p:txBody>
          <a:bodyPr/>
          <a:lstStyle/>
          <a:p>
            <a:endParaRPr lang="en-US"/>
          </a:p>
        </p:txBody>
      </p:sp>
      <p:pic>
        <p:nvPicPr>
          <p:cNvPr id="19" name="Picture 18" descr="Entrada de projeto e implementação">
            <a:extLst>
              <a:ext uri="{FF2B5EF4-FFF2-40B4-BE49-F238E27FC236}">
                <a16:creationId xmlns:a16="http://schemas.microsoft.com/office/drawing/2014/main" id="{B12F8448-62FB-94FC-DC4E-8926ACE84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416" y="3373671"/>
            <a:ext cx="3781109" cy="2214279"/>
          </a:xfrm>
          <a:prstGeom prst="rect">
            <a:avLst/>
          </a:prstGeom>
        </p:spPr>
      </p:pic>
      <p:pic>
        <p:nvPicPr>
          <p:cNvPr id="20" name="Picture 19" descr="Quartus Prime Lite Flow">
            <a:extLst>
              <a:ext uri="{FF2B5EF4-FFF2-40B4-BE49-F238E27FC236}">
                <a16:creationId xmlns:a16="http://schemas.microsoft.com/office/drawing/2014/main" id="{CDCA6F41-FD84-E7AB-BA2A-A1A13C2FB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3373671"/>
            <a:ext cx="3914775" cy="21216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0889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Linguagens de Descrição de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202578" cy="4724400"/>
          </a:xfrm>
        </p:spPr>
        <p:txBody>
          <a:bodyPr>
            <a:normAutofit/>
          </a:bodyPr>
          <a:lstStyle/>
          <a:p>
            <a:r>
              <a:rPr lang="pt-BR" sz="2000" dirty="0"/>
              <a:t>Nand2Tetris HDL: Linguagem usada nos simuladores do curso Nand2Tetris, não suportada nas principais plataformas.</a:t>
            </a:r>
          </a:p>
          <a:p>
            <a:endParaRPr lang="pt-BR" sz="2000" dirty="0"/>
          </a:p>
          <a:p>
            <a:r>
              <a:rPr lang="pt-BR" sz="2000" dirty="0" err="1"/>
              <a:t>Verilog</a:t>
            </a:r>
            <a:r>
              <a:rPr lang="pt-BR" sz="2000" dirty="0"/>
              <a:t>: </a:t>
            </a:r>
            <a:r>
              <a:rPr lang="pt-BR" sz="2000" dirty="0" err="1"/>
              <a:t>Verilog</a:t>
            </a:r>
            <a:r>
              <a:rPr lang="pt-BR" sz="2000" dirty="0"/>
              <a:t> é uma HDL padronizada pela IEEE, sua evolução está incorporada ao </a:t>
            </a:r>
            <a:r>
              <a:rPr lang="pt-BR" sz="2000" dirty="0" err="1"/>
              <a:t>SystemVerilog</a:t>
            </a:r>
            <a:r>
              <a:rPr lang="pt-BR" sz="2000" dirty="0"/>
              <a:t>, IEEE 1800-2023. </a:t>
            </a:r>
          </a:p>
          <a:p>
            <a:endParaRPr lang="pt-BR" sz="2000" dirty="0"/>
          </a:p>
          <a:p>
            <a:r>
              <a:rPr lang="pt-BR" sz="2000" dirty="0"/>
              <a:t>VHDL: originalmente desenvolvida sob o comando do Departamento de Defesa (</a:t>
            </a:r>
            <a:r>
              <a:rPr lang="pt-BR" sz="2000" dirty="0" err="1"/>
              <a:t>DoD</a:t>
            </a:r>
            <a:r>
              <a:rPr lang="pt-BR" sz="2000" dirty="0"/>
              <a:t>) dos Estados Unidos (DARPA), atualmente padronizada pela IEEE </a:t>
            </a:r>
            <a:r>
              <a:rPr lang="en-BR" sz="2000" dirty="0"/>
              <a:t>1076-2019</a:t>
            </a:r>
            <a:r>
              <a:rPr lang="pt-BR" sz="2000" dirty="0"/>
              <a:t>.</a:t>
            </a:r>
          </a:p>
          <a:p>
            <a:endParaRPr lang="pt-BR" sz="2000" dirty="0"/>
          </a:p>
          <a:p>
            <a:r>
              <a:rPr lang="pt-BR" sz="2000" dirty="0" err="1"/>
              <a:t>MyHDL</a:t>
            </a:r>
            <a:r>
              <a:rPr lang="pt-BR" sz="2000" dirty="0"/>
              <a:t>: </a:t>
            </a:r>
            <a:r>
              <a:rPr lang="en-BR" sz="2000" dirty="0"/>
              <a:t>biblioteca em Python para descrever, simular e verificar circuitos digitais.</a:t>
            </a:r>
            <a:endParaRPr lang="pt-BR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457200" y="6033840"/>
            <a:ext cx="84678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VHDL e </a:t>
            </a:r>
            <a:r>
              <a:rPr lang="pt-BR" sz="2000" b="1" dirty="0" err="1">
                <a:solidFill>
                  <a:srgbClr val="FF0000"/>
                </a:solidFill>
              </a:rPr>
              <a:t>Verilog</a:t>
            </a:r>
            <a:r>
              <a:rPr lang="pt-BR" sz="2000" b="1" dirty="0">
                <a:solidFill>
                  <a:srgbClr val="FF0000"/>
                </a:solidFill>
              </a:rPr>
              <a:t> são as duas linguagens de descrição de hardware dominantes.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7225" y="4836018"/>
            <a:ext cx="8016696" cy="864474"/>
          </a:xfrm>
          <a:prstGeom prst="roundRect">
            <a:avLst>
              <a:gd name="adj" fmla="val 12677"/>
            </a:avLst>
          </a:prstGeom>
          <a:noFill/>
          <a:ln w="57150" cmpd="sng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161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chip NOT em VHDL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68280"/>
          </a:xfrm>
        </p:spPr>
        <p:txBody>
          <a:bodyPr/>
          <a:lstStyle/>
          <a:p>
            <a:r>
              <a:rPr lang="pt-BR" dirty="0"/>
              <a:t>Implementação de um chip </a:t>
            </a:r>
            <a:r>
              <a:rPr lang="pt-BR" b="1" dirty="0" err="1"/>
              <a:t>Not</a:t>
            </a:r>
            <a:r>
              <a:rPr lang="pt-BR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12</a:t>
            </a:fld>
            <a:endParaRPr lang="pt-BR" dirty="0"/>
          </a:p>
        </p:txBody>
      </p:sp>
      <p:sp>
        <p:nvSpPr>
          <p:cNvPr id="8" name="Rectangle 7"/>
          <p:cNvSpPr/>
          <p:nvPr/>
        </p:nvSpPr>
        <p:spPr>
          <a:xfrm>
            <a:off x="524176" y="2308739"/>
            <a:ext cx="4459947" cy="2677656"/>
          </a:xfrm>
          <a:prstGeom prst="rect">
            <a:avLst/>
          </a:prstGeom>
          <a:ln>
            <a:solidFill>
              <a:schemeClr val="tx2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library </a:t>
            </a:r>
            <a:r>
              <a:rPr lang="en-US" sz="1400" noProof="1">
                <a:solidFill>
                  <a:srgbClr val="C00000"/>
                </a:solidFill>
                <a:latin typeface="Courier" charset="0"/>
                <a:ea typeface="Courier" charset="0"/>
                <a:cs typeface="Courier" charset="0"/>
              </a:rPr>
              <a:t>IEEE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use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noProof="1">
                <a:solidFill>
                  <a:srgbClr val="C00000"/>
                </a:solidFill>
                <a:latin typeface="Courier" charset="0"/>
                <a:ea typeface="Courier" charset="0"/>
                <a:cs typeface="Courier" charset="0"/>
              </a:rPr>
              <a:t>IEEE.STD_LOGIC_1164.ALL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entity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chip_not </a:t>
            </a:r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is</a:t>
            </a:r>
          </a:p>
          <a:p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port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(</a:t>
            </a:r>
          </a:p>
          <a:p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        a : </a:t>
            </a:r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en-US" sz="1400" noProof="1">
                <a:solidFill>
                  <a:srgbClr val="C00000"/>
                </a:solidFill>
                <a:latin typeface="Courier" charset="0"/>
                <a:ea typeface="Courier" charset="0"/>
                <a:cs typeface="Courier" charset="0"/>
              </a:rPr>
              <a:t>STD_LOGIC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	     q : </a:t>
            </a:r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out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noProof="1">
                <a:solidFill>
                  <a:srgbClr val="C00000"/>
                </a:solidFill>
                <a:latin typeface="Courier" charset="0"/>
                <a:ea typeface="Courier" charset="0"/>
                <a:cs typeface="Courier" charset="0"/>
              </a:rPr>
              <a:t>STD_LOGIC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end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entity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endParaRPr lang="en-US" sz="1400" noProof="1"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architecture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arch_not </a:t>
            </a:r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of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chip_not </a:t>
            </a:r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is</a:t>
            </a:r>
          </a:p>
          <a:p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begin</a:t>
            </a:r>
          </a:p>
          <a:p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	q &lt;= </a:t>
            </a:r>
            <a:r>
              <a:rPr lang="en-US" sz="1400" noProof="1">
                <a:solidFill>
                  <a:srgbClr val="C00000"/>
                </a:solidFill>
                <a:latin typeface="Courier" charset="0"/>
                <a:ea typeface="Courier" charset="0"/>
                <a:cs typeface="Courier" charset="0"/>
              </a:rPr>
              <a:t>not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a;</a:t>
            </a:r>
          </a:p>
          <a:p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end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noProof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architecture</a:t>
            </a:r>
            <a:r>
              <a:rPr lang="en-US" sz="1400" noProof="1">
                <a:latin typeface="Courier" charset="0"/>
                <a:ea typeface="Courier" charset="0"/>
                <a:cs typeface="Courier" charset="0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528" y="3348025"/>
            <a:ext cx="4010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noProof="1">
                <a:solidFill>
                  <a:srgbClr val="FF0000"/>
                </a:solidFill>
              </a:rPr>
              <a:t>q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864" y="3132304"/>
            <a:ext cx="2133600" cy="11557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42218" y="3348024"/>
            <a:ext cx="3818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noProof="1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73525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Numeração dos Bits em Barramentos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Muitas vezes precisamos usar diversos bits ao mesmo tempo, para isso usamos </a:t>
            </a:r>
            <a:r>
              <a:rPr lang="pt-BR" sz="2000" b="1" dirty="0"/>
              <a:t>Barramentos</a:t>
            </a:r>
            <a:r>
              <a:rPr lang="pt-BR" sz="2000" dirty="0"/>
              <a:t>. Os bits dos barramentos em geral são numerados da direita para a esquerda, começando com 0. </a:t>
            </a:r>
          </a:p>
          <a:p>
            <a:r>
              <a:rPr lang="pt-BR" sz="2000" dirty="0"/>
              <a:t>Por exemplo, para o byte (8 bits) 01001110.</a:t>
            </a:r>
          </a:p>
          <a:p>
            <a:r>
              <a:rPr lang="pt-BR" sz="2000" dirty="0"/>
              <a:t>Teremos dado(7) = 0, dado(6) = 1, dado(5) = 0, dado(4) = 0, dado(3) = 1, dado(2) = 1, dado(1) = 1, dado(0) = 0.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13</a:t>
            </a:fld>
            <a:endParaRPr lang="pt-BR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37462"/>
              </p:ext>
            </p:extLst>
          </p:nvPr>
        </p:nvGraphicFramePr>
        <p:xfrm>
          <a:off x="1536700" y="4358717"/>
          <a:ext cx="609600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pt-BR" dirty="0"/>
                        <a:t>índice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↓</a:t>
                      </a:r>
                      <a:endParaRPr lang="pt-BR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77182" y="5450202"/>
            <a:ext cx="734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dado:</a:t>
            </a:r>
          </a:p>
        </p:txBody>
      </p:sp>
    </p:spTree>
    <p:extLst>
      <p:ext uri="{BB962C8B-B14F-4D97-AF65-F5344CB8AC3E}">
        <p14:creationId xmlns:p14="http://schemas.microsoft.com/office/powerpoint/2010/main" val="3664810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Depois de testado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O sistema pode ser validado e usado fisicamente em </a:t>
            </a:r>
            <a:r>
              <a:rPr lang="pt-BR" sz="2000" dirty="0" err="1"/>
              <a:t>FPGAs</a:t>
            </a:r>
            <a:r>
              <a:rPr lang="pt-BR" sz="2000" dirty="0"/>
              <a:t>. Porém caso seja um produto para uso em massa, o design pode ser enviado para uma fábrica que produzirá o chip em larga escala (ASIC).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14</a:t>
            </a:fld>
            <a:endParaRPr lang="pt-BR" dirty="0"/>
          </a:p>
        </p:txBody>
      </p:sp>
      <p:pic>
        <p:nvPicPr>
          <p:cNvPr id="6" name="Picture 5" descr="wafer_smal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12" y="3171825"/>
            <a:ext cx="40640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44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08088-DC8F-E8AF-1B11-C6505416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Multiplexador (</a:t>
            </a:r>
            <a:r>
              <a:rPr lang="pt-BR" noProof="0" dirty="0" err="1"/>
              <a:t>Mux</a:t>
            </a:r>
            <a:r>
              <a:rPr lang="pt-BR" noProof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73ABF-B029-66FE-CA81-78929C488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O </a:t>
            </a:r>
            <a:r>
              <a:rPr lang="pt-BR" sz="2400" noProof="0" dirty="0" err="1"/>
              <a:t>mux</a:t>
            </a:r>
            <a:r>
              <a:rPr lang="pt-BR" sz="2400" noProof="0" dirty="0"/>
              <a:t> como é chamado o Multiplexador é um componente que possui </a:t>
            </a:r>
            <a:r>
              <a:rPr lang="pt-BR" sz="2400" noProof="0" dirty="0" err="1"/>
              <a:t>n</a:t>
            </a:r>
            <a:r>
              <a:rPr lang="pt-BR" sz="2400" noProof="0" dirty="0"/>
              <a:t> entradas e uma saída </a:t>
            </a:r>
            <a:r>
              <a:rPr lang="pt-BR" sz="2400" noProof="0" dirty="0" err="1"/>
              <a:t>q</a:t>
            </a:r>
            <a:r>
              <a:rPr lang="pt-BR" sz="2400" noProof="0" dirty="0"/>
              <a:t>, um sinal chamado de seletor </a:t>
            </a:r>
            <a:r>
              <a:rPr lang="pt-BR" sz="2400" noProof="0" dirty="0" err="1"/>
              <a:t>sel</a:t>
            </a:r>
            <a:r>
              <a:rPr lang="pt-BR" sz="2400" noProof="0" dirty="0"/>
              <a:t> seleciona qual entrada irá ser copiada para a saída.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DCB57-9FA6-4B96-FD7B-1968BF1A9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EE89D-90F4-52CB-97CB-12EAEF40E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15</a:t>
            </a:fld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59A6FD-45F9-E72C-CF97-EB970400F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42" y="3533998"/>
            <a:ext cx="6752516" cy="267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478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F1A7B-D0AC-906A-63E6-2F0F609C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Demultiplexador</a:t>
            </a:r>
            <a:r>
              <a:rPr lang="pt-BR" noProof="0" dirty="0"/>
              <a:t> (</a:t>
            </a:r>
            <a:r>
              <a:rPr lang="pt-BR" noProof="0" dirty="0" err="1"/>
              <a:t>demux</a:t>
            </a:r>
            <a:r>
              <a:rPr lang="pt-BR" noProof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8F5B7-2AAA-AE45-3F7B-C6A7316F5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É similar ao </a:t>
            </a:r>
            <a:r>
              <a:rPr lang="pt-BR" sz="2400" noProof="0" dirty="0" err="1"/>
              <a:t>mux</a:t>
            </a:r>
            <a:r>
              <a:rPr lang="pt-BR" sz="2400" noProof="0" dirty="0"/>
              <a:t> só que possui uma entrada in e </a:t>
            </a:r>
            <a:r>
              <a:rPr lang="pt-BR" sz="2400" noProof="0" dirty="0" err="1"/>
              <a:t>n</a:t>
            </a:r>
            <a:r>
              <a:rPr lang="pt-BR" sz="2400" noProof="0" dirty="0"/>
              <a:t> saídas </a:t>
            </a:r>
            <a:r>
              <a:rPr lang="pt-BR" sz="2400" noProof="0" dirty="0" err="1"/>
              <a:t>q</a:t>
            </a:r>
            <a:r>
              <a:rPr lang="pt-BR" sz="2400" noProof="0" dirty="0"/>
              <a:t>, o </a:t>
            </a:r>
            <a:r>
              <a:rPr lang="pt-BR" sz="2400" noProof="0" dirty="0" err="1"/>
              <a:t>demux</a:t>
            </a:r>
            <a:r>
              <a:rPr lang="pt-BR" sz="2400" noProof="0" dirty="0"/>
              <a:t> conecta a entrada a alguma das saídas, sendo controlado pelo seletor.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0C4B7-DA4D-47A5-0DDA-55C016C5E2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02EA2-05B1-3C56-BACC-D33E0B26D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16</a:t>
            </a:fld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AC6D55-D1D3-38E5-9EE2-F22470D2E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71" y="3429000"/>
            <a:ext cx="6369858" cy="277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45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DA95-69AA-5F92-CBC7-C00C9377C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Enconders</a:t>
            </a:r>
            <a:endParaRPr lang="pt-B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E9FEB-7DD9-35BD-15D4-7C0160FA6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noProof="0" dirty="0" err="1"/>
              <a:t>Enconders</a:t>
            </a:r>
            <a:r>
              <a:rPr lang="pt-BR" sz="2800" noProof="0" dirty="0"/>
              <a:t> são componentes que codificam uma entrada em uma saída de outro formato, algum exemplos são:</a:t>
            </a:r>
          </a:p>
          <a:p>
            <a:endParaRPr lang="pt-BR" sz="2800" noProof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</a:t>
            </a:r>
            <a:r>
              <a:rPr lang="en-BR" sz="2800" dirty="0"/>
              <a:t>odificador </a:t>
            </a:r>
            <a:r>
              <a:rPr lang="pt-BR" sz="2800" noProof="0" dirty="0"/>
              <a:t>BCD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</a:t>
            </a:r>
            <a:r>
              <a:rPr lang="en-BR" sz="2800" dirty="0"/>
              <a:t>odificador </a:t>
            </a:r>
            <a:r>
              <a:rPr lang="pt-BR" sz="2800" noProof="0" dirty="0"/>
              <a:t>Gray </a:t>
            </a:r>
            <a:r>
              <a:rPr lang="pt-BR" sz="2800" noProof="0" dirty="0" err="1"/>
              <a:t>code</a:t>
            </a:r>
            <a:endParaRPr lang="pt-BR" sz="2800" noProof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</a:t>
            </a:r>
            <a:r>
              <a:rPr lang="en-BR" sz="2800" dirty="0"/>
              <a:t>odificador </a:t>
            </a:r>
            <a:r>
              <a:rPr lang="pt-BR" sz="2800" noProof="0" dirty="0" err="1"/>
              <a:t>SevenSeg</a:t>
            </a:r>
            <a:endParaRPr lang="pt-BR" sz="2800" noProof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noProof="0" dirty="0" err="1"/>
              <a:t>Priority</a:t>
            </a:r>
            <a:r>
              <a:rPr lang="pt-BR" sz="2800" noProof="0" dirty="0"/>
              <a:t> </a:t>
            </a:r>
            <a:r>
              <a:rPr lang="pt-BR" sz="2800" noProof="0" dirty="0" err="1"/>
              <a:t>Encoder</a:t>
            </a:r>
            <a:endParaRPr lang="pt-BR" sz="2800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CE823-ECA0-1D71-8CA9-E878F350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05244-5833-2D41-7902-B811E7FF6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4745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EA591-7AD5-53BF-2C0C-206EE0A6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FE5E5C-C80A-4D8D-A711-3102A7BA9258}" type="slidenum">
              <a:rPr lang="pt-BR" smtClean="0"/>
              <a:pPr>
                <a:spcAft>
                  <a:spcPts val="600"/>
                </a:spcAft>
              </a:pPr>
              <a:t>18</a:t>
            </a:fld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494D8-D83B-23EE-9622-573833A3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</p:spPr>
        <p:txBody>
          <a:bodyPr>
            <a:normAutofit/>
          </a:bodyPr>
          <a:lstStyle/>
          <a:p>
            <a:r>
              <a:rPr lang="pt-BR" noProof="0" dirty="0"/>
              <a:t>BCD 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99B8D1C-1291-D711-6EAA-F23F4E59ED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BFAA5-9093-AA09-8527-BA5877B62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506828"/>
            <a:ext cx="3971925" cy="4636797"/>
          </a:xfrm>
        </p:spPr>
        <p:txBody>
          <a:bodyPr>
            <a:normAutofit/>
          </a:bodyPr>
          <a:lstStyle/>
          <a:p>
            <a:r>
              <a:rPr lang="pt-BR" sz="2000" noProof="0" dirty="0" err="1"/>
              <a:t>Binary-coded</a:t>
            </a:r>
            <a:r>
              <a:rPr lang="pt-BR" sz="2000" noProof="0" dirty="0"/>
              <a:t> decimal (BCD) é uma forma de codificação de números inteiros em binário na qual utiliza-se para cada dígito de um número inteiro, 4 bits em binário.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FC8C62-0621-6FA1-30FF-9F7898000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929713"/>
              </p:ext>
            </p:extLst>
          </p:nvPr>
        </p:nvGraphicFramePr>
        <p:xfrm>
          <a:off x="4844360" y="1516353"/>
          <a:ext cx="3712955" cy="4636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21716">
                  <a:extLst>
                    <a:ext uri="{9D8B030D-6E8A-4147-A177-3AD203B41FA5}">
                      <a16:colId xmlns:a16="http://schemas.microsoft.com/office/drawing/2014/main" val="233899829"/>
                    </a:ext>
                  </a:extLst>
                </a:gridCol>
                <a:gridCol w="1791239">
                  <a:extLst>
                    <a:ext uri="{9D8B030D-6E8A-4147-A177-3AD203B41FA5}">
                      <a16:colId xmlns:a16="http://schemas.microsoft.com/office/drawing/2014/main" val="2391232117"/>
                    </a:ext>
                  </a:extLst>
                </a:gridCol>
              </a:tblGrid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Decimal Number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BCD 8421 Code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372087973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0000 0000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1776777696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01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0000 0001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259132928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02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0000 0010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318824667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03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0000 0011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2489272812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04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0000 0100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3272994536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05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0000 0101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656072195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06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0000 0110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1258286986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07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0000 0111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2003585228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08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0000 1000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2263866108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09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0000 1001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3631356684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10 (1+0)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0001 0000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781208653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11 (1+1)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0001 0001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3937660874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12 (1+2)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0001 0010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1838795467"/>
                  </a:ext>
                </a:extLst>
              </a:tr>
              <a:tr h="30912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continua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100">
                          <a:effectLst/>
                        </a:rPr>
                        <a:t>em blocos de 4</a:t>
                      </a:r>
                      <a:endParaRPr lang="en-BR" sz="11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65785" marR="65785" marT="32892" marB="32892" anchor="ctr"/>
                </a:tc>
                <a:extLst>
                  <a:ext uri="{0D108BD9-81ED-4DB2-BD59-A6C34878D82A}">
                    <a16:rowId xmlns:a16="http://schemas.microsoft.com/office/drawing/2014/main" val="343163330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B6667E5-F7FA-F59C-AA83-AB8C4AF54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4423696"/>
            <a:ext cx="3971925" cy="165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22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1FAE2F-B181-4692-07F6-38F5D26C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FE5E5C-C80A-4D8D-A711-3102A7BA9258}" type="slidenum">
              <a:rPr lang="pt-BR" smtClean="0"/>
              <a:pPr>
                <a:spcAft>
                  <a:spcPts val="600"/>
                </a:spcAft>
              </a:pPr>
              <a:t>19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C4EE28-97CE-2CFF-DF64-1AF960165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</p:spPr>
        <p:txBody>
          <a:bodyPr>
            <a:normAutofit/>
          </a:bodyPr>
          <a:lstStyle/>
          <a:p>
            <a:r>
              <a:rPr lang="pt-BR" noProof="0" dirty="0"/>
              <a:t>Código Gray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5AB44AC-D4A6-D188-B654-D574D979E1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A8B4B1A-D198-4E98-14B3-C4DF44C4EC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14875" y="1484313"/>
            <a:ext cx="3971925" cy="639762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6A90177-2EA6-09D9-668F-37D959A255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225" y="1487488"/>
            <a:ext cx="3971925" cy="639762"/>
          </a:xfrm>
        </p:spPr>
        <p:txBody>
          <a:bodyPr/>
          <a:lstStyle/>
          <a:p>
            <a:endParaRPr lang="pt-BR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56830B-71D2-73B9-8785-3546C8406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</p:spPr>
        <p:txBody>
          <a:bodyPr>
            <a:normAutofit/>
          </a:bodyPr>
          <a:lstStyle/>
          <a:p>
            <a:r>
              <a:rPr lang="pt-BR" sz="2400" noProof="0" dirty="0"/>
              <a:t>O código </a:t>
            </a:r>
            <a:r>
              <a:rPr lang="pt-BR" sz="2400" dirty="0"/>
              <a:t>G</a:t>
            </a:r>
            <a:r>
              <a:rPr lang="pt-BR" sz="2400" noProof="0" dirty="0" err="1"/>
              <a:t>ray</a:t>
            </a:r>
            <a:r>
              <a:rPr lang="pt-BR" sz="2400" noProof="0" dirty="0"/>
              <a:t> é uma forma de codificar números binários, nessa codificação apenas um bit muda por vez.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15569E0-DA1D-1B65-2D55-636D101EA03D}"/>
              </a:ext>
            </a:extLst>
          </p:cNvPr>
          <p:cNvGraphicFramePr>
            <a:graphicFrameLocks noGrp="1"/>
          </p:cNvGraphicFramePr>
          <p:nvPr>
            <p:ph idx="17"/>
            <p:extLst>
              <p:ext uri="{D42A27DB-BD31-4B8C-83A1-F6EECF244321}">
                <p14:modId xmlns:p14="http://schemas.microsoft.com/office/powerpoint/2010/main" val="1547473673"/>
              </p:ext>
            </p:extLst>
          </p:nvPr>
        </p:nvGraphicFramePr>
        <p:xfrm>
          <a:off x="4731316" y="2190750"/>
          <a:ext cx="3939045" cy="3962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15">
                  <a:extLst>
                    <a:ext uri="{9D8B030D-6E8A-4147-A177-3AD203B41FA5}">
                      <a16:colId xmlns:a16="http://schemas.microsoft.com/office/drawing/2014/main" val="1411339553"/>
                    </a:ext>
                  </a:extLst>
                </a:gridCol>
                <a:gridCol w="1313015">
                  <a:extLst>
                    <a:ext uri="{9D8B030D-6E8A-4147-A177-3AD203B41FA5}">
                      <a16:colId xmlns:a16="http://schemas.microsoft.com/office/drawing/2014/main" val="3457231401"/>
                    </a:ext>
                  </a:extLst>
                </a:gridCol>
                <a:gridCol w="1313015">
                  <a:extLst>
                    <a:ext uri="{9D8B030D-6E8A-4147-A177-3AD203B41FA5}">
                      <a16:colId xmlns:a16="http://schemas.microsoft.com/office/drawing/2014/main" val="3668168679"/>
                    </a:ext>
                  </a:extLst>
                </a:gridCol>
              </a:tblGrid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Código decimal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Código Binário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Código Gray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1799702239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0000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0000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4250520859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0001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0001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4155400893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2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0010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0011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711336413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3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0011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0010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825298732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4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0100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0110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931028154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5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0101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0111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916379269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6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0110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0101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852080550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7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0111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0100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3786094028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8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1000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1100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2302204143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9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1001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1101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651304917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1010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1111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794139719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1011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1110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1977628135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12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1100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1010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3854901919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13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1101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1011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1620640664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14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1110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1001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2336759547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15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1111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000">
                          <a:effectLst/>
                        </a:rPr>
                        <a:t>1000</a:t>
                      </a:r>
                      <a:endParaRPr lang="en-BR" sz="10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45670" marR="45670" marT="22835" marB="22835" anchor="ctr"/>
                </a:tc>
                <a:extLst>
                  <a:ext uri="{0D108BD9-81ED-4DB2-BD59-A6C34878D82A}">
                    <a16:rowId xmlns:a16="http://schemas.microsoft.com/office/drawing/2014/main" val="3305213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568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63FAC2-6ED8-9F2C-2D6A-9CAC47D1C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FE5E5C-C80A-4D8D-A711-3102A7BA9258}" type="slidenum">
              <a:rPr lang="pt-BR" smtClean="0"/>
              <a:pPr>
                <a:spcAft>
                  <a:spcPts val="600"/>
                </a:spcAft>
              </a:pPr>
              <a:t>20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B954C1-7FD6-EB9D-5B55-78898FBE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</p:spPr>
        <p:txBody>
          <a:bodyPr>
            <a:normAutofit/>
          </a:bodyPr>
          <a:lstStyle/>
          <a:p>
            <a:r>
              <a:rPr lang="pt-BR" noProof="0" dirty="0"/>
              <a:t>Comparador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54E69C4-BCDC-E371-FDDA-E45F7A1A86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67EF203-559F-6C2C-C283-B49B797C98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14875" y="1484313"/>
            <a:ext cx="3971925" cy="639762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3AC2F7C-8E8B-73D5-8DDA-8FB0303CDF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225" y="1487488"/>
            <a:ext cx="3971925" cy="63976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54B82D-0BA7-B0AB-A4F8-24C4438EF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181225"/>
            <a:ext cx="4171952" cy="3962400"/>
          </a:xfrm>
        </p:spPr>
        <p:txBody>
          <a:bodyPr>
            <a:normAutofit/>
          </a:bodyPr>
          <a:lstStyle/>
          <a:p>
            <a:r>
              <a:rPr lang="pt-BR" noProof="0" dirty="0"/>
              <a:t>Comparadores são componentes que podem possuir diversos atributos, tais como comparar: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noProof="0" dirty="0"/>
              <a:t>se duas entradas são iguais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noProof="0" dirty="0"/>
              <a:t>se a entrada A é maior que entrada </a:t>
            </a:r>
            <a:r>
              <a:rPr lang="pt-BR" noProof="0" dirty="0" err="1"/>
              <a:t>B</a:t>
            </a:r>
            <a:endParaRPr lang="pt-BR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noProof="0" dirty="0"/>
              <a:t>se entrada A é igual a zero</a:t>
            </a:r>
          </a:p>
          <a:p>
            <a:endParaRPr lang="pt-BR" noProof="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B1C345E-0442-E489-135E-EE689DD2B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956046"/>
              </p:ext>
            </p:extLst>
          </p:nvPr>
        </p:nvGraphicFramePr>
        <p:xfrm>
          <a:off x="4714875" y="3026626"/>
          <a:ext cx="3971927" cy="22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998">
                  <a:extLst>
                    <a:ext uri="{9D8B030D-6E8A-4147-A177-3AD203B41FA5}">
                      <a16:colId xmlns:a16="http://schemas.microsoft.com/office/drawing/2014/main" val="3575880719"/>
                    </a:ext>
                  </a:extLst>
                </a:gridCol>
                <a:gridCol w="1314186">
                  <a:extLst>
                    <a:ext uri="{9D8B030D-6E8A-4147-A177-3AD203B41FA5}">
                      <a16:colId xmlns:a16="http://schemas.microsoft.com/office/drawing/2014/main" val="264715419"/>
                    </a:ext>
                  </a:extLst>
                </a:gridCol>
                <a:gridCol w="659541">
                  <a:extLst>
                    <a:ext uri="{9D8B030D-6E8A-4147-A177-3AD203B41FA5}">
                      <a16:colId xmlns:a16="http://schemas.microsoft.com/office/drawing/2014/main" val="3906542091"/>
                    </a:ext>
                  </a:extLst>
                </a:gridCol>
                <a:gridCol w="590202">
                  <a:extLst>
                    <a:ext uri="{9D8B030D-6E8A-4147-A177-3AD203B41FA5}">
                      <a16:colId xmlns:a16="http://schemas.microsoft.com/office/drawing/2014/main" val="4058494072"/>
                    </a:ext>
                  </a:extLst>
                </a:gridCol>
              </a:tblGrid>
              <a:tr h="45813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x (inteiro)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x binário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eq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gt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extLst>
                  <a:ext uri="{0D108BD9-81ED-4DB2-BD59-A6C34878D82A}">
                    <a16:rowId xmlns:a16="http://schemas.microsoft.com/office/drawing/2014/main" val="746255149"/>
                  </a:ext>
                </a:extLst>
              </a:tr>
              <a:tr h="45813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0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00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1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0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extLst>
                  <a:ext uri="{0D108BD9-81ED-4DB2-BD59-A6C34878D82A}">
                    <a16:rowId xmlns:a16="http://schemas.microsoft.com/office/drawing/2014/main" val="549464612"/>
                  </a:ext>
                </a:extLst>
              </a:tr>
              <a:tr h="45813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1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01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0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1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extLst>
                  <a:ext uri="{0D108BD9-81ED-4DB2-BD59-A6C34878D82A}">
                    <a16:rowId xmlns:a16="http://schemas.microsoft.com/office/drawing/2014/main" val="3070423209"/>
                  </a:ext>
                </a:extLst>
              </a:tr>
              <a:tr h="45813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-1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11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0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0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extLst>
                  <a:ext uri="{0D108BD9-81ED-4DB2-BD59-A6C34878D82A}">
                    <a16:rowId xmlns:a16="http://schemas.microsoft.com/office/drawing/2014/main" val="1430254485"/>
                  </a:ext>
                </a:extLst>
              </a:tr>
              <a:tr h="45813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-2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10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0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BR" sz="1900">
                          <a:effectLst/>
                        </a:rPr>
                        <a:t>0</a:t>
                      </a:r>
                      <a:endParaRPr lang="en-BR" sz="1900" b="0" i="0">
                        <a:solidFill>
                          <a:srgbClr val="090A11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17469" marR="117469" marT="58735" marB="58735" anchor="ctr"/>
                </a:tc>
                <a:extLst>
                  <a:ext uri="{0D108BD9-81ED-4DB2-BD59-A6C34878D82A}">
                    <a16:rowId xmlns:a16="http://schemas.microsoft.com/office/drawing/2014/main" val="192146037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CB824D2-0663-CF65-482A-E08A2A51B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4643408"/>
            <a:ext cx="3877525" cy="18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01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prism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23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MIXSHAPE" val="AAEAAAD/////AQAAAAAAAAAMAgAAAE9BdXRob3JQUFQsIFZlcnNpb249MC4xLjU3MjAuMCwgQ3VsdHVyZT1uZXV0cmFsLCBQdWJsaWNLZXlUb2tlbj0zMWJmMzg1NmFkMzY0ZTM1BQEAAAALSW5rTWF0dGVyVjEEAAAABVNjYWxlDUxpc3RgMStfaXRlbXMMTGlzdGAxK19zaXplD0xpc3RgMStfdmVyc2lvbgAEAAALF1NoYXJlZC5JbmtpbmcuSW5rQXRvbVtdAgAAAAgIAgAAAHP+OT8JAwAAAAEAAAAJAAAABwMAAAAAAQAAAAQAAAAECUlua0F0b21WMQIAAAAJBAAAAA0DBQQAAAALUGVuU3Ryb2tlVjEEAAAACkF0dHJpYnV0ZXMFVHJhY2UJU3RhcnRUaW1lBFR5cGUEBAAED1BlbkF0dHJpYnV0ZXNWMQIAAAAKSW5rVHJhY2VWMQIAAAAQDEFjdGlvblR5cGVWMQIAAAACAAAACQUAAAAJBgAAAFIlAAAAAAAABfn///8MQWN0aW9uVHlwZVYxAQAAAAd2YWx1ZV9fAAgCAAAAAAAAAAUFAAAAD1BlbkF0dHJpYnV0ZXNWMQoAAAAHX2NvbG9yQQdfY29sb3JSB19jb2xvckcHX2NvbG9yQgpGaXRUb0N1cnZlBkhlaWdodA5JZ25vcmVQcmVzc3VyZQ1Jc0hpZ2hsaWdodGVyBVNoYXBlBVdpZHRoAAAAAAAAAAAEAAICAgIBBgEBDEJydXNoU2hhcGVWMQIAAAAGAgAAAP//AAAAAAAAAAAACEAAAAX4////DEJydXNoU2hhcGVWMQEAAAAHdmFsdWVfXwAIAgAAAAEAAAAAAAAAAAAIQAUGAAAACklua1RyYWNlVjEDAAAADUxpc3RgMStfaXRlbXMMTGlzdGAxK19zaXplD0xpc3RgMStfdmVyc2lvbgQAABhTaGFyZWQuSW5raW5nLklua1BvaW50W10CAAAACAgCAAAACQkAAAAdAAAAHQAAAAcJAAAAAAEAAAAgAAAABApJbmtQb2ludFYxAgAAAAkKAAAACQsAAAAJDAAAAAkNAAAACQ4AAAAJDwAAAAkQAAAACREAAAAJEgAAAAkTAAAACRQAAAAJFQAAAAkWAAAACRcAAAAJGAAAAAkZAAAACRoAAAAJGwAAAAkcAAAACR0AAAAJHgAAAAkfAAAACSAAAAAJIQAAAAkiAAAACSMAAAAJJAAAAAklAAAACSYAAAANAwUKAAAACklua1BvaW50VjEEAAAAAVgBWQ5QcmVzc3VyZUZhY3RvcglUaW1lU3RhbXAAAAAABgYLEAIAAAAA9e53xtStP3AtvEtJ0O0/AAAAPwAAAAAAAAAAAQsAAAAKAAAAADD49tpWuD9wLbxLSdDtPwAAAD8AAAAAAAAAAAEMAAAACgAAAABz/Fip4cA/cC28S0nQ7T8AAAA/uwAAAAAAAAABDQAAAAoAAACAKf0TIU7KP/C9yW8HDes/AAAAP8sAAAAAAAAAAQ4AAAAKAAAAoO9+Z0zd0T9AhtCBZqvpPwAAAD/LAAAAAAAAAAEPAAAACgAAAKDvfmdM3dE/gE7Xk8VJ6D8AAAA/2wAAAAAAAAABEAAAAAoAAACASv9EiJPWP8AW3qUk6OY/AAAAP9sAAAAAAAAAAREAAAAKAAAA4He/M6bu2D9Ap+vJ4iTkPwAAAD/qAAAAAAAAAAESAAAACgAAAMDSPxHipN0/QKfryeIk5D8AAAA/6gAAAAAAAAABEwAAAAoAAADA0j8R4qTdP4Bv8ttBw+I/AAAAP/oAAAAAAAAAARQAAAAKAAAAIAAAAAAA4D/QN/ntoGHhPwAAAD/6AAAAAAAAAAEVAAAACgAAANAWYPeOLeE/0Df57aBh4T8AAAA/CQEAAAAAAAABFgAAAAoAAACQLcDuHVviPxAAAAAAAOA/AAAAPwkBAAAAAAAAARcAAAAKAAAAkC3A7h1b4j+gkA0kvjzdPwAAAD8ZAQAAAAAAAAEYAAAACgAAAEBEIOasiOM/oJANJL483T8AAAA/GQEAAAAAAAABGQAAAAoAAAAQW4DdO7bkPyAhG0h8edo/AAAAPykBAAAAAAAAARoAAAAKAAAAsHHg1Mrj5T+gsShsOrbXPwAAAD8pAQAAAAAAAAEbAAAACgAAAICIQMxZEec/IEI2kPjy1D8AAAA/OAEAAAAAAAABHAAAAAoAAAAwn6DD6D7oP8DSQ7S2L9I/AAAAP0gBAAAAAAAAAR0AAAAKAAAAMJ+gw+g+6D8AxqKw6djOPwAAAD9YAQAAAAAAAAEeAAAACgAAAPC1ALt3bOk/AMaisOnYzj8AAAA/WAEAAAAAAAABHwAAAAoAAADwtQC7d2zpPwDnvfhlUsk/AAAAP2cBAAAAAAAAASAAAAAKAAAAoMxgsgaa6j8A5734ZVLJPwAAAD+WAQAAAAAAAAEhAAAACgAAAKDMYLIGmuo/QAjZQOLLwz8AAAA/CQIAAAAAAAABIgAAAAoAAACgzGCyBprqP4BS6BG9irw/AAAAP1cCAAAAAAAAASMAAAAKAAAAYOPAqZXH6z+AUugRvYq8PwAAAD+GAgAAAAAAAAEkAAAACgAAAGDjwKmVx+s/gJQeorV9sT8AAAA/hgIAAAAAAAABJQAAAAoAAAAQ+iChJPXsP4CUHqK1fbE/AAAAP9QCAAAAAAAAASYAAAAKAAAA0BCBmLMi7j+AlB6itX2xPwAAAD/kAgAAAAAAAAs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25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23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.043"/>
</p:tagLst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22175</TotalTime>
  <Words>2639</Words>
  <Application>Microsoft Macintosh PowerPoint</Application>
  <PresentationFormat>On-screen Show (4:3)</PresentationFormat>
  <Paragraphs>405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Courier</vt:lpstr>
      <vt:lpstr>Open Sans</vt:lpstr>
      <vt:lpstr>Verdana</vt:lpstr>
      <vt:lpstr>Personalizar design</vt:lpstr>
      <vt:lpstr>PowerPoint Presentation</vt:lpstr>
      <vt:lpstr>Konrad Zuse</vt:lpstr>
      <vt:lpstr>ENIAC</vt:lpstr>
      <vt:lpstr>Programação das conexões</vt:lpstr>
      <vt:lpstr>Lógica Combinacional</vt:lpstr>
      <vt:lpstr>Barramentos (Data Bus)</vt:lpstr>
      <vt:lpstr>Portas Lógicas de Barramento</vt:lpstr>
      <vt:lpstr>Barrel Shifter</vt:lpstr>
      <vt:lpstr>Dispositivos Lógicos Programáveis</vt:lpstr>
      <vt:lpstr>Design e Simulação</vt:lpstr>
      <vt:lpstr>Linguagens de Descrição de Hardware</vt:lpstr>
      <vt:lpstr>Exemplo de chip NOT em VHDL</vt:lpstr>
      <vt:lpstr>Numeração dos Bits em Barramentos</vt:lpstr>
      <vt:lpstr>Depois de testado</vt:lpstr>
      <vt:lpstr>Multiplexador (Mux)</vt:lpstr>
      <vt:lpstr>Demultiplexador (demux)</vt:lpstr>
      <vt:lpstr>Enconders</vt:lpstr>
      <vt:lpstr>BCD </vt:lpstr>
      <vt:lpstr>Código Gray</vt:lpstr>
      <vt:lpstr>Comparador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2 - Python</dc:title>
  <dc:subject/>
  <dc:creator>Luciano Pereira Soares</dc:creator>
  <cp:keywords/>
  <dc:description/>
  <cp:lastModifiedBy>Luciano Pereira Soares</cp:lastModifiedBy>
  <cp:revision>724</cp:revision>
  <cp:lastPrinted>2015-05-25T01:17:28Z</cp:lastPrinted>
  <dcterms:created xsi:type="dcterms:W3CDTF">2014-04-17T20:05:08Z</dcterms:created>
  <dcterms:modified xsi:type="dcterms:W3CDTF">2026-09-08T02:28:25Z</dcterms:modified>
  <cp:category/>
</cp:coreProperties>
</file>