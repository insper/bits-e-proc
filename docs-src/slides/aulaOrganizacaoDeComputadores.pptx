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33"/>
  </p:notesMasterIdLst>
  <p:handoutMasterIdLst>
    <p:handoutMasterId r:id="rId34"/>
  </p:handoutMasterIdLst>
  <p:sldIdLst>
    <p:sldId id="269" r:id="rId2"/>
    <p:sldId id="430" r:id="rId3"/>
    <p:sldId id="448" r:id="rId4"/>
    <p:sldId id="451" r:id="rId5"/>
    <p:sldId id="452" r:id="rId6"/>
    <p:sldId id="313" r:id="rId7"/>
    <p:sldId id="326" r:id="rId8"/>
    <p:sldId id="331" r:id="rId9"/>
    <p:sldId id="332" r:id="rId10"/>
    <p:sldId id="360" r:id="rId11"/>
    <p:sldId id="440" r:id="rId12"/>
    <p:sldId id="445" r:id="rId13"/>
    <p:sldId id="436" r:id="rId14"/>
    <p:sldId id="447" r:id="rId15"/>
    <p:sldId id="449" r:id="rId16"/>
    <p:sldId id="433" r:id="rId17"/>
    <p:sldId id="437" r:id="rId18"/>
    <p:sldId id="441" r:id="rId19"/>
    <p:sldId id="434" r:id="rId20"/>
    <p:sldId id="453" r:id="rId21"/>
    <p:sldId id="439" r:id="rId22"/>
    <p:sldId id="431" r:id="rId23"/>
    <p:sldId id="438" r:id="rId24"/>
    <p:sldId id="454" r:id="rId25"/>
    <p:sldId id="444" r:id="rId26"/>
    <p:sldId id="405" r:id="rId27"/>
    <p:sldId id="435" r:id="rId28"/>
    <p:sldId id="443" r:id="rId29"/>
    <p:sldId id="432" r:id="rId30"/>
    <p:sldId id="450" r:id="rId31"/>
    <p:sldId id="262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3"/>
    <p:restoredTop sz="83356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25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e.ufl.edu/~mssz/CompOrg/CDAintro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www.goodreads.com</a:t>
            </a:r>
            <a:r>
              <a:rPr lang="pt-BR" dirty="0"/>
              <a:t>/</a:t>
            </a:r>
            <a:r>
              <a:rPr lang="pt-BR" dirty="0" err="1"/>
              <a:t>quotes</a:t>
            </a:r>
            <a:r>
              <a:rPr lang="pt-BR" dirty="0"/>
              <a:t>/155173-le-v-ritable-voyage-de-d-couverte-ne-consiste-pas-chercher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1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referência um Intel Core i73GHz 8-cores opera a aproximadamente ~400 </a:t>
            </a:r>
            <a:r>
              <a:rPr lang="pt-BR" dirty="0" err="1"/>
              <a:t>GFlops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www.intel-vintage.info</a:t>
            </a:r>
            <a:r>
              <a:rPr lang="pt-BR" dirty="0"/>
              <a:t>/</a:t>
            </a:r>
            <a:r>
              <a:rPr lang="pt-BR" dirty="0" err="1"/>
              <a:t>intelmcs.htm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/Fortran</a:t>
            </a:r>
          </a:p>
          <a:p>
            <a:r>
              <a:rPr lang="en-US" dirty="0"/>
              <a:t>http://</a:t>
            </a:r>
            <a:r>
              <a:rPr lang="en-US" dirty="0" err="1"/>
              <a:t>www.answers.com</a:t>
            </a:r>
            <a:r>
              <a:rPr lang="en-US" dirty="0"/>
              <a:t>/Q/</a:t>
            </a:r>
            <a:r>
              <a:rPr lang="en-US" dirty="0" err="1"/>
              <a:t>How_many_FLOPS_does_the_average_computer_run_at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www.amazon.co.uk</a:t>
            </a:r>
            <a:r>
              <a:rPr lang="en-US" dirty="0"/>
              <a:t>/HP-Pavilion-p6-2065uk-Desktop-processor/</a:t>
            </a:r>
            <a:r>
              <a:rPr lang="en-US" dirty="0" err="1"/>
              <a:t>dp</a:t>
            </a:r>
            <a:r>
              <a:rPr lang="en-US" dirty="0"/>
              <a:t>/B007I8SZ36</a:t>
            </a:r>
          </a:p>
          <a:p>
            <a:r>
              <a:rPr lang="en-US" dirty="0"/>
              <a:t>http://</a:t>
            </a:r>
            <a:r>
              <a:rPr lang="en-US" dirty="0" err="1"/>
              <a:t>mockuphone.com</a:t>
            </a:r>
            <a:r>
              <a:rPr lang="en-US" dirty="0"/>
              <a:t>/iphone6plusgold</a:t>
            </a:r>
          </a:p>
          <a:p>
            <a:r>
              <a:rPr lang="en-US" dirty="0"/>
              <a:t>http://</a:t>
            </a:r>
            <a:r>
              <a:rPr lang="en-US" dirty="0" err="1"/>
              <a:t>www.anandtech.com</a:t>
            </a:r>
            <a:r>
              <a:rPr lang="en-US" dirty="0"/>
              <a:t>/show/8554/the-iphone-6-review/4</a:t>
            </a:r>
          </a:p>
          <a:p>
            <a:r>
              <a:rPr lang="en-US" dirty="0"/>
              <a:t>https://</a:t>
            </a:r>
            <a:r>
              <a:rPr lang="en-US" dirty="0" err="1"/>
              <a:t>pt.wikipedia.org</a:t>
            </a:r>
            <a:r>
              <a:rPr lang="en-US" dirty="0"/>
              <a:t>/wiki/</a:t>
            </a:r>
            <a:r>
              <a:rPr lang="en-US" dirty="0" err="1"/>
              <a:t>Sunway_TaihuLight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images.indianexpress.com</a:t>
            </a:r>
            <a:r>
              <a:rPr lang="en-US" dirty="0"/>
              <a:t>/2016/06/china-fastest-superco_kuma759.jpg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72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vadim.oversigma.com</a:t>
            </a:r>
            <a:r>
              <a:rPr lang="en-US" dirty="0"/>
              <a:t>/</a:t>
            </a:r>
            <a:r>
              <a:rPr lang="en-US" dirty="0" err="1"/>
              <a:t>Tetris.htm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www.gamepix.com</a:t>
            </a:r>
            <a:r>
              <a:rPr lang="en-US" dirty="0"/>
              <a:t>/play/snake-3310-html5/</a:t>
            </a:r>
          </a:p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/wiki/Pong</a:t>
            </a:r>
          </a:p>
          <a:p>
            <a:r>
              <a:rPr lang="en-US" dirty="0"/>
              <a:t>https://</a:t>
            </a:r>
            <a:r>
              <a:rPr lang="en-US" dirty="0" err="1"/>
              <a:t>commons.wikimedia.org</a:t>
            </a:r>
            <a:r>
              <a:rPr lang="en-US" dirty="0"/>
              <a:t>/wiki/File:Person_icon_BLACK-01.svg</a:t>
            </a:r>
          </a:p>
          <a:p>
            <a:r>
              <a:rPr lang="en-US" dirty="0"/>
              <a:t>http://</a:t>
            </a:r>
            <a:r>
              <a:rPr lang="en-US" dirty="0" err="1"/>
              <a:t>www.clipartbest.com</a:t>
            </a:r>
            <a:r>
              <a:rPr lang="en-US" dirty="0"/>
              <a:t>/hard-hat-clip-art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89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Pessoas:</a:t>
            </a:r>
            <a:r>
              <a:rPr lang="pt-BR" baseline="0" dirty="0"/>
              <a:t> </a:t>
            </a:r>
            <a:r>
              <a:rPr lang="pt-BR" dirty="0"/>
              <a:t>Scrum Master; Desenvolvedor; Testador</a:t>
            </a:r>
          </a:p>
          <a:p>
            <a:r>
              <a:rPr lang="pt-BR" dirty="0"/>
              <a:t>Duplas não podem repetir durante o curso</a:t>
            </a:r>
          </a:p>
          <a:p>
            <a:r>
              <a:rPr lang="pt-BR" dirty="0"/>
              <a:t>Os próprios aluno serão responsável pelo projeto.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FF0000"/>
                </a:solidFill>
              </a:rPr>
              <a:t>REFORCAO RUBRIK DE TRABALHO EM EQUIPE E QUE SE PROJETO NÃO FOR FINALIZADO, UMA ANÁLISE SERÁ FEITA COM MAIS CARINHO DO QUE ACONTECEU.</a:t>
            </a:r>
          </a:p>
          <a:p>
            <a:r>
              <a:rPr lang="pt-BR" dirty="0"/>
              <a:t>Esse computador pode fazer tudo, por exemplo jogos.</a:t>
            </a:r>
          </a:p>
          <a:p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www.youtube.com</a:t>
            </a:r>
            <a:r>
              <a:rPr lang="pt-BR" dirty="0"/>
              <a:t>/</a:t>
            </a:r>
            <a:r>
              <a:rPr lang="pt-BR" dirty="0" err="1"/>
              <a:t>watch?v</a:t>
            </a:r>
            <a:r>
              <a:rPr lang="pt-BR" dirty="0"/>
              <a:t>=UHty1KKjaZw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640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Ajustar</a:t>
            </a:r>
            <a:r>
              <a:rPr lang="pt-BR" baseline="0" dirty="0"/>
              <a:t> times em: </a:t>
            </a:r>
            <a:r>
              <a:rPr lang="pt-BR" baseline="0" dirty="0" err="1"/>
              <a:t>https</a:t>
            </a:r>
            <a:r>
              <a:rPr lang="pt-BR" baseline="0" dirty="0"/>
              <a:t>://</a:t>
            </a:r>
            <a:r>
              <a:rPr lang="pt-BR" baseline="0" dirty="0" err="1"/>
              <a:t>trello.com</a:t>
            </a:r>
            <a:r>
              <a:rPr lang="pt-BR" baseline="0" dirty="0"/>
              <a:t>/engenhariacomputacaoinsper2016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integrar com o </a:t>
            </a:r>
            <a:r>
              <a:rPr lang="pt-BR" dirty="0" err="1"/>
              <a:t>github</a:t>
            </a:r>
            <a:r>
              <a:rPr lang="pt-BR" dirty="0"/>
              <a:t>: </a:t>
            </a:r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blog.trello.com</a:t>
            </a:r>
            <a:r>
              <a:rPr lang="pt-BR" dirty="0"/>
              <a:t>/</a:t>
            </a:r>
            <a:r>
              <a:rPr lang="pt-BR" dirty="0" err="1"/>
              <a:t>github-and-trello-integrate-your-commits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150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Usar a</a:t>
            </a:r>
            <a:r>
              <a:rPr lang="pt-BR" baseline="0" dirty="0"/>
              <a:t> organização do GitHub</a:t>
            </a:r>
            <a:r>
              <a:rPr lang="pt-BR" dirty="0"/>
              <a:t>: </a:t>
            </a: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github.com</a:t>
            </a:r>
            <a:r>
              <a:rPr lang="pt-BR" dirty="0"/>
              <a:t>/</a:t>
            </a:r>
            <a:r>
              <a:rPr lang="pt-BR" dirty="0" err="1"/>
              <a:t>ElementosDeSistemas</a:t>
            </a:r>
            <a:endParaRPr lang="pt-BR" dirty="0"/>
          </a:p>
          <a:p>
            <a:r>
              <a:rPr lang="pt-BR" dirty="0"/>
              <a:t>Criar os times:</a:t>
            </a:r>
            <a:r>
              <a:rPr lang="pt-BR" baseline="0" dirty="0"/>
              <a:t> </a:t>
            </a:r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github.com</a:t>
            </a:r>
            <a:r>
              <a:rPr lang="pt-BR" dirty="0"/>
              <a:t>/</a:t>
            </a:r>
            <a:r>
              <a:rPr lang="pt-BR" dirty="0" err="1"/>
              <a:t>orgs</a:t>
            </a:r>
            <a:r>
              <a:rPr lang="pt-BR" dirty="0"/>
              <a:t>/</a:t>
            </a:r>
            <a:r>
              <a:rPr lang="pt-BR" dirty="0" err="1"/>
              <a:t>ElementosDeSistemas</a:t>
            </a:r>
            <a:r>
              <a:rPr lang="pt-BR" dirty="0"/>
              <a:t>/</a:t>
            </a:r>
            <a:r>
              <a:rPr lang="pt-BR" dirty="0" err="1"/>
              <a:t>teams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389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nojhan</a:t>
            </a:r>
            <a:r>
              <a:rPr lang="pt-BR" dirty="0"/>
              <a:t>/</a:t>
            </a:r>
            <a:r>
              <a:rPr lang="pt-BR" dirty="0" err="1"/>
              <a:t>liquidprompt</a:t>
            </a:r>
            <a:r>
              <a:rPr lang="pt-BR" dirty="0"/>
              <a:t>:  A </a:t>
            </a:r>
            <a:r>
              <a:rPr lang="pt-BR" dirty="0" err="1"/>
              <a:t>full-featured</a:t>
            </a:r>
            <a:r>
              <a:rPr lang="pt-BR" dirty="0"/>
              <a:t> &amp; </a:t>
            </a:r>
            <a:r>
              <a:rPr lang="pt-BR" dirty="0" err="1"/>
              <a:t>carefully</a:t>
            </a:r>
            <a:r>
              <a:rPr lang="pt-BR" dirty="0"/>
              <a:t> </a:t>
            </a:r>
            <a:r>
              <a:rPr lang="pt-BR" dirty="0" err="1"/>
              <a:t>designed</a:t>
            </a:r>
            <a:r>
              <a:rPr lang="pt-BR" dirty="0"/>
              <a:t> </a:t>
            </a:r>
            <a:r>
              <a:rPr lang="pt-BR" dirty="0" err="1"/>
              <a:t>adaptive</a:t>
            </a:r>
            <a:r>
              <a:rPr lang="pt-BR" dirty="0"/>
              <a:t> </a:t>
            </a:r>
            <a:r>
              <a:rPr lang="pt-BR" dirty="0" err="1"/>
              <a:t>prompt</a:t>
            </a:r>
            <a:r>
              <a:rPr lang="pt-BR" dirty="0"/>
              <a:t> for </a:t>
            </a:r>
            <a:r>
              <a:rPr lang="pt-BR" dirty="0" err="1"/>
              <a:t>Bash</a:t>
            </a:r>
            <a:r>
              <a:rPr lang="pt-BR" dirty="0"/>
              <a:t> &amp; </a:t>
            </a:r>
            <a:r>
              <a:rPr lang="pt-BR" dirty="0" err="1"/>
              <a:t>Zsh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github.com</a:t>
            </a:r>
            <a:r>
              <a:rPr lang="pt-BR" dirty="0"/>
              <a:t>/</a:t>
            </a:r>
            <a:r>
              <a:rPr lang="pt-BR" dirty="0" err="1"/>
              <a:t>nojhan</a:t>
            </a:r>
            <a:r>
              <a:rPr lang="pt-BR" dirty="0"/>
              <a:t>/</a:t>
            </a:r>
            <a:r>
              <a:rPr lang="pt-BR"/>
              <a:t>liquidprompt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421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://core0.staticworld.net/</a:t>
            </a:r>
            <a:r>
              <a:rPr lang="pt-BR" dirty="0" err="1"/>
              <a:t>images</a:t>
            </a:r>
            <a:r>
              <a:rPr lang="pt-BR" dirty="0"/>
              <a:t>/</a:t>
            </a:r>
            <a:r>
              <a:rPr lang="pt-BR" dirty="0" err="1"/>
              <a:t>article</a:t>
            </a:r>
            <a:r>
              <a:rPr lang="pt-BR" dirty="0"/>
              <a:t>/2014/06/sunrisecal-100315012-orig.png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www.companionlink.com</a:t>
            </a:r>
            <a:r>
              <a:rPr lang="pt-BR" dirty="0"/>
              <a:t>/blog/</a:t>
            </a:r>
            <a:r>
              <a:rPr lang="pt-BR" dirty="0" err="1"/>
              <a:t>wp-content</a:t>
            </a:r>
            <a:r>
              <a:rPr lang="pt-BR" dirty="0"/>
              <a:t>/uploads/2011/02/</a:t>
            </a:r>
            <a:r>
              <a:rPr lang="pt-BR" dirty="0" err="1"/>
              <a:t>sync-outlook-categories-to-iphone-and-android.png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6886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56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link original: </a:t>
            </a:r>
            <a:r>
              <a:rPr lang="pt-BR" sz="1200" b="1" dirty="0" err="1"/>
              <a:t>https</a:t>
            </a:r>
            <a:r>
              <a:rPr lang="pt-BR" sz="1200" b="1" dirty="0"/>
              <a:t>://</a:t>
            </a:r>
            <a:r>
              <a:rPr lang="pt-BR" sz="1200" b="1" dirty="0" err="1"/>
              <a:t>www.dropbox.com</a:t>
            </a:r>
            <a:r>
              <a:rPr lang="pt-BR" sz="1200" b="1" dirty="0"/>
              <a:t>/</a:t>
            </a:r>
            <a:r>
              <a:rPr lang="pt-BR" sz="1200" b="1" dirty="0" err="1"/>
              <a:t>s</a:t>
            </a:r>
            <a:r>
              <a:rPr lang="pt-BR" sz="1200" b="1" dirty="0"/>
              <a:t>/8on2oig0pr5ywoq/lista_aula2_algebraBooleana.pdf?dl=0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009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>
                <a:hlinkClick r:id="rId3"/>
              </a:rPr>
              <a:t>https://www.cise.ufl.edu/~mssz/CompOrg/CDAintro.html</a:t>
            </a:r>
            <a:endParaRPr lang="en-US" dirty="0"/>
          </a:p>
          <a:p>
            <a:pPr marL="0" indent="0">
              <a:buFont typeface="Arial" charset="0"/>
              <a:buNone/>
            </a:pPr>
            <a:r>
              <a:rPr lang="en-US" dirty="0"/>
              <a:t>http://</a:t>
            </a:r>
            <a:r>
              <a:rPr lang="en-US" dirty="0" err="1"/>
              <a:t>www.cs.helsinki.fi</a:t>
            </a:r>
            <a:r>
              <a:rPr lang="en-US" dirty="0"/>
              <a:t>/group/nodes/</a:t>
            </a:r>
            <a:r>
              <a:rPr lang="en-US" dirty="0" err="1"/>
              <a:t>ht_linja</a:t>
            </a:r>
            <a:r>
              <a:rPr lang="en-US" dirty="0"/>
              <a:t>/</a:t>
            </a:r>
            <a:r>
              <a:rPr lang="en-US" dirty="0" err="1"/>
              <a:t>Oppimistavoitteet</a:t>
            </a:r>
            <a:r>
              <a:rPr lang="en-US" dirty="0"/>
              <a:t>/tikra_oppimistavoitteet_2010e.pdf</a:t>
            </a:r>
          </a:p>
          <a:p>
            <a:pPr marL="0" indent="0">
              <a:buFont typeface="Arial" charset="0"/>
              <a:buNone/>
            </a:pPr>
            <a:r>
              <a:rPr lang="en-US" dirty="0"/>
              <a:t>http://</a:t>
            </a:r>
            <a:r>
              <a:rPr lang="en-US" dirty="0" err="1"/>
              <a:t>jadud.com</a:t>
            </a:r>
            <a:r>
              <a:rPr lang="en-US" dirty="0"/>
              <a:t>/teaching/comporg-f15/docs/</a:t>
            </a:r>
            <a:r>
              <a:rPr lang="en-US" dirty="0" err="1"/>
              <a:t>syllabus.html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789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Pergunte algum</a:t>
            </a:r>
            <a:r>
              <a:rPr lang="pt-BR" baseline="0" dirty="0"/>
              <a:t> dispositivo para navegar pelos níveis de abstração.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629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aseline="0" dirty="0" err="1"/>
              <a:t>https</a:t>
            </a:r>
            <a:r>
              <a:rPr lang="pt-BR" baseline="0" dirty="0"/>
              <a:t>://</a:t>
            </a:r>
            <a:r>
              <a:rPr lang="pt-BR" baseline="0" dirty="0" err="1"/>
              <a:t>thenounproject.com</a:t>
            </a:r>
            <a:r>
              <a:rPr lang="pt-BR" baseline="0" dirty="0"/>
              <a:t>/</a:t>
            </a:r>
            <a:r>
              <a:rPr lang="pt-BR" baseline="0" dirty="0" err="1"/>
              <a:t>term</a:t>
            </a:r>
            <a:r>
              <a:rPr lang="pt-BR" baseline="0" dirty="0"/>
              <a:t>/</a:t>
            </a:r>
            <a:r>
              <a:rPr lang="pt-BR" baseline="0" dirty="0" err="1"/>
              <a:t>people</a:t>
            </a:r>
            <a:r>
              <a:rPr lang="pt-BR" baseline="0" dirty="0"/>
              <a:t>/11347/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944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70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Outros </a:t>
            </a:r>
            <a:r>
              <a:rPr lang="en-US" dirty="0" err="1"/>
              <a:t>cursos</a:t>
            </a:r>
            <a:r>
              <a:rPr lang="en-US" dirty="0"/>
              <a:t> </a:t>
            </a:r>
            <a:r>
              <a:rPr lang="en-US" dirty="0" err="1"/>
              <a:t>verão</a:t>
            </a:r>
            <a:r>
              <a:rPr lang="en-US" dirty="0"/>
              <a:t> </a:t>
            </a:r>
            <a:r>
              <a:rPr lang="en-US" dirty="0" err="1"/>
              <a:t>algumas</a:t>
            </a:r>
            <a:r>
              <a:rPr lang="en-US" dirty="0"/>
              <a:t> </a:t>
            </a:r>
            <a:r>
              <a:rPr lang="en-US" dirty="0" err="1"/>
              <a:t>áreas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baseline="0" dirty="0"/>
              <a:t> </a:t>
            </a:r>
            <a:r>
              <a:rPr lang="en-US" baseline="0" dirty="0" err="1"/>
              <a:t>maiores</a:t>
            </a:r>
            <a:r>
              <a:rPr lang="en-US" baseline="0" dirty="0"/>
              <a:t> </a:t>
            </a:r>
            <a:r>
              <a:rPr lang="en-US" baseline="0" dirty="0" err="1"/>
              <a:t>detalhes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222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upload.wikimedia.org</a:t>
            </a:r>
            <a:r>
              <a:rPr lang="pt-BR" dirty="0"/>
              <a:t>/</a:t>
            </a:r>
            <a:r>
              <a:rPr lang="pt-BR" dirty="0" err="1"/>
              <a:t>wikipedia</a:t>
            </a:r>
            <a:r>
              <a:rPr lang="pt-BR" dirty="0"/>
              <a:t>/</a:t>
            </a:r>
            <a:r>
              <a:rPr lang="pt-BR" dirty="0" err="1"/>
              <a:t>commons</a:t>
            </a:r>
            <a:r>
              <a:rPr lang="pt-BR" dirty="0"/>
              <a:t>/a/aa/</a:t>
            </a:r>
            <a:r>
              <a:rPr lang="pt-BR" dirty="0" err="1"/>
              <a:t>Original_IBM_Logo.png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www.census.gov</a:t>
            </a:r>
            <a:r>
              <a:rPr lang="pt-BR" dirty="0"/>
              <a:t>/</a:t>
            </a:r>
            <a:r>
              <a:rPr lang="pt-BR" dirty="0" err="1"/>
              <a:t>history</a:t>
            </a:r>
            <a:r>
              <a:rPr lang="pt-BR" dirty="0"/>
              <a:t>/</a:t>
            </a:r>
            <a:r>
              <a:rPr lang="pt-BR" dirty="0" err="1"/>
              <a:t>www</a:t>
            </a:r>
            <a:r>
              <a:rPr lang="pt-BR" dirty="0"/>
              <a:t>/</a:t>
            </a:r>
            <a:r>
              <a:rPr lang="pt-BR" dirty="0" err="1"/>
              <a:t>innovations</a:t>
            </a:r>
            <a:r>
              <a:rPr lang="pt-BR" dirty="0"/>
              <a:t>/</a:t>
            </a:r>
            <a:r>
              <a:rPr lang="pt-BR" dirty="0" err="1"/>
              <a:t>technology</a:t>
            </a:r>
            <a:r>
              <a:rPr lang="pt-BR" dirty="0"/>
              <a:t>/</a:t>
            </a:r>
            <a:r>
              <a:rPr lang="pt-BR" dirty="0" err="1"/>
              <a:t>the_hollerith_tabulator.html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876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334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www.economist.com</a:t>
            </a:r>
            <a:r>
              <a:rPr lang="pt-BR" dirty="0"/>
              <a:t>/</a:t>
            </a:r>
            <a:r>
              <a:rPr lang="pt-BR" dirty="0" err="1"/>
              <a:t>technology-quarterly</a:t>
            </a:r>
            <a:r>
              <a:rPr lang="pt-BR" dirty="0"/>
              <a:t>/2016-03-12/</a:t>
            </a:r>
            <a:r>
              <a:rPr lang="pt-BR" dirty="0" err="1"/>
              <a:t>after-moores-law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www.huffingtonpost.com</a:t>
            </a:r>
            <a:r>
              <a:rPr lang="pt-BR" dirty="0"/>
              <a:t>/</a:t>
            </a:r>
            <a:r>
              <a:rPr lang="pt-BR" dirty="0" err="1"/>
              <a:t>nancy-colier</a:t>
            </a:r>
            <a:r>
              <a:rPr lang="pt-BR" dirty="0"/>
              <a:t>/last-minute-itis-are-our-_b_4242386.html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3499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link original: </a:t>
            </a:r>
            <a:r>
              <a:rPr lang="pt-BR" sz="1200" b="1" dirty="0" err="1"/>
              <a:t>https</a:t>
            </a:r>
            <a:r>
              <a:rPr lang="pt-BR" sz="1200" b="1" dirty="0"/>
              <a:t>://</a:t>
            </a:r>
            <a:r>
              <a:rPr lang="pt-BR" sz="1200" b="1" dirty="0" err="1"/>
              <a:t>www.dropbox.com</a:t>
            </a:r>
            <a:r>
              <a:rPr lang="pt-BR" sz="1200" b="1" dirty="0"/>
              <a:t>/</a:t>
            </a:r>
            <a:r>
              <a:rPr lang="pt-BR" sz="1200" b="1" dirty="0" err="1"/>
              <a:t>s</a:t>
            </a:r>
            <a:r>
              <a:rPr lang="pt-BR" sz="1200" b="1" dirty="0"/>
              <a:t>/8on2oig0pr5ywoq/lista_aula2_algebraBooleana.pdf?dl=0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73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8/11/26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8/11/26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8/11/26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8/11/26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8/11/26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8/11/26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iff"/><Relationship Id="rId5" Type="http://schemas.openxmlformats.org/officeDocument/2006/relationships/hyperlink" Target="https://www.top500.org/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trello.com/guid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-scm.com/download/linu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lementosdesistemas.slack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altera.com/downloads/download-center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utlook.com/" TargetMode="External"/><Relationship Id="rId5" Type="http://schemas.openxmlformats.org/officeDocument/2006/relationships/hyperlink" Target="https://calendar.google.com/calendar" TargetMode="Externa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tif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nsper.blackboard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tif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oo.gl/forms/8ak9kFwLNFdU49T22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tiff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ix.office.com/watch/1kv4nxkkdyrra" TargetMode="External"/><Relationship Id="rId2" Type="http://schemas.openxmlformats.org/officeDocument/2006/relationships/hyperlink" Target="https://goo.gl/forms/oJ7mM3h7W4hq8wOs2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tif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325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Bits e Processadores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Verdana"/>
                <a:cs typeface="Verdana"/>
              </a:rPr>
              <a:t>Aula 1 – Organização Básica de Computadores</a:t>
            </a:r>
            <a:endParaRPr lang="pt-BR" dirty="0"/>
          </a:p>
        </p:txBody>
      </p:sp>
      <p:sp>
        <p:nvSpPr>
          <p:cNvPr id="7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124608" y="4380484"/>
            <a:ext cx="8894779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1500" b="1" i="1" dirty="0">
                <a:solidFill>
                  <a:schemeClr val="bg1"/>
                </a:solidFill>
              </a:rPr>
              <a:t>"A verdadeira viagem de descoberta não consiste em buscar novas paisagens, mas em ter um novos olhos."</a:t>
            </a:r>
          </a:p>
          <a:p>
            <a:pPr defTabSz="914400">
              <a:defRPr/>
            </a:pPr>
            <a:r>
              <a:rPr lang="en-US" sz="1500" b="1" i="1" dirty="0">
                <a:solidFill>
                  <a:schemeClr val="bg1"/>
                </a:solidFill>
              </a:rPr>
              <a:t>"Le </a:t>
            </a:r>
            <a:r>
              <a:rPr lang="en-US" sz="1500" b="1" i="1" dirty="0" err="1">
                <a:solidFill>
                  <a:schemeClr val="bg1"/>
                </a:solidFill>
              </a:rPr>
              <a:t>véritable</a:t>
            </a:r>
            <a:r>
              <a:rPr lang="en-US" sz="1500" b="1" i="1" dirty="0">
                <a:solidFill>
                  <a:schemeClr val="bg1"/>
                </a:solidFill>
              </a:rPr>
              <a:t> voyage de </a:t>
            </a:r>
            <a:r>
              <a:rPr lang="en-US" sz="1500" b="1" i="1" dirty="0" err="1">
                <a:solidFill>
                  <a:schemeClr val="bg1"/>
                </a:solidFill>
              </a:rPr>
              <a:t>découverte</a:t>
            </a:r>
            <a:r>
              <a:rPr lang="en-US" sz="1500" b="1" i="1" dirty="0">
                <a:solidFill>
                  <a:schemeClr val="bg1"/>
                </a:solidFill>
              </a:rPr>
              <a:t> ne </a:t>
            </a:r>
            <a:r>
              <a:rPr lang="en-US" sz="1500" b="1" i="1" dirty="0" err="1">
                <a:solidFill>
                  <a:schemeClr val="bg1"/>
                </a:solidFill>
              </a:rPr>
              <a:t>consiste</a:t>
            </a:r>
            <a:r>
              <a:rPr lang="en-US" sz="1500" b="1" i="1" dirty="0">
                <a:solidFill>
                  <a:schemeClr val="bg1"/>
                </a:solidFill>
              </a:rPr>
              <a:t> pas </a:t>
            </a:r>
            <a:r>
              <a:rPr lang="en-US" sz="1500" b="1" i="1" dirty="0" err="1">
                <a:solidFill>
                  <a:schemeClr val="bg1"/>
                </a:solidFill>
              </a:rPr>
              <a:t>à</a:t>
            </a:r>
            <a:r>
              <a:rPr lang="en-US" sz="1500" b="1" i="1" dirty="0">
                <a:solidFill>
                  <a:schemeClr val="bg1"/>
                </a:solidFill>
              </a:rPr>
              <a:t> </a:t>
            </a:r>
            <a:r>
              <a:rPr lang="en-US" sz="1500" b="1" i="1" dirty="0" err="1">
                <a:solidFill>
                  <a:schemeClr val="bg1"/>
                </a:solidFill>
              </a:rPr>
              <a:t>chercher</a:t>
            </a:r>
            <a:r>
              <a:rPr lang="en-US" sz="1500" b="1" i="1" dirty="0">
                <a:solidFill>
                  <a:schemeClr val="bg1"/>
                </a:solidFill>
              </a:rPr>
              <a:t> de nouveaux </a:t>
            </a:r>
            <a:r>
              <a:rPr lang="en-US" sz="1500" b="1" i="1" dirty="0" err="1">
                <a:solidFill>
                  <a:schemeClr val="bg1"/>
                </a:solidFill>
              </a:rPr>
              <a:t>paysages</a:t>
            </a:r>
            <a:r>
              <a:rPr lang="en-US" sz="1500" b="1" i="1" dirty="0">
                <a:solidFill>
                  <a:schemeClr val="bg1"/>
                </a:solidFill>
              </a:rPr>
              <a:t>, </a:t>
            </a:r>
            <a:r>
              <a:rPr lang="en-US" sz="1500" b="1" i="1" dirty="0" err="1">
                <a:solidFill>
                  <a:schemeClr val="bg1"/>
                </a:solidFill>
              </a:rPr>
              <a:t>mais</a:t>
            </a:r>
            <a:r>
              <a:rPr lang="en-US" sz="1500" b="1" i="1" dirty="0">
                <a:solidFill>
                  <a:schemeClr val="bg1"/>
                </a:solidFill>
              </a:rPr>
              <a:t> </a:t>
            </a:r>
            <a:r>
              <a:rPr lang="en-US" sz="1500" b="1" i="1" dirty="0" err="1">
                <a:solidFill>
                  <a:schemeClr val="bg1"/>
                </a:solidFill>
              </a:rPr>
              <a:t>à</a:t>
            </a:r>
            <a:r>
              <a:rPr lang="en-US" sz="1500" b="1" i="1" dirty="0">
                <a:solidFill>
                  <a:schemeClr val="bg1"/>
                </a:solidFill>
              </a:rPr>
              <a:t> </a:t>
            </a:r>
            <a:r>
              <a:rPr lang="en-US" sz="1500" b="1" i="1" dirty="0" err="1">
                <a:solidFill>
                  <a:schemeClr val="bg1"/>
                </a:solidFill>
              </a:rPr>
              <a:t>avoir</a:t>
            </a:r>
            <a:r>
              <a:rPr lang="en-US" sz="1500" b="1" i="1" dirty="0">
                <a:solidFill>
                  <a:schemeClr val="bg1"/>
                </a:solidFill>
              </a:rPr>
              <a:t> de nouveaux </a:t>
            </a:r>
            <a:r>
              <a:rPr lang="en-US" sz="1500" b="1" i="1" dirty="0" err="1">
                <a:solidFill>
                  <a:schemeClr val="bg1"/>
                </a:solidFill>
              </a:rPr>
              <a:t>yeux</a:t>
            </a:r>
            <a:r>
              <a:rPr lang="en-US" sz="1500" b="1" i="1" dirty="0">
                <a:solidFill>
                  <a:schemeClr val="bg1"/>
                </a:solidFill>
              </a:rPr>
              <a:t>."</a:t>
            </a:r>
          </a:p>
          <a:p>
            <a:pPr defTabSz="914400">
              <a:defRPr/>
            </a:pPr>
            <a:r>
              <a:rPr lang="en-US" sz="1600" b="1" i="1" dirty="0">
                <a:solidFill>
                  <a:schemeClr val="bg1"/>
                </a:solidFill>
              </a:rPr>
              <a:t>Marcel Proust (1871–1922)</a:t>
            </a:r>
            <a:r>
              <a:rPr lang="pt-BR" sz="1600" b="1" dirty="0">
                <a:solidFill>
                  <a:schemeClr val="bg1"/>
                </a:solidFill>
              </a:rPr>
              <a:t> escritor francês</a:t>
            </a:r>
          </a:p>
          <a:p>
            <a:pPr defTabSz="914400">
              <a:defRPr/>
            </a:pPr>
            <a:r>
              <a:rPr lang="pt-BR" sz="1600" b="1" dirty="0">
                <a:solidFill>
                  <a:schemeClr val="bg1"/>
                </a:solidFill>
              </a:rPr>
              <a:t>apud </a:t>
            </a:r>
            <a:r>
              <a:rPr lang="pt-BR" sz="1600" b="1" dirty="0" err="1">
                <a:solidFill>
                  <a:schemeClr val="bg1"/>
                </a:solidFill>
              </a:rPr>
              <a:t>Nisan</a:t>
            </a:r>
            <a:r>
              <a:rPr lang="pt-BR" sz="1600" b="1" dirty="0">
                <a:solidFill>
                  <a:schemeClr val="bg1"/>
                </a:solidFill>
              </a:rPr>
              <a:t>, N. &amp; </a:t>
            </a:r>
            <a:r>
              <a:rPr lang="pt-BR" sz="1600" b="1" dirty="0" err="1">
                <a:solidFill>
                  <a:schemeClr val="bg1"/>
                </a:solidFill>
              </a:rPr>
              <a:t>Schocken</a:t>
            </a:r>
            <a:r>
              <a:rPr lang="pt-BR" sz="1600" b="1" dirty="0">
                <a:solidFill>
                  <a:schemeClr val="bg1"/>
                </a:solidFill>
              </a:rPr>
              <a:t>, S. 2005. </a:t>
            </a:r>
            <a:r>
              <a:rPr lang="en-US" sz="1600" b="1" dirty="0">
                <a:solidFill>
                  <a:schemeClr val="bg1"/>
                </a:solidFill>
              </a:rPr>
              <a:t>Elements of Computing Systems</a:t>
            </a: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da Computação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grpSp>
        <p:nvGrpSpPr>
          <p:cNvPr id="3" name="Group 2"/>
          <p:cNvGrpSpPr/>
          <p:nvPr/>
        </p:nvGrpSpPr>
        <p:grpSpPr>
          <a:xfrm>
            <a:off x="185863" y="1550295"/>
            <a:ext cx="3296160" cy="2422260"/>
            <a:chOff x="185863" y="1550295"/>
            <a:chExt cx="3296160" cy="242226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225" y="1550295"/>
              <a:ext cx="2353435" cy="1761313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85863" y="3326224"/>
              <a:ext cx="32961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dirty="0"/>
                <a:t>Intel 4004 @ 0,1 MIPS (1971)</a:t>
              </a:r>
            </a:p>
            <a:p>
              <a:pPr algn="ctr"/>
              <a:r>
                <a:rPr lang="pt-BR" sz="1600" dirty="0"/>
                <a:t>primeiro microprocessador comercial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4679" y="4172270"/>
            <a:ext cx="3338543" cy="2229904"/>
            <a:chOff x="164679" y="4172270"/>
            <a:chExt cx="3338543" cy="2229904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" y="4172270"/>
              <a:ext cx="2353435" cy="1568957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4679" y="5755843"/>
              <a:ext cx="33385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dirty="0"/>
                <a:t>Fortran (1957)</a:t>
              </a:r>
            </a:p>
            <a:p>
              <a:pPr algn="ctr"/>
              <a:r>
                <a:rPr lang="pt-BR" sz="1600" dirty="0"/>
                <a:t>primeira linguagem largamente usada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533892" y="5633062"/>
            <a:ext cx="552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Em cerca de meio século evoluímos muito</a:t>
            </a:r>
            <a:endParaRPr lang="pt-BR" b="1" dirty="0">
              <a:solidFill>
                <a:srgbClr val="FF000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A4157F-FDC0-53E2-6B4D-AAB644ABEF04}"/>
              </a:ext>
            </a:extLst>
          </p:cNvPr>
          <p:cNvGrpSpPr/>
          <p:nvPr/>
        </p:nvGrpSpPr>
        <p:grpSpPr>
          <a:xfrm>
            <a:off x="3687049" y="1799585"/>
            <a:ext cx="5216605" cy="3709665"/>
            <a:chOff x="3687049" y="1799585"/>
            <a:chExt cx="5216605" cy="3709665"/>
          </a:xfrm>
        </p:grpSpPr>
        <p:sp>
          <p:nvSpPr>
            <p:cNvPr id="10" name="TextBox 9"/>
            <p:cNvSpPr txBox="1"/>
            <p:nvPr/>
          </p:nvSpPr>
          <p:spPr>
            <a:xfrm>
              <a:off x="3687049" y="4643480"/>
              <a:ext cx="52166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R" sz="2000" dirty="0"/>
                <a:t>LineShine achieved </a:t>
              </a:r>
              <a:r>
                <a:rPr lang="en-BR" dirty="0"/>
                <a:t>@ 2.198 Exaflop</a:t>
              </a:r>
              <a:r>
                <a:rPr lang="pt-BR" sz="2000" dirty="0" err="1"/>
                <a:t>s</a:t>
              </a:r>
              <a:r>
                <a:rPr lang="pt-BR" sz="2000" dirty="0"/>
                <a:t> (2026)</a:t>
              </a:r>
            </a:p>
            <a:p>
              <a:pPr algn="ctr"/>
              <a:r>
                <a:rPr lang="pt-BR" sz="1600" dirty="0"/>
                <a:t>supercomputador mais rápido no mundo</a:t>
              </a:r>
            </a:p>
          </p:txBody>
        </p:sp>
        <p:pic>
          <p:nvPicPr>
            <p:cNvPr id="15" name="Picture 14">
              <a:hlinkClick r:id="rId5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5438" y="5030190"/>
              <a:ext cx="841479" cy="479060"/>
            </a:xfrm>
            <a:prstGeom prst="rect">
              <a:avLst/>
            </a:prstGeom>
          </p:spPr>
        </p:pic>
        <p:pic>
          <p:nvPicPr>
            <p:cNvPr id="16" name="Picture 15" descr="Return to the top: China's LineShine beats US El Capitan in Top500 ...">
              <a:extLst>
                <a:ext uri="{FF2B5EF4-FFF2-40B4-BE49-F238E27FC236}">
                  <a16:creationId xmlns:a16="http://schemas.microsoft.com/office/drawing/2014/main" id="{B9C061E6-AEC5-75E9-0254-725BCE0FC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32297" y="1799585"/>
              <a:ext cx="5126108" cy="28283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73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o curso é possível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363"/>
            <a:ext cx="9144000" cy="513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2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BCBA-F8A5-5BC9-04B4-3388727D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Últimos anos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A09CF-92DA-59AD-96F8-845B63A82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485900"/>
            <a:ext cx="5105439" cy="4724400"/>
          </a:xfrm>
        </p:spPr>
        <p:txBody>
          <a:bodyPr/>
          <a:lstStyle/>
          <a:p>
            <a:r>
              <a:rPr lang="pt-BR" noProof="0" dirty="0"/>
              <a:t>Prof. Rafael Corsi refinou o curso nos últimos anos:</a:t>
            </a:r>
          </a:p>
          <a:p>
            <a:endParaRPr lang="pt-BR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/>
              <a:t>Elementos de Sistemas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/>
              <a:t>Bits e Computadores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96048-F566-FE13-4F60-F37C24300C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70B0D-2E97-8B6D-81CF-DCC35E174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4</a:t>
            </a:fld>
            <a:endParaRPr lang="pt-BR" dirty="0"/>
          </a:p>
        </p:txBody>
      </p:sp>
      <p:pic>
        <p:nvPicPr>
          <p:cNvPr id="6" name="Picture 5" descr="RAFAEL CORSI FERRAO">
            <a:extLst>
              <a:ext uri="{FF2B5EF4-FFF2-40B4-BE49-F238E27FC236}">
                <a16:creationId xmlns:a16="http://schemas.microsoft.com/office/drawing/2014/main" id="{75A1DFE0-E29A-3B96-D0F8-0CD2BB179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064" y="1255320"/>
            <a:ext cx="2162136" cy="216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6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CBB9-016B-8956-A853-2BBD37DB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Quem </a:t>
            </a:r>
            <a:r>
              <a:rPr lang="en-US" dirty="0" err="1"/>
              <a:t>somos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0A20B-62C8-59DD-2B1D-311BE6CB21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6BBFD-0BB4-56C9-A403-787DEFF6E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6" name="Google Shape;35;p5">
            <a:extLst>
              <a:ext uri="{FF2B5EF4-FFF2-40B4-BE49-F238E27FC236}">
                <a16:creationId xmlns:a16="http://schemas.microsoft.com/office/drawing/2014/main" id="{790E0058-2F71-67DA-B789-744EE744BA0A}"/>
              </a:ext>
            </a:extLst>
          </p:cNvPr>
          <p:cNvSpPr txBox="1">
            <a:spLocks/>
          </p:cNvSpPr>
          <p:nvPr/>
        </p:nvSpPr>
        <p:spPr>
          <a:xfrm>
            <a:off x="889600" y="1743075"/>
            <a:ext cx="5406746" cy="133296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/>
              <a:t>Luciano P. Soares</a:t>
            </a:r>
          </a:p>
          <a:p>
            <a:pPr>
              <a:spcBef>
                <a:spcPts val="400"/>
              </a:spcBef>
            </a:pPr>
            <a:r>
              <a:rPr lang="pt-BR" sz="160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Doutor em Engenharia de Computação</a:t>
            </a:r>
            <a:br>
              <a:rPr lang="pt-BR" sz="160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pela Escola Politécnica da USP</a:t>
            </a:r>
            <a:endParaRPr lang="pt-BR" sz="1600" dirty="0">
              <a:solidFill>
                <a:srgbClr val="50505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F98A9-69F3-BE32-BE28-04174C1FB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643899"/>
            <a:ext cx="1258262" cy="1531316"/>
          </a:xfrm>
          <a:prstGeom prst="rect">
            <a:avLst/>
          </a:prstGeom>
        </p:spPr>
      </p:pic>
      <p:sp>
        <p:nvSpPr>
          <p:cNvPr id="8" name="Google Shape;35;p5">
            <a:extLst>
              <a:ext uri="{FF2B5EF4-FFF2-40B4-BE49-F238E27FC236}">
                <a16:creationId xmlns:a16="http://schemas.microsoft.com/office/drawing/2014/main" id="{FD0B2880-128F-0B39-A8BA-D099A306DF54}"/>
              </a:ext>
            </a:extLst>
          </p:cNvPr>
          <p:cNvSpPr txBox="1">
            <a:spLocks/>
          </p:cNvSpPr>
          <p:nvPr/>
        </p:nvSpPr>
        <p:spPr>
          <a:xfrm>
            <a:off x="889600" y="3477591"/>
            <a:ext cx="5406746" cy="133296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dirty="0"/>
              <a:t>Eduardo </a:t>
            </a:r>
            <a:r>
              <a:rPr lang="pt-BR" sz="2800" dirty="0" err="1"/>
              <a:t>Marossi</a:t>
            </a:r>
            <a:endParaRPr lang="pt-BR" sz="2800" dirty="0"/>
          </a:p>
          <a:p>
            <a:pPr>
              <a:spcBef>
                <a:spcPts val="400"/>
              </a:spcBef>
            </a:pPr>
            <a:r>
              <a:rPr lang="pt-BR" sz="1600" dirty="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Mestre em Engenharia Elétrica</a:t>
            </a:r>
            <a:br>
              <a:rPr lang="pt-BR" sz="1600" dirty="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600" dirty="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pela FEI</a:t>
            </a:r>
          </a:p>
        </p:txBody>
      </p:sp>
      <p:pic>
        <p:nvPicPr>
          <p:cNvPr id="10" name="Picture 9" descr="eduardomarossi (Eduardo Marossi) · GitHub">
            <a:extLst>
              <a:ext uri="{FF2B5EF4-FFF2-40B4-BE49-F238E27FC236}">
                <a16:creationId xmlns:a16="http://schemas.microsoft.com/office/drawing/2014/main" id="{9958B867-51E2-2E10-B2C5-7210AE6B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36"/>
          <a:stretch>
            <a:fillRect/>
          </a:stretch>
        </p:blipFill>
        <p:spPr>
          <a:xfrm>
            <a:off x="5410200" y="3492715"/>
            <a:ext cx="1258262" cy="1365250"/>
          </a:xfrm>
          <a:prstGeom prst="rect">
            <a:avLst/>
          </a:prstGeom>
        </p:spPr>
      </p:pic>
      <p:sp>
        <p:nvSpPr>
          <p:cNvPr id="15" name="Google Shape;35;p5">
            <a:extLst>
              <a:ext uri="{FF2B5EF4-FFF2-40B4-BE49-F238E27FC236}">
                <a16:creationId xmlns:a16="http://schemas.microsoft.com/office/drawing/2014/main" id="{C54A6B8C-437C-F9BE-0555-FDC70EA7EEE8}"/>
              </a:ext>
            </a:extLst>
          </p:cNvPr>
          <p:cNvSpPr txBox="1">
            <a:spLocks/>
          </p:cNvSpPr>
          <p:nvPr/>
        </p:nvSpPr>
        <p:spPr>
          <a:xfrm>
            <a:off x="889600" y="5212107"/>
            <a:ext cx="5406746" cy="133296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dirty="0"/>
              <a:t>Pedro Pereira Santos</a:t>
            </a:r>
          </a:p>
          <a:p>
            <a:pPr>
              <a:spcBef>
                <a:spcPts val="4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dirty="0">
                <a:solidFill>
                  <a:srgbClr val="50505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Ninja da Ciência da Computação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3A3D5-BAA5-C371-BA77-411C234305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121"/>
          <a:stretch>
            <a:fillRect/>
          </a:stretch>
        </p:blipFill>
        <p:spPr>
          <a:xfrm>
            <a:off x="5410200" y="5111728"/>
            <a:ext cx="1258262" cy="15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4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Usuário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1404" y="1400175"/>
            <a:ext cx="4019627" cy="1009127"/>
          </a:xfrm>
        </p:spPr>
        <p:txBody>
          <a:bodyPr/>
          <a:lstStyle/>
          <a:p>
            <a:r>
              <a:rPr lang="pt-BR" dirty="0"/>
              <a:t>Os usuários veem as aplicações, porém esse é um resultado de uma série de desenvolvimentos.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p:grpSp>
        <p:nvGrpSpPr>
          <p:cNvPr id="10" name="Group 9"/>
          <p:cNvGrpSpPr/>
          <p:nvPr/>
        </p:nvGrpSpPr>
        <p:grpSpPr>
          <a:xfrm>
            <a:off x="726758" y="3692518"/>
            <a:ext cx="4140883" cy="2981488"/>
            <a:chOff x="457199" y="3733395"/>
            <a:chExt cx="3963049" cy="2853445"/>
          </a:xfrm>
        </p:grpSpPr>
        <p:pic>
          <p:nvPicPr>
            <p:cNvPr id="6" name="Picture 5" descr="Tet312-Game.gi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199" y="3733395"/>
              <a:ext cx="3963049" cy="2476905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995227" y="6217508"/>
              <a:ext cx="7130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/>
                <a:t>Tetris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938527" y="1068619"/>
            <a:ext cx="2691812" cy="2519875"/>
            <a:chOff x="9306444" y="2179235"/>
            <a:chExt cx="2154555" cy="2016935"/>
          </a:xfrm>
        </p:grpSpPr>
        <p:pic>
          <p:nvPicPr>
            <p:cNvPr id="7" name="Picture 6" descr="ewe.png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786" b="23195"/>
            <a:stretch/>
          </p:blipFill>
          <p:spPr>
            <a:xfrm>
              <a:off x="9306444" y="2179235"/>
              <a:ext cx="2154555" cy="1682939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0006195" y="3826838"/>
              <a:ext cx="74236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/>
                <a:t>Snake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98748" y="3692517"/>
            <a:ext cx="3431591" cy="2981488"/>
            <a:chOff x="6036078" y="3361588"/>
            <a:chExt cx="3107922" cy="2700273"/>
          </a:xfrm>
        </p:grpSpPr>
        <p:pic>
          <p:nvPicPr>
            <p:cNvPr id="8" name="Picture 7" descr="Pong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36078" y="3361588"/>
              <a:ext cx="3107922" cy="2330941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257452" y="5692529"/>
              <a:ext cx="65557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/>
                <a:t>Pong</a:t>
              </a:r>
              <a:endParaRPr lang="en-US" dirty="0"/>
            </a:p>
          </p:txBody>
        </p:sp>
      </p:grpSp>
      <p:pic>
        <p:nvPicPr>
          <p:cNvPr id="15" name="Picture 14" descr="Person_icon_BLACK-01.svg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72" y="1400175"/>
            <a:ext cx="2153446" cy="2292343"/>
          </a:xfrm>
          <a:prstGeom prst="rect">
            <a:avLst/>
          </a:prstGeom>
        </p:spPr>
      </p:pic>
      <p:sp>
        <p:nvSpPr>
          <p:cNvPr id="16" name="Content Placeholder 2"/>
          <p:cNvSpPr txBox="1">
            <a:spLocks/>
          </p:cNvSpPr>
          <p:nvPr/>
        </p:nvSpPr>
        <p:spPr>
          <a:xfrm>
            <a:off x="1741404" y="2409302"/>
            <a:ext cx="4019627" cy="116152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rgbClr val="FF0000"/>
                </a:solidFill>
              </a:rPr>
              <a:t>E vocês como cientistas da computação, serão capazes de compreender e produzir sistemas computacionais</a:t>
            </a:r>
          </a:p>
        </p:txBody>
      </p:sp>
      <p:pic>
        <p:nvPicPr>
          <p:cNvPr id="17" name="Picture 16" descr="MiLLgzneT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021" y="1400176"/>
            <a:ext cx="445040" cy="34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Curso Baseado em Projetos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Tx/>
              <a:buChar char="•"/>
            </a:pPr>
            <a:r>
              <a:rPr lang="pt-BR" sz="2000" dirty="0"/>
              <a:t>Vocês desenvolverão um computador por completo, tanto o hardware, quanto software, em 10 projetos.</a:t>
            </a:r>
          </a:p>
          <a:p>
            <a:pPr marL="285750" indent="-285750">
              <a:buFontTx/>
              <a:buChar char="•"/>
            </a:pPr>
            <a:r>
              <a:rPr lang="pt-BR" sz="2000" dirty="0"/>
              <a:t>Para cada projeto a turma deverá se organizar para entregar os requisitos especificados.</a:t>
            </a:r>
          </a:p>
          <a:p>
            <a:pPr marL="285750" indent="-285750">
              <a:buFontTx/>
              <a:buChar char="•"/>
            </a:pPr>
            <a:r>
              <a:rPr lang="pt-BR" sz="2000" dirty="0"/>
              <a:t>A cada semana evoluiremos o computador até termos todo o sistema integrado. Um passo de cada vez.</a:t>
            </a:r>
          </a:p>
          <a:p>
            <a:pPr marL="285750" indent="-285750">
              <a:buFontTx/>
              <a:buChar char="•"/>
            </a:pPr>
            <a:r>
              <a:rPr lang="pt-BR" sz="2000" dirty="0"/>
              <a:t>O acompanhamento das tarefas será realizado por um Quadro Kanban (</a:t>
            </a:r>
            <a:r>
              <a:rPr lang="pt-BR" sz="2000" dirty="0" err="1"/>
              <a:t>Trello</a:t>
            </a:r>
            <a:r>
              <a:rPr lang="pt-BR" sz="2000" dirty="0"/>
              <a:t>), as entregas serão realizadas por um repositório </a:t>
            </a:r>
            <a:r>
              <a:rPr lang="pt-BR" sz="2000" dirty="0" err="1"/>
              <a:t>git</a:t>
            </a:r>
            <a:r>
              <a:rPr lang="pt-BR" sz="2000" dirty="0"/>
              <a:t> (</a:t>
            </a:r>
            <a:r>
              <a:rPr lang="pt-BR" sz="2000" dirty="0" err="1"/>
              <a:t>Github</a:t>
            </a:r>
            <a:r>
              <a:rPr lang="pt-BR" sz="2000" dirty="0"/>
              <a:t>) e comunicação pelo Slack.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652" y="4634352"/>
            <a:ext cx="3996720" cy="195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9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Quadro Kanban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•"/>
            </a:pPr>
            <a:r>
              <a:rPr lang="pt-BR" dirty="0"/>
              <a:t>Acessar o Trello (</a:t>
            </a:r>
            <a:r>
              <a:rPr lang="pt-BR" dirty="0">
                <a:hlinkClick r:id="rId3"/>
              </a:rPr>
              <a:t>https://trello.com</a:t>
            </a:r>
            <a:r>
              <a:rPr lang="pt-BR" dirty="0"/>
              <a:t>)</a:t>
            </a:r>
          </a:p>
          <a:p>
            <a:pPr marL="285750" indent="-285750">
              <a:buFontTx/>
              <a:buChar char="•"/>
            </a:pPr>
            <a:r>
              <a:rPr lang="pt-BR" dirty="0"/>
              <a:t>Guia do Trello (</a:t>
            </a:r>
            <a:r>
              <a:rPr lang="pt-BR" dirty="0">
                <a:hlinkClick r:id="rId4"/>
              </a:rPr>
              <a:t>https://trello.com/guide</a:t>
            </a:r>
            <a:r>
              <a:rPr lang="pt-BR" dirty="0"/>
              <a:t>)</a:t>
            </a:r>
          </a:p>
          <a:p>
            <a:pPr marL="285750" indent="-285750">
              <a:buFontTx/>
              <a:buChar char="•"/>
            </a:pPr>
            <a:r>
              <a:rPr lang="pt-BR" dirty="0"/>
              <a:t>Acessar Trello do curso (vocês serão convidados posteriormente)</a:t>
            </a:r>
          </a:p>
          <a:p>
            <a:pPr marL="285750" indent="-285750">
              <a:buFontTx/>
              <a:buChar char="•"/>
            </a:pPr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" y="2439906"/>
            <a:ext cx="6638120" cy="41448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206" y="4111712"/>
            <a:ext cx="4475878" cy="25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6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Todo o desenvolvimento do projeto deve ser entregue pelo Github.</a:t>
            </a:r>
          </a:p>
          <a:p>
            <a:r>
              <a:rPr lang="pt-BR" dirty="0"/>
              <a:t>(vocês também serão convidados posteriormente)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347" y="2230647"/>
            <a:ext cx="6013330" cy="453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8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249791" cy="4724400"/>
          </a:xfrm>
        </p:spPr>
        <p:txBody>
          <a:bodyPr/>
          <a:lstStyle/>
          <a:p>
            <a:r>
              <a:rPr lang="pt-BR" b="1" dirty="0"/>
              <a:t>Windows</a:t>
            </a:r>
            <a:r>
              <a:rPr lang="pt-BR" dirty="0"/>
              <a:t>:</a:t>
            </a:r>
          </a:p>
          <a:p>
            <a:pPr marL="285750" indent="-285750">
              <a:buFontTx/>
              <a:buChar char="-"/>
            </a:pPr>
            <a:r>
              <a:rPr lang="pt-BR" dirty="0"/>
              <a:t>Instale o Git: </a:t>
            </a:r>
            <a:r>
              <a:rPr lang="pt-BR" dirty="0">
                <a:hlinkClick r:id="rId3"/>
              </a:rPr>
              <a:t>https://git-scm.com/download/win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Pode ser necessário reiniciar o computador</a:t>
            </a:r>
          </a:p>
          <a:p>
            <a:endParaRPr lang="pt-BR" b="1" dirty="0"/>
          </a:p>
          <a:p>
            <a:r>
              <a:rPr lang="pt-BR" b="1" dirty="0"/>
              <a:t>Linux</a:t>
            </a:r>
            <a:r>
              <a:rPr lang="pt-BR" dirty="0"/>
              <a:t>:</a:t>
            </a:r>
          </a:p>
          <a:p>
            <a:pPr marL="285750" indent="-285750">
              <a:buFontTx/>
              <a:buChar char="-"/>
            </a:pPr>
            <a:r>
              <a:rPr lang="pt-BR" dirty="0"/>
              <a:t>Siga as instruções conforme sua distribuição: </a:t>
            </a:r>
            <a:br>
              <a:rPr lang="pt-BR" dirty="0"/>
            </a:br>
            <a:r>
              <a:rPr lang="pt-BR" dirty="0">
                <a:hlinkClick r:id="rId4"/>
              </a:rPr>
              <a:t>https://git-scm.com/download/linux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Mac</a:t>
            </a:r>
            <a:r>
              <a:rPr lang="pt-BR" dirty="0"/>
              <a:t>:</a:t>
            </a:r>
          </a:p>
          <a:p>
            <a:pPr marL="285750" indent="-285750">
              <a:buFontTx/>
              <a:buChar char="-"/>
            </a:pPr>
            <a:r>
              <a:rPr lang="pt-BR" dirty="0"/>
              <a:t>Normalmente já vem instalado, senão digite “</a:t>
            </a:r>
            <a:r>
              <a:rPr lang="pt-BR" dirty="0" err="1"/>
              <a:t>git</a:t>
            </a:r>
            <a:r>
              <a:rPr lang="pt-BR" dirty="0"/>
              <a:t>”  na linha de comando que uma mensagem para instalar devera aparecer. (internamente é executado “</a:t>
            </a:r>
            <a:r>
              <a:rPr lang="pt-BR" dirty="0" err="1"/>
              <a:t>xcode-select</a:t>
            </a:r>
            <a:r>
              <a:rPr lang="pt-BR" dirty="0"/>
              <a:t> –</a:t>
            </a:r>
            <a:r>
              <a:rPr lang="pt-BR" dirty="0" err="1"/>
              <a:t>install</a:t>
            </a:r>
            <a:r>
              <a:rPr lang="pt-BR" dirty="0"/>
              <a:t>”)</a:t>
            </a:r>
          </a:p>
          <a:p>
            <a:endParaRPr lang="pt-BR" dirty="0"/>
          </a:p>
          <a:p>
            <a:pPr marL="285750" indent="-285750">
              <a:buFontTx/>
              <a:buChar char="-"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546171" y="5706072"/>
            <a:ext cx="60516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Atenção: Não é recomendado o uso do GitHub Desktop</a:t>
            </a:r>
          </a:p>
        </p:txBody>
      </p:sp>
    </p:spTree>
    <p:extLst>
      <p:ext uri="{BB962C8B-B14F-4D97-AF65-F5344CB8AC3E}">
        <p14:creationId xmlns:p14="http://schemas.microsoft.com/office/powerpoint/2010/main" val="68288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Slack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Use para fazer suas perguntas e responder as dúvidas dos colegas.</a:t>
            </a:r>
          </a:p>
          <a:p>
            <a:r>
              <a:rPr lang="pt-BR" dirty="0"/>
              <a:t>Para se comunicar, e o que mais acharem interessante.</a:t>
            </a:r>
          </a:p>
          <a:p>
            <a:r>
              <a:rPr lang="pt-BR" dirty="0"/>
              <a:t>(</a:t>
            </a:r>
            <a:r>
              <a:rPr lang="pt-BR" dirty="0">
                <a:hlinkClick r:id="rId2"/>
              </a:rPr>
              <a:t>https://elementosdesistemas.slack.com/</a:t>
            </a:r>
            <a:r>
              <a:rPr lang="pt-BR" dirty="0"/>
              <a:t>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08" y="2603058"/>
            <a:ext cx="6593984" cy="425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8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Quartus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Software que usaremos para programar a FPGA (Windows ou Linux). Baixar o Quartus Prime Lite.  </a:t>
            </a:r>
          </a:p>
          <a:p>
            <a:r>
              <a:rPr lang="pt-BR" dirty="0">
                <a:hlinkClick r:id="rId2"/>
              </a:rPr>
              <a:t>https://www.altera.com/downloads/download-center.html</a:t>
            </a:r>
            <a:endParaRPr lang="pt-BR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150" y="2601175"/>
            <a:ext cx="6235700" cy="3149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7224" y="5755843"/>
            <a:ext cx="70326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Precisaremos desse software para a quinta aula.</a:t>
            </a:r>
          </a:p>
        </p:txBody>
      </p:sp>
    </p:spTree>
    <p:extLst>
      <p:ext uri="{BB962C8B-B14F-4D97-AF65-F5344CB8AC3E}">
        <p14:creationId xmlns:p14="http://schemas.microsoft.com/office/powerpoint/2010/main" val="76391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Calendários (Opcional)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Calendários compartilhados ajudam a sincronizar trabalhos e estudos em grupos: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13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71177"/>
            <a:ext cx="4484216" cy="29876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801" y="2335423"/>
            <a:ext cx="3868036" cy="32233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52261" y="5644511"/>
            <a:ext cx="3786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5"/>
              </a:rPr>
              <a:t>https://calendar.google.com/calendar</a:t>
            </a:r>
            <a:r>
              <a:rPr lang="pt-BR" dirty="0"/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8887" y="5644511"/>
            <a:ext cx="2592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6"/>
              </a:rPr>
              <a:t>http://www.outlook.com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02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Livros de Referência do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The Elements of Computing Systems</a:t>
            </a:r>
          </a:p>
          <a:p>
            <a:r>
              <a:rPr lang="pt-BR" i="1" dirty="0"/>
              <a:t>Noam </a:t>
            </a:r>
            <a:r>
              <a:rPr lang="pt-BR" i="1" dirty="0" err="1"/>
              <a:t>Nisan</a:t>
            </a:r>
            <a:endParaRPr lang="pt-BR" i="1" dirty="0"/>
          </a:p>
          <a:p>
            <a:r>
              <a:rPr lang="pt-BR" i="1" dirty="0"/>
              <a:t>Shimon </a:t>
            </a:r>
            <a:r>
              <a:rPr lang="pt-BR" i="1" dirty="0" err="1"/>
              <a:t>Schocken</a:t>
            </a:r>
            <a:r>
              <a:rPr lang="pt-BR" i="1" dirty="0"/>
              <a:t>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en-US" b="1" i="1" dirty="0"/>
              <a:t>Computer Organization and Design </a:t>
            </a:r>
          </a:p>
          <a:p>
            <a:r>
              <a:rPr lang="pt-BR" i="1" dirty="0"/>
              <a:t>David A. Patterson</a:t>
            </a:r>
          </a:p>
          <a:p>
            <a:r>
              <a:rPr lang="pt-BR" i="1" dirty="0"/>
              <a:t>John L. </a:t>
            </a:r>
            <a:r>
              <a:rPr lang="pt-BR" i="1" dirty="0" err="1"/>
              <a:t>Hennessy</a:t>
            </a:r>
            <a:r>
              <a:rPr lang="pt-BR" i="1" dirty="0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14</a:t>
            </a:fld>
            <a:endParaRPr lang="pt-BR" dirty="0"/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FE5E5C-C80A-4D8D-A711-3102A7BA9258}" type="slidenum">
              <a:rPr lang="pt-BR" smtClean="0"/>
              <a:pPr/>
              <a:t>14</a:t>
            </a:fld>
            <a:endParaRPr lang="pt-BR" dirty="0"/>
          </a:p>
        </p:txBody>
      </p:sp>
      <p:pic>
        <p:nvPicPr>
          <p:cNvPr id="8" name="Picture 6" descr="http://thumbs.buscape.com.br/livros/computer-organization-and-design-revised-fourth-edition-fourth-edition-the-hardware-software-interface-the-morgan-kaufmann-series-in-computer-architecture-and-design-david-a-patterson-john-l-hennessy-0123747503_200x200-PU3c579cde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41398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ttp://thumbs.buscape.com.br/livros/organizacao-e-projeto-de-computadores-4-ed-2014-john-l-hennessy-david-a-patterson-853523585x_200x200-PU6e7a8681_1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3" r="14073"/>
          <a:stretch/>
        </p:blipFill>
        <p:spPr bwMode="auto">
          <a:xfrm>
            <a:off x="7329301" y="4059072"/>
            <a:ext cx="1683616" cy="234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http://ecx.images-amazon.com/images/I/51h%2BQaiDsvL._SX443_BO1,204,203,200_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900" y="1518441"/>
            <a:ext cx="1413755" cy="158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252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403" y="1485899"/>
            <a:ext cx="8576927" cy="2332339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Ver estudo para aula 8 sobre </a:t>
            </a:r>
            <a:r>
              <a:rPr lang="pt-BR" sz="2400" b="1" dirty="0"/>
              <a:t>Lógica Sequencial</a:t>
            </a:r>
            <a:r>
              <a:rPr lang="pt-BR" sz="2400" dirty="0"/>
              <a:t> 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Estudar Lista de Exercícios Aula 7 (opcional):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Ler (opcional)</a:t>
            </a:r>
          </a:p>
          <a:p>
            <a:pPr marL="285750" indent="-285750">
              <a:buFont typeface="Arial"/>
              <a:buChar char="•"/>
            </a:pPr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15</a:t>
            </a:fld>
            <a:endParaRPr lang="pt-BR" dirty="0"/>
          </a:p>
        </p:txBody>
      </p:sp>
      <p:pic>
        <p:nvPicPr>
          <p:cNvPr id="9" name="Picture 6" descr="http://ecx.images-amazon.com/images/I/51h%2BQaiDsvL._SX443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22" y="3437105"/>
            <a:ext cx="1029731" cy="11570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96035" y="3351582"/>
            <a:ext cx="768828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i="1" dirty="0"/>
              <a:t>The </a:t>
            </a:r>
            <a:r>
              <a:rPr lang="pt-BR" sz="2400" b="1" i="1" dirty="0" err="1"/>
              <a:t>Elements</a:t>
            </a:r>
            <a:r>
              <a:rPr lang="pt-BR" sz="2400" b="1" i="1" dirty="0"/>
              <a:t> </a:t>
            </a:r>
            <a:r>
              <a:rPr lang="pt-BR" sz="2400" b="1" i="1" dirty="0" err="1"/>
              <a:t>of</a:t>
            </a:r>
            <a:r>
              <a:rPr lang="pt-BR" sz="2400" b="1" i="1" dirty="0"/>
              <a:t> </a:t>
            </a:r>
            <a:r>
              <a:rPr lang="pt-BR" sz="2400" b="1" i="1" dirty="0" err="1"/>
              <a:t>Computing</a:t>
            </a:r>
            <a:r>
              <a:rPr lang="pt-BR" sz="2400" b="1" i="1" dirty="0"/>
              <a:t> Systems</a:t>
            </a:r>
          </a:p>
          <a:p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Building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Modern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Computer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First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Principles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400" i="1" dirty="0"/>
              <a:t>Noam Nisan e Shimon Schocken</a:t>
            </a:r>
          </a:p>
          <a:p>
            <a:r>
              <a:rPr lang="pt-BR" sz="2400" dirty="0"/>
              <a:t>Capítulo 3</a:t>
            </a:r>
          </a:p>
          <a:p>
            <a:endParaRPr lang="pt-BR" sz="2400" dirty="0"/>
          </a:p>
          <a:p>
            <a:r>
              <a:rPr lang="pt-BR" sz="2400" b="1" i="1" dirty="0"/>
              <a:t>Sistemas Digitais - Princípios e Aplicações</a:t>
            </a:r>
            <a:endParaRPr lang="en-US" sz="2400" b="1" i="1" dirty="0"/>
          </a:p>
          <a:p>
            <a:r>
              <a:rPr lang="en-US" sz="2400" i="1" dirty="0"/>
              <a:t>Ronald </a:t>
            </a:r>
            <a:r>
              <a:rPr lang="en-US" sz="2400" i="1" dirty="0" err="1"/>
              <a:t>Tocci</a:t>
            </a:r>
            <a:r>
              <a:rPr lang="en-US" sz="2400" i="1" dirty="0"/>
              <a:t>, Neal </a:t>
            </a:r>
            <a:r>
              <a:rPr lang="en-US" sz="2400" i="1" dirty="0" err="1"/>
              <a:t>Widmer</a:t>
            </a:r>
            <a:r>
              <a:rPr lang="en-US" sz="2400" i="1" dirty="0"/>
              <a:t> e Gregory Moss</a:t>
            </a:r>
            <a:endParaRPr lang="pt-BR" sz="2400" i="1" dirty="0"/>
          </a:p>
          <a:p>
            <a:r>
              <a:rPr lang="pt-BR" sz="2400" dirty="0"/>
              <a:t>Capítulo 5</a:t>
            </a:r>
            <a:endParaRPr lang="en-US" sz="2400" b="1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622" y="5059577"/>
            <a:ext cx="1029731" cy="138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6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do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spcAft>
                <a:spcPts val="1200"/>
              </a:spcAft>
            </a:pPr>
            <a:r>
              <a:rPr lang="en-BR" sz="2400" dirty="0"/>
              <a:t>Implementar um computador digital simples a partir de componentes eletrônicos.</a:t>
            </a:r>
          </a:p>
          <a:p>
            <a:pPr lvl="1">
              <a:spcAft>
                <a:spcPts val="1200"/>
              </a:spcAft>
            </a:pPr>
            <a:r>
              <a:rPr lang="en-BR" sz="2400" dirty="0"/>
              <a:t>Integrar as camadas de programação e execução de um computador simples.</a:t>
            </a:r>
          </a:p>
          <a:p>
            <a:pPr lvl="1">
              <a:spcAft>
                <a:spcPts val="1200"/>
              </a:spcAft>
            </a:pPr>
            <a:r>
              <a:rPr lang="en-BR" sz="2400" dirty="0"/>
              <a:t>Compreender a evolução da informática.</a:t>
            </a:r>
          </a:p>
          <a:p>
            <a:pPr lvl="1">
              <a:spcAft>
                <a:spcPts val="1200"/>
              </a:spcAft>
            </a:pPr>
            <a:r>
              <a:rPr lang="en-BR" sz="2400" dirty="0"/>
              <a:t>Descrever como dados e instruções são armazenados e tratados em computadores.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64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Verificar o plano de aprendizagem no Blackboard. Lá você encontrará mais informações de:</a:t>
            </a:r>
          </a:p>
          <a:p>
            <a:endParaRPr lang="pt-BR" sz="1100" dirty="0"/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Rubricas;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Avaliações;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Cronograma das atividades;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Horário de atendimento;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400" dirty="0"/>
              <a:t>Bibliografia.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17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2630716" y="5498137"/>
            <a:ext cx="41515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hlinkClick r:id="rId2"/>
              </a:rPr>
              <a:t>https://insper.blackboard.com/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2070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Aprendizado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1722521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•"/>
            </a:pPr>
            <a:r>
              <a:rPr lang="pt-BR" sz="2200" dirty="0"/>
              <a:t>Conhecer a organização básica de computadores;</a:t>
            </a:r>
          </a:p>
          <a:p>
            <a:pPr marL="342900" indent="-342900">
              <a:buFontTx/>
              <a:buChar char="•"/>
            </a:pPr>
            <a:r>
              <a:rPr lang="pt-BR" sz="2200" dirty="0"/>
              <a:t>Refletir sobre o impacto da computação na sociedade;</a:t>
            </a:r>
          </a:p>
          <a:p>
            <a:endParaRPr lang="pt-BR" sz="2200" dirty="0"/>
          </a:p>
          <a:p>
            <a:endParaRPr lang="pt-BR" sz="2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18</a:t>
            </a:fld>
            <a:endParaRPr lang="pt-BR" dirty="0"/>
          </a:p>
        </p:txBody>
      </p:sp>
      <p:sp>
        <p:nvSpPr>
          <p:cNvPr id="31" name="Rectangle 30"/>
          <p:cNvSpPr/>
          <p:nvPr/>
        </p:nvSpPr>
        <p:spPr>
          <a:xfrm>
            <a:off x="228176" y="5928197"/>
            <a:ext cx="8630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Conteúdos:</a:t>
            </a:r>
            <a:r>
              <a:rPr lang="pt-BR" dirty="0"/>
              <a:t> Organização de Computadores; </a:t>
            </a:r>
          </a:p>
        </p:txBody>
      </p:sp>
    </p:spTree>
    <p:extLst>
      <p:ext uri="{BB962C8B-B14F-4D97-AF65-F5344CB8AC3E}">
        <p14:creationId xmlns:p14="http://schemas.microsoft.com/office/powerpoint/2010/main" val="194719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Camadas de Abstração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177682" cy="4724400"/>
          </a:xfrm>
        </p:spPr>
        <p:txBody>
          <a:bodyPr>
            <a:noAutofit/>
          </a:bodyPr>
          <a:lstStyle/>
          <a:p>
            <a:r>
              <a:rPr lang="pt-BR" sz="2000" dirty="0"/>
              <a:t>Muitas vezes usamos algo sem saber como funciona:</a:t>
            </a:r>
          </a:p>
          <a:p>
            <a:endParaRPr lang="pt-BR" sz="1100" dirty="0"/>
          </a:p>
          <a:p>
            <a:pPr marL="285750" indent="-285750">
              <a:buFont typeface="Arial" charset="0"/>
              <a:buChar char="•"/>
            </a:pPr>
            <a:r>
              <a:rPr lang="pt-BR" sz="2000" dirty="0"/>
              <a:t>Não temos tempo de estudar;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000" dirty="0"/>
              <a:t>Não temos interesse de compreender;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000" dirty="0"/>
              <a:t>Não temos conhecimento básico para entender;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000" dirty="0"/>
              <a:t>Não temos acesso ao mecanismos interno;</a:t>
            </a:r>
          </a:p>
          <a:p>
            <a:endParaRPr lang="pt-BR" sz="2000" dirty="0"/>
          </a:p>
          <a:p>
            <a:r>
              <a:rPr lang="pt-BR" sz="2000" dirty="0"/>
              <a:t>Assim abstraímos o funcionamento de algo e simplesmente usamos. Falamos que é uma caixa preta (</a:t>
            </a:r>
            <a:r>
              <a:rPr lang="pt-BR" sz="2000" dirty="0" err="1"/>
              <a:t>black</a:t>
            </a:r>
            <a:r>
              <a:rPr lang="pt-BR" sz="2000" dirty="0"/>
              <a:t> box).</a:t>
            </a:r>
          </a:p>
          <a:p>
            <a:endParaRPr lang="pt-BR" sz="2000" dirty="0"/>
          </a:p>
          <a:p>
            <a:r>
              <a:rPr lang="pt-BR" sz="2000" dirty="0"/>
              <a:t>Se as interfaces entre as camadas de abstração forem bem definidas, podemos futuramente mudar uma camada e mesmo assim tudo continuar funcionando.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344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A664-18E8-ADF1-9F1E-B85064F86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521700" cy="619125"/>
          </a:xfrm>
        </p:spPr>
        <p:txBody>
          <a:bodyPr/>
          <a:lstStyle/>
          <a:p>
            <a:r>
              <a:rPr lang="en-US" dirty="0" err="1"/>
              <a:t>Atividade</a:t>
            </a:r>
            <a:r>
              <a:rPr lang="en-US" dirty="0"/>
              <a:t> 1 –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no </a:t>
            </a:r>
            <a:r>
              <a:rPr lang="en-US" dirty="0" err="1"/>
              <a:t>computador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AC1D3-5980-25D3-5F07-88E51E4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11024-A296-F181-C327-7347E9F87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975DE-F9D3-2B2D-A3B9-3EC02BF34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387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de Grupos para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400" dirty="0"/>
          </a:p>
          <a:p>
            <a:r>
              <a:rPr lang="pt-BR" sz="2400" dirty="0"/>
              <a:t>3 pessoas</a:t>
            </a:r>
          </a:p>
          <a:p>
            <a:endParaRPr lang="pt-BR" sz="2400" dirty="0"/>
          </a:p>
          <a:p>
            <a:pPr marL="342900" indent="-342900">
              <a:buFont typeface="Arial" charset="0"/>
              <a:buChar char="•"/>
            </a:pPr>
            <a:endParaRPr lang="pt-BR" sz="2400" dirty="0"/>
          </a:p>
          <a:p>
            <a:pPr marL="342900" indent="-342900">
              <a:buFont typeface="Arial" charset="0"/>
              <a:buChar char="•"/>
            </a:pPr>
            <a:r>
              <a:rPr lang="pt-BR" sz="2400" dirty="0"/>
              <a:t>Sempre tenha respeito com seu colega;</a:t>
            </a:r>
          </a:p>
          <a:p>
            <a:pPr marL="342900" indent="-342900">
              <a:buFont typeface="Arial" charset="0"/>
              <a:buChar char="•"/>
            </a:pPr>
            <a:r>
              <a:rPr lang="pt-BR" sz="2400" dirty="0"/>
              <a:t>Explique suas ideias aos outros de forma clara;</a:t>
            </a:r>
          </a:p>
          <a:p>
            <a:pPr marL="342900" indent="-342900">
              <a:buFont typeface="Arial" charset="0"/>
              <a:buChar char="•"/>
            </a:pPr>
            <a:r>
              <a:rPr lang="pt-BR" sz="2400" dirty="0"/>
              <a:t>Saiba ouvir as ideias e alternativas dos outros;</a:t>
            </a:r>
          </a:p>
          <a:p>
            <a:pPr marL="342900" indent="-342900">
              <a:buFont typeface="Arial" charset="0"/>
              <a:buChar char="•"/>
            </a:pPr>
            <a:r>
              <a:rPr lang="pt-BR" sz="2400" dirty="0"/>
              <a:t>Tente motivar seus colegas nas discussões.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21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152" y="1400174"/>
            <a:ext cx="1778090" cy="162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8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2a </a:t>
            </a:r>
            <a:r>
              <a:rPr lang="mr-IN" dirty="0"/>
              <a:t>–</a:t>
            </a:r>
            <a:r>
              <a:rPr lang="pt-BR" dirty="0"/>
              <a:t> Abstração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5900"/>
            <a:ext cx="8493617" cy="4724400"/>
          </a:xfrm>
        </p:spPr>
        <p:txBody>
          <a:bodyPr>
            <a:normAutofit/>
          </a:bodyPr>
          <a:lstStyle/>
          <a:p>
            <a:r>
              <a:rPr lang="pt-BR" sz="2000" dirty="0"/>
              <a:t>Organize os filetes fornecidos de forma que as camadas de abstrações mais básicas estejam na base e as mais complexas na parte superior.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22</a:t>
            </a:fld>
            <a:endParaRPr lang="pt-BR" dirty="0"/>
          </a:p>
        </p:txBody>
      </p:sp>
      <p:grpSp>
        <p:nvGrpSpPr>
          <p:cNvPr id="23" name="Group 22"/>
          <p:cNvGrpSpPr/>
          <p:nvPr/>
        </p:nvGrpSpPr>
        <p:grpSpPr>
          <a:xfrm>
            <a:off x="975287" y="2202799"/>
            <a:ext cx="7086892" cy="4064546"/>
            <a:chOff x="193893" y="1827986"/>
            <a:chExt cx="8738189" cy="501161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3"/>
            <a:srcRect t="91535"/>
            <a:stretch/>
          </p:blipFill>
          <p:spPr>
            <a:xfrm>
              <a:off x="193894" y="4916087"/>
              <a:ext cx="5011615" cy="580487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3"/>
            <a:srcRect t="58268" b="33094"/>
            <a:stretch/>
          </p:blipFill>
          <p:spPr>
            <a:xfrm rot="19135349">
              <a:off x="1163577" y="4377600"/>
              <a:ext cx="5011615" cy="592429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3"/>
            <a:srcRect t="50172" b="41565"/>
            <a:stretch/>
          </p:blipFill>
          <p:spPr>
            <a:xfrm rot="1699035">
              <a:off x="3920467" y="3947809"/>
              <a:ext cx="5011615" cy="56667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3"/>
            <a:srcRect t="41416" b="49722"/>
            <a:stretch/>
          </p:blipFill>
          <p:spPr>
            <a:xfrm rot="1417537">
              <a:off x="2729536" y="5219944"/>
              <a:ext cx="5011615" cy="607722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3"/>
            <a:srcRect t="33492" b="58173"/>
            <a:stretch/>
          </p:blipFill>
          <p:spPr>
            <a:xfrm rot="1023219">
              <a:off x="2264570" y="3079952"/>
              <a:ext cx="5011615" cy="571634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3"/>
            <a:srcRect t="24785" b="66389"/>
            <a:stretch/>
          </p:blipFill>
          <p:spPr>
            <a:xfrm rot="20386151">
              <a:off x="2396465" y="4903675"/>
              <a:ext cx="5011615" cy="60530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3"/>
            <a:srcRect t="16597" b="74711"/>
            <a:stretch/>
          </p:blipFill>
          <p:spPr>
            <a:xfrm rot="20888930">
              <a:off x="3677218" y="2865791"/>
              <a:ext cx="5011615" cy="59605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3"/>
            <a:srcRect t="8422" b="83333"/>
            <a:stretch/>
          </p:blipFill>
          <p:spPr>
            <a:xfrm rot="19896214">
              <a:off x="193893" y="3517342"/>
              <a:ext cx="5011615" cy="565463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/>
            <a:srcRect t="66740" b="24809"/>
            <a:stretch/>
          </p:blipFill>
          <p:spPr>
            <a:xfrm>
              <a:off x="735260" y="3622812"/>
              <a:ext cx="5011615" cy="579549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3"/>
            <a:srcRect t="75026" b="16299"/>
            <a:stretch/>
          </p:blipFill>
          <p:spPr>
            <a:xfrm rot="19622630">
              <a:off x="3756186" y="4882370"/>
              <a:ext cx="5011615" cy="59497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3"/>
            <a:srcRect t="83317" b="7857"/>
            <a:stretch/>
          </p:blipFill>
          <p:spPr>
            <a:xfrm rot="18510679">
              <a:off x="69262" y="4031140"/>
              <a:ext cx="5011615" cy="605307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3"/>
            <a:srcRect b="91125"/>
            <a:stretch/>
          </p:blipFill>
          <p:spPr>
            <a:xfrm rot="1649591">
              <a:off x="713571" y="3522644"/>
              <a:ext cx="5011615" cy="608661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803026" y="6366237"/>
            <a:ext cx="55379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b="1">
                <a:solidFill>
                  <a:srgbClr val="FF0000"/>
                </a:solidFill>
              </a:rPr>
              <a:t>Caso não saiba, pesquise na Internet do que se trata.</a:t>
            </a:r>
          </a:p>
        </p:txBody>
      </p:sp>
    </p:spTree>
    <p:extLst>
      <p:ext uri="{BB962C8B-B14F-4D97-AF65-F5344CB8AC3E}">
        <p14:creationId xmlns:p14="http://schemas.microsoft.com/office/powerpoint/2010/main" val="89170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Níveis de Abstração</a:t>
            </a:r>
          </a:p>
        </p:txBody>
      </p:sp>
      <p:sp>
        <p:nvSpPr>
          <p:cNvPr id="11" name="Freeform 10"/>
          <p:cNvSpPr/>
          <p:nvPr/>
        </p:nvSpPr>
        <p:spPr>
          <a:xfrm>
            <a:off x="2394156" y="1555279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Aplicação</a:t>
            </a:r>
          </a:p>
        </p:txBody>
      </p:sp>
      <p:sp>
        <p:nvSpPr>
          <p:cNvPr id="12" name="Freeform 11"/>
          <p:cNvSpPr/>
          <p:nvPr/>
        </p:nvSpPr>
        <p:spPr>
          <a:xfrm>
            <a:off x="2394156" y="1950162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Sistema Operacional</a:t>
            </a:r>
          </a:p>
        </p:txBody>
      </p:sp>
      <p:sp>
        <p:nvSpPr>
          <p:cNvPr id="13" name="Freeform 12"/>
          <p:cNvSpPr/>
          <p:nvPr/>
        </p:nvSpPr>
        <p:spPr>
          <a:xfrm>
            <a:off x="2394156" y="2345045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Linguagem de Alto Nível</a:t>
            </a:r>
          </a:p>
        </p:txBody>
      </p:sp>
      <p:sp>
        <p:nvSpPr>
          <p:cNvPr id="14" name="Freeform 13"/>
          <p:cNvSpPr/>
          <p:nvPr/>
        </p:nvSpPr>
        <p:spPr>
          <a:xfrm>
            <a:off x="2394156" y="2739927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Linguagem de Máquina Virtual</a:t>
            </a:r>
          </a:p>
        </p:txBody>
      </p:sp>
      <p:sp>
        <p:nvSpPr>
          <p:cNvPr id="15" name="Freeform 14"/>
          <p:cNvSpPr/>
          <p:nvPr/>
        </p:nvSpPr>
        <p:spPr>
          <a:xfrm>
            <a:off x="2394156" y="3134810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Linguagem Assembly</a:t>
            </a:r>
          </a:p>
        </p:txBody>
      </p:sp>
      <p:sp>
        <p:nvSpPr>
          <p:cNvPr id="16" name="Freeform 15"/>
          <p:cNvSpPr/>
          <p:nvPr/>
        </p:nvSpPr>
        <p:spPr>
          <a:xfrm>
            <a:off x="2394156" y="3529693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Linguagem de Máquina </a:t>
            </a:r>
          </a:p>
        </p:txBody>
      </p:sp>
      <p:sp>
        <p:nvSpPr>
          <p:cNvPr id="17" name="Freeform 16"/>
          <p:cNvSpPr/>
          <p:nvPr/>
        </p:nvSpPr>
        <p:spPr>
          <a:xfrm>
            <a:off x="2394156" y="3924575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Unidade Central de Processamento</a:t>
            </a:r>
          </a:p>
        </p:txBody>
      </p:sp>
      <p:sp>
        <p:nvSpPr>
          <p:cNvPr id="18" name="Freeform 17"/>
          <p:cNvSpPr/>
          <p:nvPr/>
        </p:nvSpPr>
        <p:spPr>
          <a:xfrm>
            <a:off x="2394156" y="4319458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Lógica Sequencial (Memória)</a:t>
            </a:r>
          </a:p>
        </p:txBody>
      </p:sp>
      <p:sp>
        <p:nvSpPr>
          <p:cNvPr id="19" name="Freeform 18"/>
          <p:cNvSpPr/>
          <p:nvPr/>
        </p:nvSpPr>
        <p:spPr>
          <a:xfrm>
            <a:off x="2394156" y="4714341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Unidade Lógica Aritmética</a:t>
            </a:r>
          </a:p>
        </p:txBody>
      </p:sp>
      <p:sp>
        <p:nvSpPr>
          <p:cNvPr id="20" name="Freeform 19"/>
          <p:cNvSpPr/>
          <p:nvPr/>
        </p:nvSpPr>
        <p:spPr>
          <a:xfrm>
            <a:off x="2394156" y="5109223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Lógica Combinacional</a:t>
            </a:r>
          </a:p>
        </p:txBody>
      </p:sp>
      <p:sp>
        <p:nvSpPr>
          <p:cNvPr id="21" name="Freeform 20"/>
          <p:cNvSpPr/>
          <p:nvPr/>
        </p:nvSpPr>
        <p:spPr>
          <a:xfrm>
            <a:off x="2394156" y="5504106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Portas Lógicas</a:t>
            </a:r>
          </a:p>
        </p:txBody>
      </p:sp>
      <p:sp>
        <p:nvSpPr>
          <p:cNvPr id="22" name="Freeform 21"/>
          <p:cNvSpPr/>
          <p:nvPr/>
        </p:nvSpPr>
        <p:spPr>
          <a:xfrm>
            <a:off x="2394156" y="5898989"/>
            <a:ext cx="3689562" cy="378321"/>
          </a:xfrm>
          <a:custGeom>
            <a:avLst/>
            <a:gdLst>
              <a:gd name="connsiteX0" fmla="*/ 0 w 3689562"/>
              <a:gd name="connsiteY0" fmla="*/ 37832 h 378321"/>
              <a:gd name="connsiteX1" fmla="*/ 37832 w 3689562"/>
              <a:gd name="connsiteY1" fmla="*/ 0 h 378321"/>
              <a:gd name="connsiteX2" fmla="*/ 3651730 w 3689562"/>
              <a:gd name="connsiteY2" fmla="*/ 0 h 378321"/>
              <a:gd name="connsiteX3" fmla="*/ 3689562 w 3689562"/>
              <a:gd name="connsiteY3" fmla="*/ 37832 h 378321"/>
              <a:gd name="connsiteX4" fmla="*/ 3689562 w 3689562"/>
              <a:gd name="connsiteY4" fmla="*/ 340489 h 378321"/>
              <a:gd name="connsiteX5" fmla="*/ 3651730 w 3689562"/>
              <a:gd name="connsiteY5" fmla="*/ 378321 h 378321"/>
              <a:gd name="connsiteX6" fmla="*/ 37832 w 3689562"/>
              <a:gd name="connsiteY6" fmla="*/ 378321 h 378321"/>
              <a:gd name="connsiteX7" fmla="*/ 0 w 3689562"/>
              <a:gd name="connsiteY7" fmla="*/ 340489 h 378321"/>
              <a:gd name="connsiteX8" fmla="*/ 0 w 3689562"/>
              <a:gd name="connsiteY8" fmla="*/ 37832 h 37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89562" h="378321">
                <a:moveTo>
                  <a:pt x="0" y="37832"/>
                </a:moveTo>
                <a:cubicBezTo>
                  <a:pt x="0" y="16938"/>
                  <a:pt x="16938" y="0"/>
                  <a:pt x="37832" y="0"/>
                </a:cubicBezTo>
                <a:lnTo>
                  <a:pt x="3651730" y="0"/>
                </a:lnTo>
                <a:cubicBezTo>
                  <a:pt x="3672624" y="0"/>
                  <a:pt x="3689562" y="16938"/>
                  <a:pt x="3689562" y="37832"/>
                </a:cubicBezTo>
                <a:lnTo>
                  <a:pt x="3689562" y="340489"/>
                </a:lnTo>
                <a:cubicBezTo>
                  <a:pt x="3689562" y="361383"/>
                  <a:pt x="3672624" y="378321"/>
                  <a:pt x="3651730" y="378321"/>
                </a:cubicBezTo>
                <a:lnTo>
                  <a:pt x="37832" y="378321"/>
                </a:lnTo>
                <a:cubicBezTo>
                  <a:pt x="16938" y="378321"/>
                  <a:pt x="0" y="361383"/>
                  <a:pt x="0" y="340489"/>
                </a:cubicBezTo>
                <a:lnTo>
                  <a:pt x="0" y="378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041" tIns="72041" rIns="72041" bIns="72041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600" b="1" kern="1200" dirty="0"/>
              <a:t>Transistores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23</a:t>
            </a:fld>
            <a:endParaRPr lang="pt-BR" dirty="0"/>
          </a:p>
        </p:txBody>
      </p:sp>
      <p:sp>
        <p:nvSpPr>
          <p:cNvPr id="7" name="Up Arrow 6"/>
          <p:cNvSpPr/>
          <p:nvPr/>
        </p:nvSpPr>
        <p:spPr>
          <a:xfrm>
            <a:off x="6523836" y="1848501"/>
            <a:ext cx="542411" cy="4288018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 rot="16200000">
            <a:off x="5699200" y="3969718"/>
            <a:ext cx="3015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O curso seguirá esse caminho.</a:t>
            </a:r>
          </a:p>
        </p:txBody>
      </p:sp>
      <p:sp>
        <p:nvSpPr>
          <p:cNvPr id="10" name="Rectangle 9"/>
          <p:cNvSpPr/>
          <p:nvPr/>
        </p:nvSpPr>
        <p:spPr>
          <a:xfrm rot="16200000">
            <a:off x="-392288" y="3731629"/>
            <a:ext cx="4724400" cy="36933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  Hardware                                                  Software</a:t>
            </a:r>
          </a:p>
        </p:txBody>
      </p:sp>
    </p:spTree>
    <p:extLst>
      <p:ext uri="{BB962C8B-B14F-4D97-AF65-F5344CB8AC3E}">
        <p14:creationId xmlns:p14="http://schemas.microsoft.com/office/powerpoint/2010/main" val="200451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7" grpId="0" animBg="1"/>
      <p:bldP spid="9" grpId="0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43C7-F252-9B09-0A99-E8F701B3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Atividade</a:t>
            </a:r>
            <a:r>
              <a:rPr lang="en-US" dirty="0"/>
              <a:t> 2 – 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8D038-CF0B-2DBD-5CE5-74F56F022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BR" sz="2400" dirty="0"/>
              <a:t>2: Associar logos as camadas!</a:t>
            </a:r>
          </a:p>
          <a:p>
            <a:endParaRPr lang="en-BR" sz="2400" dirty="0"/>
          </a:p>
          <a:p>
            <a:r>
              <a:rPr lang="en-BR" sz="2400" dirty="0"/>
              <a:t>3: Façam aqui um diagrama de como vocês acham que os principais componentes de uma CPU se conectam</a:t>
            </a:r>
          </a:p>
          <a:p>
            <a:endParaRPr lang="en-BR" sz="2400" dirty="0"/>
          </a:p>
          <a:p>
            <a:r>
              <a:rPr lang="en-BR" sz="2400" dirty="0"/>
              <a:t>4: Vamos pensar na hierarquia de memória de uma CPU, para cada andar da pirâmide associe uma tecnologia</a:t>
            </a:r>
          </a:p>
          <a:p>
            <a:endParaRPr lang="en-BR" sz="2400" dirty="0"/>
          </a:p>
          <a:p>
            <a:r>
              <a:rPr lang="en-BR" sz="2400" dirty="0"/>
              <a:t>5: Benchmark</a:t>
            </a:r>
          </a:p>
          <a:p>
            <a:endParaRPr lang="en-BR" sz="2400" dirty="0"/>
          </a:p>
          <a:p>
            <a:r>
              <a:rPr lang="en-US" sz="2400" dirty="0"/>
              <a:t>6: </a:t>
            </a:r>
            <a:r>
              <a:rPr lang="en-US" sz="2400" dirty="0" err="1"/>
              <a:t>Outras</a:t>
            </a:r>
            <a:r>
              <a:rPr lang="en-US" sz="2400" dirty="0"/>
              <a:t> </a:t>
            </a:r>
            <a:r>
              <a:rPr lang="en-US" sz="2400" dirty="0" err="1"/>
              <a:t>Perguntas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517AF-0674-E46C-DA97-5DDA525CF4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90B34-68F1-B49B-D541-9E5348410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4944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Hollerith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5228420" cy="4724400"/>
          </a:xfrm>
        </p:spPr>
        <p:txBody>
          <a:bodyPr>
            <a:normAutofit/>
          </a:bodyPr>
          <a:lstStyle/>
          <a:p>
            <a:r>
              <a:rPr lang="pt-BR" sz="2000" dirty="0"/>
              <a:t>O senso dos Estados Unidos de 1880 levou 7,5 anos. A automatização era claramente necessária. Foi quando Herman Hollerith, propôs o uso de sua máquina de tabular para os cálculos.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25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342" y="1485901"/>
            <a:ext cx="2732457" cy="32277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7225" y="3566100"/>
            <a:ext cx="47776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A empresa do Hollerith viria a se transforma na: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573" y="4397097"/>
            <a:ext cx="2209774" cy="2117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54341" y="4713668"/>
            <a:ext cx="2732457" cy="492443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r>
              <a:rPr lang="pt-BR" sz="1300" dirty="0"/>
              <a:t>Tabulador Eletrônico de Hollerith, 1902</a:t>
            </a:r>
            <a:br>
              <a:rPr lang="pt-BR" sz="1300" dirty="0"/>
            </a:br>
            <a:r>
              <a:rPr lang="pt-BR" sz="1300" dirty="0"/>
              <a:t>(</a:t>
            </a:r>
            <a:r>
              <a:rPr lang="pt-BR" sz="1300" dirty="0" err="1"/>
              <a:t>www.census.gov</a:t>
            </a:r>
            <a:r>
              <a:rPr lang="pt-BR" sz="1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958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Computadores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485900"/>
            <a:ext cx="8364828" cy="4724400"/>
          </a:xfrm>
        </p:spPr>
        <p:txBody>
          <a:bodyPr>
            <a:noAutofit/>
          </a:bodyPr>
          <a:lstStyle/>
          <a:p>
            <a:r>
              <a:rPr lang="pt-BR" sz="2000" dirty="0"/>
              <a:t>50 anos atrás os computadores basicamente não existiam. Eram dispositivos restritos e limitados. Hoje a maior parte da população e instituições tem acesso a recursos computacionais. Escolha um tema abaixo, pegue alguns post-its e tente traçar quais foram as principais mudanças que aconteceram no tema escolhido nos últimos 50 anos devido a computação:</a:t>
            </a:r>
          </a:p>
          <a:p>
            <a:endParaRPr lang="pt-BR" sz="1400" b="1" dirty="0"/>
          </a:p>
          <a:p>
            <a:r>
              <a:rPr lang="pt-BR" sz="2000" b="1" dirty="0"/>
              <a:t>Temas:</a:t>
            </a:r>
          </a:p>
          <a:p>
            <a:pPr marL="285750" indent="-285750">
              <a:buFont typeface="Arial" charset="0"/>
              <a:buChar char="•"/>
            </a:pPr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26</a:t>
            </a:fld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725687" y="4031086"/>
            <a:ext cx="7452397" cy="2255177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sz="2800" dirty="0"/>
              <a:t>Economia;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Política;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Religião;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Relacionamento;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Alimentação;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Transporte;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Saúde;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Indústria;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Ciência;</a:t>
            </a:r>
          </a:p>
          <a:p>
            <a:pPr marL="285750" indent="-285750">
              <a:buFont typeface="Arial" charset="0"/>
              <a:buChar char="•"/>
            </a:pPr>
            <a:r>
              <a:rPr lang="pt-BR" sz="2800" dirty="0"/>
              <a:t>Comportamento.</a:t>
            </a:r>
          </a:p>
        </p:txBody>
      </p:sp>
    </p:spTree>
    <p:extLst>
      <p:ext uri="{BB962C8B-B14F-4D97-AF65-F5344CB8AC3E}">
        <p14:creationId xmlns:p14="http://schemas.microsoft.com/office/powerpoint/2010/main" val="14265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394700" cy="619125"/>
          </a:xfrm>
        </p:spPr>
        <p:txBody>
          <a:bodyPr/>
          <a:lstStyle/>
          <a:p>
            <a:r>
              <a:rPr lang="pt-BR" dirty="0"/>
              <a:t>Atividade 2b </a:t>
            </a:r>
            <a:r>
              <a:rPr lang="mr-IN" dirty="0"/>
              <a:t>–</a:t>
            </a:r>
            <a:r>
              <a:rPr lang="pt-BR" dirty="0"/>
              <a:t> </a:t>
            </a:r>
            <a:r>
              <a:rPr lang="pt-BR" sz="2800" dirty="0"/>
              <a:t>Evolução dos Computadores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5900"/>
            <a:ext cx="8493617" cy="4724400"/>
          </a:xfrm>
        </p:spPr>
        <p:txBody>
          <a:bodyPr>
            <a:normAutofit/>
          </a:bodyPr>
          <a:lstStyle/>
          <a:p>
            <a:r>
              <a:rPr lang="pt-BR" sz="2000" dirty="0"/>
              <a:t>Responda em grupo as seguintes perguntas:</a:t>
            </a:r>
          </a:p>
          <a:p>
            <a:endParaRPr lang="pt-BR" sz="105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De forma geral, quais dos níveis de abstração vocês acham que mais mudaram/evoluíram nos últimos 50 anos.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O que mais influenciou e viabilizou mudanças no tema que você escolheu, a evolução do Hardware ou do Software?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O que mais impactou a mudança no tema que você escolheu, os grandes servidores ou a computação móvel?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As pessoas levam menos tempo para fazer algo, ou não fazem mais, ou começaram a fazer algo?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2000" dirty="0"/>
              <a:t>Quais seriam as próximas mudanças que vocês visualizam para os próximos 50 anos?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27</a:t>
            </a:fld>
            <a:endParaRPr lang="pt-BR" dirty="0"/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1250225" y="6061516"/>
            <a:ext cx="66435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 err="1"/>
              <a:t>https</a:t>
            </a:r>
            <a:r>
              <a:rPr lang="pt-BR" sz="2800" b="1" dirty="0"/>
              <a:t>://</a:t>
            </a:r>
            <a:r>
              <a:rPr lang="pt-BR" sz="2800" b="1" dirty="0" err="1"/>
              <a:t>goo.gl</a:t>
            </a:r>
            <a:r>
              <a:rPr lang="pt-BR" sz="2800" b="1" dirty="0"/>
              <a:t>/</a:t>
            </a:r>
            <a:r>
              <a:rPr lang="pt-BR" sz="2800" b="1" dirty="0" err="1"/>
              <a:t>forms</a:t>
            </a:r>
            <a:r>
              <a:rPr lang="pt-BR" sz="2800" b="1" dirty="0"/>
              <a:t>/8ak9kFwLNFdU49T22</a:t>
            </a:r>
          </a:p>
        </p:txBody>
      </p:sp>
    </p:spTree>
    <p:extLst>
      <p:ext uri="{BB962C8B-B14F-4D97-AF65-F5344CB8AC3E}">
        <p14:creationId xmlns:p14="http://schemas.microsoft.com/office/powerpoint/2010/main" val="160849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Reflexão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193" y="2019300"/>
            <a:ext cx="8029575" cy="34706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b="1" dirty="0"/>
              <a:t>Alguns fundamentos dificilmente mudam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28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7936" r="53662"/>
          <a:stretch/>
        </p:blipFill>
        <p:spPr>
          <a:xfrm>
            <a:off x="6658376" y="1504845"/>
            <a:ext cx="1986844" cy="1293457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622656" y="3753389"/>
            <a:ext cx="8029575" cy="35496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pt-BR" b="1" dirty="0"/>
              <a:t>As implementações normalmente evoluem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376" y="3153857"/>
            <a:ext cx="1818595" cy="1712354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622656" y="5462389"/>
            <a:ext cx="8029575" cy="35496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pt-BR" b="1" dirty="0"/>
              <a:t>O estilo de vida das pessoas pode mudar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r="19940"/>
          <a:stretch/>
        </p:blipFill>
        <p:spPr>
          <a:xfrm>
            <a:off x="6574251" y="5161337"/>
            <a:ext cx="1986844" cy="12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6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400" dirty="0"/>
              <a:t>Preencher Formulário:</a:t>
            </a:r>
            <a:br>
              <a:rPr lang="pt-BR" sz="2400" dirty="0"/>
            </a:br>
            <a:r>
              <a:rPr lang="pt-BR" sz="2400" dirty="0">
                <a:hlinkClick r:id="rId2"/>
              </a:rPr>
              <a:t>https://goo.gl/forms/oJ7mM3h7W4hq8wOs2</a:t>
            </a:r>
            <a:endParaRPr lang="pt-BR" sz="2400" dirty="0"/>
          </a:p>
          <a:p>
            <a:pPr marL="1028700" lvl="1">
              <a:buFont typeface="Arial"/>
              <a:buChar char="•"/>
            </a:pPr>
            <a:r>
              <a:rPr lang="pt-BR" sz="2000" dirty="0"/>
              <a:t>Conta Trello;</a:t>
            </a:r>
            <a:endParaRPr lang="pt-BR" sz="1200" dirty="0"/>
          </a:p>
          <a:p>
            <a:pPr marL="1028700" lvl="1">
              <a:buFont typeface="Arial"/>
              <a:buChar char="•"/>
            </a:pPr>
            <a:r>
              <a:rPr lang="pt-BR" sz="2000" dirty="0"/>
              <a:t>Conta Github;</a:t>
            </a:r>
          </a:p>
          <a:p>
            <a:pPr marL="1028700" lvl="1">
              <a:buFont typeface="Arial"/>
              <a:buChar char="•"/>
            </a:pPr>
            <a:r>
              <a:rPr lang="pt-BR" sz="2000" dirty="0"/>
              <a:t>Conta Slack.</a:t>
            </a:r>
          </a:p>
          <a:p>
            <a:pPr marL="285750" indent="-285750">
              <a:buFont typeface="Arial"/>
              <a:buChar char="•"/>
            </a:pPr>
            <a:endParaRPr lang="pt-BR" sz="2400" dirty="0"/>
          </a:p>
          <a:p>
            <a:pPr marL="285750" indent="-285750">
              <a:buFont typeface="Arial"/>
              <a:buChar char="•"/>
            </a:pPr>
            <a:endParaRPr lang="pt-BR" sz="2400" dirty="0"/>
          </a:p>
          <a:p>
            <a:pPr marL="285750" indent="-285750">
              <a:buFont typeface="Arial"/>
              <a:buChar char="•"/>
            </a:pPr>
            <a:r>
              <a:rPr lang="pt-BR" sz="2400" dirty="0"/>
              <a:t>Ver estudo para aula 2 sobre </a:t>
            </a:r>
            <a:r>
              <a:rPr lang="pt-BR" sz="2400" b="1" dirty="0"/>
              <a:t>Álgebra Booleana</a:t>
            </a:r>
          </a:p>
          <a:p>
            <a:r>
              <a:rPr lang="pt-BR" sz="2400" dirty="0">
                <a:hlinkClick r:id="rId3"/>
              </a:rPr>
              <a:t>https://mix.office.com/watch/1kv4nxkkdyrra</a:t>
            </a:r>
            <a:r>
              <a:rPr lang="pt-BR" sz="2400" dirty="0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397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Próxima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403" y="1485899"/>
            <a:ext cx="8576927" cy="2332339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Ver estudo para aula 8 sobre </a:t>
            </a:r>
            <a:r>
              <a:rPr lang="pt-BR" sz="2400" b="1" dirty="0"/>
              <a:t>Lógica Sequencial</a:t>
            </a:r>
            <a:r>
              <a:rPr lang="pt-BR" sz="2400" dirty="0"/>
              <a:t> 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Estudar Lista de Exercícios Aula 7 (opcional):</a:t>
            </a:r>
          </a:p>
          <a:p>
            <a:pPr marL="285750" indent="-285750">
              <a:spcAft>
                <a:spcPts val="1800"/>
              </a:spcAft>
              <a:buFont typeface="Arial"/>
              <a:buChar char="•"/>
            </a:pPr>
            <a:r>
              <a:rPr lang="pt-BR" sz="2400" dirty="0"/>
              <a:t>Ler (opcional)</a:t>
            </a:r>
          </a:p>
          <a:p>
            <a:pPr marL="285750" indent="-285750">
              <a:buFont typeface="Arial"/>
              <a:buChar char="•"/>
            </a:pPr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30</a:t>
            </a:fld>
            <a:endParaRPr lang="pt-BR" dirty="0"/>
          </a:p>
        </p:txBody>
      </p:sp>
      <p:pic>
        <p:nvPicPr>
          <p:cNvPr id="9" name="Picture 6" descr="http://ecx.images-amazon.com/images/I/51h%2BQaiDsvL._SX443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22" y="3437105"/>
            <a:ext cx="1029731" cy="11570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96035" y="3351582"/>
            <a:ext cx="768828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i="1" dirty="0"/>
              <a:t>The </a:t>
            </a:r>
            <a:r>
              <a:rPr lang="pt-BR" sz="2400" b="1" i="1" dirty="0" err="1"/>
              <a:t>Elements</a:t>
            </a:r>
            <a:r>
              <a:rPr lang="pt-BR" sz="2400" b="1" i="1" dirty="0"/>
              <a:t> </a:t>
            </a:r>
            <a:r>
              <a:rPr lang="pt-BR" sz="2400" b="1" i="1" dirty="0" err="1"/>
              <a:t>of</a:t>
            </a:r>
            <a:r>
              <a:rPr lang="pt-BR" sz="2400" b="1" i="1" dirty="0"/>
              <a:t> </a:t>
            </a:r>
            <a:r>
              <a:rPr lang="pt-BR" sz="2400" b="1" i="1" dirty="0" err="1"/>
              <a:t>Computing</a:t>
            </a:r>
            <a:r>
              <a:rPr lang="pt-BR" sz="2400" b="1" i="1" dirty="0"/>
              <a:t> Systems</a:t>
            </a:r>
          </a:p>
          <a:p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Building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Modern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Computer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from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First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Principles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400" i="1" dirty="0"/>
              <a:t>Noam Nisan e Shimon Schocken</a:t>
            </a:r>
          </a:p>
          <a:p>
            <a:r>
              <a:rPr lang="pt-BR" sz="2400" dirty="0"/>
              <a:t>Capítulo 3</a:t>
            </a:r>
          </a:p>
          <a:p>
            <a:endParaRPr lang="pt-BR" sz="2400" dirty="0"/>
          </a:p>
          <a:p>
            <a:r>
              <a:rPr lang="pt-BR" sz="2400" b="1" i="1" dirty="0"/>
              <a:t>Sistemas Digitais - Princípios e Aplicações</a:t>
            </a:r>
            <a:endParaRPr lang="en-US" sz="2400" b="1" i="1" dirty="0"/>
          </a:p>
          <a:p>
            <a:r>
              <a:rPr lang="en-US" sz="2400" i="1" dirty="0"/>
              <a:t>Ronald </a:t>
            </a:r>
            <a:r>
              <a:rPr lang="en-US" sz="2400" i="1" dirty="0" err="1"/>
              <a:t>Tocci</a:t>
            </a:r>
            <a:r>
              <a:rPr lang="en-US" sz="2400" i="1" dirty="0"/>
              <a:t>, Neal </a:t>
            </a:r>
            <a:r>
              <a:rPr lang="en-US" sz="2400" i="1" dirty="0" err="1"/>
              <a:t>Widmer</a:t>
            </a:r>
            <a:r>
              <a:rPr lang="en-US" sz="2400" i="1" dirty="0"/>
              <a:t> e Gregory Moss</a:t>
            </a:r>
            <a:endParaRPr lang="pt-BR" sz="2400" i="1" dirty="0"/>
          </a:p>
          <a:p>
            <a:r>
              <a:rPr lang="pt-BR" sz="2400" dirty="0"/>
              <a:t>Capítulo 5</a:t>
            </a:r>
            <a:endParaRPr lang="en-US" sz="2400" b="1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622" y="5059577"/>
            <a:ext cx="1029731" cy="138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4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rsonalizar desig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28864</TotalTime>
  <Words>2060</Words>
  <Application>Microsoft Macintosh PowerPoint</Application>
  <PresentationFormat>On-screen Show (4:3)</PresentationFormat>
  <Paragraphs>309</Paragraphs>
  <Slides>31</Slides>
  <Notes>19</Notes>
  <HiddenSlides>13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Verdana</vt:lpstr>
      <vt:lpstr>Personalizar design</vt:lpstr>
      <vt:lpstr>PowerPoint Presentation</vt:lpstr>
      <vt:lpstr>Evolução da Computação</vt:lpstr>
      <vt:lpstr>Como o curso é possível</vt:lpstr>
      <vt:lpstr>Últimos anos</vt:lpstr>
      <vt:lpstr>Quem somos</vt:lpstr>
      <vt:lpstr>Usuário</vt:lpstr>
      <vt:lpstr>Curso Baseado em Projetos</vt:lpstr>
      <vt:lpstr>Quadro Kanban</vt:lpstr>
      <vt:lpstr>Github</vt:lpstr>
      <vt:lpstr>Instalando Git</vt:lpstr>
      <vt:lpstr>Slack</vt:lpstr>
      <vt:lpstr>Quartus II</vt:lpstr>
      <vt:lpstr>Calendários (Opcional)</vt:lpstr>
      <vt:lpstr>Livros de Referência do Curso</vt:lpstr>
      <vt:lpstr>Próxima Aula</vt:lpstr>
      <vt:lpstr>Objetivos do Curso</vt:lpstr>
      <vt:lpstr>Plano de Aprendizagem</vt:lpstr>
      <vt:lpstr>Objetivos de Aprendizado da Aula</vt:lpstr>
      <vt:lpstr>Camadas de Abstração</vt:lpstr>
      <vt:lpstr>Atividade 1 – O que tem no computador</vt:lpstr>
      <vt:lpstr>Formação de Grupos para Hoje</vt:lpstr>
      <vt:lpstr>Atividade 2a – Abstração</vt:lpstr>
      <vt:lpstr>Níveis de Abstração</vt:lpstr>
      <vt:lpstr>Atividade 2 – Continue…</vt:lpstr>
      <vt:lpstr>Hollerith</vt:lpstr>
      <vt:lpstr>Evolução dos Computadores</vt:lpstr>
      <vt:lpstr>Atividade 2b – Evolução dos Computadores</vt:lpstr>
      <vt:lpstr>Reflexão</vt:lpstr>
      <vt:lpstr>Próxima Aula</vt:lpstr>
      <vt:lpstr>Próxima Aula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Elementos de SIstemas</dc:title>
  <dc:subject/>
  <dc:creator>Luciano Pereira Soares</dc:creator>
  <cp:keywords/>
  <dc:description/>
  <cp:lastModifiedBy>Luciano Pereira Soares</cp:lastModifiedBy>
  <cp:revision>857</cp:revision>
  <cp:lastPrinted>2015-05-25T01:17:28Z</cp:lastPrinted>
  <dcterms:created xsi:type="dcterms:W3CDTF">2014-04-17T20:05:08Z</dcterms:created>
  <dcterms:modified xsi:type="dcterms:W3CDTF">2026-08-11T14:26:47Z</dcterms:modified>
  <cp:category/>
</cp:coreProperties>
</file>