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0.xml" ContentType="application/vnd.openxmlformats-officedocument.presentationml.tags+xml"/>
  <Override PartName="/ppt/notesSlides/notesSlide18.xml" ContentType="application/vnd.openxmlformats-officedocument.presentationml.notesSlide+xml"/>
  <Override PartName="/ppt/tags/tag11.xml" ContentType="application/vnd.openxmlformats-officedocument.presentationml.tags+xml"/>
  <Override PartName="/ppt/notesSlides/notesSlide19.xml" ContentType="application/vnd.openxmlformats-officedocument.presentationml.notesSlide+xml"/>
  <Override PartName="/ppt/tags/tag1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7"/>
  </p:notesMasterIdLst>
  <p:handoutMasterIdLst>
    <p:handoutMasterId r:id="rId28"/>
  </p:handoutMasterIdLst>
  <p:sldIdLst>
    <p:sldId id="269" r:id="rId2"/>
    <p:sldId id="487" r:id="rId3"/>
    <p:sldId id="644" r:id="rId4"/>
    <p:sldId id="491" r:id="rId5"/>
    <p:sldId id="492" r:id="rId6"/>
    <p:sldId id="493" r:id="rId7"/>
    <p:sldId id="648" r:id="rId8"/>
    <p:sldId id="646" r:id="rId9"/>
    <p:sldId id="496" r:id="rId10"/>
    <p:sldId id="497" r:id="rId11"/>
    <p:sldId id="498" r:id="rId12"/>
    <p:sldId id="499" r:id="rId13"/>
    <p:sldId id="647" r:id="rId14"/>
    <p:sldId id="500" r:id="rId15"/>
    <p:sldId id="501" r:id="rId16"/>
    <p:sldId id="502" r:id="rId17"/>
    <p:sldId id="503" r:id="rId18"/>
    <p:sldId id="505" r:id="rId19"/>
    <p:sldId id="506" r:id="rId20"/>
    <p:sldId id="507" r:id="rId21"/>
    <p:sldId id="508" r:id="rId22"/>
    <p:sldId id="436" r:id="rId23"/>
    <p:sldId id="645" r:id="rId24"/>
    <p:sldId id="510" r:id="rId25"/>
    <p:sldId id="262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8A4520-78AE-4894-9F40-04DFA7FA2C40}" v="8" dt="2026-08-13T22:14:43.9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/>
    <p:restoredTop sz="83288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Pereira Soares" userId="16c53e34-c952-423e-8700-c0525d23304f" providerId="ADAL" clId="{1D55A5D4-1FC1-4934-A025-59DDC391468D}"/>
    <pc:docChg chg="undo custSel addSld delSld modSld modMainMaster">
      <pc:chgData name="Luciano Pereira Soares" userId="16c53e34-c952-423e-8700-c0525d23304f" providerId="ADAL" clId="{1D55A5D4-1FC1-4934-A025-59DDC391468D}" dt="2026-08-13T22:15:14.513" v="173" actId="20577"/>
      <pc:docMkLst>
        <pc:docMk/>
      </pc:docMkLst>
      <pc:sldChg chg="modTransition">
        <pc:chgData name="Luciano Pereira Soares" userId="16c53e34-c952-423e-8700-c0525d23304f" providerId="ADAL" clId="{1D55A5D4-1FC1-4934-A025-59DDC391468D}" dt="2026-08-13T22:14:43.946" v="138"/>
        <pc:sldMkLst>
          <pc:docMk/>
          <pc:sldMk cId="0" sldId="262"/>
        </pc:sldMkLst>
      </pc:sldChg>
      <pc:sldChg chg="addSp delSp modSp mod modTransition addAnim delAnim">
        <pc:chgData name="Luciano Pereira Soares" userId="16c53e34-c952-423e-8700-c0525d23304f" providerId="ADAL" clId="{1D55A5D4-1FC1-4934-A025-59DDC391468D}" dt="2026-08-13T22:15:14.513" v="173" actId="20577"/>
        <pc:sldMkLst>
          <pc:docMk/>
          <pc:sldMk cId="2842346991" sldId="269"/>
        </pc:sldMkLst>
        <pc:spChg chg="mod">
          <ac:chgData name="Luciano Pereira Soares" userId="16c53e34-c952-423e-8700-c0525d23304f" providerId="ADAL" clId="{1D55A5D4-1FC1-4934-A025-59DDC391468D}" dt="2026-08-13T22:15:14.513" v="173" actId="20577"/>
          <ac:spMkLst>
            <pc:docMk/>
            <pc:sldMk cId="2842346991" sldId="269"/>
            <ac:spMk id="6" creationId="{00000000-0000-0000-0000-000000000000}"/>
          </ac:spMkLst>
        </pc:spChg>
        <pc:picChg chg="add del">
          <ac:chgData name="Luciano Pereira Soares" userId="16c53e34-c952-423e-8700-c0525d23304f" providerId="ADAL" clId="{1D55A5D4-1FC1-4934-A025-59DDC391468D}" dt="2026-08-13T22:09:36.098" v="30" actId="478"/>
          <ac:picMkLst>
            <pc:docMk/>
            <pc:sldMk cId="2842346991" sldId="269"/>
            <ac:picMk id="4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291129824" sldId="487"/>
        </pc:sldMkLst>
        <pc:picChg chg="add del">
          <ac:chgData name="Luciano Pereira Soares" userId="16c53e34-c952-423e-8700-c0525d23304f" providerId="ADAL" clId="{1D55A5D4-1FC1-4934-A025-59DDC391468D}" dt="2026-08-13T22:09:37.928" v="31" actId="478"/>
          <ac:picMkLst>
            <pc:docMk/>
            <pc:sldMk cId="291129824" sldId="487"/>
            <ac:picMk id="12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163256517" sldId="491"/>
        </pc:sldMkLst>
        <pc:picChg chg="add del">
          <ac:chgData name="Luciano Pereira Soares" userId="16c53e34-c952-423e-8700-c0525d23304f" providerId="ADAL" clId="{1D55A5D4-1FC1-4934-A025-59DDC391468D}" dt="2026-08-13T22:09:42.280" v="33" actId="478"/>
          <ac:picMkLst>
            <pc:docMk/>
            <pc:sldMk cId="1163256517" sldId="491"/>
            <ac:picMk id="10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621274450" sldId="492"/>
        </pc:sldMkLst>
        <pc:picChg chg="add del">
          <ac:chgData name="Luciano Pereira Soares" userId="16c53e34-c952-423e-8700-c0525d23304f" providerId="ADAL" clId="{1D55A5D4-1FC1-4934-A025-59DDC391468D}" dt="2026-08-13T22:09:44.858" v="34" actId="478"/>
          <ac:picMkLst>
            <pc:docMk/>
            <pc:sldMk cId="621274450" sldId="492"/>
            <ac:picMk id="12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694189436" sldId="493"/>
        </pc:sldMkLst>
        <pc:picChg chg="add del">
          <ac:chgData name="Luciano Pereira Soares" userId="16c53e34-c952-423e-8700-c0525d23304f" providerId="ADAL" clId="{1D55A5D4-1FC1-4934-A025-59DDC391468D}" dt="2026-08-13T22:09:47.694" v="35" actId="478"/>
          <ac:picMkLst>
            <pc:docMk/>
            <pc:sldMk cId="694189436" sldId="493"/>
            <ac:picMk id="12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25481444" sldId="496"/>
        </pc:sldMkLst>
        <pc:picChg chg="add del">
          <ac:chgData name="Luciano Pereira Soares" userId="16c53e34-c952-423e-8700-c0525d23304f" providerId="ADAL" clId="{1D55A5D4-1FC1-4934-A025-59DDC391468D}" dt="2026-08-13T22:09:54.988" v="37" actId="478"/>
          <ac:picMkLst>
            <pc:docMk/>
            <pc:sldMk cId="125481444" sldId="496"/>
            <ac:picMk id="6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281555059" sldId="497"/>
        </pc:sldMkLst>
        <pc:picChg chg="del">
          <ac:chgData name="Luciano Pereira Soares" userId="16c53e34-c952-423e-8700-c0525d23304f" providerId="ADAL" clId="{1D55A5D4-1FC1-4934-A025-59DDC391468D}" dt="2026-08-13T22:09:57.558" v="38" actId="478"/>
          <ac:picMkLst>
            <pc:docMk/>
            <pc:sldMk cId="1281555059" sldId="497"/>
            <ac:picMk id="4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813646392" sldId="498"/>
        </pc:sldMkLst>
        <pc:picChg chg="del">
          <ac:chgData name="Luciano Pereira Soares" userId="16c53e34-c952-423e-8700-c0525d23304f" providerId="ADAL" clId="{1D55A5D4-1FC1-4934-A025-59DDC391468D}" dt="2026-08-13T22:10:00.370" v="39" actId="478"/>
          <ac:picMkLst>
            <pc:docMk/>
            <pc:sldMk cId="1813646392" sldId="498"/>
            <ac:picMk id="4" creationId="{00000000-0000-0000-0000-000000000000}"/>
          </ac:picMkLst>
        </pc:picChg>
      </pc:sldChg>
      <pc:sldChg chg="addSp delSp mod modTransition modShow">
        <pc:chgData name="Luciano Pereira Soares" userId="16c53e34-c952-423e-8700-c0525d23304f" providerId="ADAL" clId="{1D55A5D4-1FC1-4934-A025-59DDC391468D}" dt="2026-08-13T22:14:43.946" v="138"/>
        <pc:sldMkLst>
          <pc:docMk/>
          <pc:sldMk cId="1884446610" sldId="499"/>
        </pc:sldMkLst>
        <pc:graphicFrameChg chg="add del">
          <ac:chgData name="Luciano Pereira Soares" userId="16c53e34-c952-423e-8700-c0525d23304f" providerId="ADAL" clId="{1D55A5D4-1FC1-4934-A025-59DDC391468D}" dt="2026-08-13T22:10:02.668" v="40" actId="478"/>
          <ac:graphicFrameMkLst>
            <pc:docMk/>
            <pc:sldMk cId="1884446610" sldId="499"/>
            <ac:graphicFrameMk id="6" creationId="{00000000-0000-0000-0000-000000000000}"/>
          </ac:graphicFrameMkLst>
        </pc:graphicFrameChg>
      </pc:sldChg>
      <pc:sldChg chg="delSp mod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2047170004" sldId="500"/>
        </pc:sldMkLst>
        <pc:spChg chg="del mod">
          <ac:chgData name="Luciano Pereira Soares" userId="16c53e34-c952-423e-8700-c0525d23304f" providerId="ADAL" clId="{1D55A5D4-1FC1-4934-A025-59DDC391468D}" dt="2026-08-13T22:12:26.523" v="122" actId="478"/>
          <ac:spMkLst>
            <pc:docMk/>
            <pc:sldMk cId="2047170004" sldId="500"/>
            <ac:spMk id="7" creationId="{00000000-0000-0000-0000-000000000000}"/>
          </ac:spMkLst>
        </pc:spChg>
        <pc:grpChg chg="mod">
          <ac:chgData name="Luciano Pereira Soares" userId="16c53e34-c952-423e-8700-c0525d23304f" providerId="ADAL" clId="{1D55A5D4-1FC1-4934-A025-59DDC391468D}" dt="2026-08-13T22:13:10.825" v="124" actId="1076"/>
          <ac:grpSpMkLst>
            <pc:docMk/>
            <pc:sldMk cId="2047170004" sldId="500"/>
            <ac:grpSpMk id="9" creationId="{00000000-0000-0000-0000-000000000000}"/>
          </ac:grpSpMkLst>
        </pc:grpChg>
        <pc:graphicFrameChg chg="mod">
          <ac:chgData name="Luciano Pereira Soares" userId="16c53e34-c952-423e-8700-c0525d23304f" providerId="ADAL" clId="{1D55A5D4-1FC1-4934-A025-59DDC391468D}" dt="2026-08-13T22:13:15.450" v="125"/>
          <ac:graphicFrameMkLst>
            <pc:docMk/>
            <pc:sldMk cId="2047170004" sldId="500"/>
            <ac:graphicFrameMk id="10" creationId="{00000000-0000-0000-0000-000000000000}"/>
          </ac:graphicFrameMkLst>
        </pc:graphicFrameChg>
        <pc:picChg chg="del">
          <ac:chgData name="Luciano Pereira Soares" userId="16c53e34-c952-423e-8700-c0525d23304f" providerId="ADAL" clId="{1D55A5D4-1FC1-4934-A025-59DDC391468D}" dt="2026-08-13T22:10:18.067" v="44" actId="478"/>
          <ac:picMkLst>
            <pc:docMk/>
            <pc:sldMk cId="2047170004" sldId="500"/>
            <ac:picMk id="11" creationId="{00000000-0000-0000-0000-000000000000}"/>
          </ac:picMkLst>
        </pc:picChg>
        <pc:cxnChg chg="mod">
          <ac:chgData name="Luciano Pereira Soares" userId="16c53e34-c952-423e-8700-c0525d23304f" providerId="ADAL" clId="{1D55A5D4-1FC1-4934-A025-59DDC391468D}" dt="2026-08-13T22:12:02.658" v="106" actId="1038"/>
          <ac:cxnSpMkLst>
            <pc:docMk/>
            <pc:sldMk cId="2047170004" sldId="500"/>
            <ac:cxnSpMk id="18" creationId="{00000000-0000-0000-0000-000000000000}"/>
          </ac:cxnSpMkLst>
        </pc:cxnChg>
        <pc:cxnChg chg="mod">
          <ac:chgData name="Luciano Pereira Soares" userId="16c53e34-c952-423e-8700-c0525d23304f" providerId="ADAL" clId="{1D55A5D4-1FC1-4934-A025-59DDC391468D}" dt="2026-08-13T22:12:11.014" v="118" actId="1038"/>
          <ac:cxnSpMkLst>
            <pc:docMk/>
            <pc:sldMk cId="2047170004" sldId="500"/>
            <ac:cxnSpMk id="19" creationId="{00000000-0000-0000-0000-000000000000}"/>
          </ac:cxnSpMkLst>
        </pc:cxnChg>
        <pc:cxnChg chg="mod">
          <ac:chgData name="Luciano Pereira Soares" userId="16c53e34-c952-423e-8700-c0525d23304f" providerId="ADAL" clId="{1D55A5D4-1FC1-4934-A025-59DDC391468D}" dt="2026-08-13T22:13:28.329" v="129" actId="1076"/>
          <ac:cxnSpMkLst>
            <pc:docMk/>
            <pc:sldMk cId="2047170004" sldId="500"/>
            <ac:cxnSpMk id="25" creationId="{00000000-0000-0000-0000-000000000000}"/>
          </ac:cxnSpMkLst>
        </pc:cxnChg>
        <pc:cxnChg chg="mod">
          <ac:chgData name="Luciano Pereira Soares" userId="16c53e34-c952-423e-8700-c0525d23304f" providerId="ADAL" clId="{1D55A5D4-1FC1-4934-A025-59DDC391468D}" dt="2026-08-13T22:13:41.948" v="132" actId="14100"/>
          <ac:cxnSpMkLst>
            <pc:docMk/>
            <pc:sldMk cId="2047170004" sldId="500"/>
            <ac:cxnSpMk id="27" creationId="{00000000-0000-0000-0000-000000000000}"/>
          </ac:cxnSpMkLst>
        </pc:cxnChg>
        <pc:cxnChg chg="mod">
          <ac:chgData name="Luciano Pereira Soares" userId="16c53e34-c952-423e-8700-c0525d23304f" providerId="ADAL" clId="{1D55A5D4-1FC1-4934-A025-59DDC391468D}" dt="2026-08-13T22:13:36.634" v="131" actId="14100"/>
          <ac:cxnSpMkLst>
            <pc:docMk/>
            <pc:sldMk cId="2047170004" sldId="500"/>
            <ac:cxnSpMk id="28" creationId="{00000000-0000-0000-0000-000000000000}"/>
          </ac:cxnSpMkLst>
        </pc:cxn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599570538" sldId="501"/>
        </pc:sldMkLst>
        <pc:picChg chg="del">
          <ac:chgData name="Luciano Pereira Soares" userId="16c53e34-c952-423e-8700-c0525d23304f" providerId="ADAL" clId="{1D55A5D4-1FC1-4934-A025-59DDC391468D}" dt="2026-08-13T22:10:16.218" v="43" actId="478"/>
          <ac:picMkLst>
            <pc:docMk/>
            <pc:sldMk cId="599570538" sldId="501"/>
            <ac:picMk id="6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868288208" sldId="502"/>
        </pc:sldMkLst>
        <pc:picChg chg="del">
          <ac:chgData name="Luciano Pereira Soares" userId="16c53e34-c952-423e-8700-c0525d23304f" providerId="ADAL" clId="{1D55A5D4-1FC1-4934-A025-59DDC391468D}" dt="2026-08-13T22:10:22.876" v="45" actId="478"/>
          <ac:picMkLst>
            <pc:docMk/>
            <pc:sldMk cId="868288208" sldId="502"/>
            <ac:picMk id="6" creationId="{00000000-0000-0000-0000-000000000000}"/>
          </ac:picMkLst>
        </pc:picChg>
      </pc:sldChg>
      <pc:sldChg chg="delSp mod modTransition modShow">
        <pc:chgData name="Luciano Pereira Soares" userId="16c53e34-c952-423e-8700-c0525d23304f" providerId="ADAL" clId="{1D55A5D4-1FC1-4934-A025-59DDC391468D}" dt="2026-08-13T22:14:43.946" v="138"/>
        <pc:sldMkLst>
          <pc:docMk/>
          <pc:sldMk cId="754010422" sldId="503"/>
        </pc:sldMkLst>
        <pc:graphicFrameChg chg="del">
          <ac:chgData name="Luciano Pereira Soares" userId="16c53e34-c952-423e-8700-c0525d23304f" providerId="ADAL" clId="{1D55A5D4-1FC1-4934-A025-59DDC391468D}" dt="2026-08-13T22:10:25.327" v="46" actId="478"/>
          <ac:graphicFrameMkLst>
            <pc:docMk/>
            <pc:sldMk cId="754010422" sldId="503"/>
            <ac:graphicFrameMk id="6" creationId="{00000000-0000-0000-0000-000000000000}"/>
          </ac:graphicFrameMkLst>
        </pc:graphicFrame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120891263" sldId="505"/>
        </pc:sldMkLst>
        <pc:picChg chg="del">
          <ac:chgData name="Luciano Pereira Soares" userId="16c53e34-c952-423e-8700-c0525d23304f" providerId="ADAL" clId="{1D55A5D4-1FC1-4934-A025-59DDC391468D}" dt="2026-08-13T22:10:37.251" v="48" actId="478"/>
          <ac:picMkLst>
            <pc:docMk/>
            <pc:sldMk cId="1120891263" sldId="505"/>
            <ac:picMk id="11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039425108" sldId="506"/>
        </pc:sldMkLst>
        <pc:picChg chg="del">
          <ac:chgData name="Luciano Pereira Soares" userId="16c53e34-c952-423e-8700-c0525d23304f" providerId="ADAL" clId="{1D55A5D4-1FC1-4934-A025-59DDC391468D}" dt="2026-08-13T22:10:41.867" v="49" actId="478"/>
          <ac:picMkLst>
            <pc:docMk/>
            <pc:sldMk cId="1039425108" sldId="506"/>
            <ac:picMk id="7" creationId="{00000000-0000-0000-0000-000000000000}"/>
          </ac:picMkLst>
        </pc:picChg>
      </pc:sldChg>
      <pc:sldChg chg="delSp mod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388974579" sldId="507"/>
        </pc:sldMkLst>
        <pc:spChg chg="mod">
          <ac:chgData name="Luciano Pereira Soares" userId="16c53e34-c952-423e-8700-c0525d23304f" providerId="ADAL" clId="{1D55A5D4-1FC1-4934-A025-59DDC391468D}" dt="2026-08-13T22:14:26.226" v="135" actId="20577"/>
          <ac:spMkLst>
            <pc:docMk/>
            <pc:sldMk cId="1388974579" sldId="507"/>
            <ac:spMk id="3" creationId="{00000000-0000-0000-0000-000000000000}"/>
          </ac:spMkLst>
        </pc:spChg>
        <pc:picChg chg="del">
          <ac:chgData name="Luciano Pereira Soares" userId="16c53e34-c952-423e-8700-c0525d23304f" providerId="ADAL" clId="{1D55A5D4-1FC1-4934-A025-59DDC391468D}" dt="2026-08-13T22:10:44.449" v="50" actId="478"/>
          <ac:picMkLst>
            <pc:docMk/>
            <pc:sldMk cId="1388974579" sldId="507"/>
            <ac:picMk id="11" creationId="{00000000-0000-0000-0000-000000000000}"/>
          </ac:picMkLst>
        </pc:picChg>
        <pc:inkChg chg="del">
          <ac:chgData name="Luciano Pereira Soares" userId="16c53e34-c952-423e-8700-c0525d23304f" providerId="ADAL" clId="{1D55A5D4-1FC1-4934-A025-59DDC391468D}" dt="2026-08-13T22:14:08.766" v="133" actId="478"/>
          <ac:inkMkLst>
            <pc:docMk/>
            <pc:sldMk cId="1388974579" sldId="507"/>
            <ac:inkMk id="13" creationId="{00000000-0000-0000-0000-000000000000}"/>
          </ac:inkMkLst>
        </pc:inkChg>
      </pc:sldChg>
      <pc:sldChg chg="delSp mod modTransition modShow">
        <pc:chgData name="Luciano Pereira Soares" userId="16c53e34-c952-423e-8700-c0525d23304f" providerId="ADAL" clId="{1D55A5D4-1FC1-4934-A025-59DDC391468D}" dt="2026-08-13T22:14:43.946" v="138"/>
        <pc:sldMkLst>
          <pc:docMk/>
          <pc:sldMk cId="1951516150" sldId="508"/>
        </pc:sldMkLst>
        <pc:graphicFrameChg chg="del">
          <ac:chgData name="Luciano Pereira Soares" userId="16c53e34-c952-423e-8700-c0525d23304f" providerId="ADAL" clId="{1D55A5D4-1FC1-4934-A025-59DDC391468D}" dt="2026-08-13T22:10:48.808" v="51" actId="478"/>
          <ac:graphicFrameMkLst>
            <pc:docMk/>
            <pc:sldMk cId="1951516150" sldId="508"/>
            <ac:graphicFrameMk id="12" creationId="{00000000-0000-0000-0000-000000000000}"/>
          </ac:graphicFrameMkLst>
        </pc:graphicFrame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1392088767" sldId="510"/>
        </pc:sldMkLst>
        <pc:picChg chg="del">
          <ac:chgData name="Luciano Pereira Soares" userId="16c53e34-c952-423e-8700-c0525d23304f" providerId="ADAL" clId="{1D55A5D4-1FC1-4934-A025-59DDC391468D}" dt="2026-08-13T22:11:04.959" v="54" actId="478"/>
          <ac:picMkLst>
            <pc:docMk/>
            <pc:sldMk cId="1392088767" sldId="510"/>
            <ac:picMk id="8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397052556" sldId="644"/>
        </pc:sldMkLst>
        <pc:picChg chg="add del">
          <ac:chgData name="Luciano Pereira Soares" userId="16c53e34-c952-423e-8700-c0525d23304f" providerId="ADAL" clId="{1D55A5D4-1FC1-4934-A025-59DDC391468D}" dt="2026-08-13T22:09:39.955" v="32" actId="478"/>
          <ac:picMkLst>
            <pc:docMk/>
            <pc:sldMk cId="397052556" sldId="644"/>
            <ac:picMk id="12" creationId="{00000000-0000-0000-0000-000000000000}"/>
          </ac:picMkLst>
        </pc:pic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73008237" sldId="645"/>
        </pc:sldMkLst>
        <pc:picChg chg="del">
          <ac:chgData name="Luciano Pereira Soares" userId="16c53e34-c952-423e-8700-c0525d23304f" providerId="ADAL" clId="{1D55A5D4-1FC1-4934-A025-59DDC391468D}" dt="2026-08-13T22:10:57.895" v="53" actId="478"/>
          <ac:picMkLst>
            <pc:docMk/>
            <pc:sldMk cId="73008237" sldId="645"/>
            <ac:picMk id="8" creationId="{00000000-0000-0000-0000-000000000000}"/>
          </ac:picMkLst>
        </pc:picChg>
      </pc:sldChg>
      <pc:sldChg chg="addSp delSp mod modTransition addAnim delAnim">
        <pc:chgData name="Luciano Pereira Soares" userId="16c53e34-c952-423e-8700-c0525d23304f" providerId="ADAL" clId="{1D55A5D4-1FC1-4934-A025-59DDC391468D}" dt="2026-08-13T22:14:43.946" v="138"/>
        <pc:sldMkLst>
          <pc:docMk/>
          <pc:sldMk cId="318652190" sldId="646"/>
        </pc:sldMkLst>
        <pc:picChg chg="add del">
          <ac:chgData name="Luciano Pereira Soares" userId="16c53e34-c952-423e-8700-c0525d23304f" providerId="ADAL" clId="{1D55A5D4-1FC1-4934-A025-59DDC391468D}" dt="2026-08-13T22:09:52.391" v="36" actId="478"/>
          <ac:picMkLst>
            <pc:docMk/>
            <pc:sldMk cId="318652190" sldId="646"/>
            <ac:picMk id="13" creationId="{00000000-0000-0000-0000-000000000000}"/>
          </ac:picMkLst>
        </pc:picChg>
        <pc:inkChg chg="add del">
          <ac:chgData name="Luciano Pereira Soares" userId="16c53e34-c952-423e-8700-c0525d23304f" providerId="ADAL" clId="{1D55A5D4-1FC1-4934-A025-59DDC391468D}" dt="2026-08-13T22:09:31.555" v="29" actId="478"/>
          <ac:inkMkLst>
            <pc:docMk/>
            <pc:sldMk cId="318652190" sldId="646"/>
            <ac:inkMk id="14" creationId="{00000000-0000-0000-0000-000000000000}"/>
          </ac:inkMkLst>
        </pc:inkChg>
      </pc:sldChg>
      <pc:sldChg chg="delSp mod modTransition delAnim">
        <pc:chgData name="Luciano Pereira Soares" userId="16c53e34-c952-423e-8700-c0525d23304f" providerId="ADAL" clId="{1D55A5D4-1FC1-4934-A025-59DDC391468D}" dt="2026-08-13T22:14:43.946" v="138"/>
        <pc:sldMkLst>
          <pc:docMk/>
          <pc:sldMk cId="2115278812" sldId="647"/>
        </pc:sldMkLst>
        <pc:picChg chg="del">
          <ac:chgData name="Luciano Pereira Soares" userId="16c53e34-c952-423e-8700-c0525d23304f" providerId="ADAL" clId="{1D55A5D4-1FC1-4934-A025-59DDC391468D}" dt="2026-08-13T22:10:09.565" v="42" actId="478"/>
          <ac:picMkLst>
            <pc:docMk/>
            <pc:sldMk cId="2115278812" sldId="647"/>
            <ac:picMk id="12" creationId="{00000000-0000-0000-0000-000000000000}"/>
          </ac:picMkLst>
        </pc:picChg>
      </pc:sldChg>
      <pc:sldChg chg="addSp delSp modSp add del mod modTransition modShow">
        <pc:chgData name="Luciano Pereira Soares" userId="16c53e34-c952-423e-8700-c0525d23304f" providerId="ADAL" clId="{1D55A5D4-1FC1-4934-A025-59DDC391468D}" dt="2026-08-13T22:14:43.946" v="138"/>
        <pc:sldMkLst>
          <pc:docMk/>
          <pc:sldMk cId="2488054559" sldId="648"/>
        </pc:sldMkLst>
        <pc:spChg chg="add del mod">
          <ac:chgData name="Luciano Pereira Soares" userId="16c53e34-c952-423e-8700-c0525d23304f" providerId="ADAL" clId="{1D55A5D4-1FC1-4934-A025-59DDC391468D}" dt="2026-08-13T22:07:06.650" v="1" actId="478"/>
          <ac:spMkLst>
            <pc:docMk/>
            <pc:sldMk cId="2488054559" sldId="648"/>
            <ac:spMk id="3" creationId="{5EA8F7D7-9886-60F1-873A-A094228F28BC}"/>
          </ac:spMkLst>
        </pc:spChg>
        <pc:graphicFrameChg chg="del">
          <ac:chgData name="Luciano Pereira Soares" userId="16c53e34-c952-423e-8700-c0525d23304f" providerId="ADAL" clId="{1D55A5D4-1FC1-4934-A025-59DDC391468D}" dt="2026-08-13T22:05:58.411" v="0" actId="478"/>
          <ac:graphicFrameMkLst>
            <pc:docMk/>
            <pc:sldMk cId="2488054559" sldId="648"/>
            <ac:graphicFrameMk id="4" creationId="{00000000-0000-0000-0000-000000000000}"/>
          </ac:graphicFrameMkLst>
        </pc:graphicFrameChg>
      </pc:sldChg>
      <pc:sldChg chg="del modTransition">
        <pc:chgData name="Luciano Pereira Soares" userId="16c53e34-c952-423e-8700-c0525d23304f" providerId="ADAL" clId="{1D55A5D4-1FC1-4934-A025-59DDC391468D}" dt="2026-08-13T22:11:07.550" v="55" actId="47"/>
        <pc:sldMkLst>
          <pc:docMk/>
          <pc:sldMk cId="1201754397" sldId="649"/>
        </pc:sldMkLst>
      </pc:sldChg>
      <pc:sldChg chg="del modTransition">
        <pc:chgData name="Luciano Pereira Soares" userId="16c53e34-c952-423e-8700-c0525d23304f" providerId="ADAL" clId="{1D55A5D4-1FC1-4934-A025-59DDC391468D}" dt="2026-08-13T22:14:18.496" v="134" actId="47"/>
        <pc:sldMkLst>
          <pc:docMk/>
          <pc:sldMk cId="1042344966" sldId="650"/>
        </pc:sldMkLst>
      </pc:sldChg>
      <pc:sldMasterChg chg="modTransition addSldLayout delSldLayout modSldLayout">
        <pc:chgData name="Luciano Pereira Soares" userId="16c53e34-c952-423e-8700-c0525d23304f" providerId="ADAL" clId="{1D55A5D4-1FC1-4934-A025-59DDC391468D}" dt="2026-08-13T22:09:22.338" v="27" actId="47"/>
        <pc:sldMasterMkLst>
          <pc:docMk/>
          <pc:sldMasterMk cId="695403014" sldId="2147483651"/>
        </pc:sldMasterMkLst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2529634974" sldId="2147483653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3099308519" sldId="2147483656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3451088283" sldId="2147483660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0" sldId="2147483662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3900368210" sldId="2147483666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1874775552" sldId="2147483667"/>
          </pc:sldLayoutMkLst>
        </pc:sldLayoutChg>
        <pc:sldLayoutChg chg="modTransition">
          <pc:chgData name="Luciano Pereira Soares" userId="16c53e34-c952-423e-8700-c0525d23304f" providerId="ADAL" clId="{1D55A5D4-1FC1-4934-A025-59DDC391468D}" dt="2026-08-13T22:09:13.853" v="17"/>
          <pc:sldLayoutMkLst>
            <pc:docMk/>
            <pc:sldMasterMk cId="695403014" sldId="2147483651"/>
            <pc:sldLayoutMk cId="848132378" sldId="2147483668"/>
          </pc:sldLayoutMkLst>
        </pc:sldLayoutChg>
        <pc:sldLayoutChg chg="add del">
          <pc:chgData name="Luciano Pereira Soares" userId="16c53e34-c952-423e-8700-c0525d23304f" providerId="ADAL" clId="{1D55A5D4-1FC1-4934-A025-59DDC391468D}" dt="2026-08-13T22:09:22.338" v="27" actId="47"/>
          <pc:sldLayoutMkLst>
            <pc:docMk/>
            <pc:sldMasterMk cId="695403014" sldId="2147483651"/>
            <pc:sldLayoutMk cId="915928812" sldId="214748366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Olá a todos, nesta</a:t>
            </a:r>
            <a:r>
              <a:rPr lang="pt-BR" baseline="0" dirty="0"/>
              <a:t> aula iremos ter uma introdução sobre álgebra booleana, que é a base matemática para o desenvolvimento da computação moderna. </a:t>
            </a:r>
            <a:endParaRPr lang="pt-BR" dirty="0"/>
          </a:p>
          <a:p>
            <a:endParaRPr lang="pt-BR" dirty="0"/>
          </a:p>
          <a:p>
            <a:r>
              <a:rPr lang="pt-BR" dirty="0"/>
              <a:t>http://www.clube.spm.pt/arquivo/3204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910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Gorge Boole </a:t>
            </a:r>
            <a:r>
              <a:rPr lang="en-US" dirty="0" err="1"/>
              <a:t>foi</a:t>
            </a:r>
            <a:r>
              <a:rPr lang="en-US" dirty="0"/>
              <a:t> um</a:t>
            </a:r>
            <a:r>
              <a:rPr lang="en-US" baseline="0" dirty="0"/>
              <a:t> dos </a:t>
            </a:r>
            <a:r>
              <a:rPr lang="en-US" baseline="0" dirty="0" err="1"/>
              <a:t>primeiros</a:t>
            </a:r>
            <a:r>
              <a:rPr lang="en-US" baseline="0" dirty="0"/>
              <a:t> a </a:t>
            </a:r>
            <a:r>
              <a:rPr lang="en-US" baseline="0" dirty="0" err="1"/>
              <a:t>desenvolver</a:t>
            </a:r>
            <a:r>
              <a:rPr lang="en-US" baseline="0" dirty="0"/>
              <a:t> </a:t>
            </a:r>
            <a:r>
              <a:rPr lang="en-US" baseline="0" dirty="0" err="1"/>
              <a:t>uma</a:t>
            </a:r>
            <a:r>
              <a:rPr lang="en-US" baseline="0" dirty="0"/>
              <a:t> algebra para </a:t>
            </a:r>
            <a:r>
              <a:rPr lang="en-US" baseline="0" dirty="0" err="1"/>
              <a:t>operações</a:t>
            </a:r>
            <a:r>
              <a:rPr lang="en-US" baseline="0" dirty="0"/>
              <a:t> </a:t>
            </a:r>
            <a:r>
              <a:rPr lang="en-US" baseline="0" dirty="0" err="1"/>
              <a:t>em</a:t>
            </a:r>
            <a:r>
              <a:rPr lang="en-US" baseline="0" dirty="0"/>
              <a:t> </a:t>
            </a:r>
            <a:r>
              <a:rPr lang="en-US" baseline="0" dirty="0" err="1"/>
              <a:t>lógica</a:t>
            </a:r>
            <a:r>
              <a:rPr lang="en-US" baseline="0" dirty="0"/>
              <a:t> </a:t>
            </a:r>
            <a:r>
              <a:rPr lang="en-US" baseline="0" dirty="0" err="1"/>
              <a:t>binária</a:t>
            </a:r>
            <a:r>
              <a:rPr lang="en-US" baseline="0" dirty="0"/>
              <a:t>, </a:t>
            </a:r>
            <a:r>
              <a:rPr lang="en-US" baseline="0" dirty="0" err="1"/>
              <a:t>ainda</a:t>
            </a:r>
            <a:r>
              <a:rPr lang="en-US" baseline="0" dirty="0"/>
              <a:t> </a:t>
            </a:r>
            <a:r>
              <a:rPr lang="en-US" baseline="0" dirty="0" err="1"/>
              <a:t>na</a:t>
            </a:r>
            <a:r>
              <a:rPr lang="en-US" baseline="0" dirty="0"/>
              <a:t> </a:t>
            </a:r>
            <a:r>
              <a:rPr lang="en-US" baseline="0" dirty="0" err="1"/>
              <a:t>metade</a:t>
            </a:r>
            <a:r>
              <a:rPr lang="en-US" baseline="0" dirty="0"/>
              <a:t> do </a:t>
            </a:r>
            <a:r>
              <a:rPr lang="en-US" baseline="0" dirty="0" err="1"/>
              <a:t>século</a:t>
            </a:r>
            <a:r>
              <a:rPr lang="en-US" baseline="0" dirty="0"/>
              <a:t> 19, </a:t>
            </a:r>
            <a:r>
              <a:rPr lang="en-US" baseline="0" dirty="0" err="1"/>
              <a:t>essas</a:t>
            </a:r>
            <a:r>
              <a:rPr lang="en-US" baseline="0" dirty="0"/>
              <a:t> </a:t>
            </a:r>
            <a:r>
              <a:rPr lang="en-US" baseline="0" dirty="0" err="1"/>
              <a:t>operações</a:t>
            </a:r>
            <a:r>
              <a:rPr lang="en-US" baseline="0" dirty="0"/>
              <a:t> </a:t>
            </a:r>
            <a:r>
              <a:rPr lang="en-US" baseline="0" dirty="0" err="1"/>
              <a:t>são</a:t>
            </a:r>
            <a:r>
              <a:rPr lang="en-US" baseline="0" dirty="0"/>
              <a:t> a </a:t>
            </a:r>
            <a:r>
              <a:rPr lang="en-US" baseline="0" dirty="0" err="1"/>
              <a:t>conjunção</a:t>
            </a:r>
            <a:r>
              <a:rPr lang="en-US" baseline="0" dirty="0"/>
              <a:t>, </a:t>
            </a:r>
            <a:r>
              <a:rPr lang="en-US" baseline="0" dirty="0" err="1"/>
              <a:t>disjunção</a:t>
            </a:r>
            <a:r>
              <a:rPr lang="en-US" baseline="0" dirty="0"/>
              <a:t> e </a:t>
            </a:r>
            <a:r>
              <a:rPr lang="en-US" baseline="0" dirty="0" err="1"/>
              <a:t>negação</a:t>
            </a:r>
            <a:r>
              <a:rPr lang="en-US" baseline="0" dirty="0"/>
              <a:t>, </a:t>
            </a:r>
            <a:r>
              <a:rPr lang="en-US" baseline="0" dirty="0" err="1"/>
              <a:t>porém</a:t>
            </a:r>
            <a:r>
              <a:rPr lang="en-US" baseline="0" dirty="0"/>
              <a:t> </a:t>
            </a:r>
            <a:r>
              <a:rPr lang="pt-BR" sz="1200" baseline="0" dirty="0"/>
              <a:t>atualmente falamos nas operações E, OU, e NÃO, mas para evitar confusões usamos normalmente o inglês, ou seja, as operações de AND, OR e NOT. Com essas operações simples, que George </a:t>
            </a:r>
            <a:r>
              <a:rPr lang="pt-BR" sz="1200" baseline="0" dirty="0" err="1"/>
              <a:t>Boole</a:t>
            </a:r>
            <a:r>
              <a:rPr lang="pt-BR" sz="1200" baseline="0" dirty="0"/>
              <a:t> discutiu em seus trabalhos científicos, conseguimos desenvolver toda a computação atual.</a:t>
            </a:r>
            <a:endParaRPr lang="pt-BR" sz="1200" dirty="0"/>
          </a:p>
          <a:p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Referências</a:t>
            </a:r>
            <a:r>
              <a:rPr lang="en-US" dirty="0"/>
              <a:t>:</a:t>
            </a:r>
          </a:p>
          <a:p>
            <a:r>
              <a:rPr lang="en-US" dirty="0"/>
              <a:t>https://</a:t>
            </a:r>
            <a:r>
              <a:rPr lang="en-US" dirty="0" err="1"/>
              <a:t>pt.wikipedia.org</a:t>
            </a:r>
            <a:r>
              <a:rPr lang="en-US" dirty="0"/>
              <a:t>/wiki/</a:t>
            </a:r>
            <a:r>
              <a:rPr lang="en-US" dirty="0" err="1"/>
              <a:t>George_Boole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www.computerhistory.org</a:t>
            </a:r>
            <a:r>
              <a:rPr lang="en-US" dirty="0"/>
              <a:t>/revolution/digital-logic/12/269</a:t>
            </a:r>
          </a:p>
          <a:p>
            <a:r>
              <a:rPr lang="en-US" dirty="0"/>
              <a:t>http://</a:t>
            </a:r>
            <a:r>
              <a:rPr lang="en-US" dirty="0" err="1"/>
              <a:t>rsbm.royalsocietypublishing.org</a:t>
            </a:r>
            <a:r>
              <a:rPr lang="en-US" dirty="0"/>
              <a:t>/content/</a:t>
            </a:r>
            <a:r>
              <a:rPr lang="en-US" dirty="0" err="1"/>
              <a:t>roybiogmem</a:t>
            </a:r>
            <a:r>
              <a:rPr lang="en-US" dirty="0"/>
              <a:t>/55/257.full.pdf</a:t>
            </a:r>
          </a:p>
          <a:p>
            <a:r>
              <a:rPr lang="en-US" dirty="0"/>
              <a:t>https://s-media-cache-ak0.pinimg.com/736x/64/9d/ae/649dae9fa16eeb707945736ecb64b388.jpg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20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Muito tempo depois,</a:t>
            </a:r>
            <a:r>
              <a:rPr lang="pt-BR" sz="1200" baseline="0" dirty="0"/>
              <a:t> </a:t>
            </a:r>
            <a:r>
              <a:rPr lang="pt-BR" sz="1200" dirty="0"/>
              <a:t>nos anos 30, Claude Shannon, um importante</a:t>
            </a:r>
            <a:r>
              <a:rPr lang="pt-BR" sz="1200" baseline="0" dirty="0"/>
              <a:t> engenheiro na história da computação moderna,</a:t>
            </a:r>
            <a:r>
              <a:rPr lang="pt-BR" sz="1200" dirty="0"/>
              <a:t> aplicou as ideias de Boole em circuitos elétricos. Ele trabalhava</a:t>
            </a:r>
            <a:r>
              <a:rPr lang="pt-BR" sz="1200" baseline="0" dirty="0"/>
              <a:t> no Analisador </a:t>
            </a:r>
            <a:r>
              <a:rPr lang="pt-BR" sz="1200" dirty="0"/>
              <a:t>Diferencial de </a:t>
            </a:r>
            <a:r>
              <a:rPr lang="pt-BR" sz="1200" dirty="0" err="1"/>
              <a:t>Vannevar</a:t>
            </a:r>
            <a:r>
              <a:rPr lang="pt-BR" sz="1200" dirty="0"/>
              <a:t> Bush, e logo percebeu a relação dos relés com álgebra</a:t>
            </a:r>
            <a:r>
              <a:rPr lang="pt-BR" sz="1200" baseline="0" dirty="0"/>
              <a:t> booleana. Ele fazia um relé acionar o outro usando usando uma lógica binária do relé fechado ou aberto. S</a:t>
            </a:r>
            <a:r>
              <a:rPr lang="pt-BR" sz="1200" dirty="0"/>
              <a:t>ua dissertação e artigos,</a:t>
            </a:r>
            <a:r>
              <a:rPr lang="pt-BR" sz="1200" baseline="0" dirty="0"/>
              <a:t> levaram outras pessoas a perceber os benefícios da álgebra booleana em eletrônica e consequentemente computação.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aseline="0" dirty="0"/>
              <a:t>Interessante: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Alguns</a:t>
            </a:r>
            <a:r>
              <a:rPr lang="pt-BR" sz="1200" baseline="0" dirty="0"/>
              <a:t> </a:t>
            </a:r>
            <a:r>
              <a:rPr lang="pt-BR" sz="1200" dirty="0"/>
              <a:t>anos depois Shannon criou um kit de computador digital chamado de </a:t>
            </a:r>
            <a:r>
              <a:rPr lang="pt-BR" sz="1200" dirty="0" err="1"/>
              <a:t>Minivac</a:t>
            </a:r>
            <a:r>
              <a:rPr lang="pt-BR" sz="1200" dirty="0"/>
              <a:t> 601 que permitia estudar eletrônica e lógica booleana.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Referências</a:t>
            </a:r>
            <a:r>
              <a:rPr lang="en-US" dirty="0"/>
              <a:t>:</a:t>
            </a:r>
          </a:p>
          <a:p>
            <a:r>
              <a:rPr lang="en-US" dirty="0"/>
              <a:t>http://</a:t>
            </a:r>
            <a:r>
              <a:rPr lang="en-US" dirty="0" err="1"/>
              <a:t>people.cs.ksu.edu</a:t>
            </a:r>
            <a:r>
              <a:rPr lang="en-US" dirty="0"/>
              <a:t>/~</a:t>
            </a:r>
            <a:r>
              <a:rPr lang="en-US" dirty="0" err="1"/>
              <a:t>russfeld</a:t>
            </a:r>
            <a:r>
              <a:rPr lang="en-US" dirty="0"/>
              <a:t>/cis115spring2014/images/lecture4/</a:t>
            </a:r>
            <a:r>
              <a:rPr lang="en-US" dirty="0" err="1"/>
              <a:t>shannonthesis_mit.png</a:t>
            </a:r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pt.wikipedia.org</a:t>
            </a:r>
            <a:r>
              <a:rPr lang="en-US" dirty="0"/>
              <a:t>/wiki/</a:t>
            </a:r>
            <a:r>
              <a:rPr lang="en-US" dirty="0" err="1"/>
              <a:t>George_Boole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www.computerhistory.org</a:t>
            </a:r>
            <a:r>
              <a:rPr lang="en-US" dirty="0"/>
              <a:t>/revolution/digital-logic/12/269</a:t>
            </a:r>
          </a:p>
          <a:p>
            <a:r>
              <a:rPr lang="en-US" dirty="0"/>
              <a:t>http://</a:t>
            </a:r>
            <a:r>
              <a:rPr lang="en-US" dirty="0" err="1"/>
              <a:t>rsbm.royalsocietypublishing.org</a:t>
            </a:r>
            <a:r>
              <a:rPr lang="en-US" dirty="0"/>
              <a:t>/content/</a:t>
            </a:r>
            <a:r>
              <a:rPr lang="en-US" dirty="0" err="1"/>
              <a:t>roybiogmem</a:t>
            </a:r>
            <a:r>
              <a:rPr lang="en-US" dirty="0"/>
              <a:t>/55/257.full.pdf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http://</a:t>
            </a:r>
            <a:r>
              <a:rPr lang="en-US" dirty="0" err="1"/>
              <a:t>dmangus.blogspot.com.br</a:t>
            </a:r>
            <a:r>
              <a:rPr lang="en-US" dirty="0"/>
              <a:t>/2015/09/claude-e-shannon-and-minivac-601.html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617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 Álgebra Booleana </a:t>
            </a:r>
            <a:r>
              <a:rPr lang="pt-BR" sz="1200" dirty="0"/>
              <a:t>as variáveis só podem assumir dois valores. Desligado</a:t>
            </a:r>
            <a:r>
              <a:rPr lang="pt-BR" sz="1200" baseline="0" dirty="0"/>
              <a:t> e ligado, ou falso e verdadeiro, 0 volt e 5 volts, branco e preto. Porém </a:t>
            </a:r>
            <a:r>
              <a:rPr lang="pt-BR" sz="1200" dirty="0"/>
              <a:t>normalmente na computação usamos 0 e 1</a:t>
            </a:r>
            <a:r>
              <a:rPr lang="pt-BR" sz="1200" baseline="0" dirty="0"/>
              <a:t> pela conveniência. Todos os computadores tem como sua menor unidade de dado, esse elemento. </a:t>
            </a:r>
            <a:r>
              <a:rPr lang="pt-BR" sz="1200" dirty="0">
                <a:solidFill>
                  <a:srgbClr val="FF0000"/>
                </a:solidFill>
              </a:rPr>
              <a:t>Em computação chamamos </a:t>
            </a:r>
            <a:r>
              <a:rPr lang="pt-BR" sz="1200" b="0" dirty="0">
                <a:solidFill>
                  <a:srgbClr val="FF0000"/>
                </a:solidFill>
              </a:rPr>
              <a:t>isso de bit.</a:t>
            </a:r>
            <a:r>
              <a:rPr lang="pt-BR" sz="1200" b="0" baseline="0" dirty="0">
                <a:solidFill>
                  <a:srgbClr val="FF0000"/>
                </a:solidFill>
              </a:rPr>
              <a:t> quem </a:t>
            </a:r>
            <a:r>
              <a:rPr lang="pt-BR" sz="1200" baseline="0" dirty="0">
                <a:solidFill>
                  <a:srgbClr val="FF0000"/>
                </a:solidFill>
              </a:rPr>
              <a:t>vem dígito binário (ou do inglês </a:t>
            </a:r>
            <a:r>
              <a:rPr lang="en-US" i="1" dirty="0"/>
              <a:t>binary digit).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Referências</a:t>
            </a:r>
            <a:r>
              <a:rPr lang="en-US" dirty="0"/>
              <a:t>:</a:t>
            </a:r>
          </a:p>
          <a:p>
            <a:r>
              <a:rPr lang="en-US" dirty="0"/>
              <a:t>http://</a:t>
            </a:r>
            <a:r>
              <a:rPr lang="en-US" dirty="0" err="1"/>
              <a:t>www.inf.ufes.br</a:t>
            </a:r>
            <a:r>
              <a:rPr lang="en-US" dirty="0"/>
              <a:t>/~</a:t>
            </a:r>
            <a:r>
              <a:rPr lang="en-US" dirty="0" err="1"/>
              <a:t>zegonc</a:t>
            </a:r>
            <a:r>
              <a:rPr lang="en-US" dirty="0"/>
              <a:t>/material/</a:t>
            </a:r>
            <a:r>
              <a:rPr lang="en-US" dirty="0" err="1"/>
              <a:t>Introducao_a_Computacao</a:t>
            </a:r>
            <a:r>
              <a:rPr lang="en-US" dirty="0"/>
              <a:t>/isd2.pdf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58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...</a:t>
            </a:r>
          </a:p>
          <a:p>
            <a:r>
              <a:rPr lang="pt-BR" dirty="0"/>
              <a:t>Abaixo está a representação padrão usada em circuitos eletrônicos</a:t>
            </a:r>
            <a:r>
              <a:rPr lang="pt-BR" baseline="0" dirty="0"/>
              <a:t> para as portas lógicas.</a:t>
            </a:r>
            <a:endParaRPr lang="pt-BR" dirty="0"/>
          </a:p>
          <a:p>
            <a:endParaRPr lang="pt-BR" dirty="0"/>
          </a:p>
          <a:p>
            <a:r>
              <a:rPr lang="pt-BR" dirty="0"/>
              <a:t>Referências:</a:t>
            </a:r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cdn.instructables.com</a:t>
            </a:r>
            <a:r>
              <a:rPr lang="pt-BR" dirty="0"/>
              <a:t>/FWL/DSXX/I0RZ17PH/FWLDSXXI0RZ17PH.MEDIUM.jpg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976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Temos duas formas</a:t>
            </a:r>
            <a:r>
              <a:rPr lang="pt-BR" baseline="0" dirty="0"/>
              <a:t> de representar as lógicas booleanas. Uma é por funções, onde usamos dos símbolos de "mais", "vezes" e a barra sobre a variável para representar o OR, AND e NOT. Outra forma é usando uma tabela verdade, nessa tabela criamos colunas para cada variável de entrada e de saída e colocamos as situações possíveis. Nesse exemplo podemos a função e sua respectiva tabela verdade, e podemos verificar a situação onde </a:t>
            </a:r>
            <a:r>
              <a:rPr lang="pt-BR" baseline="0" dirty="0" err="1"/>
              <a:t>X</a:t>
            </a:r>
            <a:r>
              <a:rPr lang="pt-BR" baseline="0" dirty="0"/>
              <a:t> é 1, </a:t>
            </a:r>
            <a:r>
              <a:rPr lang="pt-BR" baseline="0" dirty="0" err="1"/>
              <a:t>Y</a:t>
            </a:r>
            <a:r>
              <a:rPr lang="pt-BR" baseline="0" dirty="0"/>
              <a:t> é 0 e </a:t>
            </a:r>
            <a:r>
              <a:rPr lang="pt-BR" baseline="0" dirty="0" err="1"/>
              <a:t>Z</a:t>
            </a:r>
            <a:r>
              <a:rPr lang="pt-BR" baseline="0" dirty="0"/>
              <a:t> é 1. Se aplicarmos a formula chegaremos no resultado apresentado na tabela verdade. Normalmente a tabela verdade é uma forma de construir o que queremos que o nosso futuro circuito faça, por isso sua importância.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887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http://homepage.cs.uiowa.edu/~jones/assem/fall03/notes/08arith.html</a:t>
            </a:r>
          </a:p>
          <a:p>
            <a:r>
              <a:rPr lang="en-US" dirty="0"/>
              <a:t>https://lizpearce.wordpress.com/</a:t>
            </a:r>
          </a:p>
          <a:p>
            <a:r>
              <a:rPr lang="en-US" dirty="0"/>
              <a:t>http://forum.bodybuilding.com/showthread.php?t=164392261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1131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Ok, mas agora como consigo chegar na tabela verdade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625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687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2380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024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cs.uwec.edu</a:t>
            </a:r>
            <a:r>
              <a:rPr lang="en-US" dirty="0"/>
              <a:t>/~</a:t>
            </a:r>
            <a:r>
              <a:rPr lang="en-US" dirty="0" err="1"/>
              <a:t>buipj</a:t>
            </a:r>
            <a:r>
              <a:rPr lang="en-US" dirty="0"/>
              <a:t>/teaching/cs.352.f12/lectures/lecture_02-3x3.pdf</a:t>
            </a:r>
          </a:p>
          <a:p>
            <a:endParaRPr lang="en-US" dirty="0"/>
          </a:p>
          <a:p>
            <a:r>
              <a:rPr lang="en-US" dirty="0"/>
              <a:t>(\</a:t>
            </a:r>
            <a:r>
              <a:rPr lang="en-US" dirty="0" err="1"/>
              <a:t>overline</a:t>
            </a:r>
            <a:r>
              <a:rPr lang="en-US" dirty="0"/>
              <a:t>{A}+\</a:t>
            </a:r>
            <a:r>
              <a:rPr lang="en-US" dirty="0" err="1"/>
              <a:t>overline</a:t>
            </a:r>
            <a:r>
              <a:rPr lang="en-US" dirty="0"/>
              <a:t>{B}+\</a:t>
            </a:r>
            <a:r>
              <a:rPr lang="en-US" dirty="0" err="1"/>
              <a:t>overline</a:t>
            </a:r>
            <a:r>
              <a:rPr lang="en-US" dirty="0"/>
              <a:t>{C}) * (\</a:t>
            </a:r>
            <a:r>
              <a:rPr lang="en-US" dirty="0" err="1"/>
              <a:t>overline</a:t>
            </a:r>
            <a:r>
              <a:rPr lang="en-US" dirty="0"/>
              <a:t>{A}+\</a:t>
            </a:r>
            <a:r>
              <a:rPr lang="en-US" dirty="0" err="1"/>
              <a:t>overline</a:t>
            </a:r>
            <a:r>
              <a:rPr lang="en-US" dirty="0"/>
              <a:t>{B}+C) * (\</a:t>
            </a:r>
            <a:r>
              <a:rPr lang="en-US" dirty="0" err="1"/>
              <a:t>overline</a:t>
            </a:r>
            <a:r>
              <a:rPr lang="en-US" dirty="0"/>
              <a:t>{A}+B+\</a:t>
            </a:r>
            <a:r>
              <a:rPr lang="en-US" dirty="0" err="1"/>
              <a:t>overline</a:t>
            </a:r>
            <a:r>
              <a:rPr lang="en-US" dirty="0"/>
              <a:t>{C}) * (\</a:t>
            </a:r>
            <a:r>
              <a:rPr lang="en-US" dirty="0" err="1"/>
              <a:t>overline</a:t>
            </a:r>
            <a:r>
              <a:rPr lang="en-US" dirty="0"/>
              <a:t>{A}+B+C) * (A+\</a:t>
            </a:r>
            <a:r>
              <a:rPr lang="en-US" dirty="0" err="1"/>
              <a:t>overline</a:t>
            </a:r>
            <a:r>
              <a:rPr lang="en-US" dirty="0"/>
              <a:t>{B}+C)</a:t>
            </a:r>
          </a:p>
          <a:p>
            <a:r>
              <a:rPr lang="en-US" dirty="0"/>
              <a:t>A*B*C + A*B*\</a:t>
            </a:r>
            <a:r>
              <a:rPr lang="en-US" dirty="0" err="1"/>
              <a:t>overline</a:t>
            </a:r>
            <a:r>
              <a:rPr lang="en-US" dirty="0"/>
              <a:t>{C} + A*\</a:t>
            </a:r>
            <a:r>
              <a:rPr lang="en-US" dirty="0" err="1"/>
              <a:t>overline</a:t>
            </a:r>
            <a:r>
              <a:rPr lang="en-US" dirty="0"/>
              <a:t>{B}*C + A*\</a:t>
            </a:r>
            <a:r>
              <a:rPr lang="en-US" dirty="0" err="1"/>
              <a:t>overline</a:t>
            </a:r>
            <a:r>
              <a:rPr lang="en-US" dirty="0"/>
              <a:t>{B}*\</a:t>
            </a:r>
            <a:r>
              <a:rPr lang="en-US" dirty="0" err="1"/>
              <a:t>overline</a:t>
            </a:r>
            <a:r>
              <a:rPr lang="en-US" dirty="0"/>
              <a:t>{C} + \</a:t>
            </a:r>
            <a:r>
              <a:rPr lang="en-US" dirty="0" err="1"/>
              <a:t>overline</a:t>
            </a:r>
            <a:r>
              <a:rPr lang="en-US" dirty="0"/>
              <a:t>{A}*B*\</a:t>
            </a:r>
            <a:r>
              <a:rPr lang="en-US" dirty="0" err="1"/>
              <a:t>overline</a:t>
            </a:r>
            <a:r>
              <a:rPr lang="en-US" dirty="0"/>
              <a:t>{C}</a:t>
            </a:r>
          </a:p>
          <a:p>
            <a:r>
              <a:rPr lang="en-US" dirty="0"/>
              <a:t>\</a:t>
            </a:r>
            <a:r>
              <a:rPr lang="en-US" dirty="0" err="1"/>
              <a:t>overline</a:t>
            </a:r>
            <a:r>
              <a:rPr lang="en-US" dirty="0"/>
              <a:t>{A}*\</a:t>
            </a:r>
            <a:r>
              <a:rPr lang="en-US" dirty="0" err="1"/>
              <a:t>overline</a:t>
            </a:r>
            <a:r>
              <a:rPr lang="en-US" dirty="0"/>
              <a:t>{B}*\</a:t>
            </a:r>
            <a:r>
              <a:rPr lang="en-US" dirty="0" err="1"/>
              <a:t>overline</a:t>
            </a:r>
            <a:r>
              <a:rPr lang="en-US" dirty="0"/>
              <a:t>{C} + \</a:t>
            </a:r>
            <a:r>
              <a:rPr lang="en-US" dirty="0" err="1"/>
              <a:t>overline</a:t>
            </a:r>
            <a:r>
              <a:rPr lang="en-US" dirty="0"/>
              <a:t>{A}*\</a:t>
            </a:r>
            <a:r>
              <a:rPr lang="en-US" dirty="0" err="1"/>
              <a:t>overline</a:t>
            </a:r>
            <a:r>
              <a:rPr lang="en-US" dirty="0"/>
              <a:t>{B}*C + \</a:t>
            </a:r>
            <a:r>
              <a:rPr lang="en-US" dirty="0" err="1"/>
              <a:t>overline</a:t>
            </a:r>
            <a:r>
              <a:rPr lang="en-US" dirty="0"/>
              <a:t>{A}*B*\</a:t>
            </a:r>
            <a:r>
              <a:rPr lang="en-US" dirty="0" err="1"/>
              <a:t>overline</a:t>
            </a:r>
            <a:r>
              <a:rPr lang="en-US" dirty="0"/>
              <a:t>{C} + \</a:t>
            </a:r>
            <a:r>
              <a:rPr lang="en-US" dirty="0" err="1"/>
              <a:t>overline</a:t>
            </a:r>
            <a:r>
              <a:rPr lang="en-US" dirty="0"/>
              <a:t>{A}*B*C + A*\</a:t>
            </a:r>
            <a:r>
              <a:rPr lang="en-US" dirty="0" err="1"/>
              <a:t>overline</a:t>
            </a:r>
            <a:r>
              <a:rPr lang="en-US" dirty="0"/>
              <a:t>{B}*C</a:t>
            </a:r>
          </a:p>
          <a:p>
            <a:r>
              <a:rPr lang="en-US" dirty="0"/>
              <a:t>(\</a:t>
            </a:r>
            <a:r>
              <a:rPr lang="en-US" dirty="0" err="1"/>
              <a:t>overline</a:t>
            </a:r>
            <a:r>
              <a:rPr lang="en-US" dirty="0"/>
              <a:t>{A}+B+C) * (\</a:t>
            </a:r>
            <a:r>
              <a:rPr lang="en-US" dirty="0" err="1"/>
              <a:t>overline</a:t>
            </a:r>
            <a:r>
              <a:rPr lang="en-US" dirty="0"/>
              <a:t>{A}+\</a:t>
            </a:r>
            <a:r>
              <a:rPr lang="en-US" dirty="0" err="1"/>
              <a:t>overline</a:t>
            </a:r>
            <a:r>
              <a:rPr lang="en-US" dirty="0"/>
              <a:t>{B}+C) * (\</a:t>
            </a:r>
            <a:r>
              <a:rPr lang="en-US" dirty="0" err="1"/>
              <a:t>overline</a:t>
            </a:r>
            <a:r>
              <a:rPr lang="en-US" dirty="0"/>
              <a:t>{A}+\</a:t>
            </a:r>
            <a:r>
              <a:rPr lang="en-US" dirty="0" err="1"/>
              <a:t>overline</a:t>
            </a:r>
            <a:r>
              <a:rPr lang="en-US" dirty="0"/>
              <a:t>{B}+\</a:t>
            </a:r>
            <a:r>
              <a:rPr lang="en-US" dirty="0" err="1"/>
              <a:t>overline</a:t>
            </a:r>
            <a:r>
              <a:rPr lang="en-US" dirty="0"/>
              <a:t>{C})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348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C'A + CB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195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essas simplificações nós usaremos as propriedades das operações básicas de álgebra booleana,</a:t>
            </a:r>
            <a:r>
              <a:rPr lang="pt-BR" baseline="0" dirty="0"/>
              <a:t> e aqui está uma tabela com as principais operações. As leis da identidade, comutatividade, associatividade e distributividade são bem similares ao que já fazemos normalmente em expressões matemáticas. A </a:t>
            </a:r>
            <a:r>
              <a:rPr lang="pt-BR" baseline="0" dirty="0" err="1"/>
              <a:t>idempotência</a:t>
            </a:r>
            <a:r>
              <a:rPr lang="pt-BR" baseline="0" dirty="0"/>
              <a:t> mostra que um AND ou OR com duas variáveis é exatamente a mesma variável. A lei do complemento duplo mostra que se negarmos duas vezes uma variável, teremos a mesma variável. A lei da complementariedade já mostra que fazermos um AND com a negação da mesma variável acabaremos com zero, ou seja, 0 vezes 1 ou 1 vezes 0 sempre dará zero. Já com o OR é o oposto e sempre teremos 1 como resposta. Na lei da interseção temos que uma variável vezes 1 é sempre ela mesma, e se for vezes 0, acabara zerando o resultado. Já a lei da união diz que uma variável mais um é sempre um, e uma variável mais zero é a própria variável. O teorema de </a:t>
            </a:r>
            <a:r>
              <a:rPr lang="pt-BR" baseline="0" dirty="0" err="1"/>
              <a:t>DeMorgam</a:t>
            </a:r>
            <a:r>
              <a:rPr lang="pt-BR" baseline="0" dirty="0"/>
              <a:t> é bem interessante, pois mostra uma propriedade bem peculiar da álgebra booleana, no caso o conjunto de A vezes B negado, é o mesmo que A negado, mais B negado, e da mesma forma A negado mais B negado é igual ao A vezes B, e esse resultado negado. Mais a frente iremos rever </a:t>
            </a:r>
            <a:r>
              <a:rPr lang="pt-BR" baseline="0" dirty="0" err="1"/>
              <a:t>DeMorgan</a:t>
            </a:r>
            <a:r>
              <a:rPr lang="pt-BR" baseline="0" dirty="0"/>
              <a:t>.  </a:t>
            </a:r>
            <a:endParaRPr lang="pt-BR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Obs</a:t>
            </a:r>
            <a:r>
              <a:rPr lang="en-US" dirty="0"/>
              <a:t>: </a:t>
            </a:r>
          </a:p>
          <a:p>
            <a:r>
              <a:rPr lang="pt-BR" baseline="0" dirty="0"/>
              <a:t>. A lei da absorção já é mais confusa, mas diz que A vezes A mais B é igual a </a:t>
            </a:r>
            <a:r>
              <a:rPr lang="pt-BR" baseline="0" dirty="0" err="1"/>
              <a:t>A</a:t>
            </a:r>
            <a:r>
              <a:rPr lang="pt-BR" baseline="0" dirty="0"/>
              <a:t> e que A mais A vezes B também é A. Já a lei das identidades comuns mostra que A veze A negado mais B é igual a </a:t>
            </a:r>
            <a:r>
              <a:rPr lang="pt-BR" baseline="0" dirty="0" err="1"/>
              <a:t>A</a:t>
            </a:r>
            <a:r>
              <a:rPr lang="pt-BR" baseline="0" dirty="0"/>
              <a:t> vezes B, e também que A mais A negado vezes B é igual a </a:t>
            </a:r>
            <a:r>
              <a:rPr lang="pt-BR" baseline="0" dirty="0" err="1"/>
              <a:t>A</a:t>
            </a:r>
            <a:r>
              <a:rPr lang="pt-BR" baseline="0" dirty="0"/>
              <a:t> mais B. </a:t>
            </a:r>
            <a:endParaRPr lang="en-US" dirty="0"/>
          </a:p>
          <a:p>
            <a:pPr rtl="0" eaLnBrk="1" fontAlgn="b" latinLnBrk="0" hangingPunct="1"/>
            <a:r>
              <a:rPr lang="en-US" dirty="0" err="1"/>
              <a:t>Removi</a:t>
            </a:r>
            <a:r>
              <a:rPr lang="en-US" dirty="0"/>
              <a:t> 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Lei da Absorção</a:t>
            </a: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 + B) = A</a:t>
            </a:r>
            <a:endParaRPr lang="pt-B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 (A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B) = A</a:t>
            </a:r>
            <a:endParaRPr lang="pt-B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Lei das Identidades Comuns</a:t>
            </a: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(Ā + B) = A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</a:t>
            </a:r>
            <a:endParaRPr lang="pt-B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b" latinLnBrk="0" hangingPunct="1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+ (Ā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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B) = A + B</a:t>
            </a:r>
            <a:endParaRPr lang="pt-B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www.tpub.com</a:t>
            </a:r>
            <a:r>
              <a:rPr lang="en-US" dirty="0"/>
              <a:t>/</a:t>
            </a:r>
            <a:r>
              <a:rPr lang="en-US" dirty="0" err="1"/>
              <a:t>neets</a:t>
            </a:r>
            <a:r>
              <a:rPr lang="en-US" dirty="0"/>
              <a:t>/book13/54h.htm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748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district.bluegrass.kctcs.edu</a:t>
            </a:r>
            <a:r>
              <a:rPr lang="en-US" dirty="0"/>
              <a:t>/</a:t>
            </a:r>
            <a:r>
              <a:rPr lang="en-US" dirty="0" err="1"/>
              <a:t>kevin.dunn</a:t>
            </a:r>
            <a:r>
              <a:rPr lang="en-US" dirty="0"/>
              <a:t>/files/Simplification/4_Simplification_print.html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7604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district.bluegrass.kctcs.edu</a:t>
            </a:r>
            <a:r>
              <a:rPr lang="en-US" dirty="0"/>
              <a:t>/</a:t>
            </a:r>
            <a:r>
              <a:rPr lang="en-US" dirty="0" err="1"/>
              <a:t>kevin.dunn</a:t>
            </a:r>
            <a:r>
              <a:rPr lang="en-US" dirty="0"/>
              <a:t>/files/Simplification/4_Simplification_print.html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5304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district.bluegrass.kctcs.edu</a:t>
            </a:r>
            <a:r>
              <a:rPr lang="en-US" dirty="0"/>
              <a:t>/</a:t>
            </a:r>
            <a:r>
              <a:rPr lang="en-US" dirty="0" err="1"/>
              <a:t>kevin.dunn</a:t>
            </a:r>
            <a:r>
              <a:rPr lang="en-US" dirty="0"/>
              <a:t>/files/Simplification/4_Simplification_print.html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1616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http://</a:t>
            </a:r>
            <a:r>
              <a:rPr lang="en-US" dirty="0" err="1"/>
              <a:t>dcm.ffclrp.usp.br</a:t>
            </a:r>
            <a:r>
              <a:rPr lang="en-US" dirty="0"/>
              <a:t>/~</a:t>
            </a:r>
            <a:r>
              <a:rPr lang="en-US" dirty="0" err="1"/>
              <a:t>augusto</a:t>
            </a:r>
            <a:r>
              <a:rPr lang="en-US" dirty="0"/>
              <a:t>/teaching/aba/AB-Algebra-Boole-</a:t>
            </a:r>
            <a:r>
              <a:rPr lang="en-US" dirty="0" err="1"/>
              <a:t>Simplificacao</a:t>
            </a:r>
            <a:r>
              <a:rPr lang="en-US" dirty="0"/>
              <a:t>-</a:t>
            </a:r>
            <a:r>
              <a:rPr lang="en-US" dirty="0" err="1"/>
              <a:t>Circuitos.pdf</a:t>
            </a:r>
            <a:endParaRPr lang="en-US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2905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www.facstaff.bucknell.edu</a:t>
            </a:r>
            <a:r>
              <a:rPr lang="en-US" dirty="0"/>
              <a:t>/</a:t>
            </a:r>
            <a:r>
              <a:rPr lang="en-US" dirty="0" err="1"/>
              <a:t>mastascu</a:t>
            </a:r>
            <a:r>
              <a:rPr lang="en-US" dirty="0"/>
              <a:t>/</a:t>
            </a:r>
            <a:r>
              <a:rPr lang="en-US" dirty="0" err="1"/>
              <a:t>eLessonsHTML</a:t>
            </a:r>
            <a:r>
              <a:rPr lang="en-US" dirty="0"/>
              <a:t>/Logic/Logic3.html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5805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www.facstaff.bucknell.edu</a:t>
            </a:r>
            <a:r>
              <a:rPr lang="en-US" dirty="0"/>
              <a:t>/</a:t>
            </a:r>
            <a:r>
              <a:rPr lang="en-US" dirty="0" err="1"/>
              <a:t>mastascu</a:t>
            </a:r>
            <a:r>
              <a:rPr lang="en-US" dirty="0"/>
              <a:t>/</a:t>
            </a:r>
            <a:r>
              <a:rPr lang="en-US" dirty="0" err="1"/>
              <a:t>eLessonsHTML</a:t>
            </a:r>
            <a:r>
              <a:rPr lang="en-US" dirty="0"/>
              <a:t>/Logic/Logic3.html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5063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https://www.facstaff.bucknell.edu/mastascu/eLessonsHTML/Logic/Logic3.html</a:t>
            </a:r>
          </a:p>
          <a:p>
            <a:endParaRPr lang="en-US" dirty="0"/>
          </a:p>
          <a:p>
            <a:r>
              <a:rPr lang="en-US" dirty="0"/>
              <a:t>\</a:t>
            </a:r>
            <a:r>
              <a:rPr lang="en-US" dirty="0" err="1"/>
              <a:t>overline</a:t>
            </a:r>
            <a:r>
              <a:rPr lang="en-US" dirty="0"/>
              <a:t>{A}*\</a:t>
            </a:r>
            <a:r>
              <a:rPr lang="en-US" dirty="0" err="1"/>
              <a:t>overline</a:t>
            </a:r>
            <a:r>
              <a:rPr lang="en-US" dirty="0"/>
              <a:t>{B}*\</a:t>
            </a:r>
            <a:r>
              <a:rPr lang="en-US" dirty="0" err="1"/>
              <a:t>overline</a:t>
            </a:r>
            <a:r>
              <a:rPr lang="en-US" dirty="0"/>
              <a:t>{C} + A*D </a:t>
            </a:r>
          </a:p>
          <a:p>
            <a:r>
              <a:rPr lang="en-US" dirty="0"/>
              <a:t>A*\</a:t>
            </a:r>
            <a:r>
              <a:rPr lang="en-US" dirty="0" err="1"/>
              <a:t>overline</a:t>
            </a:r>
            <a:r>
              <a:rPr lang="en-US" dirty="0"/>
              <a:t>{C} + \</a:t>
            </a:r>
            <a:r>
              <a:rPr lang="en-US" dirty="0" err="1"/>
              <a:t>overline</a:t>
            </a:r>
            <a:r>
              <a:rPr lang="en-US" dirty="0"/>
              <a:t>{C}*\</a:t>
            </a:r>
            <a:r>
              <a:rPr lang="en-US" dirty="0" err="1"/>
              <a:t>overline</a:t>
            </a:r>
            <a:r>
              <a:rPr lang="en-US" dirty="0"/>
              <a:t>{D} </a:t>
            </a:r>
          </a:p>
          <a:p>
            <a:r>
              <a:rPr lang="en-US" dirty="0"/>
              <a:t>\</a:t>
            </a:r>
            <a:r>
              <a:rPr lang="en-US" dirty="0" err="1"/>
              <a:t>overline</a:t>
            </a:r>
            <a:r>
              <a:rPr lang="en-US" dirty="0"/>
              <a:t>{A} + C*\</a:t>
            </a:r>
            <a:r>
              <a:rPr lang="en-US" dirty="0" err="1"/>
              <a:t>overline</a:t>
            </a:r>
            <a:r>
              <a:rPr lang="en-US" dirty="0"/>
              <a:t>{D}</a:t>
            </a:r>
          </a:p>
          <a:p>
            <a:r>
              <a:rPr lang="en-US" dirty="0"/>
              <a:t>A*\</a:t>
            </a:r>
            <a:r>
              <a:rPr lang="en-US" dirty="0" err="1"/>
              <a:t>overline</a:t>
            </a:r>
            <a:r>
              <a:rPr lang="en-US" dirty="0"/>
              <a:t>{B} + \</a:t>
            </a:r>
            <a:r>
              <a:rPr lang="en-US" dirty="0" err="1"/>
              <a:t>overline</a:t>
            </a:r>
            <a:r>
              <a:rPr lang="en-US" dirty="0"/>
              <a:t>{B}*C + \</a:t>
            </a:r>
            <a:r>
              <a:rPr lang="en-US" dirty="0" err="1"/>
              <a:t>overline</a:t>
            </a:r>
            <a:r>
              <a:rPr lang="en-US" dirty="0"/>
              <a:t>{C}*D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1924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://d2r5da613aq50s.cloudfront.net/</a:t>
            </a:r>
            <a:r>
              <a:rPr lang="pt-BR" dirty="0" err="1"/>
              <a:t>wp-content</a:t>
            </a:r>
            <a:r>
              <a:rPr lang="pt-BR" dirty="0"/>
              <a:t>/uploads/310622.image0.jpg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0155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Fala</a:t>
            </a:r>
            <a:r>
              <a:rPr lang="pt-BR" baseline="0" dirty="0"/>
              <a:t>r de </a:t>
            </a:r>
            <a:r>
              <a:rPr lang="pt-BR" baseline="0" dirty="0" err="1"/>
              <a:t>glitchs</a:t>
            </a:r>
            <a:r>
              <a:rPr lang="pt-BR" baseline="0" dirty="0"/>
              <a:t> por exemplo.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4600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85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8/16/26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8/16/26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8/16/26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8/16/26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8/16/26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AAB-6C5E-467D-845A-F194A397AFC3}" type="datetimeFigureOut">
              <a:rPr lang="pt-BR" smtClean="0"/>
              <a:t>16/08/2026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905B8-E2A6-4C55-A3EB-1BB1954F289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928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8/16/26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  <p:sldLayoutId id="2147483669" r:id="rId8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0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pyeda.readthedocs.io/en/latest/overview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tags" Target="../tags/tag13.xml"/><Relationship Id="rId1" Type="http://schemas.openxmlformats.org/officeDocument/2006/relationships/video" Target="NULL" TargetMode="Externa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>
                <a:latin typeface="Verdana"/>
                <a:cs typeface="Verdana"/>
              </a:rPr>
              <a:t>estudo para aula 2 – Álgebra Booleana</a:t>
            </a:r>
            <a:endParaRPr lang="pt-BR" dirty="0"/>
          </a:p>
        </p:txBody>
      </p:sp>
      <p:sp>
        <p:nvSpPr>
          <p:cNvPr id="6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</a:t>
            </a:r>
            <a:r>
              <a:rPr lang="pt-BR"/>
              <a:t>da Computação </a:t>
            </a:r>
            <a:r>
              <a:rPr lang="pt-BR" dirty="0"/>
              <a:t>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  <p:sp>
        <p:nvSpPr>
          <p:cNvPr id="8" name="Rectangle 7"/>
          <p:cNvSpPr/>
          <p:nvPr/>
        </p:nvSpPr>
        <p:spPr>
          <a:xfrm>
            <a:off x="197707" y="4456654"/>
            <a:ext cx="84273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1600" b="1" i="1" dirty="0">
                <a:solidFill>
                  <a:schemeClr val="bg1"/>
                </a:solidFill>
              </a:rPr>
              <a:t>"A força motriz da invenção matemática não é o raciocínio, mas a imaginação."</a:t>
            </a:r>
          </a:p>
          <a:p>
            <a:pPr defTabSz="914400">
              <a:defRPr/>
            </a:pPr>
            <a:r>
              <a:rPr lang="en-US" sz="1600" b="1" i="1" dirty="0">
                <a:solidFill>
                  <a:schemeClr val="bg1"/>
                </a:solidFill>
              </a:rPr>
              <a:t>"The moving power of mathematical invention is not reasoning but imagination."</a:t>
            </a:r>
          </a:p>
          <a:p>
            <a:pPr defTabSz="914400">
              <a:defRPr/>
            </a:pPr>
            <a:r>
              <a:rPr lang="fi-FI" sz="1600" b="1" i="1" dirty="0">
                <a:solidFill>
                  <a:schemeClr val="bg1"/>
                </a:solidFill>
              </a:rPr>
              <a:t>Augustus De Morgan (1806 - 1871)</a:t>
            </a:r>
            <a:r>
              <a:rPr lang="is-IS" sz="1600" b="1" i="1" dirty="0">
                <a:solidFill>
                  <a:schemeClr val="bg1"/>
                </a:solidFill>
              </a:rPr>
              <a:t> matemático britânico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3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150" y="523875"/>
            <a:ext cx="2348813" cy="38295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George Boole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6" y="1657350"/>
            <a:ext cx="3451135" cy="2696112"/>
          </a:xfrm>
        </p:spPr>
        <p:txBody>
          <a:bodyPr>
            <a:normAutofit lnSpcReduction="10000"/>
          </a:bodyPr>
          <a:lstStyle/>
          <a:p>
            <a:r>
              <a:rPr lang="pt-BR" sz="2250" dirty="0"/>
              <a:t>George Boole foi um matemático britânico, que desenvolveu os conceitos da álgebra booleana em 1847, que viria a se tornar uma das bases da computação moderna.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grpSp>
        <p:nvGrpSpPr>
          <p:cNvPr id="8" name="Group 7"/>
          <p:cNvGrpSpPr/>
          <p:nvPr/>
        </p:nvGrpSpPr>
        <p:grpSpPr>
          <a:xfrm>
            <a:off x="6209654" y="2137890"/>
            <a:ext cx="2739363" cy="4021064"/>
            <a:chOff x="5803900" y="1586349"/>
            <a:chExt cx="3175000" cy="4660528"/>
          </a:xfrm>
        </p:grpSpPr>
        <p:pic>
          <p:nvPicPr>
            <p:cNvPr id="6" name="Picture 5" descr="George_Boole_color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3900" y="1586349"/>
              <a:ext cx="3175000" cy="425450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5820164" y="5843861"/>
              <a:ext cx="3158735" cy="4030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700" dirty="0"/>
                <a:t>George Boole (1815 — 1864) </a:t>
              </a:r>
            </a:p>
          </p:txBody>
        </p:sp>
      </p:grpSp>
      <p:sp>
        <p:nvSpPr>
          <p:cNvPr id="10" name="Content Placeholder 2"/>
          <p:cNvSpPr txBox="1">
            <a:spLocks/>
          </p:cNvSpPr>
          <p:nvPr/>
        </p:nvSpPr>
        <p:spPr>
          <a:xfrm>
            <a:off x="671648" y="4555097"/>
            <a:ext cx="5461995" cy="19629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dirty="0"/>
              <a:t>Na álgebra booleana as variáveis só possuem dois valores e as operações fundamentais são a ∧ (conjunção), ∨ (disjunção) e ¬ (negação).</a:t>
            </a:r>
          </a:p>
        </p:txBody>
      </p:sp>
    </p:spTree>
    <p:extLst>
      <p:ext uri="{BB962C8B-B14F-4D97-AF65-F5344CB8AC3E}">
        <p14:creationId xmlns:p14="http://schemas.microsoft.com/office/powerpoint/2010/main" val="29112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Claude Shannon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6" y="1485900"/>
            <a:ext cx="4922379" cy="4724400"/>
          </a:xfrm>
        </p:spPr>
        <p:txBody>
          <a:bodyPr>
            <a:normAutofit/>
          </a:bodyPr>
          <a:lstStyle/>
          <a:p>
            <a:r>
              <a:rPr lang="pt-BR" sz="2000" dirty="0"/>
              <a:t>O engenheiro americano Claude Shannon (EUA) aplicou as ideias da álgebra booleana em circuitos elétricos. Enquanto trabalhava no Analisador Diferencial de </a:t>
            </a:r>
            <a:r>
              <a:rPr lang="pt-BR" sz="2000" dirty="0" err="1"/>
              <a:t>Vannevar</a:t>
            </a:r>
            <a:r>
              <a:rPr lang="pt-BR" sz="2000" dirty="0"/>
              <a:t> Bush, ele percebeu uma relação entre um relé ser ligado/desligado e a lógica booleana verdadeiro/falso.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606" y="613304"/>
            <a:ext cx="2849618" cy="2878257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6735650" y="3264944"/>
            <a:ext cx="2279562" cy="3190275"/>
            <a:chOff x="1334044" y="4442920"/>
            <a:chExt cx="1516995" cy="212305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4"/>
            <a:srcRect l="21540" r="8288" b="28650"/>
            <a:stretch/>
          </p:blipFill>
          <p:spPr>
            <a:xfrm>
              <a:off x="1394039" y="4442920"/>
              <a:ext cx="1389704" cy="1959254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334044" y="6371396"/>
              <a:ext cx="1516995" cy="1945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1300" dirty="0"/>
                <a:t>Claude Shannon (1916 </a:t>
              </a:r>
              <a:r>
                <a:rPr lang="mr-IN" sz="1300" dirty="0"/>
                <a:t>–</a:t>
              </a:r>
              <a:r>
                <a:rPr lang="pt-BR" sz="1300" dirty="0"/>
                <a:t> 2001)</a:t>
              </a:r>
              <a:endParaRPr lang="en-US" sz="1300" dirty="0"/>
            </a:p>
          </p:txBody>
        </p:sp>
      </p:grpSp>
      <p:pic>
        <p:nvPicPr>
          <p:cNvPr id="13" name="Picture 12" descr="bushdiffan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38" y="4160970"/>
            <a:ext cx="2922184" cy="2405932"/>
          </a:xfrm>
          <a:prstGeom prst="rect">
            <a:avLst/>
          </a:prstGeom>
        </p:spPr>
      </p:pic>
      <p:pic>
        <p:nvPicPr>
          <p:cNvPr id="14" name="Picture 13" descr="relays.jpg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79"/>
          <a:stretch/>
        </p:blipFill>
        <p:spPr>
          <a:xfrm>
            <a:off x="3571316" y="5270267"/>
            <a:ext cx="2406316" cy="144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Álgebra Booleana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As variáveis (dígitos) só podem assumir dois valores.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1688941" y="2422710"/>
            <a:ext cx="5702459" cy="2850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70000"/>
              </a:lnSpc>
            </a:pPr>
            <a:r>
              <a:rPr lang="en-US" sz="23900" b="1" dirty="0">
                <a:latin typeface="Courier"/>
                <a:cs typeface="Courier"/>
              </a:rPr>
              <a:t>0 1</a:t>
            </a:r>
            <a:endParaRPr lang="pt-BR" sz="23900" b="1" dirty="0">
              <a:latin typeface="Courier"/>
              <a:cs typeface="Courier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755296"/>
              </p:ext>
            </p:extLst>
          </p:nvPr>
        </p:nvGraphicFramePr>
        <p:xfrm>
          <a:off x="831055" y="4450108"/>
          <a:ext cx="741823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9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desligado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ligado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verdadeiro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 volt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 volts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branco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preto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94262" y="6034415"/>
            <a:ext cx="5955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Em computação chamamos isso de </a:t>
            </a:r>
            <a:r>
              <a:rPr lang="pt-BR" sz="2800" b="1" dirty="0">
                <a:solidFill>
                  <a:srgbClr val="FF0000"/>
                </a:solidFill>
              </a:rPr>
              <a:t>bit</a:t>
            </a:r>
            <a:r>
              <a:rPr lang="pt-BR" sz="2800" dirty="0">
                <a:solidFill>
                  <a:srgbClr val="FF0000"/>
                </a:solidFill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325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l="26061" t="64367" r="8526"/>
          <a:stretch/>
        </p:blipFill>
        <p:spPr>
          <a:xfrm>
            <a:off x="6862808" y="5373234"/>
            <a:ext cx="1183784" cy="8216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26061" r="8526" b="68585"/>
          <a:stretch/>
        </p:blipFill>
        <p:spPr>
          <a:xfrm>
            <a:off x="3980108" y="5403830"/>
            <a:ext cx="1183784" cy="724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100"/>
              <a:t>Operações Básicas em Álgebra </a:t>
            </a:r>
            <a:r>
              <a:rPr lang="pt-BR" sz="3100" dirty="0"/>
              <a:t>Booleana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319116" y="1943533"/>
            <a:ext cx="2601059" cy="324162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numCol="1" spcCol="36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s-IS" sz="4000" b="1" dirty="0"/>
              <a:t>0×0 = 0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0×1 = 0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1×0 = 0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1×1 = 1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154171" y="1943533"/>
            <a:ext cx="2601059" cy="324162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numCol="1" spcCol="36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is-IS" sz="4000" b="1" dirty="0"/>
              <a:t>  </a:t>
            </a:r>
            <a:r>
              <a:rPr lang="is-IS" sz="2800" b="1" dirty="0"/>
              <a:t> </a:t>
            </a:r>
            <a:r>
              <a:rPr lang="is-IS" sz="4000" b="1" dirty="0"/>
              <a:t>_   </a:t>
            </a:r>
          </a:p>
          <a:p>
            <a:pPr algn="ctr">
              <a:lnSpc>
                <a:spcPts val="4000"/>
              </a:lnSpc>
              <a:spcBef>
                <a:spcPts val="0"/>
              </a:spcBef>
            </a:pPr>
            <a:r>
              <a:rPr lang="is-IS" sz="4000" b="1" dirty="0"/>
              <a:t>0 = 1</a:t>
            </a:r>
          </a:p>
          <a:p>
            <a:pPr>
              <a:spcBef>
                <a:spcPts val="0"/>
              </a:spcBef>
            </a:pPr>
            <a:endParaRPr lang="is-IS" b="1" dirty="0"/>
          </a:p>
          <a:p>
            <a:pPr>
              <a:spcBef>
                <a:spcPts val="0"/>
              </a:spcBef>
            </a:pPr>
            <a:r>
              <a:rPr lang="is-IS" sz="4000" b="1" dirty="0"/>
              <a:t>  </a:t>
            </a:r>
            <a:r>
              <a:rPr lang="is-IS" sz="2800" b="1" dirty="0"/>
              <a:t> </a:t>
            </a:r>
            <a:r>
              <a:rPr lang="is-IS" sz="4000" b="1" dirty="0"/>
              <a:t>_   </a:t>
            </a:r>
          </a:p>
          <a:p>
            <a:pPr algn="ctr">
              <a:lnSpc>
                <a:spcPts val="4000"/>
              </a:lnSpc>
              <a:spcBef>
                <a:spcPts val="0"/>
              </a:spcBef>
            </a:pPr>
            <a:r>
              <a:rPr lang="is-IS" sz="4000" b="1" dirty="0"/>
              <a:t>1 = 0</a:t>
            </a:r>
          </a:p>
          <a:p>
            <a:pPr algn="ctr">
              <a:spcAft>
                <a:spcPts val="600"/>
              </a:spcAft>
            </a:pPr>
            <a:endParaRPr lang="is-IS" sz="4000" b="1" dirty="0"/>
          </a:p>
          <a:p>
            <a:pPr algn="ctr">
              <a:spcAft>
                <a:spcPts val="600"/>
              </a:spcAft>
            </a:pPr>
            <a:endParaRPr lang="is-IS" sz="4000" b="1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84062" y="1943533"/>
            <a:ext cx="2601059" cy="324162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numCol="1" spcCol="36000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is-IS" sz="4000" b="1" dirty="0"/>
              <a:t>0+0 = 0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0+1 = 1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1+0 = 1</a:t>
            </a:r>
          </a:p>
          <a:p>
            <a:pPr algn="ctr">
              <a:spcAft>
                <a:spcPts val="600"/>
              </a:spcAft>
            </a:pPr>
            <a:r>
              <a:rPr lang="is-IS" sz="4000" b="1" dirty="0"/>
              <a:t>1+1 = 1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26061" t="30511" r="8526" b="35420"/>
          <a:stretch/>
        </p:blipFill>
        <p:spPr>
          <a:xfrm>
            <a:off x="1192699" y="5373234"/>
            <a:ext cx="1183784" cy="7856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529533"/>
            <a:ext cx="566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5146" y="1529532"/>
            <a:ext cx="7665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7950" y="1524643"/>
            <a:ext cx="740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7559966" y="6020347"/>
            <a:ext cx="119526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i="1" dirty="0">
                <a:solidFill>
                  <a:srgbClr val="252525"/>
                </a:solidFill>
                <a:latin typeface="Arial" charset="0"/>
              </a:rPr>
              <a:t>símbolos ANSI</a:t>
            </a:r>
            <a:endParaRPr lang="pt-BR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127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7" grpId="0"/>
      <p:bldP spid="18" grpId="0"/>
      <p:bldP spid="19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Booleanas e Tabelas Verdade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Lógicas Booleanas podem ser expressas com:</a:t>
            </a:r>
          </a:p>
          <a:p>
            <a:endParaRPr lang="pt-BR" dirty="0"/>
          </a:p>
          <a:p>
            <a:r>
              <a:rPr lang="pt-BR" dirty="0"/>
              <a:t>         funções                      ou               tabelas verdade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725688" y="2678257"/>
            <a:ext cx="26581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noProof="1">
                <a:latin typeface="Lucida Calligraphy" charset="0"/>
                <a:ea typeface="Lucida Calligraphy" charset="0"/>
                <a:cs typeface="Lucida Calligraphy" charset="0"/>
              </a:rPr>
              <a:t>f(x,y,z) = (x + y) z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801119"/>
              </p:ext>
            </p:extLst>
          </p:nvPr>
        </p:nvGraphicFramePr>
        <p:xfrm>
          <a:off x="5389807" y="2678257"/>
          <a:ext cx="2441048" cy="3337560"/>
        </p:xfrm>
        <a:graphic>
          <a:graphicData uri="http://schemas.openxmlformats.org/drawingml/2006/table">
            <a:tbl>
              <a:tblPr firstRow="1"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x</a:t>
                      </a:r>
                      <a:endParaRPr lang="pt-BR" sz="1800" dirty="0">
                        <a:latin typeface="Lucida Calligraphy" charset="0"/>
                        <a:ea typeface="Lucida Calligraphy" charset="0"/>
                        <a:cs typeface="Lucida Calligraphy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f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725688" y="4881091"/>
            <a:ext cx="4528892" cy="400110"/>
            <a:chOff x="725688" y="4881091"/>
            <a:chExt cx="4528892" cy="400110"/>
          </a:xfrm>
        </p:grpSpPr>
        <p:sp>
          <p:nvSpPr>
            <p:cNvPr id="11" name="Rectangle 10"/>
            <p:cNvSpPr/>
            <p:nvPr/>
          </p:nvSpPr>
          <p:spPr>
            <a:xfrm>
              <a:off x="725688" y="4881091"/>
              <a:ext cx="2765501" cy="4001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pt-BR" sz="2000" noProof="1">
                  <a:latin typeface="Lucida Calligraphy" charset="0"/>
                  <a:ea typeface="Lucida Calligraphy" charset="0"/>
                  <a:cs typeface="Lucida Calligraphy" charset="0"/>
                </a:rPr>
                <a:t>f(1,0,1) = (1 + 0) 1 = 1</a:t>
              </a:r>
            </a:p>
          </p:txBody>
        </p:sp>
        <p:cxnSp>
          <p:nvCxnSpPr>
            <p:cNvPr id="13" name="Straight Arrow Connector 12"/>
            <p:cNvCxnSpPr>
              <a:stCxn id="11" idx="3"/>
            </p:cNvCxnSpPr>
            <p:nvPr/>
          </p:nvCxnSpPr>
          <p:spPr>
            <a:xfrm>
              <a:off x="3491189" y="5081146"/>
              <a:ext cx="17633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69418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628650" y="1393588"/>
            <a:ext cx="75478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000000"/>
                </a:solidFill>
                <a:latin typeface="Courier"/>
              </a:rPr>
              <a:t>  _   _                   _</a:t>
            </a:r>
          </a:p>
          <a:p>
            <a:r>
              <a:rPr lang="pt-BR" sz="2400" b="1" dirty="0">
                <a:solidFill>
                  <a:srgbClr val="000000"/>
                </a:solidFill>
                <a:latin typeface="Courier"/>
              </a:rPr>
              <a:t>( A + B ) * ( B + C ) * ( D * A)</a:t>
            </a:r>
            <a:endParaRPr lang="pt-BR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/>
          <a:lstStyle/>
          <a:p>
            <a:r>
              <a:rPr lang="pt-BR" dirty="0"/>
              <a:t>Diagnóstico de Álgebra Booleana</a:t>
            </a:r>
          </a:p>
        </p:txBody>
      </p:sp>
    </p:spTree>
    <p:extLst>
      <p:ext uri="{BB962C8B-B14F-4D97-AF65-F5344CB8AC3E}">
        <p14:creationId xmlns:p14="http://schemas.microsoft.com/office/powerpoint/2010/main" val="2488054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geradas por Tabelas Verdade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569564"/>
          </a:xfrm>
        </p:spPr>
        <p:txBody>
          <a:bodyPr/>
          <a:lstStyle/>
          <a:p>
            <a:r>
              <a:rPr lang="pt-BR" dirty="0"/>
              <a:t>Como a partir de uma tabela verdade gerar sua função Booleana?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6" name="Rectangle 5"/>
          <p:cNvSpPr/>
          <p:nvPr/>
        </p:nvSpPr>
        <p:spPr>
          <a:xfrm>
            <a:off x="5822638" y="2257389"/>
            <a:ext cx="1640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noProof="1">
                <a:latin typeface="Lucida Calligraphy" charset="0"/>
                <a:ea typeface="Lucida Calligraphy" charset="0"/>
                <a:cs typeface="Lucida Calligraphy" charset="0"/>
              </a:rPr>
              <a:t>f(x,y,z) = </a:t>
            </a:r>
            <a:r>
              <a:rPr lang="pt-BR" sz="2800" b="1" noProof="1">
                <a:latin typeface="Lucida Calligraphy" charset="0"/>
                <a:ea typeface="Lucida Calligraphy" charset="0"/>
                <a:cs typeface="Lucida Calligraphy" charset="0"/>
              </a:rPr>
              <a:t>?</a:t>
            </a:r>
            <a:endParaRPr lang="pt-BR" sz="2000" b="1" noProof="1">
              <a:latin typeface="Lucida Calligraphy" charset="0"/>
              <a:ea typeface="Lucida Calligraphy" charset="0"/>
              <a:cs typeface="Lucida Calligraphy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0481"/>
              </p:ext>
            </p:extLst>
          </p:nvPr>
        </p:nvGraphicFramePr>
        <p:xfrm>
          <a:off x="725688" y="2478202"/>
          <a:ext cx="2441048" cy="3337560"/>
        </p:xfrm>
        <a:graphic>
          <a:graphicData uri="http://schemas.openxmlformats.org/drawingml/2006/table">
            <a:tbl>
              <a:tblPr firstRow="1"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x</a:t>
                      </a:r>
                      <a:endParaRPr lang="pt-BR" sz="1800" dirty="0">
                        <a:latin typeface="Lucida Calligraphy" charset="0"/>
                        <a:ea typeface="Lucida Calligraphy" charset="0"/>
                        <a:cs typeface="Lucida Calligraphy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Lucida Calligraphy" charset="0"/>
                          <a:ea typeface="Lucida Calligraphy" charset="0"/>
                          <a:cs typeface="Lucida Calligraphy" charset="0"/>
                        </a:rPr>
                        <a:t>f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697251" y="2303465"/>
            <a:ext cx="1763391" cy="369332"/>
            <a:chOff x="3697251" y="2303465"/>
            <a:chExt cx="1763391" cy="36933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3697251" y="2621281"/>
              <a:ext cx="17633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/>
            <p:cNvSpPr/>
            <p:nvPr/>
          </p:nvSpPr>
          <p:spPr>
            <a:xfrm>
              <a:off x="4379944" y="2303465"/>
              <a:ext cx="29206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/>
                <a:t>?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96837" y="3893435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3411496" y="5791039"/>
            <a:ext cx="1007084" cy="59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>
                <a:latin typeface="Courier"/>
                <a:cs typeface="Courier"/>
              </a:rPr>
              <a:t>_    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 err="1">
                <a:latin typeface="Courier"/>
                <a:cs typeface="Courier"/>
              </a:rPr>
              <a:t>X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Y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Z</a:t>
            </a:r>
            <a:endParaRPr lang="pt-BR" sz="2000" b="1" dirty="0">
              <a:latin typeface="Courier"/>
              <a:cs typeface="Courier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680504"/>
              </p:ext>
            </p:extLst>
          </p:nvPr>
        </p:nvGraphicFramePr>
        <p:xfrm>
          <a:off x="3571271" y="2849042"/>
          <a:ext cx="610262" cy="296672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4757789" y="5791039"/>
            <a:ext cx="1007084" cy="59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>
                <a:latin typeface="Courier"/>
                <a:cs typeface="Courier"/>
              </a:rPr>
              <a:t>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 err="1">
                <a:latin typeface="Courier"/>
                <a:cs typeface="Courier"/>
              </a:rPr>
              <a:t>X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Y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Z</a:t>
            </a:r>
            <a:endParaRPr lang="pt-BR" sz="2000" b="1" dirty="0">
              <a:latin typeface="Courier"/>
              <a:cs typeface="Courier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787456"/>
              </p:ext>
            </p:extLst>
          </p:nvPr>
        </p:nvGraphicFramePr>
        <p:xfrm>
          <a:off x="4917564" y="2849042"/>
          <a:ext cx="610262" cy="296672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97990" y="4639688"/>
            <a:ext cx="2698750" cy="481335"/>
          </a:xfrm>
          <a:prstGeom prst="rect">
            <a:avLst/>
          </a:prstGeom>
          <a:noFill/>
          <a:ln w="38100" cmpd="sng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ctangle 19"/>
          <p:cNvSpPr/>
          <p:nvPr/>
        </p:nvSpPr>
        <p:spPr>
          <a:xfrm>
            <a:off x="596837" y="5385941"/>
            <a:ext cx="2698750" cy="481335"/>
          </a:xfrm>
          <a:prstGeom prst="rect">
            <a:avLst/>
          </a:prstGeom>
          <a:noFill/>
          <a:ln w="38100" cmpd="sng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6163614" y="5791039"/>
            <a:ext cx="1007084" cy="59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>
                <a:latin typeface="Courier"/>
                <a:cs typeface="Courier"/>
              </a:rPr>
              <a:t>  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 err="1">
                <a:latin typeface="Courier"/>
                <a:cs typeface="Courier"/>
              </a:rPr>
              <a:t>X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Y</a:t>
            </a:r>
            <a:r>
              <a:rPr lang="pt-BR" sz="2000" b="1" dirty="0">
                <a:latin typeface="Courier"/>
                <a:cs typeface="Courier"/>
              </a:rPr>
              <a:t>*</a:t>
            </a:r>
            <a:r>
              <a:rPr lang="pt-BR" sz="2000" b="1" dirty="0" err="1">
                <a:latin typeface="Courier"/>
                <a:cs typeface="Courier"/>
              </a:rPr>
              <a:t>Z</a:t>
            </a:r>
            <a:endParaRPr lang="pt-BR" sz="2000" b="1" dirty="0">
              <a:latin typeface="Courier"/>
              <a:cs typeface="Courier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232566"/>
              </p:ext>
            </p:extLst>
          </p:nvPr>
        </p:nvGraphicFramePr>
        <p:xfrm>
          <a:off x="6323389" y="2849042"/>
          <a:ext cx="610262" cy="296672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760480" y="5981469"/>
            <a:ext cx="70439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noProof="1">
                <a:latin typeface="Lucida Calligraphy" charset="0"/>
                <a:ea typeface="Lucida Calligraphy" charset="0"/>
                <a:cs typeface="Lucida Calligraphy" charset="0"/>
              </a:rPr>
              <a:t>f(x,y,z) = (                                               ) ≡ (x + y) 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8274" y="4100940"/>
            <a:ext cx="19434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900" b="1" dirty="0">
                <a:latin typeface="Courier"/>
                <a:cs typeface="Courier"/>
              </a:rPr>
              <a:t> </a:t>
            </a:r>
            <a:r>
              <a:rPr lang="pt-BR" sz="2000" b="1" dirty="0">
                <a:latin typeface="Courier"/>
                <a:cs typeface="Courier"/>
              </a:rPr>
              <a:t>ou       ou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2000" b="1" dirty="0">
              <a:latin typeface="Courier"/>
              <a:cs typeface="Courier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000" b="1" dirty="0">
                <a:latin typeface="Courier"/>
                <a:cs typeface="Courier"/>
              </a:rPr>
              <a:t> +        +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65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 animBg="1"/>
      <p:bldP spid="8" grpId="0"/>
      <p:bldP spid="17" grpId="0"/>
      <p:bldP spid="19" grpId="0" animBg="1"/>
      <p:bldP spid="20" grpId="0" animBg="1"/>
      <p:bldP spid="21" grpId="0"/>
      <p:bldP spid="23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Formas Canônicas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485900"/>
            <a:ext cx="8496943" cy="4724400"/>
          </a:xfrm>
        </p:spPr>
        <p:txBody>
          <a:bodyPr>
            <a:normAutofit/>
          </a:bodyPr>
          <a:lstStyle/>
          <a:p>
            <a:r>
              <a:rPr lang="pt-BR" sz="2000" dirty="0"/>
              <a:t>Toda expressão booleana pode ser escrita em uma forma padronizada, chamada de forma canônica: </a:t>
            </a:r>
          </a:p>
          <a:p>
            <a:endParaRPr lang="pt-BR" sz="2000" dirty="0"/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Soma de Produtos (</a:t>
            </a:r>
            <a:r>
              <a:rPr lang="pt-BR" sz="1600" dirty="0"/>
              <a:t>Forma Normal Disjuntiva ou Soma de </a:t>
            </a:r>
            <a:r>
              <a:rPr lang="pt-BR" sz="1600" dirty="0" err="1"/>
              <a:t>Mintermos</a:t>
            </a:r>
            <a:r>
              <a:rPr lang="pt-BR" sz="2000" dirty="0"/>
              <a:t>)</a:t>
            </a:r>
          </a:p>
          <a:p>
            <a:r>
              <a:rPr lang="pt-BR" sz="2000" dirty="0"/>
              <a:t>Representar as condições de entrada que produzirão a saída 1 (e portanto as demais condições produzirão saída 0).</a:t>
            </a:r>
          </a:p>
          <a:p>
            <a:pPr marL="285750" indent="-285750">
              <a:buFont typeface="Arial"/>
              <a:buChar char="•"/>
            </a:pPr>
            <a:endParaRPr lang="pt-BR" sz="2000" dirty="0"/>
          </a:p>
          <a:p>
            <a:pPr marL="285750" indent="-285750">
              <a:buFont typeface="Arial"/>
              <a:buChar char="•"/>
            </a:pPr>
            <a:r>
              <a:rPr lang="pt-BR" sz="2000" dirty="0"/>
              <a:t>Produto de Somas (</a:t>
            </a:r>
            <a:r>
              <a:rPr lang="pt-BR" sz="1600" dirty="0"/>
              <a:t>Forma Normal Conjuntiva ou Produto de </a:t>
            </a:r>
            <a:r>
              <a:rPr lang="pt-BR" sz="1600" dirty="0" err="1"/>
              <a:t>Maxtermos</a:t>
            </a:r>
            <a:r>
              <a:rPr lang="pt-BR" sz="2000" dirty="0"/>
              <a:t>)</a:t>
            </a:r>
          </a:p>
          <a:p>
            <a:r>
              <a:rPr lang="pt-BR" sz="2000" dirty="0"/>
              <a:t>Representar as condições de entrada que produzirão a saída 0 (e portanto as demais condições produzirão saída 1).</a:t>
            </a:r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48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Soma de Produtos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5621" y="1677774"/>
            <a:ext cx="5661379" cy="2624351"/>
          </a:xfrm>
        </p:spPr>
        <p:txBody>
          <a:bodyPr>
            <a:normAutofit/>
          </a:bodyPr>
          <a:lstStyle/>
          <a:p>
            <a:r>
              <a:rPr lang="pt-BR" sz="2000" dirty="0"/>
              <a:t>Identifique os valores de entrada para qual a saída é </a:t>
            </a:r>
            <a:r>
              <a:rPr lang="pt-BR" sz="2000" b="1" dirty="0"/>
              <a:t>1</a:t>
            </a:r>
            <a:r>
              <a:rPr lang="pt-BR" sz="2000" dirty="0"/>
              <a:t> (</a:t>
            </a:r>
            <a:r>
              <a:rPr lang="pt-BR" sz="2000" dirty="0" err="1"/>
              <a:t>Mintermos</a:t>
            </a:r>
            <a:r>
              <a:rPr lang="pt-BR" sz="2000" dirty="0"/>
              <a:t>)</a:t>
            </a:r>
            <a:endParaRPr lang="pt-BR" sz="2000" b="1" dirty="0"/>
          </a:p>
          <a:p>
            <a:r>
              <a:rPr lang="pt-BR" sz="2000" dirty="0"/>
              <a:t> </a:t>
            </a:r>
          </a:p>
          <a:p>
            <a:r>
              <a:rPr lang="pt-BR" sz="2000" dirty="0"/>
              <a:t>Multiplique os termos (E) de forma que o resultado de cada expressão seja 1</a:t>
            </a:r>
          </a:p>
          <a:p>
            <a:endParaRPr lang="pt-BR" sz="2000" dirty="0"/>
          </a:p>
          <a:p>
            <a:r>
              <a:rPr lang="pt-BR" sz="2000" dirty="0"/>
              <a:t>Some (OU) todas as expressões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06791"/>
          <a:ext cx="2441048" cy="41148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3244107" y="4557665"/>
            <a:ext cx="5804643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_ _     _         _ _     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 = A*B*C + A*B*C + A*B*C + A*B*C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2603500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333375" y="3526148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/>
          <p:cNvSpPr/>
          <p:nvPr/>
        </p:nvSpPr>
        <p:spPr>
          <a:xfrm>
            <a:off x="333375" y="3980173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333375" y="4885048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155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Produto de Somas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5621" y="1677774"/>
            <a:ext cx="5661379" cy="2624351"/>
          </a:xfrm>
        </p:spPr>
        <p:txBody>
          <a:bodyPr>
            <a:normAutofit/>
          </a:bodyPr>
          <a:lstStyle/>
          <a:p>
            <a:r>
              <a:rPr lang="pt-BR" sz="2000" dirty="0"/>
              <a:t>Identifique os valores de entrada para qual a saída é </a:t>
            </a:r>
            <a:r>
              <a:rPr lang="pt-BR" sz="2000" b="1" dirty="0"/>
              <a:t>0</a:t>
            </a:r>
            <a:r>
              <a:rPr lang="pt-BR" sz="2000" dirty="0"/>
              <a:t> (</a:t>
            </a:r>
            <a:r>
              <a:rPr lang="pt-BR" sz="2000" dirty="0" err="1"/>
              <a:t>Maxtermos</a:t>
            </a:r>
            <a:r>
              <a:rPr lang="pt-BR" sz="2000" dirty="0"/>
              <a:t>)</a:t>
            </a:r>
            <a:endParaRPr lang="pt-BR" sz="2000" b="1" dirty="0"/>
          </a:p>
          <a:p>
            <a:endParaRPr lang="pt-BR" sz="2000" dirty="0"/>
          </a:p>
          <a:p>
            <a:r>
              <a:rPr lang="pt-BR" sz="2000" dirty="0"/>
              <a:t>Some os termos (OU) de forma que o resultado de cada expressão seja 0</a:t>
            </a:r>
          </a:p>
          <a:p>
            <a:endParaRPr lang="pt-BR" sz="2000" dirty="0"/>
          </a:p>
          <a:p>
            <a:r>
              <a:rPr lang="pt-BR" sz="2000" dirty="0"/>
              <a:t>Multiplique (E) todas as expressões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06791"/>
          <a:ext cx="2441048" cy="41148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>
          <a:xfrm>
            <a:off x="3200401" y="4573155"/>
            <a:ext cx="5848350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         _     _   _   _ _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Q=(A+B+C)*(A+B+C)*(A+B+C)*(A+B+C)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75" y="2154290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333375" y="3061448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/>
          <p:cNvSpPr/>
          <p:nvPr/>
        </p:nvSpPr>
        <p:spPr>
          <a:xfrm>
            <a:off x="333375" y="4429383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333375" y="5349748"/>
            <a:ext cx="2698750" cy="481335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364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100"/>
              <a:t>Diagnóstico de </a:t>
            </a:r>
            <a:r>
              <a:rPr lang="pt-BR" sz="3100" dirty="0"/>
              <a:t>Representação Canônica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12</a:t>
            </a:fld>
            <a:endParaRPr lang="pt-BR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630332"/>
              </p:ext>
            </p:extLst>
          </p:nvPr>
        </p:nvGraphicFramePr>
        <p:xfrm>
          <a:off x="593411" y="1985600"/>
          <a:ext cx="2206452" cy="219456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551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B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C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Q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5311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 marL="36000" marR="36000" marT="0" marB="0"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44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Para que álgebra booleana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Desejamos criar circuitos, e o mais eficiente possível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13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219"/>
          <a:stretch/>
        </p:blipFill>
        <p:spPr>
          <a:xfrm>
            <a:off x="622656" y="2477799"/>
            <a:ext cx="3644319" cy="30729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783"/>
          <a:stretch/>
        </p:blipFill>
        <p:spPr>
          <a:xfrm>
            <a:off x="5209906" y="3237923"/>
            <a:ext cx="3644319" cy="15527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46242" y="3624554"/>
            <a:ext cx="54373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>
                <a:solidFill>
                  <a:srgbClr val="222222"/>
                </a:solidFill>
                <a:latin typeface="arial" charset="0"/>
              </a:rPr>
              <a:t>≡</a:t>
            </a:r>
            <a:endParaRPr lang="pt-BR" sz="4800" dirty="0"/>
          </a:p>
        </p:txBody>
      </p:sp>
      <p:sp>
        <p:nvSpPr>
          <p:cNvPr id="10" name="Rectangle 9"/>
          <p:cNvSpPr/>
          <p:nvPr/>
        </p:nvSpPr>
        <p:spPr>
          <a:xfrm>
            <a:off x="622656" y="5645044"/>
            <a:ext cx="3550099" cy="651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1500" b="1" dirty="0">
                <a:latin typeface="Courier"/>
                <a:cs typeface="Courier"/>
              </a:rPr>
              <a:t>_ _ _   _ _         _ 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1500" b="1" dirty="0">
                <a:latin typeface="Courier"/>
                <a:cs typeface="Courier"/>
              </a:rPr>
              <a:t>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*C + 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*C + 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*C + 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*C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pt-BR" sz="1500" b="1" dirty="0">
              <a:latin typeface="Courier"/>
              <a:cs typeface="Courie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5863" y="5645044"/>
            <a:ext cx="1887828" cy="466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1500" b="1" dirty="0">
                <a:latin typeface="Courier"/>
                <a:cs typeface="Courier"/>
              </a:rPr>
              <a:t>_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1500" b="1" dirty="0">
                <a:latin typeface="Courier"/>
                <a:cs typeface="Courier"/>
              </a:rPr>
              <a:t>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r>
              <a:rPr lang="pt-BR" sz="1500" b="1" dirty="0">
                <a:latin typeface="Courier"/>
                <a:cs typeface="Courier"/>
              </a:rPr>
              <a:t> + A*</a:t>
            </a:r>
            <a:r>
              <a:rPr lang="pt-BR" sz="1500" b="1" dirty="0" err="1">
                <a:latin typeface="Courier"/>
                <a:cs typeface="Courier"/>
              </a:rPr>
              <a:t>B</a:t>
            </a:r>
            <a:endParaRPr lang="pt-BR" sz="1500" b="1" dirty="0">
              <a:latin typeface="Courier"/>
              <a:cs typeface="Courier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527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Propriedades da Álgebra Booleana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14</a:t>
            </a:fld>
            <a:endParaRPr lang="pt-BR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49234"/>
              </p:ext>
            </p:extLst>
          </p:nvPr>
        </p:nvGraphicFramePr>
        <p:xfrm>
          <a:off x="725689" y="1361542"/>
          <a:ext cx="7619918" cy="491642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96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Identidade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= A</a:t>
                      </a:r>
                    </a:p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Ā = Ā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Comutatividade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= B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= B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Associatividade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(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C)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B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C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(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C)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B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C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Distributividade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(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C)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(A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B) + (A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C)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(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C)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(A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B)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(A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C)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Idempotência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=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A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819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do</a:t>
                      </a:r>
                      <a:r>
                        <a:rPr lang="pt-BR" sz="1800" b="1" u="none" strike="noStrike" baseline="0" noProof="0" dirty="0">
                          <a:effectLst/>
                          <a:latin typeface="Arial"/>
                          <a:cs typeface="Arial"/>
                        </a:rPr>
                        <a:t> Complemento</a:t>
                      </a:r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 Duplo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Ā</a:t>
                      </a:r>
                      <a:r>
                        <a:rPr lang="en-US" sz="1800" b="1" kern="1800" spc="-80" baseline="0" dirty="0">
                          <a:latin typeface="Courier"/>
                          <a:cs typeface="Courier"/>
                        </a:rPr>
                        <a:t> </a:t>
                      </a: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= 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Complementariedade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Ā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0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kern="1800" spc="-80" dirty="0">
                          <a:latin typeface="Courier"/>
                          <a:cs typeface="Courier"/>
                        </a:rPr>
                        <a:t>Ā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1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Intersecção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kern="1800" spc="-80" dirty="0"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1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A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 </a:t>
                      </a:r>
                      <a:r>
                        <a:rPr lang="en-US" sz="1800" b="1" kern="1800" spc="-80" dirty="0"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0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0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Lei da União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kern="1800" spc="-80" dirty="0"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1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</a:t>
                      </a:r>
                      <a:r>
                        <a:rPr lang="en-US" sz="1800" b="1" i="0" u="none" strike="noStrike" kern="1200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1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  <a:p>
                      <a:pPr marL="0" marR="0" indent="0" algn="ctr" defTabSz="914400" rtl="0" eaLnBrk="1" fontAlgn="b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 </a:t>
                      </a:r>
                      <a:r>
                        <a:rPr lang="en-US" sz="1800" b="1" i="0" u="none" strike="noStrike" kern="1800" spc="-80" dirty="0">
                          <a:solidFill>
                            <a:schemeClr val="dk1"/>
                          </a:solidFill>
                          <a:effectLst/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+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 </a:t>
                      </a:r>
                      <a:r>
                        <a:rPr lang="en-US" sz="1800" b="1" kern="1800" spc="-80" dirty="0">
                          <a:latin typeface="Courier"/>
                          <a:ea typeface="+mn-ea"/>
                          <a:cs typeface="Courier"/>
                          <a:sym typeface="Wingdings"/>
                        </a:rPr>
                        <a:t>0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 = A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623">
                <a:tc>
                  <a:txBody>
                    <a:bodyPr/>
                    <a:lstStyle/>
                    <a:p>
                      <a:pPr marL="108000" algn="l" fontAlgn="b"/>
                      <a:r>
                        <a:rPr lang="pt-BR" sz="1800" b="1" u="none" strike="noStrike" noProof="0" dirty="0">
                          <a:effectLst/>
                          <a:latin typeface="Arial"/>
                          <a:cs typeface="Arial"/>
                        </a:rPr>
                        <a:t>Teorema de </a:t>
                      </a:r>
                      <a:r>
                        <a:rPr lang="pt-BR" sz="1800" b="1" u="none" strike="noStrike" noProof="0" dirty="0" err="1">
                          <a:effectLst/>
                          <a:latin typeface="Arial"/>
                          <a:cs typeface="Arial"/>
                        </a:rPr>
                        <a:t>DeMorgan</a:t>
                      </a:r>
                      <a:endParaRPr lang="pt-BR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</a:t>
                      </a: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 = A + B</a:t>
                      </a:r>
                    </a:p>
                    <a:p>
                      <a:pPr algn="ctr" fontAlgn="b">
                        <a:lnSpc>
                          <a:spcPct val="80000"/>
                        </a:lnSpc>
                      </a:pPr>
                      <a:r>
                        <a:rPr lang="en-US" sz="1800" b="1" i="0" u="none" strike="noStrike" spc="-8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A</a:t>
                      </a:r>
                      <a:r>
                        <a:rPr lang="en-US" sz="1800" b="1" i="0" u="none" strike="noStrike" spc="-80" baseline="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+B = A</a:t>
                      </a:r>
                      <a:r>
                        <a:rPr lang="en-US" sz="1800" b="1" kern="1800" spc="-80" dirty="0">
                          <a:latin typeface="Courier"/>
                          <a:ea typeface="Wingdings"/>
                          <a:cs typeface="Courier"/>
                          <a:sym typeface="Wingdings"/>
                        </a:rPr>
                        <a:t></a:t>
                      </a:r>
                      <a:r>
                        <a:rPr lang="en-US" sz="1800" b="1" i="0" u="none" strike="noStrike" spc="-80" baseline="0" dirty="0">
                          <a:solidFill>
                            <a:srgbClr val="000000"/>
                          </a:solidFill>
                          <a:effectLst/>
                          <a:latin typeface="Courier"/>
                          <a:cs typeface="Courier"/>
                        </a:rPr>
                        <a:t>B</a:t>
                      </a:r>
                      <a:endParaRPr lang="en-US" sz="1800" b="1" i="0" u="none" strike="noStrike" spc="-80" dirty="0">
                        <a:solidFill>
                          <a:srgbClr val="000000"/>
                        </a:solidFill>
                        <a:effectLst/>
                        <a:latin typeface="Courier"/>
                        <a:cs typeface="Courier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6045322" y="3933555"/>
            <a:ext cx="79375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Agrupar 8"/>
          <p:cNvGrpSpPr/>
          <p:nvPr/>
        </p:nvGrpSpPr>
        <p:grpSpPr>
          <a:xfrm>
            <a:off x="5640395" y="5834505"/>
            <a:ext cx="1345852" cy="218276"/>
            <a:chOff x="5695899" y="5833714"/>
            <a:chExt cx="1216599" cy="190500"/>
          </a:xfrm>
        </p:grpSpPr>
        <p:cxnSp>
          <p:nvCxnSpPr>
            <p:cNvPr id="17" name="Straight Connector 19"/>
            <p:cNvCxnSpPr/>
            <p:nvPr/>
          </p:nvCxnSpPr>
          <p:spPr>
            <a:xfrm>
              <a:off x="5695899" y="5833714"/>
              <a:ext cx="348626" cy="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20"/>
            <p:cNvCxnSpPr/>
            <p:nvPr/>
          </p:nvCxnSpPr>
          <p:spPr>
            <a:xfrm>
              <a:off x="6368289" y="5833714"/>
              <a:ext cx="79375" cy="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21"/>
            <p:cNvCxnSpPr/>
            <p:nvPr/>
          </p:nvCxnSpPr>
          <p:spPr>
            <a:xfrm>
              <a:off x="6833123" y="5833714"/>
              <a:ext cx="79375" cy="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2"/>
            <p:cNvCxnSpPr>
              <a:cxnSpLocks/>
            </p:cNvCxnSpPr>
            <p:nvPr/>
          </p:nvCxnSpPr>
          <p:spPr>
            <a:xfrm flipV="1">
              <a:off x="5834866" y="6023056"/>
              <a:ext cx="298824" cy="1158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3"/>
            <p:cNvCxnSpPr>
              <a:cxnSpLocks/>
            </p:cNvCxnSpPr>
            <p:nvPr/>
          </p:nvCxnSpPr>
          <p:spPr>
            <a:xfrm>
              <a:off x="6506189" y="6023056"/>
              <a:ext cx="119969" cy="0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5"/>
            <p:cNvCxnSpPr>
              <a:cxnSpLocks/>
            </p:cNvCxnSpPr>
            <p:nvPr/>
          </p:nvCxnSpPr>
          <p:spPr>
            <a:xfrm flipV="1">
              <a:off x="6712343" y="6023056"/>
              <a:ext cx="115925" cy="1158"/>
            </a:xfrm>
            <a:prstGeom prst="line">
              <a:avLst/>
            </a:prstGeom>
            <a:ln w="12700" cmpd="sng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717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Simplificação de Expressões Booleanas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1766906"/>
          </a:xfrm>
        </p:spPr>
        <p:txBody>
          <a:bodyPr/>
          <a:lstStyle/>
          <a:p>
            <a:r>
              <a:rPr lang="pt-BR" dirty="0"/>
              <a:t>Usando as propriedades da álgebra booleana é possível simplificar expressões complexas. Por exemplo, podemos usar simplificações para deixarmos as representações canônicas mais simples.</a:t>
            </a:r>
          </a:p>
          <a:p>
            <a:endParaRPr lang="pt-BR" dirty="0"/>
          </a:p>
          <a:p>
            <a:r>
              <a:rPr lang="pt-BR" b="1" dirty="0"/>
              <a:t>Exemplo: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15</a:t>
            </a:fld>
            <a:endParaRPr lang="pt-B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57225" y="3113401"/>
            <a:ext cx="5197413" cy="30979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_    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( A + B ) * ( A + B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 err="1">
                <a:latin typeface="Courier"/>
                <a:cs typeface="Courier"/>
              </a:rPr>
              <a:t>B</a:t>
            </a:r>
            <a:r>
              <a:rPr lang="pt-BR" sz="2800" b="1" dirty="0">
                <a:latin typeface="Courier"/>
                <a:cs typeface="Courier"/>
              </a:rPr>
              <a:t> + ( A * A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 err="1">
                <a:latin typeface="Courier"/>
                <a:cs typeface="Courier"/>
              </a:rPr>
              <a:t>B</a:t>
            </a:r>
            <a:r>
              <a:rPr lang="pt-BR" sz="2800" b="1" dirty="0">
                <a:latin typeface="Courier"/>
                <a:cs typeface="Courier"/>
              </a:rPr>
              <a:t> + ( 0 )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B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59276" y="3784084"/>
            <a:ext cx="2455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pt-BR" dirty="0">
                <a:solidFill>
                  <a:srgbClr val="008000"/>
                </a:solidFill>
                <a:latin typeface="Arial"/>
                <a:cs typeface="Arial"/>
              </a:rPr>
              <a:t>Lei da Distributividade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9276" y="4530984"/>
            <a:ext cx="3084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pt-BR" dirty="0">
                <a:solidFill>
                  <a:srgbClr val="008000"/>
                </a:solidFill>
                <a:latin typeface="Arial"/>
                <a:cs typeface="Arial"/>
              </a:rPr>
              <a:t>Lei da Complementariedade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9276" y="5226706"/>
            <a:ext cx="1479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pt-BR" dirty="0">
                <a:solidFill>
                  <a:srgbClr val="008000"/>
                </a:solidFill>
                <a:latin typeface="Arial"/>
                <a:cs typeface="Arial"/>
              </a:rPr>
              <a:t>Lei da União</a:t>
            </a: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7727CC33-C80B-E906-14D9-C611CD14BED5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67200" y="3650618"/>
            <a:ext cx="1485900" cy="603882"/>
          </a:xfrm>
          <a:prstGeom prst="curvedConnector3">
            <a:avLst>
              <a:gd name="adj1" fmla="val -19231"/>
            </a:avLst>
          </a:prstGeom>
          <a:ln w="254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D4FCDF75-1BC9-E8A5-6C17-5C0CD4C8D7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55931" y="4430116"/>
            <a:ext cx="1011268" cy="580023"/>
          </a:xfrm>
          <a:prstGeom prst="curvedConnector3">
            <a:avLst>
              <a:gd name="adj1" fmla="val -177309"/>
            </a:avLst>
          </a:prstGeom>
          <a:ln w="254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162B4F21-0A40-2FD4-1291-C468D19629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60432" y="5105400"/>
            <a:ext cx="2095499" cy="611944"/>
          </a:xfrm>
          <a:prstGeom prst="curvedConnector3">
            <a:avLst>
              <a:gd name="adj1" fmla="val -133031"/>
            </a:avLst>
          </a:prstGeom>
          <a:ln w="254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9957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Simplificação de Expressões Booleanas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574211"/>
          </a:xfrm>
        </p:spPr>
        <p:txBody>
          <a:bodyPr/>
          <a:lstStyle/>
          <a:p>
            <a:r>
              <a:rPr lang="pt-BR" b="1" dirty="0"/>
              <a:t>Outro Exemplo:</a:t>
            </a:r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16</a:t>
            </a:fld>
            <a:endParaRPr lang="pt-BR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57225" y="1905214"/>
            <a:ext cx="5197413" cy="43680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_  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A*B*C + A*C + A*B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_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A*( B*C + C + B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 _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A*( B*C + (C + B)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          ___ 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A*( B*C + C*B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A*( 1 )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sz="2800" b="1" dirty="0">
                <a:latin typeface="Courier"/>
                <a:cs typeface="Courier"/>
              </a:rPr>
              <a:t>A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sz="2800" b="1" dirty="0">
              <a:latin typeface="Courier"/>
              <a:cs typeface="Courier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4971796" y="2951184"/>
            <a:ext cx="3543275" cy="369332"/>
            <a:chOff x="4971796" y="4856454"/>
            <a:chExt cx="3543275" cy="369332"/>
          </a:xfrm>
        </p:grpSpPr>
        <p:sp>
          <p:nvSpPr>
            <p:cNvPr id="9" name="Rectangle 8"/>
            <p:cNvSpPr/>
            <p:nvPr/>
          </p:nvSpPr>
          <p:spPr>
            <a:xfrm>
              <a:off x="6059276" y="4856454"/>
              <a:ext cx="245579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Distributividade</a:t>
              </a:r>
            </a:p>
          </p:txBody>
        </p:sp>
        <p:cxnSp>
          <p:nvCxnSpPr>
            <p:cNvPr id="13" name="Straight Arrow Connector 12"/>
            <p:cNvCxnSpPr>
              <a:stCxn id="9" idx="1"/>
            </p:cNvCxnSpPr>
            <p:nvPr/>
          </p:nvCxnSpPr>
          <p:spPr>
            <a:xfrm flipH="1">
              <a:off x="4971796" y="5041120"/>
              <a:ext cx="1087480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5405473" y="3642899"/>
            <a:ext cx="3122673" cy="369332"/>
            <a:chOff x="5405473" y="5532679"/>
            <a:chExt cx="3122673" cy="369332"/>
          </a:xfrm>
        </p:grpSpPr>
        <p:sp>
          <p:nvSpPr>
            <p:cNvPr id="10" name="Rectangle 9"/>
            <p:cNvSpPr/>
            <p:nvPr/>
          </p:nvSpPr>
          <p:spPr>
            <a:xfrm>
              <a:off x="6059276" y="5532679"/>
              <a:ext cx="24688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Associatividade</a:t>
              </a:r>
            </a:p>
          </p:txBody>
        </p:sp>
        <p:cxnSp>
          <p:nvCxnSpPr>
            <p:cNvPr id="16" name="Straight Arrow Connector 15"/>
            <p:cNvCxnSpPr>
              <a:stCxn id="10" idx="1"/>
            </p:cNvCxnSpPr>
            <p:nvPr/>
          </p:nvCxnSpPr>
          <p:spPr>
            <a:xfrm flipH="1">
              <a:off x="5405473" y="5717345"/>
              <a:ext cx="653803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4646538" y="4326055"/>
            <a:ext cx="3958252" cy="369332"/>
            <a:chOff x="4646538" y="4142729"/>
            <a:chExt cx="3958252" cy="369332"/>
          </a:xfrm>
        </p:grpSpPr>
        <p:sp>
          <p:nvSpPr>
            <p:cNvPr id="18" name="Rectangle 17"/>
            <p:cNvSpPr/>
            <p:nvPr/>
          </p:nvSpPr>
          <p:spPr>
            <a:xfrm>
              <a:off x="6059276" y="4142729"/>
              <a:ext cx="25455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Teorema de </a:t>
              </a:r>
              <a:r>
                <a:rPr lang="pt-BR" dirty="0" err="1">
                  <a:solidFill>
                    <a:srgbClr val="008000"/>
                  </a:solidFill>
                  <a:latin typeface="Arial"/>
                  <a:cs typeface="Arial"/>
                </a:rPr>
                <a:t>DeMorgan</a:t>
              </a:r>
              <a:endParaRPr lang="pt-BR" dirty="0">
                <a:solidFill>
                  <a:srgbClr val="008000"/>
                </a:solidFill>
                <a:latin typeface="Arial"/>
                <a:cs typeface="Arial"/>
              </a:endParaRPr>
            </a:p>
          </p:txBody>
        </p:sp>
        <p:cxnSp>
          <p:nvCxnSpPr>
            <p:cNvPr id="22" name="Straight Arrow Connector 21"/>
            <p:cNvCxnSpPr>
              <a:stCxn id="18" idx="1"/>
            </p:cNvCxnSpPr>
            <p:nvPr/>
          </p:nvCxnSpPr>
          <p:spPr>
            <a:xfrm flipH="1">
              <a:off x="4646538" y="4327395"/>
              <a:ext cx="1412738" cy="968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2911831" y="5008800"/>
            <a:ext cx="6232169" cy="369332"/>
            <a:chOff x="2911831" y="4856454"/>
            <a:chExt cx="6232169" cy="369332"/>
          </a:xfrm>
        </p:grpSpPr>
        <p:sp>
          <p:nvSpPr>
            <p:cNvPr id="24" name="Rectangle 23"/>
            <p:cNvSpPr/>
            <p:nvPr/>
          </p:nvSpPr>
          <p:spPr>
            <a:xfrm>
              <a:off x="6059276" y="4856454"/>
              <a:ext cx="3084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Complementariedade</a:t>
              </a:r>
            </a:p>
          </p:txBody>
        </p:sp>
        <p:cxnSp>
          <p:nvCxnSpPr>
            <p:cNvPr id="25" name="Straight Arrow Connector 24"/>
            <p:cNvCxnSpPr>
              <a:stCxn id="24" idx="1"/>
            </p:cNvCxnSpPr>
            <p:nvPr/>
          </p:nvCxnSpPr>
          <p:spPr>
            <a:xfrm flipH="1">
              <a:off x="2911831" y="5041120"/>
              <a:ext cx="3147445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285542" y="5700515"/>
            <a:ext cx="6844734" cy="369332"/>
            <a:chOff x="1285542" y="5532679"/>
            <a:chExt cx="6844734" cy="369332"/>
          </a:xfrm>
        </p:grpSpPr>
        <p:sp>
          <p:nvSpPr>
            <p:cNvPr id="27" name="Rectangle 26"/>
            <p:cNvSpPr/>
            <p:nvPr/>
          </p:nvSpPr>
          <p:spPr>
            <a:xfrm>
              <a:off x="6059276" y="5532679"/>
              <a:ext cx="207100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"/>
              <a:r>
                <a:rPr lang="pt-BR" dirty="0">
                  <a:solidFill>
                    <a:srgbClr val="008000"/>
                  </a:solidFill>
                  <a:latin typeface="Arial"/>
                  <a:cs typeface="Arial"/>
                </a:rPr>
                <a:t>Lei da Intersecção</a:t>
              </a:r>
            </a:p>
          </p:txBody>
        </p:sp>
        <p:cxnSp>
          <p:nvCxnSpPr>
            <p:cNvPr id="28" name="Straight Arrow Connector 27"/>
            <p:cNvCxnSpPr>
              <a:stCxn id="27" idx="1"/>
            </p:cNvCxnSpPr>
            <p:nvPr/>
          </p:nvCxnSpPr>
          <p:spPr>
            <a:xfrm flipH="1">
              <a:off x="1285542" y="5717345"/>
              <a:ext cx="4773734" cy="0"/>
            </a:xfrm>
            <a:prstGeom prst="straightConnector1">
              <a:avLst/>
            </a:prstGeom>
            <a:ln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86828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Diagnóstico de Simplificação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549021"/>
            <a:ext cx="1949497" cy="209493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_ _  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A*B + A*B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_  _ 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A*(B+B)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A*(1) =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_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r>
              <a:rPr lang="pt-BR" b="1" dirty="0">
                <a:latin typeface="Courier"/>
                <a:cs typeface="Courier"/>
              </a:rPr>
              <a:t> A</a:t>
            </a:r>
          </a:p>
          <a:p>
            <a:pPr marL="72000">
              <a:lnSpc>
                <a:spcPct val="80000"/>
              </a:lnSpc>
              <a:spcBef>
                <a:spcPts val="0"/>
              </a:spcBef>
            </a:pPr>
            <a:endParaRPr lang="pt-BR" b="1" dirty="0">
              <a:latin typeface="Courier"/>
              <a:cs typeface="Courier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401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Mapas de Veitch-</a:t>
            </a:r>
            <a:r>
              <a:rPr lang="pt-BR" u="sng" dirty="0"/>
              <a:t>Karnaugh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2244539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pt-BR" dirty="0"/>
              <a:t>Uma opção a simplificação de lógicas é a aplicação de Mapas de Veitch-Karnaugh. Que muitas vezes pode acabar mostrando soluções não facilmente identificáveis usando álgebra booleana.</a:t>
            </a:r>
          </a:p>
          <a:p>
            <a:pPr marL="285750" indent="-285750">
              <a:buFont typeface="Arial"/>
              <a:buChar char="•"/>
            </a:pPr>
            <a:r>
              <a:rPr lang="pt-BR" dirty="0"/>
              <a:t>O Mapa de Karnaugh usa representações gráficas e onde regiões identificam simplificações. Quando múltiplas regiões estão presentes, basta somar elas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18</a:t>
            </a:fld>
            <a:endParaRPr lang="pt-BR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59904"/>
              </p:ext>
            </p:extLst>
          </p:nvPr>
        </p:nvGraphicFramePr>
        <p:xfrm>
          <a:off x="657225" y="3294170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2800" b="1" baseline="-11000" dirty="0"/>
                        <a:t>B</a:t>
                      </a:r>
                      <a:r>
                        <a:rPr lang="pt-BR" sz="2800" b="1" baseline="-25000" dirty="0"/>
                        <a:t> </a:t>
                      </a:r>
                      <a:r>
                        <a:rPr lang="pt-BR" sz="2800" b="1" baseline="0" dirty="0"/>
                        <a:t> </a:t>
                      </a:r>
                      <a:r>
                        <a:rPr lang="pt-BR" sz="2800" b="1" baseline="50000" dirty="0"/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7225" y="4936119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_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838613" y="3294170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838613" y="4936119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_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991505" y="3294170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A*B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991505" y="4936119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_ 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A*B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172893" y="3294170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baseline="-11000" dirty="0"/>
                        <a:t>B</a:t>
                      </a:r>
                      <a:r>
                        <a:rPr lang="pt-BR" sz="2800" b="1" baseline="-25000" dirty="0"/>
                        <a:t> </a:t>
                      </a:r>
                      <a:r>
                        <a:rPr lang="pt-BR" sz="2800" b="1" baseline="0" dirty="0"/>
                        <a:t> </a:t>
                      </a:r>
                      <a:r>
                        <a:rPr lang="pt-BR" sz="2800" b="1" baseline="50000" dirty="0"/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  _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A*B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172893" y="4936119"/>
          <a:ext cx="1635645" cy="152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800" b="1" i="0" u="none" strike="noStrike" kern="1200" cap="none" spc="0" normalizeH="0" baseline="-1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2800" b="1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2800" b="1" i="0" u="none" strike="noStrike" kern="1200" cap="none" spc="0" normalizeH="0" baseline="5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 _ _</a:t>
                      </a:r>
                    </a:p>
                    <a:p>
                      <a:pPr algn="ctr"/>
                      <a:r>
                        <a:rPr lang="pt-BR" sz="1600" b="1" dirty="0">
                          <a:latin typeface="Courier"/>
                          <a:cs typeface="Courier"/>
                        </a:rPr>
                        <a:t>Região A*B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267031" y="3335628"/>
            <a:ext cx="940158" cy="4022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Oval 21"/>
          <p:cNvSpPr/>
          <p:nvPr/>
        </p:nvSpPr>
        <p:spPr>
          <a:xfrm rot="5400000">
            <a:off x="491827" y="3926235"/>
            <a:ext cx="863535" cy="4022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ounded Rectangle 7"/>
          <p:cNvSpPr/>
          <p:nvPr/>
        </p:nvSpPr>
        <p:spPr>
          <a:xfrm>
            <a:off x="1313645" y="3850783"/>
            <a:ext cx="893544" cy="592428"/>
          </a:xfrm>
          <a:prstGeom prst="roundRect">
            <a:avLst>
              <a:gd name="adj" fmla="val 34667"/>
            </a:avLst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089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22" grpId="0" animBg="1"/>
      <p:bldP spid="22" grpId="1" animBg="1"/>
      <p:bldP spid="8" grpId="0" animBg="1"/>
      <p:bldP spid="8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Mapa de Karnaugh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704843"/>
            <a:ext cx="8029575" cy="496763"/>
          </a:xfrm>
        </p:spPr>
        <p:txBody>
          <a:bodyPr numCol="2"/>
          <a:lstStyle/>
          <a:p>
            <a:pPr algn="ctr"/>
            <a:r>
              <a:rPr lang="pt-BR" dirty="0"/>
              <a:t>Tabela Verdade</a:t>
            </a:r>
          </a:p>
          <a:p>
            <a:pPr algn="ctr"/>
            <a:r>
              <a:rPr lang="pt-BR" dirty="0"/>
              <a:t>Mapa de Karnaugh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19</a:t>
            </a:fld>
            <a:endParaRPr lang="pt-BR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42743" y="2359742"/>
          <a:ext cx="1830786" cy="22860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Content Placeholder 2"/>
          <p:cNvSpPr txBox="1">
            <a:spLocks/>
          </p:cNvSpPr>
          <p:nvPr/>
        </p:nvSpPr>
        <p:spPr>
          <a:xfrm>
            <a:off x="953705" y="4862758"/>
            <a:ext cx="3471583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_ _ 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 = A*B + A*</a:t>
            </a:r>
            <a:r>
              <a:rPr lang="pt-BR" sz="2200" b="1" dirty="0" err="1">
                <a:latin typeface="Courier"/>
                <a:cs typeface="Courier"/>
              </a:rPr>
              <a:t>B</a:t>
            </a:r>
            <a:r>
              <a:rPr lang="pt-BR" sz="2200" b="1" dirty="0">
                <a:latin typeface="Courier"/>
                <a:cs typeface="Courier"/>
              </a:rPr>
              <a:t> + A*</a:t>
            </a:r>
            <a:r>
              <a:rPr lang="pt-BR" sz="2200" b="1" dirty="0" err="1">
                <a:latin typeface="Courier"/>
                <a:cs typeface="Courier"/>
              </a:rPr>
              <a:t>B</a:t>
            </a:r>
            <a:endParaRPr lang="pt-BR" sz="2200" b="1" dirty="0">
              <a:latin typeface="Courier"/>
              <a:cs typeface="Courier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795896" y="4862758"/>
            <a:ext cx="1728283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 = A + B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102413" y="2532170"/>
          <a:ext cx="2765724" cy="1903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19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4000" b="1" baseline="-11000" dirty="0"/>
                        <a:t>B</a:t>
                      </a:r>
                      <a:r>
                        <a:rPr lang="pt-BR" sz="4000" b="1" baseline="-25000" dirty="0"/>
                        <a:t> </a:t>
                      </a:r>
                      <a:r>
                        <a:rPr lang="pt-BR" sz="4000" b="1" baseline="0" dirty="0"/>
                        <a:t> </a:t>
                      </a:r>
                      <a:r>
                        <a:rPr lang="pt-BR" sz="4000" b="1" baseline="50000" dirty="0"/>
                        <a:t>A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58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1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urier"/>
                          <a:ea typeface="+mn-ea"/>
                          <a:cs typeface="Courier"/>
                        </a:rPr>
                        <a:t>      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7" name="Group 26"/>
          <p:cNvGrpSpPr/>
          <p:nvPr/>
        </p:nvGrpSpPr>
        <p:grpSpPr>
          <a:xfrm>
            <a:off x="6226364" y="3093507"/>
            <a:ext cx="495630" cy="2002555"/>
            <a:chOff x="6226364" y="3093507"/>
            <a:chExt cx="495630" cy="2002555"/>
          </a:xfrm>
        </p:grpSpPr>
        <p:sp>
          <p:nvSpPr>
            <p:cNvPr id="15" name="Rounded Rectangle 14"/>
            <p:cNvSpPr/>
            <p:nvPr/>
          </p:nvSpPr>
          <p:spPr>
            <a:xfrm>
              <a:off x="6226364" y="3093507"/>
              <a:ext cx="495630" cy="1197099"/>
            </a:xfrm>
            <a:prstGeom prst="roundRect">
              <a:avLst>
                <a:gd name="adj" fmla="val 30953"/>
              </a:avLst>
            </a:prstGeom>
            <a:noFill/>
            <a:ln w="57150" cmpd="sng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Curved Connector 16"/>
            <p:cNvCxnSpPr>
              <a:stCxn id="15" idx="2"/>
            </p:cNvCxnSpPr>
            <p:nvPr/>
          </p:nvCxnSpPr>
          <p:spPr>
            <a:xfrm rot="16200000" flipH="1">
              <a:off x="6141148" y="4623637"/>
              <a:ext cx="805457" cy="139394"/>
            </a:xfrm>
            <a:prstGeom prst="curvedConnector3">
              <a:avLst/>
            </a:prstGeom>
            <a:ln>
              <a:solidFill>
                <a:srgbClr val="C0504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5947570" y="3748472"/>
            <a:ext cx="2028988" cy="1408720"/>
            <a:chOff x="5947570" y="3748472"/>
            <a:chExt cx="2028988" cy="1408720"/>
          </a:xfrm>
        </p:grpSpPr>
        <p:sp>
          <p:nvSpPr>
            <p:cNvPr id="18" name="Rounded Rectangle 17"/>
            <p:cNvSpPr/>
            <p:nvPr/>
          </p:nvSpPr>
          <p:spPr>
            <a:xfrm>
              <a:off x="5947570" y="3748472"/>
              <a:ext cx="2028988" cy="371750"/>
            </a:xfrm>
            <a:prstGeom prst="roundRect">
              <a:avLst>
                <a:gd name="adj" fmla="val 30953"/>
              </a:avLst>
            </a:prstGeom>
            <a:noFill/>
            <a:ln w="57150" cmpd="sng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9" name="Curved Connector 18"/>
            <p:cNvCxnSpPr>
              <a:stCxn id="18" idx="2"/>
            </p:cNvCxnSpPr>
            <p:nvPr/>
          </p:nvCxnSpPr>
          <p:spPr>
            <a:xfrm rot="16200000" flipH="1">
              <a:off x="6616699" y="4465587"/>
              <a:ext cx="1036970" cy="346240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C0504D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3942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Mapas de Veitch-</a:t>
            </a:r>
            <a:r>
              <a:rPr lang="pt-BR" u="sng" dirty="0"/>
              <a:t>Karnaugh</a:t>
            </a:r>
            <a:r>
              <a:rPr lang="pt-BR" dirty="0"/>
              <a:t> Maiores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mapas de Karnaugh podem ter dimensões maiores, nesses casos as regiões passam de um lado para o outro.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20</a:t>
            </a:fld>
            <a:endParaRPr lang="pt-BR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89595" y="2185214"/>
          <a:ext cx="5095700" cy="3437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9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12077">
                <a:tc>
                  <a:txBody>
                    <a:bodyPr/>
                    <a:lstStyle/>
                    <a:p>
                      <a:pPr algn="ctr"/>
                      <a:r>
                        <a:rPr lang="pt-BR" sz="4000" b="1" baseline="-11000" dirty="0"/>
                        <a:t>CD</a:t>
                      </a:r>
                      <a:r>
                        <a:rPr lang="pt-BR" sz="4000" b="1" baseline="0" dirty="0"/>
                        <a:t> </a:t>
                      </a:r>
                      <a:r>
                        <a:rPr lang="pt-BR" sz="4000" b="1" baseline="50000" dirty="0"/>
                        <a:t>AB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/>
                        <a:t>0</a:t>
                      </a:r>
                      <a:endParaRPr lang="pt-BR" sz="2400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/>
                        <a:t>0</a:t>
                      </a:r>
                      <a:endParaRPr lang="pt-BR" sz="2400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/>
                        <a:t>0</a:t>
                      </a:r>
                      <a:endParaRPr lang="pt-BR" sz="2400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/>
                        <a:t>0</a:t>
                      </a:r>
                      <a:endParaRPr lang="pt-BR" sz="2400" b="1" dirty="0"/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337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6319292" y="3837661"/>
            <a:ext cx="1220523" cy="676901"/>
            <a:chOff x="6319292" y="3760211"/>
            <a:chExt cx="1220523" cy="676901"/>
          </a:xfrm>
        </p:grpSpPr>
        <p:sp>
          <p:nvSpPr>
            <p:cNvPr id="12" name="Rounded Rectangle 11"/>
            <p:cNvSpPr/>
            <p:nvPr/>
          </p:nvSpPr>
          <p:spPr>
            <a:xfrm>
              <a:off x="6319292" y="3872389"/>
              <a:ext cx="1053214" cy="433707"/>
            </a:xfrm>
            <a:prstGeom prst="roundRect">
              <a:avLst>
                <a:gd name="adj" fmla="val 30953"/>
              </a:avLst>
            </a:prstGeom>
            <a:noFill/>
            <a:ln w="57150" cmpd="sng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35770" y="3760211"/>
              <a:ext cx="404045" cy="676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" name="Group 14"/>
          <p:cNvGrpSpPr/>
          <p:nvPr/>
        </p:nvGrpSpPr>
        <p:grpSpPr>
          <a:xfrm rot="10800000">
            <a:off x="2552518" y="3828063"/>
            <a:ext cx="1053214" cy="676901"/>
            <a:chOff x="6319293" y="3760212"/>
            <a:chExt cx="1053215" cy="676901"/>
          </a:xfrm>
        </p:grpSpPr>
        <p:sp>
          <p:nvSpPr>
            <p:cNvPr id="16" name="Rounded Rectangle 15"/>
            <p:cNvSpPr/>
            <p:nvPr/>
          </p:nvSpPr>
          <p:spPr>
            <a:xfrm>
              <a:off x="6319293" y="3872390"/>
              <a:ext cx="941717" cy="433707"/>
            </a:xfrm>
            <a:prstGeom prst="roundRect">
              <a:avLst>
                <a:gd name="adj" fmla="val 30953"/>
              </a:avLst>
            </a:prstGeom>
            <a:noFill/>
            <a:ln w="57150" cmpd="sng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135771" y="3760212"/>
              <a:ext cx="236737" cy="6769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8" name="Content Placeholder 2"/>
          <p:cNvSpPr txBox="1">
            <a:spLocks/>
          </p:cNvSpPr>
          <p:nvPr/>
        </p:nvSpPr>
        <p:spPr>
          <a:xfrm>
            <a:off x="3698660" y="5798228"/>
            <a:ext cx="2481233" cy="889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    _   _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pt-BR" sz="2200" b="1" dirty="0">
                <a:latin typeface="Courier"/>
                <a:cs typeface="Courier"/>
              </a:rPr>
              <a:t>Q = B * C * </a:t>
            </a:r>
            <a:r>
              <a:rPr lang="pt-BR" sz="2200" b="1" dirty="0" err="1">
                <a:latin typeface="Courier"/>
                <a:cs typeface="Courier"/>
              </a:rPr>
              <a:t>D</a:t>
            </a:r>
            <a:endParaRPr lang="pt-BR" sz="2200" b="1" dirty="0">
              <a:latin typeface="Courier"/>
              <a:cs typeface="Courier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897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dirty="0"/>
              <a:t>Diagnóstico de Mapas de Veitch-</a:t>
            </a:r>
            <a:r>
              <a:rPr lang="pt-BR" sz="2800" u="sng" dirty="0"/>
              <a:t>Karnaugh</a:t>
            </a:r>
            <a:endParaRPr lang="pt-BR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21</a:t>
            </a:fld>
            <a:endParaRPr lang="pt-BR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839603"/>
              </p:ext>
            </p:extLst>
          </p:nvPr>
        </p:nvGraphicFramePr>
        <p:xfrm>
          <a:off x="657224" y="1992575"/>
          <a:ext cx="3198270" cy="26655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9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6705">
                <a:tc>
                  <a:txBody>
                    <a:bodyPr/>
                    <a:lstStyle/>
                    <a:p>
                      <a:pPr algn="ctr"/>
                      <a:r>
                        <a:rPr lang="pt-BR" sz="2800" b="1" baseline="-11000" dirty="0"/>
                        <a:t>CD</a:t>
                      </a:r>
                      <a:r>
                        <a:rPr lang="pt-BR" sz="2800" b="1" baseline="50000" dirty="0"/>
                        <a:t>AB</a:t>
                      </a:r>
                    </a:p>
                  </a:txBody>
                  <a:tcPr marL="36000" marR="36000"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3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3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3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11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386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10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51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Portas XOR e XNOR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520700"/>
          </a:xfrm>
        </p:spPr>
        <p:txBody>
          <a:bodyPr>
            <a:normAutofit/>
          </a:bodyPr>
          <a:lstStyle/>
          <a:p>
            <a:r>
              <a:rPr lang="pt-BR" sz="2000" dirty="0"/>
              <a:t>Um outro conjunto de portas lógicas muitos usadas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22</a:t>
            </a:fld>
            <a:endParaRPr lang="pt-BR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b="57245"/>
          <a:stretch>
            <a:fillRect/>
          </a:stretch>
        </p:blipFill>
        <p:spPr>
          <a:xfrm>
            <a:off x="404930" y="2387890"/>
            <a:ext cx="3591992" cy="847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CCCCAC-3933-F757-7F32-25E25FF9A5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000"/>
          <a:stretch>
            <a:fillRect/>
          </a:stretch>
        </p:blipFill>
        <p:spPr>
          <a:xfrm>
            <a:off x="5247208" y="2268561"/>
            <a:ext cx="3591992" cy="792826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47382F-94D2-2CBF-0C43-C53466A1EB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855863"/>
              </p:ext>
            </p:extLst>
          </p:nvPr>
        </p:nvGraphicFramePr>
        <p:xfrm>
          <a:off x="6053083" y="3442677"/>
          <a:ext cx="1830786" cy="22860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E32CEF3-064C-A51E-1042-255BE2F83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271521"/>
              </p:ext>
            </p:extLst>
          </p:nvPr>
        </p:nvGraphicFramePr>
        <p:xfrm>
          <a:off x="1310931" y="3465192"/>
          <a:ext cx="1830786" cy="22860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8" descr="xor (exclusive or) Symbol">
            <a:extLst>
              <a:ext uri="{FF2B5EF4-FFF2-40B4-BE49-F238E27FC236}">
                <a16:creationId xmlns:a16="http://schemas.microsoft.com/office/drawing/2014/main" id="{340474E5-70DD-160C-B75E-1CD1F5F2D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" y="3061387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Não Importa </a:t>
            </a:r>
            <a:r>
              <a:rPr lang="en-US" dirty="0"/>
              <a:t>(Don't Care)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O X indica que é indiferente o valor da variável naquela situação para a análise da tabela verdade.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23</a:t>
            </a:fld>
            <a:endParaRPr lang="pt-BR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359232"/>
              </p:ext>
            </p:extLst>
          </p:nvPr>
        </p:nvGraphicFramePr>
        <p:xfrm>
          <a:off x="3619916" y="2699498"/>
          <a:ext cx="2441048" cy="27432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610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08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Simplificação por Python (</a:t>
            </a:r>
            <a:r>
              <a:rPr lang="pt-BR" dirty="0" err="1"/>
              <a:t>PyEDA</a:t>
            </a:r>
            <a:r>
              <a:rPr lang="pt-BR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1517290"/>
          </a:xfrm>
        </p:spPr>
        <p:txBody>
          <a:bodyPr/>
          <a:lstStyle/>
          <a:p>
            <a:r>
              <a:rPr lang="pt-BR" dirty="0"/>
              <a:t>Para os mais curiosos:</a:t>
            </a:r>
          </a:p>
          <a:p>
            <a:r>
              <a:rPr lang="pt-BR" dirty="0">
                <a:hlinkClick r:id="rId3"/>
              </a:rPr>
              <a:t>http://pyeda.readthedocs.io/en/latest/overview.html</a:t>
            </a:r>
            <a:r>
              <a:rPr lang="pt-BR" dirty="0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24</a:t>
            </a:fld>
            <a:endParaRPr lang="pt-B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382" y="2244545"/>
            <a:ext cx="6118347" cy="435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8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  <p:pic>
        <p:nvPicPr>
          <p:cNvPr id="6" name="tmpA9FC">
            <a:hlinkClick r:id="" action="ppaction://media"/>
          </p:cNvPr>
          <p:cNvPicPr>
            <a:picLocks noChangeAspect="1"/>
          </p:cNvPicPr>
          <p:nvPr>
            <a:videoFile r:link="rId1"/>
            <p:custDataLst>
              <p:tags r:id="rId2"/>
            </p:custDataLst>
            <p:extLst>
              <p:ext uri="{DAA4B4D4-6D71-4841-9C94-3DE7FCFB9230}">
                <p14:media xmlns:p14="http://schemas.microsoft.com/office/powerpoint/2010/main" r:embed="rId3">
                  <p14:trim end="73.9705"/>
                </p14:media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13800" y="101600"/>
            <a:ext cx="228600" cy="22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89|9.521|12.73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38|25.756|27.74|12.00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19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29|12.481|6.806|23.634|1.887001|10.836|1.784|17.369|20.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13|4.39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03|4.47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45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067|1.626001|4.83899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861|1.777|2.033001|1.82|1.7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978|14.252|4.18|3.924|38.98|1.25|4.596001|0.9319992|0.8320007|3.987|2.236|1.74900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325|16.428|11.687|7.801003|6.72100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1.916|5.29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MIXSHAPE" val="|streamable=true|audioOnly=true|recordStart=0|recordEnd=6939|recordLength=7012|start=0|end=6939|audioFormat={00001610-0000-0010-8000-00AA00389B71}|audioRate=44100|muted=false|volume=0.8|fadeIn=0|fadeOut=0|videoFormat={34363248-0000-0010-8000-00AA00389B71}|videoRate=15|videoWidth=256|videoHeight=256"/>
</p:tagLst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26546</TotalTime>
  <Words>3432</Words>
  <Application>Microsoft Macintosh PowerPoint</Application>
  <PresentationFormat>On-screen Show (4:3)</PresentationFormat>
  <Paragraphs>745</Paragraphs>
  <Slides>25</Slides>
  <Notes>24</Notes>
  <HiddenSlides>4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</vt:lpstr>
      <vt:lpstr>Calibri</vt:lpstr>
      <vt:lpstr>Courier</vt:lpstr>
      <vt:lpstr>Lucida Calligraphy</vt:lpstr>
      <vt:lpstr>Verdana</vt:lpstr>
      <vt:lpstr>Personalizar design</vt:lpstr>
      <vt:lpstr>PowerPoint Presentation</vt:lpstr>
      <vt:lpstr>George Boole</vt:lpstr>
      <vt:lpstr>Claude Shannon</vt:lpstr>
      <vt:lpstr>Álgebra Booleana</vt:lpstr>
      <vt:lpstr>Operações Básicas em Álgebra Booleana</vt:lpstr>
      <vt:lpstr>Funções Booleanas e Tabelas Verdade</vt:lpstr>
      <vt:lpstr>Diagnóstico de Álgebra Booleana</vt:lpstr>
      <vt:lpstr>Funções geradas por Tabelas Verdade</vt:lpstr>
      <vt:lpstr>Formas Canônicas</vt:lpstr>
      <vt:lpstr>Soma de Produtos</vt:lpstr>
      <vt:lpstr>Produto de Somas</vt:lpstr>
      <vt:lpstr>Diagnóstico de Representação Canônica</vt:lpstr>
      <vt:lpstr>Para que álgebra booleana</vt:lpstr>
      <vt:lpstr>Propriedades da Álgebra Booleana</vt:lpstr>
      <vt:lpstr>Simplificação de Expressões Booleanas</vt:lpstr>
      <vt:lpstr>Simplificação de Expressões Booleanas</vt:lpstr>
      <vt:lpstr>Diagnóstico de Simplificação</vt:lpstr>
      <vt:lpstr>Mapas de Veitch-Karnaugh</vt:lpstr>
      <vt:lpstr>Exemplo de Mapa de Karnaugh</vt:lpstr>
      <vt:lpstr>Mapas de Veitch-Karnaugh Maiores</vt:lpstr>
      <vt:lpstr>Diagnóstico de Mapas de Veitch-Karnaugh</vt:lpstr>
      <vt:lpstr>Outras Portas XOR e XNOR</vt:lpstr>
      <vt:lpstr>Não Importa (Don't Care) </vt:lpstr>
      <vt:lpstr>Simplificação por Python (PyEDA)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Python</dc:title>
  <dc:subject/>
  <dc:creator>Luciano Pereira Soares</dc:creator>
  <cp:keywords/>
  <dc:description/>
  <cp:lastModifiedBy>Luciano Pereira Soares</cp:lastModifiedBy>
  <cp:revision>868</cp:revision>
  <cp:lastPrinted>2016-02-11T11:53:20Z</cp:lastPrinted>
  <dcterms:created xsi:type="dcterms:W3CDTF">2014-04-17T20:05:08Z</dcterms:created>
  <dcterms:modified xsi:type="dcterms:W3CDTF">2026-08-16T22:19:19Z</dcterms:modified>
  <cp:category/>
</cp:coreProperties>
</file>