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tiff" ContentType="image/tif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tags/tag1.xml" ContentType="application/vnd.openxmlformats-officedocument.presentationml.tags+xml"/>
  <Override PartName="/ppt/notesSlides/notesSlide3.xml" ContentType="application/vnd.openxmlformats-officedocument.presentationml.notesSlide+xml"/>
  <Override PartName="/ppt/tags/tag2.xml" ContentType="application/vnd.openxmlformats-officedocument.presentationml.tags+xml"/>
  <Override PartName="/ppt/notesSlides/notesSlide4.xml" ContentType="application/vnd.openxmlformats-officedocument.presentationml.notesSlide+xml"/>
  <Override PartName="/ppt/tags/tag3.xml" ContentType="application/vnd.openxmlformats-officedocument.presentationml.tags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51" r:id="rId1"/>
  </p:sldMasterIdLst>
  <p:notesMasterIdLst>
    <p:notesMasterId r:id="rId15"/>
  </p:notesMasterIdLst>
  <p:handoutMasterIdLst>
    <p:handoutMasterId r:id="rId16"/>
  </p:handoutMasterIdLst>
  <p:sldIdLst>
    <p:sldId id="529" r:id="rId2"/>
    <p:sldId id="400" r:id="rId3"/>
    <p:sldId id="456" r:id="rId4"/>
    <p:sldId id="377" r:id="rId5"/>
    <p:sldId id="530" r:id="rId6"/>
    <p:sldId id="390" r:id="rId7"/>
    <p:sldId id="391" r:id="rId8"/>
    <p:sldId id="392" r:id="rId9"/>
    <p:sldId id="535" r:id="rId10"/>
    <p:sldId id="394" r:id="rId11"/>
    <p:sldId id="408" r:id="rId12"/>
    <p:sldId id="362" r:id="rId13"/>
    <p:sldId id="262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/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8EDF4"/>
    <a:srgbClr val="BCBEC0"/>
    <a:srgbClr val="C00026"/>
    <a:srgbClr val="BA0E24"/>
    <a:srgbClr val="0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799"/>
    <p:restoredTop sz="83313" autoAdjust="0"/>
  </p:normalViewPr>
  <p:slideViewPr>
    <p:cSldViewPr snapToGrid="0" snapToObjects="1" showGuides="1">
      <p:cViewPr>
        <p:scale>
          <a:sx n="129" d="100"/>
          <a:sy n="129" d="100"/>
        </p:scale>
        <p:origin x="1592" y="-15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notesViewPr>
    <p:cSldViewPr snapToGrid="0" snapToObjects="1">
      <p:cViewPr varScale="1">
        <p:scale>
          <a:sx n="83" d="100"/>
          <a:sy n="83" d="100"/>
        </p:scale>
        <p:origin x="-1980" y="-72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handoutMaster" Target="handoutMasters/handout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7B2933F-D0FD-7240-A363-4A10A64C6792}" type="datetimeFigureOut">
              <a:rPr lang="en-US" smtClean="0"/>
              <a:t>10/26/26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225F2C9-07E4-FF4F-8189-CD4ED964D9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301280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E9F3387-6852-4167-A065-1B417E5289FE}" type="datetimeFigureOut">
              <a:rPr lang="pt-BR" smtClean="0"/>
              <a:t>26/10/2026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23FB91E-A0DC-4A5F-B463-D7B8E79502D1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81216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23FB91E-A0DC-4A5F-B463-D7B8E79502D1}" type="slidenum">
              <a:rPr lang="pt-BR" smtClean="0"/>
              <a:t>1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3849140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 err="1"/>
              <a:t>https</a:t>
            </a:r>
            <a:r>
              <a:rPr lang="pt-BR" dirty="0"/>
              <a:t>://</a:t>
            </a:r>
            <a:r>
              <a:rPr lang="pt-BR" dirty="0" err="1"/>
              <a:t>www.lua.org</a:t>
            </a:r>
            <a:r>
              <a:rPr lang="pt-BR" dirty="0"/>
              <a:t>/</a:t>
            </a:r>
            <a:r>
              <a:rPr lang="pt-BR" dirty="0" err="1"/>
              <a:t>about.html</a:t>
            </a:r>
            <a:endParaRPr lang="pt-B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23FB91E-A0DC-4A5F-B463-D7B8E79502D1}" type="slidenum">
              <a:rPr lang="pt-BR" smtClean="0"/>
              <a:t>3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9511531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5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>
            <a:lvl1pPr defTabSz="740038">
              <a:defRPr sz="22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685817" indent="-263776" defTabSz="740038">
              <a:defRPr sz="22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055103" indent="-211021" defTabSz="740038">
              <a:defRPr sz="22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477145" indent="-211021" defTabSz="740038">
              <a:defRPr sz="22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1899186" indent="-211021" defTabSz="740038">
              <a:defRPr sz="22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321227" indent="-211021" algn="ctr" defTabSz="740038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743269" indent="-211021" algn="ctr" defTabSz="740038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165310" indent="-211021" algn="ctr" defTabSz="740038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587351" indent="-211021" algn="ctr" defTabSz="740038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fld id="{DDC0DAE8-9CBB-5143-8BE6-C5F8160C9BDA}" type="slidenum">
              <a:rPr lang="he-IL" sz="1000">
                <a:latin typeface="Times New Roman" charset="0"/>
              </a:rPr>
              <a:pPr/>
              <a:t>4</a:t>
            </a:fld>
            <a:endParaRPr lang="en-US" sz="1000">
              <a:latin typeface="Times New Roman" charset="0"/>
            </a:endParaRPr>
          </a:p>
        </p:txBody>
      </p:sp>
      <p:sp>
        <p:nvSpPr>
          <p:cNvPr id="317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1748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FAA26D3D-D897-4be2-8F04-BA451C77F1D7}">
              <ma14:placeholderFlag xmlns="" xmlns:ma14="http://schemas.microsoft.com/office/mac/drawingml/2011/main" val="1"/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>
              <a:latin typeface="Times New Roman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3733471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23FB91E-A0DC-4A5F-B463-D7B8E79502D1}" type="slidenum">
              <a:rPr lang="pt-BR" smtClean="0"/>
              <a:t>7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6828675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23FB91E-A0DC-4A5F-B463-D7B8E79502D1}" type="slidenum">
              <a:rPr lang="pt-BR" smtClean="0"/>
              <a:t>8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6828675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23FB91E-A0DC-4A5F-B463-D7B8E79502D1}" type="slidenum">
              <a:rPr lang="pt-BR" smtClean="0"/>
              <a:t>10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403836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Rectangle 5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>
            <a:lvl1pPr defTabSz="740038">
              <a:defRPr sz="22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685817" indent="-263776" defTabSz="740038">
              <a:defRPr sz="22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055103" indent="-211021" defTabSz="740038">
              <a:defRPr sz="22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477145" indent="-211021" defTabSz="740038">
              <a:defRPr sz="22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1899186" indent="-211021" defTabSz="740038">
              <a:defRPr sz="22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321227" indent="-211021" algn="ctr" defTabSz="740038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743269" indent="-211021" algn="ctr" defTabSz="740038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165310" indent="-211021" algn="ctr" defTabSz="740038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587351" indent="-211021" algn="ctr" defTabSz="740038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fld id="{58A80810-9124-0248-97E2-ACD39C952A3D}" type="slidenum">
              <a:rPr lang="he-IL" sz="1000">
                <a:latin typeface="Times New Roman" charset="0"/>
              </a:rPr>
              <a:pPr/>
              <a:t>12</a:t>
            </a:fld>
            <a:endParaRPr lang="en-US" sz="1000">
              <a:latin typeface="Times New Roman" charset="0"/>
            </a:endParaRPr>
          </a:p>
        </p:txBody>
      </p:sp>
      <p:sp>
        <p:nvSpPr>
          <p:cNvPr id="4608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6084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FAA26D3D-D897-4be2-8F04-BA451C77F1D7}">
              <ma14:placeholderFlag xmlns="" xmlns:ma14="http://schemas.microsoft.com/office/mac/drawingml/2011/main" val="1"/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>
              <a:latin typeface="Times New Roman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2036176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BCBEC0"/>
                </a:solidFill>
              </a:defRPr>
            </a:lvl1pPr>
          </a:lstStyle>
          <a:p>
            <a:fld id="{CC8788FA-9D8F-3C45-9A7B-393163C83DF0}" type="datetime1">
              <a:rPr lang="en-US" smtClean="0"/>
              <a:t>10/26/26</a:t>
            </a:fld>
            <a:endParaRPr lang="pt-BR" dirty="0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BCBEC0"/>
                </a:solidFill>
              </a:defRPr>
            </a:lvl1pPr>
          </a:lstStyle>
          <a:p>
            <a:endParaRPr lang="pt-BR" dirty="0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BCBEC0"/>
                </a:solidFill>
              </a:defRPr>
            </a:lvl1pPr>
          </a:lstStyle>
          <a:p>
            <a:fld id="{7FFE5E5C-C80A-4D8D-A711-3102A7BA9258}" type="slidenum">
              <a:rPr lang="pt-BR" smtClean="0"/>
              <a:pPr/>
              <a:t>‹#›</a:t>
            </a:fld>
            <a:endParaRPr lang="pt-BR" dirty="0"/>
          </a:p>
        </p:txBody>
      </p:sp>
      <p:pic>
        <p:nvPicPr>
          <p:cNvPr id="7" name="Imagem 6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857" y="0"/>
            <a:ext cx="9138285" cy="6858000"/>
          </a:xfrm>
          <a:prstGeom prst="rect">
            <a:avLst/>
          </a:prstGeom>
        </p:spPr>
      </p:pic>
      <p:sp>
        <p:nvSpPr>
          <p:cNvPr id="9" name="Espaço Reservado para Conteúdo 2"/>
          <p:cNvSpPr>
            <a:spLocks noGrp="1"/>
          </p:cNvSpPr>
          <p:nvPr>
            <p:ph idx="1" hasCustomPrompt="1"/>
          </p:nvPr>
        </p:nvSpPr>
        <p:spPr>
          <a:xfrm>
            <a:off x="966786" y="2714625"/>
            <a:ext cx="7343775" cy="714375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ctr">
              <a:buFontTx/>
              <a:buNone/>
              <a:defRPr sz="3600" b="1">
                <a:solidFill>
                  <a:schemeClr val="bg1"/>
                </a:solidFill>
              </a:defRPr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pt-BR" dirty="0"/>
              <a:t>Clique para editar o título</a:t>
            </a:r>
          </a:p>
        </p:txBody>
      </p:sp>
      <p:sp>
        <p:nvSpPr>
          <p:cNvPr id="10" name="Espaço Reservado para Conteúdo 2"/>
          <p:cNvSpPr>
            <a:spLocks noGrp="1"/>
          </p:cNvSpPr>
          <p:nvPr>
            <p:ph idx="13" hasCustomPrompt="1"/>
          </p:nvPr>
        </p:nvSpPr>
        <p:spPr>
          <a:xfrm>
            <a:off x="966786" y="3429001"/>
            <a:ext cx="7343775" cy="47625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ctr">
              <a:buFontTx/>
              <a:buNone/>
              <a:defRPr sz="2000" b="0">
                <a:solidFill>
                  <a:schemeClr val="bg1"/>
                </a:solidFill>
              </a:defRPr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pt-BR" dirty="0"/>
              <a:t>Clique para editar o subtítulo</a:t>
            </a:r>
          </a:p>
        </p:txBody>
      </p:sp>
      <p:sp>
        <p:nvSpPr>
          <p:cNvPr id="11" name="Espaço Reservado para Conteúdo 2"/>
          <p:cNvSpPr>
            <a:spLocks noGrp="1"/>
          </p:cNvSpPr>
          <p:nvPr>
            <p:ph idx="14" hasCustomPrompt="1"/>
          </p:nvPr>
        </p:nvSpPr>
        <p:spPr>
          <a:xfrm>
            <a:off x="900111" y="6356349"/>
            <a:ext cx="7343775" cy="238125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ctr">
              <a:buFontTx/>
              <a:buNone/>
              <a:defRPr sz="1400" b="0" baseline="0">
                <a:solidFill>
                  <a:schemeClr val="bg1"/>
                </a:solidFill>
              </a:defRPr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pt-BR" dirty="0"/>
              <a:t>Clique para editar a data e o nome da área ou disciplina</a:t>
            </a:r>
          </a:p>
        </p:txBody>
      </p:sp>
    </p:spTree>
    <p:extLst>
      <p:ext uri="{BB962C8B-B14F-4D97-AF65-F5344CB8AC3E}">
        <p14:creationId xmlns:p14="http://schemas.microsoft.com/office/powerpoint/2010/main" val="252963497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ítulo 1"/>
          <p:cNvSpPr>
            <a:spLocks noGrp="1"/>
          </p:cNvSpPr>
          <p:nvPr>
            <p:ph type="title"/>
          </p:nvPr>
        </p:nvSpPr>
        <p:spPr>
          <a:xfrm>
            <a:off x="457200" y="781050"/>
            <a:ext cx="8229600" cy="619125"/>
          </a:xfrm>
          <a:prstGeom prst="rect">
            <a:avLst/>
          </a:prstGeo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11" name="Espaço Reservado para Conteúdo 2"/>
          <p:cNvSpPr>
            <a:spLocks noGrp="1"/>
          </p:cNvSpPr>
          <p:nvPr>
            <p:ph idx="1"/>
          </p:nvPr>
        </p:nvSpPr>
        <p:spPr>
          <a:xfrm>
            <a:off x="657225" y="1485900"/>
            <a:ext cx="8029575" cy="472440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FontTx/>
              <a:buNone/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pt-BR" dirty="0"/>
              <a:t>Clique para editar o texto mestre</a:t>
            </a:r>
          </a:p>
          <a:p>
            <a:pPr lvl="1"/>
            <a:r>
              <a:rPr lang="pt-BR" dirty="0"/>
              <a:t>Segundo nível</a:t>
            </a:r>
          </a:p>
          <a:p>
            <a:pPr lvl="2"/>
            <a:r>
              <a:rPr lang="pt-BR" dirty="0"/>
              <a:t>Terceiro nível</a:t>
            </a:r>
          </a:p>
          <a:p>
            <a:pPr lvl="3"/>
            <a:r>
              <a:rPr lang="pt-BR" dirty="0"/>
              <a:t>Quarto nível</a:t>
            </a:r>
          </a:p>
          <a:p>
            <a:pPr lvl="4"/>
            <a:r>
              <a:rPr lang="pt-BR" dirty="0"/>
              <a:t>Quinto nível</a:t>
            </a:r>
          </a:p>
        </p:txBody>
      </p:sp>
      <p:sp>
        <p:nvSpPr>
          <p:cNvPr id="12" name="Espaço Reservado para Texto 7"/>
          <p:cNvSpPr>
            <a:spLocks noGrp="1"/>
          </p:cNvSpPr>
          <p:nvPr>
            <p:ph type="body" sz="quarter" idx="13" hasCustomPrompt="1"/>
          </p:nvPr>
        </p:nvSpPr>
        <p:spPr>
          <a:xfrm>
            <a:off x="161925" y="85725"/>
            <a:ext cx="7229475" cy="352425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300" b="1">
                <a:solidFill>
                  <a:srgbClr val="BCBEC0"/>
                </a:solidFill>
              </a:defRPr>
            </a:lvl1pPr>
          </a:lstStyle>
          <a:p>
            <a:pPr lvl="0"/>
            <a:r>
              <a:rPr lang="pt-BR" dirty="0"/>
              <a:t>Clique para editar o chapéu mestre</a:t>
            </a:r>
          </a:p>
        </p:txBody>
      </p:sp>
      <p:sp>
        <p:nvSpPr>
          <p:cNvPr id="5" name="Espaço Reservado para Número de Slide 5"/>
          <p:cNvSpPr>
            <a:spLocks noGrp="1"/>
          </p:cNvSpPr>
          <p:nvPr>
            <p:ph type="sldNum" sz="quarter" idx="4"/>
          </p:nvPr>
        </p:nvSpPr>
        <p:spPr>
          <a:xfrm>
            <a:off x="84172" y="6402174"/>
            <a:ext cx="64151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fld id="{7FFE5E5C-C80A-4D8D-A711-3102A7BA9258}" type="slidenum">
              <a:rPr lang="pt-BR" smtClean="0"/>
              <a:pPr/>
              <a:t>‹#›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8481323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Espaço Reservado para Dat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1C2149-89A1-2143-B6CB-10E4BD2D3370}" type="datetime1">
              <a:rPr lang="en-US" smtClean="0"/>
              <a:t>10/26/26</a:t>
            </a:fld>
            <a:endParaRPr lang="pt-BR"/>
          </a:p>
        </p:txBody>
      </p:sp>
      <p:sp>
        <p:nvSpPr>
          <p:cNvPr id="8" name="Espaço Reservado para Rodapé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1635760" cy="365125"/>
          </a:xfrm>
        </p:spPr>
        <p:txBody>
          <a:bodyPr/>
          <a:lstStyle/>
          <a:p>
            <a:fld id="{7FFE5E5C-C80A-4D8D-A711-3102A7BA9258}" type="slidenum">
              <a:rPr lang="pt-BR" smtClean="0"/>
              <a:t>‹#›</a:t>
            </a:fld>
            <a:endParaRPr lang="pt-BR"/>
          </a:p>
        </p:txBody>
      </p:sp>
      <p:sp>
        <p:nvSpPr>
          <p:cNvPr id="16" name="Título 1"/>
          <p:cNvSpPr>
            <a:spLocks noGrp="1"/>
          </p:cNvSpPr>
          <p:nvPr>
            <p:ph type="title"/>
          </p:nvPr>
        </p:nvSpPr>
        <p:spPr>
          <a:xfrm>
            <a:off x="457200" y="781050"/>
            <a:ext cx="8229600" cy="619125"/>
          </a:xfrm>
          <a:prstGeom prst="rect">
            <a:avLst/>
          </a:prstGeo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17" name="Espaço Reservado para Texto 7"/>
          <p:cNvSpPr>
            <a:spLocks noGrp="1"/>
          </p:cNvSpPr>
          <p:nvPr>
            <p:ph type="body" sz="quarter" idx="13" hasCustomPrompt="1"/>
          </p:nvPr>
        </p:nvSpPr>
        <p:spPr>
          <a:xfrm>
            <a:off x="161925" y="85725"/>
            <a:ext cx="7229475" cy="352425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300" b="1">
                <a:solidFill>
                  <a:srgbClr val="BCBEC0"/>
                </a:solidFill>
              </a:defRPr>
            </a:lvl1pPr>
          </a:lstStyle>
          <a:p>
            <a:pPr lvl="0"/>
            <a:r>
              <a:rPr lang="pt-BR" dirty="0"/>
              <a:t>Clique para editar o chapéu mestre</a:t>
            </a:r>
          </a:p>
        </p:txBody>
      </p:sp>
      <p:sp>
        <p:nvSpPr>
          <p:cNvPr id="18" name="Espaço Reservado para Texto 4"/>
          <p:cNvSpPr>
            <a:spLocks noGrp="1"/>
          </p:cNvSpPr>
          <p:nvPr>
            <p:ph type="body" sz="quarter" idx="15" hasCustomPrompt="1"/>
          </p:nvPr>
        </p:nvSpPr>
        <p:spPr>
          <a:xfrm>
            <a:off x="4714875" y="1484313"/>
            <a:ext cx="3971925" cy="639762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>
              <a:buNone/>
              <a:defRPr sz="20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 dirty="0"/>
              <a:t>Clique para editar subtítulo mestre</a:t>
            </a:r>
          </a:p>
        </p:txBody>
      </p:sp>
      <p:sp>
        <p:nvSpPr>
          <p:cNvPr id="20" name="Espaço Reservado para Texto 4"/>
          <p:cNvSpPr>
            <a:spLocks noGrp="1"/>
          </p:cNvSpPr>
          <p:nvPr>
            <p:ph type="body" sz="quarter" idx="16" hasCustomPrompt="1"/>
          </p:nvPr>
        </p:nvSpPr>
        <p:spPr>
          <a:xfrm>
            <a:off x="657225" y="1487488"/>
            <a:ext cx="3971925" cy="639762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>
              <a:buNone/>
              <a:defRPr sz="20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 dirty="0"/>
              <a:t>Clique para editar subtítulo mestre</a:t>
            </a:r>
          </a:p>
        </p:txBody>
      </p:sp>
      <p:sp>
        <p:nvSpPr>
          <p:cNvPr id="21" name="Espaço Reservado para Conteúdo 2"/>
          <p:cNvSpPr>
            <a:spLocks noGrp="1"/>
          </p:cNvSpPr>
          <p:nvPr>
            <p:ph idx="1"/>
          </p:nvPr>
        </p:nvSpPr>
        <p:spPr>
          <a:xfrm>
            <a:off x="657225" y="2181225"/>
            <a:ext cx="3971925" cy="396240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FontTx/>
              <a:buNone/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pt-BR" dirty="0"/>
              <a:t>Clique para editar o texto mestre</a:t>
            </a:r>
          </a:p>
          <a:p>
            <a:pPr lvl="1"/>
            <a:r>
              <a:rPr lang="pt-BR" dirty="0"/>
              <a:t>Segundo nível</a:t>
            </a:r>
          </a:p>
          <a:p>
            <a:pPr lvl="2"/>
            <a:r>
              <a:rPr lang="pt-BR" dirty="0"/>
              <a:t>Terceiro nível</a:t>
            </a:r>
          </a:p>
          <a:p>
            <a:pPr lvl="3"/>
            <a:r>
              <a:rPr lang="pt-BR" dirty="0"/>
              <a:t>Quarto nível</a:t>
            </a:r>
          </a:p>
          <a:p>
            <a:pPr lvl="4"/>
            <a:r>
              <a:rPr lang="pt-BR" dirty="0"/>
              <a:t>Quinto nível</a:t>
            </a:r>
          </a:p>
        </p:txBody>
      </p:sp>
      <p:sp>
        <p:nvSpPr>
          <p:cNvPr id="22" name="Espaço Reservado para Conteúdo 2"/>
          <p:cNvSpPr>
            <a:spLocks noGrp="1"/>
          </p:cNvSpPr>
          <p:nvPr>
            <p:ph idx="17"/>
          </p:nvPr>
        </p:nvSpPr>
        <p:spPr>
          <a:xfrm>
            <a:off x="4714875" y="2190750"/>
            <a:ext cx="3971925" cy="396240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FontTx/>
              <a:buNone/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pt-BR" dirty="0"/>
              <a:t>Clique para editar o texto mestre</a:t>
            </a:r>
          </a:p>
          <a:p>
            <a:pPr lvl="1"/>
            <a:r>
              <a:rPr lang="pt-BR" dirty="0"/>
              <a:t>Segundo nível</a:t>
            </a:r>
          </a:p>
          <a:p>
            <a:pPr lvl="2"/>
            <a:r>
              <a:rPr lang="pt-BR" dirty="0"/>
              <a:t>Terceiro nível</a:t>
            </a:r>
          </a:p>
          <a:p>
            <a:pPr lvl="3"/>
            <a:r>
              <a:rPr lang="pt-BR" dirty="0"/>
              <a:t>Quarto nível</a:t>
            </a:r>
          </a:p>
          <a:p>
            <a:pPr lvl="4"/>
            <a:r>
              <a:rPr lang="pt-BR" dirty="0"/>
              <a:t>Quinto nível</a:t>
            </a:r>
          </a:p>
        </p:txBody>
      </p:sp>
      <p:sp>
        <p:nvSpPr>
          <p:cNvPr id="2" name="TextBox 1"/>
          <p:cNvSpPr txBox="1"/>
          <p:nvPr userDrawn="1"/>
        </p:nvSpPr>
        <p:spPr>
          <a:xfrm>
            <a:off x="7640320" y="6482080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/>
          </a:p>
        </p:txBody>
      </p:sp>
      <p:sp>
        <p:nvSpPr>
          <p:cNvPr id="3" name="TextBox 2"/>
          <p:cNvSpPr txBox="1"/>
          <p:nvPr userDrawn="1"/>
        </p:nvSpPr>
        <p:spPr>
          <a:xfrm>
            <a:off x="7112000" y="6563360"/>
            <a:ext cx="3962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/>
          </a:p>
        </p:txBody>
      </p:sp>
      <p:sp>
        <p:nvSpPr>
          <p:cNvPr id="13" name="TextBox 12"/>
          <p:cNvSpPr txBox="1"/>
          <p:nvPr userDrawn="1"/>
        </p:nvSpPr>
        <p:spPr>
          <a:xfrm>
            <a:off x="7106920" y="6356350"/>
            <a:ext cx="3962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930851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Espaço Reservado para Dat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2D7956-45FE-0B43-9FB1-4BE9D905D684}" type="datetime1">
              <a:rPr lang="en-US" smtClean="0"/>
              <a:t>10/26/26</a:t>
            </a:fld>
            <a:endParaRPr lang="pt-BR"/>
          </a:p>
        </p:txBody>
      </p:sp>
      <p:sp>
        <p:nvSpPr>
          <p:cNvPr id="8" name="Espaço Reservado para Rodapé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FE5E5C-C80A-4D8D-A711-3102A7BA9258}" type="slidenum">
              <a:rPr lang="pt-BR" smtClean="0"/>
              <a:t>‹#›</a:t>
            </a:fld>
            <a:endParaRPr lang="pt-BR"/>
          </a:p>
        </p:txBody>
      </p:sp>
      <p:sp>
        <p:nvSpPr>
          <p:cNvPr id="16" name="Título 1"/>
          <p:cNvSpPr>
            <a:spLocks noGrp="1"/>
          </p:cNvSpPr>
          <p:nvPr>
            <p:ph type="title"/>
          </p:nvPr>
        </p:nvSpPr>
        <p:spPr>
          <a:xfrm>
            <a:off x="457200" y="781050"/>
            <a:ext cx="8229600" cy="619125"/>
          </a:xfrm>
          <a:prstGeom prst="rect">
            <a:avLst/>
          </a:prstGeo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17" name="Espaço Reservado para Texto 7"/>
          <p:cNvSpPr>
            <a:spLocks noGrp="1"/>
          </p:cNvSpPr>
          <p:nvPr>
            <p:ph type="body" sz="quarter" idx="13" hasCustomPrompt="1"/>
          </p:nvPr>
        </p:nvSpPr>
        <p:spPr>
          <a:xfrm>
            <a:off x="161925" y="85725"/>
            <a:ext cx="7229475" cy="352425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300" b="1">
                <a:solidFill>
                  <a:srgbClr val="BCBEC0"/>
                </a:solidFill>
              </a:defRPr>
            </a:lvl1pPr>
          </a:lstStyle>
          <a:p>
            <a:pPr lvl="0"/>
            <a:r>
              <a:rPr lang="pt-BR" dirty="0"/>
              <a:t>Clique para editar o chapéu mestre</a:t>
            </a:r>
          </a:p>
        </p:txBody>
      </p:sp>
      <p:sp>
        <p:nvSpPr>
          <p:cNvPr id="21" name="Espaço Reservado para Conteúdo 2"/>
          <p:cNvSpPr>
            <a:spLocks noGrp="1"/>
          </p:cNvSpPr>
          <p:nvPr>
            <p:ph idx="1"/>
          </p:nvPr>
        </p:nvSpPr>
        <p:spPr>
          <a:xfrm>
            <a:off x="657225" y="1476375"/>
            <a:ext cx="3971925" cy="466725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FontTx/>
              <a:buNone/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pt-BR" dirty="0"/>
              <a:t>Clique para editar o texto mestre</a:t>
            </a:r>
          </a:p>
          <a:p>
            <a:pPr lvl="1"/>
            <a:r>
              <a:rPr lang="pt-BR" dirty="0"/>
              <a:t>Segundo nível</a:t>
            </a:r>
          </a:p>
          <a:p>
            <a:pPr lvl="2"/>
            <a:r>
              <a:rPr lang="pt-BR" dirty="0"/>
              <a:t>Terceiro nível</a:t>
            </a:r>
          </a:p>
          <a:p>
            <a:pPr lvl="3"/>
            <a:r>
              <a:rPr lang="pt-BR" dirty="0"/>
              <a:t>Quarto nível</a:t>
            </a:r>
          </a:p>
          <a:p>
            <a:pPr lvl="4"/>
            <a:r>
              <a:rPr lang="pt-BR" dirty="0"/>
              <a:t>Quinto nível</a:t>
            </a:r>
          </a:p>
        </p:txBody>
      </p:sp>
      <p:sp>
        <p:nvSpPr>
          <p:cNvPr id="22" name="Espaço Reservado para Conteúdo 2"/>
          <p:cNvSpPr>
            <a:spLocks noGrp="1"/>
          </p:cNvSpPr>
          <p:nvPr>
            <p:ph idx="17"/>
          </p:nvPr>
        </p:nvSpPr>
        <p:spPr>
          <a:xfrm>
            <a:off x="4714875" y="1476375"/>
            <a:ext cx="3971925" cy="4676775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FontTx/>
              <a:buNone/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pt-BR" dirty="0"/>
              <a:t>Clique para editar o texto mestre</a:t>
            </a:r>
          </a:p>
          <a:p>
            <a:pPr lvl="1"/>
            <a:r>
              <a:rPr lang="pt-BR" dirty="0"/>
              <a:t>Segundo nível</a:t>
            </a:r>
          </a:p>
          <a:p>
            <a:pPr lvl="2"/>
            <a:r>
              <a:rPr lang="pt-BR" dirty="0"/>
              <a:t>Terceiro nível</a:t>
            </a:r>
          </a:p>
          <a:p>
            <a:pPr lvl="3"/>
            <a:r>
              <a:rPr lang="pt-BR" dirty="0"/>
              <a:t>Quarto nível</a:t>
            </a:r>
          </a:p>
          <a:p>
            <a:pPr lvl="4"/>
            <a:r>
              <a:rPr lang="pt-BR" dirty="0"/>
              <a:t>Quinto nível</a:t>
            </a:r>
          </a:p>
        </p:txBody>
      </p:sp>
    </p:spTree>
    <p:extLst>
      <p:ext uri="{BB962C8B-B14F-4D97-AF65-F5344CB8AC3E}">
        <p14:creationId xmlns:p14="http://schemas.microsoft.com/office/powerpoint/2010/main" val="390036821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Espaço Reservado para Dat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16C89B-46A1-944B-8294-819B08567B54}" type="datetime1">
              <a:rPr lang="en-US" smtClean="0"/>
              <a:t>10/26/26</a:t>
            </a:fld>
            <a:endParaRPr lang="pt-BR"/>
          </a:p>
        </p:txBody>
      </p:sp>
      <p:sp>
        <p:nvSpPr>
          <p:cNvPr id="8" name="Espaço Reservado para Rodapé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1503680" cy="365125"/>
          </a:xfrm>
        </p:spPr>
        <p:txBody>
          <a:bodyPr/>
          <a:lstStyle/>
          <a:p>
            <a:fld id="{7FFE5E5C-C80A-4D8D-A711-3102A7BA9258}" type="slidenum">
              <a:rPr lang="pt-BR" smtClean="0"/>
              <a:t>‹#›</a:t>
            </a:fld>
            <a:endParaRPr lang="pt-BR" dirty="0"/>
          </a:p>
        </p:txBody>
      </p:sp>
      <p:sp>
        <p:nvSpPr>
          <p:cNvPr id="16" name="Título 1"/>
          <p:cNvSpPr>
            <a:spLocks noGrp="1"/>
          </p:cNvSpPr>
          <p:nvPr>
            <p:ph type="title"/>
          </p:nvPr>
        </p:nvSpPr>
        <p:spPr>
          <a:xfrm>
            <a:off x="457200" y="781050"/>
            <a:ext cx="8229600" cy="619125"/>
          </a:xfrm>
          <a:prstGeom prst="rect">
            <a:avLst/>
          </a:prstGeo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17" name="Espaço Reservado para Texto 7"/>
          <p:cNvSpPr>
            <a:spLocks noGrp="1"/>
          </p:cNvSpPr>
          <p:nvPr>
            <p:ph type="body" sz="quarter" idx="13" hasCustomPrompt="1"/>
          </p:nvPr>
        </p:nvSpPr>
        <p:spPr>
          <a:xfrm>
            <a:off x="161925" y="85725"/>
            <a:ext cx="7229475" cy="352425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300" b="1">
                <a:solidFill>
                  <a:srgbClr val="BCBEC0"/>
                </a:solidFill>
              </a:defRPr>
            </a:lvl1pPr>
          </a:lstStyle>
          <a:p>
            <a:pPr lvl="0"/>
            <a:r>
              <a:rPr lang="pt-BR" dirty="0"/>
              <a:t>Clique para editar o chapéu mestre</a:t>
            </a:r>
          </a:p>
        </p:txBody>
      </p:sp>
      <p:sp>
        <p:nvSpPr>
          <p:cNvPr id="21" name="Espaço Reservado para Conteúdo 2"/>
          <p:cNvSpPr>
            <a:spLocks noGrp="1"/>
          </p:cNvSpPr>
          <p:nvPr>
            <p:ph idx="1"/>
          </p:nvPr>
        </p:nvSpPr>
        <p:spPr>
          <a:xfrm>
            <a:off x="657225" y="1476374"/>
            <a:ext cx="3971925" cy="2428875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FontTx/>
              <a:buNone/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pt-BR" dirty="0"/>
              <a:t>Clique para editar o texto mestre</a:t>
            </a:r>
          </a:p>
          <a:p>
            <a:pPr lvl="1"/>
            <a:r>
              <a:rPr lang="pt-BR" dirty="0"/>
              <a:t>Segundo nível</a:t>
            </a:r>
          </a:p>
          <a:p>
            <a:pPr lvl="2"/>
            <a:r>
              <a:rPr lang="pt-BR" dirty="0"/>
              <a:t>Terceiro nível</a:t>
            </a:r>
          </a:p>
          <a:p>
            <a:pPr lvl="3"/>
            <a:r>
              <a:rPr lang="pt-BR" dirty="0"/>
              <a:t>Quarto nível</a:t>
            </a:r>
          </a:p>
          <a:p>
            <a:pPr lvl="4"/>
            <a:r>
              <a:rPr lang="pt-BR" dirty="0"/>
              <a:t>Quinto nível</a:t>
            </a:r>
          </a:p>
        </p:txBody>
      </p:sp>
      <p:sp>
        <p:nvSpPr>
          <p:cNvPr id="22" name="Espaço Reservado para Conteúdo 2"/>
          <p:cNvSpPr>
            <a:spLocks noGrp="1"/>
          </p:cNvSpPr>
          <p:nvPr>
            <p:ph idx="17"/>
          </p:nvPr>
        </p:nvSpPr>
        <p:spPr>
          <a:xfrm>
            <a:off x="4714875" y="1476375"/>
            <a:ext cx="3971925" cy="4676775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FontTx/>
              <a:buNone/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pt-BR" dirty="0"/>
              <a:t>Clique para editar o texto mestre</a:t>
            </a:r>
          </a:p>
          <a:p>
            <a:pPr lvl="1"/>
            <a:r>
              <a:rPr lang="pt-BR" dirty="0"/>
              <a:t>Segundo nível</a:t>
            </a:r>
          </a:p>
          <a:p>
            <a:pPr lvl="2"/>
            <a:r>
              <a:rPr lang="pt-BR" dirty="0"/>
              <a:t>Terceiro nível</a:t>
            </a:r>
          </a:p>
          <a:p>
            <a:pPr lvl="3"/>
            <a:r>
              <a:rPr lang="pt-BR" dirty="0"/>
              <a:t>Quarto nível</a:t>
            </a:r>
          </a:p>
          <a:p>
            <a:pPr lvl="4"/>
            <a:r>
              <a:rPr lang="pt-BR" dirty="0"/>
              <a:t>Quinto nível</a:t>
            </a:r>
          </a:p>
        </p:txBody>
      </p:sp>
      <p:sp>
        <p:nvSpPr>
          <p:cNvPr id="10" name="Espaço Reservado para Imagem 2"/>
          <p:cNvSpPr>
            <a:spLocks noGrp="1"/>
          </p:cNvSpPr>
          <p:nvPr>
            <p:ph type="pic" idx="15"/>
          </p:nvPr>
        </p:nvSpPr>
        <p:spPr>
          <a:xfrm>
            <a:off x="657224" y="4086225"/>
            <a:ext cx="3971925" cy="170497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11" name="Espaço Reservado para Texto 7"/>
          <p:cNvSpPr>
            <a:spLocks noGrp="1"/>
          </p:cNvSpPr>
          <p:nvPr>
            <p:ph type="body" sz="quarter" idx="16" hasCustomPrompt="1"/>
          </p:nvPr>
        </p:nvSpPr>
        <p:spPr>
          <a:xfrm>
            <a:off x="657225" y="5791200"/>
            <a:ext cx="3971924" cy="352425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100" b="0" i="1" baseline="0">
                <a:solidFill>
                  <a:srgbClr val="BCBEC0"/>
                </a:solidFill>
              </a:defRPr>
            </a:lvl1pPr>
          </a:lstStyle>
          <a:p>
            <a:pPr lvl="0"/>
            <a:r>
              <a:rPr lang="pt-BR" dirty="0"/>
              <a:t>Clique para editar a legenda mestre</a:t>
            </a:r>
          </a:p>
        </p:txBody>
      </p:sp>
      <p:sp>
        <p:nvSpPr>
          <p:cNvPr id="12" name="TextBox 11"/>
          <p:cNvSpPr txBox="1"/>
          <p:nvPr userDrawn="1"/>
        </p:nvSpPr>
        <p:spPr>
          <a:xfrm>
            <a:off x="7386320" y="6356350"/>
            <a:ext cx="4673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477555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Imagem 2"/>
          <p:cNvSpPr>
            <a:spLocks noGrp="1"/>
          </p:cNvSpPr>
          <p:nvPr>
            <p:ph type="pic" idx="1"/>
          </p:nvPr>
        </p:nvSpPr>
        <p:spPr>
          <a:xfrm>
            <a:off x="4924424" y="0"/>
            <a:ext cx="4219575" cy="68580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FE0B43-6A8C-D94C-A4F4-9A1865BE9A40}" type="datetime1">
              <a:rPr lang="en-US" smtClean="0"/>
              <a:t>10/26/26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FE5E5C-C80A-4D8D-A711-3102A7BA9258}" type="slidenum">
              <a:rPr lang="pt-BR" smtClean="0"/>
              <a:t>‹#›</a:t>
            </a:fld>
            <a:endParaRPr lang="pt-BR"/>
          </a:p>
        </p:txBody>
      </p:sp>
      <p:sp>
        <p:nvSpPr>
          <p:cNvPr id="8" name="Título 1"/>
          <p:cNvSpPr>
            <a:spLocks noGrp="1"/>
          </p:cNvSpPr>
          <p:nvPr>
            <p:ph type="title" hasCustomPrompt="1"/>
          </p:nvPr>
        </p:nvSpPr>
        <p:spPr>
          <a:xfrm>
            <a:off x="457200" y="781050"/>
            <a:ext cx="4363508" cy="619125"/>
          </a:xfrm>
          <a:prstGeom prst="rect">
            <a:avLst/>
          </a:prstGeom>
        </p:spPr>
        <p:txBody>
          <a:bodyPr/>
          <a:lstStyle>
            <a:lvl1pPr>
              <a:defRPr baseline="0"/>
            </a:lvl1pPr>
          </a:lstStyle>
          <a:p>
            <a:r>
              <a:rPr lang="pt-BR" dirty="0"/>
              <a:t>Edite o título mestre</a:t>
            </a:r>
          </a:p>
        </p:txBody>
      </p:sp>
      <p:sp>
        <p:nvSpPr>
          <p:cNvPr id="9" name="Espaço Reservado para Conteúdo 2"/>
          <p:cNvSpPr>
            <a:spLocks noGrp="1"/>
          </p:cNvSpPr>
          <p:nvPr>
            <p:ph idx="13"/>
          </p:nvPr>
        </p:nvSpPr>
        <p:spPr>
          <a:xfrm>
            <a:off x="657225" y="1485900"/>
            <a:ext cx="4163483" cy="472440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FontTx/>
              <a:buNone/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pt-BR" dirty="0"/>
              <a:t>Clique para editar o texto mestre</a:t>
            </a:r>
          </a:p>
          <a:p>
            <a:pPr lvl="1"/>
            <a:r>
              <a:rPr lang="pt-BR" dirty="0"/>
              <a:t>Segundo nível</a:t>
            </a:r>
          </a:p>
          <a:p>
            <a:pPr lvl="2"/>
            <a:r>
              <a:rPr lang="pt-BR" dirty="0"/>
              <a:t>Terceiro nível</a:t>
            </a:r>
          </a:p>
          <a:p>
            <a:pPr lvl="3"/>
            <a:r>
              <a:rPr lang="pt-BR" dirty="0"/>
              <a:t>Quarto nível</a:t>
            </a:r>
          </a:p>
          <a:p>
            <a:pPr lvl="4"/>
            <a:r>
              <a:rPr lang="pt-BR" dirty="0"/>
              <a:t>Quinto nível</a:t>
            </a:r>
          </a:p>
        </p:txBody>
      </p:sp>
    </p:spTree>
    <p:extLst>
      <p:ext uri="{BB962C8B-B14F-4D97-AF65-F5344CB8AC3E}">
        <p14:creationId xmlns:p14="http://schemas.microsoft.com/office/powerpoint/2010/main" val="345108828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fundo_ppt1.jpg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10" name="Título 1"/>
          <p:cNvSpPr>
            <a:spLocks noGrp="1"/>
          </p:cNvSpPr>
          <p:nvPr>
            <p:ph type="title"/>
          </p:nvPr>
        </p:nvSpPr>
        <p:spPr>
          <a:xfrm>
            <a:off x="457200" y="781050"/>
            <a:ext cx="8229600" cy="619125"/>
          </a:xfrm>
          <a:prstGeom prst="rect">
            <a:avLst/>
          </a:prstGeo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11" name="Espaço Reservado para Conteúdo 2"/>
          <p:cNvSpPr>
            <a:spLocks noGrp="1"/>
          </p:cNvSpPr>
          <p:nvPr>
            <p:ph idx="1"/>
          </p:nvPr>
        </p:nvSpPr>
        <p:spPr>
          <a:xfrm>
            <a:off x="657225" y="1485900"/>
            <a:ext cx="8029575" cy="472440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FontTx/>
              <a:buNone/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pt-BR" dirty="0"/>
              <a:t>Clique para editar o texto mestre</a:t>
            </a:r>
          </a:p>
          <a:p>
            <a:pPr lvl="1"/>
            <a:r>
              <a:rPr lang="pt-BR" dirty="0"/>
              <a:t>Segundo nível</a:t>
            </a:r>
          </a:p>
          <a:p>
            <a:pPr lvl="2"/>
            <a:r>
              <a:rPr lang="pt-BR" dirty="0"/>
              <a:t>Terceiro nível</a:t>
            </a:r>
          </a:p>
          <a:p>
            <a:pPr lvl="3"/>
            <a:r>
              <a:rPr lang="pt-BR" dirty="0"/>
              <a:t>Quarto nível</a:t>
            </a:r>
          </a:p>
          <a:p>
            <a:pPr lvl="4"/>
            <a:r>
              <a:rPr lang="pt-BR" dirty="0"/>
              <a:t>Quinto nível</a:t>
            </a:r>
          </a:p>
        </p:txBody>
      </p:sp>
      <p:sp>
        <p:nvSpPr>
          <p:cNvPr id="12" name="Espaço Reservado para Texto 7"/>
          <p:cNvSpPr>
            <a:spLocks noGrp="1"/>
          </p:cNvSpPr>
          <p:nvPr>
            <p:ph type="body" sz="quarter" idx="13" hasCustomPrompt="1"/>
          </p:nvPr>
        </p:nvSpPr>
        <p:spPr>
          <a:xfrm>
            <a:off x="161925" y="85725"/>
            <a:ext cx="7229475" cy="352425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300" b="1">
                <a:solidFill>
                  <a:srgbClr val="BCBEC0"/>
                </a:solidFill>
              </a:defRPr>
            </a:lvl1pPr>
          </a:lstStyle>
          <a:p>
            <a:pPr lvl="0"/>
            <a:r>
              <a:rPr lang="pt-BR" dirty="0"/>
              <a:t>Clique para editar o chapéu mestre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1.jp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fundo_ppt1_ok.jpg"/>
          <p:cNvPicPr>
            <a:picLocks noChangeAspect="1"/>
          </p:cNvPicPr>
          <p:nvPr userDrawn="1"/>
        </p:nvPicPr>
        <p:blipFill>
          <a:blip r:embed="rId9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4" name="Espaço Reservado para Data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fld id="{A8EA56D1-9008-324A-AE78-6F3716B85DF9}" type="datetime1">
              <a:rPr lang="en-US" smtClean="0"/>
              <a:t>10/26/26</a:t>
            </a:fld>
            <a:endParaRPr lang="pt-BR" dirty="0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00">
                <a:solidFill>
                  <a:schemeClr val="tx1">
                    <a:tint val="7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endParaRPr lang="pt-BR" dirty="0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fld id="{7FFE5E5C-C80A-4D8D-A711-3102A7BA9258}" type="slidenum">
              <a:rPr lang="pt-BR" smtClean="0"/>
              <a:pPr/>
              <a:t>‹#›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6954030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3" r:id="rId1"/>
    <p:sldLayoutId id="2147483668" r:id="rId2"/>
    <p:sldLayoutId id="2147483656" r:id="rId3"/>
    <p:sldLayoutId id="2147483666" r:id="rId4"/>
    <p:sldLayoutId id="2147483667" r:id="rId5"/>
    <p:sldLayoutId id="2147483660" r:id="rId6"/>
    <p:sldLayoutId id="2147483662" r:id="rId7"/>
  </p:sldLayoutIdLst>
  <p:hf hdr="0" ftr="0" dt="0"/>
  <p:txStyles>
    <p:titleStyle>
      <a:lvl1pPr algn="l" defTabSz="914400" rtl="0" eaLnBrk="1" latinLnBrk="0" hangingPunct="1">
        <a:spcBef>
          <a:spcPct val="0"/>
        </a:spcBef>
        <a:buNone/>
        <a:defRPr sz="3200" kern="1200">
          <a:solidFill>
            <a:srgbClr val="C00026"/>
          </a:solidFill>
          <a:latin typeface="Verdana" panose="020B0604030504040204" pitchFamily="34" charset="0"/>
          <a:ea typeface="Verdana" panose="020B0604030504040204" pitchFamily="34" charset="0"/>
          <a:cs typeface="Verdana" panose="020B0604030504040204" pitchFamily="34" charset="0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1800" b="0" kern="1200">
          <a:solidFill>
            <a:schemeClr val="tx1"/>
          </a:solidFill>
          <a:latin typeface="Verdana" panose="020B0604030504040204" pitchFamily="34" charset="0"/>
          <a:ea typeface="Verdana" panose="020B0604030504040204" pitchFamily="34" charset="0"/>
          <a:cs typeface="Verdana" panose="020B0604030504040204" pitchFamily="34" charset="0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Verdana" panose="020B0604030504040204" pitchFamily="34" charset="0"/>
          <a:ea typeface="Verdana" panose="020B0604030504040204" pitchFamily="34" charset="0"/>
          <a:cs typeface="Verdana" panose="020B0604030504040204" pitchFamily="34" charset="0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Verdana" panose="020B0604030504040204" pitchFamily="34" charset="0"/>
          <a:ea typeface="Verdana" panose="020B0604030504040204" pitchFamily="34" charset="0"/>
          <a:cs typeface="Verdana" panose="020B0604030504040204" pitchFamily="34" charset="0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Verdana" panose="020B0604030504040204" pitchFamily="34" charset="0"/>
          <a:ea typeface="Verdana" panose="020B0604030504040204" pitchFamily="34" charset="0"/>
          <a:cs typeface="Verdana" panose="020B0604030504040204" pitchFamily="34" charset="0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Verdana" panose="020B0604030504040204" pitchFamily="34" charset="0"/>
          <a:ea typeface="Verdana" panose="020B0604030504040204" pitchFamily="34" charset="0"/>
          <a:cs typeface="Verdana" panose="020B0604030504040204" pitchFamily="34" charset="0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mailto:lpsoares@insper.edu.br?subject=e-mail%20professor%20Luciano%20Soares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tiff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tiff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onteúdo 1"/>
          <p:cNvSpPr>
            <a:spLocks noGrp="1"/>
          </p:cNvSpPr>
          <p:nvPr>
            <p:ph idx="1"/>
          </p:nvPr>
        </p:nvSpPr>
        <p:spPr>
          <a:xfrm>
            <a:off x="966786" y="2384425"/>
            <a:ext cx="7343775" cy="714375"/>
          </a:xfrm>
        </p:spPr>
        <p:txBody>
          <a:bodyPr>
            <a:normAutofit fontScale="25000" lnSpcReduction="20000"/>
          </a:bodyPr>
          <a:lstStyle/>
          <a:p>
            <a:pPr lvl="0" defTabSz="457200">
              <a:spcBef>
                <a:spcPct val="0"/>
              </a:spcBef>
              <a:spcAft>
                <a:spcPts val="600"/>
              </a:spcAft>
              <a:defRPr/>
            </a:pPr>
            <a:r>
              <a:rPr lang="pt-BR" sz="14400" dirty="0">
                <a:latin typeface="Verdana"/>
                <a:cs typeface="Verdana"/>
              </a:rPr>
              <a:t>Elementos de Sistemas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3"/>
          </p:nvPr>
        </p:nvSpPr>
        <p:spPr/>
        <p:txBody>
          <a:bodyPr/>
          <a:lstStyle/>
          <a:p>
            <a:r>
              <a:rPr lang="pt-BR" dirty="0">
                <a:latin typeface="Verdana"/>
                <a:cs typeface="Verdana"/>
              </a:rPr>
              <a:t>Operações em Pilhas</a:t>
            </a:r>
          </a:p>
          <a:p>
            <a:endParaRPr lang="pt-BR" dirty="0"/>
          </a:p>
        </p:txBody>
      </p:sp>
      <p:sp>
        <p:nvSpPr>
          <p:cNvPr id="5" name="Rectangle 4"/>
          <p:cNvSpPr/>
          <p:nvPr/>
        </p:nvSpPr>
        <p:spPr>
          <a:xfrm>
            <a:off x="50800" y="4539921"/>
            <a:ext cx="9093200" cy="8771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1650" dirty="0">
                <a:solidFill>
                  <a:schemeClr val="bg1"/>
                </a:solidFill>
              </a:rPr>
              <a:t>"Qualquer tecnologia suficientemente avançada é indistinguível de mágica."</a:t>
            </a:r>
            <a:br>
              <a:rPr lang="pt-BR" sz="1650" dirty="0">
                <a:solidFill>
                  <a:schemeClr val="bg1"/>
                </a:solidFill>
              </a:rPr>
            </a:br>
            <a:r>
              <a:rPr lang="en-US" sz="1650" dirty="0">
                <a:solidFill>
                  <a:schemeClr val="bg1"/>
                </a:solidFill>
              </a:rPr>
              <a:t>"Any sufficiently advanced technology is indistinguishable from magic."</a:t>
            </a:r>
          </a:p>
          <a:p>
            <a:r>
              <a:rPr lang="en-US" sz="1650" b="1" dirty="0">
                <a:solidFill>
                  <a:schemeClr val="bg1"/>
                </a:solidFill>
              </a:rPr>
              <a:t>Arthur C. Clarke </a:t>
            </a:r>
            <a:r>
              <a:rPr lang="en-US" sz="1650" dirty="0">
                <a:solidFill>
                  <a:schemeClr val="bg1"/>
                </a:solidFill>
              </a:rPr>
              <a:t>(1917-2008), </a:t>
            </a:r>
            <a:r>
              <a:rPr lang="pt-BR" sz="1650" dirty="0">
                <a:solidFill>
                  <a:schemeClr val="bg1"/>
                </a:solidFill>
              </a:rPr>
              <a:t>Escritor Britânico</a:t>
            </a:r>
          </a:p>
        </p:txBody>
      </p:sp>
      <p:sp>
        <p:nvSpPr>
          <p:cNvPr id="8" name="Espaço Reservado para Conteúdo 3"/>
          <p:cNvSpPr>
            <a:spLocks noGrp="1"/>
          </p:cNvSpPr>
          <p:nvPr>
            <p:ph idx="14"/>
          </p:nvPr>
        </p:nvSpPr>
        <p:spPr>
          <a:xfrm>
            <a:off x="900111" y="6233375"/>
            <a:ext cx="7343775" cy="361099"/>
          </a:xfrm>
        </p:spPr>
        <p:txBody>
          <a:bodyPr>
            <a:normAutofit/>
          </a:bodyPr>
          <a:lstStyle/>
          <a:p>
            <a:pPr algn="r"/>
            <a:r>
              <a:rPr lang="pt-BR" dirty="0"/>
              <a:t>Ciência da Computação - Luciano Soares </a:t>
            </a:r>
            <a:r>
              <a:rPr lang="pt-BR" dirty="0">
                <a:solidFill>
                  <a:schemeClr val="tx2">
                    <a:lumMod val="40000"/>
                    <a:lumOff val="60000"/>
                  </a:schemeClr>
                </a:solidFill>
                <a:hlinkClick r:id="rId3" invalidUrl="mailto:lpsoares@insper.edu.br?subject=e-mail professor Luciano Soares"/>
              </a:rPr>
              <a:t>&lt;lpsoares@insper.edu.br&gt;</a:t>
            </a:r>
            <a:endParaRPr lang="pt-BR" dirty="0">
              <a:solidFill>
                <a:schemeClr val="tx2">
                  <a:lumMod val="40000"/>
                  <a:lumOff val="60000"/>
                </a:schemeClr>
              </a:solidFill>
            </a:endParaRPr>
          </a:p>
          <a:p>
            <a:pPr algn="r"/>
            <a:endParaRPr lang="pt-BR" dirty="0"/>
          </a:p>
          <a:p>
            <a:pPr algn="r"/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0785666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dirty="0"/>
              <a:t>Ken Thompson e Dennis Ritchie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BR" sz="2400" dirty="0"/>
              <a:t>Ken Thompson e Dennis Ritchie participaram da criação do Unix nos Bell Labs. Ritchie desenvolveu C a partir da linguagem B de Thompson</a:t>
            </a:r>
            <a:r>
              <a:rPr lang="pt-BR" sz="2400" dirty="0"/>
              <a:t>.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FFE5E5C-C80A-4D8D-A711-3102A7BA9258}" type="slidenum">
              <a:rPr lang="pt-BR" smtClean="0"/>
              <a:pPr/>
              <a:t>2</a:t>
            </a:fld>
            <a:endParaRPr lang="pt-BR" dirty="0"/>
          </a:p>
        </p:txBody>
      </p:sp>
      <p:sp>
        <p:nvSpPr>
          <p:cNvPr id="7" name="Rectangle 6"/>
          <p:cNvSpPr/>
          <p:nvPr/>
        </p:nvSpPr>
        <p:spPr>
          <a:xfrm>
            <a:off x="2951692" y="5528705"/>
            <a:ext cx="158735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dirty="0"/>
              <a:t>Ken Thompson</a:t>
            </a:r>
          </a:p>
        </p:txBody>
      </p:sp>
      <p:pic>
        <p:nvPicPr>
          <p:cNvPr id="9" name="Picture 8" descr="Ken_n_dennis.jp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51692" y="3039903"/>
            <a:ext cx="3779520" cy="2450592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5209341" y="5514873"/>
            <a:ext cx="152187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dirty="0"/>
              <a:t>Dennis Ritchie</a:t>
            </a:r>
          </a:p>
        </p:txBody>
      </p:sp>
    </p:spTree>
    <p:extLst>
      <p:ext uri="{BB962C8B-B14F-4D97-AF65-F5344CB8AC3E}">
        <p14:creationId xmlns:p14="http://schemas.microsoft.com/office/powerpoint/2010/main" val="308941298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Lua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57225" y="1485900"/>
            <a:ext cx="8207375" cy="4724400"/>
          </a:xfrm>
        </p:spPr>
        <p:txBody>
          <a:bodyPr>
            <a:normAutofit/>
          </a:bodyPr>
          <a:lstStyle/>
          <a:p>
            <a:pPr>
              <a:spcAft>
                <a:spcPts val="1000"/>
              </a:spcAft>
            </a:pPr>
            <a:r>
              <a:rPr lang="pt-BR" sz="2200" dirty="0"/>
              <a:t>Lua é uma linguagem de script compacta, que suporta programação procedural, programação orientada a objetos, programação funcional, dentre outras.</a:t>
            </a:r>
          </a:p>
          <a:p>
            <a:pPr>
              <a:spcAft>
                <a:spcPts val="1000"/>
              </a:spcAft>
            </a:pPr>
            <a:r>
              <a:rPr lang="pt-BR" sz="2200" dirty="0"/>
              <a:t>Programas Lua são executados através da interpretação de um </a:t>
            </a:r>
            <a:r>
              <a:rPr lang="pt-BR" sz="2200" dirty="0" err="1"/>
              <a:t>bytecode</a:t>
            </a:r>
            <a:r>
              <a:rPr lang="pt-BR" sz="2200" dirty="0"/>
              <a:t> com uma máquina virtual baseada em registradores. A linguagem é muito usada para arquivos </a:t>
            </a:r>
            <a:br>
              <a:rPr lang="pt-BR" sz="2200" dirty="0"/>
            </a:br>
            <a:r>
              <a:rPr lang="pt-BR" sz="2200" dirty="0"/>
              <a:t>de configuração, scripts e prototipagem rápida.</a:t>
            </a:r>
          </a:p>
          <a:p>
            <a:pPr>
              <a:spcAft>
                <a:spcPts val="1000"/>
              </a:spcAft>
            </a:pPr>
            <a:r>
              <a:rPr lang="en-BR" sz="2200" dirty="0"/>
              <a:t>Lua exemplifica uma VM baseada </a:t>
            </a:r>
            <a:br>
              <a:rPr lang="en-BR" sz="2200" dirty="0"/>
            </a:br>
            <a:r>
              <a:rPr lang="en-BR" sz="2200" dirty="0"/>
              <a:t>em registradores; a VM que </a:t>
            </a:r>
            <a:br>
              <a:rPr lang="en-BR" sz="2200" dirty="0"/>
            </a:br>
            <a:r>
              <a:rPr lang="en-BR" sz="2200" dirty="0"/>
              <a:t>estudaremos é baseada em pilha.</a:t>
            </a:r>
          </a:p>
          <a:p>
            <a:pPr>
              <a:spcAft>
                <a:spcPts val="1000"/>
              </a:spcAft>
            </a:pPr>
            <a:endParaRPr lang="pt-BR" sz="2200" dirty="0"/>
          </a:p>
          <a:p>
            <a:pPr>
              <a:spcAft>
                <a:spcPts val="1000"/>
              </a:spcAft>
            </a:pPr>
            <a:endParaRPr lang="pt-BR" sz="2200" dirty="0"/>
          </a:p>
          <a:p>
            <a:pPr>
              <a:spcAft>
                <a:spcPts val="1000"/>
              </a:spcAft>
            </a:pPr>
            <a:endParaRPr lang="pt-BR" sz="2200" dirty="0"/>
          </a:p>
          <a:p>
            <a:pPr>
              <a:spcAft>
                <a:spcPts val="1000"/>
              </a:spcAft>
            </a:pPr>
            <a:endParaRPr lang="pt-BR" sz="220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FFE5E5C-C80A-4D8D-A711-3102A7BA9258}" type="slidenum">
              <a:rPr lang="pt-BR" smtClean="0"/>
              <a:pPr/>
              <a:t>3</a:t>
            </a:fld>
            <a:endParaRPr lang="pt-BR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37896" y="4522027"/>
            <a:ext cx="3126704" cy="1700145"/>
          </a:xfrm>
          <a:prstGeom prst="rect">
            <a:avLst/>
          </a:prstGeom>
        </p:spPr>
      </p:pic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79388372"/>
              </p:ext>
            </p:extLst>
          </p:nvPr>
        </p:nvGraphicFramePr>
        <p:xfrm>
          <a:off x="5737896" y="6222172"/>
          <a:ext cx="2268929" cy="304800"/>
        </p:xfrm>
        <a:graphic>
          <a:graphicData uri="http://schemas.openxmlformats.org/drawingml/2006/table">
            <a:tbl>
              <a:tblPr/>
              <a:tblGrid>
                <a:gridCol w="226892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fontAlgn="t"/>
                      <a:r>
                        <a:rPr lang="en-US" sz="1400" dirty="0" err="1">
                          <a:effectLst/>
                        </a:rPr>
                        <a:t>Waldemar</a:t>
                      </a:r>
                      <a:r>
                        <a:rPr lang="en-US" sz="1400" dirty="0">
                          <a:effectLst/>
                        </a:rPr>
                        <a:t>, Roberto, Luiz</a:t>
                      </a: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8" name="Rectangle 1"/>
          <p:cNvSpPr>
            <a:spLocks noChangeArrowheads="1"/>
          </p:cNvSpPr>
          <p:nvPr/>
        </p:nvSpPr>
        <p:spPr bwMode="auto">
          <a:xfrm>
            <a:off x="552450" y="5212382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x-none" altLang="x-none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rPr>
            </a:br>
            <a:endParaRPr kumimoji="0" lang="x-none" altLang="x-none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51600" y="260276"/>
            <a:ext cx="1238876" cy="12388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996374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Motivação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55683" name="Text Box 3"/>
          <p:cNvSpPr txBox="1">
            <a:spLocks noChangeArrowheads="1"/>
          </p:cNvSpPr>
          <p:nvPr/>
        </p:nvSpPr>
        <p:spPr bwMode="auto">
          <a:xfrm>
            <a:off x="179389" y="1425317"/>
            <a:ext cx="4534280" cy="5168113"/>
          </a:xfrm>
          <a:prstGeom prst="rect">
            <a:avLst/>
          </a:prstGeom>
          <a:solidFill>
            <a:srgbClr val="F3F3FF"/>
          </a:solidFill>
          <a:ln w="9525">
            <a:solidFill>
              <a:srgbClr val="293973"/>
            </a:solidFill>
            <a:miter lim="800000"/>
            <a:headEnd/>
            <a:tailEnd/>
          </a:ln>
          <a:effectLst>
            <a:outerShdw blurRad="63500" dist="89803" dir="2700000" algn="ctr" rotWithShape="0">
              <a:srgbClr val="293973">
                <a:alpha val="74998"/>
              </a:srgbClr>
            </a:outerShdw>
          </a:effectLst>
        </p:spPr>
        <p:txBody>
          <a:bodyPr lIns="93600" tIns="190800" rIns="93600" bIns="190800"/>
          <a:lstStyle>
            <a:lvl1pPr marL="342900" indent="-3429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just" eaLnBrk="1" hangingPunct="1">
              <a:lnSpc>
                <a:spcPct val="50000"/>
              </a:lnSpc>
              <a:spcBef>
                <a:spcPct val="65000"/>
              </a:spcBef>
            </a:pPr>
            <a:r>
              <a:rPr lang="en-US" sz="1200" b="1" noProof="1">
                <a:latin typeface="Courier New" charset="0"/>
                <a:cs typeface="Times New Roman" charset="0"/>
              </a:rPr>
              <a:t>class Main {</a:t>
            </a:r>
          </a:p>
          <a:p>
            <a:pPr algn="just" eaLnBrk="1" hangingPunct="1">
              <a:lnSpc>
                <a:spcPct val="50000"/>
              </a:lnSpc>
              <a:spcBef>
                <a:spcPct val="65000"/>
              </a:spcBef>
            </a:pPr>
            <a:r>
              <a:rPr lang="en-US" sz="1200" b="1" noProof="1">
                <a:latin typeface="Courier New" charset="0"/>
                <a:cs typeface="Times New Roman" charset="0"/>
              </a:rPr>
              <a:t>  static int x;</a:t>
            </a:r>
          </a:p>
          <a:p>
            <a:pPr algn="just" eaLnBrk="1" hangingPunct="1">
              <a:lnSpc>
                <a:spcPct val="50000"/>
              </a:lnSpc>
              <a:spcBef>
                <a:spcPct val="65000"/>
              </a:spcBef>
            </a:pPr>
            <a:endParaRPr lang="en-US" sz="1200" b="1" noProof="1">
              <a:latin typeface="Courier New" charset="0"/>
              <a:cs typeface="Times New Roman" charset="0"/>
            </a:endParaRPr>
          </a:p>
          <a:p>
            <a:pPr algn="just" eaLnBrk="1" hangingPunct="1">
              <a:lnSpc>
                <a:spcPct val="50000"/>
              </a:lnSpc>
              <a:spcBef>
                <a:spcPct val="65000"/>
              </a:spcBef>
            </a:pPr>
            <a:r>
              <a:rPr lang="en-US" sz="1200" b="1" noProof="1">
                <a:latin typeface="Courier New" charset="0"/>
                <a:cs typeface="Times New Roman" charset="0"/>
              </a:rPr>
              <a:t>  function void main() {</a:t>
            </a:r>
            <a:endParaRPr lang="en-US" sz="1200" b="1" noProof="1">
              <a:solidFill>
                <a:srgbClr val="000000"/>
              </a:solidFill>
              <a:latin typeface="Arial Unicode MS" charset="0"/>
              <a:cs typeface="Arial Unicode MS" charset="0"/>
            </a:endParaRPr>
          </a:p>
          <a:p>
            <a:pPr algn="just" eaLnBrk="1" hangingPunct="1">
              <a:lnSpc>
                <a:spcPct val="50000"/>
              </a:lnSpc>
              <a:spcBef>
                <a:spcPct val="65000"/>
              </a:spcBef>
            </a:pPr>
            <a:r>
              <a:rPr lang="en-US" sz="1200" b="1" noProof="1">
                <a:latin typeface="Courier New" charset="0"/>
                <a:cs typeface="Times New Roman" charset="0"/>
              </a:rPr>
              <a:t>    </a:t>
            </a:r>
            <a:r>
              <a:rPr lang="en-US" sz="1200" b="1" noProof="1">
                <a:latin typeface="Courier New" charset="0"/>
                <a:cs typeface="Courier New" charset="0"/>
              </a:rPr>
              <a:t>// Input and multiply 2 numbers</a:t>
            </a:r>
          </a:p>
          <a:p>
            <a:pPr algn="just" eaLnBrk="1" hangingPunct="1">
              <a:lnSpc>
                <a:spcPct val="50000"/>
              </a:lnSpc>
              <a:spcBef>
                <a:spcPct val="65000"/>
              </a:spcBef>
            </a:pPr>
            <a:r>
              <a:rPr lang="en-US" sz="1200" b="1" noProof="1">
                <a:latin typeface="Courier New" charset="0"/>
                <a:cs typeface="Courier New" charset="0"/>
              </a:rPr>
              <a:t>    var int a, b, x;</a:t>
            </a:r>
          </a:p>
          <a:p>
            <a:pPr algn="l" eaLnBrk="1" hangingPunct="1">
              <a:lnSpc>
                <a:spcPct val="50000"/>
              </a:lnSpc>
              <a:spcBef>
                <a:spcPct val="65000"/>
              </a:spcBef>
            </a:pPr>
            <a:r>
              <a:rPr lang="en-US" sz="1200" b="1" noProof="1">
                <a:latin typeface="Courier New" charset="0"/>
                <a:cs typeface="Courier New" charset="0"/>
              </a:rPr>
              <a:t>    let a = </a:t>
            </a:r>
            <a:r>
              <a:rPr lang="en-US" sz="1200" b="1" noProof="1">
                <a:latin typeface="Courier New" charset="0"/>
                <a:cs typeface="Times New Roman" charset="0"/>
              </a:rPr>
              <a:t>Keyboard.readInt("Enter a number");</a:t>
            </a:r>
            <a:r>
              <a:rPr lang="en-US" sz="1200" b="1" noProof="1">
                <a:latin typeface="Courier New" charset="0"/>
                <a:cs typeface="Courier New" charset="0"/>
              </a:rPr>
              <a:t> </a:t>
            </a:r>
          </a:p>
          <a:p>
            <a:pPr algn="l" eaLnBrk="1" hangingPunct="1">
              <a:lnSpc>
                <a:spcPct val="50000"/>
              </a:lnSpc>
              <a:spcBef>
                <a:spcPct val="65000"/>
              </a:spcBef>
            </a:pPr>
            <a:r>
              <a:rPr lang="en-US" sz="1200" b="1" noProof="1">
                <a:latin typeface="Courier New" charset="0"/>
                <a:cs typeface="Courier New" charset="0"/>
              </a:rPr>
              <a:t>    let b = </a:t>
            </a:r>
            <a:r>
              <a:rPr lang="en-US" sz="1200" b="1" noProof="1">
                <a:latin typeface="Courier New" charset="0"/>
                <a:cs typeface="Times New Roman" charset="0"/>
              </a:rPr>
              <a:t>Keyboard.readInt("Enter a number");</a:t>
            </a:r>
            <a:r>
              <a:rPr lang="en-US" sz="1200" b="1" noProof="1">
                <a:latin typeface="Courier New" charset="0"/>
                <a:cs typeface="Courier New" charset="0"/>
              </a:rPr>
              <a:t> </a:t>
            </a:r>
          </a:p>
          <a:p>
            <a:pPr algn="l" eaLnBrk="1" hangingPunct="1">
              <a:lnSpc>
                <a:spcPct val="50000"/>
              </a:lnSpc>
              <a:spcBef>
                <a:spcPct val="65000"/>
              </a:spcBef>
            </a:pPr>
            <a:r>
              <a:rPr lang="en-US" sz="1200" b="1" noProof="1">
                <a:latin typeface="Courier New" charset="0"/>
                <a:cs typeface="Courier New" charset="0"/>
              </a:rPr>
              <a:t>    let x = mult(a,b);</a:t>
            </a:r>
          </a:p>
          <a:p>
            <a:pPr algn="l" eaLnBrk="1" hangingPunct="1">
              <a:lnSpc>
                <a:spcPct val="50000"/>
              </a:lnSpc>
              <a:spcBef>
                <a:spcPct val="65000"/>
              </a:spcBef>
            </a:pPr>
            <a:r>
              <a:rPr lang="en-US" sz="1200" b="1" noProof="1">
                <a:latin typeface="Courier New" charset="0"/>
                <a:cs typeface="Times New Roman" charset="0"/>
              </a:rPr>
              <a:t>    return;</a:t>
            </a:r>
            <a:endParaRPr lang="en-US" sz="1200" b="1" noProof="1">
              <a:solidFill>
                <a:srgbClr val="000000"/>
              </a:solidFill>
              <a:latin typeface="Arial Unicode MS" charset="0"/>
              <a:cs typeface="Arial Unicode MS" charset="0"/>
            </a:endParaRPr>
          </a:p>
          <a:p>
            <a:pPr algn="just" eaLnBrk="1" hangingPunct="1">
              <a:lnSpc>
                <a:spcPct val="50000"/>
              </a:lnSpc>
              <a:spcBef>
                <a:spcPct val="65000"/>
              </a:spcBef>
            </a:pPr>
            <a:r>
              <a:rPr lang="en-US" sz="1200" b="1" noProof="1">
                <a:latin typeface="Courier New" charset="0"/>
                <a:cs typeface="Times New Roman" charset="0"/>
              </a:rPr>
              <a:t>  }</a:t>
            </a:r>
          </a:p>
          <a:p>
            <a:pPr algn="just" eaLnBrk="1" hangingPunct="1">
              <a:lnSpc>
                <a:spcPct val="50000"/>
              </a:lnSpc>
              <a:spcBef>
                <a:spcPct val="65000"/>
              </a:spcBef>
            </a:pPr>
            <a:endParaRPr lang="en-US" sz="1200" b="1" noProof="1">
              <a:latin typeface="Courier New" charset="0"/>
              <a:cs typeface="Times New Roman" charset="0"/>
            </a:endParaRPr>
          </a:p>
          <a:p>
            <a:pPr algn="just" eaLnBrk="1" hangingPunct="1">
              <a:lnSpc>
                <a:spcPct val="50000"/>
              </a:lnSpc>
              <a:spcBef>
                <a:spcPct val="65000"/>
              </a:spcBef>
            </a:pPr>
            <a:r>
              <a:rPr lang="en-US" sz="1200" b="1" noProof="1">
                <a:latin typeface="Courier New" charset="0"/>
                <a:cs typeface="Times New Roman" charset="0"/>
              </a:rPr>
              <a:t>  // Multiplies two numbers. </a:t>
            </a:r>
          </a:p>
          <a:p>
            <a:pPr algn="just" eaLnBrk="1" hangingPunct="1">
              <a:lnSpc>
                <a:spcPct val="50000"/>
              </a:lnSpc>
              <a:spcBef>
                <a:spcPct val="65000"/>
              </a:spcBef>
            </a:pPr>
            <a:r>
              <a:rPr lang="en-US" sz="1200" b="1" noProof="1">
                <a:latin typeface="Courier New" charset="0"/>
                <a:cs typeface="Times New Roman" charset="0"/>
              </a:rPr>
              <a:t>  function int mult(int x, int y) {</a:t>
            </a:r>
            <a:endParaRPr lang="en-US" sz="1200" b="1" noProof="1">
              <a:solidFill>
                <a:srgbClr val="000000"/>
              </a:solidFill>
              <a:latin typeface="Arial Unicode MS" charset="0"/>
              <a:cs typeface="Arial Unicode MS" charset="0"/>
            </a:endParaRPr>
          </a:p>
          <a:p>
            <a:pPr algn="just" eaLnBrk="1" hangingPunct="1">
              <a:lnSpc>
                <a:spcPct val="50000"/>
              </a:lnSpc>
              <a:spcBef>
                <a:spcPct val="65000"/>
              </a:spcBef>
            </a:pPr>
            <a:r>
              <a:rPr lang="en-US" sz="1200" b="1" noProof="1">
                <a:latin typeface="Courier New" charset="0"/>
                <a:cs typeface="Courier New" charset="0"/>
              </a:rPr>
              <a:t>    var int result, j;</a:t>
            </a:r>
          </a:p>
          <a:p>
            <a:pPr algn="l" eaLnBrk="1" hangingPunct="1">
              <a:spcBef>
                <a:spcPct val="10000"/>
              </a:spcBef>
              <a:buClr>
                <a:srgbClr val="000099"/>
              </a:buClr>
              <a:buFont typeface="Wingdings" charset="0"/>
              <a:buNone/>
            </a:pPr>
            <a:r>
              <a:rPr lang="en-US" sz="1200" b="1" noProof="1">
                <a:latin typeface="Courier New" charset="0"/>
                <a:cs typeface="Courier New" charset="0"/>
              </a:rPr>
              <a:t>    let result = 0; let j = y;</a:t>
            </a:r>
          </a:p>
          <a:p>
            <a:pPr algn="l" eaLnBrk="1" hangingPunct="1">
              <a:spcBef>
                <a:spcPct val="10000"/>
              </a:spcBef>
              <a:buClr>
                <a:srgbClr val="000099"/>
              </a:buClr>
              <a:buFont typeface="Wingdings" charset="0"/>
              <a:buNone/>
            </a:pPr>
            <a:r>
              <a:rPr lang="en-US" sz="1200" b="1" noProof="1">
                <a:latin typeface="Courier New" charset="0"/>
                <a:cs typeface="Courier New" charset="0"/>
              </a:rPr>
              <a:t>    while (~(j = 0)) {</a:t>
            </a:r>
          </a:p>
          <a:p>
            <a:pPr algn="l" eaLnBrk="1" hangingPunct="1">
              <a:spcBef>
                <a:spcPct val="10000"/>
              </a:spcBef>
              <a:buClr>
                <a:srgbClr val="000099"/>
              </a:buClr>
              <a:buFont typeface="Wingdings" charset="0"/>
              <a:buNone/>
            </a:pPr>
            <a:r>
              <a:rPr lang="en-US" sz="1200" b="1" noProof="1">
                <a:latin typeface="Courier New" charset="0"/>
                <a:cs typeface="Courier New" charset="0"/>
              </a:rPr>
              <a:t>      let result = result + x;</a:t>
            </a:r>
          </a:p>
          <a:p>
            <a:pPr algn="l" eaLnBrk="1" hangingPunct="1">
              <a:spcBef>
                <a:spcPct val="10000"/>
              </a:spcBef>
              <a:buClr>
                <a:srgbClr val="000099"/>
              </a:buClr>
              <a:buFont typeface="Wingdings" charset="0"/>
              <a:buNone/>
            </a:pPr>
            <a:r>
              <a:rPr lang="en-US" sz="1200" b="1" noProof="1">
                <a:latin typeface="Courier New" charset="0"/>
                <a:cs typeface="Courier New" charset="0"/>
              </a:rPr>
              <a:t>      let j = j – 1;</a:t>
            </a:r>
          </a:p>
          <a:p>
            <a:pPr algn="l" eaLnBrk="1" hangingPunct="1">
              <a:spcBef>
                <a:spcPct val="10000"/>
              </a:spcBef>
              <a:buClr>
                <a:srgbClr val="000099"/>
              </a:buClr>
              <a:buFont typeface="Wingdings" charset="0"/>
              <a:buNone/>
            </a:pPr>
            <a:r>
              <a:rPr lang="en-US" sz="1200" b="1" noProof="1">
                <a:latin typeface="Courier New" charset="0"/>
                <a:cs typeface="Courier New" charset="0"/>
              </a:rPr>
              <a:t>    }</a:t>
            </a:r>
          </a:p>
          <a:p>
            <a:pPr algn="l" eaLnBrk="1" hangingPunct="1">
              <a:spcBef>
                <a:spcPct val="10000"/>
              </a:spcBef>
              <a:buClr>
                <a:srgbClr val="000099"/>
              </a:buClr>
              <a:buFont typeface="Wingdings" charset="0"/>
              <a:buNone/>
            </a:pPr>
            <a:r>
              <a:rPr lang="en-US" sz="1200" b="1" noProof="1">
                <a:latin typeface="Courier New" charset="0"/>
                <a:cs typeface="Courier New" charset="0"/>
              </a:rPr>
              <a:t>    return result;</a:t>
            </a:r>
          </a:p>
          <a:p>
            <a:pPr algn="l" eaLnBrk="1" hangingPunct="1">
              <a:spcBef>
                <a:spcPct val="10000"/>
              </a:spcBef>
              <a:buClr>
                <a:srgbClr val="000099"/>
              </a:buClr>
              <a:buFont typeface="Wingdings" charset="0"/>
              <a:buNone/>
            </a:pPr>
            <a:r>
              <a:rPr lang="en-US" sz="1200" b="1" noProof="1">
                <a:latin typeface="Courier New" charset="0"/>
                <a:cs typeface="Courier New" charset="0"/>
              </a:rPr>
              <a:t>  }</a:t>
            </a:r>
          </a:p>
          <a:p>
            <a:pPr algn="l" eaLnBrk="1" hangingPunct="1">
              <a:spcBef>
                <a:spcPct val="10000"/>
              </a:spcBef>
              <a:buClr>
                <a:srgbClr val="000099"/>
              </a:buClr>
              <a:buFont typeface="Wingdings" charset="0"/>
              <a:buNone/>
            </a:pPr>
            <a:r>
              <a:rPr lang="en-US" sz="1200" b="1" noProof="1">
                <a:latin typeface="Courier New" charset="0"/>
                <a:cs typeface="Courier New" charset="0"/>
              </a:rPr>
              <a:t>}</a:t>
            </a:r>
          </a:p>
        </p:txBody>
      </p:sp>
      <p:grpSp>
        <p:nvGrpSpPr>
          <p:cNvPr id="455684" name="Group 4"/>
          <p:cNvGrpSpPr>
            <a:grpSpLocks/>
          </p:cNvGrpSpPr>
          <p:nvPr/>
        </p:nvGrpSpPr>
        <p:grpSpPr bwMode="auto">
          <a:xfrm>
            <a:off x="4863314" y="1601355"/>
            <a:ext cx="4125911" cy="4662240"/>
            <a:chOff x="3315" y="740"/>
            <a:chExt cx="2599" cy="3069"/>
          </a:xfrm>
        </p:grpSpPr>
        <p:sp>
          <p:nvSpPr>
            <p:cNvPr id="4101" name="Text Box 5"/>
            <p:cNvSpPr txBox="1">
              <a:spLocks noChangeArrowheads="1"/>
            </p:cNvSpPr>
            <p:nvPr/>
          </p:nvSpPr>
          <p:spPr bwMode="auto">
            <a:xfrm>
              <a:off x="4772" y="740"/>
              <a:ext cx="1142" cy="3069"/>
            </a:xfrm>
            <a:prstGeom prst="rect">
              <a:avLst/>
            </a:prstGeom>
            <a:solidFill>
              <a:srgbClr val="F3F3FF"/>
            </a:solidFill>
            <a:ln w="9525">
              <a:solidFill>
                <a:srgbClr val="293973"/>
              </a:solidFill>
              <a:miter lim="800000"/>
              <a:headEnd/>
              <a:tailEnd/>
            </a:ln>
            <a:effectLst>
              <a:outerShdw blurRad="63500" dist="89803" dir="2700000" algn="ctr" rotWithShape="0">
                <a:srgbClr val="293973">
                  <a:alpha val="74998"/>
                </a:srgbClr>
              </a:outerShdw>
            </a:effectLst>
          </p:spPr>
          <p:txBody>
            <a:bodyPr lIns="201600" tIns="190800" rIns="0" bIns="190800"/>
            <a:lstStyle>
              <a:lvl1pPr marL="342900" indent="-3429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algn="l">
                <a:buClr>
                  <a:srgbClr val="006600"/>
                </a:buClr>
                <a:buSzPct val="85000"/>
                <a:buFont typeface="Wingdings" charset="0"/>
                <a:buNone/>
              </a:pPr>
              <a:r>
                <a:rPr lang="en-US" sz="1200" b="1" noProof="1">
                  <a:solidFill>
                    <a:srgbClr val="000000"/>
                  </a:solidFill>
                  <a:latin typeface="Courier New" charset="0"/>
                  <a:cs typeface="Times New Roman" charset="0"/>
                </a:rPr>
                <a:t>  ...</a:t>
              </a:r>
            </a:p>
            <a:p>
              <a:pPr algn="l">
                <a:buClr>
                  <a:srgbClr val="006600"/>
                </a:buClr>
                <a:buSzPct val="85000"/>
                <a:buFont typeface="Wingdings" charset="0"/>
                <a:buNone/>
              </a:pPr>
              <a:r>
                <a:rPr lang="en-US" sz="1200" b="1" noProof="1">
                  <a:solidFill>
                    <a:srgbClr val="000000"/>
                  </a:solidFill>
                  <a:latin typeface="Courier New" charset="0"/>
                  <a:cs typeface="Times New Roman" charset="0"/>
                </a:rPr>
                <a:t>  leaw $a,%A</a:t>
              </a:r>
            </a:p>
            <a:p>
              <a:pPr algn="l">
                <a:buClr>
                  <a:srgbClr val="006600"/>
                </a:buClr>
                <a:buSzPct val="85000"/>
                <a:buFont typeface="Wingdings" charset="0"/>
                <a:buNone/>
              </a:pPr>
              <a:r>
                <a:rPr lang="en-US" sz="1200" b="1" noProof="1">
                  <a:solidFill>
                    <a:srgbClr val="000000"/>
                  </a:solidFill>
                  <a:latin typeface="Courier New" charset="0"/>
                  <a:cs typeface="Times New Roman" charset="0"/>
                </a:rPr>
                <a:t>  movw %D,(%A)</a:t>
              </a:r>
            </a:p>
            <a:p>
              <a:pPr>
                <a:buClr>
                  <a:srgbClr val="006600"/>
                </a:buClr>
                <a:buSzPct val="85000"/>
              </a:pPr>
              <a:r>
                <a:rPr lang="en-US" sz="1200" b="1" noProof="1">
                  <a:solidFill>
                    <a:srgbClr val="000000"/>
                  </a:solidFill>
                  <a:latin typeface="Courier New" charset="0"/>
                  <a:cs typeface="Times New Roman" charset="0"/>
                </a:rPr>
                <a:t>  leaw $b,%A</a:t>
              </a:r>
            </a:p>
            <a:p>
              <a:pPr algn="l">
                <a:buClr>
                  <a:srgbClr val="006600"/>
                </a:buClr>
                <a:buSzPct val="85000"/>
                <a:buFont typeface="Wingdings" charset="0"/>
                <a:buNone/>
              </a:pPr>
              <a:r>
                <a:rPr lang="en-US" sz="1200" b="1" noProof="1">
                  <a:solidFill>
                    <a:srgbClr val="000000"/>
                  </a:solidFill>
                  <a:latin typeface="Courier New" charset="0"/>
                  <a:cs typeface="Times New Roman" charset="0"/>
                </a:rPr>
                <a:t>  movw $0,(%A)</a:t>
              </a:r>
            </a:p>
            <a:p>
              <a:pPr algn="l">
                <a:buClr>
                  <a:srgbClr val="006600"/>
                </a:buClr>
                <a:buSzPct val="85000"/>
                <a:buFont typeface="Wingdings" charset="0"/>
                <a:buNone/>
              </a:pPr>
              <a:r>
                <a:rPr lang="en-US" sz="1200" b="1" noProof="1">
                  <a:solidFill>
                    <a:srgbClr val="000000"/>
                  </a:solidFill>
                  <a:latin typeface="Courier New" charset="0"/>
                  <a:cs typeface="Times New Roman" charset="0"/>
                </a:rPr>
                <a:t>LOOP: </a:t>
              </a:r>
            </a:p>
            <a:p>
              <a:pPr>
                <a:buClr>
                  <a:srgbClr val="006600"/>
                </a:buClr>
                <a:buSzPct val="85000"/>
              </a:pPr>
              <a:r>
                <a:rPr lang="en-US" sz="1200" b="1" noProof="1">
                  <a:solidFill>
                    <a:srgbClr val="000000"/>
                  </a:solidFill>
                  <a:latin typeface="Courier New" charset="0"/>
                  <a:cs typeface="Times New Roman" charset="0"/>
                </a:rPr>
                <a:t>  leaw $a,%A</a:t>
              </a:r>
            </a:p>
            <a:p>
              <a:pPr algn="l">
                <a:buClr>
                  <a:srgbClr val="006600"/>
                </a:buClr>
                <a:buSzPct val="85000"/>
                <a:buFont typeface="Wingdings" charset="0"/>
                <a:buNone/>
              </a:pPr>
              <a:r>
                <a:rPr lang="en-US" sz="1200" b="1" noProof="1">
                  <a:solidFill>
                    <a:srgbClr val="000000"/>
                  </a:solidFill>
                  <a:latin typeface="Courier New" charset="0"/>
                  <a:cs typeface="Times New Roman" charset="0"/>
                </a:rPr>
                <a:t>  movw (%A),%D</a:t>
              </a:r>
            </a:p>
            <a:p>
              <a:pPr>
                <a:buClr>
                  <a:srgbClr val="006600"/>
                </a:buClr>
                <a:buSzPct val="85000"/>
              </a:pPr>
              <a:r>
                <a:rPr lang="en-US" sz="1200" b="1" noProof="1">
                  <a:solidFill>
                    <a:srgbClr val="000000"/>
                  </a:solidFill>
                  <a:latin typeface="Courier New" charset="0"/>
                  <a:cs typeface="Times New Roman" charset="0"/>
                </a:rPr>
                <a:t>  leaw $b,%A</a:t>
              </a:r>
            </a:p>
            <a:p>
              <a:pPr algn="l">
                <a:buClr>
                  <a:srgbClr val="006600"/>
                </a:buClr>
                <a:buSzPct val="85000"/>
                <a:buFont typeface="Wingdings" charset="0"/>
                <a:buNone/>
              </a:pPr>
              <a:r>
                <a:rPr lang="en-US" sz="1200" b="1" noProof="1">
                  <a:solidFill>
                    <a:srgbClr val="000000"/>
                  </a:solidFill>
                  <a:latin typeface="Courier New" charset="0"/>
                  <a:cs typeface="Times New Roman" charset="0"/>
                </a:rPr>
                <a:t>  subw %D,%A,%D</a:t>
              </a:r>
            </a:p>
            <a:p>
              <a:pPr>
                <a:buClr>
                  <a:srgbClr val="006600"/>
                </a:buClr>
                <a:buSzPct val="85000"/>
              </a:pPr>
              <a:r>
                <a:rPr lang="en-US" sz="1200" b="1" noProof="1">
                  <a:solidFill>
                    <a:srgbClr val="000000"/>
                  </a:solidFill>
                  <a:latin typeface="Courier New" charset="0"/>
                  <a:cs typeface="Times New Roman" charset="0"/>
                </a:rPr>
                <a:t>  leaw $END,%A</a:t>
              </a:r>
            </a:p>
            <a:p>
              <a:pPr algn="l">
                <a:buClr>
                  <a:srgbClr val="006600"/>
                </a:buClr>
                <a:buSzPct val="85000"/>
                <a:buFont typeface="Wingdings" charset="0"/>
                <a:buNone/>
              </a:pPr>
              <a:r>
                <a:rPr lang="en-US" sz="1200" b="1" noProof="1">
                  <a:solidFill>
                    <a:srgbClr val="000000"/>
                  </a:solidFill>
                  <a:latin typeface="Courier New" charset="0"/>
                  <a:cs typeface="Times New Roman" charset="0"/>
                </a:rPr>
                <a:t>  jg</a:t>
              </a:r>
            </a:p>
            <a:p>
              <a:pPr>
                <a:buClr>
                  <a:srgbClr val="006600"/>
                </a:buClr>
                <a:buSzPct val="85000"/>
              </a:pPr>
              <a:r>
                <a:rPr lang="en-US" sz="1200" b="1" noProof="1">
                  <a:solidFill>
                    <a:srgbClr val="000000"/>
                  </a:solidFill>
                  <a:latin typeface="Courier New" charset="0"/>
                  <a:cs typeface="Times New Roman" charset="0"/>
                </a:rPr>
                <a:t>  leaw $j,%A</a:t>
              </a:r>
            </a:p>
            <a:p>
              <a:pPr algn="l">
                <a:buClr>
                  <a:srgbClr val="006600"/>
                </a:buClr>
                <a:buSzPct val="85000"/>
                <a:buFont typeface="Wingdings" charset="0"/>
                <a:buNone/>
              </a:pPr>
              <a:r>
                <a:rPr lang="en-US" sz="1200" b="1" noProof="1">
                  <a:solidFill>
                    <a:srgbClr val="000000"/>
                  </a:solidFill>
                  <a:latin typeface="Courier New" charset="0"/>
                  <a:cs typeface="Times New Roman" charset="0"/>
                </a:rPr>
                <a:t>  movw (%A),%D</a:t>
              </a:r>
            </a:p>
            <a:p>
              <a:pPr>
                <a:buClr>
                  <a:srgbClr val="006600"/>
                </a:buClr>
                <a:buSzPct val="85000"/>
              </a:pPr>
              <a:r>
                <a:rPr lang="en-US" sz="1200" b="1" noProof="1">
                  <a:solidFill>
                    <a:srgbClr val="000000"/>
                  </a:solidFill>
                  <a:latin typeface="Courier New" charset="0"/>
                  <a:cs typeface="Times New Roman" charset="0"/>
                </a:rPr>
                <a:t>  leaw $temp,%A</a:t>
              </a:r>
            </a:p>
            <a:p>
              <a:pPr algn="l">
                <a:buClr>
                  <a:srgbClr val="006600"/>
                </a:buClr>
                <a:buSzPct val="85000"/>
                <a:buFont typeface="Wingdings" charset="0"/>
                <a:buNone/>
              </a:pPr>
              <a:r>
                <a:rPr lang="en-US" sz="1200" b="1" noProof="1">
                  <a:solidFill>
                    <a:srgbClr val="000000"/>
                  </a:solidFill>
                  <a:latin typeface="Courier New" charset="0"/>
                  <a:cs typeface="Times New Roman" charset="0"/>
                </a:rPr>
                <a:t>  addw %D,(%A),%D</a:t>
              </a:r>
            </a:p>
            <a:p>
              <a:pPr algn="l">
                <a:buClr>
                  <a:srgbClr val="006600"/>
                </a:buClr>
                <a:buSzPct val="85000"/>
                <a:buFont typeface="Wingdings" charset="0"/>
                <a:buNone/>
              </a:pPr>
              <a:r>
                <a:rPr lang="en-US" sz="1200" b="1" noProof="1">
                  <a:solidFill>
                    <a:srgbClr val="000000"/>
                  </a:solidFill>
                  <a:latin typeface="Courier New" charset="0"/>
                  <a:cs typeface="Times New Roman" charset="0"/>
                </a:rPr>
                <a:t>  movw %D,(%A)</a:t>
              </a:r>
            </a:p>
            <a:p>
              <a:pPr>
                <a:buClr>
                  <a:srgbClr val="006600"/>
                </a:buClr>
                <a:buSzPct val="85000"/>
              </a:pPr>
              <a:r>
                <a:rPr lang="en-US" sz="1200" b="1" noProof="1">
                  <a:solidFill>
                    <a:srgbClr val="000000"/>
                  </a:solidFill>
                  <a:latin typeface="Courier New" charset="0"/>
                  <a:cs typeface="Times New Roman" charset="0"/>
                </a:rPr>
                <a:t>  leaw $j,%A</a:t>
              </a:r>
            </a:p>
            <a:p>
              <a:pPr algn="l">
                <a:buClr>
                  <a:srgbClr val="006600"/>
                </a:buClr>
                <a:buSzPct val="85000"/>
                <a:buFont typeface="Wingdings" charset="0"/>
                <a:buNone/>
              </a:pPr>
              <a:r>
                <a:rPr lang="en-US" sz="1200" b="1" noProof="1">
                  <a:solidFill>
                    <a:srgbClr val="000000"/>
                  </a:solidFill>
                  <a:latin typeface="Courier New" charset="0"/>
                  <a:cs typeface="Times New Roman" charset="0"/>
                </a:rPr>
                <a:t>  movw (%A),%D</a:t>
              </a:r>
            </a:p>
            <a:p>
              <a:pPr algn="l">
                <a:buClr>
                  <a:srgbClr val="006600"/>
                </a:buClr>
                <a:buSzPct val="85000"/>
                <a:buFont typeface="Wingdings" charset="0"/>
                <a:buNone/>
              </a:pPr>
              <a:r>
                <a:rPr lang="en-US" sz="1200" b="1" noProof="1">
                  <a:solidFill>
                    <a:srgbClr val="000000"/>
                  </a:solidFill>
                  <a:latin typeface="Courier New" charset="0"/>
                  <a:cs typeface="Times New Roman" charset="0"/>
                </a:rPr>
                <a:t>  incw %D</a:t>
              </a:r>
            </a:p>
            <a:p>
              <a:pPr algn="l">
                <a:buClr>
                  <a:srgbClr val="006600"/>
                </a:buClr>
                <a:buSzPct val="85000"/>
                <a:buFont typeface="Wingdings" charset="0"/>
                <a:buNone/>
              </a:pPr>
              <a:r>
                <a:rPr lang="en-US" sz="1200" b="1" noProof="1">
                  <a:solidFill>
                    <a:srgbClr val="000000"/>
                  </a:solidFill>
                  <a:latin typeface="Courier New" charset="0"/>
                  <a:cs typeface="Times New Roman" charset="0"/>
                </a:rPr>
                <a:t>  movw %D,(%A)</a:t>
              </a:r>
            </a:p>
            <a:p>
              <a:pPr>
                <a:buClr>
                  <a:srgbClr val="006600"/>
                </a:buClr>
                <a:buSzPct val="85000"/>
              </a:pPr>
              <a:r>
                <a:rPr lang="en-US" sz="1200" b="1" noProof="1">
                  <a:solidFill>
                    <a:srgbClr val="000000"/>
                  </a:solidFill>
                  <a:latin typeface="Courier New" charset="0"/>
                  <a:cs typeface="Times New Roman" charset="0"/>
                </a:rPr>
                <a:t>  leaw $LOOP,%A</a:t>
              </a:r>
            </a:p>
            <a:p>
              <a:pPr algn="l">
                <a:buClr>
                  <a:srgbClr val="006600"/>
                </a:buClr>
                <a:buSzPct val="85000"/>
                <a:buFont typeface="Wingdings" charset="0"/>
                <a:buNone/>
              </a:pPr>
              <a:r>
                <a:rPr lang="en-US" sz="1200" b="1" noProof="1">
                  <a:solidFill>
                    <a:srgbClr val="000000"/>
                  </a:solidFill>
                  <a:latin typeface="Courier New" charset="0"/>
                  <a:cs typeface="Times New Roman" charset="0"/>
                </a:rPr>
                <a:t>  jmp</a:t>
              </a:r>
            </a:p>
            <a:p>
              <a:pPr algn="l">
                <a:buClr>
                  <a:srgbClr val="006600"/>
                </a:buClr>
                <a:buSzPct val="85000"/>
                <a:buFont typeface="Wingdings" charset="0"/>
                <a:buNone/>
              </a:pPr>
              <a:r>
                <a:rPr lang="en-US" sz="1200" b="1" noProof="1">
                  <a:solidFill>
                    <a:srgbClr val="000000"/>
                  </a:solidFill>
                  <a:latin typeface="Courier New" charset="0"/>
                  <a:cs typeface="Times New Roman" charset="0"/>
                </a:rPr>
                <a:t>  ...</a:t>
              </a:r>
              <a:endParaRPr lang="en-US" b="1" noProof="1">
                <a:solidFill>
                  <a:srgbClr val="000000"/>
                </a:solidFill>
              </a:endParaRPr>
            </a:p>
          </p:txBody>
        </p:sp>
        <p:grpSp>
          <p:nvGrpSpPr>
            <p:cNvPr id="4102" name="Group 6"/>
            <p:cNvGrpSpPr>
              <a:grpSpLocks/>
            </p:cNvGrpSpPr>
            <p:nvPr/>
          </p:nvGrpSpPr>
          <p:grpSpPr bwMode="auto">
            <a:xfrm>
              <a:off x="3315" y="1117"/>
              <a:ext cx="1497" cy="1815"/>
              <a:chOff x="3315" y="1117"/>
              <a:chExt cx="1497" cy="1815"/>
            </a:xfrm>
          </p:grpSpPr>
          <p:sp>
            <p:nvSpPr>
              <p:cNvPr id="4103" name="Rectangle 7"/>
              <p:cNvSpPr>
                <a:spLocks noChangeArrowheads="1"/>
              </p:cNvSpPr>
              <p:nvPr/>
            </p:nvSpPr>
            <p:spPr bwMode="auto">
              <a:xfrm>
                <a:off x="3315" y="1117"/>
                <a:ext cx="1497" cy="120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lIns="92075" tIns="46038" rIns="92075" bIns="46038"/>
              <a:lstStyle/>
              <a:p>
                <a:pPr algn="l">
                  <a:spcBef>
                    <a:spcPct val="70000"/>
                  </a:spcBef>
                  <a:buClr>
                    <a:srgbClr val="006600"/>
                  </a:buClr>
                  <a:buSzPct val="100000"/>
                  <a:buFont typeface="Wingdings" charset="0"/>
                  <a:buNone/>
                </a:pPr>
                <a:r>
                  <a:rPr lang="pt-BR" sz="2000" noProof="1">
                    <a:latin typeface="Comic Sans MS" charset="0"/>
                  </a:rPr>
                  <a:t>Traduzir programas em linguagem de alto nível para um código executável.</a:t>
                </a:r>
              </a:p>
              <a:p>
                <a:pPr algn="l">
                  <a:spcBef>
                    <a:spcPct val="70000"/>
                  </a:spcBef>
                  <a:buClr>
                    <a:srgbClr val="006600"/>
                  </a:buClr>
                  <a:buSzPct val="100000"/>
                  <a:buFont typeface="Wingdings" charset="0"/>
                  <a:buNone/>
                </a:pPr>
                <a:endParaRPr lang="pt-BR" sz="2000" noProof="1">
                  <a:latin typeface="Comic Sans MS" charset="0"/>
                </a:endParaRPr>
              </a:p>
            </p:txBody>
          </p:sp>
          <p:sp>
            <p:nvSpPr>
              <p:cNvPr id="4104" name="AutoShape 8"/>
              <p:cNvSpPr>
                <a:spLocks noChangeArrowheads="1"/>
              </p:cNvSpPr>
              <p:nvPr/>
            </p:nvSpPr>
            <p:spPr bwMode="auto">
              <a:xfrm>
                <a:off x="3347" y="2206"/>
                <a:ext cx="1361" cy="726"/>
              </a:xfrm>
              <a:prstGeom prst="rightArrow">
                <a:avLst>
                  <a:gd name="adj1" fmla="val 50000"/>
                  <a:gd name="adj2" fmla="val 46866"/>
                </a:avLst>
              </a:prstGeom>
              <a:solidFill>
                <a:srgbClr val="990000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r>
                  <a:rPr lang="en-US" b="1" noProof="1">
                    <a:solidFill>
                      <a:schemeClr val="bg1"/>
                    </a:solidFill>
                  </a:rPr>
                  <a:t>Compilar</a:t>
                </a:r>
              </a:p>
            </p:txBody>
          </p:sp>
        </p:grpSp>
      </p:grpSp>
    </p:spTree>
    <p:custDataLst>
      <p:tags r:id="rId1"/>
    </p:custDataLst>
    <p:extLst>
      <p:ext uri="{BB962C8B-B14F-4D97-AF65-F5344CB8AC3E}">
        <p14:creationId xmlns:p14="http://schemas.microsoft.com/office/powerpoint/2010/main" val="28404017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556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556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55683" grpId="0" animBg="1" autoUpdateAnimBg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Aritmética por Pilha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57225" y="1485900"/>
            <a:ext cx="8029575" cy="787400"/>
          </a:xfrm>
        </p:spPr>
        <p:txBody>
          <a:bodyPr>
            <a:normAutofit/>
          </a:bodyPr>
          <a:lstStyle/>
          <a:p>
            <a:r>
              <a:rPr lang="pt-BR" sz="2400" dirty="0"/>
              <a:t>Revendo: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FFE5E5C-C80A-4D8D-A711-3102A7BA9258}" type="slidenum">
              <a:rPr lang="pt-BR" smtClean="0"/>
              <a:pPr/>
              <a:t>5</a:t>
            </a:fld>
            <a:endParaRPr lang="pt-BR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 rotWithShape="1">
          <a:blip r:embed="rId2"/>
          <a:srcRect l="5899" t="32044" r="3539" b="16572"/>
          <a:stretch/>
        </p:blipFill>
        <p:spPr>
          <a:xfrm>
            <a:off x="1435100" y="2946399"/>
            <a:ext cx="6337300" cy="21209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284854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err="1"/>
              <a:t>Stack</a:t>
            </a:r>
            <a:r>
              <a:rPr lang="pt-BR" dirty="0"/>
              <a:t>, SP e </a:t>
            </a:r>
            <a:r>
              <a:rPr lang="pt-BR" dirty="0" err="1"/>
              <a:t>Heap</a:t>
            </a:r>
            <a:endParaRPr lang="pt-BR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57225" y="1485900"/>
            <a:ext cx="8337688" cy="4724400"/>
          </a:xfrm>
        </p:spPr>
        <p:txBody>
          <a:bodyPr>
            <a:noAutofit/>
          </a:bodyPr>
          <a:lstStyle/>
          <a:p>
            <a:r>
              <a:rPr lang="pt-BR" sz="2400" b="1" dirty="0"/>
              <a:t>Stack</a:t>
            </a:r>
            <a:r>
              <a:rPr lang="pt-BR" sz="2400" dirty="0"/>
              <a:t> (pilha) é uma região de memória organizada em ordem LIFO, utilizada pela VM para operandos e resultados intermediários.</a:t>
            </a:r>
          </a:p>
          <a:p>
            <a:endParaRPr lang="pt-BR" sz="800" dirty="0"/>
          </a:p>
          <a:p>
            <a:r>
              <a:rPr lang="pt-BR" sz="2400" b="1" dirty="0"/>
              <a:t>SP</a:t>
            </a:r>
            <a:r>
              <a:rPr lang="pt-BR" sz="2400" dirty="0"/>
              <a:t> é um ponteiro que mostra o próximo local de memória disponível para armazenar um valor. As operações de </a:t>
            </a:r>
            <a:r>
              <a:rPr lang="pt-BR" sz="2400" dirty="0" err="1"/>
              <a:t>push</a:t>
            </a:r>
            <a:r>
              <a:rPr lang="pt-BR" sz="2400" dirty="0"/>
              <a:t> e pop fazem esse ponteiro aumentar e diminuir.</a:t>
            </a:r>
          </a:p>
          <a:p>
            <a:endParaRPr lang="pt-BR" sz="800" dirty="0"/>
          </a:p>
          <a:p>
            <a:r>
              <a:rPr lang="pt-BR" sz="2400" b="1" dirty="0" err="1"/>
              <a:t>Heap</a:t>
            </a:r>
            <a:r>
              <a:rPr lang="pt-BR" sz="2400" dirty="0"/>
              <a:t> é a área usada para armazenar dados dinâmicos diversos dos programas. Os programas alocam e </a:t>
            </a:r>
            <a:r>
              <a:rPr lang="pt-BR" sz="2400" dirty="0" err="1"/>
              <a:t>desalocam</a:t>
            </a:r>
            <a:r>
              <a:rPr lang="pt-BR" sz="2400" dirty="0"/>
              <a:t> memória para seu funcionamento aqui.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FFE5E5C-C80A-4D8D-A711-3102A7BA9258}" type="slidenum">
              <a:rPr lang="pt-BR" smtClean="0"/>
              <a:pPr/>
              <a:t>6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9569995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Exemplo de Memória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57226" y="1485899"/>
            <a:ext cx="5639402" cy="1543725"/>
          </a:xfrm>
        </p:spPr>
        <p:txBody>
          <a:bodyPr>
            <a:noAutofit/>
          </a:bodyPr>
          <a:lstStyle/>
          <a:p>
            <a:r>
              <a:rPr lang="pt-BR" sz="2400" dirty="0"/>
              <a:t>Quando uma constante é inserida por um PUSH, ela é armazenada diretamente na pilha.</a:t>
            </a:r>
          </a:p>
          <a:p>
            <a:endParaRPr lang="pt-BR" sz="2400" dirty="0"/>
          </a:p>
          <a:p>
            <a:r>
              <a:rPr lang="pt-BR" sz="2400" dirty="0"/>
              <a:t>Exemplo: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FFE5E5C-C80A-4D8D-A711-3102A7BA9258}" type="slidenum">
              <a:rPr lang="pt-BR" smtClean="0"/>
              <a:pPr/>
              <a:t>7</a:t>
            </a:fld>
            <a:endParaRPr lang="pt-BR" dirty="0"/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93348858"/>
              </p:ext>
            </p:extLst>
          </p:nvPr>
        </p:nvGraphicFramePr>
        <p:xfrm>
          <a:off x="6992803" y="1508014"/>
          <a:ext cx="1613841" cy="475488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50291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1092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r"/>
                      <a:r>
                        <a:rPr lang="pt-BR" sz="1200" b="1" dirty="0"/>
                        <a:t>0</a:t>
                      </a:r>
                    </a:p>
                  </a:txBody>
                  <a:tcPr marT="0" marB="0"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pt-BR" sz="1200" b="1" dirty="0"/>
                    </a:p>
                  </a:txBody>
                  <a:tcPr marT="0" marB="0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/>
                      <a:r>
                        <a:rPr lang="pt-BR" sz="1200" b="1" dirty="0"/>
                        <a:t>1</a:t>
                      </a:r>
                    </a:p>
                  </a:txBody>
                  <a:tcPr marT="0" marB="0"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endParaRPr lang="pt-BR" sz="1200" b="1" dirty="0"/>
                    </a:p>
                  </a:txBody>
                  <a:tcPr marT="0" marB="0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/>
                      <a:r>
                        <a:rPr lang="pt-BR" sz="1200" b="1" dirty="0"/>
                        <a:t>2</a:t>
                      </a:r>
                    </a:p>
                  </a:txBody>
                  <a:tcPr marT="0" marB="0"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endParaRPr lang="pt-BR" sz="1200" b="1"/>
                    </a:p>
                  </a:txBody>
                  <a:tcPr marT="0" marB="0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/>
                      <a:r>
                        <a:rPr lang="pt-BR" sz="1200" b="1" dirty="0"/>
                        <a:t>3</a:t>
                      </a:r>
                    </a:p>
                  </a:txBody>
                  <a:tcPr marT="0" marB="0"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endParaRPr lang="pt-BR" sz="1200" b="1"/>
                    </a:p>
                  </a:txBody>
                  <a:tcPr marT="0" marB="0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/>
                      <a:r>
                        <a:rPr lang="pt-BR" sz="1200" b="1" dirty="0"/>
                        <a:t>4</a:t>
                      </a:r>
                    </a:p>
                  </a:txBody>
                  <a:tcPr marT="0" marB="0"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endParaRPr lang="pt-BR" sz="1200" b="1" dirty="0"/>
                    </a:p>
                  </a:txBody>
                  <a:tcPr marT="0" marB="0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/>
                      <a:r>
                        <a:rPr lang="pt-BR" sz="1200" b="1" dirty="0"/>
                        <a:t>5</a:t>
                      </a:r>
                    </a:p>
                  </a:txBody>
                  <a:tcPr marT="0" marB="0"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endParaRPr lang="pt-BR" sz="1200" b="1"/>
                    </a:p>
                  </a:txBody>
                  <a:tcPr marT="0" marB="0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/>
                      <a:r>
                        <a:rPr lang="pt-BR" sz="1200" b="1" dirty="0"/>
                        <a:t>6</a:t>
                      </a:r>
                    </a:p>
                  </a:txBody>
                  <a:tcPr marT="0" marB="0"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endParaRPr lang="pt-BR" sz="1200" b="1" dirty="0"/>
                    </a:p>
                  </a:txBody>
                  <a:tcPr marT="0" marB="0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/>
                      <a:r>
                        <a:rPr lang="pt-BR" sz="1200" b="1" dirty="0"/>
                        <a:t>7</a:t>
                      </a:r>
                    </a:p>
                  </a:txBody>
                  <a:tcPr marT="0" marB="0"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endParaRPr lang="pt-BR" sz="1200" b="1" dirty="0"/>
                    </a:p>
                  </a:txBody>
                  <a:tcPr marT="0" marB="0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/>
                      <a:r>
                        <a:rPr lang="pt-BR" sz="1200" b="1" dirty="0"/>
                        <a:t>8</a:t>
                      </a:r>
                    </a:p>
                  </a:txBody>
                  <a:tcPr marT="0" marB="0"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endParaRPr lang="pt-BR" sz="1200" b="1"/>
                    </a:p>
                  </a:txBody>
                  <a:tcPr marT="0" marB="0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/>
                      <a:r>
                        <a:rPr lang="pt-BR" sz="1200" b="1" dirty="0"/>
                        <a:t>...</a:t>
                      </a:r>
                    </a:p>
                  </a:txBody>
                  <a:tcPr marT="0" marB="0"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endParaRPr lang="pt-BR" sz="1200" b="1"/>
                    </a:p>
                  </a:txBody>
                  <a:tcPr marT="0" marB="0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/>
                      <a:r>
                        <a:rPr lang="pt-BR" sz="1200" b="1" dirty="0"/>
                        <a:t>254</a:t>
                      </a:r>
                    </a:p>
                  </a:txBody>
                  <a:tcPr marT="0" marB="0"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endParaRPr lang="pt-BR" sz="1200" b="1"/>
                    </a:p>
                  </a:txBody>
                  <a:tcPr marT="0" marB="0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/>
                      <a:r>
                        <a:rPr lang="pt-BR" sz="1200" b="1" dirty="0"/>
                        <a:t>255</a:t>
                      </a:r>
                    </a:p>
                  </a:txBody>
                  <a:tcPr marT="0" marB="0"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endParaRPr lang="pt-BR" sz="1200" b="1"/>
                    </a:p>
                  </a:txBody>
                  <a:tcPr marT="0" marB="0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/>
                      <a:r>
                        <a:rPr lang="pt-BR" sz="1200" b="1" dirty="0"/>
                        <a:t>256</a:t>
                      </a:r>
                    </a:p>
                  </a:txBody>
                  <a:tcPr marT="0" marB="0"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endParaRPr lang="pt-BR" sz="1200" b="1" dirty="0"/>
                    </a:p>
                  </a:txBody>
                  <a:tcPr marT="0" marB="0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/>
                      <a:r>
                        <a:rPr lang="pt-BR" sz="1200" b="1" dirty="0"/>
                        <a:t>257</a:t>
                      </a:r>
                    </a:p>
                  </a:txBody>
                  <a:tcPr marT="0" marB="0"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endParaRPr lang="pt-BR" sz="1200" b="1" dirty="0"/>
                    </a:p>
                  </a:txBody>
                  <a:tcPr marT="0" marB="0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/>
                      <a:r>
                        <a:rPr lang="pt-BR" sz="1200" b="1" dirty="0"/>
                        <a:t>258</a:t>
                      </a:r>
                    </a:p>
                  </a:txBody>
                  <a:tcPr marT="0" marB="0"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endParaRPr lang="pt-BR" sz="1200" b="1" dirty="0"/>
                    </a:p>
                  </a:txBody>
                  <a:tcPr marT="0" marB="0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/>
                      <a:r>
                        <a:rPr lang="pt-BR" sz="1200" b="1" dirty="0"/>
                        <a:t>259</a:t>
                      </a:r>
                    </a:p>
                  </a:txBody>
                  <a:tcPr marT="0" marB="0"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endParaRPr lang="pt-BR" sz="1200" b="1" dirty="0"/>
                    </a:p>
                  </a:txBody>
                  <a:tcPr marT="0" marB="0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/>
                      <a:r>
                        <a:rPr lang="pt-BR" sz="1200" b="1" dirty="0"/>
                        <a:t>260</a:t>
                      </a:r>
                    </a:p>
                  </a:txBody>
                  <a:tcPr marT="0" marB="0"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endParaRPr lang="pt-BR" sz="1200" b="1" dirty="0"/>
                    </a:p>
                  </a:txBody>
                  <a:tcPr marT="0" marB="0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/>
                      <a:r>
                        <a:rPr lang="pt-BR" sz="1200" b="1" dirty="0"/>
                        <a:t>...</a:t>
                      </a:r>
                    </a:p>
                  </a:txBody>
                  <a:tcPr marT="0" marB="0"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endParaRPr lang="pt-BR" sz="1200" b="1" dirty="0"/>
                    </a:p>
                  </a:txBody>
                  <a:tcPr marT="0" marB="0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/>
                      <a:r>
                        <a:rPr lang="pt-BR" sz="1200" b="1" dirty="0"/>
                        <a:t>2046</a:t>
                      </a:r>
                    </a:p>
                  </a:txBody>
                  <a:tcPr marT="0" marB="0"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endParaRPr lang="pt-BR" sz="1200" b="1" dirty="0"/>
                    </a:p>
                  </a:txBody>
                  <a:tcPr marT="0" marB="0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/>
                      <a:r>
                        <a:rPr lang="pt-BR" sz="1200" b="1" dirty="0"/>
                        <a:t>2047</a:t>
                      </a:r>
                    </a:p>
                  </a:txBody>
                  <a:tcPr marT="0" marB="0"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endParaRPr lang="pt-BR" sz="1200" b="1" dirty="0"/>
                    </a:p>
                  </a:txBody>
                  <a:tcPr marT="0" marB="0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/>
                      <a:r>
                        <a:rPr lang="pt-BR" sz="1200" b="1" dirty="0"/>
                        <a:t>2048</a:t>
                      </a:r>
                    </a:p>
                  </a:txBody>
                  <a:tcPr marT="0" marB="0"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endParaRPr lang="pt-BR" sz="1200" b="1" dirty="0"/>
                    </a:p>
                  </a:txBody>
                  <a:tcPr marT="0" marB="0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2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/>
                      <a:r>
                        <a:rPr lang="pt-BR" sz="1200" b="1" dirty="0"/>
                        <a:t>2049</a:t>
                      </a:r>
                    </a:p>
                  </a:txBody>
                  <a:tcPr marT="0" marB="0"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endParaRPr lang="pt-BR" sz="1200" b="1" dirty="0"/>
                    </a:p>
                  </a:txBody>
                  <a:tcPr marT="0" marB="0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2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/>
                      <a:r>
                        <a:rPr lang="pt-BR" sz="1200" b="1" dirty="0"/>
                        <a:t>2050</a:t>
                      </a:r>
                    </a:p>
                  </a:txBody>
                  <a:tcPr marT="0" marB="0"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endParaRPr lang="pt-BR" sz="1200" b="1" dirty="0"/>
                    </a:p>
                  </a:txBody>
                  <a:tcPr marT="0" marB="0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2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/>
                      <a:r>
                        <a:rPr lang="pt-BR" sz="1200" b="1" dirty="0"/>
                        <a:t>2051</a:t>
                      </a:r>
                    </a:p>
                  </a:txBody>
                  <a:tcPr marT="0" marB="0"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endParaRPr lang="pt-BR" sz="1200" b="1" dirty="0"/>
                    </a:p>
                  </a:txBody>
                  <a:tcPr marT="0" marB="0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2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/>
                      <a:r>
                        <a:rPr lang="pt-BR" sz="1200" b="1" dirty="0"/>
                        <a:t>2052</a:t>
                      </a:r>
                    </a:p>
                  </a:txBody>
                  <a:tcPr marT="0" marB="0"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endParaRPr lang="pt-BR" sz="1200" b="1" dirty="0"/>
                    </a:p>
                  </a:txBody>
                  <a:tcPr marT="0" marB="0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2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/>
                      <a:r>
                        <a:rPr lang="pt-BR" sz="1200" b="1" dirty="0"/>
                        <a:t>...</a:t>
                      </a:r>
                    </a:p>
                  </a:txBody>
                  <a:tcPr marT="0" marB="0"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endParaRPr lang="pt-BR" sz="1200" b="1" dirty="0"/>
                    </a:p>
                  </a:txBody>
                  <a:tcPr marT="0" marB="0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25"/>
                  </a:ext>
                </a:extLst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7138312" y="1186204"/>
            <a:ext cx="1532341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pt-BR" sz="1600" dirty="0"/>
              <a:t>RAM</a:t>
            </a:r>
          </a:p>
        </p:txBody>
      </p:sp>
      <p:sp>
        <p:nvSpPr>
          <p:cNvPr id="8" name="Left Arrow 7"/>
          <p:cNvSpPr/>
          <p:nvPr/>
        </p:nvSpPr>
        <p:spPr>
          <a:xfrm>
            <a:off x="8664976" y="3691926"/>
            <a:ext cx="234683" cy="151863"/>
          </a:xfrm>
          <a:prstGeom prst="left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9" name="Rectangle 8"/>
          <p:cNvSpPr/>
          <p:nvPr/>
        </p:nvSpPr>
        <p:spPr>
          <a:xfrm>
            <a:off x="1318689" y="3971122"/>
            <a:ext cx="2936662" cy="645305"/>
          </a:xfrm>
          <a:prstGeom prst="rect">
            <a:avLst/>
          </a:prstGeom>
          <a:ln>
            <a:solidFill>
              <a:schemeClr val="tx1"/>
            </a:solidFill>
            <a:prstDash val="dash"/>
          </a:ln>
        </p:spPr>
        <p:txBody>
          <a:bodyPr wrap="square">
            <a:spAutoFit/>
          </a:bodyPr>
          <a:lstStyle/>
          <a:p>
            <a:pPr>
              <a:lnSpc>
                <a:spcPct val="80000"/>
              </a:lnSpc>
            </a:pPr>
            <a:r>
              <a:rPr lang="pt-BR" sz="2200" noProof="1">
                <a:latin typeface="Courier"/>
                <a:cs typeface="Courier"/>
              </a:rPr>
              <a:t>push constant 10</a:t>
            </a:r>
          </a:p>
          <a:p>
            <a:pPr>
              <a:lnSpc>
                <a:spcPct val="80000"/>
              </a:lnSpc>
            </a:pPr>
            <a:r>
              <a:rPr lang="pt-BR" sz="2200" noProof="1">
                <a:latin typeface="Courier"/>
                <a:cs typeface="Courier"/>
              </a:rPr>
              <a:t>push constant 20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91177" y="3631741"/>
            <a:ext cx="366657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sz="1400" dirty="0"/>
              <a:t>10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98069" y="3810601"/>
            <a:ext cx="366657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sz="1400" dirty="0"/>
              <a:t>20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40453" y="1528949"/>
            <a:ext cx="345690" cy="151323"/>
          </a:xfrm>
          <a:prstGeom prst="rect">
            <a:avLst/>
          </a:prstGeom>
          <a:solidFill>
            <a:srgbClr val="E8EDF4"/>
          </a:solidFill>
        </p:spPr>
        <p:txBody>
          <a:bodyPr wrap="none" lIns="36000" tIns="0" rIns="36000" bIns="0">
            <a:spAutoFit/>
          </a:bodyPr>
          <a:lstStyle/>
          <a:p>
            <a:pPr algn="r">
              <a:lnSpc>
                <a:spcPts val="1080"/>
              </a:lnSpc>
            </a:pPr>
            <a:r>
              <a:rPr lang="pt-BR" sz="1400" kern="400" dirty="0"/>
              <a:t>256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40453" y="1528969"/>
            <a:ext cx="345690" cy="151323"/>
          </a:xfrm>
          <a:prstGeom prst="rect">
            <a:avLst/>
          </a:prstGeom>
          <a:solidFill>
            <a:srgbClr val="E8EDF4"/>
          </a:solidFill>
        </p:spPr>
        <p:txBody>
          <a:bodyPr wrap="none" lIns="36000" tIns="0" rIns="36000" bIns="0">
            <a:spAutoFit/>
          </a:bodyPr>
          <a:lstStyle/>
          <a:p>
            <a:pPr algn="r">
              <a:lnSpc>
                <a:spcPts val="1080"/>
              </a:lnSpc>
            </a:pPr>
            <a:r>
              <a:rPr lang="pt-BR" sz="1400" kern="400" dirty="0"/>
              <a:t>257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241977" y="1530493"/>
            <a:ext cx="345690" cy="151323"/>
          </a:xfrm>
          <a:prstGeom prst="rect">
            <a:avLst/>
          </a:prstGeom>
          <a:solidFill>
            <a:srgbClr val="E8EDF4"/>
          </a:solidFill>
        </p:spPr>
        <p:txBody>
          <a:bodyPr wrap="none" lIns="36000" tIns="0" rIns="36000" bIns="0">
            <a:spAutoFit/>
          </a:bodyPr>
          <a:lstStyle/>
          <a:p>
            <a:pPr algn="r">
              <a:lnSpc>
                <a:spcPts val="1080"/>
              </a:lnSpc>
            </a:pPr>
            <a:r>
              <a:rPr lang="pt-BR" sz="1400" kern="400" dirty="0"/>
              <a:t>258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586143" y="1411872"/>
            <a:ext cx="384941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sz="1600" dirty="0"/>
              <a:t>SP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1228635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5" presetClass="emph" presetSubtype="0" nodeType="clickEffect">
                                  <p:stCondLst>
                                    <p:cond delay="0"/>
                                  </p:stCondLst>
                                  <p:iterate type="lt">
                                    <p:tmAbs val="25"/>
                                  </p:iterate>
                                  <p:childTnLst>
                                    <p:set>
                                      <p:cBhvr override="childStyle">
                                        <p:cTn id="6" dur="indefinite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style.fontWeight</p:attrName>
                                        </p:attrNameLst>
                                      </p:cBhvr>
                                      <p:to>
                                        <p:strVal val="bol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0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 0.03243 " pathEditMode="relative" ptsTypes="AA">
                                      <p:cBhvr>
                                        <p:cTn id="14" dur="2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5" presetClass="emph" presetSubtype="0" nodeType="clickEffect">
                                  <p:stCondLst>
                                    <p:cond delay="0"/>
                                  </p:stCondLst>
                                  <p:iterate type="lt">
                                    <p:tmAbs val="25"/>
                                  </p:iterate>
                                  <p:childTnLst>
                                    <p:set>
                                      <p:cBhvr override="childStyle">
                                        <p:cTn id="20" dur="indefinite"/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style.fontWeight</p:attrName>
                                        </p:attrNameLst>
                                      </p:cBhvr>
                                      <p:to>
                                        <p:strVal val="bol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0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1.41716E-6 0.03104 L 0.00018 0.05837 " pathEditMode="relative" ptsTypes="AA">
                                      <p:cBhvr>
                                        <p:cTn id="28" dur="2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8" grpId="1" animBg="1"/>
      <p:bldP spid="10" grpId="0"/>
      <p:bldP spid="11" grpId="0"/>
      <p:bldP spid="15" grpId="0" animBg="1"/>
      <p:bldP spid="16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Exemplo de Memória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57225" y="1485900"/>
            <a:ext cx="6180656" cy="1358508"/>
          </a:xfrm>
        </p:spPr>
        <p:txBody>
          <a:bodyPr>
            <a:noAutofit/>
          </a:bodyPr>
          <a:lstStyle/>
          <a:p>
            <a:r>
              <a:rPr lang="pt-BR" sz="2400" dirty="0"/>
              <a:t>O </a:t>
            </a:r>
            <a:r>
              <a:rPr lang="pt-BR" sz="2400" i="1" dirty="0" err="1"/>
              <a:t>heap</a:t>
            </a:r>
            <a:r>
              <a:rPr lang="pt-BR" sz="2400" dirty="0"/>
              <a:t> é acessado pelo THIS e THAT.</a:t>
            </a:r>
          </a:p>
          <a:p>
            <a:r>
              <a:rPr lang="pt-BR" sz="2400" dirty="0"/>
              <a:t>As posições 0 e 1 do segmento pointer permitem acessar e modificar THIS e THAT, respectivamente.</a:t>
            </a:r>
          </a:p>
          <a:p>
            <a:endParaRPr lang="pt-BR" sz="2400" dirty="0"/>
          </a:p>
          <a:p>
            <a:r>
              <a:rPr lang="pt-BR" sz="2400" dirty="0"/>
              <a:t>Exemplo: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FFE5E5C-C80A-4D8D-A711-3102A7BA9258}" type="slidenum">
              <a:rPr lang="pt-BR" smtClean="0"/>
              <a:pPr/>
              <a:t>8</a:t>
            </a:fld>
            <a:endParaRPr lang="pt-BR" dirty="0"/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0819664"/>
              </p:ext>
            </p:extLst>
          </p:nvPr>
        </p:nvGraphicFramePr>
        <p:xfrm>
          <a:off x="6992803" y="1508014"/>
          <a:ext cx="1613841" cy="475488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50291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1092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r"/>
                      <a:r>
                        <a:rPr lang="pt-BR" sz="1200" b="1" dirty="0"/>
                        <a:t>0</a:t>
                      </a:r>
                    </a:p>
                  </a:txBody>
                  <a:tcPr marT="0" marB="0"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pt-BR" sz="1200" b="1" dirty="0"/>
                    </a:p>
                  </a:txBody>
                  <a:tcPr marT="0" marB="0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/>
                      <a:r>
                        <a:rPr lang="pt-BR" sz="1200" b="1" dirty="0"/>
                        <a:t>1</a:t>
                      </a:r>
                    </a:p>
                  </a:txBody>
                  <a:tcPr marT="0" marB="0"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endParaRPr lang="pt-BR" sz="1200" b="1" dirty="0"/>
                    </a:p>
                  </a:txBody>
                  <a:tcPr marT="0" marB="0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/>
                      <a:r>
                        <a:rPr lang="pt-BR" sz="1200" b="1" dirty="0"/>
                        <a:t>2</a:t>
                      </a:r>
                    </a:p>
                  </a:txBody>
                  <a:tcPr marT="0" marB="0"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endParaRPr lang="pt-BR" sz="1200" b="1" dirty="0"/>
                    </a:p>
                  </a:txBody>
                  <a:tcPr marT="0" marB="0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/>
                      <a:r>
                        <a:rPr lang="pt-BR" sz="1200" b="1" dirty="0"/>
                        <a:t>3</a:t>
                      </a:r>
                    </a:p>
                  </a:txBody>
                  <a:tcPr marT="0" marB="0"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endParaRPr lang="pt-BR" sz="1200" b="1"/>
                    </a:p>
                  </a:txBody>
                  <a:tcPr marT="0" marB="0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/>
                      <a:r>
                        <a:rPr lang="pt-BR" sz="1200" b="1" dirty="0"/>
                        <a:t>4</a:t>
                      </a:r>
                    </a:p>
                  </a:txBody>
                  <a:tcPr marT="0" marB="0"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endParaRPr lang="pt-BR" sz="1200" b="1" dirty="0"/>
                    </a:p>
                  </a:txBody>
                  <a:tcPr marT="0" marB="0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/>
                      <a:r>
                        <a:rPr lang="pt-BR" sz="1200" b="1" dirty="0"/>
                        <a:t>5</a:t>
                      </a:r>
                    </a:p>
                  </a:txBody>
                  <a:tcPr marT="0" marB="0"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endParaRPr lang="pt-BR" sz="1200" b="1"/>
                    </a:p>
                  </a:txBody>
                  <a:tcPr marT="0" marB="0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/>
                      <a:r>
                        <a:rPr lang="pt-BR" sz="1200" b="1" dirty="0"/>
                        <a:t>6</a:t>
                      </a:r>
                    </a:p>
                  </a:txBody>
                  <a:tcPr marT="0" marB="0"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endParaRPr lang="pt-BR" sz="1200" b="1" dirty="0"/>
                    </a:p>
                  </a:txBody>
                  <a:tcPr marT="0" marB="0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/>
                      <a:r>
                        <a:rPr lang="pt-BR" sz="1200" b="1" dirty="0"/>
                        <a:t>7</a:t>
                      </a:r>
                    </a:p>
                  </a:txBody>
                  <a:tcPr marT="0" marB="0"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endParaRPr lang="pt-BR" sz="1200" b="1" dirty="0"/>
                    </a:p>
                  </a:txBody>
                  <a:tcPr marT="0" marB="0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/>
                      <a:r>
                        <a:rPr lang="pt-BR" sz="1200" b="1" dirty="0"/>
                        <a:t>8</a:t>
                      </a:r>
                    </a:p>
                  </a:txBody>
                  <a:tcPr marT="0" marB="0"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endParaRPr lang="pt-BR" sz="1200" b="1"/>
                    </a:p>
                  </a:txBody>
                  <a:tcPr marT="0" marB="0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/>
                      <a:r>
                        <a:rPr lang="pt-BR" sz="1200" b="1" dirty="0"/>
                        <a:t>...</a:t>
                      </a:r>
                    </a:p>
                  </a:txBody>
                  <a:tcPr marT="0" marB="0"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endParaRPr lang="pt-BR" sz="1200" b="1"/>
                    </a:p>
                  </a:txBody>
                  <a:tcPr marT="0" marB="0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/>
                      <a:r>
                        <a:rPr lang="pt-BR" sz="1200" b="1" dirty="0"/>
                        <a:t>254</a:t>
                      </a:r>
                    </a:p>
                  </a:txBody>
                  <a:tcPr marT="0" marB="0"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endParaRPr lang="pt-BR" sz="1200" b="1"/>
                    </a:p>
                  </a:txBody>
                  <a:tcPr marT="0" marB="0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/>
                      <a:r>
                        <a:rPr lang="pt-BR" sz="1200" b="1" dirty="0"/>
                        <a:t>255</a:t>
                      </a:r>
                    </a:p>
                  </a:txBody>
                  <a:tcPr marT="0" marB="0"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endParaRPr lang="pt-BR" sz="1200" b="1"/>
                    </a:p>
                  </a:txBody>
                  <a:tcPr marT="0" marB="0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/>
                      <a:r>
                        <a:rPr lang="pt-BR" sz="1200" b="1" dirty="0"/>
                        <a:t>256</a:t>
                      </a:r>
                    </a:p>
                  </a:txBody>
                  <a:tcPr marT="0" marB="0"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endParaRPr lang="pt-BR" sz="1200" b="1" dirty="0"/>
                    </a:p>
                  </a:txBody>
                  <a:tcPr marT="0" marB="0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/>
                      <a:r>
                        <a:rPr lang="pt-BR" sz="1200" b="1" dirty="0"/>
                        <a:t>257</a:t>
                      </a:r>
                    </a:p>
                  </a:txBody>
                  <a:tcPr marT="0" marB="0"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endParaRPr lang="pt-BR" sz="1200" b="1" dirty="0"/>
                    </a:p>
                  </a:txBody>
                  <a:tcPr marT="0" marB="0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/>
                      <a:r>
                        <a:rPr lang="pt-BR" sz="1200" b="1" dirty="0"/>
                        <a:t>258</a:t>
                      </a:r>
                    </a:p>
                  </a:txBody>
                  <a:tcPr marT="0" marB="0"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endParaRPr lang="pt-BR" sz="1200" b="1" dirty="0"/>
                    </a:p>
                  </a:txBody>
                  <a:tcPr marT="0" marB="0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/>
                      <a:r>
                        <a:rPr lang="pt-BR" sz="1200" b="1" dirty="0"/>
                        <a:t>259</a:t>
                      </a:r>
                    </a:p>
                  </a:txBody>
                  <a:tcPr marT="0" marB="0"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endParaRPr lang="pt-BR" sz="1200" b="1" dirty="0"/>
                    </a:p>
                  </a:txBody>
                  <a:tcPr marT="0" marB="0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/>
                      <a:r>
                        <a:rPr lang="pt-BR" sz="1200" b="1" dirty="0"/>
                        <a:t>260</a:t>
                      </a:r>
                    </a:p>
                  </a:txBody>
                  <a:tcPr marT="0" marB="0"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endParaRPr lang="pt-BR" sz="1200" b="1" dirty="0"/>
                    </a:p>
                  </a:txBody>
                  <a:tcPr marT="0" marB="0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/>
                      <a:r>
                        <a:rPr lang="pt-BR" sz="1200" b="1" dirty="0"/>
                        <a:t>...</a:t>
                      </a:r>
                    </a:p>
                  </a:txBody>
                  <a:tcPr marT="0" marB="0"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endParaRPr lang="pt-BR" sz="1200" b="1" dirty="0"/>
                    </a:p>
                  </a:txBody>
                  <a:tcPr marT="0" marB="0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/>
                      <a:r>
                        <a:rPr lang="pt-BR" sz="1200" b="1" dirty="0"/>
                        <a:t>2046</a:t>
                      </a:r>
                    </a:p>
                  </a:txBody>
                  <a:tcPr marT="0" marB="0"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endParaRPr lang="pt-BR" sz="1200" b="1" dirty="0"/>
                    </a:p>
                  </a:txBody>
                  <a:tcPr marT="0" marB="0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/>
                      <a:r>
                        <a:rPr lang="pt-BR" sz="1200" b="1" dirty="0"/>
                        <a:t>2047</a:t>
                      </a:r>
                    </a:p>
                  </a:txBody>
                  <a:tcPr marT="0" marB="0"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endParaRPr lang="pt-BR" sz="1200" b="1" dirty="0"/>
                    </a:p>
                  </a:txBody>
                  <a:tcPr marT="0" marB="0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/>
                      <a:r>
                        <a:rPr lang="pt-BR" sz="1200" b="1" dirty="0"/>
                        <a:t>2048</a:t>
                      </a:r>
                    </a:p>
                  </a:txBody>
                  <a:tcPr marT="0" marB="0"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endParaRPr lang="pt-BR" sz="1200" b="1" dirty="0"/>
                    </a:p>
                  </a:txBody>
                  <a:tcPr marT="0" marB="0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2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/>
                      <a:r>
                        <a:rPr lang="pt-BR" sz="1200" b="1" dirty="0"/>
                        <a:t>2049</a:t>
                      </a:r>
                    </a:p>
                  </a:txBody>
                  <a:tcPr marT="0" marB="0"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endParaRPr lang="pt-BR" sz="1200" b="1" dirty="0"/>
                    </a:p>
                  </a:txBody>
                  <a:tcPr marT="0" marB="0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2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/>
                      <a:r>
                        <a:rPr lang="pt-BR" sz="1200" b="1" dirty="0"/>
                        <a:t>2050</a:t>
                      </a:r>
                    </a:p>
                  </a:txBody>
                  <a:tcPr marT="0" marB="0"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endParaRPr lang="pt-BR" sz="1200" b="1" dirty="0"/>
                    </a:p>
                  </a:txBody>
                  <a:tcPr marT="0" marB="0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2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/>
                      <a:r>
                        <a:rPr lang="pt-BR" sz="1200" b="1" dirty="0"/>
                        <a:t>2051</a:t>
                      </a:r>
                    </a:p>
                  </a:txBody>
                  <a:tcPr marT="0" marB="0"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endParaRPr lang="pt-BR" sz="1200" b="1" dirty="0"/>
                    </a:p>
                  </a:txBody>
                  <a:tcPr marT="0" marB="0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2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/>
                      <a:r>
                        <a:rPr lang="pt-BR" sz="1200" b="1" dirty="0"/>
                        <a:t>2052</a:t>
                      </a:r>
                    </a:p>
                  </a:txBody>
                  <a:tcPr marT="0" marB="0"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endParaRPr lang="pt-BR" sz="1200" b="1" dirty="0"/>
                    </a:p>
                  </a:txBody>
                  <a:tcPr marT="0" marB="0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2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/>
                      <a:r>
                        <a:rPr lang="pt-BR" sz="1200" b="1" dirty="0"/>
                        <a:t>...</a:t>
                      </a:r>
                    </a:p>
                  </a:txBody>
                  <a:tcPr marT="0" marB="0"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endParaRPr lang="pt-BR" sz="1200" b="1" dirty="0"/>
                    </a:p>
                  </a:txBody>
                  <a:tcPr marT="0" marB="0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25"/>
                  </a:ext>
                </a:extLst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7138312" y="1186204"/>
            <a:ext cx="1532341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pt-BR" sz="1600" dirty="0"/>
              <a:t>RAM</a:t>
            </a:r>
          </a:p>
        </p:txBody>
      </p:sp>
      <p:sp>
        <p:nvSpPr>
          <p:cNvPr id="8" name="Left Arrow 7"/>
          <p:cNvSpPr/>
          <p:nvPr/>
        </p:nvSpPr>
        <p:spPr>
          <a:xfrm>
            <a:off x="8664976" y="3691926"/>
            <a:ext cx="234683" cy="151863"/>
          </a:xfrm>
          <a:prstGeom prst="left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9" name="Rectangle 8"/>
          <p:cNvSpPr/>
          <p:nvPr/>
        </p:nvSpPr>
        <p:spPr>
          <a:xfrm>
            <a:off x="1328628" y="4118378"/>
            <a:ext cx="3509608" cy="1186992"/>
          </a:xfrm>
          <a:prstGeom prst="rect">
            <a:avLst/>
          </a:prstGeom>
          <a:ln>
            <a:solidFill>
              <a:schemeClr val="tx1"/>
            </a:solidFill>
            <a:prstDash val="dash"/>
          </a:ln>
        </p:spPr>
        <p:txBody>
          <a:bodyPr wrap="square">
            <a:spAutoFit/>
          </a:bodyPr>
          <a:lstStyle/>
          <a:p>
            <a:pPr>
              <a:lnSpc>
                <a:spcPct val="80000"/>
              </a:lnSpc>
            </a:pPr>
            <a:r>
              <a:rPr lang="pt-BR" sz="2200" noProof="1">
                <a:latin typeface="Courier"/>
                <a:cs typeface="Courier"/>
              </a:rPr>
              <a:t>push constant 30</a:t>
            </a:r>
          </a:p>
          <a:p>
            <a:pPr>
              <a:lnSpc>
                <a:spcPct val="80000"/>
              </a:lnSpc>
            </a:pPr>
            <a:r>
              <a:rPr lang="pt-BR" sz="2200" noProof="1">
                <a:latin typeface="Courier"/>
                <a:cs typeface="Courier"/>
              </a:rPr>
              <a:t>push constant 2048</a:t>
            </a:r>
          </a:p>
          <a:p>
            <a:pPr>
              <a:lnSpc>
                <a:spcPct val="80000"/>
              </a:lnSpc>
            </a:pPr>
            <a:r>
              <a:rPr lang="pt-BR" sz="2200" noProof="1">
                <a:latin typeface="Courier"/>
                <a:cs typeface="Courier"/>
              </a:rPr>
              <a:t>pop pointer 1</a:t>
            </a:r>
          </a:p>
          <a:p>
            <a:pPr>
              <a:lnSpc>
                <a:spcPct val="80000"/>
              </a:lnSpc>
            </a:pPr>
            <a:r>
              <a:rPr lang="pt-BR" sz="2200" noProof="1">
                <a:latin typeface="Courier"/>
                <a:cs typeface="Courier"/>
              </a:rPr>
              <a:t>pop that 0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91177" y="3631741"/>
            <a:ext cx="366657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sz="1400" dirty="0"/>
              <a:t>30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111445" y="3810601"/>
            <a:ext cx="548648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pt-BR" sz="1400" dirty="0"/>
              <a:t>2048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40453" y="1528949"/>
            <a:ext cx="345690" cy="151323"/>
          </a:xfrm>
          <a:prstGeom prst="rect">
            <a:avLst/>
          </a:prstGeom>
          <a:solidFill>
            <a:srgbClr val="E8EDF4"/>
          </a:solidFill>
        </p:spPr>
        <p:txBody>
          <a:bodyPr wrap="none" lIns="36000" tIns="0" rIns="36000" bIns="0">
            <a:spAutoFit/>
          </a:bodyPr>
          <a:lstStyle/>
          <a:p>
            <a:pPr algn="r">
              <a:lnSpc>
                <a:spcPts val="1080"/>
              </a:lnSpc>
            </a:pPr>
            <a:r>
              <a:rPr lang="pt-BR" sz="1400" kern="400" dirty="0"/>
              <a:t>256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40453" y="1528969"/>
            <a:ext cx="345690" cy="151323"/>
          </a:xfrm>
          <a:prstGeom prst="rect">
            <a:avLst/>
          </a:prstGeom>
          <a:solidFill>
            <a:srgbClr val="E8EDF4"/>
          </a:solidFill>
        </p:spPr>
        <p:txBody>
          <a:bodyPr wrap="none" lIns="36000" tIns="0" rIns="36000" bIns="0">
            <a:spAutoFit/>
          </a:bodyPr>
          <a:lstStyle/>
          <a:p>
            <a:pPr algn="r">
              <a:lnSpc>
                <a:spcPts val="1080"/>
              </a:lnSpc>
            </a:pPr>
            <a:r>
              <a:rPr lang="pt-BR" sz="1400" kern="400" dirty="0"/>
              <a:t>257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241977" y="1530493"/>
            <a:ext cx="345690" cy="151323"/>
          </a:xfrm>
          <a:prstGeom prst="rect">
            <a:avLst/>
          </a:prstGeom>
          <a:solidFill>
            <a:srgbClr val="E8EDF4"/>
          </a:solidFill>
        </p:spPr>
        <p:txBody>
          <a:bodyPr wrap="none" lIns="36000" tIns="0" rIns="36000" bIns="0">
            <a:spAutoFit/>
          </a:bodyPr>
          <a:lstStyle/>
          <a:p>
            <a:pPr algn="r">
              <a:lnSpc>
                <a:spcPts val="1080"/>
              </a:lnSpc>
            </a:pPr>
            <a:r>
              <a:rPr lang="pt-BR" sz="1400" kern="400" dirty="0"/>
              <a:t>258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586143" y="1428294"/>
            <a:ext cx="384941" cy="31803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90000"/>
              </a:lnSpc>
            </a:pPr>
            <a:r>
              <a:rPr lang="pt-BR" sz="1600" dirty="0"/>
              <a:t>SP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137557" y="2163772"/>
            <a:ext cx="548648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pt-BR" sz="1400" dirty="0"/>
              <a:t>2048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551919" y="1995123"/>
            <a:ext cx="631202" cy="49449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80000"/>
              </a:lnSpc>
            </a:pPr>
            <a:r>
              <a:rPr lang="pt-BR" sz="1600" dirty="0"/>
              <a:t>THIS</a:t>
            </a:r>
          </a:p>
          <a:p>
            <a:pPr>
              <a:lnSpc>
                <a:spcPct val="80000"/>
              </a:lnSpc>
            </a:pPr>
            <a:r>
              <a:rPr lang="pt-BR" sz="1600" dirty="0"/>
              <a:t>THAT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291177" y="5087039"/>
            <a:ext cx="366657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sz="1400" dirty="0"/>
              <a:t>30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9268703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5" presetClass="emph" presetSubtype="0" nodeType="clickEffect">
                                  <p:stCondLst>
                                    <p:cond delay="0"/>
                                  </p:stCondLst>
                                  <p:iterate type="lt">
                                    <p:tmAbs val="25"/>
                                  </p:iterate>
                                  <p:childTnLst>
                                    <p:set>
                                      <p:cBhvr override="childStyle">
                                        <p:cTn id="6" dur="indefinite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style.fontWeight</p:attrName>
                                        </p:attrNameLst>
                                      </p:cBhvr>
                                      <p:to>
                                        <p:strVal val="bol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0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 0.03243 " pathEditMode="relative" ptsTypes="AA">
                                      <p:cBhvr>
                                        <p:cTn id="14" dur="2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5" presetClass="emph" presetSubtype="0" nodeType="clickEffect">
                                  <p:stCondLst>
                                    <p:cond delay="0"/>
                                  </p:stCondLst>
                                  <p:iterate type="lt">
                                    <p:tmAbs val="25"/>
                                  </p:iterate>
                                  <p:childTnLst>
                                    <p:set>
                                      <p:cBhvr override="childStyle">
                                        <p:cTn id="18" dur="indefinite"/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style.fontWeight</p:attrName>
                                        </p:attrNameLst>
                                      </p:cBhvr>
                                      <p:to>
                                        <p:strVal val="bol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0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1.41716E-6 0.03104 L 0.00018 0.05837 " pathEditMode="relative" ptsTypes="AA">
                                      <p:cBhvr>
                                        <p:cTn id="24" dur="2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5" presetClass="emph" presetSubtype="0" nodeType="clickEffect">
                                  <p:stCondLst>
                                    <p:cond delay="0"/>
                                  </p:stCondLst>
                                  <p:iterate type="lt">
                                    <p:tmAbs val="25"/>
                                  </p:iterate>
                                  <p:childTnLst>
                                    <p:set>
                                      <p:cBhvr override="childStyle">
                                        <p:cTn id="30" dur="indefinite"/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style.fontWeight</p:attrName>
                                        </p:attrNameLst>
                                      </p:cBhvr>
                                      <p:to>
                                        <p:strVal val="bol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0" presetClass="path" presetSubtype="0" accel="50000" decel="5000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017 0.05832 L 0.00017 0.03078 " pathEditMode="relative" rAng="0" ptsTypes="AA">
                                      <p:cBhvr>
                                        <p:cTn id="40" dur="2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5" presetClass="emph" presetSubtype="0" nodeType="clickEffect">
                                  <p:stCondLst>
                                    <p:cond delay="0"/>
                                  </p:stCondLst>
                                  <p:iterate type="lt">
                                    <p:tmAbs val="25"/>
                                  </p:iterate>
                                  <p:childTnLst>
                                    <p:set>
                                      <p:cBhvr override="childStyle">
                                        <p:cTn id="44" dur="indefinite"/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style.fontWeight</p:attrName>
                                        </p:attrNameLst>
                                      </p:cBhvr>
                                      <p:to>
                                        <p:strVal val="bol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0" presetClass="path" presetSubtype="0" accel="50000" decel="50000" fill="hold" grpId="3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59611E-6 0.0324 L -3.59611E-6 0.00162 " pathEditMode="relative" rAng="0" ptsTypes="AA">
                                      <p:cBhvr>
                                        <p:cTn id="52" dur="2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551"/>
                                    </p:animMotion>
                                  </p:childTnLst>
                                </p:cTn>
                              </p:par>
                              <p:par>
                                <p:cTn id="53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8" grpId="1" animBg="1"/>
      <p:bldP spid="8" grpId="2" animBg="1"/>
      <p:bldP spid="8" grpId="3" animBg="1"/>
      <p:bldP spid="10" grpId="0"/>
      <p:bldP spid="10" grpId="1"/>
      <p:bldP spid="11" grpId="0"/>
      <p:bldP spid="11" grpId="1"/>
      <p:bldP spid="15" grpId="0" animBg="1"/>
      <p:bldP spid="15" grpId="1" animBg="1"/>
      <p:bldP spid="16" grpId="0" animBg="1"/>
      <p:bldP spid="16" grpId="1" animBg="1"/>
      <p:bldP spid="18" grpId="0"/>
      <p:bldP spid="20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Vetores (</a:t>
            </a:r>
            <a:r>
              <a:rPr lang="pt-BR" dirty="0" err="1"/>
              <a:t>Arrays</a:t>
            </a:r>
            <a:r>
              <a:rPr lang="pt-BR" dirty="0"/>
              <a:t>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57225" y="1485900"/>
            <a:ext cx="4025561" cy="4724400"/>
          </a:xfrm>
        </p:spPr>
        <p:txBody>
          <a:bodyPr>
            <a:normAutofit/>
          </a:bodyPr>
          <a:lstStyle/>
          <a:p>
            <a:r>
              <a:rPr lang="pt-BR" sz="2400" dirty="0"/>
              <a:t>Vetores são espaços de memória usados para alocar uma sequencia de valores. Para acessar uma determinada célula basta somar o endereço base ao índice da célula desejada. Por exemplo:</a:t>
            </a:r>
          </a:p>
          <a:p>
            <a:endParaRPr lang="pt-BR" sz="240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FFE5E5C-C80A-4D8D-A711-3102A7BA9258}" type="slidenum">
              <a:rPr lang="pt-BR" smtClean="0"/>
              <a:pPr/>
              <a:t>9</a:t>
            </a:fld>
            <a:endParaRPr lang="pt-BR" dirty="0"/>
          </a:p>
        </p:txBody>
      </p:sp>
      <p:sp>
        <p:nvSpPr>
          <p:cNvPr id="6" name="Rectangle 5"/>
          <p:cNvSpPr/>
          <p:nvPr/>
        </p:nvSpPr>
        <p:spPr>
          <a:xfrm>
            <a:off x="4682786" y="973623"/>
            <a:ext cx="4136658" cy="5016758"/>
          </a:xfrm>
          <a:prstGeom prst="rect">
            <a:avLst/>
          </a:prstGeom>
          <a:ln>
            <a:solidFill>
              <a:schemeClr val="tx1"/>
            </a:solidFill>
            <a:prstDash val="dash"/>
          </a:ln>
        </p:spPr>
        <p:txBody>
          <a:bodyPr wrap="square">
            <a:spAutoFit/>
          </a:bodyPr>
          <a:lstStyle/>
          <a:p>
            <a:r>
              <a:rPr lang="pt-BR" sz="2000" noProof="1"/>
              <a:t>push constant 2048  //endereço base</a:t>
            </a:r>
          </a:p>
          <a:p>
            <a:r>
              <a:rPr lang="pt-BR" sz="2000" noProof="1"/>
              <a:t>pop temp 0</a:t>
            </a:r>
          </a:p>
          <a:p>
            <a:r>
              <a:rPr lang="pt-BR" sz="2000" noProof="1"/>
              <a:t>push constant 0  // índice</a:t>
            </a:r>
          </a:p>
          <a:p>
            <a:r>
              <a:rPr lang="pt-BR" sz="2000" noProof="1"/>
              <a:t>pop temp 1</a:t>
            </a:r>
          </a:p>
          <a:p>
            <a:r>
              <a:rPr lang="pt-BR" sz="2000" noProof="1"/>
              <a:t>label loop</a:t>
            </a:r>
          </a:p>
          <a:p>
            <a:r>
              <a:rPr lang="pt-BR" sz="2000" noProof="1"/>
              <a:t>push temp 0</a:t>
            </a:r>
          </a:p>
          <a:p>
            <a:r>
              <a:rPr lang="pt-BR" sz="2000" noProof="1"/>
              <a:t>push temp 1</a:t>
            </a:r>
          </a:p>
          <a:p>
            <a:r>
              <a:rPr lang="pt-BR" sz="2000" noProof="1"/>
              <a:t>add</a:t>
            </a:r>
          </a:p>
          <a:p>
            <a:r>
              <a:rPr lang="pt-BR" sz="2000" noProof="1"/>
              <a:t>pop pointer 0</a:t>
            </a:r>
          </a:p>
          <a:p>
            <a:r>
              <a:rPr lang="pt-BR" sz="2000" noProof="1"/>
              <a:t>push temp 1</a:t>
            </a:r>
          </a:p>
          <a:p>
            <a:r>
              <a:rPr lang="pt-BR" sz="2000" noProof="1"/>
              <a:t>pop this 0</a:t>
            </a:r>
          </a:p>
          <a:p>
            <a:r>
              <a:rPr lang="pt-BR" sz="2000" noProof="1"/>
              <a:t>push temp 1</a:t>
            </a:r>
          </a:p>
          <a:p>
            <a:r>
              <a:rPr lang="pt-BR" sz="2000" noProof="1"/>
              <a:t>push constant 1</a:t>
            </a:r>
          </a:p>
          <a:p>
            <a:r>
              <a:rPr lang="pt-BR" sz="2000" noProof="1"/>
              <a:t>add</a:t>
            </a:r>
          </a:p>
          <a:p>
            <a:r>
              <a:rPr lang="pt-BR" sz="2000" noProof="1"/>
              <a:t>pop temp 1</a:t>
            </a:r>
          </a:p>
          <a:p>
            <a:r>
              <a:rPr lang="pt-BR" sz="2000" noProof="1"/>
              <a:t>goto loop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AA7F758-730A-F5EE-2E4D-EC99E6B09F02}"/>
              </a:ext>
            </a:extLst>
          </p:cNvPr>
          <p:cNvSpPr txBox="1"/>
          <p:nvPr/>
        </p:nvSpPr>
        <p:spPr>
          <a:xfrm>
            <a:off x="4649274" y="6115787"/>
            <a:ext cx="45720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/>
              <a:t>O</a:t>
            </a:r>
            <a:r>
              <a:rPr lang="en-BR" sz="1600" dirty="0"/>
              <a:t>bs: exemplo de acesso sem verificação de limites</a:t>
            </a: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92123360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Fluxo de Execução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57225" y="1485900"/>
            <a:ext cx="4382723" cy="4724400"/>
          </a:xfrm>
        </p:spPr>
        <p:txBody>
          <a:bodyPr>
            <a:normAutofit/>
          </a:bodyPr>
          <a:lstStyle/>
          <a:p>
            <a:r>
              <a:rPr lang="pt-BR" sz="2400" dirty="0"/>
              <a:t>Os programas na máquina virtual navegam por </a:t>
            </a:r>
            <a:r>
              <a:rPr lang="pt-BR" sz="2400" dirty="0" err="1"/>
              <a:t>labels</a:t>
            </a:r>
            <a:r>
              <a:rPr lang="pt-BR" sz="2400" dirty="0"/>
              <a:t> e comandos de goto.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FFE5E5C-C80A-4D8D-A711-3102A7BA9258}" type="slidenum">
              <a:rPr lang="pt-BR" smtClean="0"/>
              <a:pPr/>
              <a:t>10</a:t>
            </a:fld>
            <a:endParaRPr lang="pt-BR" dirty="0"/>
          </a:p>
        </p:txBody>
      </p:sp>
      <p:sp>
        <p:nvSpPr>
          <p:cNvPr id="6" name="Rectangle 5"/>
          <p:cNvSpPr/>
          <p:nvPr/>
        </p:nvSpPr>
        <p:spPr>
          <a:xfrm>
            <a:off x="725688" y="2965105"/>
            <a:ext cx="2951754" cy="179433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65000"/>
              </a:lnSpc>
              <a:spcBef>
                <a:spcPct val="100000"/>
              </a:spcBef>
              <a:spcAft>
                <a:spcPct val="30000"/>
              </a:spcAft>
            </a:pPr>
            <a:r>
              <a:rPr lang="en-US" sz="2400" b="1" noProof="1">
                <a:latin typeface="Courier New" charset="0"/>
                <a:cs typeface="Times New Roman" charset="0"/>
              </a:rPr>
              <a:t>label </a:t>
            </a:r>
            <a:r>
              <a:rPr lang="en-US" sz="2400" noProof="1">
                <a:latin typeface="Courier New" charset="0"/>
                <a:cs typeface="Times New Roman" charset="0"/>
              </a:rPr>
              <a:t>rótulo</a:t>
            </a:r>
            <a:endParaRPr lang="en-US" sz="2400" noProof="1">
              <a:cs typeface="Arial" charset="0"/>
            </a:endParaRPr>
          </a:p>
          <a:p>
            <a:pPr>
              <a:lnSpc>
                <a:spcPct val="65000"/>
              </a:lnSpc>
              <a:spcBef>
                <a:spcPct val="100000"/>
              </a:spcBef>
              <a:spcAft>
                <a:spcPct val="30000"/>
              </a:spcAft>
            </a:pPr>
            <a:r>
              <a:rPr lang="en-US" sz="2400" b="1" noProof="1">
                <a:latin typeface="Courier New" charset="0"/>
                <a:cs typeface="Times New Roman" charset="0"/>
              </a:rPr>
              <a:t>goto</a:t>
            </a:r>
            <a:r>
              <a:rPr lang="en-US" sz="2400" noProof="1">
                <a:latin typeface="Courier New" charset="0"/>
                <a:cs typeface="Times New Roman" charset="0"/>
              </a:rPr>
              <a:t> rótulo</a:t>
            </a:r>
          </a:p>
          <a:p>
            <a:pPr>
              <a:lnSpc>
                <a:spcPct val="65000"/>
              </a:lnSpc>
              <a:spcBef>
                <a:spcPct val="100000"/>
              </a:spcBef>
              <a:spcAft>
                <a:spcPct val="30000"/>
              </a:spcAft>
            </a:pPr>
            <a:r>
              <a:rPr lang="en-US" sz="2400" b="1" noProof="1">
                <a:latin typeface="Courier New" charset="0"/>
                <a:cs typeface="Times New Roman" charset="0"/>
              </a:rPr>
              <a:t>if-goto</a:t>
            </a:r>
            <a:r>
              <a:rPr lang="en-US" sz="2400" noProof="1">
                <a:latin typeface="Courier New" charset="0"/>
                <a:cs typeface="Times New Roman" charset="0"/>
              </a:rPr>
              <a:t> rótulo</a:t>
            </a:r>
          </a:p>
        </p:txBody>
      </p:sp>
      <p:sp>
        <p:nvSpPr>
          <p:cNvPr id="8" name="Rectangle 7"/>
          <p:cNvSpPr/>
          <p:nvPr/>
        </p:nvSpPr>
        <p:spPr>
          <a:xfrm>
            <a:off x="5304513" y="730613"/>
            <a:ext cx="2857293" cy="5914441"/>
          </a:xfrm>
          <a:prstGeom prst="rect">
            <a:avLst/>
          </a:prstGeom>
          <a:ln>
            <a:solidFill>
              <a:schemeClr val="tx1"/>
            </a:solidFill>
            <a:prstDash val="dash"/>
          </a:ln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</a:pPr>
            <a:r>
              <a:rPr lang="pt-BR" sz="2000" noProof="1">
                <a:latin typeface="Courier"/>
                <a:cs typeface="Courier"/>
              </a:rPr>
              <a:t>  push constant 2</a:t>
            </a:r>
          </a:p>
          <a:p>
            <a:pPr>
              <a:lnSpc>
                <a:spcPct val="90000"/>
              </a:lnSpc>
            </a:pPr>
            <a:r>
              <a:rPr lang="pt-BR" sz="2000" noProof="1">
                <a:latin typeface="Courier"/>
                <a:cs typeface="Courier"/>
              </a:rPr>
              <a:t>  pop temp 0</a:t>
            </a:r>
          </a:p>
          <a:p>
            <a:pPr>
              <a:lnSpc>
                <a:spcPct val="90000"/>
              </a:lnSpc>
            </a:pPr>
            <a:r>
              <a:rPr lang="pt-BR" sz="2000" noProof="1">
                <a:latin typeface="Courier"/>
                <a:cs typeface="Courier"/>
              </a:rPr>
              <a:t>  push constant 4</a:t>
            </a:r>
          </a:p>
          <a:p>
            <a:pPr>
              <a:lnSpc>
                <a:spcPct val="90000"/>
              </a:lnSpc>
            </a:pPr>
            <a:r>
              <a:rPr lang="pt-BR" sz="2000" noProof="1">
                <a:latin typeface="Courier"/>
                <a:cs typeface="Courier"/>
              </a:rPr>
              <a:t>  pop temp 1</a:t>
            </a:r>
          </a:p>
          <a:p>
            <a:pPr>
              <a:lnSpc>
                <a:spcPct val="90000"/>
              </a:lnSpc>
            </a:pPr>
            <a:r>
              <a:rPr lang="pt-BR" sz="2000" noProof="1">
                <a:latin typeface="Courier"/>
                <a:cs typeface="Courier"/>
              </a:rPr>
              <a:t>  push constant 0</a:t>
            </a:r>
          </a:p>
          <a:p>
            <a:pPr>
              <a:lnSpc>
                <a:spcPct val="90000"/>
              </a:lnSpc>
            </a:pPr>
            <a:r>
              <a:rPr lang="pt-BR" sz="2000" noProof="1">
                <a:latin typeface="Courier"/>
                <a:cs typeface="Courier"/>
              </a:rPr>
              <a:t>  pop temp 2</a:t>
            </a:r>
          </a:p>
          <a:p>
            <a:pPr>
              <a:lnSpc>
                <a:spcPct val="90000"/>
              </a:lnSpc>
            </a:pPr>
            <a:r>
              <a:rPr lang="pt-BR" sz="2000" noProof="1">
                <a:solidFill>
                  <a:srgbClr val="FF0000"/>
                </a:solidFill>
                <a:latin typeface="Courier"/>
                <a:cs typeface="Courier"/>
              </a:rPr>
              <a:t>label loop</a:t>
            </a:r>
          </a:p>
          <a:p>
            <a:pPr>
              <a:lnSpc>
                <a:spcPct val="90000"/>
              </a:lnSpc>
            </a:pPr>
            <a:r>
              <a:rPr lang="pt-BR" sz="2000" noProof="1">
                <a:latin typeface="Courier"/>
                <a:cs typeface="Courier"/>
              </a:rPr>
              <a:t>  push constant 0</a:t>
            </a:r>
          </a:p>
          <a:p>
            <a:pPr>
              <a:lnSpc>
                <a:spcPct val="90000"/>
              </a:lnSpc>
            </a:pPr>
            <a:r>
              <a:rPr lang="pt-BR" sz="2000" noProof="1">
                <a:latin typeface="Courier"/>
                <a:cs typeface="Courier"/>
              </a:rPr>
              <a:t>  push temp 1</a:t>
            </a:r>
          </a:p>
          <a:p>
            <a:pPr>
              <a:lnSpc>
                <a:spcPct val="90000"/>
              </a:lnSpc>
            </a:pPr>
            <a:r>
              <a:rPr lang="pt-BR" sz="2000" noProof="1">
                <a:latin typeface="Courier"/>
                <a:cs typeface="Courier"/>
              </a:rPr>
              <a:t>  eq</a:t>
            </a:r>
          </a:p>
          <a:p>
            <a:pPr>
              <a:lnSpc>
                <a:spcPct val="90000"/>
              </a:lnSpc>
            </a:pPr>
            <a:r>
              <a:rPr lang="pt-BR" sz="2000" noProof="1">
                <a:solidFill>
                  <a:srgbClr val="FF0000"/>
                </a:solidFill>
                <a:latin typeface="Courier"/>
                <a:cs typeface="Courier"/>
              </a:rPr>
              <a:t>  if-goto end</a:t>
            </a:r>
          </a:p>
          <a:p>
            <a:pPr>
              <a:lnSpc>
                <a:spcPct val="90000"/>
              </a:lnSpc>
            </a:pPr>
            <a:r>
              <a:rPr lang="pt-BR" sz="2000" noProof="1">
                <a:latin typeface="Courier"/>
                <a:cs typeface="Courier"/>
              </a:rPr>
              <a:t>  push temp 0</a:t>
            </a:r>
          </a:p>
          <a:p>
            <a:pPr>
              <a:lnSpc>
                <a:spcPct val="90000"/>
              </a:lnSpc>
            </a:pPr>
            <a:r>
              <a:rPr lang="pt-BR" sz="2000" noProof="1">
                <a:latin typeface="Courier"/>
                <a:cs typeface="Courier"/>
              </a:rPr>
              <a:t>  push temp 2 </a:t>
            </a:r>
          </a:p>
          <a:p>
            <a:pPr>
              <a:lnSpc>
                <a:spcPct val="90000"/>
              </a:lnSpc>
            </a:pPr>
            <a:r>
              <a:rPr lang="pt-BR" sz="2000" noProof="1">
                <a:latin typeface="Courier"/>
                <a:cs typeface="Courier"/>
              </a:rPr>
              <a:t>  add</a:t>
            </a:r>
          </a:p>
          <a:p>
            <a:pPr>
              <a:lnSpc>
                <a:spcPct val="90000"/>
              </a:lnSpc>
            </a:pPr>
            <a:r>
              <a:rPr lang="pt-BR" sz="2000" noProof="1">
                <a:latin typeface="Courier"/>
                <a:cs typeface="Courier"/>
              </a:rPr>
              <a:t>  pop temp 2</a:t>
            </a:r>
          </a:p>
          <a:p>
            <a:pPr>
              <a:lnSpc>
                <a:spcPct val="90000"/>
              </a:lnSpc>
            </a:pPr>
            <a:r>
              <a:rPr lang="pt-BR" sz="2000" noProof="1">
                <a:latin typeface="Courier"/>
                <a:cs typeface="Courier"/>
              </a:rPr>
              <a:t>  push temp 1</a:t>
            </a:r>
          </a:p>
          <a:p>
            <a:pPr>
              <a:lnSpc>
                <a:spcPct val="90000"/>
              </a:lnSpc>
            </a:pPr>
            <a:r>
              <a:rPr lang="pt-BR" sz="2000" noProof="1">
                <a:latin typeface="Courier"/>
                <a:cs typeface="Courier"/>
              </a:rPr>
              <a:t>  push constant 1</a:t>
            </a:r>
          </a:p>
          <a:p>
            <a:pPr>
              <a:lnSpc>
                <a:spcPct val="90000"/>
              </a:lnSpc>
            </a:pPr>
            <a:r>
              <a:rPr lang="pt-BR" sz="2000" noProof="1">
                <a:latin typeface="Courier"/>
                <a:cs typeface="Courier"/>
              </a:rPr>
              <a:t>  sub</a:t>
            </a:r>
          </a:p>
          <a:p>
            <a:pPr>
              <a:lnSpc>
                <a:spcPct val="90000"/>
              </a:lnSpc>
            </a:pPr>
            <a:r>
              <a:rPr lang="pt-BR" sz="2000" noProof="1">
                <a:latin typeface="Courier"/>
                <a:cs typeface="Courier"/>
              </a:rPr>
              <a:t>  pop temp 1</a:t>
            </a:r>
          </a:p>
          <a:p>
            <a:pPr>
              <a:lnSpc>
                <a:spcPct val="90000"/>
              </a:lnSpc>
            </a:pPr>
            <a:r>
              <a:rPr lang="pt-BR" sz="2000" noProof="1">
                <a:solidFill>
                  <a:srgbClr val="FF0000"/>
                </a:solidFill>
                <a:latin typeface="Courier"/>
                <a:cs typeface="Courier"/>
              </a:rPr>
              <a:t>  goto loop</a:t>
            </a:r>
          </a:p>
          <a:p>
            <a:pPr>
              <a:lnSpc>
                <a:spcPct val="90000"/>
              </a:lnSpc>
            </a:pPr>
            <a:r>
              <a:rPr lang="pt-BR" sz="2000" noProof="1">
                <a:solidFill>
                  <a:srgbClr val="FF0000"/>
                </a:solidFill>
                <a:latin typeface="Courier"/>
                <a:cs typeface="Courier"/>
              </a:rPr>
              <a:t>label end</a:t>
            </a:r>
          </a:p>
        </p:txBody>
      </p:sp>
      <p:sp>
        <p:nvSpPr>
          <p:cNvPr id="7" name="Rectangle 6"/>
          <p:cNvSpPr/>
          <p:nvPr/>
        </p:nvSpPr>
        <p:spPr>
          <a:xfrm>
            <a:off x="357809" y="4951316"/>
            <a:ext cx="4847351" cy="150810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pt-BR" sz="2300" dirty="0" err="1">
                <a:cs typeface="Verdana"/>
              </a:rPr>
              <a:t>if</a:t>
            </a:r>
            <a:r>
              <a:rPr lang="pt-BR" sz="2300" dirty="0">
                <a:cs typeface="Verdana"/>
              </a:rPr>
              <a:t>-goto rótulo </a:t>
            </a:r>
            <a:r>
              <a:rPr lang="en-BR" sz="2300" dirty="0"/>
              <a:t>retira o valor do topo da pilha. Se esse valor for diferente de zero, desvia para o rótulo; caso contrário, executa a próxima instrução</a:t>
            </a:r>
            <a:r>
              <a:rPr lang="pt-BR" sz="2300" dirty="0">
                <a:cs typeface="Verdana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21661382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Usando GOTO na Máquina Virtual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FFE5E5C-C80A-4D8D-A711-3102A7BA9258}" type="slidenum">
              <a:rPr lang="pt-BR" smtClean="0"/>
              <a:pPr/>
              <a:t>11</a:t>
            </a:fld>
            <a:endParaRPr lang="pt-BR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5688" y="1535055"/>
            <a:ext cx="7645400" cy="46752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2319067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Programação em Máquinas Virtuais</a:t>
            </a:r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spcBef>
                <a:spcPct val="100000"/>
              </a:spcBef>
            </a:pPr>
            <a:r>
              <a:rPr lang="pt-BR" sz="2400" dirty="0"/>
              <a:t>Programas em linguagem de Máquinas Virtuais são normalmente escritos por compiladores, não por seres humanos;</a:t>
            </a:r>
          </a:p>
          <a:p>
            <a:pPr>
              <a:spcBef>
                <a:spcPct val="100000"/>
              </a:spcBef>
            </a:pPr>
            <a:r>
              <a:rPr lang="pt-BR" sz="2400" dirty="0"/>
              <a:t>Mas, para um ser humano escrever ou otimizar um compilador, ele deve primeiro entender o espírito da programação em máquinas virtuais.</a:t>
            </a:r>
          </a:p>
        </p:txBody>
      </p:sp>
      <p:sp>
        <p:nvSpPr>
          <p:cNvPr id="484355" name="Rectangle 3"/>
          <p:cNvSpPr>
            <a:spLocks noGrp="1" noChangeArrowheads="1"/>
          </p:cNvSpPr>
          <p:nvPr>
            <p:ph type="body" sz="quarter" idx="13"/>
          </p:nvPr>
        </p:nvSpPr>
        <p:spPr/>
        <p:txBody>
          <a:bodyPr>
            <a:normAutofit lnSpcReduction="10000"/>
          </a:bodyPr>
          <a:lstStyle/>
          <a:p>
            <a:pPr>
              <a:spcBef>
                <a:spcPct val="100000"/>
              </a:spcBef>
            </a:pPr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344034019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BA0E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" name="Rectangle 1"/>
          <p:cNvSpPr>
            <a:spLocks/>
          </p:cNvSpPr>
          <p:nvPr/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/>
          <p:cNvSpPr/>
          <p:nvPr/>
        </p:nvSpPr>
        <p:spPr>
          <a:xfrm>
            <a:off x="3039534" y="3636044"/>
            <a:ext cx="3061054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algn="ctr">
              <a:spcBef>
                <a:spcPct val="0"/>
              </a:spcBef>
              <a:defRPr/>
            </a:pPr>
            <a:r>
              <a:rPr lang="en-US" sz="2400" dirty="0">
                <a:solidFill>
                  <a:schemeClr val="bg1"/>
                </a:solidFill>
                <a:latin typeface="Verdana"/>
                <a:cs typeface="Verdana"/>
              </a:rPr>
              <a:t>www.insper.edu.br</a:t>
            </a:r>
            <a:endParaRPr lang="en-US" dirty="0">
              <a:solidFill>
                <a:schemeClr val="bg1"/>
              </a:solidFill>
              <a:latin typeface="Verdana"/>
              <a:cs typeface="Verdana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703298" y="2844822"/>
            <a:ext cx="1732955" cy="612532"/>
          </a:xfrm>
          <a:prstGeom prst="rect">
            <a:avLst/>
          </a:prstGeom>
        </p:spPr>
      </p:pic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6.262|33.5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31.726|1.969|2.632|15.07|2.049|1.34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7.303|1.049|7.016|1.58|35.302|1.060001|28.686|1.279999"/>
</p:tagLst>
</file>

<file path=ppt/theme/theme1.xml><?xml version="1.0" encoding="utf-8"?>
<a:theme xmlns:a="http://schemas.openxmlformats.org/drawingml/2006/main" name="Personalizar design">
  <a:themeElements>
    <a:clrScheme name="Escritório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o Office">
  <a:themeElements>
    <a:clrScheme name="Escritório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27485</TotalTime>
  <Words>981</Words>
  <Application>Microsoft Macintosh PowerPoint</Application>
  <PresentationFormat>On-screen Show (4:3)</PresentationFormat>
  <Paragraphs>228</Paragraphs>
  <Slides>13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23" baseType="lpstr">
      <vt:lpstr>Arial Unicode MS</vt:lpstr>
      <vt:lpstr>Arial</vt:lpstr>
      <vt:lpstr>Calibri</vt:lpstr>
      <vt:lpstr>Comic Sans MS</vt:lpstr>
      <vt:lpstr>Courier</vt:lpstr>
      <vt:lpstr>Courier New</vt:lpstr>
      <vt:lpstr>Times New Roman</vt:lpstr>
      <vt:lpstr>Verdana</vt:lpstr>
      <vt:lpstr>Wingdings</vt:lpstr>
      <vt:lpstr>Personalizar design</vt:lpstr>
      <vt:lpstr>PowerPoint Presentation</vt:lpstr>
      <vt:lpstr>Ken Thompson e Dennis Ritchie</vt:lpstr>
      <vt:lpstr>Lua</vt:lpstr>
      <vt:lpstr>Motivação</vt:lpstr>
      <vt:lpstr>Aritmética por Pilha</vt:lpstr>
      <vt:lpstr>Stack, SP e Heap</vt:lpstr>
      <vt:lpstr>Exemplo de Memória</vt:lpstr>
      <vt:lpstr>Exemplo de Memória</vt:lpstr>
      <vt:lpstr>Vetores (Arrays)</vt:lpstr>
      <vt:lpstr>Fluxo de Execução</vt:lpstr>
      <vt:lpstr>Usando GOTO na Máquina Virtual</vt:lpstr>
      <vt:lpstr>Programação em Máquinas Virtuais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Aula - Operações em Pilha em VM</dc:title>
  <dc:subject/>
  <dc:creator>Luciano Pereira Soares</dc:creator>
  <cp:keywords/>
  <dc:description/>
  <cp:lastModifiedBy>Luciano Pereira Soares</cp:lastModifiedBy>
  <cp:revision>788</cp:revision>
  <cp:lastPrinted>2015-05-25T01:17:28Z</cp:lastPrinted>
  <dcterms:created xsi:type="dcterms:W3CDTF">2014-04-17T20:05:08Z</dcterms:created>
  <dcterms:modified xsi:type="dcterms:W3CDTF">2026-10-27T02:43:56Z</dcterms:modified>
  <cp:category/>
</cp:coreProperties>
</file>