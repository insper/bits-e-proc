
<file path=[Content_Types].xml><?xml version="1.0" encoding="utf-8"?>
<Types xmlns="http://schemas.openxmlformats.org/package/2006/content-types"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tags/tag1.xml" ContentType="application/vnd.openxmlformats-officedocument.presentationml.tags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51" r:id="rId1"/>
  </p:sldMasterIdLst>
  <p:notesMasterIdLst>
    <p:notesMasterId r:id="rId26"/>
  </p:notesMasterIdLst>
  <p:handoutMasterIdLst>
    <p:handoutMasterId r:id="rId27"/>
  </p:handoutMasterIdLst>
  <p:sldIdLst>
    <p:sldId id="391" r:id="rId2"/>
    <p:sldId id="342" r:id="rId3"/>
    <p:sldId id="343" r:id="rId4"/>
    <p:sldId id="344" r:id="rId5"/>
    <p:sldId id="447" r:id="rId6"/>
    <p:sldId id="448" r:id="rId7"/>
    <p:sldId id="449" r:id="rId8"/>
    <p:sldId id="451" r:id="rId9"/>
    <p:sldId id="450" r:id="rId10"/>
    <p:sldId id="340" r:id="rId11"/>
    <p:sldId id="437" r:id="rId12"/>
    <p:sldId id="438" r:id="rId13"/>
    <p:sldId id="439" r:id="rId14"/>
    <p:sldId id="440" r:id="rId15"/>
    <p:sldId id="441" r:id="rId16"/>
    <p:sldId id="443" r:id="rId17"/>
    <p:sldId id="444" r:id="rId18"/>
    <p:sldId id="452" r:id="rId19"/>
    <p:sldId id="262" r:id="rId20"/>
    <p:sldId id="339" r:id="rId21"/>
    <p:sldId id="338" r:id="rId22"/>
    <p:sldId id="335" r:id="rId23"/>
    <p:sldId id="336" r:id="rId24"/>
    <p:sldId id="337" r:id="rId2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CBEC0"/>
    <a:srgbClr val="C00026"/>
    <a:srgbClr val="BA0E24"/>
    <a:srgbClr val="00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9"/>
    <p:restoredTop sz="83126" autoAdjust="0"/>
  </p:normalViewPr>
  <p:slideViewPr>
    <p:cSldViewPr snapToGrid="0" snapToObjects="1" showGuides="1">
      <p:cViewPr varScale="1">
        <p:scale>
          <a:sx n="99" d="100"/>
          <a:sy n="99" d="100"/>
        </p:scale>
        <p:origin x="2536" y="17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 snapToGrid="0" snapToObjects="1">
      <p:cViewPr varScale="1">
        <p:scale>
          <a:sx n="83" d="100"/>
          <a:sy n="83" d="100"/>
        </p:scale>
        <p:origin x="-1980" y="-72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handoutMaster" Target="handoutMasters/handoutMaster1.xml"/><Relationship Id="rId30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B2933F-D0FD-7240-A363-4A10A64C6792}" type="datetimeFigureOut">
              <a:rPr lang="en-US" smtClean="0"/>
              <a:t>10/8/26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225F2C9-07E4-FF4F-8189-CD4ED964D9B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301280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F3387-6852-4167-A065-1B417E5289FE}" type="datetimeFigureOut">
              <a:rPr lang="pt-BR" smtClean="0"/>
              <a:t>08/10/2026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3FB91E-A0DC-4A5F-B463-D7B8E79502D1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81216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http://www.plainlanguage.gov/resources/quotes/historical.cfm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705067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Charles Babbage nasceu em 26 de Dezembro de 1791 em Londres e é considero por muitos o pai da computação devido as maquinas que inventou.</a:t>
            </a:r>
          </a:p>
          <a:p>
            <a:r>
              <a:rPr lang="pt-BR" sz="1200" dirty="0"/>
              <a:t>Babbage foi um grande empreendedor ao projetar e construir maquinas para imprimir tabulações de funções polinomiais de forma automática.</a:t>
            </a:r>
          </a:p>
          <a:p>
            <a:endParaRPr lang="pt-BR" dirty="0"/>
          </a:p>
          <a:p>
            <a:endParaRPr lang="pt-BR" dirty="0"/>
          </a:p>
          <a:p>
            <a:r>
              <a:rPr lang="pt-BR" dirty="0"/>
              <a:t>http://history-computer.com/People/BabbageBio.html</a:t>
            </a:r>
          </a:p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www.computerhistory.org</a:t>
            </a:r>
            <a:r>
              <a:rPr lang="pt-BR" dirty="0"/>
              <a:t>/</a:t>
            </a:r>
            <a:r>
              <a:rPr lang="pt-BR" dirty="0" err="1"/>
              <a:t>babbage</a:t>
            </a:r>
            <a:r>
              <a:rPr lang="pt-BR" dirty="0"/>
              <a:t>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4827475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Inicialmente Babbage projetou sua Máquina Diferencial. Que usa o princípio da diferença dividida para os cálculos das funções polinomiais.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897919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Em</a:t>
            </a:r>
            <a:r>
              <a:rPr lang="en-US" dirty="0"/>
              <a:t> 1833, </a:t>
            </a:r>
            <a:r>
              <a:rPr lang="en-US" dirty="0" err="1"/>
              <a:t>começou</a:t>
            </a:r>
            <a:r>
              <a:rPr lang="en-US" dirty="0"/>
              <a:t> a </a:t>
            </a:r>
            <a:r>
              <a:rPr lang="en-US" dirty="0" err="1"/>
              <a:t>trabalhar</a:t>
            </a:r>
            <a:r>
              <a:rPr lang="en-US" baseline="0" dirty="0"/>
              <a:t> </a:t>
            </a:r>
            <a:r>
              <a:rPr lang="en-US" baseline="0" dirty="0" err="1"/>
              <a:t>na</a:t>
            </a:r>
            <a:r>
              <a:rPr lang="en-US" baseline="0" dirty="0"/>
              <a:t> </a:t>
            </a:r>
            <a:r>
              <a:rPr lang="en-US" baseline="0" dirty="0" err="1"/>
              <a:t>sua</a:t>
            </a:r>
            <a:r>
              <a:rPr lang="en-US" baseline="0" dirty="0"/>
              <a:t> nova </a:t>
            </a:r>
            <a:r>
              <a:rPr lang="en-US" baseline="0" dirty="0" err="1"/>
              <a:t>Idéia</a:t>
            </a:r>
            <a:r>
              <a:rPr lang="en-US" baseline="0" dirty="0"/>
              <a:t> de </a:t>
            </a:r>
            <a:r>
              <a:rPr lang="en-US" baseline="0" dirty="0" err="1"/>
              <a:t>uma</a:t>
            </a:r>
            <a:r>
              <a:rPr lang="en-US" baseline="0" dirty="0"/>
              <a:t> </a:t>
            </a:r>
            <a:r>
              <a:rPr lang="en-US" baseline="0" dirty="0" err="1"/>
              <a:t>máquina</a:t>
            </a:r>
            <a:r>
              <a:rPr lang="en-US" baseline="0" dirty="0"/>
              <a:t> </a:t>
            </a:r>
            <a:r>
              <a:rPr lang="en-US" baseline="0" dirty="0" err="1"/>
              <a:t>analítica</a:t>
            </a:r>
            <a:r>
              <a:rPr lang="en-US" baseline="0" dirty="0"/>
              <a:t>, que </a:t>
            </a:r>
            <a:r>
              <a:rPr lang="en-US" baseline="0" dirty="0" err="1"/>
              <a:t>operava</a:t>
            </a:r>
            <a:r>
              <a:rPr lang="en-US" baseline="0" dirty="0"/>
              <a:t> com </a:t>
            </a:r>
            <a:r>
              <a:rPr lang="en-US" baseline="0" dirty="0" err="1"/>
              <a:t>palavras</a:t>
            </a:r>
            <a:r>
              <a:rPr lang="en-US" baseline="0" dirty="0"/>
              <a:t> de </a:t>
            </a:r>
            <a:r>
              <a:rPr lang="en-US" dirty="0"/>
              <a:t>50 </a:t>
            </a:r>
            <a:r>
              <a:rPr lang="en-US" dirty="0" err="1"/>
              <a:t>dígitos</a:t>
            </a:r>
            <a:r>
              <a:rPr lang="en-US" dirty="0"/>
              <a:t> </a:t>
            </a:r>
            <a:r>
              <a:rPr lang="en-US" dirty="0" err="1"/>
              <a:t>decimais</a:t>
            </a:r>
            <a:r>
              <a:rPr lang="en-US" dirty="0"/>
              <a:t> e </a:t>
            </a:r>
            <a:r>
              <a:rPr lang="en-US" dirty="0" err="1"/>
              <a:t>conseguiria</a:t>
            </a:r>
            <a:r>
              <a:rPr lang="en-US" dirty="0"/>
              <a:t> </a:t>
            </a:r>
            <a:r>
              <a:rPr lang="en-US" dirty="0" err="1"/>
              <a:t>armazenar</a:t>
            </a:r>
            <a:r>
              <a:rPr lang="en-US" dirty="0"/>
              <a:t> 1000 </a:t>
            </a:r>
            <a:r>
              <a:rPr lang="en-US" dirty="0" err="1"/>
              <a:t>números</a:t>
            </a:r>
            <a:r>
              <a:rPr lang="en-US" dirty="0"/>
              <a:t>. A </a:t>
            </a:r>
            <a:r>
              <a:rPr lang="en-US" dirty="0" err="1"/>
              <a:t>grande</a:t>
            </a:r>
            <a:r>
              <a:rPr lang="en-US" dirty="0"/>
              <a:t> </a:t>
            </a:r>
            <a:r>
              <a:rPr lang="en-US" dirty="0" err="1"/>
              <a:t>inovação</a:t>
            </a:r>
            <a:r>
              <a:rPr lang="en-US" dirty="0"/>
              <a:t> </a:t>
            </a:r>
            <a:r>
              <a:rPr lang="en-US" dirty="0" err="1"/>
              <a:t>foi</a:t>
            </a:r>
            <a:r>
              <a:rPr lang="en-US" dirty="0"/>
              <a:t> um </a:t>
            </a:r>
            <a:r>
              <a:rPr lang="en-US" dirty="0" err="1"/>
              <a:t>mecanismo</a:t>
            </a:r>
            <a:r>
              <a:rPr lang="en-US" dirty="0"/>
              <a:t> de </a:t>
            </a:r>
            <a:r>
              <a:rPr lang="en-US" dirty="0" err="1"/>
              <a:t>fluxo</a:t>
            </a:r>
            <a:r>
              <a:rPr lang="en-US" dirty="0"/>
              <a:t> de </a:t>
            </a:r>
            <a:r>
              <a:rPr lang="en-US" dirty="0" err="1"/>
              <a:t>controle</a:t>
            </a:r>
            <a:r>
              <a:rPr lang="en-US" dirty="0"/>
              <a:t>,</a:t>
            </a:r>
            <a:r>
              <a:rPr lang="en-US" baseline="0" dirty="0"/>
              <a:t> e a entrada de dados era </a:t>
            </a:r>
            <a:r>
              <a:rPr lang="en-US" baseline="0" dirty="0" err="1"/>
              <a:t>realizada</a:t>
            </a:r>
            <a:r>
              <a:rPr lang="en-US" baseline="0" dirty="0"/>
              <a:t> </a:t>
            </a:r>
            <a:r>
              <a:rPr lang="en-US" baseline="0" dirty="0" err="1"/>
              <a:t>por</a:t>
            </a:r>
            <a:r>
              <a:rPr lang="en-US" baseline="0" dirty="0"/>
              <a:t> </a:t>
            </a:r>
            <a:r>
              <a:rPr lang="en-US" baseline="0" dirty="0" err="1"/>
              <a:t>meio</a:t>
            </a:r>
            <a:r>
              <a:rPr lang="en-US" baseline="0" dirty="0"/>
              <a:t> de </a:t>
            </a:r>
            <a:r>
              <a:rPr lang="en-US" baseline="0" dirty="0" err="1"/>
              <a:t>cartões</a:t>
            </a:r>
            <a:r>
              <a:rPr lang="en-US" baseline="0" dirty="0"/>
              <a:t> </a:t>
            </a:r>
            <a:r>
              <a:rPr lang="en-US" baseline="0" dirty="0" err="1"/>
              <a:t>perfurados</a:t>
            </a:r>
            <a:r>
              <a:rPr lang="en-US" baseline="0" dirty="0"/>
              <a:t>.</a:t>
            </a:r>
            <a:endParaRPr lang="en-US" dirty="0"/>
          </a:p>
          <a:p>
            <a:endParaRPr lang="pt-BR" dirty="0"/>
          </a:p>
          <a:p>
            <a:r>
              <a:rPr lang="pt-BR" dirty="0"/>
              <a:t>Joseph Marie Charles </a:t>
            </a:r>
            <a:r>
              <a:rPr lang="pt-BR" dirty="0" err="1"/>
              <a:t>dit</a:t>
            </a:r>
            <a:r>
              <a:rPr lang="pt-BR" dirty="0"/>
              <a:t> (</a:t>
            </a:r>
            <a:r>
              <a:rPr lang="pt-BR" dirty="0" err="1"/>
              <a:t>called</a:t>
            </a:r>
            <a:r>
              <a:rPr lang="pt-BR" dirty="0"/>
              <a:t> </a:t>
            </a:r>
            <a:r>
              <a:rPr lang="pt-BR" dirty="0" err="1"/>
              <a:t>or</a:t>
            </a:r>
            <a:r>
              <a:rPr lang="pt-BR" dirty="0"/>
              <a:t> </a:t>
            </a:r>
            <a:r>
              <a:rPr lang="pt-BR" dirty="0" err="1"/>
              <a:t>nicknamed</a:t>
            </a:r>
            <a:r>
              <a:rPr lang="pt-BR" dirty="0"/>
              <a:t>) </a:t>
            </a:r>
            <a:r>
              <a:rPr lang="pt-BR" dirty="0" err="1"/>
              <a:t>Jacquard</a:t>
            </a:r>
            <a:r>
              <a:rPr lang="pt-BR" dirty="0"/>
              <a:t> (7 July 1752 – 7 August 1834) </a:t>
            </a:r>
            <a:r>
              <a:rPr lang="pt-BR" dirty="0" err="1"/>
              <a:t>was</a:t>
            </a:r>
            <a:r>
              <a:rPr lang="pt-BR" dirty="0"/>
              <a:t> a </a:t>
            </a:r>
            <a:r>
              <a:rPr lang="pt-BR" dirty="0" err="1"/>
              <a:t>French</a:t>
            </a:r>
            <a:r>
              <a:rPr lang="pt-BR" dirty="0"/>
              <a:t> </a:t>
            </a:r>
            <a:r>
              <a:rPr lang="pt-BR" dirty="0" err="1"/>
              <a:t>weaver</a:t>
            </a:r>
            <a:r>
              <a:rPr lang="pt-BR" dirty="0"/>
              <a:t> </a:t>
            </a:r>
            <a:r>
              <a:rPr lang="pt-BR" dirty="0" err="1"/>
              <a:t>and</a:t>
            </a:r>
            <a:r>
              <a:rPr lang="pt-BR" dirty="0"/>
              <a:t> </a:t>
            </a:r>
            <a:r>
              <a:rPr lang="pt-BR" dirty="0" err="1"/>
              <a:t>merchant</a:t>
            </a:r>
            <a:r>
              <a:rPr lang="pt-BR" dirty="0"/>
              <a:t>. He </a:t>
            </a:r>
            <a:r>
              <a:rPr lang="pt-BR" dirty="0" err="1"/>
              <a:t>played</a:t>
            </a:r>
            <a:r>
              <a:rPr lang="pt-BR" dirty="0"/>
              <a:t> </a:t>
            </a:r>
            <a:r>
              <a:rPr lang="pt-BR" dirty="0" err="1"/>
              <a:t>an</a:t>
            </a:r>
            <a:r>
              <a:rPr lang="pt-BR" dirty="0"/>
              <a:t> </a:t>
            </a:r>
            <a:r>
              <a:rPr lang="pt-BR" dirty="0" err="1"/>
              <a:t>important</a:t>
            </a:r>
            <a:r>
              <a:rPr lang="pt-BR" dirty="0"/>
              <a:t> role in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development</a:t>
            </a:r>
            <a:r>
              <a:rPr lang="pt-BR" dirty="0"/>
              <a:t> </a:t>
            </a:r>
            <a:r>
              <a:rPr lang="pt-BR" dirty="0" err="1"/>
              <a:t>of</a:t>
            </a:r>
            <a:r>
              <a:rPr lang="pt-BR" dirty="0"/>
              <a:t> </a:t>
            </a:r>
            <a:r>
              <a:rPr lang="pt-BR" dirty="0" err="1"/>
              <a:t>the</a:t>
            </a:r>
            <a:r>
              <a:rPr lang="pt-BR" dirty="0"/>
              <a:t> </a:t>
            </a:r>
            <a:r>
              <a:rPr lang="pt-BR" dirty="0" err="1"/>
              <a:t>earliest</a:t>
            </a:r>
            <a:r>
              <a:rPr lang="pt-BR" dirty="0"/>
              <a:t> </a:t>
            </a:r>
            <a:r>
              <a:rPr lang="pt-BR" dirty="0" err="1"/>
              <a:t>programmable</a:t>
            </a:r>
            <a:r>
              <a:rPr lang="pt-BR" dirty="0"/>
              <a:t> </a:t>
            </a:r>
            <a:r>
              <a:rPr lang="pt-BR" dirty="0" err="1"/>
              <a:t>loom</a:t>
            </a:r>
            <a:r>
              <a:rPr lang="pt-BR" dirty="0"/>
              <a:t> (</a:t>
            </a:r>
            <a:r>
              <a:rPr lang="pt-BR" dirty="0" err="1"/>
              <a:t>the</a:t>
            </a:r>
            <a:r>
              <a:rPr lang="pt-BR" dirty="0"/>
              <a:t> "</a:t>
            </a:r>
            <a:r>
              <a:rPr lang="pt-BR" dirty="0" err="1"/>
              <a:t>Jacquard</a:t>
            </a:r>
            <a:r>
              <a:rPr lang="pt-BR" dirty="0"/>
              <a:t> </a:t>
            </a:r>
            <a:r>
              <a:rPr lang="pt-BR" dirty="0" err="1"/>
              <a:t>loom</a:t>
            </a:r>
            <a:r>
              <a:rPr lang="pt-BR" dirty="0"/>
              <a:t>"),</a:t>
            </a:r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</a:t>
            </a:r>
            <a:r>
              <a:rPr lang="pt-BR" dirty="0" err="1"/>
              <a:t>en.wikipedia.org</a:t>
            </a:r>
            <a:r>
              <a:rPr lang="pt-BR" dirty="0"/>
              <a:t>/</a:t>
            </a:r>
            <a:r>
              <a:rPr lang="pt-BR" dirty="0" err="1"/>
              <a:t>wiki</a:t>
            </a:r>
            <a:r>
              <a:rPr lang="pt-BR" dirty="0"/>
              <a:t>/</a:t>
            </a:r>
            <a:r>
              <a:rPr lang="pt-BR" dirty="0" err="1"/>
              <a:t>Analytical_Engine</a:t>
            </a:r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2514652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37808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Problema da galinha e ovo do Assembler.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913776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dirty="0"/>
              <a:t>Problema da galinha e ovo do Assembler.</a:t>
            </a: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5681232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linguagem Assembly apresentada é especifica para o processador produzido no curso, embora muito similar a outras usadas em produto de mercado, as instruções possuem limitações inerentes a cada hardware.</a:t>
            </a:r>
            <a:endParaRPr lang="en-US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894215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Na</a:t>
            </a:r>
            <a:r>
              <a:rPr lang="pt-BR" sz="1200" baseline="0" dirty="0"/>
              <a:t> </a:t>
            </a:r>
            <a:r>
              <a:rPr lang="pt-BR" sz="1200" dirty="0"/>
              <a:t>técnica de mapeamento de memória, endereços de memória são usados para acessar diretamente dispositivos ligados a CPU, ou seja, certos endereços de memória são na verdade outros dispositivos como vídeo ou teclado.</a:t>
            </a:r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://pt.wikipedia.org/wiki/E/S_mapeada_em_mem%C3%B3ria</a:t>
            </a:r>
          </a:p>
          <a:p>
            <a:r>
              <a:rPr lang="pt-BR" dirty="0"/>
              <a:t>http://clipart.me/technology/computer-memory-ram-38468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369733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dirty="0"/>
              <a:t>Atualmente as </a:t>
            </a:r>
            <a:r>
              <a:rPr lang="pt-BR" sz="1200" dirty="0" err="1"/>
              <a:t>CPUs</a:t>
            </a:r>
            <a:r>
              <a:rPr lang="pt-BR" sz="1200" dirty="0"/>
              <a:t> tem controladores </a:t>
            </a:r>
            <a:r>
              <a:rPr lang="pt-BR" sz="1200" dirty="0" err="1"/>
              <a:t>I</a:t>
            </a:r>
            <a:r>
              <a:rPr lang="pt-BR" sz="1200" dirty="0"/>
              <a:t>/O e de memória integrados (IMC), e usam chips auxiliares para controlar certos dispositivos. </a:t>
            </a:r>
            <a:endParaRPr lang="pt-BR" sz="800" dirty="0"/>
          </a:p>
          <a:p>
            <a:r>
              <a:rPr lang="pt-BR" sz="1200" dirty="0"/>
              <a:t>Os dispositivos podem usar recursos de Acesso Direto a Memória (DMA), liberando o processador para outras tarefas. </a:t>
            </a:r>
            <a:endParaRPr lang="pt-BR" dirty="0"/>
          </a:p>
          <a:p>
            <a:endParaRPr lang="pt-BR" dirty="0"/>
          </a:p>
          <a:p>
            <a:r>
              <a:rPr lang="pt-BR" dirty="0" err="1"/>
              <a:t>https</a:t>
            </a:r>
            <a:r>
              <a:rPr lang="pt-BR" dirty="0"/>
              <a:t>://en.wikipedia.org/wiki/Memory_controller</a:t>
            </a:r>
          </a:p>
          <a:p>
            <a:r>
              <a:rPr lang="pt-BR" dirty="0"/>
              <a:t>http://www.anandtech.com/show/8557/x99-motherboard-roundup-asus-x99-deluxe-gigabyte-x99-ud7-ud5-asrock-x99-ws-msi-x99s-sli-plus-intel-haswell-e</a:t>
            </a:r>
          </a:p>
          <a:p>
            <a:r>
              <a:rPr lang="pt-BR" dirty="0"/>
              <a:t>controladores de memória contêm a lógica necessária para ler e escrever para DRAM, e para "atualizar" o DRAM.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671592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docs.qgis.org</a:t>
            </a:r>
            <a:r>
              <a:rPr lang="pt-BR" dirty="0"/>
              <a:t>/2.0/</a:t>
            </a:r>
            <a:r>
              <a:rPr lang="pt-BR" dirty="0" err="1"/>
              <a:t>en</a:t>
            </a:r>
            <a:r>
              <a:rPr lang="pt-BR" dirty="0"/>
              <a:t>/_</a:t>
            </a:r>
            <a:r>
              <a:rPr lang="pt-BR" dirty="0" err="1"/>
              <a:t>images</a:t>
            </a:r>
            <a:r>
              <a:rPr lang="pt-BR" dirty="0"/>
              <a:t>/</a:t>
            </a:r>
            <a:r>
              <a:rPr lang="pt-BR" dirty="0" err="1"/>
              <a:t>raster_dataset.png</a:t>
            </a:r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4610412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http</a:t>
            </a:r>
            <a:r>
              <a:rPr lang="pt-BR" dirty="0"/>
              <a:t>://</a:t>
            </a:r>
            <a:r>
              <a:rPr lang="pt-BR" dirty="0" err="1"/>
              <a:t>www.b-on-fire.com</a:t>
            </a:r>
            <a:r>
              <a:rPr lang="pt-BR" dirty="0"/>
              <a:t>/</a:t>
            </a:r>
            <a:r>
              <a:rPr lang="pt-BR" dirty="0" err="1"/>
              <a:t>cad</a:t>
            </a:r>
            <a:r>
              <a:rPr lang="pt-BR" dirty="0"/>
              <a:t>/</a:t>
            </a:r>
            <a:r>
              <a:rPr lang="pt-BR" dirty="0" err="1"/>
              <a:t>images</a:t>
            </a:r>
            <a:r>
              <a:rPr lang="pt-BR" dirty="0"/>
              <a:t>/IMG_XM_KeyMap_05.gif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04577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dirty="0"/>
              <a:t>Os arquivos binários (em linguagem de máquina) são compostos de textos com 16 bits de 0 e 1. Sendo uma instrução por cada linha, e cada linha representa uma posição de memória. Os arquivos tem uma extensão .</a:t>
            </a:r>
            <a:r>
              <a:rPr lang="pt-BR" sz="1200" dirty="0" err="1"/>
              <a:t>mif</a:t>
            </a:r>
            <a:endParaRPr lang="pt-BR" sz="1200" dirty="0"/>
          </a:p>
          <a:p>
            <a:endParaRPr lang="pt-BR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23FB91E-A0DC-4A5F-B463-D7B8E79502D1}" type="slidenum">
              <a:rPr lang="pt-BR" smtClean="0"/>
              <a:t>24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040907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CC8788FA-9D8F-3C45-9A7B-393163C83DF0}" type="datetime1">
              <a:rPr lang="en-US" smtClean="0"/>
              <a:t>10/8/26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BCBEC0"/>
                </a:solidFill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857" y="0"/>
            <a:ext cx="9138285" cy="6858000"/>
          </a:xfrm>
          <a:prstGeom prst="rect">
            <a:avLst/>
          </a:prstGeom>
        </p:spPr>
      </p:pic>
      <p:sp>
        <p:nvSpPr>
          <p:cNvPr id="9" name="Espaço Reservado para Conteúdo 2"/>
          <p:cNvSpPr>
            <a:spLocks noGrp="1"/>
          </p:cNvSpPr>
          <p:nvPr>
            <p:ph idx="1" hasCustomPrompt="1"/>
          </p:nvPr>
        </p:nvSpPr>
        <p:spPr>
          <a:xfrm>
            <a:off x="966786" y="2714625"/>
            <a:ext cx="7343775" cy="7143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3600" b="1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título</a:t>
            </a:r>
          </a:p>
        </p:txBody>
      </p:sp>
      <p:sp>
        <p:nvSpPr>
          <p:cNvPr id="10" name="Espaço Reservado para Conteúdo 2"/>
          <p:cNvSpPr>
            <a:spLocks noGrp="1"/>
          </p:cNvSpPr>
          <p:nvPr>
            <p:ph idx="13" hasCustomPrompt="1"/>
          </p:nvPr>
        </p:nvSpPr>
        <p:spPr>
          <a:xfrm>
            <a:off x="966786" y="3429001"/>
            <a:ext cx="7343775" cy="476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2000" b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subtítulo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4" hasCustomPrompt="1"/>
          </p:nvPr>
        </p:nvSpPr>
        <p:spPr>
          <a:xfrm>
            <a:off x="900111" y="6356349"/>
            <a:ext cx="7343775" cy="2381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ctr">
              <a:buFontTx/>
              <a:buNone/>
              <a:defRPr sz="1400" b="0" baseline="0">
                <a:solidFill>
                  <a:schemeClr val="bg1"/>
                </a:solidFill>
              </a:defRPr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a data e o nome da área ou disciplina</a:t>
            </a:r>
          </a:p>
        </p:txBody>
      </p:sp>
    </p:spTree>
    <p:extLst>
      <p:ext uri="{BB962C8B-B14F-4D97-AF65-F5344CB8AC3E}">
        <p14:creationId xmlns:p14="http://schemas.microsoft.com/office/powerpoint/2010/main" val="2529634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5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8481323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C2149-89A1-2143-B6CB-10E4BD2D3370}" type="datetime1">
              <a:rPr lang="en-US" smtClean="0"/>
              <a:t>10/8/26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63576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18" name="Espaço Reservado para Texto 4"/>
          <p:cNvSpPr>
            <a:spLocks noGrp="1"/>
          </p:cNvSpPr>
          <p:nvPr>
            <p:ph type="body" sz="quarter" idx="15" hasCustomPrompt="1"/>
          </p:nvPr>
        </p:nvSpPr>
        <p:spPr>
          <a:xfrm>
            <a:off x="4714875" y="1484313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0" name="Espaço Reservado para Texto 4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1487488"/>
            <a:ext cx="3971925" cy="639762"/>
          </a:xfrm>
          <a:prstGeom prst="rect">
            <a:avLst/>
          </a:prstGeom>
        </p:spPr>
        <p:txBody>
          <a:bodyPr anchor="b">
            <a:noAutofit/>
          </a:bodyPr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dirty="0"/>
              <a:t>Clique para editar subtítulo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2181225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2190750"/>
            <a:ext cx="3971925" cy="3962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" name="TextBox 1"/>
          <p:cNvSpPr txBox="1"/>
          <p:nvPr userDrawn="1"/>
        </p:nvSpPr>
        <p:spPr>
          <a:xfrm>
            <a:off x="7640320" y="6482080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7112000" y="656336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7106920" y="6356350"/>
            <a:ext cx="396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93085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2D7956-45FE-0B43-9FB1-4BE9D905D684}" type="datetime1">
              <a:rPr lang="en-US" smtClean="0"/>
              <a:t>10/8/26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5"/>
            <a:ext cx="3971925" cy="466725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9003682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16C89B-46A1-944B-8294-819B08567B54}" type="datetime1">
              <a:rPr lang="en-US" smtClean="0"/>
              <a:t>10/8/26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1503680" cy="365125"/>
          </a:xfrm>
        </p:spPr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 dirty="0"/>
          </a:p>
        </p:txBody>
      </p:sp>
      <p:sp>
        <p:nvSpPr>
          <p:cNvPr id="16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7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  <p:sp>
        <p:nvSpPr>
          <p:cNvPr id="2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76374"/>
            <a:ext cx="3971925" cy="24288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22" name="Espaço Reservado para Conteúdo 2"/>
          <p:cNvSpPr>
            <a:spLocks noGrp="1"/>
          </p:cNvSpPr>
          <p:nvPr>
            <p:ph idx="17"/>
          </p:nvPr>
        </p:nvSpPr>
        <p:spPr>
          <a:xfrm>
            <a:off x="4714875" y="1476375"/>
            <a:ext cx="3971925" cy="46767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0" name="Espaço Reservado para Imagem 2"/>
          <p:cNvSpPr>
            <a:spLocks noGrp="1"/>
          </p:cNvSpPr>
          <p:nvPr>
            <p:ph type="pic" idx="15"/>
          </p:nvPr>
        </p:nvSpPr>
        <p:spPr>
          <a:xfrm>
            <a:off x="657224" y="4086225"/>
            <a:ext cx="3971925" cy="17049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11" name="Espaço Reservado para Texto 7"/>
          <p:cNvSpPr>
            <a:spLocks noGrp="1"/>
          </p:cNvSpPr>
          <p:nvPr>
            <p:ph type="body" sz="quarter" idx="16" hasCustomPrompt="1"/>
          </p:nvPr>
        </p:nvSpPr>
        <p:spPr>
          <a:xfrm>
            <a:off x="657225" y="5791200"/>
            <a:ext cx="3971924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100" b="0" i="1" baseline="0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a legenda mestre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7386320" y="6356350"/>
            <a:ext cx="4673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7755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4924424" y="0"/>
            <a:ext cx="4219575" cy="68580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FE0B43-6A8C-D94C-A4F4-9A1865BE9A40}" type="datetime1">
              <a:rPr lang="en-US" smtClean="0"/>
              <a:t>10/8/26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t>‹#›</a:t>
            </a:fld>
            <a:endParaRPr lang="pt-BR"/>
          </a:p>
        </p:txBody>
      </p:sp>
      <p:sp>
        <p:nvSpPr>
          <p:cNvPr id="8" name="Título 1"/>
          <p:cNvSpPr>
            <a:spLocks noGrp="1"/>
          </p:cNvSpPr>
          <p:nvPr>
            <p:ph type="title" hasCustomPrompt="1"/>
          </p:nvPr>
        </p:nvSpPr>
        <p:spPr>
          <a:xfrm>
            <a:off x="457200" y="781050"/>
            <a:ext cx="4363508" cy="619125"/>
          </a:xfrm>
          <a:prstGeom prst="rect">
            <a:avLst/>
          </a:prstGeom>
        </p:spPr>
        <p:txBody>
          <a:bodyPr/>
          <a:lstStyle>
            <a:lvl1pPr>
              <a:defRPr baseline="0"/>
            </a:lvl1pPr>
          </a:lstStyle>
          <a:p>
            <a:r>
              <a:rPr lang="pt-BR" dirty="0"/>
              <a:t>Edite o título mestre</a:t>
            </a:r>
          </a:p>
        </p:txBody>
      </p:sp>
      <p:sp>
        <p:nvSpPr>
          <p:cNvPr id="9" name="Espaço Reservado para Conteúdo 2"/>
          <p:cNvSpPr>
            <a:spLocks noGrp="1"/>
          </p:cNvSpPr>
          <p:nvPr>
            <p:ph idx="13"/>
          </p:nvPr>
        </p:nvSpPr>
        <p:spPr>
          <a:xfrm>
            <a:off x="657225" y="1485900"/>
            <a:ext cx="4163483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</p:spTree>
    <p:extLst>
      <p:ext uri="{BB962C8B-B14F-4D97-AF65-F5344CB8AC3E}">
        <p14:creationId xmlns:p14="http://schemas.microsoft.com/office/powerpoint/2010/main" val="34510882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fundo_ppt1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0" name="Título 1"/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  <a:prstGeom prst="rect">
            <a:avLst/>
          </a:prstGeo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11" name="Espaço Reservado para Conteúdo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7244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FontTx/>
              <a:buNone/>
              <a:defRPr sz="1800"/>
            </a:lvl1pPr>
            <a:lvl2pPr>
              <a:defRPr sz="18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12" name="Espaço Reservado para Texto 7"/>
          <p:cNvSpPr>
            <a:spLocks noGrp="1"/>
          </p:cNvSpPr>
          <p:nvPr>
            <p:ph type="body" sz="quarter" idx="13" hasCustomPrompt="1"/>
          </p:nvPr>
        </p:nvSpPr>
        <p:spPr>
          <a:xfrm>
            <a:off x="161925" y="85725"/>
            <a:ext cx="7229475" cy="35242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300" b="1">
                <a:solidFill>
                  <a:srgbClr val="BCBEC0"/>
                </a:solidFill>
              </a:defRPr>
            </a:lvl1pPr>
          </a:lstStyle>
          <a:p>
            <a:pPr lvl="0"/>
            <a:r>
              <a:rPr lang="pt-BR" dirty="0"/>
              <a:t>Clique para editar o chapéu mestre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030518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image" Target="../media/image1.jpg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fundo_ppt1_ok.jpg"/>
          <p:cNvPicPr>
            <a:picLocks noChangeAspect="1"/>
          </p:cNvPicPr>
          <p:nvPr userDrawn="1"/>
        </p:nvPicPr>
        <p:blipFill>
          <a:blip r:embed="rId10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A8EA56D1-9008-324A-AE78-6F3716B85DF9}" type="datetime1">
              <a:rPr lang="en-US" smtClean="0"/>
              <a:t>10/8/26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fld id="{7FFE5E5C-C80A-4D8D-A711-3102A7BA9258}" type="slidenum">
              <a:rPr lang="pt-BR" smtClean="0"/>
              <a:pPr/>
              <a:t>‹#›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954030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3" r:id="rId1"/>
    <p:sldLayoutId id="2147483668" r:id="rId2"/>
    <p:sldLayoutId id="2147483656" r:id="rId3"/>
    <p:sldLayoutId id="2147483666" r:id="rId4"/>
    <p:sldLayoutId id="2147483667" r:id="rId5"/>
    <p:sldLayoutId id="2147483660" r:id="rId6"/>
    <p:sldLayoutId id="2147483662" r:id="rId7"/>
    <p:sldLayoutId id="2147483670" r:id="rId8"/>
  </p:sldLayoutIdLst>
  <p:hf hdr="0" ftr="0" dt="0"/>
  <p:txStyles>
    <p:titleStyle>
      <a:lvl1pPr algn="l" defTabSz="914400" rtl="0" eaLnBrk="1" latinLnBrk="0" hangingPunct="1">
        <a:spcBef>
          <a:spcPct val="0"/>
        </a:spcBef>
        <a:buNone/>
        <a:defRPr sz="3200" kern="1200">
          <a:solidFill>
            <a:srgbClr val="C00026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b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lpsoares@insper.edu.br?subject=e-mail%20professor%20Luciano%20Soares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QVxbNZWLP60" TargetMode="External"/><Relationship Id="rId4" Type="http://schemas.openxmlformats.org/officeDocument/2006/relationships/image" Target="../media/image5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hyperlink" Target="https://www.youtube.com/watch?v=qctHEGKr9Zs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youtube.com/watch?v=BlbQsKpq3Ak" TargetMode="External"/><Relationship Id="rId4" Type="http://schemas.openxmlformats.org/officeDocument/2006/relationships/image" Target="../media/image9.jp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sv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1.sv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microsoft.com/office/2007/relationships/media" Target="../media/media1.mp4"/><Relationship Id="rId2" Type="http://schemas.openxmlformats.org/officeDocument/2006/relationships/tags" Target="../tags/tag1.xml"/><Relationship Id="rId1" Type="http://schemas.openxmlformats.org/officeDocument/2006/relationships/video" Target="NULL" TargetMode="Externa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jpeg"/><Relationship Id="rId5" Type="http://schemas.openxmlformats.org/officeDocument/2006/relationships/image" Target="../media/image20.jpeg"/><Relationship Id="rId4" Type="http://schemas.openxmlformats.org/officeDocument/2006/relationships/image" Target="../media/image19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tif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tiff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onteúdo 1"/>
          <p:cNvSpPr>
            <a:spLocks noGrp="1"/>
          </p:cNvSpPr>
          <p:nvPr>
            <p:ph idx="1"/>
          </p:nvPr>
        </p:nvSpPr>
        <p:spPr>
          <a:xfrm>
            <a:off x="966786" y="2384425"/>
            <a:ext cx="7343775" cy="714375"/>
          </a:xfrm>
        </p:spPr>
        <p:txBody>
          <a:bodyPr>
            <a:normAutofit fontScale="25000" lnSpcReduction="20000"/>
          </a:bodyPr>
          <a:lstStyle/>
          <a:p>
            <a:pPr lvl="0" defTabSz="457200">
              <a:spcBef>
                <a:spcPct val="0"/>
              </a:spcBef>
              <a:spcAft>
                <a:spcPts val="600"/>
              </a:spcAft>
              <a:defRPr/>
            </a:pPr>
            <a:r>
              <a:rPr lang="pt-BR" sz="14400" dirty="0">
                <a:latin typeface="Verdana"/>
                <a:cs typeface="Verdana"/>
              </a:rPr>
              <a:t>Elementos de Sistemas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3"/>
          </p:nvPr>
        </p:nvSpPr>
        <p:spPr/>
        <p:txBody>
          <a:bodyPr>
            <a:normAutofit/>
          </a:bodyPr>
          <a:lstStyle/>
          <a:p>
            <a:r>
              <a:rPr lang="pt-BR" dirty="0">
                <a:latin typeface="Verdana"/>
                <a:cs typeface="Verdana"/>
              </a:rPr>
              <a:t>Programação em Assembly</a:t>
            </a:r>
            <a:endParaRPr lang="pt-BR" dirty="0"/>
          </a:p>
        </p:txBody>
      </p:sp>
      <p:sp>
        <p:nvSpPr>
          <p:cNvPr id="9" name="Espaço Reservado para Conteúdo 3"/>
          <p:cNvSpPr>
            <a:spLocks noGrp="1"/>
          </p:cNvSpPr>
          <p:nvPr>
            <p:ph idx="14"/>
          </p:nvPr>
        </p:nvSpPr>
        <p:spPr>
          <a:xfrm>
            <a:off x="900111" y="6233375"/>
            <a:ext cx="7343775" cy="361099"/>
          </a:xfrm>
        </p:spPr>
        <p:txBody>
          <a:bodyPr>
            <a:normAutofit/>
          </a:bodyPr>
          <a:lstStyle/>
          <a:p>
            <a:pPr algn="r"/>
            <a:r>
              <a:rPr lang="pt-BR" dirty="0"/>
              <a:t>Ciência da Computação - Luciano Soares </a:t>
            </a:r>
            <a:r>
              <a:rPr lang="pt-BR" dirty="0">
                <a:solidFill>
                  <a:schemeClr val="tx2">
                    <a:lumMod val="40000"/>
                    <a:lumOff val="60000"/>
                  </a:schemeClr>
                </a:solidFill>
                <a:hlinkClick r:id="rId3" invalidUrl="mailto:lpsoares@insper.edu.br?subject=e-mail professor Luciano Soares"/>
              </a:rPr>
              <a:t>&lt;lpsoares@insper.edu.br&gt;</a:t>
            </a:r>
            <a:endParaRPr lang="pt-BR" dirty="0">
              <a:solidFill>
                <a:schemeClr val="tx2">
                  <a:lumMod val="40000"/>
                  <a:lumOff val="60000"/>
                </a:schemeClr>
              </a:solidFill>
            </a:endParaRPr>
          </a:p>
          <a:p>
            <a:pPr algn="r"/>
            <a:endParaRPr lang="pt-BR" dirty="0"/>
          </a:p>
          <a:p>
            <a:pPr algn="r"/>
            <a:endParaRPr lang="pt-BR" dirty="0"/>
          </a:p>
        </p:txBody>
      </p:sp>
      <p:sp>
        <p:nvSpPr>
          <p:cNvPr id="10" name="Rectangle 9"/>
          <p:cNvSpPr/>
          <p:nvPr/>
        </p:nvSpPr>
        <p:spPr>
          <a:xfrm>
            <a:off x="197707" y="4456654"/>
            <a:ext cx="8427308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400">
              <a:defRPr/>
            </a:pPr>
            <a:r>
              <a:rPr lang="pt-BR" sz="1600" b="1" i="1" dirty="0">
                <a:solidFill>
                  <a:schemeClr val="bg1"/>
                </a:solidFill>
              </a:rPr>
              <a:t>“A carta que escrevi hoje é mais longa que o usual pois não tive tempo de fazer ela mais curta."</a:t>
            </a:r>
          </a:p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“The letter I have written today is longer than usual because I lacked the time to make it shorter."</a:t>
            </a:r>
          </a:p>
          <a:p>
            <a:pPr defTabSz="914400">
              <a:defRPr/>
            </a:pPr>
            <a:r>
              <a:rPr lang="en-US" sz="1600" b="1" i="1" dirty="0">
                <a:solidFill>
                  <a:schemeClr val="bg1"/>
                </a:solidFill>
              </a:rPr>
              <a:t>Blaise Pascal (1623–1662)</a:t>
            </a:r>
            <a:r>
              <a:rPr lang="is-IS" sz="1600" b="1" i="1" dirty="0">
                <a:solidFill>
                  <a:schemeClr val="bg1"/>
                </a:solidFill>
              </a:rPr>
              <a:t> </a:t>
            </a:r>
            <a:r>
              <a:rPr lang="pt-BR" sz="1600" b="1" dirty="0">
                <a:solidFill>
                  <a:schemeClr val="bg1"/>
                </a:solidFill>
              </a:rPr>
              <a:t>matemático francês</a:t>
            </a:r>
          </a:p>
        </p:txBody>
      </p:sp>
    </p:spTree>
    <p:extLst>
      <p:ext uri="{BB962C8B-B14F-4D97-AF65-F5344CB8AC3E}">
        <p14:creationId xmlns:p14="http://schemas.microsoft.com/office/powerpoint/2010/main" val="18815712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1774"/>
    </mc:Choice>
    <mc:Fallback xmlns="">
      <p:transition advTm="11774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Charles Babbage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5184775" cy="4724400"/>
          </a:xfrm>
        </p:spPr>
        <p:txBody>
          <a:bodyPr>
            <a:normAutofit/>
          </a:bodyPr>
          <a:lstStyle/>
          <a:p>
            <a:r>
              <a:rPr lang="pt-BR" sz="2200" dirty="0"/>
              <a:t>Charles Babbage projetou e construiu máquinas para imprimir tabulações de funções polinomiais de forma automática.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</a:t>
            </a:fld>
            <a:endParaRPr lang="pt-BR" dirty="0"/>
          </a:p>
        </p:txBody>
      </p:sp>
      <p:pic>
        <p:nvPicPr>
          <p:cNvPr id="7" name="Picture 6" descr="charles_babbage_old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43600" y="1628162"/>
            <a:ext cx="3015884" cy="4698049"/>
          </a:xfrm>
          <a:prstGeom prst="rect">
            <a:avLst/>
          </a:prstGeom>
        </p:spPr>
      </p:pic>
      <p:pic>
        <p:nvPicPr>
          <p:cNvPr id="8" name="Picture 7" descr="1-1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30400" y="3137357"/>
            <a:ext cx="2646361" cy="2646361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725688" y="5975592"/>
            <a:ext cx="5116312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https://www.youtube.com/watch?v=QVxbNZWLP60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6667176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0271"/>
    </mc:Choice>
    <mc:Fallback xmlns="">
      <p:transition advTm="30271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Máquinas de Babbage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200" dirty="0"/>
              <a:t>Máquina Diferencial usava o princípio da diferença finitas para os cálculos das funções polinomiais.</a:t>
            </a:r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3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7363" y="2727008"/>
            <a:ext cx="3374174" cy="2945372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>
            <a:off x="839988" y="6060244"/>
            <a:ext cx="62788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4"/>
              </a:rPr>
              <a:t>https://www.youtube.com/watch?v=qctHEGKr9Zs</a:t>
            </a:r>
            <a:endParaRPr lang="pt-BR" dirty="0"/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3146" y="2996971"/>
            <a:ext cx="3433941" cy="24054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2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5501"/>
    </mc:Choice>
    <mc:Fallback xmlns="">
      <p:transition advTm="25501"/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Máquina Analítica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33241" y="1485900"/>
            <a:ext cx="8347290" cy="4724400"/>
          </a:xfrm>
        </p:spPr>
        <p:txBody>
          <a:bodyPr>
            <a:normAutofit/>
          </a:bodyPr>
          <a:lstStyle/>
          <a:p>
            <a:r>
              <a:rPr lang="pt-BR" sz="2200" dirty="0"/>
              <a:t>Porém conforme Babbage ia trabalhando em suas máquinas, percebeu que ela poderia ser mais genérica, o que levou ao desenvolvimento da Máquina Analítica que apresenta conceitos usados nos computadores atuais. </a:t>
            </a:r>
          </a:p>
          <a:p>
            <a:endParaRPr lang="pt-BR" sz="2200" dirty="0"/>
          </a:p>
          <a:p>
            <a:endParaRPr lang="pt-BR" sz="2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4</a:t>
            </a:fld>
            <a:endParaRPr lang="pt-BR" dirty="0"/>
          </a:p>
        </p:txBody>
      </p:sp>
      <p:pic>
        <p:nvPicPr>
          <p:cNvPr id="6" name="Picture 5" descr="PunchedCardsAnalyticalEngine.jp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32571" y="3192651"/>
            <a:ext cx="1900640" cy="3292859"/>
          </a:xfrm>
          <a:prstGeom prst="rect">
            <a:avLst/>
          </a:prstGeom>
        </p:spPr>
      </p:pic>
      <p:pic>
        <p:nvPicPr>
          <p:cNvPr id="7" name="Picture 6" descr="10297676.jpg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6446" y="3192998"/>
            <a:ext cx="4223581" cy="3299919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1052027" y="6470204"/>
            <a:ext cx="68580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>
                <a:hlinkClick r:id="rId5"/>
              </a:rPr>
              <a:t>https://www.youtube.com/watch?v=BlbQsKpq3Ak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7654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25417"/>
    </mc:Choice>
    <mc:Fallback xmlns="">
      <p:transition advTm="25417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B6D56-7302-71B7-5A9E-26534E6D3C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r>
              <a:rPr lang="en-US" dirty="0"/>
              <a:t>Z01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906A3F20-88CE-4300-3F94-E7D9803A865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901470" y="1485900"/>
            <a:ext cx="7541085" cy="4724400"/>
          </a:xfrm>
          <a:prstGeom prst="rect">
            <a:avLst/>
          </a:prstGeom>
        </p:spPr>
      </p:pic>
      <p:sp>
        <p:nvSpPr>
          <p:cNvPr id="14" name="Text Placeholder 3">
            <a:extLst>
              <a:ext uri="{FF2B5EF4-FFF2-40B4-BE49-F238E27FC236}">
                <a16:creationId xmlns:a16="http://schemas.microsoft.com/office/drawing/2014/main" id="{4E65EEB7-E3C6-0EA5-DCAF-CD973BF4012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092065-B063-1B8C-1BB1-9148E31711E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FE5E5C-C80A-4D8D-A711-3102A7BA9258}" type="slidenum">
              <a:rPr lang="pt-BR" smtClean="0"/>
              <a:pPr>
                <a:spcAft>
                  <a:spcPts val="600"/>
                </a:spcAft>
              </a:pPr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95269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34620A-D431-C1B0-C423-2D1B5A58AF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81050"/>
            <a:ext cx="8229600" cy="619125"/>
          </a:xfrm>
        </p:spPr>
        <p:txBody>
          <a:bodyPr>
            <a:normAutofit/>
          </a:bodyPr>
          <a:lstStyle/>
          <a:p>
            <a:r>
              <a:rPr lang="en-US" dirty="0"/>
              <a:t>CPU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1837A4E1-3CB4-BA50-2D06-3CF1C1A4F2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7225" y="1815829"/>
            <a:ext cx="8029575" cy="4064541"/>
          </a:xfrm>
          <a:prstGeom prst="rect">
            <a:avLst/>
          </a:prstGeom>
        </p:spPr>
      </p:pic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13F30E68-792C-9FD0-11E7-2BF30B626B6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61925" y="85725"/>
            <a:ext cx="7229475" cy="352425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F6C04B-5605-8722-F4C9-F9C9013D337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4172" y="6402174"/>
            <a:ext cx="641516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7FFE5E5C-C80A-4D8D-A711-3102A7BA9258}" type="slidenum">
              <a:rPr lang="pt-BR" smtClean="0"/>
              <a:pPr>
                <a:spcAft>
                  <a:spcPts val="600"/>
                </a:spcAft>
              </a:pPr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9807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D96411-7FA0-CE1B-35ED-3B1B2F0B5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1"/>
              <a:t>Como programar?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9A1775-9B38-3DD8-FD09-DC7419D2AF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500120E-23CC-4C50-43E2-26AAC7A397E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7</a:t>
            </a:fld>
            <a:endParaRPr lang="pt-BR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59FB1CE0-41D0-144B-EF7B-FC84D81AE3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r="83930" b="70756"/>
          <a:stretch>
            <a:fillRect/>
          </a:stretch>
        </p:blipFill>
        <p:spPr>
          <a:xfrm>
            <a:off x="6816436" y="989770"/>
            <a:ext cx="1870364" cy="1722947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3FAC9646-54DA-1407-98C7-913928D337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2325482"/>
            <a:ext cx="5711055" cy="3178868"/>
          </a:xfrm>
          <a:prstGeom prst="rect">
            <a:avLst/>
          </a:prstGeom>
        </p:spPr>
      </p:pic>
      <p:sp>
        <p:nvSpPr>
          <p:cNvPr id="10" name="Retângulo 5">
            <a:extLst>
              <a:ext uri="{FF2B5EF4-FFF2-40B4-BE49-F238E27FC236}">
                <a16:creationId xmlns:a16="http://schemas.microsoft.com/office/drawing/2014/main" id="{07E90414-CFC9-CC47-C4CE-743F1471F815}"/>
              </a:ext>
            </a:extLst>
          </p:cNvPr>
          <p:cNvSpPr/>
          <p:nvPr/>
        </p:nvSpPr>
        <p:spPr>
          <a:xfrm>
            <a:off x="6522169" y="2822292"/>
            <a:ext cx="2377905" cy="286232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1110111010010000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0100000000000000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1110001100001000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0100000000000010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1110001100001000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0100000000000100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1110001100001000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0000000000000000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1110000000000111</a:t>
            </a:r>
          </a:p>
          <a:p>
            <a:r>
              <a:rPr lang="cs-CZ" dirty="0">
                <a:latin typeface="Courier" charset="0"/>
                <a:ea typeface="Courier" charset="0"/>
                <a:cs typeface="Courier" charset="0"/>
              </a:rPr>
              <a:t>1110101010000000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4D86BF-67A2-D2C2-101F-46D2F9161762}"/>
              </a:ext>
            </a:extLst>
          </p:cNvPr>
          <p:cNvSpPr txBox="1"/>
          <p:nvPr/>
        </p:nvSpPr>
        <p:spPr>
          <a:xfrm>
            <a:off x="404930" y="5814762"/>
            <a:ext cx="457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noProof="0" dirty="0"/>
              <a:t>Arquitetura Z0/Hack</a:t>
            </a:r>
          </a:p>
        </p:txBody>
      </p:sp>
    </p:spTree>
    <p:extLst>
      <p:ext uri="{BB962C8B-B14F-4D97-AF65-F5344CB8AC3E}">
        <p14:creationId xmlns:p14="http://schemas.microsoft.com/office/powerpoint/2010/main" val="52128764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C1E6B1-765B-BD8A-2CD9-EB7E63576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A75C45-D550-E919-B61B-123ACF95E9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1"/>
              <a:t>Como programar?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77F80D-3738-BA0F-FCCC-5E18F8A80B8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3EA2EA-1E68-F1FA-3FD9-69694805B1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8</a:t>
            </a:fld>
            <a:endParaRPr lang="pt-BR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99C921A6-9EC6-B752-0F60-EC74C4C131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3930" b="70756"/>
          <a:stretch>
            <a:fillRect/>
          </a:stretch>
        </p:blipFill>
        <p:spPr>
          <a:xfrm>
            <a:off x="7042067" y="881601"/>
            <a:ext cx="1870364" cy="1722947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A686662-695D-10ED-FABF-61C3FF4E41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2348" y="2672797"/>
            <a:ext cx="8104452" cy="31613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02418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471946-1644-7989-AE84-DC090CC94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790FD-48C3-3C02-D5AF-D909196D5B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noProof="1"/>
              <a:t>Como programar?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CBD3707-4B0D-6D01-6F6B-EF3DC80B0D1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4C804FB-FDF3-4E93-6598-FEF4B7C94A3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9</a:t>
            </a:fld>
            <a:endParaRPr lang="pt-BR" dirty="0"/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8EDF2698-E10F-EF58-D06F-408AE2D6BB7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 r="83930" b="70756"/>
          <a:stretch>
            <a:fillRect/>
          </a:stretch>
        </p:blipFill>
        <p:spPr>
          <a:xfrm>
            <a:off x="7042067" y="881601"/>
            <a:ext cx="1870364" cy="1722947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3C45D79-E716-DF1B-089F-54C61EE118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" y="1531917"/>
            <a:ext cx="6201482" cy="50813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53969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4983721" cy="4724400"/>
          </a:xfrm>
        </p:spPr>
        <p:txBody>
          <a:bodyPr>
            <a:noAutofit/>
          </a:bodyPr>
          <a:lstStyle/>
          <a:p>
            <a:r>
              <a:rPr lang="pt-BR" sz="2400" dirty="0"/>
              <a:t>Arquivos Assembly têm a extensão .</a:t>
            </a:r>
            <a:r>
              <a:rPr lang="pt-BR" sz="2400" dirty="0" err="1"/>
              <a:t>nasm</a:t>
            </a:r>
            <a:endParaRPr lang="pt-BR" sz="2400" dirty="0"/>
          </a:p>
          <a:p>
            <a:endParaRPr lang="pt-BR" sz="2400" dirty="0"/>
          </a:p>
          <a:p>
            <a:r>
              <a:rPr lang="pt-BR" sz="2400" dirty="0"/>
              <a:t>Convenções: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Comentários são feitos com ponto e vírgula “;”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Mnemônicos em minúsculo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2400" dirty="0"/>
              <a:t>Variáveis e </a:t>
            </a:r>
            <a:r>
              <a:rPr lang="en-US" sz="2400" i="1" noProof="0" dirty="0"/>
              <a:t>Labels</a:t>
            </a:r>
            <a:r>
              <a:rPr lang="pt-BR" sz="2400" dirty="0"/>
              <a:t> em maiúsculo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10</a:t>
            </a:fld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5784522" y="1090612"/>
            <a:ext cx="2837883" cy="5293757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leaw $R2, %A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movw $0, (%A)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LOOP: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leaw $R1, %A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decw %A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movw (%A), %D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leaw $END, %A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jl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nop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leaw $R0, %A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movw (%A), %D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leaw $R2, %A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addw (%A), %D, %D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leaw $LOOP, %A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jmp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nop</a:t>
            </a:r>
          </a:p>
          <a:p>
            <a:r>
              <a:rPr lang="en-US" sz="2000" noProof="1">
                <a:latin typeface="Courier" charset="0"/>
                <a:ea typeface="Courier" charset="0"/>
                <a:cs typeface="Courier" charset="0"/>
              </a:rPr>
              <a:t>END:</a:t>
            </a:r>
          </a:p>
        </p:txBody>
      </p:sp>
    </p:spTree>
    <p:extLst>
      <p:ext uri="{BB962C8B-B14F-4D97-AF65-F5344CB8AC3E}">
        <p14:creationId xmlns:p14="http://schemas.microsoft.com/office/powerpoint/2010/main" val="1295720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3937"/>
    </mc:Choice>
    <mc:Fallback xmlns="">
      <p:transition advTm="103937"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Assembler faz a conversão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11</a:t>
            </a:fld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470079" y="1996593"/>
            <a:ext cx="3535250" cy="378565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movw $-1, %D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leaw $16384, %A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movw %D, (%A)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leaw $16386, %A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movw %D, (%A)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leaw $16388, %A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movw %D, (%A)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leaw $0, %A	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jmp</a:t>
            </a:r>
          </a:p>
          <a:p>
            <a:r>
              <a:rPr lang="en-US" sz="2400" noProof="1">
                <a:latin typeface="Courier" charset="0"/>
                <a:ea typeface="Courier" charset="0"/>
                <a:cs typeface="Courier" charset="0"/>
              </a:rPr>
              <a:t>nop</a:t>
            </a:r>
          </a:p>
        </p:txBody>
      </p:sp>
      <p:sp>
        <p:nvSpPr>
          <p:cNvPr id="8" name="Retângulo 5"/>
          <p:cNvSpPr/>
          <p:nvPr/>
        </p:nvSpPr>
        <p:spPr>
          <a:xfrm>
            <a:off x="5484366" y="1996593"/>
            <a:ext cx="3186861" cy="3785652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1110111010010000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0100000000000000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1110001100001000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0100000000000010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1110001100001000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0100000000000100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1110001100001000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0000000000000000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1110000000000111</a:t>
            </a:r>
          </a:p>
          <a:p>
            <a:r>
              <a:rPr lang="cs-CZ" sz="2400" dirty="0">
                <a:latin typeface="Courier" charset="0"/>
                <a:ea typeface="Courier" charset="0"/>
                <a:cs typeface="Courier" charset="0"/>
              </a:rPr>
              <a:t>1110101010000000</a:t>
            </a:r>
            <a:endParaRPr lang="en-US" sz="2400" dirty="0">
              <a:latin typeface="Courier" charset="0"/>
              <a:ea typeface="Courier" charset="0"/>
              <a:cs typeface="Courier" charset="0"/>
            </a:endParaRPr>
          </a:p>
        </p:txBody>
      </p:sp>
      <p:sp>
        <p:nvSpPr>
          <p:cNvPr id="9" name="Right Arrow 8"/>
          <p:cNvSpPr/>
          <p:nvPr/>
        </p:nvSpPr>
        <p:spPr>
          <a:xfrm>
            <a:off x="4126661" y="3554568"/>
            <a:ext cx="1236372" cy="669701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478609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8902"/>
    </mc:Choice>
    <mc:Fallback xmlns="">
      <p:transition advTm="38902"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Assembly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000" dirty="0"/>
              <a:t>Duas Sintaxes:</a:t>
            </a:r>
          </a:p>
          <a:p>
            <a:endParaRPr lang="pt-BR" sz="2000" dirty="0"/>
          </a:p>
          <a:p>
            <a:r>
              <a:rPr lang="pt-BR" sz="2000" b="1" dirty="0"/>
              <a:t>AT&amp;T </a:t>
            </a:r>
          </a:p>
          <a:p>
            <a:r>
              <a:rPr lang="pt-BR" sz="2000" dirty="0"/>
              <a:t>O formato padrão das instruções: </a:t>
            </a:r>
            <a:endParaRPr lang="en-US" sz="2000" dirty="0"/>
          </a:p>
          <a:p>
            <a:r>
              <a:rPr lang="pt-BR" sz="2000" dirty="0"/>
              <a:t>	mnemônico origem, destino</a:t>
            </a:r>
            <a:endParaRPr lang="en-US" sz="2000" dirty="0"/>
          </a:p>
          <a:p>
            <a:endParaRPr lang="pt-BR" sz="2000" dirty="0"/>
          </a:p>
          <a:p>
            <a:endParaRPr lang="pt-BR" sz="2000" dirty="0"/>
          </a:p>
          <a:p>
            <a:r>
              <a:rPr lang="pt-BR" sz="2000" b="1" dirty="0"/>
              <a:t>Intel</a:t>
            </a:r>
          </a:p>
          <a:p>
            <a:r>
              <a:rPr lang="pt-BR" sz="2000" dirty="0"/>
              <a:t>O formato padrão das instruções: </a:t>
            </a:r>
            <a:endParaRPr lang="en-US" sz="2000" dirty="0"/>
          </a:p>
          <a:p>
            <a:r>
              <a:rPr lang="pt-BR" sz="2000" dirty="0"/>
              <a:t>	mnemônico destino, origem</a:t>
            </a:r>
            <a:endParaRPr lang="en-US" sz="2000" dirty="0"/>
          </a:p>
          <a:p>
            <a:endParaRPr lang="pt-BR" sz="20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12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041350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8206"/>
    </mc:Choice>
    <mc:Fallback xmlns="">
      <p:transition advTm="78206"/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Assembly AT&amp;T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916274"/>
          </a:xfrm>
        </p:spPr>
        <p:txBody>
          <a:bodyPr>
            <a:normAutofit/>
          </a:bodyPr>
          <a:lstStyle/>
          <a:p>
            <a:r>
              <a:rPr lang="pt-BR" b="1" dirty="0"/>
              <a:t>Registradores</a:t>
            </a:r>
            <a:endParaRPr lang="en-US" dirty="0"/>
          </a:p>
          <a:p>
            <a:r>
              <a:rPr lang="pt-BR" dirty="0"/>
              <a:t>Prefixo o sinal de porcentagem '%'. </a:t>
            </a:r>
          </a:p>
          <a:p>
            <a:r>
              <a:rPr lang="pt-BR" i="1" dirty="0"/>
              <a:t>Exemplo</a:t>
            </a:r>
            <a:r>
              <a:rPr lang="pt-BR" dirty="0"/>
              <a:t>: %A ou %D.</a:t>
            </a:r>
          </a:p>
          <a:p>
            <a:endParaRPr lang="pt-BR" dirty="0"/>
          </a:p>
          <a:p>
            <a:r>
              <a:rPr lang="pt-BR" b="1" dirty="0"/>
              <a:t>Valores Literais</a:t>
            </a:r>
            <a:endParaRPr lang="en-US" dirty="0"/>
          </a:p>
          <a:p>
            <a:r>
              <a:rPr lang="pt-BR" dirty="0"/>
              <a:t>Os valores tem como prefixo o sinal de cifrão '$'. </a:t>
            </a:r>
          </a:p>
          <a:p>
            <a:r>
              <a:rPr lang="pt-BR" i="1" dirty="0"/>
              <a:t>Exemplo</a:t>
            </a:r>
            <a:r>
              <a:rPr lang="pt-BR" dirty="0"/>
              <a:t>: $55, $376</a:t>
            </a:r>
            <a:endParaRPr lang="en-US" dirty="0"/>
          </a:p>
          <a:p>
            <a:endParaRPr lang="en-US" dirty="0"/>
          </a:p>
          <a:p>
            <a:r>
              <a:rPr lang="pt-BR" b="1" dirty="0"/>
              <a:t>Endereçamento de Memória</a:t>
            </a:r>
            <a:endParaRPr lang="en-US" dirty="0"/>
          </a:p>
          <a:p>
            <a:r>
              <a:rPr lang="pt-BR" dirty="0"/>
              <a:t>A memória é referenciada com parêntese em volta do registrador que armazena o endereço. </a:t>
            </a:r>
          </a:p>
          <a:p>
            <a:r>
              <a:rPr lang="pt-BR" i="1" dirty="0"/>
              <a:t>Exemplo</a:t>
            </a:r>
            <a:r>
              <a:rPr lang="pt-BR" dirty="0"/>
              <a:t>: (%A)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13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059563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7635"/>
    </mc:Choice>
    <mc:Fallback xmlns="">
      <p:transition advTm="77635"/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Assembly AT&amp;T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8029575" cy="4916274"/>
          </a:xfrm>
        </p:spPr>
        <p:txBody>
          <a:bodyPr>
            <a:normAutofit/>
          </a:bodyPr>
          <a:lstStyle/>
          <a:p>
            <a:r>
              <a:rPr lang="pt-BR" b="1" dirty="0"/>
              <a:t>Tamanho dos operadores</a:t>
            </a:r>
            <a:endParaRPr lang="en-US" dirty="0"/>
          </a:p>
          <a:p>
            <a:r>
              <a:rPr lang="pt-BR" dirty="0"/>
              <a:t>Instruções trabalham com diferentes tamanhos de dados, definidas pelo sufixo: </a:t>
            </a:r>
            <a:r>
              <a:rPr lang="pt-BR" dirty="0" err="1"/>
              <a:t>b</a:t>
            </a:r>
            <a:r>
              <a:rPr lang="pt-BR" dirty="0"/>
              <a:t> (8 bits), </a:t>
            </a:r>
            <a:r>
              <a:rPr lang="pt-BR" dirty="0" err="1"/>
              <a:t>w</a:t>
            </a:r>
            <a:r>
              <a:rPr lang="pt-BR" dirty="0"/>
              <a:t> (16 bits) e l (32 bits).</a:t>
            </a:r>
            <a:br>
              <a:rPr lang="pt-BR" dirty="0"/>
            </a:br>
            <a:r>
              <a:rPr lang="pt-BR" i="1" dirty="0"/>
              <a:t>Exemplo</a:t>
            </a:r>
            <a:r>
              <a:rPr lang="pt-BR" dirty="0"/>
              <a:t>: </a:t>
            </a:r>
            <a:r>
              <a:rPr lang="pt-BR" dirty="0" err="1"/>
              <a:t>movw</a:t>
            </a:r>
            <a:r>
              <a:rPr lang="pt-BR" dirty="0"/>
              <a:t> $2000, (%A)</a:t>
            </a:r>
          </a:p>
          <a:p>
            <a:endParaRPr lang="pt-BR" dirty="0"/>
          </a:p>
          <a:p>
            <a:r>
              <a:rPr lang="pt-BR" b="1" dirty="0"/>
              <a:t>Instruções de Transferência de Controle</a:t>
            </a:r>
            <a:endParaRPr lang="en-US" dirty="0"/>
          </a:p>
          <a:p>
            <a:r>
              <a:rPr lang="pt-BR" dirty="0"/>
              <a:t>As instruções de jump, fazem o fluxo do programa mudar, posições no programa usam marcadores (</a:t>
            </a:r>
            <a:r>
              <a:rPr lang="pt-BR" i="1" dirty="0" err="1"/>
              <a:t>labels</a:t>
            </a:r>
            <a:r>
              <a:rPr lang="pt-BR" dirty="0"/>
              <a:t>) que terminam com dois pontos (:).</a:t>
            </a:r>
            <a:br>
              <a:rPr lang="pt-BR" dirty="0"/>
            </a:br>
            <a:r>
              <a:rPr lang="pt-BR" i="1" dirty="0"/>
              <a:t>Exemplo</a:t>
            </a:r>
            <a:r>
              <a:rPr lang="pt-BR" dirty="0"/>
              <a:t>: loop: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pt-BR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14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64470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55391"/>
    </mc:Choice>
    <mc:Fallback xmlns="">
      <p:transition advTm="55391"/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Instruções 1/3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0175"/>
            <a:ext cx="8486775" cy="5457825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/>
              <a:t>LEA -</a:t>
            </a:r>
            <a:r>
              <a:rPr lang="pt-BR" b="1" dirty="0"/>
              <a:t> Carregamento Efetivo do Endereço (Valor)</a:t>
            </a:r>
            <a:endParaRPr lang="en-US" dirty="0"/>
          </a:p>
          <a:p>
            <a:r>
              <a:rPr lang="pt-BR" b="1" dirty="0"/>
              <a:t>Descrição:</a:t>
            </a:r>
            <a:r>
              <a:rPr lang="pt-BR" dirty="0"/>
              <a:t> A instrução </a:t>
            </a:r>
            <a:r>
              <a:rPr lang="pt-BR" i="1" dirty="0" err="1"/>
              <a:t>lea</a:t>
            </a:r>
            <a:r>
              <a:rPr lang="pt-BR" dirty="0"/>
              <a:t> armazena o valor passado no registrador especificado (somente o %A na implementação desenvolvida).</a:t>
            </a:r>
            <a:endParaRPr lang="en-US" dirty="0"/>
          </a:p>
          <a:p>
            <a:r>
              <a:rPr lang="pt-BR" b="1" dirty="0"/>
              <a:t>Exemplo: </a:t>
            </a:r>
            <a:r>
              <a:rPr lang="pt-BR" dirty="0" err="1"/>
              <a:t>leaw</a:t>
            </a:r>
            <a:r>
              <a:rPr lang="pt-BR" dirty="0"/>
              <a:t> $15,%A     </a:t>
            </a:r>
            <a:r>
              <a:rPr lang="pt-BR" i="1" dirty="0"/>
              <a:t>=&gt;  A = 15</a:t>
            </a:r>
            <a:endParaRPr lang="en-US" dirty="0"/>
          </a:p>
          <a:p>
            <a:r>
              <a:rPr lang="pt-BR" dirty="0"/>
              <a:t> </a:t>
            </a:r>
            <a:endParaRPr lang="en-US" dirty="0"/>
          </a:p>
          <a:p>
            <a:r>
              <a:rPr lang="pt-BR" b="1" dirty="0"/>
              <a:t>MOV – Copia Valores</a:t>
            </a:r>
            <a:endParaRPr lang="en-US" dirty="0"/>
          </a:p>
          <a:p>
            <a:r>
              <a:rPr lang="pt-BR" b="1" dirty="0"/>
              <a:t>Descrição:</a:t>
            </a:r>
            <a:r>
              <a:rPr lang="pt-BR" dirty="0"/>
              <a:t> A instrução </a:t>
            </a:r>
            <a:r>
              <a:rPr lang="pt-BR" i="1" dirty="0" err="1"/>
              <a:t>mov</a:t>
            </a:r>
            <a:r>
              <a:rPr lang="pt-BR" i="1" dirty="0"/>
              <a:t>,</a:t>
            </a:r>
            <a:r>
              <a:rPr lang="pt-BR" dirty="0"/>
              <a:t> copia o valor da primeira posição para a segunda posição (terceira e quarta opcional).</a:t>
            </a:r>
            <a:endParaRPr lang="en-US" dirty="0"/>
          </a:p>
          <a:p>
            <a:r>
              <a:rPr lang="pt-BR" b="1" dirty="0"/>
              <a:t>Exemplo: </a:t>
            </a:r>
            <a:r>
              <a:rPr lang="pt-BR" dirty="0" err="1"/>
              <a:t>movw</a:t>
            </a:r>
            <a:r>
              <a:rPr lang="pt-BR" dirty="0"/>
              <a:t> (%A),%</a:t>
            </a:r>
            <a:r>
              <a:rPr lang="pt-BR" dirty="0" err="1"/>
              <a:t>D</a:t>
            </a:r>
            <a:r>
              <a:rPr lang="pt-BR" dirty="0"/>
              <a:t>     </a:t>
            </a:r>
            <a:r>
              <a:rPr lang="pt-BR" i="1" dirty="0"/>
              <a:t>=&gt;  </a:t>
            </a:r>
            <a:r>
              <a:rPr lang="pt-BR" i="1" dirty="0" err="1"/>
              <a:t>D</a:t>
            </a:r>
            <a:r>
              <a:rPr lang="pt-BR" i="1" dirty="0"/>
              <a:t> = RAM[A]</a:t>
            </a:r>
            <a:endParaRPr lang="en-US" dirty="0"/>
          </a:p>
          <a:p>
            <a:r>
              <a:rPr lang="pt-BR" dirty="0"/>
              <a:t> </a:t>
            </a:r>
            <a:endParaRPr lang="en-US" dirty="0"/>
          </a:p>
          <a:p>
            <a:r>
              <a:rPr lang="pt-BR" b="1" dirty="0"/>
              <a:t>ADD - Adição de Inteiros</a:t>
            </a:r>
            <a:endParaRPr lang="en-US" dirty="0"/>
          </a:p>
          <a:p>
            <a:r>
              <a:rPr lang="pt-BR" b="1" dirty="0"/>
              <a:t>Descrição:</a:t>
            </a:r>
            <a:r>
              <a:rPr lang="pt-BR" dirty="0"/>
              <a:t> A instrução </a:t>
            </a:r>
            <a:r>
              <a:rPr lang="pt-BR" i="1" dirty="0" err="1"/>
              <a:t>add</a:t>
            </a:r>
            <a:r>
              <a:rPr lang="pt-BR" dirty="0"/>
              <a:t> soma dois valores inteiros e armazena o resultado no terceiro parâmetro (quarto e quinto opcional).</a:t>
            </a:r>
            <a:endParaRPr lang="en-US" dirty="0"/>
          </a:p>
          <a:p>
            <a:r>
              <a:rPr lang="pt-BR" b="1" dirty="0"/>
              <a:t>Exemplo: </a:t>
            </a:r>
            <a:r>
              <a:rPr lang="pt-BR" dirty="0" err="1"/>
              <a:t>addw</a:t>
            </a:r>
            <a:r>
              <a:rPr lang="pt-BR" dirty="0"/>
              <a:t> (%A), %</a:t>
            </a:r>
            <a:r>
              <a:rPr lang="pt-BR" dirty="0" err="1"/>
              <a:t>D</a:t>
            </a:r>
            <a:r>
              <a:rPr lang="pt-BR" dirty="0"/>
              <a:t>, %</a:t>
            </a:r>
            <a:r>
              <a:rPr lang="pt-BR" dirty="0" err="1"/>
              <a:t>D</a:t>
            </a:r>
            <a:r>
              <a:rPr lang="pt-BR" dirty="0"/>
              <a:t>    </a:t>
            </a:r>
            <a:r>
              <a:rPr lang="pt-BR" i="1" dirty="0"/>
              <a:t>=&gt;  </a:t>
            </a:r>
            <a:r>
              <a:rPr lang="pt-BR" i="1" dirty="0" err="1"/>
              <a:t>D</a:t>
            </a:r>
            <a:r>
              <a:rPr lang="pt-BR" i="1" dirty="0"/>
              <a:t> = RAM[A]+</a:t>
            </a:r>
            <a:r>
              <a:rPr lang="pt-BR" i="1" dirty="0" err="1"/>
              <a:t>D</a:t>
            </a:r>
            <a:endParaRPr lang="en-US" dirty="0"/>
          </a:p>
          <a:p>
            <a:r>
              <a:rPr lang="pt-BR" dirty="0"/>
              <a:t> </a:t>
            </a:r>
            <a:endParaRPr lang="en-US" dirty="0"/>
          </a:p>
          <a:p>
            <a:r>
              <a:rPr lang="pt-BR" b="1" dirty="0"/>
              <a:t>SUB - Subtração de Inteiros</a:t>
            </a:r>
            <a:endParaRPr lang="en-US" dirty="0"/>
          </a:p>
          <a:p>
            <a:r>
              <a:rPr lang="pt-BR" b="1" dirty="0"/>
              <a:t>Descrição:</a:t>
            </a:r>
            <a:r>
              <a:rPr lang="pt-BR" dirty="0"/>
              <a:t> A instrução </a:t>
            </a:r>
            <a:r>
              <a:rPr lang="pt-BR" i="1" dirty="0"/>
              <a:t>sub,</a:t>
            </a:r>
            <a:r>
              <a:rPr lang="pt-BR" dirty="0"/>
              <a:t> subtrai o segundo valor do primeiro valor e armazena o resultado no terceiro parâmetro (quarto e quinto opcional).</a:t>
            </a:r>
            <a:endParaRPr lang="en-US" dirty="0"/>
          </a:p>
          <a:p>
            <a:r>
              <a:rPr lang="pt-BR" b="1" dirty="0"/>
              <a:t>Exemplo: </a:t>
            </a:r>
            <a:r>
              <a:rPr lang="pt-BR" dirty="0" err="1"/>
              <a:t>subw</a:t>
            </a:r>
            <a:r>
              <a:rPr lang="pt-BR" dirty="0"/>
              <a:t> %</a:t>
            </a:r>
            <a:r>
              <a:rPr lang="pt-BR" dirty="0" err="1"/>
              <a:t>D</a:t>
            </a:r>
            <a:r>
              <a:rPr lang="pt-BR" dirty="0"/>
              <a:t>, (%A), %A    </a:t>
            </a:r>
            <a:r>
              <a:rPr lang="pt-BR" i="1" dirty="0"/>
              <a:t>=&gt;  A = D-RAM[A]</a:t>
            </a:r>
            <a:endParaRPr lang="en-US" dirty="0"/>
          </a:p>
          <a:p>
            <a:endParaRPr lang="en-US" dirty="0"/>
          </a:p>
          <a:p>
            <a:r>
              <a:rPr lang="pt-BR" b="1" dirty="0"/>
              <a:t>RSUB - Subtração de Inteiros Reversa</a:t>
            </a:r>
            <a:endParaRPr lang="en-US" dirty="0"/>
          </a:p>
          <a:p>
            <a:r>
              <a:rPr lang="pt-BR" b="1" dirty="0"/>
              <a:t>Descrição:</a:t>
            </a:r>
            <a:r>
              <a:rPr lang="pt-BR" dirty="0"/>
              <a:t> A instrução </a:t>
            </a:r>
            <a:r>
              <a:rPr lang="pt-BR" dirty="0" err="1"/>
              <a:t>r</a:t>
            </a:r>
            <a:r>
              <a:rPr lang="pt-BR" i="1" dirty="0" err="1"/>
              <a:t>sub</a:t>
            </a:r>
            <a:r>
              <a:rPr lang="pt-BR" i="1" dirty="0"/>
              <a:t>,</a:t>
            </a:r>
            <a:r>
              <a:rPr lang="pt-BR" dirty="0"/>
              <a:t> subtrai o primeiro valor do segundo valor e armazena o resultado no terceiro parâmetro (quarto e quinto opcional).</a:t>
            </a:r>
            <a:endParaRPr lang="en-US" dirty="0"/>
          </a:p>
          <a:p>
            <a:r>
              <a:rPr lang="pt-BR" b="1" dirty="0"/>
              <a:t>Exemplo: </a:t>
            </a:r>
            <a:r>
              <a:rPr lang="pt-BR" dirty="0" err="1"/>
              <a:t>rsubw</a:t>
            </a:r>
            <a:r>
              <a:rPr lang="pt-BR" dirty="0"/>
              <a:t> %</a:t>
            </a:r>
            <a:r>
              <a:rPr lang="pt-BR" dirty="0" err="1"/>
              <a:t>D</a:t>
            </a:r>
            <a:r>
              <a:rPr lang="pt-BR" dirty="0"/>
              <a:t>, (%A), %A    </a:t>
            </a:r>
            <a:r>
              <a:rPr lang="pt-BR" i="1" dirty="0"/>
              <a:t>=&gt; A = RAM[A]-</a:t>
            </a:r>
            <a:r>
              <a:rPr lang="pt-BR" i="1" dirty="0" err="1"/>
              <a:t>D</a:t>
            </a:r>
            <a:endParaRPr lang="en-US" dirty="0"/>
          </a:p>
          <a:p>
            <a:r>
              <a:rPr lang="pt-BR" dirty="0"/>
              <a:t> </a:t>
            </a:r>
            <a:endParaRPr lang="en-US" dirty="0"/>
          </a:p>
          <a:p>
            <a:r>
              <a:rPr lang="pt-BR" b="1" dirty="0"/>
              <a:t>INC - Incrementa Inteiro</a:t>
            </a:r>
            <a:endParaRPr lang="en-US" dirty="0"/>
          </a:p>
          <a:p>
            <a:r>
              <a:rPr lang="pt-BR" b="1" dirty="0"/>
              <a:t>Descrição:</a:t>
            </a:r>
            <a:r>
              <a:rPr lang="pt-BR" dirty="0"/>
              <a:t> A instrução </a:t>
            </a:r>
            <a:r>
              <a:rPr lang="pt-BR" i="1" dirty="0" err="1"/>
              <a:t>inc</a:t>
            </a:r>
            <a:r>
              <a:rPr lang="pt-BR" i="1" dirty="0"/>
              <a:t>,</a:t>
            </a:r>
            <a:r>
              <a:rPr lang="pt-BR" dirty="0"/>
              <a:t> adiciona um ao valor do registrador ou memória.</a:t>
            </a:r>
            <a:endParaRPr lang="en-US" dirty="0"/>
          </a:p>
          <a:p>
            <a:r>
              <a:rPr lang="pt-BR" b="1" dirty="0"/>
              <a:t>Exemplo: </a:t>
            </a:r>
            <a:r>
              <a:rPr lang="pt-BR" dirty="0" err="1"/>
              <a:t>incw</a:t>
            </a:r>
            <a:r>
              <a:rPr lang="pt-BR" dirty="0"/>
              <a:t> %</a:t>
            </a:r>
            <a:r>
              <a:rPr lang="pt-BR" dirty="0" err="1"/>
              <a:t>D</a:t>
            </a:r>
            <a:r>
              <a:rPr lang="pt-BR" dirty="0"/>
              <a:t>	   </a:t>
            </a:r>
            <a:r>
              <a:rPr lang="pt-BR" i="1" dirty="0"/>
              <a:t>=&gt;  </a:t>
            </a:r>
            <a:r>
              <a:rPr lang="pt-BR" i="1" dirty="0" err="1"/>
              <a:t>D</a:t>
            </a:r>
            <a:r>
              <a:rPr lang="pt-BR" i="1" dirty="0"/>
              <a:t> = D+1</a:t>
            </a:r>
            <a:endParaRPr lang="en-US" dirty="0"/>
          </a:p>
          <a:p>
            <a:r>
              <a:rPr lang="pt-BR" dirty="0"/>
              <a:t> </a:t>
            </a:r>
            <a:endParaRPr lang="en-US" dirty="0"/>
          </a:p>
          <a:p>
            <a:r>
              <a:rPr lang="pt-BR" b="1" dirty="0"/>
              <a:t>DEC - Decrementa Inteiro</a:t>
            </a:r>
            <a:endParaRPr lang="en-US" dirty="0"/>
          </a:p>
          <a:p>
            <a:r>
              <a:rPr lang="pt-BR" b="1" dirty="0"/>
              <a:t>Descrição:</a:t>
            </a:r>
            <a:r>
              <a:rPr lang="pt-BR" dirty="0"/>
              <a:t> A instrução </a:t>
            </a:r>
            <a:r>
              <a:rPr lang="pt-BR" i="1" dirty="0" err="1"/>
              <a:t>dec</a:t>
            </a:r>
            <a:r>
              <a:rPr lang="pt-BR" i="1" dirty="0"/>
              <a:t>,</a:t>
            </a:r>
            <a:r>
              <a:rPr lang="pt-BR" dirty="0"/>
              <a:t> diminui um ao valor do registrador ou memória.</a:t>
            </a:r>
            <a:endParaRPr lang="en-US" dirty="0"/>
          </a:p>
          <a:p>
            <a:r>
              <a:rPr lang="pt-BR" b="1" dirty="0"/>
              <a:t>Exemplo: </a:t>
            </a:r>
            <a:r>
              <a:rPr lang="pt-BR" dirty="0" err="1"/>
              <a:t>decw</a:t>
            </a:r>
            <a:r>
              <a:rPr lang="pt-BR" dirty="0"/>
              <a:t> %</a:t>
            </a:r>
            <a:r>
              <a:rPr lang="pt-BR" dirty="0" err="1"/>
              <a:t>D</a:t>
            </a:r>
            <a:r>
              <a:rPr lang="pt-BR" dirty="0"/>
              <a:t>   </a:t>
            </a:r>
            <a:r>
              <a:rPr lang="pt-BR" i="1" dirty="0"/>
              <a:t>=&gt;  </a:t>
            </a:r>
            <a:r>
              <a:rPr lang="pt-BR" i="1" dirty="0" err="1"/>
              <a:t>D</a:t>
            </a:r>
            <a:r>
              <a:rPr lang="pt-BR" i="1" dirty="0"/>
              <a:t> = D-1</a:t>
            </a:r>
            <a:r>
              <a:rPr lang="pt-BR" dirty="0"/>
              <a:t>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15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21722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85068"/>
    </mc:Choice>
    <mc:Fallback xmlns="">
      <p:transition advTm="85068"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Instruções 2/3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0175"/>
            <a:ext cx="8486775" cy="5457825"/>
          </a:xfrm>
        </p:spPr>
        <p:txBody>
          <a:bodyPr>
            <a:normAutofit fontScale="92500" lnSpcReduction="10000"/>
          </a:bodyPr>
          <a:lstStyle/>
          <a:p>
            <a:r>
              <a:rPr lang="pt-BR" sz="1200" b="1" dirty="0"/>
              <a:t>NOT – Negação por Complemento de Um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not</a:t>
            </a:r>
            <a:r>
              <a:rPr lang="pt-BR" sz="1200" i="1" dirty="0"/>
              <a:t>,</a:t>
            </a:r>
            <a:r>
              <a:rPr lang="pt-BR" sz="1200" dirty="0"/>
              <a:t> inverte o valor de cada bit da série, ou seja, se um bit tem valor 0 fica com 1 e vice-versa.</a:t>
            </a:r>
            <a:endParaRPr lang="en-US" sz="1200" dirty="0"/>
          </a:p>
          <a:p>
            <a:r>
              <a:rPr lang="pt-BR" sz="1200" b="1" dirty="0"/>
              <a:t>Exemplo: </a:t>
            </a:r>
            <a:r>
              <a:rPr lang="pt-BR" sz="1200" dirty="0" err="1"/>
              <a:t>notw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r>
              <a:rPr lang="pt-BR" sz="1200" dirty="0"/>
              <a:t>     =</a:t>
            </a:r>
            <a:r>
              <a:rPr lang="pt-BR" sz="1200" i="1" dirty="0"/>
              <a:t>&gt; </a:t>
            </a:r>
            <a:r>
              <a:rPr lang="pt-BR" sz="1200" i="1" dirty="0" err="1"/>
              <a:t>D</a:t>
            </a:r>
            <a:r>
              <a:rPr lang="pt-BR" sz="1200" i="1" dirty="0"/>
              <a:t> = !</a:t>
            </a:r>
            <a:r>
              <a:rPr lang="pt-BR" sz="1200" i="1" dirty="0" err="1"/>
              <a:t>D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NEG – Negação por Complemento de Dois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neg</a:t>
            </a:r>
            <a:r>
              <a:rPr lang="pt-BR" sz="1200" i="1" dirty="0"/>
              <a:t>,</a:t>
            </a:r>
            <a:r>
              <a:rPr lang="pt-BR" sz="1200" dirty="0"/>
              <a:t> faz o valor ficar negativo, ou seja, um valor de </a:t>
            </a:r>
            <a:r>
              <a:rPr lang="pt-BR" sz="1200" dirty="0" err="1"/>
              <a:t>x</a:t>
            </a:r>
            <a:r>
              <a:rPr lang="pt-BR" sz="1200" dirty="0"/>
              <a:t> fica -</a:t>
            </a:r>
            <a:r>
              <a:rPr lang="pt-BR" sz="1200" dirty="0" err="1"/>
              <a:t>x</a:t>
            </a:r>
            <a:r>
              <a:rPr lang="pt-BR" sz="1200" dirty="0"/>
              <a:t>.</a:t>
            </a:r>
            <a:endParaRPr lang="en-US" sz="1200" dirty="0"/>
          </a:p>
          <a:p>
            <a:r>
              <a:rPr lang="pt-BR" sz="1200" b="1" dirty="0"/>
              <a:t>Exemplo: </a:t>
            </a:r>
            <a:r>
              <a:rPr lang="pt-BR" sz="1200" dirty="0" err="1"/>
              <a:t>negw</a:t>
            </a:r>
            <a:r>
              <a:rPr lang="pt-BR" sz="1200" dirty="0"/>
              <a:t> %A   </a:t>
            </a:r>
            <a:r>
              <a:rPr lang="pt-BR" sz="1200" i="1" dirty="0"/>
              <a:t>=&gt; A = -A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AND – Operador E (</a:t>
            </a:r>
            <a:r>
              <a:rPr lang="pt-BR" sz="1200" b="1" dirty="0" err="1"/>
              <a:t>and</a:t>
            </a:r>
            <a:r>
              <a:rPr lang="pt-BR" sz="1200" b="1" dirty="0"/>
              <a:t>)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and</a:t>
            </a:r>
            <a:r>
              <a:rPr lang="pt-BR" sz="1200" dirty="0"/>
              <a:t> faz o operador lógico E (</a:t>
            </a:r>
            <a:r>
              <a:rPr lang="pt-BR" sz="1200" dirty="0" err="1"/>
              <a:t>and</a:t>
            </a:r>
            <a:r>
              <a:rPr lang="pt-BR" sz="1200" dirty="0"/>
              <a:t>).</a:t>
            </a:r>
            <a:endParaRPr lang="en-US" sz="1200" dirty="0"/>
          </a:p>
          <a:p>
            <a:r>
              <a:rPr lang="pt-BR" sz="1200" b="1" dirty="0"/>
              <a:t>Exemplo: </a:t>
            </a:r>
            <a:r>
              <a:rPr lang="pt-BR" sz="1200" dirty="0" err="1"/>
              <a:t>andw</a:t>
            </a:r>
            <a:r>
              <a:rPr lang="pt-BR" sz="1200" dirty="0"/>
              <a:t> %A, %</a:t>
            </a:r>
            <a:r>
              <a:rPr lang="pt-BR" sz="1200" dirty="0" err="1"/>
              <a:t>D</a:t>
            </a:r>
            <a:r>
              <a:rPr lang="pt-BR" sz="1200" dirty="0"/>
              <a:t>    </a:t>
            </a:r>
            <a:r>
              <a:rPr lang="pt-BR" sz="1200" i="1" dirty="0"/>
              <a:t>=&gt; </a:t>
            </a:r>
            <a:r>
              <a:rPr lang="pt-BR" sz="1200" i="1" dirty="0" err="1"/>
              <a:t>D</a:t>
            </a:r>
            <a:r>
              <a:rPr lang="pt-BR" sz="1200" i="1" dirty="0"/>
              <a:t> = A&amp;D</a:t>
            </a:r>
            <a:endParaRPr lang="en-US" sz="1200" dirty="0"/>
          </a:p>
          <a:p>
            <a:endParaRPr lang="pt-BR" sz="1200" b="1" dirty="0"/>
          </a:p>
          <a:p>
            <a:r>
              <a:rPr lang="pt-BR" sz="1200" b="1" dirty="0"/>
              <a:t>OR – Operador OU (</a:t>
            </a:r>
            <a:r>
              <a:rPr lang="pt-BR" sz="1200" b="1" dirty="0" err="1"/>
              <a:t>or</a:t>
            </a:r>
            <a:r>
              <a:rPr lang="pt-BR" sz="1200" b="1" dirty="0"/>
              <a:t>)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or</a:t>
            </a:r>
            <a:r>
              <a:rPr lang="pt-BR" sz="1200" dirty="0"/>
              <a:t> faz o operador lógico Ou (</a:t>
            </a:r>
            <a:r>
              <a:rPr lang="pt-BR" sz="1200" dirty="0" err="1"/>
              <a:t>or</a:t>
            </a:r>
            <a:r>
              <a:rPr lang="pt-BR" sz="1200" dirty="0"/>
              <a:t>).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orw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r>
              <a:rPr lang="pt-BR" sz="1200" dirty="0"/>
              <a:t>, (%A)      </a:t>
            </a:r>
            <a:r>
              <a:rPr lang="pt-BR" sz="1200" i="1" dirty="0"/>
              <a:t>=&gt; RAM[A] = RAM[A]|</a:t>
            </a:r>
            <a:r>
              <a:rPr lang="pt-BR" sz="1200" i="1" dirty="0" err="1"/>
              <a:t>D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NOP – Não faz nada (</a:t>
            </a:r>
            <a:r>
              <a:rPr lang="en-US" sz="1200" b="1" noProof="0" dirty="0"/>
              <a:t>No Operation</a:t>
            </a:r>
            <a:r>
              <a:rPr lang="pt-BR" sz="1200" b="1" dirty="0"/>
              <a:t>)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nop</a:t>
            </a:r>
            <a:r>
              <a:rPr lang="pt-BR" sz="1200" dirty="0"/>
              <a:t> não faz nada, usado para pular um ciclo de execução.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nop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JMP – </a:t>
            </a:r>
            <a:r>
              <a:rPr lang="pt-BR" sz="1200" b="1" dirty="0" err="1"/>
              <a:t>Jump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jmp</a:t>
            </a:r>
            <a:r>
              <a:rPr lang="pt-BR" sz="1200" dirty="0"/>
              <a:t> faz um salto de execução para o endereço armazenado em %A.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jmp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JE – Salta Execução se Igual a Zero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je</a:t>
            </a:r>
            <a:r>
              <a:rPr lang="pt-BR" sz="1200" dirty="0"/>
              <a:t> faz um salto de execução para o endereço armazenado em %A, se o valor de </a:t>
            </a:r>
            <a:r>
              <a:rPr lang="pt-BR" sz="1200" dirty="0" err="1"/>
              <a:t>D</a:t>
            </a:r>
            <a:r>
              <a:rPr lang="pt-BR" sz="1200" dirty="0"/>
              <a:t>% for igual a zero.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je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endParaRPr lang="en-US" sz="1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77159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08373"/>
    </mc:Choice>
    <mc:Fallback xmlns="">
      <p:transition advTm="108373"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Instruções 3/3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400175"/>
            <a:ext cx="8486775" cy="5457825"/>
          </a:xfrm>
        </p:spPr>
        <p:txBody>
          <a:bodyPr>
            <a:noAutofit/>
          </a:bodyPr>
          <a:lstStyle/>
          <a:p>
            <a:r>
              <a:rPr lang="pt-BR" sz="1200" b="1" dirty="0"/>
              <a:t>JNE – Salta Execução se Diferente de Zero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jne</a:t>
            </a:r>
            <a:r>
              <a:rPr lang="pt-BR" sz="1200" dirty="0"/>
              <a:t> faz um salto de execução para o endereço armazenado em %A, se o valor de %</a:t>
            </a:r>
            <a:r>
              <a:rPr lang="pt-BR" sz="1200" dirty="0" err="1"/>
              <a:t>D</a:t>
            </a:r>
            <a:r>
              <a:rPr lang="pt-BR" sz="1200" dirty="0"/>
              <a:t> for diferente de zero.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jne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JG – Salta Execução se Maior que Zero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jg</a:t>
            </a:r>
            <a:r>
              <a:rPr lang="pt-BR" sz="1200" dirty="0"/>
              <a:t> faz um salto de execução para o endereço armazenado em %A, se o valor de %</a:t>
            </a:r>
            <a:r>
              <a:rPr lang="pt-BR" sz="1200" dirty="0" err="1"/>
              <a:t>D</a:t>
            </a:r>
            <a:r>
              <a:rPr lang="pt-BR" sz="1200" dirty="0"/>
              <a:t> for maior que zero.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jg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endParaRPr lang="en-US" sz="1200" dirty="0"/>
          </a:p>
          <a:p>
            <a:r>
              <a:rPr lang="pt-BR" sz="1200" b="1" dirty="0"/>
              <a:t> </a:t>
            </a:r>
            <a:endParaRPr lang="en-US" sz="1200" dirty="0"/>
          </a:p>
          <a:p>
            <a:r>
              <a:rPr lang="pt-BR" sz="1200" b="1" dirty="0"/>
              <a:t>JGE – Salta Execução se Maior Igual a Zero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jge</a:t>
            </a:r>
            <a:r>
              <a:rPr lang="pt-BR" sz="1200" dirty="0"/>
              <a:t> faz um salto de execução para o endereço armazenado em %A, se o valor de %</a:t>
            </a:r>
            <a:r>
              <a:rPr lang="pt-BR" sz="1200" dirty="0" err="1"/>
              <a:t>D</a:t>
            </a:r>
            <a:r>
              <a:rPr lang="pt-BR" sz="1200" dirty="0"/>
              <a:t> for maior ou igual a zero.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jge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JL – Salta Execução se Menor que Zero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jl</a:t>
            </a:r>
            <a:r>
              <a:rPr lang="pt-BR" sz="1200" dirty="0"/>
              <a:t> faz um salto de execução para o endereço armazenado em %A, se o valor de %</a:t>
            </a:r>
            <a:r>
              <a:rPr lang="pt-BR" sz="1200" dirty="0" err="1"/>
              <a:t>D</a:t>
            </a:r>
            <a:r>
              <a:rPr lang="pt-BR" sz="1200" dirty="0"/>
              <a:t> for menor que zero.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jl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endParaRPr lang="en-US" sz="1200" dirty="0"/>
          </a:p>
          <a:p>
            <a:r>
              <a:rPr lang="pt-BR" sz="1200" dirty="0"/>
              <a:t> </a:t>
            </a:r>
            <a:endParaRPr lang="en-US" sz="1200" dirty="0"/>
          </a:p>
          <a:p>
            <a:r>
              <a:rPr lang="pt-BR" sz="1200" b="1" dirty="0"/>
              <a:t>JLE – Salta Execução se Menor Igual a Zero</a:t>
            </a:r>
            <a:endParaRPr lang="en-US" sz="1200" dirty="0"/>
          </a:p>
          <a:p>
            <a:r>
              <a:rPr lang="pt-BR" sz="1200" b="1" dirty="0"/>
              <a:t>Descrição:</a:t>
            </a:r>
            <a:r>
              <a:rPr lang="pt-BR" sz="1200" dirty="0"/>
              <a:t> A instrução </a:t>
            </a:r>
            <a:r>
              <a:rPr lang="pt-BR" sz="1200" i="1" dirty="0" err="1"/>
              <a:t>jle</a:t>
            </a:r>
            <a:r>
              <a:rPr lang="pt-BR" sz="1200" dirty="0"/>
              <a:t> faz um salto de execução para o endereço armazenado em %A, se o valor de %</a:t>
            </a:r>
            <a:r>
              <a:rPr lang="pt-BR" sz="1200" dirty="0" err="1"/>
              <a:t>D</a:t>
            </a:r>
            <a:r>
              <a:rPr lang="pt-BR" sz="1200" dirty="0"/>
              <a:t> for menor ou igual a zero.</a:t>
            </a:r>
            <a:endParaRPr lang="en-US" sz="1200" dirty="0"/>
          </a:p>
          <a:p>
            <a:r>
              <a:rPr lang="pt-BR" sz="1200" b="1" dirty="0"/>
              <a:t>Exemplo:	</a:t>
            </a:r>
            <a:r>
              <a:rPr lang="pt-BR" sz="1200" dirty="0"/>
              <a:t>Assembly: </a:t>
            </a:r>
            <a:r>
              <a:rPr lang="pt-BR" sz="1200" dirty="0" err="1"/>
              <a:t>jle</a:t>
            </a:r>
            <a:r>
              <a:rPr lang="pt-BR" sz="1200" dirty="0"/>
              <a:t> %</a:t>
            </a:r>
            <a:r>
              <a:rPr lang="pt-BR" sz="1200" dirty="0" err="1"/>
              <a:t>D</a:t>
            </a:r>
            <a:endParaRPr lang="en-US" sz="12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2656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15710"/>
    </mc:Choice>
    <mc:Fallback xmlns="">
      <p:transition advTm="15710"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2715BA-0360-5311-16B0-B1EA607A931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18</a:t>
            </a:fld>
            <a:endParaRPr lang="pt-BR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3B9C754-0AF3-73A3-69EF-AA87909D05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0967" y="0"/>
            <a:ext cx="3982065" cy="6858000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2B6282-5A3F-B545-B84E-38C8793BBF9D}"/>
              </a:ext>
            </a:extLst>
          </p:cNvPr>
          <p:cNvSpPr txBox="1"/>
          <p:nvPr/>
        </p:nvSpPr>
        <p:spPr>
          <a:xfrm>
            <a:off x="0" y="6330820"/>
            <a:ext cx="2392517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900" dirty="0"/>
              <a:t>https://</a:t>
            </a:r>
            <a:r>
              <a:rPr lang="en-US" sz="900" dirty="0" err="1"/>
              <a:t>i.programmerhumor.io</a:t>
            </a:r>
            <a:r>
              <a:rPr lang="en-US" sz="900" dirty="0"/>
              <a:t>/2023/07/programmerhumor-io-java-memes-programming-memes-dd55aeb336d5c5b.jpg</a:t>
            </a:r>
          </a:p>
        </p:txBody>
      </p:sp>
    </p:spTree>
    <p:extLst>
      <p:ext uri="{BB962C8B-B14F-4D97-AF65-F5344CB8AC3E}">
        <p14:creationId xmlns:p14="http://schemas.microsoft.com/office/powerpoint/2010/main" val="248406829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A0E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" name="Rectangle 1"/>
          <p:cNvSpPr>
            <a:spLocks/>
          </p:cNvSpPr>
          <p:nvPr/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/>
          <p:cNvSpPr/>
          <p:nvPr/>
        </p:nvSpPr>
        <p:spPr>
          <a:xfrm>
            <a:off x="3039534" y="3636044"/>
            <a:ext cx="3061054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spcBef>
                <a:spcPct val="0"/>
              </a:spcBef>
              <a:defRPr/>
            </a:pPr>
            <a:r>
              <a:rPr lang="en-US" sz="2400" dirty="0">
                <a:solidFill>
                  <a:schemeClr val="bg1"/>
                </a:solidFill>
                <a:latin typeface="Verdana"/>
                <a:cs typeface="Verdana"/>
              </a:rPr>
              <a:t>www.insper.edu.br</a:t>
            </a:r>
            <a:endParaRPr lang="en-US" dirty="0">
              <a:solidFill>
                <a:schemeClr val="bg1"/>
              </a:solidFill>
              <a:latin typeface="Verdana"/>
              <a:cs typeface="Verdana"/>
            </a:endParaRPr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703298" y="2844822"/>
            <a:ext cx="1732955" cy="612532"/>
          </a:xfrm>
          <a:prstGeom prst="rect">
            <a:avLst/>
          </a:prstGeom>
        </p:spPr>
      </p:pic>
      <p:pic>
        <p:nvPicPr>
          <p:cNvPr id="6" name="tmpA50F">
            <a:hlinkClick r:id="" action="ppaction://media"/>
          </p:cNvPr>
          <p:cNvPicPr>
            <a:picLocks noChangeAspect="1"/>
          </p:cNvPicPr>
          <p:nvPr>
            <a:videoFile r:link="rId1"/>
            <p:custDataLst>
              <p:tags r:id="rId2"/>
            </p:custDataLst>
            <p:extLst>
              <p:ext uri="{DAA4B4D4-6D71-4841-9C94-3DE7FCFB9230}">
                <p14:media xmlns:p14="http://schemas.microsoft.com/office/powerpoint/2010/main" r:embed="rId3">
                  <p14:trim end="58.0907"/>
                </p14:media>
              </p:ext>
              <p:ext uri="{42D2F446-02D8-4167-A562-619A0277C38B}">
                <p15:isNarration xmlns:p15="http://schemas.microsoft.com/office/powerpoint/2012/main" val="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8813800" y="101600"/>
            <a:ext cx="228600" cy="228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772"/>
    </mc:Choice>
    <mc:Fallback xmlns="">
      <p:transition advTm="377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1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6"/>
                </p:tgtEl>
              </p:cMediaNode>
            </p:video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Memory-mapped I/O</a:t>
            </a:r>
            <a:br>
              <a:rPr lang="pt-BR" dirty="0"/>
            </a:br>
            <a:r>
              <a:rPr lang="pt-BR" sz="2800" dirty="0"/>
              <a:t>(E/S mapeada em memória)</a:t>
            </a:r>
            <a:endParaRPr lang="pt-BR" dirty="0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457200" y="2228045"/>
            <a:ext cx="5700935" cy="3982254"/>
          </a:xfrm>
        </p:spPr>
        <p:txBody>
          <a:bodyPr>
            <a:normAutofit/>
          </a:bodyPr>
          <a:lstStyle/>
          <a:p>
            <a:r>
              <a:rPr lang="pt-BR" sz="2400" dirty="0"/>
              <a:t>Dispositivos são mapeados em endereços </a:t>
            </a:r>
            <a:r>
              <a:rPr lang="pt-BR" sz="2400"/>
              <a:t>de memória.</a:t>
            </a:r>
            <a:endParaRPr lang="pt-BR" sz="2400" dirty="0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20</a:t>
            </a:fld>
            <a:endParaRPr lang="pt-BR" dirty="0"/>
          </a:p>
        </p:txBody>
      </p:sp>
      <p:graphicFrame>
        <p:nvGraphicFramePr>
          <p:cNvPr id="6" name="Table 11"/>
          <p:cNvGraphicFramePr>
            <a:graphicFrameLocks noGrp="1"/>
          </p:cNvGraphicFramePr>
          <p:nvPr/>
        </p:nvGraphicFramePr>
        <p:xfrm>
          <a:off x="6220127" y="1845672"/>
          <a:ext cx="1637315" cy="43891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10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2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3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4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5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9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11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12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13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14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15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16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17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18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19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20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21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22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r"/>
                      <a:r>
                        <a:rPr lang="pt-BR" sz="1200" b="1" dirty="0"/>
                        <a:t>23</a:t>
                      </a:r>
                    </a:p>
                  </a:txBody>
                  <a:tcPr marT="0" marB="0"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endParaRPr lang="pt-BR" sz="1200" b="1" dirty="0"/>
                    </a:p>
                  </a:txBody>
                  <a:tcPr marT="0" marB="0">
                    <a:lnL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rgbClr r="0" g="0" b="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23"/>
                  </a:ext>
                </a:extLst>
              </a:tr>
            </a:tbl>
          </a:graphicData>
        </a:graphic>
      </p:graphicFrame>
      <p:sp>
        <p:nvSpPr>
          <p:cNvPr id="7" name="Rectangle 15"/>
          <p:cNvSpPr/>
          <p:nvPr/>
        </p:nvSpPr>
        <p:spPr>
          <a:xfrm rot="16200000">
            <a:off x="5422961" y="3959174"/>
            <a:ext cx="1532341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2000" dirty="0"/>
              <a:t>endereços</a:t>
            </a:r>
          </a:p>
        </p:txBody>
      </p:sp>
      <p:sp>
        <p:nvSpPr>
          <p:cNvPr id="8" name="Retângulo 7"/>
          <p:cNvSpPr/>
          <p:nvPr/>
        </p:nvSpPr>
        <p:spPr>
          <a:xfrm>
            <a:off x="6590812" y="4801891"/>
            <a:ext cx="2173550" cy="1050733"/>
          </a:xfrm>
          <a:prstGeom prst="rect">
            <a:avLst/>
          </a:prstGeom>
          <a:noFill/>
          <a:ln w="57150">
            <a:solidFill>
              <a:srgbClr val="00B05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9" name="Rectangle 15"/>
          <p:cNvSpPr/>
          <p:nvPr/>
        </p:nvSpPr>
        <p:spPr>
          <a:xfrm>
            <a:off x="7540992" y="3155683"/>
            <a:ext cx="153234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RAM16</a:t>
            </a:r>
          </a:p>
        </p:txBody>
      </p:sp>
      <p:sp>
        <p:nvSpPr>
          <p:cNvPr id="10" name="Retângulo 9"/>
          <p:cNvSpPr/>
          <p:nvPr/>
        </p:nvSpPr>
        <p:spPr>
          <a:xfrm>
            <a:off x="6599765" y="1830174"/>
            <a:ext cx="2163971" cy="2927807"/>
          </a:xfrm>
          <a:prstGeom prst="rect">
            <a:avLst/>
          </a:prstGeom>
          <a:noFill/>
          <a:ln w="57150"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Rectangle 15"/>
          <p:cNvSpPr/>
          <p:nvPr/>
        </p:nvSpPr>
        <p:spPr>
          <a:xfrm>
            <a:off x="7781796" y="5173368"/>
            <a:ext cx="1050734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4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Vídeo</a:t>
            </a:r>
          </a:p>
        </p:txBody>
      </p:sp>
      <p:sp>
        <p:nvSpPr>
          <p:cNvPr id="12" name="Retângulo 11"/>
          <p:cNvSpPr/>
          <p:nvPr/>
        </p:nvSpPr>
        <p:spPr>
          <a:xfrm>
            <a:off x="6590812" y="5883828"/>
            <a:ext cx="2173550" cy="388605"/>
          </a:xfrm>
          <a:prstGeom prst="rect">
            <a:avLst/>
          </a:prstGeom>
          <a:noFill/>
          <a:ln w="57150">
            <a:solidFill>
              <a:srgbClr val="7030A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3" name="Rectangle 15"/>
          <p:cNvSpPr/>
          <p:nvPr/>
        </p:nvSpPr>
        <p:spPr>
          <a:xfrm>
            <a:off x="7781796" y="5933442"/>
            <a:ext cx="1050734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pt-BR" sz="1200" b="1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Teclado</a:t>
            </a:r>
          </a:p>
        </p:txBody>
      </p:sp>
      <p:pic>
        <p:nvPicPr>
          <p:cNvPr id="4098" name="Picture 2" descr="Computer Memory RAM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58246" y="4839230"/>
            <a:ext cx="1488018" cy="739758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Computer processor, CPU icon (PSD)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555" t="5236" r="15935" b="4442"/>
          <a:stretch/>
        </p:blipFill>
        <p:spPr bwMode="auto">
          <a:xfrm>
            <a:off x="609209" y="3637451"/>
            <a:ext cx="1224366" cy="121062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2" name="Picture 6" descr="White Computer Keyboard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1112" y="4708013"/>
            <a:ext cx="1095433" cy="888839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4" name="Picture 8" descr="Computer Lcd Monitor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63408" y="4619684"/>
            <a:ext cx="1131106" cy="1085862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5" name="Conector angulado 14"/>
          <p:cNvCxnSpPr>
            <a:stCxn id="4100" idx="3"/>
            <a:endCxn id="4102" idx="0"/>
          </p:cNvCxnSpPr>
          <p:nvPr/>
        </p:nvCxnSpPr>
        <p:spPr>
          <a:xfrm>
            <a:off x="1833575" y="4242762"/>
            <a:ext cx="3485254" cy="465251"/>
          </a:xfrm>
          <a:prstGeom prst="bentConnector2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2" name="Conector angulado 21"/>
          <p:cNvCxnSpPr>
            <a:stCxn id="4100" idx="3"/>
            <a:endCxn id="4104" idx="0"/>
          </p:cNvCxnSpPr>
          <p:nvPr/>
        </p:nvCxnSpPr>
        <p:spPr>
          <a:xfrm>
            <a:off x="1833575" y="4242762"/>
            <a:ext cx="2095386" cy="376922"/>
          </a:xfrm>
          <a:prstGeom prst="bentConnector2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5" name="Conector angulado 24"/>
          <p:cNvCxnSpPr>
            <a:stCxn id="4100" idx="3"/>
            <a:endCxn id="4098" idx="0"/>
          </p:cNvCxnSpPr>
          <p:nvPr/>
        </p:nvCxnSpPr>
        <p:spPr>
          <a:xfrm>
            <a:off x="1833575" y="4242762"/>
            <a:ext cx="568680" cy="596468"/>
          </a:xfrm>
          <a:prstGeom prst="bentConnector2">
            <a:avLst/>
          </a:prstGeom>
          <a:ln w="57150">
            <a:solidFill>
              <a:schemeClr val="tx1"/>
            </a:solidFill>
            <a:headEnd type="none" w="med" len="med"/>
            <a:tailEnd type="triangle" w="med" len="med"/>
          </a:ln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099923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40891"/>
    </mc:Choice>
    <mc:Fallback xmlns="">
      <p:transition advTm="40891"/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I/O e Memória na Atualidade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21</a:t>
            </a:fld>
            <a:endParaRPr lang="pt-BR" dirty="0"/>
          </a:p>
        </p:txBody>
      </p:sp>
      <p:pic>
        <p:nvPicPr>
          <p:cNvPr id="5122" name="Picture 2" descr="http://images.anandtech.com/doci/8557/1%20-%20MSI%20Chipset%20Diagram_575px.png"/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58167" y="1400175"/>
            <a:ext cx="5265872" cy="5421207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904585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4707"/>
    </mc:Choice>
    <mc:Fallback xmlns="">
      <p:transition advTm="34707"/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Display </a:t>
            </a:r>
            <a:r>
              <a:rPr lang="pt-BR" dirty="0" err="1"/>
              <a:t>Raster</a:t>
            </a:r>
            <a:r>
              <a:rPr lang="pt-BR" dirty="0"/>
              <a:t> Mapeados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As telas dos computadores são compostas de pixels mapeados em por suas coordenadas. 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22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372" y="2510474"/>
            <a:ext cx="4256825" cy="4256825"/>
          </a:xfrm>
          <a:prstGeom prst="rect">
            <a:avLst/>
          </a:prstGeom>
        </p:spPr>
      </p:pic>
      <p:sp>
        <p:nvSpPr>
          <p:cNvPr id="7" name="Rectangle 6"/>
          <p:cNvSpPr/>
          <p:nvPr/>
        </p:nvSpPr>
        <p:spPr>
          <a:xfrm rot="16200000">
            <a:off x="2572450" y="4492857"/>
            <a:ext cx="779381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 dirty="0"/>
              <a:t>Linhas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79487" y="6296025"/>
            <a:ext cx="1032655" cy="369332"/>
          </a:xfrm>
          <a:prstGeom prst="rect">
            <a:avLst/>
          </a:prstGeom>
          <a:solidFill>
            <a:schemeClr val="bg1"/>
          </a:solidFill>
        </p:spPr>
        <p:txBody>
          <a:bodyPr wrap="none">
            <a:spAutoFit/>
          </a:bodyPr>
          <a:lstStyle/>
          <a:p>
            <a:r>
              <a:rPr lang="pt-BR"/>
              <a:t> Colunas 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2403267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61808"/>
    </mc:Choice>
    <mc:Fallback xmlns="">
      <p:transition advTm="61808"/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Teclados Mapeados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sz="2400" dirty="0"/>
              <a:t>Cada tecla do teclado possui um código, que pode representar um caractere ASCII.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23</a:t>
            </a:fld>
            <a:endParaRPr lang="pt-BR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24000" y="2451100"/>
            <a:ext cx="6096000" cy="279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143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38695"/>
    </mc:Choice>
    <mc:Fallback xmlns="">
      <p:transition advTm="38695"/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Arquivos Binários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7225" y="1485900"/>
            <a:ext cx="4842054" cy="4724400"/>
          </a:xfrm>
        </p:spPr>
        <p:txBody>
          <a:bodyPr>
            <a:normAutofit/>
          </a:bodyPr>
          <a:lstStyle/>
          <a:p>
            <a:r>
              <a:rPr lang="pt-BR" sz="2400" dirty="0"/>
              <a:t>Os arquivos binários MIF:</a:t>
            </a:r>
          </a:p>
          <a:p>
            <a:r>
              <a:rPr lang="pt-BR" sz="2400" dirty="0"/>
              <a:t> </a:t>
            </a:r>
          </a:p>
          <a:p>
            <a:r>
              <a:rPr lang="pt-BR" sz="2400" b="1" dirty="0"/>
              <a:t>WIDTH:</a:t>
            </a:r>
            <a:r>
              <a:rPr lang="pt-BR" sz="2400" dirty="0"/>
              <a:t> definição de tamanho da palavra;</a:t>
            </a:r>
          </a:p>
          <a:p>
            <a:r>
              <a:rPr lang="pt-BR" sz="2400" b="1" dirty="0"/>
              <a:t>DEPTH:</a:t>
            </a:r>
            <a:r>
              <a:rPr lang="pt-BR" sz="2400" dirty="0"/>
              <a:t> número de instruções;</a:t>
            </a:r>
          </a:p>
          <a:p>
            <a:endParaRPr lang="pt-BR" sz="2400" dirty="0"/>
          </a:p>
          <a:p>
            <a:r>
              <a:rPr lang="pt-BR" sz="2400" b="1" dirty="0"/>
              <a:t>ADDRESS_RADIX:</a:t>
            </a:r>
            <a:r>
              <a:rPr lang="pt-BR" sz="2400" dirty="0"/>
              <a:t> base numérica dos endereços;</a:t>
            </a:r>
          </a:p>
          <a:p>
            <a:r>
              <a:rPr lang="pt-BR" sz="2400" b="1" dirty="0"/>
              <a:t>DATA_RADIX:</a:t>
            </a:r>
            <a:r>
              <a:rPr lang="pt-BR" sz="2400" dirty="0"/>
              <a:t> base numérica das instruções;</a:t>
            </a:r>
          </a:p>
          <a:p>
            <a:endParaRPr lang="pt-BR" sz="2400" dirty="0"/>
          </a:p>
          <a:p>
            <a:endParaRPr lang="pt-BR" sz="240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7FFE5E5C-C80A-4D8D-A711-3102A7BA9258}" type="slidenum">
              <a:rPr lang="pt-BR" smtClean="0"/>
              <a:pPr/>
              <a:t>24</a:t>
            </a:fld>
            <a:endParaRPr lang="pt-BR" dirty="0"/>
          </a:p>
        </p:txBody>
      </p:sp>
      <p:sp>
        <p:nvSpPr>
          <p:cNvPr id="6" name="Retângulo 5"/>
          <p:cNvSpPr/>
          <p:nvPr/>
        </p:nvSpPr>
        <p:spPr>
          <a:xfrm>
            <a:off x="5215944" y="1105450"/>
            <a:ext cx="3271234" cy="5104850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 tIns="72000">
            <a:spAutoFit/>
          </a:bodyPr>
          <a:lstStyle/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WIDTH=16;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DEPTH=10;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 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ADDRESS_RADIX=UNS;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DATA_RADIX=BIN;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 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CONTENT BEGIN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0 : 1110111010010000;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1 : 0100000000000000;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2 : 1110001100001000;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3 : 0100000000000010;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4 : 1110001100001000;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5 : 0100000000000100;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6 : 1110001100001000;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7 : 0000000000000000;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8 : 1110000000000111;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9 : 1110101010000000;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  <a:p>
            <a:r>
              <a:rPr lang="pt-BR" dirty="0">
                <a:latin typeface="Courier" charset="0"/>
                <a:ea typeface="Courier" charset="0"/>
                <a:cs typeface="Courier" charset="0"/>
              </a:rPr>
              <a:t>END;</a:t>
            </a:r>
            <a:endParaRPr lang="en-US" dirty="0">
              <a:latin typeface="Courier" charset="0"/>
              <a:ea typeface="Courier" charset="0"/>
              <a:cs typeface="Courier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22809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Tm="78907"/>
    </mc:Choice>
    <mc:Fallback xmlns="">
      <p:transition advTm="78907"/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THENA.MIXSHAPE" val="|streamable=true|audioOnly=true|recordStart=0|recordEnd=3772|recordLength=3830|start=0|end=3772|audioFormat={00001610-0000-0010-8000-00AA00389B71}|audioRate=44100|muted=false|volume=0.8|fadeIn=0|fadeOut=0|videoFormat={34363248-0000-0010-8000-00AA00389B71}|videoRate=15|videoWidth=256|videoHeight=256"/>
</p:tagLst>
</file>

<file path=ppt/theme/theme1.xml><?xml version="1.0" encoding="utf-8"?>
<a:theme xmlns:a="http://schemas.openxmlformats.org/drawingml/2006/main" name="Personalizar design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13811</TotalTime>
  <Words>2117</Words>
  <Application>Microsoft Macintosh PowerPoint</Application>
  <PresentationFormat>On-screen Show (4:3)</PresentationFormat>
  <Paragraphs>313</Paragraphs>
  <Slides>24</Slides>
  <Notes>13</Notes>
  <HiddenSlides>5</HiddenSlides>
  <MMClips>1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Arial</vt:lpstr>
      <vt:lpstr>Calibri</vt:lpstr>
      <vt:lpstr>Courier</vt:lpstr>
      <vt:lpstr>Verdana</vt:lpstr>
      <vt:lpstr>Personalizar design</vt:lpstr>
      <vt:lpstr>PowerPoint Presentation</vt:lpstr>
      <vt:lpstr>Charles Babbage</vt:lpstr>
      <vt:lpstr>Máquinas de Babbage</vt:lpstr>
      <vt:lpstr>Máquina Analítica</vt:lpstr>
      <vt:lpstr>Z01</vt:lpstr>
      <vt:lpstr>CPU</vt:lpstr>
      <vt:lpstr>Como programar?</vt:lpstr>
      <vt:lpstr>Como programar?</vt:lpstr>
      <vt:lpstr>Como programar?</vt:lpstr>
      <vt:lpstr>Arquivos Assembly</vt:lpstr>
      <vt:lpstr>Assembler faz a conversão</vt:lpstr>
      <vt:lpstr>Assembly</vt:lpstr>
      <vt:lpstr>Assembly AT&amp;T</vt:lpstr>
      <vt:lpstr>Assembly AT&amp;T</vt:lpstr>
      <vt:lpstr>Principais Instruções 1/3</vt:lpstr>
      <vt:lpstr>Principais Instruções 2/3</vt:lpstr>
      <vt:lpstr>Principais Instruções 3/3</vt:lpstr>
      <vt:lpstr>PowerPoint Presentation</vt:lpstr>
      <vt:lpstr>PowerPoint Presentation</vt:lpstr>
      <vt:lpstr>Memory-mapped I/O (E/S mapeada em memória)</vt:lpstr>
      <vt:lpstr>I/O e Memória na Atualidade</vt:lpstr>
      <vt:lpstr>Display Raster Mapeados</vt:lpstr>
      <vt:lpstr>Teclados Mapeados</vt:lpstr>
      <vt:lpstr>Arquivos Binários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Aula 2 - Python</dc:title>
  <dc:creator>Luciano Pereira Soares</dc:creator>
  <cp:lastModifiedBy>Luciano Pereira Soares</cp:lastModifiedBy>
  <cp:revision>634</cp:revision>
  <cp:lastPrinted>2015-05-25T01:17:28Z</cp:lastPrinted>
  <dcterms:created xsi:type="dcterms:W3CDTF">2014-04-17T20:05:08Z</dcterms:created>
  <dcterms:modified xsi:type="dcterms:W3CDTF">2026-10-09T01:40:54Z</dcterms:modified>
</cp:coreProperties>
</file>