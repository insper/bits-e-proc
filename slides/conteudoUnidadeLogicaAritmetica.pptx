
<file path=[Content_Types].xml><?xml version="1.0" encoding="utf-8"?>
<Types xmlns="http://schemas.openxmlformats.org/package/2006/content-types">
  <Default Extension="bin" ContentType="application/vnd.openxmlformats-officedocument.oleObject"/>
  <Default Extension="gif" ContentType="image/gif"/>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3"/>
  </p:notesMasterIdLst>
  <p:handoutMasterIdLst>
    <p:handoutMasterId r:id="rId24"/>
  </p:handoutMasterIdLst>
  <p:sldIdLst>
    <p:sldId id="269" r:id="rId2"/>
    <p:sldId id="331" r:id="rId3"/>
    <p:sldId id="375" r:id="rId4"/>
    <p:sldId id="351" r:id="rId5"/>
    <p:sldId id="353" r:id="rId6"/>
    <p:sldId id="309" r:id="rId7"/>
    <p:sldId id="311" r:id="rId8"/>
    <p:sldId id="337" r:id="rId9"/>
    <p:sldId id="338" r:id="rId10"/>
    <p:sldId id="339" r:id="rId11"/>
    <p:sldId id="389" r:id="rId12"/>
    <p:sldId id="326" r:id="rId13"/>
    <p:sldId id="313" r:id="rId14"/>
    <p:sldId id="361" r:id="rId15"/>
    <p:sldId id="320" r:id="rId16"/>
    <p:sldId id="344" r:id="rId17"/>
    <p:sldId id="316" r:id="rId18"/>
    <p:sldId id="345" r:id="rId19"/>
    <p:sldId id="346" r:id="rId20"/>
    <p:sldId id="347" r:id="rId21"/>
    <p:sldId id="262"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84C31C-1F91-4B9B-8D1B-34ADBFAFA918}" v="47" dt="2026-09-03T22:41:40.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09" autoAdjust="0"/>
    <p:restoredTop sz="94731" autoAdjust="0"/>
  </p:normalViewPr>
  <p:slideViewPr>
    <p:cSldViewPr snapToGrid="0" snapToObjects="1" showGuides="1">
      <p:cViewPr varScale="1">
        <p:scale>
          <a:sx n="122" d="100"/>
          <a:sy n="122" d="100"/>
        </p:scale>
        <p:origin x="1488" y="102"/>
      </p:cViewPr>
      <p:guideLst>
        <p:guide orient="horz" pos="2160"/>
        <p:guide pos="2880"/>
      </p:guideLst>
    </p:cSldViewPr>
  </p:slideViewPr>
  <p:outlineViewPr>
    <p:cViewPr>
      <p:scale>
        <a:sx n="33" d="100"/>
        <a:sy n="33" d="100"/>
      </p:scale>
      <p:origin x="0" y="708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Pereira Soares" userId="16c53e34-c952-423e-8700-c0525d23304f" providerId="ADAL" clId="{1D55A5D4-1FC1-4934-A025-59DDC391468D}"/>
    <pc:docChg chg="undo custSel delSld modSld">
      <pc:chgData name="Luciano Pereira Soares" userId="16c53e34-c952-423e-8700-c0525d23304f" providerId="ADAL" clId="{1D55A5D4-1FC1-4934-A025-59DDC391468D}" dt="2026-09-03T22:41:42.685" v="263" actId="14100"/>
      <pc:docMkLst>
        <pc:docMk/>
      </pc:docMkLst>
      <pc:sldChg chg="delSp mod delAnim">
        <pc:chgData name="Luciano Pereira Soares" userId="16c53e34-c952-423e-8700-c0525d23304f" providerId="ADAL" clId="{1D55A5D4-1FC1-4934-A025-59DDC391468D}" dt="2026-09-03T21:18:15.147" v="73" actId="478"/>
        <pc:sldMkLst>
          <pc:docMk/>
          <pc:sldMk cId="0" sldId="262"/>
        </pc:sldMkLst>
        <pc:picChg chg="del">
          <ac:chgData name="Luciano Pereira Soares" userId="16c53e34-c952-423e-8700-c0525d23304f" providerId="ADAL" clId="{1D55A5D4-1FC1-4934-A025-59DDC391468D}" dt="2026-09-03T21:18:15.147" v="73" actId="478"/>
          <ac:picMkLst>
            <pc:docMk/>
            <pc:sldMk cId="0" sldId="262"/>
            <ac:picMk id="6" creationId="{00000000-0000-0000-0000-000000000000}"/>
          </ac:picMkLst>
        </pc:picChg>
      </pc:sldChg>
      <pc:sldChg chg="delSp modSp mod delAnim">
        <pc:chgData name="Luciano Pereira Soares" userId="16c53e34-c952-423e-8700-c0525d23304f" providerId="ADAL" clId="{1D55A5D4-1FC1-4934-A025-59DDC391468D}" dt="2026-09-03T21:16:56.396" v="52" actId="478"/>
        <pc:sldMkLst>
          <pc:docMk/>
          <pc:sldMk cId="2842346991" sldId="269"/>
        </pc:sldMkLst>
        <pc:spChg chg="mod">
          <ac:chgData name="Luciano Pereira Soares" userId="16c53e34-c952-423e-8700-c0525d23304f" providerId="ADAL" clId="{1D55A5D4-1FC1-4934-A025-59DDC391468D}" dt="2026-09-03T21:07:04.335" v="2" actId="6549"/>
          <ac:spMkLst>
            <pc:docMk/>
            <pc:sldMk cId="2842346991" sldId="269"/>
            <ac:spMk id="3" creationId="{00000000-0000-0000-0000-000000000000}"/>
          </ac:spMkLst>
        </pc:spChg>
        <pc:spChg chg="mod">
          <ac:chgData name="Luciano Pereira Soares" userId="16c53e34-c952-423e-8700-c0525d23304f" providerId="ADAL" clId="{1D55A5D4-1FC1-4934-A025-59DDC391468D}" dt="2026-09-03T21:07:10.611" v="23" actId="20577"/>
          <ac:spMkLst>
            <pc:docMk/>
            <pc:sldMk cId="2842346991" sldId="269"/>
            <ac:spMk id="8" creationId="{00000000-0000-0000-0000-000000000000}"/>
          </ac:spMkLst>
        </pc:spChg>
        <pc:picChg chg="del">
          <ac:chgData name="Luciano Pereira Soares" userId="16c53e34-c952-423e-8700-c0525d23304f" providerId="ADAL" clId="{1D55A5D4-1FC1-4934-A025-59DDC391468D}" dt="2026-09-03T21:16:56.396" v="52" actId="478"/>
          <ac:picMkLst>
            <pc:docMk/>
            <pc:sldMk cId="2842346991" sldId="269"/>
            <ac:picMk id="4" creationId="{00000000-0000-0000-0000-000000000000}"/>
          </ac:picMkLst>
        </pc:picChg>
      </pc:sldChg>
      <pc:sldChg chg="delSp modSp mod delAnim">
        <pc:chgData name="Luciano Pereira Soares" userId="16c53e34-c952-423e-8700-c0525d23304f" providerId="ADAL" clId="{1D55A5D4-1FC1-4934-A025-59DDC391468D}" dt="2026-09-03T22:00:01.536" v="219" actId="20577"/>
        <pc:sldMkLst>
          <pc:docMk/>
          <pc:sldMk cId="3539310379" sldId="309"/>
        </pc:sldMkLst>
        <pc:spChg chg="mod">
          <ac:chgData name="Luciano Pereira Soares" userId="16c53e34-c952-423e-8700-c0525d23304f" providerId="ADAL" clId="{1D55A5D4-1FC1-4934-A025-59DDC391468D}" dt="2026-09-03T22:00:01.536" v="219" actId="20577"/>
          <ac:spMkLst>
            <pc:docMk/>
            <pc:sldMk cId="3539310379" sldId="309"/>
            <ac:spMk id="3" creationId="{00000000-0000-0000-0000-000000000000}"/>
          </ac:spMkLst>
        </pc:spChg>
        <pc:picChg chg="del">
          <ac:chgData name="Luciano Pereira Soares" userId="16c53e34-c952-423e-8700-c0525d23304f" providerId="ADAL" clId="{1D55A5D4-1FC1-4934-A025-59DDC391468D}" dt="2026-09-03T21:17:06.538" v="55" actId="478"/>
          <ac:picMkLst>
            <pc:docMk/>
            <pc:sldMk cId="3539310379" sldId="309"/>
            <ac:picMk id="7" creationId="{00000000-0000-0000-0000-000000000000}"/>
          </ac:picMkLst>
        </pc:picChg>
      </pc:sldChg>
      <pc:sldChg chg="addSp delSp modSp mod delAnim modAnim">
        <pc:chgData name="Luciano Pereira Soares" userId="16c53e34-c952-423e-8700-c0525d23304f" providerId="ADAL" clId="{1D55A5D4-1FC1-4934-A025-59DDC391468D}" dt="2026-09-03T21:17:09.251" v="56" actId="478"/>
        <pc:sldMkLst>
          <pc:docMk/>
          <pc:sldMk cId="1787857689" sldId="311"/>
        </pc:sldMkLst>
        <pc:spChg chg="mod">
          <ac:chgData name="Luciano Pereira Soares" userId="16c53e34-c952-423e-8700-c0525d23304f" providerId="ADAL" clId="{1D55A5D4-1FC1-4934-A025-59DDC391468D}" dt="2026-09-03T21:14:47.354" v="32" actId="20577"/>
          <ac:spMkLst>
            <pc:docMk/>
            <pc:sldMk cId="1787857689" sldId="311"/>
            <ac:spMk id="2" creationId="{00000000-0000-0000-0000-000000000000}"/>
          </ac:spMkLst>
        </pc:spChg>
        <pc:spChg chg="add mod">
          <ac:chgData name="Luciano Pereira Soares" userId="16c53e34-c952-423e-8700-c0525d23304f" providerId="ADAL" clId="{1D55A5D4-1FC1-4934-A025-59DDC391468D}" dt="2026-09-03T21:15:34.213" v="49" actId="208"/>
          <ac:spMkLst>
            <pc:docMk/>
            <pc:sldMk cId="1787857689" sldId="311"/>
            <ac:spMk id="7" creationId="{AD6005B6-B59E-6BA7-D265-DE419B50E865}"/>
          </ac:spMkLst>
        </pc:spChg>
        <pc:picChg chg="del">
          <ac:chgData name="Luciano Pereira Soares" userId="16c53e34-c952-423e-8700-c0525d23304f" providerId="ADAL" clId="{1D55A5D4-1FC1-4934-A025-59DDC391468D}" dt="2026-09-03T21:17:09.251" v="56" actId="478"/>
          <ac:picMkLst>
            <pc:docMk/>
            <pc:sldMk cId="1787857689" sldId="311"/>
            <ac:picMk id="8" creationId="{00000000-0000-0000-0000-000000000000}"/>
          </ac:picMkLst>
        </pc:picChg>
      </pc:sldChg>
      <pc:sldChg chg="delSp modSp mod delAnim">
        <pc:chgData name="Luciano Pereira Soares" userId="16c53e34-c952-423e-8700-c0525d23304f" providerId="ADAL" clId="{1D55A5D4-1FC1-4934-A025-59DDC391468D}" dt="2026-09-03T21:52:33.054" v="150" actId="20577"/>
        <pc:sldMkLst>
          <pc:docMk/>
          <pc:sldMk cId="2006696339" sldId="313"/>
        </pc:sldMkLst>
        <pc:spChg chg="mod">
          <ac:chgData name="Luciano Pereira Soares" userId="16c53e34-c952-423e-8700-c0525d23304f" providerId="ADAL" clId="{1D55A5D4-1FC1-4934-A025-59DDC391468D}" dt="2026-09-03T21:52:33.054" v="150" actId="20577"/>
          <ac:spMkLst>
            <pc:docMk/>
            <pc:sldMk cId="2006696339" sldId="313"/>
            <ac:spMk id="3" creationId="{00000000-0000-0000-0000-000000000000}"/>
          </ac:spMkLst>
        </pc:spChg>
        <pc:spChg chg="mod">
          <ac:chgData name="Luciano Pereira Soares" userId="16c53e34-c952-423e-8700-c0525d23304f" providerId="ADAL" clId="{1D55A5D4-1FC1-4934-A025-59DDC391468D}" dt="2026-09-03T21:48:37.606" v="146" actId="20577"/>
          <ac:spMkLst>
            <pc:docMk/>
            <pc:sldMk cId="2006696339" sldId="313"/>
            <ac:spMk id="7" creationId="{00000000-0000-0000-0000-000000000000}"/>
          </ac:spMkLst>
        </pc:spChg>
        <pc:spChg chg="mod">
          <ac:chgData name="Luciano Pereira Soares" userId="16c53e34-c952-423e-8700-c0525d23304f" providerId="ADAL" clId="{1D55A5D4-1FC1-4934-A025-59DDC391468D}" dt="2026-09-03T21:49:01.545" v="147" actId="20577"/>
          <ac:spMkLst>
            <pc:docMk/>
            <pc:sldMk cId="2006696339" sldId="313"/>
            <ac:spMk id="9" creationId="{00000000-0000-0000-0000-000000000000}"/>
          </ac:spMkLst>
        </pc:spChg>
        <pc:picChg chg="del">
          <ac:chgData name="Luciano Pereira Soares" userId="16c53e34-c952-423e-8700-c0525d23304f" providerId="ADAL" clId="{1D55A5D4-1FC1-4934-A025-59DDC391468D}" dt="2026-09-03T21:17:27.485" v="61" actId="478"/>
          <ac:picMkLst>
            <pc:docMk/>
            <pc:sldMk cId="2006696339" sldId="313"/>
            <ac:picMk id="10" creationId="{00000000-0000-0000-0000-000000000000}"/>
          </ac:picMkLst>
        </pc:picChg>
      </pc:sldChg>
      <pc:sldChg chg="addSp delSp modSp mod delAnim modNotesTx">
        <pc:chgData name="Luciano Pereira Soares" userId="16c53e34-c952-423e-8700-c0525d23304f" providerId="ADAL" clId="{1D55A5D4-1FC1-4934-A025-59DDC391468D}" dt="2026-09-03T21:54:19.221" v="183" actId="1076"/>
        <pc:sldMkLst>
          <pc:docMk/>
          <pc:sldMk cId="1001621593" sldId="316"/>
        </pc:sldMkLst>
        <pc:spChg chg="add mod">
          <ac:chgData name="Luciano Pereira Soares" userId="16c53e34-c952-423e-8700-c0525d23304f" providerId="ADAL" clId="{1D55A5D4-1FC1-4934-A025-59DDC391468D}" dt="2026-09-03T21:54:19.221" v="183" actId="1076"/>
          <ac:spMkLst>
            <pc:docMk/>
            <pc:sldMk cId="1001621593" sldId="316"/>
            <ac:spMk id="15" creationId="{0F300C5C-26DD-EB76-8994-36BB34DB4F5C}"/>
          </ac:spMkLst>
        </pc:spChg>
        <pc:picChg chg="del">
          <ac:chgData name="Luciano Pereira Soares" userId="16c53e34-c952-423e-8700-c0525d23304f" providerId="ADAL" clId="{1D55A5D4-1FC1-4934-A025-59DDC391468D}" dt="2026-09-03T21:17:51.330" v="65" actId="478"/>
          <ac:picMkLst>
            <pc:docMk/>
            <pc:sldMk cId="1001621593" sldId="316"/>
            <ac:picMk id="7" creationId="{00000000-0000-0000-0000-000000000000}"/>
          </ac:picMkLst>
        </pc:picChg>
      </pc:sldChg>
      <pc:sldChg chg="delSp modSp mod delAnim">
        <pc:chgData name="Luciano Pereira Soares" userId="16c53e34-c952-423e-8700-c0525d23304f" providerId="ADAL" clId="{1D55A5D4-1FC1-4934-A025-59DDC391468D}" dt="2026-09-03T21:53:20.064" v="154" actId="14100"/>
        <pc:sldMkLst>
          <pc:docMk/>
          <pc:sldMk cId="3980877792" sldId="320"/>
        </pc:sldMkLst>
        <pc:spChg chg="mod">
          <ac:chgData name="Luciano Pereira Soares" userId="16c53e34-c952-423e-8700-c0525d23304f" providerId="ADAL" clId="{1D55A5D4-1FC1-4934-A025-59DDC391468D}" dt="2026-09-03T21:53:20.064" v="154" actId="14100"/>
          <ac:spMkLst>
            <pc:docMk/>
            <pc:sldMk cId="3980877792" sldId="320"/>
            <ac:spMk id="2" creationId="{00000000-0000-0000-0000-000000000000}"/>
          </ac:spMkLst>
        </pc:spChg>
        <pc:picChg chg="del">
          <ac:chgData name="Luciano Pereira Soares" userId="16c53e34-c952-423e-8700-c0525d23304f" providerId="ADAL" clId="{1D55A5D4-1FC1-4934-A025-59DDC391468D}" dt="2026-09-03T21:17:47.127" v="63" actId="478"/>
          <ac:picMkLst>
            <pc:docMk/>
            <pc:sldMk cId="3980877792" sldId="320"/>
            <ac:picMk id="3" creationId="{00000000-0000-0000-0000-000000000000}"/>
          </ac:picMkLst>
        </pc:picChg>
      </pc:sldChg>
      <pc:sldChg chg="delSp modSp mod delAnim">
        <pc:chgData name="Luciano Pereira Soares" userId="16c53e34-c952-423e-8700-c0525d23304f" providerId="ADAL" clId="{1D55A5D4-1FC1-4934-A025-59DDC391468D}" dt="2026-09-03T22:32:19.384" v="220" actId="20577"/>
        <pc:sldMkLst>
          <pc:docMk/>
          <pc:sldMk cId="980221586" sldId="326"/>
        </pc:sldMkLst>
        <pc:spChg chg="mod">
          <ac:chgData name="Luciano Pereira Soares" userId="16c53e34-c952-423e-8700-c0525d23304f" providerId="ADAL" clId="{1D55A5D4-1FC1-4934-A025-59DDC391468D}" dt="2026-09-03T22:32:19.384" v="220" actId="20577"/>
          <ac:spMkLst>
            <pc:docMk/>
            <pc:sldMk cId="980221586" sldId="326"/>
            <ac:spMk id="3" creationId="{00000000-0000-0000-0000-000000000000}"/>
          </ac:spMkLst>
        </pc:spChg>
        <pc:picChg chg="del">
          <ac:chgData name="Luciano Pereira Soares" userId="16c53e34-c952-423e-8700-c0525d23304f" providerId="ADAL" clId="{1D55A5D4-1FC1-4934-A025-59DDC391468D}" dt="2026-09-03T21:17:24.740" v="60" actId="478"/>
          <ac:picMkLst>
            <pc:docMk/>
            <pc:sldMk cId="980221586" sldId="326"/>
            <ac:picMk id="12" creationId="{00000000-0000-0000-0000-000000000000}"/>
          </ac:picMkLst>
        </pc:picChg>
      </pc:sldChg>
      <pc:sldChg chg="delSp modSp mod delAnim">
        <pc:chgData name="Luciano Pereira Soares" userId="16c53e34-c952-423e-8700-c0525d23304f" providerId="ADAL" clId="{1D55A5D4-1FC1-4934-A025-59DDC391468D}" dt="2026-09-03T21:56:20.127" v="198" actId="20577"/>
        <pc:sldMkLst>
          <pc:docMk/>
          <pc:sldMk cId="197056866" sldId="331"/>
        </pc:sldMkLst>
        <pc:spChg chg="mod">
          <ac:chgData name="Luciano Pereira Soares" userId="16c53e34-c952-423e-8700-c0525d23304f" providerId="ADAL" clId="{1D55A5D4-1FC1-4934-A025-59DDC391468D}" dt="2026-09-03T21:56:20.127" v="198" actId="20577"/>
          <ac:spMkLst>
            <pc:docMk/>
            <pc:sldMk cId="197056866" sldId="331"/>
            <ac:spMk id="3" creationId="{00000000-0000-0000-0000-000000000000}"/>
          </ac:spMkLst>
        </pc:spChg>
        <pc:picChg chg="mod">
          <ac:chgData name="Luciano Pereira Soares" userId="16c53e34-c952-423e-8700-c0525d23304f" providerId="ADAL" clId="{1D55A5D4-1FC1-4934-A025-59DDC391468D}" dt="2026-09-03T21:56:06.491" v="194" actId="1076"/>
          <ac:picMkLst>
            <pc:docMk/>
            <pc:sldMk cId="197056866" sldId="331"/>
            <ac:picMk id="8" creationId="{00000000-0000-0000-0000-000000000000}"/>
          </ac:picMkLst>
        </pc:picChg>
        <pc:picChg chg="del">
          <ac:chgData name="Luciano Pereira Soares" userId="16c53e34-c952-423e-8700-c0525d23304f" providerId="ADAL" clId="{1D55A5D4-1FC1-4934-A025-59DDC391468D}" dt="2026-09-03T21:16:59.346" v="53" actId="478"/>
          <ac:picMkLst>
            <pc:docMk/>
            <pc:sldMk cId="197056866" sldId="331"/>
            <ac:picMk id="15" creationId="{00000000-0000-0000-0000-000000000000}"/>
          </ac:picMkLst>
        </pc:picChg>
      </pc:sldChg>
      <pc:sldChg chg="delSp mod delAnim">
        <pc:chgData name="Luciano Pereira Soares" userId="16c53e34-c952-423e-8700-c0525d23304f" providerId="ADAL" clId="{1D55A5D4-1FC1-4934-A025-59DDC391468D}" dt="2026-09-03T21:17:11.722" v="57" actId="478"/>
        <pc:sldMkLst>
          <pc:docMk/>
          <pc:sldMk cId="2731117646" sldId="337"/>
        </pc:sldMkLst>
        <pc:picChg chg="del">
          <ac:chgData name="Luciano Pereira Soares" userId="16c53e34-c952-423e-8700-c0525d23304f" providerId="ADAL" clId="{1D55A5D4-1FC1-4934-A025-59DDC391468D}" dt="2026-09-03T21:17:11.722" v="57" actId="478"/>
          <ac:picMkLst>
            <pc:docMk/>
            <pc:sldMk cId="2731117646" sldId="337"/>
            <ac:picMk id="11" creationId="{00000000-0000-0000-0000-000000000000}"/>
          </ac:picMkLst>
        </pc:picChg>
      </pc:sldChg>
      <pc:sldChg chg="delSp modSp mod delAnim">
        <pc:chgData name="Luciano Pereira Soares" userId="16c53e34-c952-423e-8700-c0525d23304f" providerId="ADAL" clId="{1D55A5D4-1FC1-4934-A025-59DDC391468D}" dt="2026-09-03T21:42:07.541" v="90" actId="20577"/>
        <pc:sldMkLst>
          <pc:docMk/>
          <pc:sldMk cId="2610403686" sldId="338"/>
        </pc:sldMkLst>
        <pc:spChg chg="mod">
          <ac:chgData name="Luciano Pereira Soares" userId="16c53e34-c952-423e-8700-c0525d23304f" providerId="ADAL" clId="{1D55A5D4-1FC1-4934-A025-59DDC391468D}" dt="2026-09-03T21:42:07.541" v="90" actId="20577"/>
          <ac:spMkLst>
            <pc:docMk/>
            <pc:sldMk cId="2610403686" sldId="338"/>
            <ac:spMk id="3" creationId="{00000000-0000-0000-0000-000000000000}"/>
          </ac:spMkLst>
        </pc:spChg>
        <pc:picChg chg="del">
          <ac:chgData name="Luciano Pereira Soares" userId="16c53e34-c952-423e-8700-c0525d23304f" providerId="ADAL" clId="{1D55A5D4-1FC1-4934-A025-59DDC391468D}" dt="2026-09-03T21:17:14.779" v="58" actId="478"/>
          <ac:picMkLst>
            <pc:docMk/>
            <pc:sldMk cId="2610403686" sldId="338"/>
            <ac:picMk id="14" creationId="{00000000-0000-0000-0000-000000000000}"/>
          </ac:picMkLst>
        </pc:picChg>
      </pc:sldChg>
      <pc:sldChg chg="addSp delSp modSp mod addAnim delAnim modAnim">
        <pc:chgData name="Luciano Pereira Soares" userId="16c53e34-c952-423e-8700-c0525d23304f" providerId="ADAL" clId="{1D55A5D4-1FC1-4934-A025-59DDC391468D}" dt="2026-09-03T21:46:14.158" v="123" actId="1036"/>
        <pc:sldMkLst>
          <pc:docMk/>
          <pc:sldMk cId="868850266" sldId="339"/>
        </pc:sldMkLst>
        <pc:spChg chg="mod">
          <ac:chgData name="Luciano Pereira Soares" userId="16c53e34-c952-423e-8700-c0525d23304f" providerId="ADAL" clId="{1D55A5D4-1FC1-4934-A025-59DDC391468D}" dt="2026-09-03T21:46:04.401" v="108" actId="20577"/>
          <ac:spMkLst>
            <pc:docMk/>
            <pc:sldMk cId="868850266" sldId="339"/>
            <ac:spMk id="3" creationId="{00000000-0000-0000-0000-000000000000}"/>
          </ac:spMkLst>
        </pc:spChg>
        <pc:spChg chg="mod">
          <ac:chgData name="Luciano Pereira Soares" userId="16c53e34-c952-423e-8700-c0525d23304f" providerId="ADAL" clId="{1D55A5D4-1FC1-4934-A025-59DDC391468D}" dt="2026-09-03T21:46:14.158" v="123" actId="1036"/>
          <ac:spMkLst>
            <pc:docMk/>
            <pc:sldMk cId="868850266" sldId="339"/>
            <ac:spMk id="6" creationId="{00000000-0000-0000-0000-000000000000}"/>
          </ac:spMkLst>
        </pc:spChg>
        <pc:spChg chg="add mod">
          <ac:chgData name="Luciano Pereira Soares" userId="16c53e34-c952-423e-8700-c0525d23304f" providerId="ADAL" clId="{1D55A5D4-1FC1-4934-A025-59DDC391468D}" dt="2026-09-03T21:46:14.158" v="123" actId="1036"/>
          <ac:spMkLst>
            <pc:docMk/>
            <pc:sldMk cId="868850266" sldId="339"/>
            <ac:spMk id="7" creationId="{B0308FEB-EB6A-EF28-BCE7-2954CBE3EBDB}"/>
          </ac:spMkLst>
        </pc:spChg>
        <pc:spChg chg="add mod">
          <ac:chgData name="Luciano Pereira Soares" userId="16c53e34-c952-423e-8700-c0525d23304f" providerId="ADAL" clId="{1D55A5D4-1FC1-4934-A025-59DDC391468D}" dt="2026-09-03T21:46:14.158" v="123" actId="1036"/>
          <ac:spMkLst>
            <pc:docMk/>
            <pc:sldMk cId="868850266" sldId="339"/>
            <ac:spMk id="15" creationId="{7189C6F6-6036-B7E0-A555-A7C1FDDFAAEE}"/>
          </ac:spMkLst>
        </pc:spChg>
        <pc:spChg chg="add mod">
          <ac:chgData name="Luciano Pereira Soares" userId="16c53e34-c952-423e-8700-c0525d23304f" providerId="ADAL" clId="{1D55A5D4-1FC1-4934-A025-59DDC391468D}" dt="2026-09-03T21:46:14.158" v="123" actId="1036"/>
          <ac:spMkLst>
            <pc:docMk/>
            <pc:sldMk cId="868850266" sldId="339"/>
            <ac:spMk id="17" creationId="{5D0D5ADA-5B4A-3962-752F-B20FDF3BC9B6}"/>
          </ac:spMkLst>
        </pc:spChg>
        <pc:spChg chg="add mod">
          <ac:chgData name="Luciano Pereira Soares" userId="16c53e34-c952-423e-8700-c0525d23304f" providerId="ADAL" clId="{1D55A5D4-1FC1-4934-A025-59DDC391468D}" dt="2026-09-03T21:46:14.158" v="123" actId="1036"/>
          <ac:spMkLst>
            <pc:docMk/>
            <pc:sldMk cId="868850266" sldId="339"/>
            <ac:spMk id="19" creationId="{F7E18461-F42A-9CCF-A3EE-0A4650E9C17F}"/>
          </ac:spMkLst>
        </pc:spChg>
        <pc:spChg chg="mod">
          <ac:chgData name="Luciano Pereira Soares" userId="16c53e34-c952-423e-8700-c0525d23304f" providerId="ADAL" clId="{1D55A5D4-1FC1-4934-A025-59DDC391468D}" dt="2026-09-03T21:46:14.158" v="123" actId="1036"/>
          <ac:spMkLst>
            <pc:docMk/>
            <pc:sldMk cId="868850266" sldId="339"/>
            <ac:spMk id="33" creationId="{00000000-0000-0000-0000-000000000000}"/>
          </ac:spMkLst>
        </pc:spChg>
        <pc:grpChg chg="mod">
          <ac:chgData name="Luciano Pereira Soares" userId="16c53e34-c952-423e-8700-c0525d23304f" providerId="ADAL" clId="{1D55A5D4-1FC1-4934-A025-59DDC391468D}" dt="2026-09-03T21:46:14.158" v="123" actId="1036"/>
          <ac:grpSpMkLst>
            <pc:docMk/>
            <pc:sldMk cId="868850266" sldId="339"/>
            <ac:grpSpMk id="51"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90"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100"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110" creationId="{00000000-0000-0000-0000-000000000000}"/>
          </ac:grpSpMkLst>
        </pc:grpChg>
        <pc:picChg chg="del">
          <ac:chgData name="Luciano Pereira Soares" userId="16c53e34-c952-423e-8700-c0525d23304f" providerId="ADAL" clId="{1D55A5D4-1FC1-4934-A025-59DDC391468D}" dt="2026-09-03T21:17:18.896" v="59" actId="478"/>
          <ac:picMkLst>
            <pc:docMk/>
            <pc:sldMk cId="868850266" sldId="339"/>
            <ac:picMk id="11" creationId="{00000000-0000-0000-0000-000000000000}"/>
          </ac:picMkLst>
        </pc:picChg>
        <pc:cxnChg chg="add mod">
          <ac:chgData name="Luciano Pereira Soares" userId="16c53e34-c952-423e-8700-c0525d23304f" providerId="ADAL" clId="{1D55A5D4-1FC1-4934-A025-59DDC391468D}" dt="2026-09-03T21:44:05.217" v="98" actId="14100"/>
          <ac:cxnSpMkLst>
            <pc:docMk/>
            <pc:sldMk cId="868850266" sldId="339"/>
            <ac:cxnSpMk id="9" creationId="{3570253A-F11F-8482-D2F1-53590BABAE7C}"/>
          </ac:cxnSpMkLst>
        </pc:cxnChg>
        <pc:cxnChg chg="add mod">
          <ac:chgData name="Luciano Pereira Soares" userId="16c53e34-c952-423e-8700-c0525d23304f" providerId="ADAL" clId="{1D55A5D4-1FC1-4934-A025-59DDC391468D}" dt="2026-09-03T21:44:14.483" v="100" actId="1076"/>
          <ac:cxnSpMkLst>
            <pc:docMk/>
            <pc:sldMk cId="868850266" sldId="339"/>
            <ac:cxnSpMk id="16" creationId="{0C14CFA5-06E2-CB48-E198-E3E56AD5A242}"/>
          </ac:cxnSpMkLst>
        </pc:cxnChg>
        <pc:cxnChg chg="add mod">
          <ac:chgData name="Luciano Pereira Soares" userId="16c53e34-c952-423e-8700-c0525d23304f" providerId="ADAL" clId="{1D55A5D4-1FC1-4934-A025-59DDC391468D}" dt="2026-09-03T21:44:34.902" v="105" actId="1076"/>
          <ac:cxnSpMkLst>
            <pc:docMk/>
            <pc:sldMk cId="868850266" sldId="339"/>
            <ac:cxnSpMk id="18" creationId="{631FFE9A-3178-E279-A936-70F1F5C4E7C2}"/>
          </ac:cxnSpMkLst>
        </pc:cxnChg>
        <pc:cxnChg chg="add mod">
          <ac:chgData name="Luciano Pereira Soares" userId="16c53e34-c952-423e-8700-c0525d23304f" providerId="ADAL" clId="{1D55A5D4-1FC1-4934-A025-59DDC391468D}" dt="2026-09-03T21:44:31.245" v="104" actId="1076"/>
          <ac:cxnSpMkLst>
            <pc:docMk/>
            <pc:sldMk cId="868850266" sldId="339"/>
            <ac:cxnSpMk id="20" creationId="{6078E5AA-F680-CB17-50E1-F8A60818E729}"/>
          </ac:cxnSpMkLst>
        </pc:cxnChg>
      </pc:sldChg>
      <pc:sldChg chg="delSp mod delAnim modShow">
        <pc:chgData name="Luciano Pereira Soares" userId="16c53e34-c952-423e-8700-c0525d23304f" providerId="ADAL" clId="{1D55A5D4-1FC1-4934-A025-59DDC391468D}" dt="2026-09-03T21:24:11.387" v="75" actId="729"/>
        <pc:sldMkLst>
          <pc:docMk/>
          <pc:sldMk cId="756607206" sldId="344"/>
        </pc:sldMkLst>
        <pc:picChg chg="del">
          <ac:chgData name="Luciano Pereira Soares" userId="16c53e34-c952-423e-8700-c0525d23304f" providerId="ADAL" clId="{1D55A5D4-1FC1-4934-A025-59DDC391468D}" dt="2026-09-03T21:17:49.127" v="64" actId="478"/>
          <ac:picMkLst>
            <pc:docMk/>
            <pc:sldMk cId="756607206" sldId="344"/>
            <ac:picMk id="3" creationId="{00000000-0000-0000-0000-000000000000}"/>
          </ac:picMkLst>
        </pc:picChg>
      </pc:sldChg>
      <pc:sldChg chg="addSp delSp modSp mod delAnim">
        <pc:chgData name="Luciano Pereira Soares" userId="16c53e34-c952-423e-8700-c0525d23304f" providerId="ADAL" clId="{1D55A5D4-1FC1-4934-A025-59DDC391468D}" dt="2026-09-03T21:54:23.291" v="184"/>
        <pc:sldMkLst>
          <pc:docMk/>
          <pc:sldMk cId="2157408286" sldId="345"/>
        </pc:sldMkLst>
        <pc:spChg chg="add mod">
          <ac:chgData name="Luciano Pereira Soares" userId="16c53e34-c952-423e-8700-c0525d23304f" providerId="ADAL" clId="{1D55A5D4-1FC1-4934-A025-59DDC391468D}" dt="2026-09-03T21:54:23.291" v="184"/>
          <ac:spMkLst>
            <pc:docMk/>
            <pc:sldMk cId="2157408286" sldId="345"/>
            <ac:spMk id="8" creationId="{7500C4A2-588D-DBCD-24DD-E9C2304A21A3}"/>
          </ac:spMkLst>
        </pc:spChg>
        <pc:picChg chg="del">
          <ac:chgData name="Luciano Pereira Soares" userId="16c53e34-c952-423e-8700-c0525d23304f" providerId="ADAL" clId="{1D55A5D4-1FC1-4934-A025-59DDC391468D}" dt="2026-09-03T21:17:53.943" v="66" actId="478"/>
          <ac:picMkLst>
            <pc:docMk/>
            <pc:sldMk cId="2157408286" sldId="345"/>
            <ac:picMk id="7" creationId="{00000000-0000-0000-0000-000000000000}"/>
          </ac:picMkLst>
        </pc:picChg>
      </pc:sldChg>
      <pc:sldChg chg="addSp delSp modSp mod delAnim">
        <pc:chgData name="Luciano Pereira Soares" userId="16c53e34-c952-423e-8700-c0525d23304f" providerId="ADAL" clId="{1D55A5D4-1FC1-4934-A025-59DDC391468D}" dt="2026-09-03T21:54:24.625" v="185"/>
        <pc:sldMkLst>
          <pc:docMk/>
          <pc:sldMk cId="2289230575" sldId="346"/>
        </pc:sldMkLst>
        <pc:spChg chg="add mod">
          <ac:chgData name="Luciano Pereira Soares" userId="16c53e34-c952-423e-8700-c0525d23304f" providerId="ADAL" clId="{1D55A5D4-1FC1-4934-A025-59DDC391468D}" dt="2026-09-03T21:54:24.625" v="185"/>
          <ac:spMkLst>
            <pc:docMk/>
            <pc:sldMk cId="2289230575" sldId="346"/>
            <ac:spMk id="8" creationId="{A644BFDB-8EF4-DEF0-5180-BCA743CA5ECC}"/>
          </ac:spMkLst>
        </pc:spChg>
        <pc:picChg chg="del">
          <ac:chgData name="Luciano Pereira Soares" userId="16c53e34-c952-423e-8700-c0525d23304f" providerId="ADAL" clId="{1D55A5D4-1FC1-4934-A025-59DDC391468D}" dt="2026-09-03T21:17:57.425" v="67" actId="478"/>
          <ac:picMkLst>
            <pc:docMk/>
            <pc:sldMk cId="2289230575" sldId="346"/>
            <ac:picMk id="7" creationId="{00000000-0000-0000-0000-000000000000}"/>
          </ac:picMkLst>
        </pc:picChg>
      </pc:sldChg>
      <pc:sldChg chg="addSp delSp modSp mod delAnim">
        <pc:chgData name="Luciano Pereira Soares" userId="16c53e34-c952-423e-8700-c0525d23304f" providerId="ADAL" clId="{1D55A5D4-1FC1-4934-A025-59DDC391468D}" dt="2026-09-03T21:54:25.780" v="186"/>
        <pc:sldMkLst>
          <pc:docMk/>
          <pc:sldMk cId="475993518" sldId="347"/>
        </pc:sldMkLst>
        <pc:spChg chg="add mod">
          <ac:chgData name="Luciano Pereira Soares" userId="16c53e34-c952-423e-8700-c0525d23304f" providerId="ADAL" clId="{1D55A5D4-1FC1-4934-A025-59DDC391468D}" dt="2026-09-03T21:54:25.780" v="186"/>
          <ac:spMkLst>
            <pc:docMk/>
            <pc:sldMk cId="475993518" sldId="347"/>
            <ac:spMk id="8" creationId="{DB0F8E96-704D-74C1-DA04-FF3C9AB81FB8}"/>
          </ac:spMkLst>
        </pc:spChg>
        <pc:picChg chg="del">
          <ac:chgData name="Luciano Pereira Soares" userId="16c53e34-c952-423e-8700-c0525d23304f" providerId="ADAL" clId="{1D55A5D4-1FC1-4934-A025-59DDC391468D}" dt="2026-09-03T21:17:59.332" v="68" actId="478"/>
          <ac:picMkLst>
            <pc:docMk/>
            <pc:sldMk cId="475993518" sldId="347"/>
            <ac:picMk id="7" creationId="{00000000-0000-0000-0000-000000000000}"/>
          </ac:picMkLst>
        </pc:picChg>
      </pc:sldChg>
      <pc:sldChg chg="delSp mod delAnim">
        <pc:chgData name="Luciano Pereira Soares" userId="16c53e34-c952-423e-8700-c0525d23304f" providerId="ADAL" clId="{1D55A5D4-1FC1-4934-A025-59DDC391468D}" dt="2026-09-03T21:18:02.177" v="69" actId="478"/>
        <pc:sldMkLst>
          <pc:docMk/>
          <pc:sldMk cId="1170245019" sldId="351"/>
        </pc:sldMkLst>
        <pc:picChg chg="del">
          <ac:chgData name="Luciano Pereira Soares" userId="16c53e34-c952-423e-8700-c0525d23304f" providerId="ADAL" clId="{1D55A5D4-1FC1-4934-A025-59DDC391468D}" dt="2026-09-03T21:18:02.177" v="69" actId="478"/>
          <ac:picMkLst>
            <pc:docMk/>
            <pc:sldMk cId="1170245019" sldId="351"/>
            <ac:picMk id="11" creationId="{00000000-0000-0000-0000-000000000000}"/>
          </ac:picMkLst>
        </pc:picChg>
      </pc:sldChg>
      <pc:sldChg chg="delSp modSp mod delAnim">
        <pc:chgData name="Luciano Pereira Soares" userId="16c53e34-c952-423e-8700-c0525d23304f" providerId="ADAL" clId="{1D55A5D4-1FC1-4934-A025-59DDC391468D}" dt="2026-09-03T22:33:42.300" v="225" actId="404"/>
        <pc:sldMkLst>
          <pc:docMk/>
          <pc:sldMk cId="963048599" sldId="352"/>
        </pc:sldMkLst>
        <pc:spChg chg="mod">
          <ac:chgData name="Luciano Pereira Soares" userId="16c53e34-c952-423e-8700-c0525d23304f" providerId="ADAL" clId="{1D55A5D4-1FC1-4934-A025-59DDC391468D}" dt="2026-09-03T22:33:42.300" v="225" actId="404"/>
          <ac:spMkLst>
            <pc:docMk/>
            <pc:sldMk cId="963048599" sldId="352"/>
            <ac:spMk id="3" creationId="{00000000-0000-0000-0000-000000000000}"/>
          </ac:spMkLst>
        </pc:spChg>
        <pc:picChg chg="del">
          <ac:chgData name="Luciano Pereira Soares" userId="16c53e34-c952-423e-8700-c0525d23304f" providerId="ADAL" clId="{1D55A5D4-1FC1-4934-A025-59DDC391468D}" dt="2026-09-03T21:18:04.672" v="70" actId="478"/>
          <ac:picMkLst>
            <pc:docMk/>
            <pc:sldMk cId="963048599" sldId="352"/>
            <ac:picMk id="8" creationId="{00000000-0000-0000-0000-000000000000}"/>
          </ac:picMkLst>
        </pc:picChg>
      </pc:sldChg>
      <pc:sldChg chg="addSp delSp modSp mod addAnim delAnim modAnim">
        <pc:chgData name="Luciano Pereira Soares" userId="16c53e34-c952-423e-8700-c0525d23304f" providerId="ADAL" clId="{1D55A5D4-1FC1-4934-A025-59DDC391468D}" dt="2026-09-03T22:41:42.685" v="263" actId="14100"/>
        <pc:sldMkLst>
          <pc:docMk/>
          <pc:sldMk cId="3469531190" sldId="353"/>
        </pc:sldMkLst>
        <pc:spChg chg="mod">
          <ac:chgData name="Luciano Pereira Soares" userId="16c53e34-c952-423e-8700-c0525d23304f" providerId="ADAL" clId="{1D55A5D4-1FC1-4934-A025-59DDC391468D}" dt="2026-09-03T22:37:37.840" v="238" actId="404"/>
          <ac:spMkLst>
            <pc:docMk/>
            <pc:sldMk cId="3469531190" sldId="353"/>
            <ac:spMk id="3" creationId="{00000000-0000-0000-0000-000000000000}"/>
          </ac:spMkLst>
        </pc:spChg>
        <pc:spChg chg="mod">
          <ac:chgData name="Luciano Pereira Soares" userId="16c53e34-c952-423e-8700-c0525d23304f" providerId="ADAL" clId="{1D55A5D4-1FC1-4934-A025-59DDC391468D}" dt="2026-09-03T22:41:42.685" v="263" actId="14100"/>
          <ac:spMkLst>
            <pc:docMk/>
            <pc:sldMk cId="3469531190" sldId="353"/>
            <ac:spMk id="9" creationId="{00000000-0000-0000-0000-000000000000}"/>
          </ac:spMkLst>
        </pc:spChg>
        <pc:spChg chg="mod">
          <ac:chgData name="Luciano Pereira Soares" userId="16c53e34-c952-423e-8700-c0525d23304f" providerId="ADAL" clId="{1D55A5D4-1FC1-4934-A025-59DDC391468D}" dt="2026-09-03T22:37:19.883" v="236" actId="14100"/>
          <ac:spMkLst>
            <pc:docMk/>
            <pc:sldMk cId="3469531190" sldId="353"/>
            <ac:spMk id="11" creationId="{00000000-0000-0000-0000-000000000000}"/>
          </ac:spMkLst>
        </pc:spChg>
        <pc:spChg chg="mod">
          <ac:chgData name="Luciano Pereira Soares" userId="16c53e34-c952-423e-8700-c0525d23304f" providerId="ADAL" clId="{1D55A5D4-1FC1-4934-A025-59DDC391468D}" dt="2026-09-03T22:41:34.744" v="259" actId="14100"/>
          <ac:spMkLst>
            <pc:docMk/>
            <pc:sldMk cId="3469531190" sldId="353"/>
            <ac:spMk id="13" creationId="{00000000-0000-0000-0000-000000000000}"/>
          </ac:spMkLst>
        </pc:spChg>
        <pc:picChg chg="del">
          <ac:chgData name="Luciano Pereira Soares" userId="16c53e34-c952-423e-8700-c0525d23304f" providerId="ADAL" clId="{1D55A5D4-1FC1-4934-A025-59DDC391468D}" dt="2026-09-03T22:38:51.234" v="239" actId="478"/>
          <ac:picMkLst>
            <pc:docMk/>
            <pc:sldMk cId="3469531190" sldId="353"/>
            <ac:picMk id="6" creationId="{00000000-0000-0000-0000-000000000000}"/>
          </ac:picMkLst>
        </pc:picChg>
        <pc:picChg chg="del">
          <ac:chgData name="Luciano Pereira Soares" userId="16c53e34-c952-423e-8700-c0525d23304f" providerId="ADAL" clId="{1D55A5D4-1FC1-4934-A025-59DDC391468D}" dt="2026-09-03T21:18:12.074" v="72" actId="478"/>
          <ac:picMkLst>
            <pc:docMk/>
            <pc:sldMk cId="3469531190" sldId="353"/>
            <ac:picMk id="10" creationId="{00000000-0000-0000-0000-000000000000}"/>
          </ac:picMkLst>
        </pc:picChg>
        <pc:picChg chg="add mod modCrop">
          <ac:chgData name="Luciano Pereira Soares" userId="16c53e34-c952-423e-8700-c0525d23304f" providerId="ADAL" clId="{1D55A5D4-1FC1-4934-A025-59DDC391468D}" dt="2026-09-03T22:39:20.484" v="247" actId="1076"/>
          <ac:picMkLst>
            <pc:docMk/>
            <pc:sldMk cId="3469531190" sldId="353"/>
            <ac:picMk id="12" creationId="{D2D8CA1D-4442-921D-BA6E-44F19002A9A3}"/>
          </ac:picMkLst>
        </pc:picChg>
      </pc:sldChg>
      <pc:sldChg chg="delSp mod delAnim">
        <pc:chgData name="Luciano Pereira Soares" userId="16c53e34-c952-423e-8700-c0525d23304f" providerId="ADAL" clId="{1D55A5D4-1FC1-4934-A025-59DDC391468D}" dt="2026-09-03T21:17:35.565" v="62" actId="478"/>
        <pc:sldMkLst>
          <pc:docMk/>
          <pc:sldMk cId="2185014460" sldId="361"/>
        </pc:sldMkLst>
        <pc:picChg chg="del">
          <ac:chgData name="Luciano Pereira Soares" userId="16c53e34-c952-423e-8700-c0525d23304f" providerId="ADAL" clId="{1D55A5D4-1FC1-4934-A025-59DDC391468D}" dt="2026-09-03T21:17:35.565" v="62" actId="478"/>
          <ac:picMkLst>
            <pc:docMk/>
            <pc:sldMk cId="2185014460" sldId="361"/>
            <ac:picMk id="6" creationId="{00000000-0000-0000-0000-000000000000}"/>
          </ac:picMkLst>
        </pc:picChg>
      </pc:sldChg>
      <pc:sldChg chg="delSp modSp mod delAnim modAnim">
        <pc:chgData name="Luciano Pereira Soares" userId="16c53e34-c952-423e-8700-c0525d23304f" providerId="ADAL" clId="{1D55A5D4-1FC1-4934-A025-59DDC391468D}" dt="2026-09-03T21:59:03.947" v="209" actId="790"/>
        <pc:sldMkLst>
          <pc:docMk/>
          <pc:sldMk cId="1930287214" sldId="375"/>
        </pc:sldMkLst>
        <pc:spChg chg="mod">
          <ac:chgData name="Luciano Pereira Soares" userId="16c53e34-c952-423e-8700-c0525d23304f" providerId="ADAL" clId="{1D55A5D4-1FC1-4934-A025-59DDC391468D}" dt="2026-09-03T21:59:03.947" v="209" actId="790"/>
          <ac:spMkLst>
            <pc:docMk/>
            <pc:sldMk cId="1930287214" sldId="375"/>
            <ac:spMk id="3" creationId="{00000000-0000-0000-0000-000000000000}"/>
          </ac:spMkLst>
        </pc:spChg>
        <pc:spChg chg="mod">
          <ac:chgData name="Luciano Pereira Soares" userId="16c53e34-c952-423e-8700-c0525d23304f" providerId="ADAL" clId="{1D55A5D4-1FC1-4934-A025-59DDC391468D}" dt="2026-09-03T21:58:37.620" v="208" actId="14100"/>
          <ac:spMkLst>
            <pc:docMk/>
            <pc:sldMk cId="1930287214" sldId="375"/>
            <ac:spMk id="12" creationId="{00000000-0000-0000-0000-000000000000}"/>
          </ac:spMkLst>
        </pc:spChg>
        <pc:picChg chg="del">
          <ac:chgData name="Luciano Pereira Soares" userId="16c53e34-c952-423e-8700-c0525d23304f" providerId="ADAL" clId="{1D55A5D4-1FC1-4934-A025-59DDC391468D}" dt="2026-09-03T21:17:03.350" v="54" actId="478"/>
          <ac:picMkLst>
            <pc:docMk/>
            <pc:sldMk cId="1930287214" sldId="375"/>
            <ac:picMk id="14" creationId="{00000000-0000-0000-0000-000000000000}"/>
          </ac:picMkLst>
        </pc:picChg>
      </pc:sldChg>
      <pc:sldChg chg="del">
        <pc:chgData name="Luciano Pereira Soares" userId="16c53e34-c952-423e-8700-c0525d23304f" providerId="ADAL" clId="{1D55A5D4-1FC1-4934-A025-59DDC391468D}" dt="2026-09-03T21:08:42.317" v="26" actId="47"/>
        <pc:sldMkLst>
          <pc:docMk/>
          <pc:sldMk cId="2045024334" sldId="386"/>
        </pc:sldMkLst>
      </pc:sldChg>
      <pc:sldChg chg="del">
        <pc:chgData name="Luciano Pereira Soares" userId="16c53e34-c952-423e-8700-c0525d23304f" providerId="ADAL" clId="{1D55A5D4-1FC1-4934-A025-59DDC391468D}" dt="2026-09-03T21:07:53.268" v="24" actId="47"/>
        <pc:sldMkLst>
          <pc:docMk/>
          <pc:sldMk cId="248211303" sldId="387"/>
        </pc:sldMkLst>
      </pc:sldChg>
      <pc:sldChg chg="delSp mod delAnim modShow">
        <pc:chgData name="Luciano Pereira Soares" userId="16c53e34-c952-423e-8700-c0525d23304f" providerId="ADAL" clId="{1D55A5D4-1FC1-4934-A025-59DDC391468D}" dt="2026-09-03T21:23:39.268" v="74" actId="729"/>
        <pc:sldMkLst>
          <pc:docMk/>
          <pc:sldMk cId="645743111" sldId="388"/>
        </pc:sldMkLst>
        <pc:picChg chg="del">
          <ac:chgData name="Luciano Pereira Soares" userId="16c53e34-c952-423e-8700-c0525d23304f" providerId="ADAL" clId="{1D55A5D4-1FC1-4934-A025-59DDC391468D}" dt="2026-09-03T21:18:08.944" v="71" actId="478"/>
          <ac:picMkLst>
            <pc:docMk/>
            <pc:sldMk cId="645743111" sldId="388"/>
            <ac:picMk id="13" creationId="{00000000-0000-0000-0000-000000000000}"/>
          </ac:picMkLst>
        </pc:picChg>
      </pc:sldChg>
      <pc:sldChg chg="addSp delSp modSp mod">
        <pc:chgData name="Luciano Pereira Soares" userId="16c53e34-c952-423e-8700-c0525d23304f" providerId="ADAL" clId="{1D55A5D4-1FC1-4934-A025-59DDC391468D}" dt="2026-09-03T21:48:04.423" v="142"/>
        <pc:sldMkLst>
          <pc:docMk/>
          <pc:sldMk cId="255657616" sldId="389"/>
        </pc:sldMkLst>
        <pc:spChg chg="mod">
          <ac:chgData name="Luciano Pereira Soares" userId="16c53e34-c952-423e-8700-c0525d23304f" providerId="ADAL" clId="{1D55A5D4-1FC1-4934-A025-59DDC391468D}" dt="2026-09-03T21:48:04.423" v="142"/>
          <ac:spMkLst>
            <pc:docMk/>
            <pc:sldMk cId="255657616" sldId="389"/>
            <ac:spMk id="2" creationId="{00000000-0000-0000-0000-000000000000}"/>
          </ac:spMkLst>
        </pc:spChg>
        <pc:spChg chg="del">
          <ac:chgData name="Luciano Pereira Soares" userId="16c53e34-c952-423e-8700-c0525d23304f" providerId="ADAL" clId="{1D55A5D4-1FC1-4934-A025-59DDC391468D}" dt="2026-09-03T21:08:07.779" v="25" actId="478"/>
          <ac:spMkLst>
            <pc:docMk/>
            <pc:sldMk cId="255657616" sldId="389"/>
            <ac:spMk id="3" creationId="{00000000-0000-0000-0000-000000000000}"/>
          </ac:spMkLst>
        </pc:spChg>
        <pc:spChg chg="add mod">
          <ac:chgData name="Luciano Pereira Soares" userId="16c53e34-c952-423e-8700-c0525d23304f" providerId="ADAL" clId="{1D55A5D4-1FC1-4934-A025-59DDC391468D}" dt="2026-09-03T21:47:36.116" v="140" actId="20577"/>
          <ac:spMkLst>
            <pc:docMk/>
            <pc:sldMk cId="255657616" sldId="389"/>
            <ac:spMk id="8" creationId="{C47C6FB3-8A68-D5A5-8AEC-2387EF5505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9/4/2026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04/09/2026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a:t>
            </a:r>
            <a:r>
              <a:rPr lang="pt-BR" dirty="0"/>
              <a:t>://alex9ufoexploer.blogspot.com.br/2014/06/4-x-4-bit-array-multiplier-for-unsigned.html</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a:t>Vamos começar</a:t>
            </a:r>
            <a:r>
              <a:rPr lang="pt-BR" baseline="0" dirty="0"/>
              <a:t> falando de um computador que passou ligeiramente despercebido na evolução da informática, mas hoje é considerado um dos primeiros computadores, e acabou derrubando patentes como a do </a:t>
            </a:r>
            <a:r>
              <a:rPr lang="pt-BR" baseline="0" dirty="0" err="1"/>
              <a:t>Eniac</a:t>
            </a:r>
            <a:r>
              <a:rPr lang="pt-BR" baseline="0" dirty="0"/>
              <a:t>. Esse computador é chamado de ABC Computer, em função do nome dos seus criadores o professor John </a:t>
            </a:r>
            <a:r>
              <a:rPr lang="pt-BR" baseline="0" dirty="0" err="1"/>
              <a:t>Atanasoff</a:t>
            </a:r>
            <a:r>
              <a:rPr lang="pt-BR" baseline="0" dirty="0"/>
              <a:t> e seu então aluno Clifford Berry. Esse computador era capaz de fazer somas e subtrações usando válvulas, deixando claro o potencial dos circuitos lógicos para efetuar cálculos de forma rápida e automática.</a:t>
            </a:r>
          </a:p>
          <a:p>
            <a:endParaRPr lang="pt-BR" dirty="0"/>
          </a:p>
          <a:p>
            <a:r>
              <a:rPr lang="pt-BR" dirty="0"/>
              <a:t>http://trillian.randomstuff.org.uk/~stephen/history/timeline-NONMECH.html</a:t>
            </a:r>
          </a:p>
          <a:p>
            <a:r>
              <a:rPr lang="pt-BR" dirty="0" err="1"/>
              <a:t>http</a:t>
            </a:r>
            <a:r>
              <a:rPr lang="pt-BR" dirty="0"/>
              <a:t>://</a:t>
            </a:r>
            <a:r>
              <a:rPr lang="pt-BR" dirty="0" err="1"/>
              <a:t>jva.cs.iastate.edu</a:t>
            </a:r>
            <a:r>
              <a:rPr lang="pt-BR" dirty="0"/>
              <a:t>/</a:t>
            </a:r>
            <a:r>
              <a:rPr lang="pt-BR" dirty="0" err="1"/>
              <a:t>operation.php</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birth-of-the-computer</a:t>
            </a:r>
            <a:r>
              <a:rPr lang="pt-BR" dirty="0"/>
              <a:t>/4/99</a:t>
            </a:r>
          </a:p>
          <a:p>
            <a:r>
              <a:rPr lang="pt-BR" dirty="0" err="1"/>
              <a:t>http</a:t>
            </a:r>
            <a:r>
              <a:rPr lang="pt-BR" dirty="0"/>
              <a:t>://naz3.ueuo.com/</a:t>
            </a:r>
            <a:r>
              <a:rPr lang="pt-BR" dirty="0" err="1"/>
              <a:t>images</a:t>
            </a:r>
            <a:r>
              <a:rPr lang="pt-BR" dirty="0"/>
              <a:t>/page1.htm</a:t>
            </a:r>
          </a:p>
          <a:p>
            <a:r>
              <a:rPr lang="pt-BR" dirty="0" err="1"/>
              <a:t>http</a:t>
            </a:r>
            <a:r>
              <a:rPr lang="pt-BR" dirty="0"/>
              <a:t>://</a:t>
            </a:r>
            <a:r>
              <a:rPr lang="pt-BR" dirty="0" err="1"/>
              <a:t>history-computer.com</a:t>
            </a:r>
            <a:r>
              <a:rPr lang="pt-BR" dirty="0"/>
              <a:t>/</a:t>
            </a:r>
            <a:r>
              <a:rPr lang="pt-BR" dirty="0" err="1"/>
              <a:t>ModernComputer</a:t>
            </a:r>
            <a:r>
              <a:rPr lang="pt-BR" dirty="0"/>
              <a:t>/</a:t>
            </a:r>
            <a:r>
              <a:rPr lang="pt-BR" dirty="0" err="1"/>
              <a:t>Electronic</a:t>
            </a:r>
            <a:r>
              <a:rPr lang="pt-BR" dirty="0"/>
              <a:t>/</a:t>
            </a:r>
            <a:r>
              <a:rPr lang="pt-BR" dirty="0" err="1"/>
              <a:t>Atanasoff.html</a:t>
            </a:r>
            <a:endParaRPr lang="pt-BR" dirty="0"/>
          </a:p>
          <a:p>
            <a:r>
              <a:rPr lang="pt-BR" dirty="0" err="1"/>
              <a:t>http</a:t>
            </a:r>
            <a:r>
              <a:rPr lang="pt-BR" dirty="0"/>
              <a:t>://</a:t>
            </a:r>
            <a:r>
              <a:rPr lang="pt-BR" dirty="0" err="1"/>
              <a:t>www.add.lib.iastate.edu</a:t>
            </a:r>
            <a:r>
              <a:rPr lang="pt-BR" dirty="0"/>
              <a:t>/</a:t>
            </a:r>
            <a:r>
              <a:rPr lang="pt-BR" dirty="0" err="1"/>
              <a:t>spcl</a:t>
            </a:r>
            <a:r>
              <a:rPr lang="pt-BR" dirty="0"/>
              <a:t>/</a:t>
            </a:r>
            <a:r>
              <a:rPr lang="pt-BR" dirty="0" err="1"/>
              <a:t>exhibits</a:t>
            </a:r>
            <a:r>
              <a:rPr lang="pt-BR" dirty="0"/>
              <a:t>/Atanasoff/</a:t>
            </a:r>
            <a:r>
              <a:rPr lang="pt-BR" dirty="0" err="1"/>
              <a:t>biography.html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965151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a:t>
            </a:r>
            <a:r>
              <a:rPr lang="en-US" dirty="0" err="1"/>
              <a:t>maquinas</a:t>
            </a:r>
            <a:r>
              <a:rPr lang="en-US" dirty="0"/>
              <a:t> de </a:t>
            </a:r>
            <a:r>
              <a:rPr lang="en-US" dirty="0" err="1"/>
              <a:t>cartões</a:t>
            </a:r>
            <a:r>
              <a:rPr lang="en-US" dirty="0"/>
              <a:t> </a:t>
            </a:r>
            <a:r>
              <a:rPr lang="en-US" dirty="0" err="1"/>
              <a:t>perfurado</a:t>
            </a:r>
            <a:r>
              <a:rPr lang="en-US" dirty="0"/>
              <a:t> da IBM </a:t>
            </a:r>
            <a:r>
              <a:rPr lang="en-US" dirty="0" err="1"/>
              <a:t>ganharam</a:t>
            </a:r>
            <a:r>
              <a:rPr lang="en-US" dirty="0"/>
              <a:t> </a:t>
            </a:r>
            <a:r>
              <a:rPr lang="en-US" dirty="0" err="1"/>
              <a:t>uma</a:t>
            </a:r>
            <a:r>
              <a:rPr lang="en-US" dirty="0"/>
              <a:t> boa </a:t>
            </a:r>
            <a:r>
              <a:rPr lang="en-US" dirty="0" err="1"/>
              <a:t>reputação</a:t>
            </a:r>
            <a:r>
              <a:rPr lang="en-US" dirty="0"/>
              <a:t> pela </a:t>
            </a:r>
            <a:r>
              <a:rPr lang="en-US" dirty="0" err="1"/>
              <a:t>automação</a:t>
            </a:r>
            <a:r>
              <a:rPr lang="en-US" dirty="0"/>
              <a:t> de </a:t>
            </a:r>
            <a:r>
              <a:rPr lang="en-US" dirty="0" err="1"/>
              <a:t>processos</a:t>
            </a:r>
            <a:r>
              <a:rPr lang="en-US" baseline="0" dirty="0"/>
              <a:t> </a:t>
            </a:r>
            <a:r>
              <a:rPr lang="en-US" baseline="0" dirty="0" err="1"/>
              <a:t>nos</a:t>
            </a:r>
            <a:r>
              <a:rPr lang="en-US" baseline="0" dirty="0"/>
              <a:t> </a:t>
            </a:r>
            <a:r>
              <a:rPr lang="en-US" baseline="0" dirty="0" err="1"/>
              <a:t>anos</a:t>
            </a:r>
            <a:r>
              <a:rPr lang="en-US" baseline="0" dirty="0"/>
              <a:t> 40, </a:t>
            </a:r>
            <a:r>
              <a:rPr lang="en-US" baseline="0" dirty="0" err="1"/>
              <a:t>foi</a:t>
            </a:r>
            <a:r>
              <a:rPr lang="en-US" baseline="0" dirty="0"/>
              <a:t> </a:t>
            </a:r>
            <a:r>
              <a:rPr lang="en-US" baseline="0" dirty="0" err="1"/>
              <a:t>quando</a:t>
            </a:r>
            <a:r>
              <a:rPr lang="en-US" dirty="0"/>
              <a:t> Howard Aiken </a:t>
            </a:r>
            <a:r>
              <a:rPr lang="en-US" dirty="0" err="1"/>
              <a:t>recebeu</a:t>
            </a:r>
            <a:r>
              <a:rPr lang="en-US" baseline="0" dirty="0"/>
              <a:t> </a:t>
            </a:r>
            <a:r>
              <a:rPr lang="en-US" baseline="0" dirty="0" err="1"/>
              <a:t>fundos</a:t>
            </a:r>
            <a:r>
              <a:rPr lang="en-US" baseline="0" dirty="0"/>
              <a:t> e </a:t>
            </a:r>
            <a:r>
              <a:rPr lang="en-US" baseline="0" dirty="0" err="1"/>
              <a:t>apoio</a:t>
            </a:r>
            <a:r>
              <a:rPr lang="en-US" baseline="0" dirty="0"/>
              <a:t> d</a:t>
            </a:r>
            <a:r>
              <a:rPr lang="en-US" dirty="0"/>
              <a:t>a IBM para a </a:t>
            </a:r>
            <a:r>
              <a:rPr lang="en-US" dirty="0" err="1"/>
              <a:t>construção</a:t>
            </a:r>
            <a:r>
              <a:rPr lang="en-US" dirty="0"/>
              <a:t> de um </a:t>
            </a:r>
            <a:r>
              <a:rPr lang="en-US" dirty="0" err="1"/>
              <a:t>computador</a:t>
            </a:r>
            <a:r>
              <a:rPr lang="en-US" dirty="0"/>
              <a:t> </a:t>
            </a:r>
            <a:r>
              <a:rPr lang="en-US" dirty="0" err="1"/>
              <a:t>usando</a:t>
            </a:r>
            <a:r>
              <a:rPr lang="en-US" dirty="0"/>
              <a:t> </a:t>
            </a:r>
            <a:r>
              <a:rPr lang="en-US" dirty="0" err="1"/>
              <a:t>peças</a:t>
            </a:r>
            <a:r>
              <a:rPr lang="en-US" dirty="0"/>
              <a:t> das </a:t>
            </a:r>
            <a:r>
              <a:rPr lang="en-US" dirty="0" err="1"/>
              <a:t>máquinas</a:t>
            </a:r>
            <a:r>
              <a:rPr lang="en-US" dirty="0"/>
              <a:t> da IBM, </a:t>
            </a:r>
            <a:r>
              <a:rPr lang="en-US" dirty="0" err="1"/>
              <a:t>ele</a:t>
            </a:r>
            <a:r>
              <a:rPr lang="en-US" dirty="0"/>
              <a:t> </a:t>
            </a:r>
            <a:r>
              <a:rPr lang="en-US" dirty="0" err="1"/>
              <a:t>integrou</a:t>
            </a:r>
            <a:r>
              <a:rPr lang="en-US" dirty="0"/>
              <a:t> discos de </a:t>
            </a:r>
            <a:r>
              <a:rPr lang="en-US" dirty="0" err="1"/>
              <a:t>contagem</a:t>
            </a:r>
            <a:r>
              <a:rPr lang="en-US" dirty="0"/>
              <a:t> </a:t>
            </a:r>
            <a:r>
              <a:rPr lang="en-US" dirty="0" err="1"/>
              <a:t>mecânicos</a:t>
            </a:r>
            <a:r>
              <a:rPr lang="en-US" dirty="0"/>
              <a:t> e </a:t>
            </a:r>
            <a:r>
              <a:rPr lang="en-US" dirty="0" err="1"/>
              <a:t>relés</a:t>
            </a:r>
            <a:r>
              <a:rPr lang="en-US" dirty="0"/>
              <a:t> e </a:t>
            </a:r>
            <a:r>
              <a:rPr lang="en-US" dirty="0" err="1"/>
              <a:t>construiu</a:t>
            </a:r>
            <a:r>
              <a:rPr lang="en-US" dirty="0"/>
              <a:t> o Harvard Mark I.</a:t>
            </a:r>
            <a:r>
              <a:rPr lang="en-US" baseline="0" dirty="0"/>
              <a:t> Este</a:t>
            </a:r>
            <a:r>
              <a:rPr lang="en-US" dirty="0"/>
              <a:t> </a:t>
            </a:r>
            <a:r>
              <a:rPr lang="en-US" dirty="0" err="1"/>
              <a:t>computava</a:t>
            </a:r>
            <a:r>
              <a:rPr lang="en-US" dirty="0"/>
              <a:t> as </a:t>
            </a:r>
            <a:r>
              <a:rPr lang="en-US" dirty="0" err="1"/>
              <a:t>quatro</a:t>
            </a:r>
            <a:r>
              <a:rPr lang="en-US" dirty="0"/>
              <a:t> </a:t>
            </a:r>
            <a:r>
              <a:rPr lang="en-US" dirty="0" err="1"/>
              <a:t>operações</a:t>
            </a:r>
            <a:r>
              <a:rPr lang="en-US" dirty="0"/>
              <a:t> </a:t>
            </a:r>
            <a:r>
              <a:rPr lang="en-US" dirty="0" err="1"/>
              <a:t>aritméticas</a:t>
            </a:r>
            <a:r>
              <a:rPr lang="en-US" dirty="0"/>
              <a:t> </a:t>
            </a:r>
            <a:r>
              <a:rPr lang="en-US" dirty="0" err="1"/>
              <a:t>em</a:t>
            </a:r>
            <a:r>
              <a:rPr lang="en-US" dirty="0"/>
              <a:t> 23 </a:t>
            </a:r>
            <a:r>
              <a:rPr lang="en-US" dirty="0" err="1"/>
              <a:t>dígitos</a:t>
            </a:r>
            <a:r>
              <a:rPr lang="en-US" dirty="0"/>
              <a:t> </a:t>
            </a:r>
            <a:r>
              <a:rPr lang="en-US" dirty="0" err="1"/>
              <a:t>decimais</a:t>
            </a:r>
            <a:r>
              <a:rPr lang="en-US" dirty="0"/>
              <a:t>, </a:t>
            </a:r>
            <a:r>
              <a:rPr lang="en-US" dirty="0" err="1"/>
              <a:t>além</a:t>
            </a:r>
            <a:r>
              <a:rPr lang="en-US" dirty="0"/>
              <a:t> de </a:t>
            </a:r>
            <a:r>
              <a:rPr lang="en-US" dirty="0" err="1"/>
              <a:t>operações</a:t>
            </a:r>
            <a:r>
              <a:rPr lang="en-US" dirty="0"/>
              <a:t> </a:t>
            </a:r>
            <a:r>
              <a:rPr lang="en-US" dirty="0" err="1"/>
              <a:t>como</a:t>
            </a:r>
            <a:r>
              <a:rPr lang="en-US" dirty="0"/>
              <a:t> </a:t>
            </a:r>
            <a:r>
              <a:rPr lang="en-US" dirty="0" err="1"/>
              <a:t>logaritmos</a:t>
            </a:r>
            <a:r>
              <a:rPr lang="en-US" dirty="0"/>
              <a:t> e </a:t>
            </a:r>
            <a:r>
              <a:rPr lang="en-US" dirty="0" err="1"/>
              <a:t>funções</a:t>
            </a:r>
            <a:r>
              <a:rPr lang="en-US" dirty="0"/>
              <a:t> </a:t>
            </a:r>
            <a:r>
              <a:rPr lang="en-US" dirty="0" err="1"/>
              <a:t>trigonométricas</a:t>
            </a:r>
            <a:r>
              <a:rPr lang="en-US" dirty="0"/>
              <a:t>. O Mark I era </a:t>
            </a:r>
            <a:r>
              <a:rPr lang="en-US" dirty="0" err="1"/>
              <a:t>controlado</a:t>
            </a:r>
            <a:r>
              <a:rPr lang="en-US" dirty="0"/>
              <a:t> </a:t>
            </a:r>
            <a:r>
              <a:rPr lang="en-US" dirty="0" err="1"/>
              <a:t>por</a:t>
            </a:r>
            <a:r>
              <a:rPr lang="en-US" dirty="0"/>
              <a:t> </a:t>
            </a:r>
            <a:r>
              <a:rPr lang="en-US" dirty="0" err="1"/>
              <a:t>fitas</a:t>
            </a:r>
            <a:r>
              <a:rPr lang="en-US" dirty="0"/>
              <a:t> </a:t>
            </a:r>
            <a:r>
              <a:rPr lang="en-US" dirty="0" err="1"/>
              <a:t>perfuradas</a:t>
            </a:r>
            <a:r>
              <a:rPr lang="en-US" dirty="0"/>
              <a:t>, e a </a:t>
            </a:r>
            <a:r>
              <a:rPr lang="en-US" dirty="0" err="1"/>
              <a:t>saída</a:t>
            </a:r>
            <a:r>
              <a:rPr lang="en-US" dirty="0"/>
              <a:t> era </a:t>
            </a:r>
            <a:r>
              <a:rPr lang="en-US" dirty="0" err="1"/>
              <a:t>conectada</a:t>
            </a:r>
            <a:r>
              <a:rPr lang="en-US" dirty="0"/>
              <a:t> </a:t>
            </a:r>
            <a:r>
              <a:rPr lang="en-US" dirty="0" err="1"/>
              <a:t>em</a:t>
            </a:r>
            <a:r>
              <a:rPr lang="en-US" dirty="0"/>
              <a:t> </a:t>
            </a:r>
            <a:r>
              <a:rPr lang="en-US" dirty="0" err="1"/>
              <a:t>uma</a:t>
            </a:r>
            <a:r>
              <a:rPr lang="en-US" dirty="0"/>
              <a:t> </a:t>
            </a:r>
            <a:r>
              <a:rPr lang="en-US" dirty="0" err="1"/>
              <a:t>máquina</a:t>
            </a:r>
            <a:r>
              <a:rPr lang="en-US" dirty="0"/>
              <a:t> de </a:t>
            </a:r>
            <a:r>
              <a:rPr lang="en-US" dirty="0" err="1"/>
              <a:t>escrever</a:t>
            </a:r>
            <a:r>
              <a:rPr lang="en-US" dirty="0"/>
              <a:t>. </a:t>
            </a:r>
            <a:r>
              <a:rPr lang="en-US" dirty="0" err="1"/>
              <a:t>Após</a:t>
            </a:r>
            <a:r>
              <a:rPr lang="en-US" dirty="0"/>
              <a:t> o Harvard Mark I, Howard Aiken </a:t>
            </a:r>
            <a:r>
              <a:rPr lang="en-US" dirty="0" err="1"/>
              <a:t>desenvolveu</a:t>
            </a:r>
            <a:r>
              <a:rPr lang="en-US" dirty="0"/>
              <a:t> </a:t>
            </a:r>
            <a:r>
              <a:rPr lang="en-US" dirty="0" err="1"/>
              <a:t>muitos</a:t>
            </a:r>
            <a:r>
              <a:rPr lang="en-US" dirty="0"/>
              <a:t> outros </a:t>
            </a:r>
            <a:r>
              <a:rPr lang="en-US" dirty="0" err="1"/>
              <a:t>computadores</a:t>
            </a:r>
            <a:r>
              <a:rPr lang="en-US" dirty="0"/>
              <a:t>.</a:t>
            </a:r>
            <a:r>
              <a:rPr lang="pt-BR" baseline="0" dirty="0"/>
              <a:t> Embora o Mark I seja decimal, </a:t>
            </a:r>
            <a:r>
              <a:rPr lang="pt-BR" dirty="0"/>
              <a:t>vale aqui uma nota, que </a:t>
            </a:r>
            <a:r>
              <a:rPr lang="en-US" dirty="0"/>
              <a:t>o</a:t>
            </a:r>
            <a:r>
              <a:rPr lang="en-US" baseline="0" dirty="0"/>
              <a:t> </a:t>
            </a:r>
            <a:r>
              <a:rPr lang="en-US" baseline="0" dirty="0" err="1"/>
              <a:t>sistema</a:t>
            </a:r>
            <a:r>
              <a:rPr lang="en-US" baseline="0" dirty="0"/>
              <a:t> </a:t>
            </a:r>
            <a:r>
              <a:rPr lang="en-US" baseline="0" dirty="0" err="1"/>
              <a:t>numérico</a:t>
            </a:r>
            <a:r>
              <a:rPr lang="en-US" baseline="0" dirty="0"/>
              <a:t> </a:t>
            </a:r>
            <a:r>
              <a:rPr lang="en-US" baseline="0" dirty="0" err="1"/>
              <a:t>preferido</a:t>
            </a:r>
            <a:r>
              <a:rPr lang="en-US" baseline="0" dirty="0"/>
              <a:t> para o design de </a:t>
            </a:r>
            <a:r>
              <a:rPr lang="en-US" baseline="0" dirty="0" err="1"/>
              <a:t>computadores</a:t>
            </a:r>
            <a:r>
              <a:rPr lang="en-US" baseline="0" dirty="0"/>
              <a:t> se </a:t>
            </a:r>
            <a:r>
              <a:rPr lang="en-US" baseline="0" dirty="0" err="1"/>
              <a:t>estabelecu</a:t>
            </a:r>
            <a:r>
              <a:rPr lang="en-US" baseline="0" dirty="0"/>
              <a:t> </a:t>
            </a:r>
            <a:r>
              <a:rPr lang="en-US" baseline="0" dirty="0" err="1"/>
              <a:t>como</a:t>
            </a:r>
            <a:r>
              <a:rPr lang="en-US" baseline="0" dirty="0"/>
              <a:t> </a:t>
            </a:r>
            <a:r>
              <a:rPr lang="en-US" baseline="0" dirty="0" err="1"/>
              <a:t>complento</a:t>
            </a:r>
            <a:r>
              <a:rPr lang="en-US" baseline="0" dirty="0"/>
              <a:t> de 2 </a:t>
            </a:r>
            <a:r>
              <a:rPr lang="en-US" baseline="0" dirty="0" err="1"/>
              <a:t>binário</a:t>
            </a:r>
            <a:r>
              <a:rPr lang="en-US" baseline="0" dirty="0"/>
              <a:t> </a:t>
            </a:r>
            <a:r>
              <a:rPr lang="en-US" baseline="0" dirty="0" err="1"/>
              <a:t>lá</a:t>
            </a:r>
            <a:r>
              <a:rPr lang="en-US" baseline="0" dirty="0"/>
              <a:t> </a:t>
            </a:r>
            <a:r>
              <a:rPr lang="en-US" baseline="0" dirty="0" err="1"/>
              <a:t>pelo</a:t>
            </a:r>
            <a:r>
              <a:rPr lang="en-US" baseline="0" dirty="0"/>
              <a:t> </a:t>
            </a:r>
            <a:r>
              <a:rPr lang="en-US" baseline="0" dirty="0" err="1"/>
              <a:t>ano</a:t>
            </a:r>
            <a:r>
              <a:rPr lang="en-US" baseline="0" dirty="0"/>
              <a:t> de 1965, e </a:t>
            </a:r>
            <a:r>
              <a:rPr lang="en-US" baseline="0" dirty="0" err="1"/>
              <a:t>hoje</a:t>
            </a:r>
            <a:r>
              <a:rPr lang="en-US" baseline="0" dirty="0"/>
              <a:t> é </a:t>
            </a:r>
            <a:r>
              <a:rPr lang="en-US" baseline="0" dirty="0" err="1"/>
              <a:t>usado</a:t>
            </a:r>
            <a:r>
              <a:rPr lang="en-US" baseline="0" dirty="0"/>
              <a:t> </a:t>
            </a:r>
            <a:r>
              <a:rPr lang="en-US" baseline="0" dirty="0" err="1"/>
              <a:t>em</a:t>
            </a:r>
            <a:r>
              <a:rPr lang="en-US" baseline="0" dirty="0"/>
              <a:t> </a:t>
            </a:r>
            <a:r>
              <a:rPr lang="en-US" baseline="0" dirty="0" err="1"/>
              <a:t>basicamente</a:t>
            </a:r>
            <a:r>
              <a:rPr lang="en-US" baseline="0" dirty="0"/>
              <a:t> </a:t>
            </a:r>
            <a:r>
              <a:rPr lang="en-US" baseline="0" dirty="0" err="1"/>
              <a:t>todos</a:t>
            </a:r>
            <a:r>
              <a:rPr lang="en-US" baseline="0" dirty="0"/>
              <a:t> </a:t>
            </a:r>
            <a:r>
              <a:rPr lang="en-US" baseline="0" dirty="0" err="1"/>
              <a:t>os</a:t>
            </a:r>
            <a:r>
              <a:rPr lang="en-US" baseline="0" dirty="0"/>
              <a:t> </a:t>
            </a:r>
            <a:r>
              <a:rPr lang="en-US" baseline="0" dirty="0" err="1"/>
              <a:t>computadores</a:t>
            </a:r>
            <a:r>
              <a:rPr lang="en-US" dirty="0"/>
              <a:t>.</a:t>
            </a:r>
          </a:p>
          <a:p>
            <a:endParaRPr lang="pt-BR" dirty="0"/>
          </a:p>
          <a:p>
            <a:endParaRPr lang="pt-BR" dirty="0"/>
          </a:p>
          <a:p>
            <a:r>
              <a:rPr lang="pt-BR" dirty="0" err="1"/>
              <a:t>http</a:t>
            </a:r>
            <a:r>
              <a:rPr lang="pt-BR" dirty="0"/>
              <a:t>://</a:t>
            </a:r>
            <a:r>
              <a:rPr lang="pt-BR" dirty="0" err="1"/>
              <a:t>www.dai.ed.ac.uk</a:t>
            </a:r>
            <a:r>
              <a:rPr lang="pt-BR" dirty="0"/>
              <a:t>/homes/</a:t>
            </a:r>
            <a:r>
              <a:rPr lang="pt-BR" dirty="0" err="1"/>
              <a:t>cam</a:t>
            </a:r>
            <a:r>
              <a:rPr lang="pt-BR" dirty="0"/>
              <a:t>/</a:t>
            </a:r>
            <a:r>
              <a:rPr lang="pt-BR" dirty="0" err="1"/>
              <a:t>fcomp.shtml</a:t>
            </a:r>
            <a:endParaRPr lang="pt-BR" dirty="0"/>
          </a:p>
          <a:p>
            <a:r>
              <a:rPr lang="pt-BR" dirty="0" err="1"/>
              <a:t>http</a:t>
            </a:r>
            <a:r>
              <a:rPr lang="pt-BR" dirty="0"/>
              <a:t>://</a:t>
            </a:r>
            <a:r>
              <a:rPr lang="pt-BR" dirty="0" err="1"/>
              <a:t>www.edwardbosworth.com</a:t>
            </a:r>
            <a:r>
              <a:rPr lang="pt-BR" dirty="0"/>
              <a:t>/My3121Textbook_HTM/MyText3121_Ch03_V01.htm</a:t>
            </a:r>
          </a:p>
          <a:p>
            <a:r>
              <a:rPr lang="pt-BR" dirty="0" err="1"/>
              <a:t>https</a:t>
            </a:r>
            <a:r>
              <a:rPr lang="pt-BR" dirty="0"/>
              <a:t>://</a:t>
            </a:r>
            <a:r>
              <a:rPr lang="pt-BR" dirty="0" err="1"/>
              <a:t>www.computer.org</a:t>
            </a:r>
            <a:r>
              <a:rPr lang="pt-BR" dirty="0"/>
              <a:t>/web/</a:t>
            </a:r>
            <a:r>
              <a:rPr lang="pt-BR" dirty="0" err="1"/>
              <a:t>awards</a:t>
            </a:r>
            <a:r>
              <a:rPr lang="pt-BR" dirty="0"/>
              <a:t>/</a:t>
            </a:r>
            <a:r>
              <a:rPr lang="pt-BR" dirty="0" err="1"/>
              <a:t>goode-howard-aiken</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www.eingang.org</a:t>
            </a:r>
            <a:r>
              <a:rPr lang="pt-BR" dirty="0"/>
              <a:t>/</a:t>
            </a:r>
            <a:r>
              <a:rPr lang="pt-BR" dirty="0" err="1"/>
              <a:t>Lecture</a:t>
            </a:r>
            <a:r>
              <a:rPr lang="pt-BR" dirty="0"/>
              <a:t>/hmark1.html</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301750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a:t>http://ecx.images-amazon.com/images/I/31iGrrx%2BXXL._SY355_.jpg</a:t>
            </a:r>
          </a:p>
          <a:p>
            <a:r>
              <a:rPr lang="pt-BR" dirty="0"/>
              <a:t>http://www.electronics-tutorials.ws/combination/comb_7.html</a:t>
            </a:r>
          </a:p>
          <a:p>
            <a:r>
              <a:rPr lang="pt-BR" dirty="0"/>
              <a:t>http://susta.cz/fel/74/pdf/sn_74181.pdf</a:t>
            </a:r>
          </a:p>
          <a:p>
            <a:r>
              <a:rPr lang="pt-BR" dirty="0"/>
              <a:t>http://www.ti.com/product/SN74LS181/technicaldocuments</a:t>
            </a:r>
          </a:p>
          <a:p>
            <a:r>
              <a:rPr lang="pt-BR" dirty="0"/>
              <a:t>https://en.wikipedia.org/wiki/74181</a:t>
            </a:r>
          </a:p>
          <a:p>
            <a:r>
              <a:rPr lang="pt-BR" dirty="0"/>
              <a:t>https://upload.wikimedia.org/wikipedia/commons/c/c0/74181aluschematic.png</a:t>
            </a:r>
          </a:p>
          <a:p>
            <a:r>
              <a:rPr lang="pt-BR" dirty="0"/>
              <a:t>http://practicenunberone.blogspot.com.br/2006/09/ensamblado-de-una-micro-alu-operacin.html</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4172048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Um dos primeiros chips de sucesso foi o AMD AM9511 com diversas operações em ponto flutuante, já a Intel trouxe o 8087, turbinando os PCs. Hoje muitas </a:t>
            </a:r>
            <a:r>
              <a:rPr lang="pt-BR" sz="1200" dirty="0" err="1"/>
              <a:t>CPUs</a:t>
            </a:r>
            <a:r>
              <a:rPr lang="pt-BR" sz="1200" dirty="0"/>
              <a:t> já tem unidades de ponto flutuante internas, acessadas através de instruções como as extensões SSE.</a:t>
            </a:r>
          </a:p>
          <a:p>
            <a:endParaRPr lang="pt-BR" dirty="0"/>
          </a:p>
          <a:p>
            <a:endParaRPr lang="pt-BR" dirty="0"/>
          </a:p>
          <a:p>
            <a:r>
              <a:rPr lang="pt-BR" dirty="0" err="1"/>
              <a:t>http</a:t>
            </a:r>
            <a:r>
              <a:rPr lang="pt-BR" dirty="0"/>
              <a:t>://</a:t>
            </a:r>
            <a:r>
              <a:rPr lang="pt-BR" dirty="0" err="1"/>
              <a:t>micropartsusa.com</a:t>
            </a:r>
            <a:r>
              <a:rPr lang="pt-BR" dirty="0"/>
              <a:t>/sl3h7-intel-pentium-iii-600mhz-256kb-l2-cache-133mhz-fsb-slot-1-processor-only-refurbished.html</a:t>
            </a:r>
          </a:p>
          <a:p>
            <a:r>
              <a:rPr lang="pt-BR" dirty="0" err="1"/>
              <a:t>http</a:t>
            </a:r>
            <a:r>
              <a:rPr lang="pt-BR" dirty="0"/>
              <a:t>://</a:t>
            </a:r>
            <a:r>
              <a:rPr lang="pt-BR" dirty="0" err="1"/>
              <a:t>www.techbyter.com</a:t>
            </a:r>
            <a:r>
              <a:rPr lang="pt-BR" dirty="0"/>
              <a:t>/2015/0329.html</a:t>
            </a:r>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159916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 unidade lógica aritmética é circuito</a:t>
            </a:r>
            <a:r>
              <a:rPr lang="pt-BR" baseline="0" dirty="0"/>
              <a:t> que</a:t>
            </a:r>
            <a:r>
              <a:rPr lang="pt-BR" dirty="0"/>
              <a:t> possui normalmente duas entrada</a:t>
            </a:r>
            <a:r>
              <a:rPr lang="pt-BR" baseline="0" dirty="0"/>
              <a:t> que recebem um conjunto de bit e tem como saída, um outro conjunto de bits resultante de operações internas dessa unidade lógica, essas operações são normalmente aritméticas, porém podem ser operações lógicas como AND ou OR, ou mesmo um bit shift. Para controlar o comportamento da unidade lógica aritmética, alguns sinais de controle são fornecidos. Esses sinais informam o circuito interno como proceder. Além disso alguns sinais extra podem sair da unidade lógica, passando informações adicionais, como por exemplo se o resultado é positivo, negativo ou zero. </a:t>
            </a:r>
            <a:r>
              <a:rPr lang="pt-BR" b="1" i="1" dirty="0"/>
              <a:t>Símbolo usado para </a:t>
            </a:r>
            <a:r>
              <a:rPr lang="pt-BR" b="1" i="1" dirty="0" err="1"/>
              <a:t>ALUs</a:t>
            </a:r>
            <a:r>
              <a:rPr lang="pt-BR" b="1" i="1" dirty="0"/>
              <a:t> desde a década de 50.</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www.edwardbosworth.com</a:t>
            </a:r>
            <a:r>
              <a:rPr lang="pt-BR" dirty="0"/>
              <a:t>/My5155_Slides/Chapter09/</a:t>
            </a:r>
            <a:r>
              <a:rPr lang="pt-BR" dirty="0" err="1"/>
              <a:t>ComputerArchitectureOverview.htm</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3543545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a:t>
            </a:r>
            <a:r>
              <a:rPr lang="pt-BR" dirty="0" err="1"/>
              <a:t>Adder</a:t>
            </a:r>
            <a:r>
              <a:rPr lang="pt-BR" dirty="0"/>
              <a:t>_(</a:t>
            </a:r>
            <a:r>
              <a:rPr lang="pt-BR" dirty="0" err="1"/>
              <a:t>electronics</a:t>
            </a:r>
            <a:r>
              <a:rPr lang="pt-BR" dirty="0"/>
              <a:t>)</a:t>
            </a:r>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4210717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3348138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melhora performance:</a:t>
            </a:r>
            <a:r>
              <a:rPr lang="pt-BR" baseline="0" dirty="0"/>
              <a:t> carry-lookahead </a:t>
            </a:r>
            <a:r>
              <a:rPr lang="pt-BR" baseline="0" dirty="0" err="1"/>
              <a:t>adders</a:t>
            </a:r>
            <a:r>
              <a:rPr lang="pt-BR" baseline="0" dirty="0"/>
              <a:t> </a:t>
            </a:r>
            <a:r>
              <a:rPr lang="pt-BR" baseline="0" dirty="0" err="1"/>
              <a:t>and</a:t>
            </a:r>
            <a:r>
              <a:rPr lang="pt-BR" baseline="0" dirty="0"/>
              <a:t> </a:t>
            </a:r>
            <a:r>
              <a:rPr lang="pt-BR" baseline="0" dirty="0" err="1"/>
              <a:t>ripple</a:t>
            </a:r>
            <a:r>
              <a:rPr lang="pt-BR" baseline="0" dirty="0"/>
              <a:t>-carry </a:t>
            </a:r>
            <a:r>
              <a:rPr lang="pt-BR" baseline="0" dirty="0" err="1"/>
              <a:t>adders</a:t>
            </a:r>
            <a:r>
              <a:rPr lang="pt-BR" baseline="0" dirty="0"/>
              <a:t>?</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1983501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3532347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a:t>/Adder%E2%80%93subtractor</a:t>
            </a:r>
          </a:p>
        </p:txBody>
      </p:sp>
      <p:sp>
        <p:nvSpPr>
          <p:cNvPr id="4" name="Slide Number Placeholder 3"/>
          <p:cNvSpPr>
            <a:spLocks noGrp="1"/>
          </p:cNvSpPr>
          <p:nvPr>
            <p:ph type="sldNum" sz="quarter" idx="10"/>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1005812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www.righto.com</a:t>
            </a:r>
            <a:r>
              <a:rPr lang="pt-BR" dirty="0"/>
              <a:t>/2013/01/a-small-part-of-6502-chip-explained.html</a:t>
            </a:r>
          </a:p>
        </p:txBody>
      </p:sp>
      <p:sp>
        <p:nvSpPr>
          <p:cNvPr id="4" name="Slide Number Placeholder 3"/>
          <p:cNvSpPr>
            <a:spLocks noGrp="1"/>
          </p:cNvSpPr>
          <p:nvPr>
            <p:ph type="sldNum" sz="quarter" idx="10"/>
          </p:nvPr>
        </p:nvSpPr>
        <p:spPr/>
        <p:txBody>
          <a:bodyPr/>
          <a:lstStyle/>
          <a:p>
            <a:fld id="{F23FB91E-A0DC-4A5F-B463-D7B8E79502D1}" type="slidenum">
              <a:rPr lang="pt-BR" smtClean="0"/>
              <a:t>12</a:t>
            </a:fld>
            <a:endParaRPr lang="pt-BR"/>
          </a:p>
        </p:txBody>
      </p:sp>
    </p:spTree>
    <p:extLst>
      <p:ext uri="{BB962C8B-B14F-4D97-AF65-F5344CB8AC3E}">
        <p14:creationId xmlns:p14="http://schemas.microsoft.com/office/powerpoint/2010/main" val="1007368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Since</a:t>
            </a:r>
            <a:r>
              <a:rPr lang="pt-BR" dirty="0"/>
              <a:t> </a:t>
            </a:r>
            <a:r>
              <a:rPr lang="pt-BR" dirty="0" err="1"/>
              <a:t>the</a:t>
            </a:r>
            <a:r>
              <a:rPr lang="pt-BR" dirty="0"/>
              <a:t> overall </a:t>
            </a:r>
            <a:r>
              <a:rPr lang="pt-BR" dirty="0" err="1"/>
              <a:t>operation</a:t>
            </a:r>
            <a:r>
              <a:rPr lang="pt-BR" dirty="0"/>
              <a:t> </a:t>
            </a:r>
            <a:r>
              <a:rPr lang="pt-BR" dirty="0" err="1"/>
              <a:t>is</a:t>
            </a:r>
            <a:r>
              <a:rPr lang="pt-BR" dirty="0"/>
              <a:t> </a:t>
            </a:r>
            <a:r>
              <a:rPr lang="pt-BR" dirty="0" err="1"/>
              <a:t>driven</a:t>
            </a:r>
            <a:r>
              <a:rPr lang="pt-BR" dirty="0"/>
              <a:t> </a:t>
            </a:r>
            <a:r>
              <a:rPr lang="pt-BR" dirty="0" err="1"/>
              <a:t>by</a:t>
            </a:r>
            <a:r>
              <a:rPr lang="pt-BR" dirty="0"/>
              <a:t> </a:t>
            </a:r>
            <a:r>
              <a:rPr lang="pt-BR" dirty="0" err="1"/>
              <a:t>six</a:t>
            </a:r>
            <a:r>
              <a:rPr lang="pt-BR" dirty="0"/>
              <a:t> </a:t>
            </a:r>
            <a:r>
              <a:rPr lang="pt-BR" dirty="0" err="1"/>
              <a:t>control</a:t>
            </a:r>
            <a:r>
              <a:rPr lang="pt-BR" dirty="0"/>
              <a:t> bits, </a:t>
            </a:r>
            <a:r>
              <a:rPr lang="pt-BR" dirty="0" err="1"/>
              <a:t>the</a:t>
            </a:r>
            <a:r>
              <a:rPr lang="pt-BR" dirty="0"/>
              <a:t> ALU </a:t>
            </a:r>
            <a:r>
              <a:rPr lang="pt-BR" dirty="0" err="1"/>
              <a:t>can</a:t>
            </a:r>
            <a:r>
              <a:rPr lang="pt-BR" dirty="0"/>
              <a:t> </a:t>
            </a:r>
            <a:r>
              <a:rPr lang="pt-BR" dirty="0" err="1"/>
              <a:t>potentially</a:t>
            </a:r>
            <a:r>
              <a:rPr lang="pt-BR" dirty="0"/>
              <a:t> compute 64 </a:t>
            </a:r>
            <a:r>
              <a:rPr lang="pt-BR" dirty="0" err="1"/>
              <a:t>different</a:t>
            </a:r>
            <a:r>
              <a:rPr lang="pt-BR" dirty="0"/>
              <a:t> </a:t>
            </a:r>
            <a:r>
              <a:rPr lang="pt-BR" dirty="0" err="1"/>
              <a:t>functions</a:t>
            </a:r>
            <a:r>
              <a:rPr lang="pt-BR" dirty="0"/>
              <a:t>. </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13</a:t>
            </a:fld>
            <a:endParaRPr lang="pt-BR"/>
          </a:p>
        </p:txBody>
      </p:sp>
    </p:spTree>
    <p:extLst>
      <p:ext uri="{BB962C8B-B14F-4D97-AF65-F5344CB8AC3E}">
        <p14:creationId xmlns:p14="http://schemas.microsoft.com/office/powerpoint/2010/main" val="3480702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18</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19</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20</a:t>
            </a:fld>
            <a:endParaRPr lang="pt-BR"/>
          </a:p>
        </p:txBody>
      </p:sp>
    </p:spTree>
    <p:extLst>
      <p:ext uri="{BB962C8B-B14F-4D97-AF65-F5344CB8AC3E}">
        <p14:creationId xmlns:p14="http://schemas.microsoft.com/office/powerpoint/2010/main" val="741175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9/4/2026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9/4/2026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9/4/2026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9/4/2026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9/4/2026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9/4/2026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gif"/><Relationship Id="rId7"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jpg"/><Relationship Id="rId5" Type="http://schemas.microsoft.com/office/2007/relationships/hdphoto" Target="../media/hdphoto1.wdp"/><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microsoft.com/office/2007/relationships/hdphoto" Target="../media/hdphoto2.wdp"/><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25.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dirty="0">
                <a:latin typeface="Verdana"/>
                <a:cs typeface="Verdana"/>
              </a:rPr>
              <a:t>Unidade Lógica Aritmética</a:t>
            </a:r>
          </a:p>
          <a:p>
            <a:endParaRPr lang="pt-BR" dirty="0"/>
          </a:p>
        </p:txBody>
      </p:sp>
      <p:sp>
        <p:nvSpPr>
          <p:cNvPr id="8"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9" name="Rectangle 8"/>
          <p:cNvSpPr/>
          <p:nvPr/>
        </p:nvSpPr>
        <p:spPr>
          <a:xfrm>
            <a:off x="197707" y="4456654"/>
            <a:ext cx="8427308" cy="1077218"/>
          </a:xfrm>
          <a:prstGeom prst="rect">
            <a:avLst/>
          </a:prstGeom>
        </p:spPr>
        <p:txBody>
          <a:bodyPr wrap="square">
            <a:spAutoFit/>
          </a:bodyPr>
          <a:lstStyle/>
          <a:p>
            <a:pPr defTabSz="914400">
              <a:defRPr/>
            </a:pPr>
            <a:r>
              <a:rPr lang="pt-BR" sz="1600" b="1" i="1" dirty="0">
                <a:solidFill>
                  <a:schemeClr val="bg1"/>
                </a:solidFill>
              </a:rPr>
              <a:t>"Contar é a religião desta geração, sua esperança e salvação."</a:t>
            </a:r>
          </a:p>
          <a:p>
            <a:pPr defTabSz="914400">
              <a:defRPr/>
            </a:pPr>
            <a:r>
              <a:rPr lang="en-US" sz="1600" b="1" i="1" dirty="0">
                <a:solidFill>
                  <a:schemeClr val="bg1"/>
                </a:solidFill>
              </a:rPr>
              <a:t>"Counting is the religion of this generation, its hope and salvation."</a:t>
            </a:r>
          </a:p>
          <a:p>
            <a:pPr defTabSz="914400">
              <a:defRPr/>
            </a:pPr>
            <a:r>
              <a:rPr lang="is-IS" sz="1600" b="1" i="1" dirty="0">
                <a:solidFill>
                  <a:schemeClr val="bg1"/>
                </a:solidFill>
              </a:rPr>
              <a:t>Gertrude Stein (1874–1946) </a:t>
            </a:r>
            <a:r>
              <a:rPr lang="pt-BR" sz="1600" b="1" dirty="0">
                <a:solidFill>
                  <a:schemeClr val="bg1"/>
                </a:solidFill>
              </a:rPr>
              <a:t>escritora americana</a:t>
            </a:r>
          </a:p>
          <a:p>
            <a:pPr defTabSz="914400">
              <a:defRPr/>
            </a:pPr>
            <a:r>
              <a:rPr lang="pt-BR" sz="1600" b="1" dirty="0">
                <a:solidFill>
                  <a:schemeClr val="bg1"/>
                </a:solidFill>
              </a:rPr>
              <a:t>apud </a:t>
            </a:r>
            <a:r>
              <a:rPr lang="pt-BR" sz="1600" b="1" dirty="0" err="1">
                <a:solidFill>
                  <a:schemeClr val="bg1"/>
                </a:solidFill>
              </a:rPr>
              <a:t>Nisan</a:t>
            </a:r>
            <a:r>
              <a:rPr lang="pt-BR" sz="1600" b="1" dirty="0">
                <a:solidFill>
                  <a:schemeClr val="bg1"/>
                </a:solidFill>
              </a:rPr>
              <a:t>, N. &amp; </a:t>
            </a:r>
            <a:r>
              <a:rPr lang="pt-BR" sz="1600" b="1" dirty="0" err="1">
                <a:solidFill>
                  <a:schemeClr val="bg1"/>
                </a:solidFill>
              </a:rPr>
              <a:t>Schocken</a:t>
            </a:r>
            <a:r>
              <a:rPr lang="pt-BR" sz="1600" b="1" dirty="0">
                <a:solidFill>
                  <a:schemeClr val="bg1"/>
                </a:solidFill>
              </a:rPr>
              <a:t>, S. 2005. </a:t>
            </a:r>
            <a:r>
              <a:rPr lang="en-US" sz="1600" b="1" dirty="0">
                <a:solidFill>
                  <a:schemeClr val="bg1"/>
                </a:solidFill>
              </a:rPr>
              <a:t>Elements of Computing Systems</a:t>
            </a: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1050"/>
            <a:ext cx="8686800" cy="619125"/>
          </a:xfrm>
        </p:spPr>
        <p:txBody>
          <a:bodyPr/>
          <a:lstStyle/>
          <a:p>
            <a:r>
              <a:rPr lang="pt-BR" dirty="0"/>
              <a:t>John Vincent Atanasoff  &amp; Clifford Berry</a:t>
            </a:r>
          </a:p>
        </p:txBody>
      </p:sp>
      <p:sp>
        <p:nvSpPr>
          <p:cNvPr id="3" name="Content Placeholder 2"/>
          <p:cNvSpPr>
            <a:spLocks noGrp="1"/>
          </p:cNvSpPr>
          <p:nvPr>
            <p:ph idx="1"/>
          </p:nvPr>
        </p:nvSpPr>
        <p:spPr>
          <a:xfrm>
            <a:off x="432541" y="1485900"/>
            <a:ext cx="8223898" cy="4724400"/>
          </a:xfrm>
        </p:spPr>
        <p:txBody>
          <a:bodyPr>
            <a:normAutofit/>
          </a:bodyPr>
          <a:lstStyle/>
          <a:p>
            <a:pPr>
              <a:spcBef>
                <a:spcPts val="0"/>
              </a:spcBef>
            </a:pPr>
            <a:r>
              <a:rPr lang="pt-BR" dirty="0"/>
              <a:t>John Atanasoff e Clifford Berry implementaram na Iowa State University em 1939 o primeiro somador de 16-bits a válvula, e em 1941 fizeram uma máquina para resolver equações lineares, chamado de ABC (Atanasoff-Berry Computer), com 60 posições de memória de 50-bit feitas de capacitores, rodando a 60Hz. O julgamento </a:t>
            </a:r>
            <a:r>
              <a:rPr lang="pt-BR" dirty="0" err="1"/>
              <a:t>Honeywell</a:t>
            </a:r>
            <a:r>
              <a:rPr lang="pt-BR" dirty="0"/>
              <a:t> v. Sperry Rand declarou inválida</a:t>
            </a:r>
          </a:p>
          <a:p>
            <a:pPr>
              <a:spcBef>
                <a:spcPts val="0"/>
              </a:spcBef>
            </a:pPr>
            <a:r>
              <a:rPr lang="pt-BR" dirty="0"/>
              <a:t>a patente do ENIAC e reconheceu que </a:t>
            </a:r>
            <a:r>
              <a:rPr lang="pt-BR" dirty="0" err="1"/>
              <a:t>Mauchly</a:t>
            </a:r>
            <a:r>
              <a:rPr lang="pt-BR" dirty="0"/>
              <a:t> havia </a:t>
            </a:r>
          </a:p>
          <a:p>
            <a:pPr>
              <a:spcBef>
                <a:spcPts val="0"/>
              </a:spcBef>
            </a:pPr>
            <a:r>
              <a:rPr lang="pt-BR" dirty="0"/>
              <a:t>obtido ideias a partir do trabalho de </a:t>
            </a:r>
            <a:r>
              <a:rPr lang="pt-BR" dirty="0" err="1"/>
              <a:t>Atanasoff</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7" name="Picture 6" descr="abc-ori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713" y="4109790"/>
            <a:ext cx="3074724" cy="2207914"/>
          </a:xfrm>
          <a:prstGeom prst="rect">
            <a:avLst/>
          </a:prstGeom>
        </p:spPr>
      </p:pic>
      <p:pic>
        <p:nvPicPr>
          <p:cNvPr id="8" name="Picture 7" descr="102624592p-03-03.jp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31407" y="2857413"/>
            <a:ext cx="2624923" cy="2138407"/>
          </a:xfrm>
          <a:prstGeom prst="rect">
            <a:avLst/>
          </a:prstGeom>
          <a:noFill/>
          <a:ln>
            <a:noFill/>
          </a:ln>
        </p:spPr>
      </p:pic>
      <p:pic>
        <p:nvPicPr>
          <p:cNvPr id="11" name="Picture 10" descr="ata_profile.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4328" y="4109790"/>
            <a:ext cx="1570998" cy="2273638"/>
          </a:xfrm>
          <a:prstGeom prst="rect">
            <a:avLst/>
          </a:prstGeom>
        </p:spPr>
      </p:pic>
      <p:pic>
        <p:nvPicPr>
          <p:cNvPr id="12" name="Picture 11" descr="Berry1962.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6870" y="4097460"/>
            <a:ext cx="1670208" cy="2273639"/>
          </a:xfrm>
          <a:prstGeom prst="rect">
            <a:avLst/>
          </a:prstGeom>
        </p:spPr>
      </p:pic>
      <p:sp>
        <p:nvSpPr>
          <p:cNvPr id="13" name="Rectangle 12"/>
          <p:cNvSpPr/>
          <p:nvPr/>
        </p:nvSpPr>
        <p:spPr>
          <a:xfrm>
            <a:off x="918585" y="6317704"/>
            <a:ext cx="1582484" cy="369332"/>
          </a:xfrm>
          <a:prstGeom prst="rect">
            <a:avLst/>
          </a:prstGeom>
        </p:spPr>
        <p:txBody>
          <a:bodyPr wrap="none">
            <a:spAutoFit/>
          </a:bodyPr>
          <a:lstStyle/>
          <a:p>
            <a:r>
              <a:rPr lang="pt-BR" dirty="0"/>
              <a:t>John Atanasoff </a:t>
            </a:r>
          </a:p>
        </p:txBody>
      </p:sp>
      <p:sp>
        <p:nvSpPr>
          <p:cNvPr id="14" name="Rectangle 13"/>
          <p:cNvSpPr/>
          <p:nvPr/>
        </p:nvSpPr>
        <p:spPr>
          <a:xfrm>
            <a:off x="2767025" y="6317704"/>
            <a:ext cx="1429899" cy="369332"/>
          </a:xfrm>
          <a:prstGeom prst="rect">
            <a:avLst/>
          </a:prstGeom>
        </p:spPr>
        <p:txBody>
          <a:bodyPr wrap="none">
            <a:spAutoFit/>
          </a:bodyPr>
          <a:lstStyle/>
          <a:p>
            <a:r>
              <a:rPr lang="pt-BR" dirty="0"/>
              <a:t>Clifford Berry</a:t>
            </a:r>
          </a:p>
        </p:txBody>
      </p:sp>
    </p:spTree>
    <p:extLst>
      <p:ext uri="{BB962C8B-B14F-4D97-AF65-F5344CB8AC3E}">
        <p14:creationId xmlns:p14="http://schemas.microsoft.com/office/powerpoint/2010/main" val="19705686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3000" fill="hold"/>
                                        <p:tgtEl>
                                          <p:spTgt spid="11"/>
                                        </p:tgtEl>
                                        <p:attrNameLst>
                                          <p:attrName>ppt_w</p:attrName>
                                        </p:attrNameLst>
                                      </p:cBhvr>
                                      <p:tavLst>
                                        <p:tav tm="0">
                                          <p:val>
                                            <p:fltVal val="0"/>
                                          </p:val>
                                        </p:tav>
                                        <p:tav tm="100000">
                                          <p:val>
                                            <p:strVal val="#ppt_w"/>
                                          </p:val>
                                        </p:tav>
                                      </p:tavLst>
                                    </p:anim>
                                    <p:anim calcmode="lin" valueType="num">
                                      <p:cBhvr>
                                        <p:cTn id="8" dur="3000" fill="hold"/>
                                        <p:tgtEl>
                                          <p:spTgt spid="11"/>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2000" fill="hold"/>
                                        <p:tgtEl>
                                          <p:spTgt spid="12"/>
                                        </p:tgtEl>
                                        <p:attrNameLst>
                                          <p:attrName>ppt_w</p:attrName>
                                        </p:attrNameLst>
                                      </p:cBhvr>
                                      <p:tavLst>
                                        <p:tav tm="0">
                                          <p:val>
                                            <p:fltVal val="0"/>
                                          </p:val>
                                        </p:tav>
                                        <p:tav tm="100000">
                                          <p:val>
                                            <p:strVal val="#ppt_w"/>
                                          </p:val>
                                        </p:tav>
                                      </p:tavLst>
                                    </p:anim>
                                    <p:anim calcmode="lin" valueType="num">
                                      <p:cBhvr>
                                        <p:cTn id="12" dur="2000" fill="hold"/>
                                        <p:tgtEl>
                                          <p:spTgt spid="12"/>
                                        </p:tgtEl>
                                        <p:attrNameLst>
                                          <p:attrName>ppt_h</p:attrName>
                                        </p:attrNameLst>
                                      </p:cBhvr>
                                      <p:tavLst>
                                        <p:tav tm="0">
                                          <p:val>
                                            <p:fltVal val="0"/>
                                          </p:val>
                                        </p:tav>
                                        <p:tav tm="100000">
                                          <p:val>
                                            <p:strVal val="#ppt_h"/>
                                          </p:val>
                                        </p:tav>
                                      </p:tavLst>
                                    </p:anim>
                                  </p:childTnLst>
                                </p:cTn>
                              </p:par>
                              <p:par>
                                <p:cTn id="13" presetID="0" presetClass="path" presetSubtype="0" accel="50000" decel="50000" fill="hold" nodeType="withEffect">
                                  <p:stCondLst>
                                    <p:cond delay="0"/>
                                  </p:stCondLst>
                                  <p:childTnLst>
                                    <p:animMotion origin="layout" path="M -2.5E-6 -3.7037E-6 L -0.00677 0.00718 " pathEditMode="relative" rAng="0" ptsTypes="AA">
                                      <p:cBhvr>
                                        <p:cTn id="14" dur="3000" fill="hold"/>
                                        <p:tgtEl>
                                          <p:spTgt spid="8"/>
                                        </p:tgtEl>
                                        <p:attrNameLst>
                                          <p:attrName>ppt_x</p:attrName>
                                          <p:attrName>ppt_y</p:attrName>
                                        </p:attrNameLst>
                                      </p:cBhvr>
                                      <p:rCtr x="-34700" y="34700"/>
                                    </p:animMotion>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000"/>
                                        <p:tgtEl>
                                          <p:spTgt spid="7"/>
                                        </p:tgtEl>
                                      </p:cBhvr>
                                    </p:animEffect>
                                    <p:anim calcmode="lin" valueType="num">
                                      <p:cBhvr>
                                        <p:cTn id="18" dur="3000" fill="hold"/>
                                        <p:tgtEl>
                                          <p:spTgt spid="7"/>
                                        </p:tgtEl>
                                        <p:attrNameLst>
                                          <p:attrName>ppt_x</p:attrName>
                                        </p:attrNameLst>
                                      </p:cBhvr>
                                      <p:tavLst>
                                        <p:tav tm="0">
                                          <p:val>
                                            <p:strVal val="#ppt_x"/>
                                          </p:val>
                                        </p:tav>
                                        <p:tav tm="100000">
                                          <p:val>
                                            <p:strVal val="#ppt_x"/>
                                          </p:val>
                                        </p:tav>
                                      </p:tavLst>
                                    </p:anim>
                                    <p:anim calcmode="lin" valueType="num">
                                      <p:cBhvr>
                                        <p:cTn id="19" dur="30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300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Harvard Mark 1 </a:t>
            </a:r>
          </a:p>
        </p:txBody>
      </p:sp>
      <p:sp>
        <p:nvSpPr>
          <p:cNvPr id="3" name="Content Placeholder 2"/>
          <p:cNvSpPr>
            <a:spLocks noGrp="1"/>
          </p:cNvSpPr>
          <p:nvPr>
            <p:ph idx="1"/>
          </p:nvPr>
        </p:nvSpPr>
        <p:spPr>
          <a:xfrm>
            <a:off x="457201" y="1485900"/>
            <a:ext cx="8382550" cy="4724400"/>
          </a:xfrm>
        </p:spPr>
        <p:txBody>
          <a:bodyPr>
            <a:normAutofit/>
          </a:bodyPr>
          <a:lstStyle/>
          <a:p>
            <a:r>
              <a:rPr lang="pt-BR" sz="2150" dirty="0"/>
              <a:t>O Harvard Mark 1 (</a:t>
            </a:r>
            <a:r>
              <a:rPr lang="en-US" sz="2150" noProof="0" dirty="0"/>
              <a:t>IBM automatic sequence controlled calculator</a:t>
            </a:r>
            <a:r>
              <a:rPr lang="pt-BR" sz="2150" dirty="0"/>
              <a:t>), foi criado em 1943, sendo um sistema eletromecânico à base de relés. Howard Aiken fez o design do hardware do Mark 1, baseado em uma representação e armazenamento numérico decimal.</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7" name="Picture 6" descr="image057.gif"/>
          <p:cNvPicPr>
            <a:picLocks noChangeAspect="1"/>
          </p:cNvPicPr>
          <p:nvPr/>
        </p:nvPicPr>
        <p:blipFill rotWithShape="1">
          <a:blip r:embed="rId3">
            <a:extLst>
              <a:ext uri="{28A0092B-C50C-407E-A947-70E740481C1C}">
                <a14:useLocalDpi xmlns:a14="http://schemas.microsoft.com/office/drawing/2010/main" val="0"/>
              </a:ext>
            </a:extLst>
          </a:blip>
          <a:srcRect t="19992" b="15276"/>
          <a:stretch/>
        </p:blipFill>
        <p:spPr>
          <a:xfrm>
            <a:off x="652452" y="3720639"/>
            <a:ext cx="7961112" cy="2681536"/>
          </a:xfrm>
          <a:prstGeom prst="rect">
            <a:avLst/>
          </a:prstGeom>
        </p:spPr>
      </p:pic>
      <p:pic>
        <p:nvPicPr>
          <p:cNvPr id="8" name="Picture 7" descr="Harvard_Mark_I_constant_switches_detail.jpg"/>
          <p:cNvPicPr>
            <a:picLocks noChangeAspect="1"/>
          </p:cNvPicPr>
          <p:nvPr/>
        </p:nvPicPr>
        <p:blipFill rotWithShape="1">
          <a:blip r:embed="rId4">
            <a:extLst>
              <a:ext uri="{28A0092B-C50C-407E-A947-70E740481C1C}">
                <a14:useLocalDpi xmlns:a14="http://schemas.microsoft.com/office/drawing/2010/main" val="0"/>
              </a:ext>
            </a:extLst>
          </a:blip>
          <a:srcRect l="14764" t="19609"/>
          <a:stretch/>
        </p:blipFill>
        <p:spPr>
          <a:xfrm>
            <a:off x="272005" y="3442813"/>
            <a:ext cx="1884644" cy="1333146"/>
          </a:xfrm>
          <a:prstGeom prst="rect">
            <a:avLst/>
          </a:prstGeom>
        </p:spPr>
      </p:pic>
      <p:grpSp>
        <p:nvGrpSpPr>
          <p:cNvPr id="11" name="Group 10"/>
          <p:cNvGrpSpPr/>
          <p:nvPr/>
        </p:nvGrpSpPr>
        <p:grpSpPr>
          <a:xfrm>
            <a:off x="7034554" y="3039963"/>
            <a:ext cx="1805197" cy="1911276"/>
            <a:chOff x="7034553" y="3080494"/>
            <a:chExt cx="1805197" cy="1911276"/>
          </a:xfrm>
        </p:grpSpPr>
        <p:pic>
          <p:nvPicPr>
            <p:cNvPr id="9" name="Picture 8" descr="howardaiken.jpg"/>
            <p:cNvPicPr>
              <a:picLocks noChangeAspect="1"/>
            </p:cNvPicPr>
            <p:nvPr/>
          </p:nvPicPr>
          <p:blipFill rotWithShape="1">
            <a:blip r:embed="rId5">
              <a:extLst>
                <a:ext uri="{28A0092B-C50C-407E-A947-70E740481C1C}">
                  <a14:useLocalDpi xmlns:a14="http://schemas.microsoft.com/office/drawing/2010/main" val="0"/>
                </a:ext>
              </a:extLst>
            </a:blip>
            <a:srcRect b="16568"/>
            <a:stretch/>
          </p:blipFill>
          <p:spPr>
            <a:xfrm>
              <a:off x="7034553" y="3080494"/>
              <a:ext cx="1805197" cy="1911276"/>
            </a:xfrm>
            <a:prstGeom prst="rect">
              <a:avLst/>
            </a:prstGeom>
          </p:spPr>
        </p:pic>
        <p:sp>
          <p:nvSpPr>
            <p:cNvPr id="10" name="Rectangle 9"/>
            <p:cNvSpPr/>
            <p:nvPr/>
          </p:nvSpPr>
          <p:spPr>
            <a:xfrm>
              <a:off x="7193289" y="4622438"/>
              <a:ext cx="1545878" cy="369332"/>
            </a:xfrm>
            <a:prstGeom prst="rect">
              <a:avLst/>
            </a:prstGeom>
          </p:spPr>
          <p:txBody>
            <a:bodyPr wrap="none">
              <a:spAutoFit/>
            </a:bodyPr>
            <a:lstStyle/>
            <a:p>
              <a:r>
                <a:rPr lang="pt-BR" b="1" dirty="0">
                  <a:solidFill>
                    <a:srgbClr val="FFFFFF"/>
                  </a:solidFill>
                </a:rPr>
                <a:t>Howard Aiken</a:t>
              </a:r>
            </a:p>
          </p:txBody>
        </p:sp>
      </p:grpSp>
      <p:sp>
        <p:nvSpPr>
          <p:cNvPr id="12" name="Espaço Reservado para Conteúdo 2"/>
          <p:cNvSpPr txBox="1">
            <a:spLocks/>
          </p:cNvSpPr>
          <p:nvPr/>
        </p:nvSpPr>
        <p:spPr>
          <a:xfrm>
            <a:off x="652452" y="6402173"/>
            <a:ext cx="7921201" cy="365125"/>
          </a:xfrm>
          <a:prstGeom prst="rect">
            <a:avLst/>
          </a:prstGeom>
        </p:spPr>
        <p:txBody>
          <a:bodyPr>
            <a:normAutofit fontScale="62500" lnSpcReduction="20000"/>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dirty="0">
                <a:solidFill>
                  <a:srgbClr val="FF0000"/>
                </a:solidFill>
              </a:rPr>
              <a:t>O complemento de dois é a representação predominante de inteiros com sinal nos computadores atuais.</a:t>
            </a:r>
          </a:p>
        </p:txBody>
      </p:sp>
    </p:spTree>
    <p:extLst>
      <p:ext uri="{BB962C8B-B14F-4D97-AF65-F5344CB8AC3E}">
        <p14:creationId xmlns:p14="http://schemas.microsoft.com/office/powerpoint/2010/main" val="193028721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p:tgtEl>
                                          <p:spTgt spid="8"/>
                                        </p:tgtEl>
                                        <p:attrNameLst>
                                          <p:attrName>ppt_y</p:attrName>
                                        </p:attrNameLst>
                                      </p:cBhvr>
                                      <p:tavLst>
                                        <p:tav tm="0">
                                          <p:val>
                                            <p:strVal val="#ppt_y+#ppt_h*1.125000"/>
                                          </p:val>
                                        </p:tav>
                                        <p:tav tm="100000">
                                          <p:val>
                                            <p:strVal val="#ppt_y"/>
                                          </p:val>
                                        </p:tav>
                                      </p:tavLst>
                                    </p:anim>
                                    <p:animEffect transition="in" filter="wipe(up)">
                                      <p:cBhvr>
                                        <p:cTn id="12" dur="2000"/>
                                        <p:tgtEl>
                                          <p:spTgt spid="8"/>
                                        </p:tgtEl>
                                      </p:cBhvr>
                                    </p:animEffect>
                                  </p:childTnLst>
                                </p:cTn>
                              </p:par>
                              <p:par>
                                <p:cTn id="13" presetID="12" presetClass="entr" presetSubtype="1"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2000"/>
                                        <p:tgtEl>
                                          <p:spTgt spid="11"/>
                                        </p:tgtEl>
                                        <p:attrNameLst>
                                          <p:attrName>ppt_y</p:attrName>
                                        </p:attrNameLst>
                                      </p:cBhvr>
                                      <p:tavLst>
                                        <p:tav tm="0">
                                          <p:val>
                                            <p:strVal val="#ppt_y-#ppt_h*1.125000"/>
                                          </p:val>
                                        </p:tav>
                                        <p:tav tm="100000">
                                          <p:val>
                                            <p:strVal val="#ppt_y"/>
                                          </p:val>
                                        </p:tav>
                                      </p:tavLst>
                                    </p:anim>
                                    <p:animEffect transition="in" filter="wipe(down)">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7483 e 74181 </a:t>
            </a:r>
          </a:p>
        </p:txBody>
      </p:sp>
      <p:sp>
        <p:nvSpPr>
          <p:cNvPr id="3" name="Content Placeholder 2"/>
          <p:cNvSpPr>
            <a:spLocks noGrp="1"/>
          </p:cNvSpPr>
          <p:nvPr>
            <p:ph idx="1"/>
          </p:nvPr>
        </p:nvSpPr>
        <p:spPr/>
        <p:txBody>
          <a:bodyPr>
            <a:normAutofit/>
          </a:bodyPr>
          <a:lstStyle/>
          <a:p>
            <a:r>
              <a:rPr lang="pt-BR" sz="2400" dirty="0"/>
              <a:t>O 7483 e o 74181 são circuitos integrados de lógica aritmética de 4 bits que foram usados em alguns dos primeiros computadores baseados em circuitos integrados.</a:t>
            </a:r>
            <a:endParaRPr lang="pt-BR" sz="22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pic>
        <p:nvPicPr>
          <p:cNvPr id="7" name="Picture 6" descr="comb50.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614" y="5287898"/>
            <a:ext cx="1960575" cy="1380989"/>
          </a:xfrm>
          <a:prstGeom prst="rect">
            <a:avLst/>
          </a:prstGeom>
        </p:spPr>
      </p:pic>
      <p:pic>
        <p:nvPicPr>
          <p:cNvPr id="9" name="Picture 8"/>
          <p:cNvPicPr>
            <a:picLocks noChangeAspect="1"/>
          </p:cNvPicPr>
          <p:nvPr/>
        </p:nvPicPr>
        <p:blipFill>
          <a:blip r:embed="rId4"/>
          <a:stretch>
            <a:fillRect/>
          </a:stretch>
        </p:blipFill>
        <p:spPr>
          <a:xfrm>
            <a:off x="887472" y="3450616"/>
            <a:ext cx="2510400" cy="1837282"/>
          </a:xfrm>
          <a:prstGeom prst="rect">
            <a:avLst/>
          </a:prstGeom>
        </p:spPr>
      </p:pic>
      <p:pic>
        <p:nvPicPr>
          <p:cNvPr id="8" name="Picture 7" descr="31iGrrx+XXL._SY355_.jpg"/>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86645" y="2730240"/>
            <a:ext cx="1440752" cy="1440752"/>
          </a:xfrm>
          <a:prstGeom prst="rect">
            <a:avLst/>
          </a:prstGeom>
        </p:spPr>
      </p:pic>
      <p:pic>
        <p:nvPicPr>
          <p:cNvPr id="13" name="Picture 12"/>
          <p:cNvPicPr>
            <a:picLocks noChangeAspect="1"/>
          </p:cNvPicPr>
          <p:nvPr/>
        </p:nvPicPr>
        <p:blipFill>
          <a:blip r:embed="rId6"/>
          <a:stretch>
            <a:fillRect/>
          </a:stretch>
        </p:blipFill>
        <p:spPr>
          <a:xfrm>
            <a:off x="4783187" y="3194806"/>
            <a:ext cx="3119250" cy="2142136"/>
          </a:xfrm>
          <a:prstGeom prst="rect">
            <a:avLst/>
          </a:prstGeom>
        </p:spPr>
      </p:pic>
      <p:grpSp>
        <p:nvGrpSpPr>
          <p:cNvPr id="21" name="Group 20"/>
          <p:cNvGrpSpPr/>
          <p:nvPr/>
        </p:nvGrpSpPr>
        <p:grpSpPr>
          <a:xfrm>
            <a:off x="5527864" y="5351759"/>
            <a:ext cx="1710540" cy="1232977"/>
            <a:chOff x="657225" y="5062471"/>
            <a:chExt cx="2285745" cy="1688128"/>
          </a:xfrm>
        </p:grpSpPr>
        <p:pic>
          <p:nvPicPr>
            <p:cNvPr id="16" name="Picture 15" descr="diagrama de conexion del 74181.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7225" y="5062471"/>
              <a:ext cx="2285745" cy="1667841"/>
            </a:xfrm>
            <a:prstGeom prst="rect">
              <a:avLst/>
            </a:prstGeom>
          </p:spPr>
        </p:pic>
        <p:sp>
          <p:nvSpPr>
            <p:cNvPr id="17" name="Rectangle 16"/>
            <p:cNvSpPr/>
            <p:nvPr/>
          </p:nvSpPr>
          <p:spPr>
            <a:xfrm>
              <a:off x="1286126" y="5071252"/>
              <a:ext cx="320632" cy="107722"/>
            </a:xfrm>
            <a:prstGeom prst="rect">
              <a:avLst/>
            </a:prstGeom>
            <a:solidFill>
              <a:srgbClr val="FFFFFF"/>
            </a:solidFill>
          </p:spPr>
          <p:txBody>
            <a:bodyPr wrap="none" lIns="0" tIns="0" rIns="0" bIns="0" anchor="ctr" anchorCtr="0">
              <a:spAutoFit/>
            </a:bodyPr>
            <a:lstStyle/>
            <a:p>
              <a:pPr algn="ctr"/>
              <a:r>
                <a:rPr lang="pt-BR" sz="700" dirty="0"/>
                <a:t>Entradas</a:t>
              </a:r>
            </a:p>
          </p:txBody>
        </p:sp>
        <p:sp>
          <p:nvSpPr>
            <p:cNvPr id="18" name="Rectangle 17"/>
            <p:cNvSpPr/>
            <p:nvPr/>
          </p:nvSpPr>
          <p:spPr>
            <a:xfrm>
              <a:off x="2293053" y="5071252"/>
              <a:ext cx="230832" cy="107722"/>
            </a:xfrm>
            <a:prstGeom prst="rect">
              <a:avLst/>
            </a:prstGeom>
            <a:solidFill>
              <a:srgbClr val="FFFFFF"/>
            </a:solidFill>
          </p:spPr>
          <p:txBody>
            <a:bodyPr wrap="none" lIns="0" tIns="0" rIns="0" bIns="0" anchor="ctr" anchorCtr="0">
              <a:spAutoFit/>
            </a:bodyPr>
            <a:lstStyle/>
            <a:p>
              <a:pPr algn="ctr"/>
              <a:r>
                <a:rPr lang="pt-BR" sz="700" dirty="0"/>
                <a:t>Saídas</a:t>
              </a:r>
            </a:p>
          </p:txBody>
        </p:sp>
        <p:sp>
          <p:nvSpPr>
            <p:cNvPr id="19" name="Rectangle 18"/>
            <p:cNvSpPr/>
            <p:nvPr/>
          </p:nvSpPr>
          <p:spPr>
            <a:xfrm>
              <a:off x="1282951" y="6642877"/>
              <a:ext cx="320632" cy="107722"/>
            </a:xfrm>
            <a:prstGeom prst="rect">
              <a:avLst/>
            </a:prstGeom>
            <a:solidFill>
              <a:srgbClr val="FFFFFF"/>
            </a:solidFill>
          </p:spPr>
          <p:txBody>
            <a:bodyPr wrap="none" lIns="0" tIns="0" rIns="0" bIns="0" anchor="ctr" anchorCtr="0">
              <a:spAutoFit/>
            </a:bodyPr>
            <a:lstStyle/>
            <a:p>
              <a:pPr algn="ctr"/>
              <a:r>
                <a:rPr lang="pt-BR" sz="700" dirty="0"/>
                <a:t>Entradas</a:t>
              </a:r>
            </a:p>
          </p:txBody>
        </p:sp>
        <p:sp>
          <p:nvSpPr>
            <p:cNvPr id="20" name="Rectangle 19"/>
            <p:cNvSpPr/>
            <p:nvPr/>
          </p:nvSpPr>
          <p:spPr>
            <a:xfrm>
              <a:off x="2289878" y="6642877"/>
              <a:ext cx="230832" cy="107722"/>
            </a:xfrm>
            <a:prstGeom prst="rect">
              <a:avLst/>
            </a:prstGeom>
            <a:solidFill>
              <a:srgbClr val="FFFFFF"/>
            </a:solidFill>
          </p:spPr>
          <p:txBody>
            <a:bodyPr wrap="none" lIns="0" tIns="0" rIns="0" bIns="0" anchor="ctr" anchorCtr="0">
              <a:spAutoFit/>
            </a:bodyPr>
            <a:lstStyle/>
            <a:p>
              <a:pPr algn="ctr"/>
              <a:r>
                <a:rPr lang="pt-BR" sz="700" dirty="0"/>
                <a:t>Saídas</a:t>
              </a:r>
            </a:p>
          </p:txBody>
        </p:sp>
      </p:grpSp>
      <p:pic>
        <p:nvPicPr>
          <p:cNvPr id="10" name="Picture 9" descr="SN74LS181.jpg"/>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14056" y="2727120"/>
            <a:ext cx="1304256" cy="763921"/>
          </a:xfrm>
          <a:prstGeom prst="rect">
            <a:avLst/>
          </a:prstGeom>
        </p:spPr>
      </p:pic>
    </p:spTree>
    <p:extLst>
      <p:ext uri="{BB962C8B-B14F-4D97-AF65-F5344CB8AC3E}">
        <p14:creationId xmlns:p14="http://schemas.microsoft.com/office/powerpoint/2010/main" val="333469566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Unidade de Ponto Flutuante</a:t>
            </a:r>
          </a:p>
        </p:txBody>
      </p:sp>
      <p:sp>
        <p:nvSpPr>
          <p:cNvPr id="3" name="Content Placeholder 2"/>
          <p:cNvSpPr>
            <a:spLocks noGrp="1"/>
          </p:cNvSpPr>
          <p:nvPr>
            <p:ph idx="1"/>
          </p:nvPr>
        </p:nvSpPr>
        <p:spPr>
          <a:xfrm>
            <a:off x="558584" y="1485900"/>
            <a:ext cx="8477912" cy="4724400"/>
          </a:xfrm>
        </p:spPr>
        <p:txBody>
          <a:bodyPr>
            <a:normAutofit/>
          </a:bodyPr>
          <a:lstStyle/>
          <a:p>
            <a:r>
              <a:rPr lang="pt-BR" sz="2400" dirty="0"/>
              <a:t>Uma unidade de ponto flutuante, ou FPU (</a:t>
            </a:r>
            <a:r>
              <a:rPr lang="pt-BR" sz="2400" i="1" dirty="0"/>
              <a:t>Floating-Point Unit</a:t>
            </a:r>
            <a:r>
              <a:rPr lang="pt-BR" sz="2400" dirty="0"/>
              <a:t>), é um circuito especializado na execução de operações com números representados em ponto flutuante. Ela pode existir como um coprocessador separado ou estar integrada ao processador principal.</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pic>
        <p:nvPicPr>
          <p:cNvPr id="7" name="Picture 6" descr="8087_MG_3168_BB.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5316" y="4560209"/>
            <a:ext cx="2490596" cy="1006201"/>
          </a:xfrm>
          <a:prstGeom prst="rect">
            <a:avLst/>
          </a:prstGeom>
        </p:spPr>
      </p:pic>
      <p:sp>
        <p:nvSpPr>
          <p:cNvPr id="9" name="Rectangle 8"/>
          <p:cNvSpPr/>
          <p:nvPr/>
        </p:nvSpPr>
        <p:spPr>
          <a:xfrm>
            <a:off x="3829539" y="5495996"/>
            <a:ext cx="1458074" cy="369332"/>
          </a:xfrm>
          <a:prstGeom prst="rect">
            <a:avLst/>
          </a:prstGeom>
        </p:spPr>
        <p:txBody>
          <a:bodyPr wrap="square">
            <a:spAutoFit/>
          </a:bodyPr>
          <a:lstStyle/>
          <a:p>
            <a:r>
              <a:rPr lang="en-US" dirty="0"/>
              <a:t>Intel  </a:t>
            </a:r>
            <a:r>
              <a:rPr lang="fi-FI" dirty="0"/>
              <a:t>8087</a:t>
            </a:r>
            <a:endParaRPr lang="pt-BR" dirty="0"/>
          </a:p>
        </p:txBody>
      </p:sp>
      <p:sp>
        <p:nvSpPr>
          <p:cNvPr id="11" name="Rectangle 10"/>
          <p:cNvSpPr/>
          <p:nvPr/>
        </p:nvSpPr>
        <p:spPr>
          <a:xfrm>
            <a:off x="6549292" y="5495996"/>
            <a:ext cx="2154199" cy="369332"/>
          </a:xfrm>
          <a:prstGeom prst="rect">
            <a:avLst/>
          </a:prstGeom>
        </p:spPr>
        <p:txBody>
          <a:bodyPr wrap="square">
            <a:spAutoFit/>
          </a:bodyPr>
          <a:lstStyle/>
          <a:p>
            <a:r>
              <a:rPr lang="en-US" dirty="0"/>
              <a:t>Motorola 68881</a:t>
            </a:r>
            <a:endParaRPr lang="pt-BR" dirty="0"/>
          </a:p>
        </p:txBody>
      </p:sp>
      <p:pic>
        <p:nvPicPr>
          <p:cNvPr id="8" name="Picture 7" descr="AMDAM9511DM.jpg"/>
          <p:cNvPicPr>
            <a:picLocks noChangeAspect="1"/>
          </p:cNvPicPr>
          <p:nvPr/>
        </p:nvPicPr>
        <p:blipFill>
          <a:blip r:embed="rId4">
            <a:extLst>
              <a:ext uri="{BEBA8EAE-BF5A-486C-A8C5-ECC9F3942E4B}">
                <a14:imgProps xmlns:a14="http://schemas.microsoft.com/office/drawing/2010/main">
                  <a14:imgLayer r:embed="rId5">
                    <a14:imgEffect>
                      <a14:backgroundRemoval t="4800" b="90000" l="3756" r="95423">
                        <a14:foregroundMark x1="57746" y1="78600" x2="57746" y2="78600"/>
                        <a14:foregroundMark x1="55164" y1="78600" x2="55164" y2="78600"/>
                      </a14:backgroundRemoval>
                    </a14:imgEffect>
                  </a14:imgLayer>
                </a14:imgProps>
              </a:ext>
              <a:ext uri="{28A0092B-C50C-407E-A947-70E740481C1C}">
                <a14:useLocalDpi xmlns:a14="http://schemas.microsoft.com/office/drawing/2010/main" val="0"/>
              </a:ext>
            </a:extLst>
          </a:blip>
          <a:stretch>
            <a:fillRect/>
          </a:stretch>
        </p:blipFill>
        <p:spPr>
          <a:xfrm>
            <a:off x="769815" y="4477348"/>
            <a:ext cx="2023831" cy="1187694"/>
          </a:xfrm>
          <a:prstGeom prst="rect">
            <a:avLst/>
          </a:prstGeom>
        </p:spPr>
      </p:pic>
      <p:sp>
        <p:nvSpPr>
          <p:cNvPr id="13" name="Rectangle 12"/>
          <p:cNvSpPr/>
          <p:nvPr/>
        </p:nvSpPr>
        <p:spPr>
          <a:xfrm>
            <a:off x="969107" y="5495996"/>
            <a:ext cx="1825392" cy="369332"/>
          </a:xfrm>
          <a:prstGeom prst="rect">
            <a:avLst/>
          </a:prstGeom>
        </p:spPr>
        <p:txBody>
          <a:bodyPr wrap="square">
            <a:spAutoFit/>
          </a:bodyPr>
          <a:lstStyle/>
          <a:p>
            <a:r>
              <a:rPr lang="en-US" dirty="0"/>
              <a:t>AMD </a:t>
            </a:r>
            <a:r>
              <a:rPr lang="cs-CZ" dirty="0"/>
              <a:t>AM9511</a:t>
            </a:r>
            <a:endParaRPr lang="pt-BR" dirty="0"/>
          </a:p>
        </p:txBody>
      </p:sp>
      <p:pic>
        <p:nvPicPr>
          <p:cNvPr id="12" name="Picture 11" descr="Motorola 68881 (FPU)">
            <a:extLst>
              <a:ext uri="{FF2B5EF4-FFF2-40B4-BE49-F238E27FC236}">
                <a16:creationId xmlns:a16="http://schemas.microsoft.com/office/drawing/2014/main" id="{D2D8CA1D-4442-921D-BA6E-44F19002A9A3}"/>
              </a:ext>
            </a:extLst>
          </p:cNvPr>
          <p:cNvPicPr>
            <a:picLocks noChangeAspect="1"/>
          </p:cNvPicPr>
          <p:nvPr/>
        </p:nvPicPr>
        <p:blipFill>
          <a:blip r:embed="rId6"/>
          <a:srcRect l="26006" t="20842" r="22665" b="20235"/>
          <a:stretch>
            <a:fillRect/>
          </a:stretch>
        </p:blipFill>
        <p:spPr>
          <a:xfrm>
            <a:off x="6662971" y="3962778"/>
            <a:ext cx="1396980" cy="1603633"/>
          </a:xfrm>
          <a:prstGeom prst="rect">
            <a:avLst/>
          </a:prstGeom>
        </p:spPr>
      </p:pic>
    </p:spTree>
    <p:extLst>
      <p:ext uri="{BB962C8B-B14F-4D97-AF65-F5344CB8AC3E}">
        <p14:creationId xmlns:p14="http://schemas.microsoft.com/office/powerpoint/2010/main" val="39986291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0"/>
                                        <p:tgtEl>
                                          <p:spTgt spid="8"/>
                                        </p:tgtEl>
                                      </p:cBhvr>
                                    </p:animEffect>
                                    <p:anim calcmode="lin" valueType="num">
                                      <p:cBhvr>
                                        <p:cTn id="8" dur="5000" fill="hold"/>
                                        <p:tgtEl>
                                          <p:spTgt spid="8"/>
                                        </p:tgtEl>
                                        <p:attrNameLst>
                                          <p:attrName>ppt_x</p:attrName>
                                        </p:attrNameLst>
                                      </p:cBhvr>
                                      <p:tavLst>
                                        <p:tav tm="0">
                                          <p:val>
                                            <p:strVal val="#ppt_x"/>
                                          </p:val>
                                        </p:tav>
                                        <p:tav tm="100000">
                                          <p:val>
                                            <p:strVal val="#ppt_x"/>
                                          </p:val>
                                        </p:tav>
                                      </p:tavLst>
                                    </p:anim>
                                    <p:anim calcmode="lin" valueType="num">
                                      <p:cBhvr>
                                        <p:cTn id="9" dur="5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0"/>
                                        <p:tgtEl>
                                          <p:spTgt spid="7"/>
                                        </p:tgtEl>
                                      </p:cBhvr>
                                    </p:animEffect>
                                    <p:anim calcmode="lin" valueType="num">
                                      <p:cBhvr>
                                        <p:cTn id="13" dur="5000" fill="hold"/>
                                        <p:tgtEl>
                                          <p:spTgt spid="7"/>
                                        </p:tgtEl>
                                        <p:attrNameLst>
                                          <p:attrName>ppt_x</p:attrName>
                                        </p:attrNameLst>
                                      </p:cBhvr>
                                      <p:tavLst>
                                        <p:tav tm="0">
                                          <p:val>
                                            <p:strVal val="#ppt_x"/>
                                          </p:val>
                                        </p:tav>
                                        <p:tav tm="100000">
                                          <p:val>
                                            <p:strVal val="#ppt_x"/>
                                          </p:val>
                                        </p:tav>
                                      </p:tavLst>
                                    </p:anim>
                                    <p:anim calcmode="lin" valueType="num">
                                      <p:cBhvr>
                                        <p:cTn id="14" dur="5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0"/>
                                        <p:tgtEl>
                                          <p:spTgt spid="12"/>
                                        </p:tgtEl>
                                      </p:cBhvr>
                                    </p:animEffect>
                                    <p:anim calcmode="lin" valueType="num">
                                      <p:cBhvr>
                                        <p:cTn id="18" dur="5000" fill="hold"/>
                                        <p:tgtEl>
                                          <p:spTgt spid="12"/>
                                        </p:tgtEl>
                                        <p:attrNameLst>
                                          <p:attrName>ppt_x</p:attrName>
                                        </p:attrNameLst>
                                      </p:cBhvr>
                                      <p:tavLst>
                                        <p:tav tm="0">
                                          <p:val>
                                            <p:strVal val="#ppt_x"/>
                                          </p:val>
                                        </p:tav>
                                        <p:tav tm="100000">
                                          <p:val>
                                            <p:strVal val="#ppt_x"/>
                                          </p:val>
                                        </p:tav>
                                      </p:tavLst>
                                    </p:anim>
                                    <p:anim calcmode="lin" valueType="num">
                                      <p:cBhvr>
                                        <p:cTn id="19" dur="50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700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Unidade Lógica Aritmética (ULA) </a:t>
            </a:r>
          </a:p>
        </p:txBody>
      </p:sp>
      <p:sp>
        <p:nvSpPr>
          <p:cNvPr id="3" name="Content Placeholder 2"/>
          <p:cNvSpPr>
            <a:spLocks noGrp="1"/>
          </p:cNvSpPr>
          <p:nvPr>
            <p:ph idx="1"/>
          </p:nvPr>
        </p:nvSpPr>
        <p:spPr>
          <a:xfrm>
            <a:off x="369080" y="1621367"/>
            <a:ext cx="8182253" cy="2253051"/>
          </a:xfrm>
        </p:spPr>
        <p:txBody>
          <a:bodyPr>
            <a:noAutofit/>
          </a:bodyPr>
          <a:lstStyle/>
          <a:p>
            <a:r>
              <a:rPr lang="pt-BR" sz="2600" dirty="0"/>
              <a:t>ULA ou </a:t>
            </a:r>
            <a:r>
              <a:rPr lang="en-US" sz="2600" dirty="0"/>
              <a:t>Arithmetic Logic Unit </a:t>
            </a:r>
            <a:r>
              <a:rPr lang="pt-BR" sz="2600" dirty="0"/>
              <a:t>(</a:t>
            </a:r>
            <a:r>
              <a:rPr lang="pt-BR" sz="2600" b="1" dirty="0"/>
              <a:t>ALU</a:t>
            </a:r>
            <a:r>
              <a:rPr lang="pt-BR" sz="2600" dirty="0"/>
              <a:t>), </a:t>
            </a:r>
            <a:r>
              <a:rPr lang="pt-BR" sz="2800" dirty="0"/>
              <a:t>é um componente central do caminho de dados da CPU</a:t>
            </a:r>
            <a:r>
              <a:rPr lang="pt-BR" sz="2600" dirty="0"/>
              <a:t>. A </a:t>
            </a:r>
            <a:r>
              <a:rPr lang="pt-BR" sz="2600" b="1" dirty="0"/>
              <a:t>ALU</a:t>
            </a:r>
            <a:r>
              <a:rPr lang="pt-BR" sz="2600" dirty="0"/>
              <a:t> consiste de um circuito digital capaz de fazer operações aritméticas e lógicas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grpSp>
        <p:nvGrpSpPr>
          <p:cNvPr id="10" name="Group 9"/>
          <p:cNvGrpSpPr/>
          <p:nvPr/>
        </p:nvGrpSpPr>
        <p:grpSpPr>
          <a:xfrm>
            <a:off x="1667260" y="3403825"/>
            <a:ext cx="4353218" cy="2689152"/>
            <a:chOff x="1614348" y="3454624"/>
            <a:chExt cx="4353218" cy="2689152"/>
          </a:xfrm>
        </p:grpSpPr>
        <p:sp>
          <p:nvSpPr>
            <p:cNvPr id="8" name="Regular Pentagon 7"/>
            <p:cNvSpPr/>
            <p:nvPr/>
          </p:nvSpPr>
          <p:spPr>
            <a:xfrm>
              <a:off x="3327257" y="4349168"/>
              <a:ext cx="2640309" cy="929605"/>
            </a:xfrm>
            <a:custGeom>
              <a:avLst/>
              <a:gdLst>
                <a:gd name="connsiteX0" fmla="*/ 3 w 2640315"/>
                <a:gd name="connsiteY0" fmla="*/ 574527 h 1504136"/>
                <a:gd name="connsiteX1" fmla="*/ 1320158 w 2640315"/>
                <a:gd name="connsiteY1" fmla="*/ 0 h 1504136"/>
                <a:gd name="connsiteX2" fmla="*/ 2640312 w 2640315"/>
                <a:gd name="connsiteY2" fmla="*/ 574527 h 1504136"/>
                <a:gd name="connsiteX3" fmla="*/ 2136058 w 2640315"/>
                <a:gd name="connsiteY3" fmla="*/ 1504132 h 1504136"/>
                <a:gd name="connsiteX4" fmla="*/ 504257 w 2640315"/>
                <a:gd name="connsiteY4" fmla="*/ 1504132 h 1504136"/>
                <a:gd name="connsiteX5" fmla="*/ 3 w 2640315"/>
                <a:gd name="connsiteY5" fmla="*/ 574527 h 1504136"/>
                <a:gd name="connsiteX0" fmla="*/ 0 w 2640309"/>
                <a:gd name="connsiteY0" fmla="*/ 106025 h 1035630"/>
                <a:gd name="connsiteX1" fmla="*/ 1369474 w 2640309"/>
                <a:gd name="connsiteY1" fmla="*/ 0 h 1035630"/>
                <a:gd name="connsiteX2" fmla="*/ 2640309 w 2640309"/>
                <a:gd name="connsiteY2" fmla="*/ 106025 h 1035630"/>
                <a:gd name="connsiteX3" fmla="*/ 2136055 w 2640309"/>
                <a:gd name="connsiteY3" fmla="*/ 1035630 h 1035630"/>
                <a:gd name="connsiteX4" fmla="*/ 504254 w 2640309"/>
                <a:gd name="connsiteY4" fmla="*/ 1035630 h 1035630"/>
                <a:gd name="connsiteX5" fmla="*/ 0 w 2640309"/>
                <a:gd name="connsiteY5" fmla="*/ 106025 h 1035630"/>
                <a:gd name="connsiteX0" fmla="*/ 0 w 2640309"/>
                <a:gd name="connsiteY0" fmla="*/ 19722 h 949327"/>
                <a:gd name="connsiteX1" fmla="*/ 1369474 w 2640309"/>
                <a:gd name="connsiteY1" fmla="*/ 0 h 949327"/>
                <a:gd name="connsiteX2" fmla="*/ 2640309 w 2640309"/>
                <a:gd name="connsiteY2" fmla="*/ 19722 h 949327"/>
                <a:gd name="connsiteX3" fmla="*/ 2136055 w 2640309"/>
                <a:gd name="connsiteY3" fmla="*/ 949327 h 949327"/>
                <a:gd name="connsiteX4" fmla="*/ 504254 w 2640309"/>
                <a:gd name="connsiteY4" fmla="*/ 949327 h 949327"/>
                <a:gd name="connsiteX5" fmla="*/ 0 w 2640309"/>
                <a:gd name="connsiteY5" fmla="*/ 19722 h 949327"/>
                <a:gd name="connsiteX0" fmla="*/ 0 w 2640309"/>
                <a:gd name="connsiteY0" fmla="*/ 0 h 929605"/>
                <a:gd name="connsiteX1" fmla="*/ 1369474 w 2640309"/>
                <a:gd name="connsiteY1" fmla="*/ 4936 h 929605"/>
                <a:gd name="connsiteX2" fmla="*/ 2640309 w 2640309"/>
                <a:gd name="connsiteY2" fmla="*/ 0 h 929605"/>
                <a:gd name="connsiteX3" fmla="*/ 2136055 w 2640309"/>
                <a:gd name="connsiteY3" fmla="*/ 929605 h 929605"/>
                <a:gd name="connsiteX4" fmla="*/ 504254 w 2640309"/>
                <a:gd name="connsiteY4" fmla="*/ 929605 h 929605"/>
                <a:gd name="connsiteX5" fmla="*/ 0 w 2640309"/>
                <a:gd name="connsiteY5" fmla="*/ 0 h 929605"/>
                <a:gd name="connsiteX0" fmla="*/ 0 w 2640309"/>
                <a:gd name="connsiteY0" fmla="*/ 7394 h 936999"/>
                <a:gd name="connsiteX1" fmla="*/ 1369474 w 2640309"/>
                <a:gd name="connsiteY1" fmla="*/ 12330 h 936999"/>
                <a:gd name="connsiteX2" fmla="*/ 1999168 w 2640309"/>
                <a:gd name="connsiteY2" fmla="*/ 0 h 936999"/>
                <a:gd name="connsiteX3" fmla="*/ 2640309 w 2640309"/>
                <a:gd name="connsiteY3" fmla="*/ 7394 h 936999"/>
                <a:gd name="connsiteX4" fmla="*/ 2136055 w 2640309"/>
                <a:gd name="connsiteY4" fmla="*/ 936999 h 936999"/>
                <a:gd name="connsiteX5" fmla="*/ 504254 w 2640309"/>
                <a:gd name="connsiteY5" fmla="*/ 936999 h 936999"/>
                <a:gd name="connsiteX6" fmla="*/ 0 w 2640309"/>
                <a:gd name="connsiteY6" fmla="*/ 7394 h 936999"/>
                <a:gd name="connsiteX0" fmla="*/ 0 w 2640309"/>
                <a:gd name="connsiteY0" fmla="*/ 19723 h 949328"/>
                <a:gd name="connsiteX1" fmla="*/ 1369474 w 2640309"/>
                <a:gd name="connsiteY1" fmla="*/ 24659 h 949328"/>
                <a:gd name="connsiteX2" fmla="*/ 1629278 w 2640309"/>
                <a:gd name="connsiteY2" fmla="*/ 0 h 949328"/>
                <a:gd name="connsiteX3" fmla="*/ 1999168 w 2640309"/>
                <a:gd name="connsiteY3" fmla="*/ 12329 h 949328"/>
                <a:gd name="connsiteX4" fmla="*/ 2640309 w 2640309"/>
                <a:gd name="connsiteY4" fmla="*/ 19723 h 949328"/>
                <a:gd name="connsiteX5" fmla="*/ 2136055 w 2640309"/>
                <a:gd name="connsiteY5" fmla="*/ 949328 h 949328"/>
                <a:gd name="connsiteX6" fmla="*/ 504254 w 2640309"/>
                <a:gd name="connsiteY6" fmla="*/ 949328 h 949328"/>
                <a:gd name="connsiteX7" fmla="*/ 0 w 2640309"/>
                <a:gd name="connsiteY7" fmla="*/ 19723 h 949328"/>
                <a:gd name="connsiteX0" fmla="*/ 0 w 2640309"/>
                <a:gd name="connsiteY0" fmla="*/ 7394 h 936999"/>
                <a:gd name="connsiteX1" fmla="*/ 1369474 w 2640309"/>
                <a:gd name="connsiteY1" fmla="*/ 12330 h 936999"/>
                <a:gd name="connsiteX2" fmla="*/ 1777235 w 2640309"/>
                <a:gd name="connsiteY2" fmla="*/ 320554 h 936999"/>
                <a:gd name="connsiteX3" fmla="*/ 1999168 w 2640309"/>
                <a:gd name="connsiteY3" fmla="*/ 0 h 936999"/>
                <a:gd name="connsiteX4" fmla="*/ 2640309 w 2640309"/>
                <a:gd name="connsiteY4" fmla="*/ 7394 h 936999"/>
                <a:gd name="connsiteX5" fmla="*/ 2136055 w 2640309"/>
                <a:gd name="connsiteY5" fmla="*/ 936999 h 936999"/>
                <a:gd name="connsiteX6" fmla="*/ 504254 w 2640309"/>
                <a:gd name="connsiteY6" fmla="*/ 936999 h 936999"/>
                <a:gd name="connsiteX7" fmla="*/ 0 w 2640309"/>
                <a:gd name="connsiteY7" fmla="*/ 7394 h 936999"/>
                <a:gd name="connsiteX0" fmla="*/ 0 w 2640309"/>
                <a:gd name="connsiteY0" fmla="*/ 7394 h 936999"/>
                <a:gd name="connsiteX1" fmla="*/ 655233 w 2640309"/>
                <a:gd name="connsiteY1" fmla="*/ 12329 h 936999"/>
                <a:gd name="connsiteX2" fmla="*/ 1369474 w 2640309"/>
                <a:gd name="connsiteY2" fmla="*/ 12330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7394 h 936999"/>
                <a:gd name="connsiteX1" fmla="*/ 655233 w 2640309"/>
                <a:gd name="connsiteY1" fmla="*/ 12329 h 936999"/>
                <a:gd name="connsiteX2" fmla="*/ 839298 w 2640309"/>
                <a:gd name="connsiteY2" fmla="*/ 320555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0 h 929605"/>
                <a:gd name="connsiteX1" fmla="*/ 65523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 name="connsiteX0" fmla="*/ 0 w 2640309"/>
                <a:gd name="connsiteY0" fmla="*/ 0 h 929605"/>
                <a:gd name="connsiteX1" fmla="*/ 66756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0309" h="929605">
                  <a:moveTo>
                    <a:pt x="0" y="0"/>
                  </a:moveTo>
                  <a:lnTo>
                    <a:pt x="667563" y="4935"/>
                  </a:lnTo>
                  <a:lnTo>
                    <a:pt x="839298" y="313161"/>
                  </a:lnTo>
                  <a:lnTo>
                    <a:pt x="1777235" y="313160"/>
                  </a:lnTo>
                  <a:lnTo>
                    <a:pt x="1986839" y="4935"/>
                  </a:lnTo>
                  <a:lnTo>
                    <a:pt x="2640309" y="0"/>
                  </a:lnTo>
                  <a:lnTo>
                    <a:pt x="2136055" y="929605"/>
                  </a:lnTo>
                  <a:lnTo>
                    <a:pt x="504254" y="929605"/>
                  </a:lnTo>
                  <a:lnTo>
                    <a:pt x="0" y="0"/>
                  </a:lnTo>
                  <a:close/>
                </a:path>
              </a:pathLst>
            </a:custGeom>
            <a:no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2" name="Straight Arrow Connector 11"/>
            <p:cNvCxnSpPr/>
            <p:nvPr/>
          </p:nvCxnSpPr>
          <p:spPr>
            <a:xfrm>
              <a:off x="3698909" y="3947246"/>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5602122" y="3947246"/>
              <a:ext cx="0" cy="36151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490474" y="3454624"/>
              <a:ext cx="417790" cy="553998"/>
            </a:xfrm>
            <a:prstGeom prst="rect">
              <a:avLst/>
            </a:prstGeom>
          </p:spPr>
          <p:txBody>
            <a:bodyPr wrap="none">
              <a:spAutoFit/>
            </a:bodyPr>
            <a:lstStyle/>
            <a:p>
              <a:r>
                <a:rPr lang="pt-BR" sz="3000" b="1" dirty="0"/>
                <a:t>A</a:t>
              </a:r>
            </a:p>
          </p:txBody>
        </p:sp>
        <p:sp>
          <p:nvSpPr>
            <p:cNvPr id="19" name="Rectangle 18"/>
            <p:cNvSpPr/>
            <p:nvPr/>
          </p:nvSpPr>
          <p:spPr>
            <a:xfrm>
              <a:off x="5405557" y="3454624"/>
              <a:ext cx="400320" cy="553998"/>
            </a:xfrm>
            <a:prstGeom prst="rect">
              <a:avLst/>
            </a:prstGeom>
          </p:spPr>
          <p:txBody>
            <a:bodyPr wrap="none">
              <a:spAutoFit/>
            </a:bodyPr>
            <a:lstStyle/>
            <a:p>
              <a:r>
                <a:rPr lang="pt-BR" sz="3000" b="1" dirty="0"/>
                <a:t>B</a:t>
              </a:r>
            </a:p>
          </p:txBody>
        </p:sp>
        <p:cxnSp>
          <p:nvCxnSpPr>
            <p:cNvPr id="22" name="Straight Arrow Connector 21"/>
            <p:cNvCxnSpPr/>
            <p:nvPr/>
          </p:nvCxnSpPr>
          <p:spPr>
            <a:xfrm>
              <a:off x="4652738" y="5303431"/>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703353" y="5589778"/>
              <a:ext cx="1898770" cy="553998"/>
            </a:xfrm>
            <a:prstGeom prst="rect">
              <a:avLst/>
            </a:prstGeom>
          </p:spPr>
          <p:txBody>
            <a:bodyPr wrap="square">
              <a:spAutoFit/>
            </a:bodyPr>
            <a:lstStyle/>
            <a:p>
              <a:pPr algn="ctr"/>
              <a:r>
                <a:rPr lang="pt-BR" sz="3000" b="1"/>
                <a:t>Resultado</a:t>
              </a:r>
              <a:endParaRPr lang="pt-BR" sz="3000" b="1" dirty="0"/>
            </a:p>
          </p:txBody>
        </p:sp>
        <p:cxnSp>
          <p:nvCxnSpPr>
            <p:cNvPr id="15" name="Straight Arrow Connector 14"/>
            <p:cNvCxnSpPr/>
            <p:nvPr/>
          </p:nvCxnSpPr>
          <p:spPr>
            <a:xfrm>
              <a:off x="2817609" y="4927625"/>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614348" y="4686824"/>
              <a:ext cx="1256173" cy="461665"/>
            </a:xfrm>
            <a:prstGeom prst="rect">
              <a:avLst/>
            </a:prstGeom>
          </p:spPr>
          <p:txBody>
            <a:bodyPr wrap="none">
              <a:spAutoFit/>
            </a:bodyPr>
            <a:lstStyle/>
            <a:p>
              <a:r>
                <a:rPr lang="pt-BR" sz="2400" b="1" dirty="0"/>
                <a:t>controle</a:t>
              </a:r>
            </a:p>
          </p:txBody>
        </p:sp>
      </p:grpSp>
      <p:cxnSp>
        <p:nvCxnSpPr>
          <p:cNvPr id="17" name="Straight Arrow Connector 16"/>
          <p:cNvCxnSpPr/>
          <p:nvPr/>
        </p:nvCxnSpPr>
        <p:spPr>
          <a:xfrm>
            <a:off x="5766121" y="4809092"/>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548485" y="4545291"/>
            <a:ext cx="803425" cy="461665"/>
          </a:xfrm>
          <a:prstGeom prst="rect">
            <a:avLst/>
          </a:prstGeom>
        </p:spPr>
        <p:txBody>
          <a:bodyPr wrap="none">
            <a:spAutoFit/>
          </a:bodyPr>
          <a:lstStyle/>
          <a:p>
            <a:r>
              <a:rPr lang="en-US" sz="2400" b="1" i="1" dirty="0"/>
              <a:t>flags</a:t>
            </a:r>
          </a:p>
        </p:txBody>
      </p:sp>
    </p:spTree>
    <p:extLst>
      <p:ext uri="{BB962C8B-B14F-4D97-AF65-F5344CB8AC3E}">
        <p14:creationId xmlns:p14="http://schemas.microsoft.com/office/powerpoint/2010/main" val="353931037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Meio-somador (Half </a:t>
            </a:r>
            <a:r>
              <a:rPr lang="pt-BR" dirty="0" err="1"/>
              <a:t>Adder</a:t>
            </a:r>
            <a:r>
              <a:rPr lang="pt-BR" dirty="0"/>
              <a:t>)</a:t>
            </a:r>
            <a:endParaRPr lang="en-US" dirty="0"/>
          </a:p>
        </p:txBody>
      </p:sp>
      <p:sp>
        <p:nvSpPr>
          <p:cNvPr id="3" name="Content Placeholder 2"/>
          <p:cNvSpPr>
            <a:spLocks noGrp="1"/>
          </p:cNvSpPr>
          <p:nvPr>
            <p:ph idx="1"/>
          </p:nvPr>
        </p:nvSpPr>
        <p:spPr>
          <a:xfrm>
            <a:off x="657225" y="1485900"/>
            <a:ext cx="8029575" cy="709212"/>
          </a:xfrm>
        </p:spPr>
        <p:txBody>
          <a:bodyPr/>
          <a:lstStyle/>
          <a:p>
            <a:r>
              <a:rPr lang="pt-BR" dirty="0"/>
              <a:t>Adição binária é uma operação fundamental para quase todas as computações feitas em uma CPU:</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graphicFrame>
        <p:nvGraphicFramePr>
          <p:cNvPr id="10" name="Table 9"/>
          <p:cNvGraphicFramePr>
            <a:graphicFrameLocks noGrp="1"/>
          </p:cNvGraphicFramePr>
          <p:nvPr>
            <p:extLst>
              <p:ext uri="{D42A27DB-BD31-4B8C-83A1-F6EECF244321}">
                <p14:modId xmlns:p14="http://schemas.microsoft.com/office/powerpoint/2010/main" val="644282228"/>
              </p:ext>
            </p:extLst>
          </p:nvPr>
        </p:nvGraphicFramePr>
        <p:xfrm>
          <a:off x="1431564" y="2837479"/>
          <a:ext cx="1135639" cy="1854200"/>
        </p:xfrm>
        <a:graphic>
          <a:graphicData uri="http://schemas.openxmlformats.org/drawingml/2006/table">
            <a:tbl>
              <a:tblPr>
                <a:tableStyleId>{5C22544A-7EE6-4342-B048-85BDC9FD1C3A}</a:tableStyleId>
              </a:tblPr>
              <a:tblGrid>
                <a:gridCol w="452542">
                  <a:extLst>
                    <a:ext uri="{9D8B030D-6E8A-4147-A177-3AD203B41FA5}">
                      <a16:colId xmlns:a16="http://schemas.microsoft.com/office/drawing/2014/main" val="20000"/>
                    </a:ext>
                  </a:extLst>
                </a:gridCol>
                <a:gridCol w="221002">
                  <a:extLst>
                    <a:ext uri="{9D8B030D-6E8A-4147-A177-3AD203B41FA5}">
                      <a16:colId xmlns:a16="http://schemas.microsoft.com/office/drawing/2014/main" val="20001"/>
                    </a:ext>
                  </a:extLst>
                </a:gridCol>
                <a:gridCol w="462095">
                  <a:extLst>
                    <a:ext uri="{9D8B030D-6E8A-4147-A177-3AD203B41FA5}">
                      <a16:colId xmlns:a16="http://schemas.microsoft.com/office/drawing/2014/main" val="20002"/>
                    </a:ext>
                  </a:extLst>
                </a:gridCol>
              </a:tblGrid>
              <a:tr h="370840">
                <a:tc>
                  <a:txBody>
                    <a:bodyPr/>
                    <a:lstStyle/>
                    <a:p>
                      <a:pPr algn="ctr"/>
                      <a:r>
                        <a:rPr lang="pt-BR" sz="2400" b="1" dirty="0"/>
                        <a:t>a</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b</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pSp>
        <p:nvGrpSpPr>
          <p:cNvPr id="50" name="Group 49"/>
          <p:cNvGrpSpPr/>
          <p:nvPr/>
        </p:nvGrpSpPr>
        <p:grpSpPr>
          <a:xfrm>
            <a:off x="308243" y="4653099"/>
            <a:ext cx="2724860" cy="1161977"/>
            <a:chOff x="308243" y="4653099"/>
            <a:chExt cx="2724860" cy="1161977"/>
          </a:xfrm>
        </p:grpSpPr>
        <p:sp>
          <p:nvSpPr>
            <p:cNvPr id="11" name="Rectangle 10"/>
            <p:cNvSpPr/>
            <p:nvPr/>
          </p:nvSpPr>
          <p:spPr>
            <a:xfrm>
              <a:off x="308243" y="5230300"/>
              <a:ext cx="2724860" cy="584776"/>
            </a:xfrm>
            <a:prstGeom prst="rect">
              <a:avLst/>
            </a:prstGeom>
            <a:ln>
              <a:solidFill>
                <a:schemeClr val="tx1"/>
              </a:solidFill>
            </a:ln>
          </p:spPr>
          <p:txBody>
            <a:bodyPr wrap="square">
              <a:spAutoFit/>
            </a:bodyPr>
            <a:lstStyle/>
            <a:p>
              <a:pPr algn="ctr"/>
              <a:r>
                <a:rPr lang="pt-BR" sz="1600" dirty="0"/>
                <a:t>Operador aritmético de soma.</a:t>
              </a:r>
            </a:p>
            <a:p>
              <a:pPr algn="ctr"/>
              <a:r>
                <a:rPr lang="pt-BR" sz="1600" dirty="0"/>
                <a:t>Não é o operador lógico OR.</a:t>
              </a:r>
            </a:p>
          </p:txBody>
        </p:sp>
        <p:cxnSp>
          <p:nvCxnSpPr>
            <p:cNvPr id="15" name="Curved Connector 14"/>
            <p:cNvCxnSpPr>
              <a:stCxn id="11" idx="0"/>
            </p:cNvCxnSpPr>
            <p:nvPr/>
          </p:nvCxnSpPr>
          <p:spPr>
            <a:xfrm rot="5400000" flipH="1" flipV="1">
              <a:off x="1542607" y="4781164"/>
              <a:ext cx="577202" cy="32107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17" name="Table 16"/>
          <p:cNvGraphicFramePr>
            <a:graphicFrameLocks noGrp="1"/>
          </p:cNvGraphicFramePr>
          <p:nvPr>
            <p:extLst>
              <p:ext uri="{D42A27DB-BD31-4B8C-83A1-F6EECF244321}">
                <p14:modId xmlns:p14="http://schemas.microsoft.com/office/powerpoint/2010/main" val="2571687631"/>
              </p:ext>
            </p:extLst>
          </p:nvPr>
        </p:nvGraphicFramePr>
        <p:xfrm>
          <a:off x="2821727" y="2837479"/>
          <a:ext cx="735597" cy="1854200"/>
        </p:xfrm>
        <a:graphic>
          <a:graphicData uri="http://schemas.openxmlformats.org/drawingml/2006/table">
            <a:tbl>
              <a:tblPr>
                <a:tableStyleId>{5C22544A-7EE6-4342-B048-85BDC9FD1C3A}</a:tableStyleId>
              </a:tblPr>
              <a:tblGrid>
                <a:gridCol w="735597">
                  <a:extLst>
                    <a:ext uri="{9D8B030D-6E8A-4147-A177-3AD203B41FA5}">
                      <a16:colId xmlns:a16="http://schemas.microsoft.com/office/drawing/2014/main" val="20000"/>
                    </a:ext>
                  </a:extLst>
                </a:gridCol>
              </a:tblGrid>
              <a:tr h="370840">
                <a:tc>
                  <a:txBody>
                    <a:bodyPr/>
                    <a:lstStyle/>
                    <a:p>
                      <a:pPr algn="ctr"/>
                      <a:r>
                        <a:rPr lang="pt-BR" sz="2400" b="1" dirty="0"/>
                        <a:t>soma</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2400" baseline="30000" dirty="0"/>
                        <a:t>   </a:t>
                      </a:r>
                      <a:r>
                        <a:rPr lang="pt-BR" sz="1800" baseline="30000" dirty="0"/>
                        <a:t> </a:t>
                      </a:r>
                      <a:r>
                        <a:rPr lang="pt-BR" sz="2000" baseline="50000" dirty="0"/>
                        <a:t>1</a:t>
                      </a:r>
                      <a:r>
                        <a:rPr lang="pt-BR" sz="2400" baseline="30000" dirty="0"/>
                        <a:t> </a:t>
                      </a:r>
                      <a:r>
                        <a:rPr lang="pt-BR" sz="2400" dirty="0"/>
                        <a:t>0 </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cxnSp>
        <p:nvCxnSpPr>
          <p:cNvPr id="19" name="Straight Connector 18"/>
          <p:cNvCxnSpPr/>
          <p:nvPr/>
        </p:nvCxnSpPr>
        <p:spPr>
          <a:xfrm>
            <a:off x="2702320" y="2837479"/>
            <a:ext cx="0" cy="185420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504139723"/>
              </p:ext>
            </p:extLst>
          </p:nvPr>
        </p:nvGraphicFramePr>
        <p:xfrm>
          <a:off x="3786586" y="2837479"/>
          <a:ext cx="747921" cy="1854200"/>
        </p:xfrm>
        <a:graphic>
          <a:graphicData uri="http://schemas.openxmlformats.org/drawingml/2006/table">
            <a:tbl>
              <a:tblPr>
                <a:tableStyleId>{5C22544A-7EE6-4342-B048-85BDC9FD1C3A}</a:tableStyleId>
              </a:tblPr>
              <a:tblGrid>
                <a:gridCol w="747921">
                  <a:extLst>
                    <a:ext uri="{9D8B030D-6E8A-4147-A177-3AD203B41FA5}">
                      <a16:colId xmlns:a16="http://schemas.microsoft.com/office/drawing/2014/main" val="20000"/>
                    </a:ext>
                  </a:extLst>
                </a:gridCol>
              </a:tblGrid>
              <a:tr h="370840">
                <a:tc>
                  <a:txBody>
                    <a:bodyPr/>
                    <a:lstStyle/>
                    <a:p>
                      <a:pPr algn="ctr"/>
                      <a:r>
                        <a:rPr lang="en-US" sz="2400" b="1" noProof="0" dirty="0"/>
                        <a:t>carry</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cxnSp>
        <p:nvCxnSpPr>
          <p:cNvPr id="21" name="Straight Connector 20"/>
          <p:cNvCxnSpPr/>
          <p:nvPr/>
        </p:nvCxnSpPr>
        <p:spPr>
          <a:xfrm>
            <a:off x="3667179" y="2837479"/>
            <a:ext cx="0" cy="185420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486784" y="2440535"/>
            <a:ext cx="2766000" cy="400110"/>
          </a:xfrm>
          <a:prstGeom prst="rect">
            <a:avLst/>
          </a:prstGeom>
        </p:spPr>
        <p:txBody>
          <a:bodyPr wrap="square">
            <a:spAutoFit/>
          </a:bodyPr>
          <a:lstStyle/>
          <a:p>
            <a:r>
              <a:rPr lang="pt-BR" sz="2000" i="1" dirty="0">
                <a:solidFill>
                  <a:schemeClr val="tx2">
                    <a:lumMod val="75000"/>
                  </a:schemeClr>
                </a:solidFill>
              </a:rPr>
              <a:t>Entradas              Saídas</a:t>
            </a:r>
          </a:p>
        </p:txBody>
      </p:sp>
      <p:sp>
        <p:nvSpPr>
          <p:cNvPr id="23" name="Rectangle 22"/>
          <p:cNvSpPr/>
          <p:nvPr/>
        </p:nvSpPr>
        <p:spPr>
          <a:xfrm>
            <a:off x="5727995" y="3587873"/>
            <a:ext cx="1432234" cy="112132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2800" b="1" dirty="0"/>
          </a:p>
        </p:txBody>
      </p:sp>
      <p:grpSp>
        <p:nvGrpSpPr>
          <p:cNvPr id="33" name="Group 32"/>
          <p:cNvGrpSpPr/>
          <p:nvPr/>
        </p:nvGrpSpPr>
        <p:grpSpPr>
          <a:xfrm>
            <a:off x="4878783" y="3605856"/>
            <a:ext cx="849212" cy="523220"/>
            <a:chOff x="5014838" y="2963157"/>
            <a:chExt cx="849212" cy="523220"/>
          </a:xfrm>
        </p:grpSpPr>
        <p:cxnSp>
          <p:nvCxnSpPr>
            <p:cNvPr id="25" name="Straight Arrow Connector 24"/>
            <p:cNvCxnSpPr/>
            <p:nvPr/>
          </p:nvCxnSpPr>
          <p:spPr>
            <a:xfrm>
              <a:off x="5296562" y="325590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6" name="Rectangle 25"/>
            <p:cNvSpPr/>
            <p:nvPr/>
          </p:nvSpPr>
          <p:spPr>
            <a:xfrm>
              <a:off x="5014838" y="2963157"/>
              <a:ext cx="356663" cy="523220"/>
            </a:xfrm>
            <a:prstGeom prst="rect">
              <a:avLst/>
            </a:prstGeom>
          </p:spPr>
          <p:txBody>
            <a:bodyPr wrap="none">
              <a:spAutoFit/>
            </a:bodyPr>
            <a:lstStyle/>
            <a:p>
              <a:r>
                <a:rPr lang="pt-BR" sz="2800" dirty="0"/>
                <a:t>a</a:t>
              </a:r>
            </a:p>
          </p:txBody>
        </p:sp>
      </p:grpSp>
      <p:grpSp>
        <p:nvGrpSpPr>
          <p:cNvPr id="34" name="Group 33"/>
          <p:cNvGrpSpPr/>
          <p:nvPr/>
        </p:nvGrpSpPr>
        <p:grpSpPr>
          <a:xfrm>
            <a:off x="4888615" y="4111841"/>
            <a:ext cx="849212" cy="523220"/>
            <a:chOff x="5024670" y="3469142"/>
            <a:chExt cx="849212" cy="523220"/>
          </a:xfrm>
        </p:grpSpPr>
        <p:cxnSp>
          <p:nvCxnSpPr>
            <p:cNvPr id="27" name="Straight Arrow Connector 26"/>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8" name="Rectangle 27"/>
            <p:cNvSpPr/>
            <p:nvPr/>
          </p:nvSpPr>
          <p:spPr>
            <a:xfrm>
              <a:off x="5024670" y="3469142"/>
              <a:ext cx="373319" cy="523220"/>
            </a:xfrm>
            <a:prstGeom prst="rect">
              <a:avLst/>
            </a:prstGeom>
          </p:spPr>
          <p:txBody>
            <a:bodyPr wrap="none">
              <a:spAutoFit/>
            </a:bodyPr>
            <a:lstStyle/>
            <a:p>
              <a:r>
                <a:rPr lang="pt-BR" sz="2800" dirty="0"/>
                <a:t>b</a:t>
              </a:r>
            </a:p>
          </p:txBody>
        </p:sp>
      </p:grpSp>
      <p:grpSp>
        <p:nvGrpSpPr>
          <p:cNvPr id="32" name="Group 31"/>
          <p:cNvGrpSpPr/>
          <p:nvPr/>
        </p:nvGrpSpPr>
        <p:grpSpPr>
          <a:xfrm>
            <a:off x="7160229" y="4067521"/>
            <a:ext cx="1513757" cy="523220"/>
            <a:chOff x="7296284" y="3477015"/>
            <a:chExt cx="1513757" cy="523220"/>
          </a:xfrm>
        </p:grpSpPr>
        <p:cxnSp>
          <p:nvCxnSpPr>
            <p:cNvPr id="29" name="Straight Arrow Connector 28"/>
            <p:cNvCxnSpPr/>
            <p:nvPr/>
          </p:nvCxnSpPr>
          <p:spPr>
            <a:xfrm>
              <a:off x="729628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0" name="Rectangle 29"/>
            <p:cNvSpPr/>
            <p:nvPr/>
          </p:nvSpPr>
          <p:spPr>
            <a:xfrm>
              <a:off x="7836748" y="3477015"/>
              <a:ext cx="973293" cy="523220"/>
            </a:xfrm>
            <a:prstGeom prst="rect">
              <a:avLst/>
            </a:prstGeom>
          </p:spPr>
          <p:txBody>
            <a:bodyPr wrap="none">
              <a:spAutoFit/>
            </a:bodyPr>
            <a:lstStyle/>
            <a:p>
              <a:r>
                <a:rPr lang="pt-BR" sz="2800" dirty="0"/>
                <a:t>soma</a:t>
              </a:r>
            </a:p>
          </p:txBody>
        </p:sp>
      </p:grpSp>
      <p:sp>
        <p:nvSpPr>
          <p:cNvPr id="31" name="Rectangle 30"/>
          <p:cNvSpPr/>
          <p:nvPr/>
        </p:nvSpPr>
        <p:spPr>
          <a:xfrm>
            <a:off x="5727995" y="3593969"/>
            <a:ext cx="1432234" cy="1077218"/>
          </a:xfrm>
          <a:prstGeom prst="rect">
            <a:avLst/>
          </a:prstGeom>
        </p:spPr>
        <p:txBody>
          <a:bodyPr wrap="square">
            <a:spAutoFit/>
          </a:bodyPr>
          <a:lstStyle/>
          <a:p>
            <a:pPr algn="ctr"/>
            <a:r>
              <a:rPr lang="en-US" sz="3200" b="1" dirty="0">
                <a:solidFill>
                  <a:schemeClr val="bg1">
                    <a:lumMod val="95000"/>
                  </a:schemeClr>
                </a:solidFill>
              </a:rPr>
              <a:t>Half</a:t>
            </a:r>
          </a:p>
          <a:p>
            <a:pPr algn="ctr"/>
            <a:r>
              <a:rPr lang="en-US" sz="3200" b="1" dirty="0">
                <a:solidFill>
                  <a:schemeClr val="bg1">
                    <a:lumMod val="95000"/>
                  </a:schemeClr>
                </a:solidFill>
              </a:rPr>
              <a:t>Adder</a:t>
            </a:r>
          </a:p>
        </p:txBody>
      </p:sp>
      <p:grpSp>
        <p:nvGrpSpPr>
          <p:cNvPr id="35" name="Group 34"/>
          <p:cNvGrpSpPr/>
          <p:nvPr/>
        </p:nvGrpSpPr>
        <p:grpSpPr>
          <a:xfrm>
            <a:off x="7160761" y="3623634"/>
            <a:ext cx="1531960" cy="523220"/>
            <a:chOff x="7320072" y="3422975"/>
            <a:chExt cx="1531960" cy="523220"/>
          </a:xfrm>
        </p:grpSpPr>
        <p:cxnSp>
          <p:nvCxnSpPr>
            <p:cNvPr id="36" name="Straight Arrow Connector 35"/>
            <p:cNvCxnSpPr/>
            <p:nvPr/>
          </p:nvCxnSpPr>
          <p:spPr>
            <a:xfrm>
              <a:off x="7320072" y="369794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7" name="Rectangle 36"/>
            <p:cNvSpPr/>
            <p:nvPr/>
          </p:nvSpPr>
          <p:spPr>
            <a:xfrm>
              <a:off x="7836748" y="3422975"/>
              <a:ext cx="1015284" cy="523220"/>
            </a:xfrm>
            <a:prstGeom prst="rect">
              <a:avLst/>
            </a:prstGeom>
          </p:spPr>
          <p:txBody>
            <a:bodyPr wrap="none">
              <a:spAutoFit/>
            </a:bodyPr>
            <a:lstStyle/>
            <a:p>
              <a:r>
                <a:rPr lang="en-US" sz="2800" i="1" dirty="0"/>
                <a:t>carry</a:t>
              </a:r>
            </a:p>
          </p:txBody>
        </p:sp>
      </p:grpSp>
      <p:grpSp>
        <p:nvGrpSpPr>
          <p:cNvPr id="49" name="Group 48"/>
          <p:cNvGrpSpPr/>
          <p:nvPr/>
        </p:nvGrpSpPr>
        <p:grpSpPr>
          <a:xfrm>
            <a:off x="4115932" y="4691679"/>
            <a:ext cx="580880" cy="1016212"/>
            <a:chOff x="3964663" y="4691679"/>
            <a:chExt cx="580880" cy="1016212"/>
          </a:xfrm>
        </p:grpSpPr>
        <p:cxnSp>
          <p:nvCxnSpPr>
            <p:cNvPr id="43" name="Curved Connector 42"/>
            <p:cNvCxnSpPr/>
            <p:nvPr/>
          </p:nvCxnSpPr>
          <p:spPr>
            <a:xfrm rot="16200000" flipV="1">
              <a:off x="3844868" y="4811474"/>
              <a:ext cx="538621" cy="29903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pic>
          <p:nvPicPr>
            <p:cNvPr id="45" name="Picture 44" descr="Half_Adder.svg.png"/>
            <p:cNvPicPr>
              <a:picLocks noChangeAspect="1"/>
            </p:cNvPicPr>
            <p:nvPr/>
          </p:nvPicPr>
          <p:blipFill rotWithShape="1">
            <a:blip r:embed="rId4">
              <a:extLst>
                <a:ext uri="{28A0092B-C50C-407E-A947-70E740481C1C}">
                  <a14:useLocalDpi xmlns:a14="http://schemas.microsoft.com/office/drawing/2010/main" val="0"/>
                </a:ext>
              </a:extLst>
            </a:blip>
            <a:srcRect l="41206" t="54034" r="23243"/>
            <a:stretch/>
          </p:blipFill>
          <p:spPr>
            <a:xfrm>
              <a:off x="4027185" y="5335547"/>
              <a:ext cx="518358" cy="372344"/>
            </a:xfrm>
            <a:prstGeom prst="rect">
              <a:avLst/>
            </a:prstGeom>
          </p:spPr>
        </p:pic>
      </p:grpSp>
      <p:grpSp>
        <p:nvGrpSpPr>
          <p:cNvPr id="48" name="Group 47"/>
          <p:cNvGrpSpPr/>
          <p:nvPr/>
        </p:nvGrpSpPr>
        <p:grpSpPr>
          <a:xfrm>
            <a:off x="3202529" y="4691679"/>
            <a:ext cx="543229" cy="1020452"/>
            <a:chOff x="3105894" y="4691679"/>
            <a:chExt cx="543229" cy="1020452"/>
          </a:xfrm>
        </p:grpSpPr>
        <p:cxnSp>
          <p:nvCxnSpPr>
            <p:cNvPr id="41" name="Curved Connector 40"/>
            <p:cNvCxnSpPr/>
            <p:nvPr/>
          </p:nvCxnSpPr>
          <p:spPr>
            <a:xfrm rot="16200000" flipV="1">
              <a:off x="2986099" y="4811474"/>
              <a:ext cx="538621" cy="29903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pic>
          <p:nvPicPr>
            <p:cNvPr id="47" name="Picture 46" descr="Half_Adder.svg.png"/>
            <p:cNvPicPr>
              <a:picLocks noChangeAspect="1"/>
            </p:cNvPicPr>
            <p:nvPr/>
          </p:nvPicPr>
          <p:blipFill rotWithShape="1">
            <a:blip r:embed="rId4">
              <a:extLst>
                <a:ext uri="{28A0092B-C50C-407E-A947-70E740481C1C}">
                  <a14:useLocalDpi xmlns:a14="http://schemas.microsoft.com/office/drawing/2010/main" val="0"/>
                </a:ext>
              </a:extLst>
            </a:blip>
            <a:srcRect l="41206" r="23243" b="55275"/>
            <a:stretch/>
          </p:blipFill>
          <p:spPr>
            <a:xfrm>
              <a:off x="3130764" y="5349842"/>
              <a:ext cx="518359" cy="362289"/>
            </a:xfrm>
            <a:prstGeom prst="rect">
              <a:avLst/>
            </a:prstGeom>
          </p:spPr>
        </p:pic>
      </p:grpSp>
      <p:sp>
        <p:nvSpPr>
          <p:cNvPr id="7" name="TextBox 6">
            <a:extLst>
              <a:ext uri="{FF2B5EF4-FFF2-40B4-BE49-F238E27FC236}">
                <a16:creationId xmlns:a16="http://schemas.microsoft.com/office/drawing/2014/main" id="{AD6005B6-B59E-6BA7-D265-DE419B50E865}"/>
              </a:ext>
            </a:extLst>
          </p:cNvPr>
          <p:cNvSpPr txBox="1"/>
          <p:nvPr/>
        </p:nvSpPr>
        <p:spPr>
          <a:xfrm>
            <a:off x="3177303" y="5827433"/>
            <a:ext cx="1519509" cy="830997"/>
          </a:xfrm>
          <a:prstGeom prst="rect">
            <a:avLst/>
          </a:prstGeom>
          <a:noFill/>
          <a:ln>
            <a:solidFill>
              <a:schemeClr val="tx1"/>
            </a:solidFill>
          </a:ln>
        </p:spPr>
        <p:txBody>
          <a:bodyPr wrap="square">
            <a:spAutoFit/>
          </a:bodyPr>
          <a:lstStyle/>
          <a:p>
            <a:r>
              <a:rPr lang="en-US" sz="2400" b="1" dirty="0"/>
              <a:t>S = </a:t>
            </a:r>
            <a:r>
              <a:rPr lang="en-US" sz="2400" b="1" dirty="0" err="1"/>
              <a:t>a⊕b</a:t>
            </a:r>
            <a:r>
              <a:rPr lang="en-US" sz="2400" b="1" dirty="0"/>
              <a:t> </a:t>
            </a:r>
          </a:p>
          <a:p>
            <a:r>
              <a:rPr lang="en-US" sz="2400" b="1" dirty="0"/>
              <a:t>C = </a:t>
            </a:r>
            <a:r>
              <a:rPr lang="en-US" sz="2400" b="1" dirty="0" err="1"/>
              <a:t>a⋅b</a:t>
            </a:r>
            <a:endParaRPr lang="pt-BR" sz="2400" b="1" dirty="0"/>
          </a:p>
        </p:txBody>
      </p:sp>
    </p:spTree>
    <p:custDataLst>
      <p:tags r:id="rId1"/>
    </p:custDataLst>
    <p:extLst>
      <p:ext uri="{BB962C8B-B14F-4D97-AF65-F5344CB8AC3E}">
        <p14:creationId xmlns:p14="http://schemas.microsoft.com/office/powerpoint/2010/main" val="178785768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900" decel="100000" fill="hold"/>
                                        <p:tgtEl>
                                          <p:spTgt spid="1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900" decel="100000" fill="hold"/>
                                        <p:tgtEl>
                                          <p:spTgt spid="19"/>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900" decel="100000" fill="hold"/>
                                        <p:tgtEl>
                                          <p:spTgt spid="2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900" decel="100000" fill="hold"/>
                                        <p:tgtEl>
                                          <p:spTgt spid="2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p:cTn id="41" dur="1000" fill="hold"/>
                                        <p:tgtEl>
                                          <p:spTgt spid="35"/>
                                        </p:tgtEl>
                                        <p:attrNameLst>
                                          <p:attrName>ppt_w</p:attrName>
                                        </p:attrNameLst>
                                      </p:cBhvr>
                                      <p:tavLst>
                                        <p:tav tm="0">
                                          <p:val>
                                            <p:strVal val="#ppt_w*0.70"/>
                                          </p:val>
                                        </p:tav>
                                        <p:tav tm="100000">
                                          <p:val>
                                            <p:strVal val="#ppt_w"/>
                                          </p:val>
                                        </p:tav>
                                      </p:tavLst>
                                    </p:anim>
                                    <p:anim calcmode="lin" valueType="num">
                                      <p:cBhvr>
                                        <p:cTn id="42" dur="1000" fill="hold"/>
                                        <p:tgtEl>
                                          <p:spTgt spid="35"/>
                                        </p:tgtEl>
                                        <p:attrNameLst>
                                          <p:attrName>ppt_h</p:attrName>
                                        </p:attrNameLst>
                                      </p:cBhvr>
                                      <p:tavLst>
                                        <p:tav tm="0">
                                          <p:val>
                                            <p:strVal val="#ppt_h"/>
                                          </p:val>
                                        </p:tav>
                                        <p:tav tm="100000">
                                          <p:val>
                                            <p:strVal val="#ppt_h"/>
                                          </p:val>
                                        </p:tav>
                                      </p:tavLst>
                                    </p:anim>
                                    <p:animEffect transition="in" filter="fade">
                                      <p:cBhvr>
                                        <p:cTn id="43" dur="10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dissolve">
                                      <p:cBhvr>
                                        <p:cTn id="48" dur="500"/>
                                        <p:tgtEl>
                                          <p:spTgt spid="48"/>
                                        </p:tgtEl>
                                      </p:cBhvr>
                                    </p:animEffect>
                                  </p:childTnLst>
                                </p:cTn>
                              </p:par>
                            </p:childTnLst>
                          </p:cTn>
                        </p:par>
                        <p:par>
                          <p:cTn id="49" fill="hold">
                            <p:stCondLst>
                              <p:cond delay="500"/>
                            </p:stCondLst>
                            <p:childTnLst>
                              <p:par>
                                <p:cTn id="50" presetID="9" presetClass="entr" presetSubtype="0" fill="hold" nodeType="afterEffect">
                                  <p:stCondLst>
                                    <p:cond delay="1000"/>
                                  </p:stCondLst>
                                  <p:childTnLst>
                                    <p:set>
                                      <p:cBhvr>
                                        <p:cTn id="51" dur="1" fill="hold">
                                          <p:stCondLst>
                                            <p:cond delay="0"/>
                                          </p:stCondLst>
                                        </p:cTn>
                                        <p:tgtEl>
                                          <p:spTgt spid="49"/>
                                        </p:tgtEl>
                                        <p:attrNameLst>
                                          <p:attrName>style.visibility</p:attrName>
                                        </p:attrNameLst>
                                      </p:cBhvr>
                                      <p:to>
                                        <p:strVal val="visible"/>
                                      </p:to>
                                    </p:set>
                                    <p:animEffect transition="in" filter="dissolve">
                                      <p:cBhvr>
                                        <p:cTn id="52" dur="500"/>
                                        <p:tgtEl>
                                          <p:spTgt spid="49"/>
                                        </p:tgtEl>
                                      </p:cBhvr>
                                    </p:animEffect>
                                  </p:childTnLst>
                                </p:cTn>
                              </p:par>
                            </p:childTnLst>
                          </p:cTn>
                        </p:par>
                        <p:par>
                          <p:cTn id="53" fill="hold">
                            <p:stCondLst>
                              <p:cond delay="2000"/>
                            </p:stCondLst>
                            <p:childTnLst>
                              <p:par>
                                <p:cTn id="54" presetID="3" presetClass="entr" presetSubtype="10" fill="hold" grpId="0" nodeType="afterEffect">
                                  <p:stCondLst>
                                    <p:cond delay="2000"/>
                                  </p:stCondLst>
                                  <p:childTnLst>
                                    <p:set>
                                      <p:cBhvr>
                                        <p:cTn id="55" dur="1" fill="hold">
                                          <p:stCondLst>
                                            <p:cond delay="0"/>
                                          </p:stCondLst>
                                        </p:cTn>
                                        <p:tgtEl>
                                          <p:spTgt spid="31"/>
                                        </p:tgtEl>
                                        <p:attrNameLst>
                                          <p:attrName>style.visibility</p:attrName>
                                        </p:attrNameLst>
                                      </p:cBhvr>
                                      <p:to>
                                        <p:strVal val="visible"/>
                                      </p:to>
                                    </p:set>
                                    <p:animEffect transition="in" filter="blinds(horizontal)">
                                      <p:cBhvr>
                                        <p:cTn id="56" dur="500"/>
                                        <p:tgtEl>
                                          <p:spTgt spid="31"/>
                                        </p:tgtEl>
                                      </p:cBhvr>
                                    </p:animEffect>
                                  </p:childTnLst>
                                </p:cTn>
                              </p:par>
                            </p:childTnLst>
                          </p:cTn>
                        </p:par>
                        <p:par>
                          <p:cTn id="57" fill="hold">
                            <p:stCondLst>
                              <p:cond delay="4500"/>
                            </p:stCondLst>
                            <p:childTnLst>
                              <p:par>
                                <p:cTn id="58" presetID="1"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par>
                          <p:cTn id="60" fill="hold">
                            <p:stCondLst>
                              <p:cond delay="4500"/>
                            </p:stCondLst>
                            <p:childTnLst>
                              <p:par>
                                <p:cTn id="61" presetID="1" presetClass="entr" presetSubtype="0" fill="hold" grpId="0" nodeType="after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1"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a:t>
            </a:r>
            <a:r>
              <a:rPr lang="en-US" dirty="0"/>
              <a:t>– Adders (Full)</a:t>
            </a:r>
          </a:p>
        </p:txBody>
      </p:sp>
      <p:sp>
        <p:nvSpPr>
          <p:cNvPr id="3" name="Content Placeholder 2"/>
          <p:cNvSpPr>
            <a:spLocks noGrp="1"/>
          </p:cNvSpPr>
          <p:nvPr>
            <p:ph idx="1"/>
          </p:nvPr>
        </p:nvSpPr>
        <p:spPr>
          <a:xfrm>
            <a:off x="657225" y="1485900"/>
            <a:ext cx="8029575" cy="648676"/>
          </a:xfrm>
        </p:spPr>
        <p:txBody>
          <a:bodyPr/>
          <a:lstStyle/>
          <a:p>
            <a:r>
              <a:rPr lang="pt-BR" dirty="0"/>
              <a:t>Faz a adição de três bits, retornando a soma e o </a:t>
            </a:r>
            <a:r>
              <a:rPr lang="en-US" i="1" dirty="0"/>
              <a:t>carry</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graphicFrame>
        <p:nvGraphicFramePr>
          <p:cNvPr id="10" name="Table 9"/>
          <p:cNvGraphicFramePr>
            <a:graphicFrameLocks noGrp="1"/>
          </p:cNvGraphicFramePr>
          <p:nvPr>
            <p:extLst>
              <p:ext uri="{D42A27DB-BD31-4B8C-83A1-F6EECF244321}">
                <p14:modId xmlns:p14="http://schemas.microsoft.com/office/powerpoint/2010/main" val="3539463675"/>
              </p:ext>
            </p:extLst>
          </p:nvPr>
        </p:nvGraphicFramePr>
        <p:xfrm>
          <a:off x="1013374" y="2675359"/>
          <a:ext cx="1553828" cy="3337560"/>
        </p:xfrm>
        <a:graphic>
          <a:graphicData uri="http://schemas.openxmlformats.org/drawingml/2006/table">
            <a:tbl>
              <a:tblPr>
                <a:tableStyleId>{5C22544A-7EE6-4342-B048-85BDC9FD1C3A}</a:tableStyleId>
              </a:tblPr>
              <a:tblGrid>
                <a:gridCol w="351301">
                  <a:extLst>
                    <a:ext uri="{9D8B030D-6E8A-4147-A177-3AD203B41FA5}">
                      <a16:colId xmlns:a16="http://schemas.microsoft.com/office/drawing/2014/main" val="20000"/>
                    </a:ext>
                  </a:extLst>
                </a:gridCol>
                <a:gridCol w="189163">
                  <a:extLst>
                    <a:ext uri="{9D8B030D-6E8A-4147-A177-3AD203B41FA5}">
                      <a16:colId xmlns:a16="http://schemas.microsoft.com/office/drawing/2014/main" val="20001"/>
                    </a:ext>
                  </a:extLst>
                </a:gridCol>
                <a:gridCol w="405349">
                  <a:extLst>
                    <a:ext uri="{9D8B030D-6E8A-4147-A177-3AD203B41FA5}">
                      <a16:colId xmlns:a16="http://schemas.microsoft.com/office/drawing/2014/main" val="20002"/>
                    </a:ext>
                  </a:extLst>
                </a:gridCol>
                <a:gridCol w="189163">
                  <a:extLst>
                    <a:ext uri="{9D8B030D-6E8A-4147-A177-3AD203B41FA5}">
                      <a16:colId xmlns:a16="http://schemas.microsoft.com/office/drawing/2014/main" val="20003"/>
                    </a:ext>
                  </a:extLst>
                </a:gridCol>
                <a:gridCol w="418852">
                  <a:extLst>
                    <a:ext uri="{9D8B030D-6E8A-4147-A177-3AD203B41FA5}">
                      <a16:colId xmlns:a16="http://schemas.microsoft.com/office/drawing/2014/main" val="20004"/>
                    </a:ext>
                  </a:extLst>
                </a:gridCol>
              </a:tblGrid>
              <a:tr h="370840">
                <a:tc>
                  <a:txBody>
                    <a:bodyPr/>
                    <a:lstStyle/>
                    <a:p>
                      <a:pPr algn="ctr"/>
                      <a:r>
                        <a:rPr lang="pt-BR" sz="2400" b="1" dirty="0"/>
                        <a:t>a</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b</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c</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143750862"/>
              </p:ext>
            </p:extLst>
          </p:nvPr>
        </p:nvGraphicFramePr>
        <p:xfrm>
          <a:off x="2821727" y="2675359"/>
          <a:ext cx="735597" cy="3337560"/>
        </p:xfrm>
        <a:graphic>
          <a:graphicData uri="http://schemas.openxmlformats.org/drawingml/2006/table">
            <a:tbl>
              <a:tblPr>
                <a:tableStyleId>{5C22544A-7EE6-4342-B048-85BDC9FD1C3A}</a:tableStyleId>
              </a:tblPr>
              <a:tblGrid>
                <a:gridCol w="735597">
                  <a:extLst>
                    <a:ext uri="{9D8B030D-6E8A-4147-A177-3AD203B41FA5}">
                      <a16:colId xmlns:a16="http://schemas.microsoft.com/office/drawing/2014/main" val="20000"/>
                    </a:ext>
                  </a:extLst>
                </a:gridCol>
              </a:tblGrid>
              <a:tr h="370840">
                <a:tc>
                  <a:txBody>
                    <a:bodyPr/>
                    <a:lstStyle/>
                    <a:p>
                      <a:pPr algn="ctr"/>
                      <a:r>
                        <a:rPr lang="pt-BR" sz="2400" b="1" dirty="0"/>
                        <a:t>soma</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aseline="0" dirty="0"/>
                        <a:t>0</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aseline="0" dirty="0"/>
                        <a:t>1</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cxnSp>
        <p:nvCxnSpPr>
          <p:cNvPr id="15" name="Straight Connector 14"/>
          <p:cNvCxnSpPr/>
          <p:nvPr/>
        </p:nvCxnSpPr>
        <p:spPr>
          <a:xfrm>
            <a:off x="2702320" y="2675359"/>
            <a:ext cx="0" cy="333756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extLst>
              <p:ext uri="{D42A27DB-BD31-4B8C-83A1-F6EECF244321}">
                <p14:modId xmlns:p14="http://schemas.microsoft.com/office/powerpoint/2010/main" val="1673550576"/>
              </p:ext>
            </p:extLst>
          </p:nvPr>
        </p:nvGraphicFramePr>
        <p:xfrm>
          <a:off x="3786586" y="2675359"/>
          <a:ext cx="786407" cy="3337560"/>
        </p:xfrm>
        <a:graphic>
          <a:graphicData uri="http://schemas.openxmlformats.org/drawingml/2006/table">
            <a:tbl>
              <a:tblPr>
                <a:tableStyleId>{5C22544A-7EE6-4342-B048-85BDC9FD1C3A}</a:tableStyleId>
              </a:tblPr>
              <a:tblGrid>
                <a:gridCol w="786407">
                  <a:extLst>
                    <a:ext uri="{9D8B030D-6E8A-4147-A177-3AD203B41FA5}">
                      <a16:colId xmlns:a16="http://schemas.microsoft.com/office/drawing/2014/main" val="20000"/>
                    </a:ext>
                  </a:extLst>
                </a:gridCol>
              </a:tblGrid>
              <a:tr h="370840">
                <a:tc>
                  <a:txBody>
                    <a:bodyPr/>
                    <a:lstStyle/>
                    <a:p>
                      <a:pPr algn="ctr"/>
                      <a:r>
                        <a:rPr lang="en-US" sz="2400" b="1" noProof="0" dirty="0"/>
                        <a:t>carry</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cxnSp>
        <p:nvCxnSpPr>
          <p:cNvPr id="17" name="Straight Connector 16"/>
          <p:cNvCxnSpPr/>
          <p:nvPr/>
        </p:nvCxnSpPr>
        <p:spPr>
          <a:xfrm>
            <a:off x="3667179" y="2675359"/>
            <a:ext cx="0" cy="333756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486784" y="2278415"/>
            <a:ext cx="2766000" cy="400110"/>
          </a:xfrm>
          <a:prstGeom prst="rect">
            <a:avLst/>
          </a:prstGeom>
        </p:spPr>
        <p:txBody>
          <a:bodyPr wrap="square">
            <a:spAutoFit/>
          </a:bodyPr>
          <a:lstStyle/>
          <a:p>
            <a:r>
              <a:rPr lang="pt-BR" sz="2000" i="1" dirty="0">
                <a:solidFill>
                  <a:schemeClr val="tx2">
                    <a:lumMod val="75000"/>
                  </a:schemeClr>
                </a:solidFill>
              </a:rPr>
              <a:t>Entradas              Saídas</a:t>
            </a:r>
          </a:p>
        </p:txBody>
      </p:sp>
      <p:sp>
        <p:nvSpPr>
          <p:cNvPr id="19" name="Rectangle 18"/>
          <p:cNvSpPr/>
          <p:nvPr/>
        </p:nvSpPr>
        <p:spPr>
          <a:xfrm>
            <a:off x="5647858" y="3595345"/>
            <a:ext cx="1432234" cy="159417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2800" b="1" dirty="0"/>
          </a:p>
        </p:txBody>
      </p:sp>
      <p:grpSp>
        <p:nvGrpSpPr>
          <p:cNvPr id="20" name="Group 19"/>
          <p:cNvGrpSpPr/>
          <p:nvPr/>
        </p:nvGrpSpPr>
        <p:grpSpPr>
          <a:xfrm>
            <a:off x="4798646" y="3613328"/>
            <a:ext cx="849212" cy="523220"/>
            <a:chOff x="5014838" y="2963157"/>
            <a:chExt cx="849212" cy="523220"/>
          </a:xfrm>
        </p:grpSpPr>
        <p:cxnSp>
          <p:nvCxnSpPr>
            <p:cNvPr id="21" name="Straight Arrow Connector 20"/>
            <p:cNvCxnSpPr/>
            <p:nvPr/>
          </p:nvCxnSpPr>
          <p:spPr>
            <a:xfrm>
              <a:off x="5296562" y="325590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2" name="Rectangle 21"/>
            <p:cNvSpPr/>
            <p:nvPr/>
          </p:nvSpPr>
          <p:spPr>
            <a:xfrm>
              <a:off x="5014838" y="2963157"/>
              <a:ext cx="356663" cy="523220"/>
            </a:xfrm>
            <a:prstGeom prst="rect">
              <a:avLst/>
            </a:prstGeom>
          </p:spPr>
          <p:txBody>
            <a:bodyPr wrap="none">
              <a:spAutoFit/>
            </a:bodyPr>
            <a:lstStyle/>
            <a:p>
              <a:r>
                <a:rPr lang="pt-BR" sz="2800" dirty="0"/>
                <a:t>a</a:t>
              </a:r>
            </a:p>
          </p:txBody>
        </p:sp>
      </p:grpSp>
      <p:grpSp>
        <p:nvGrpSpPr>
          <p:cNvPr id="23" name="Group 22"/>
          <p:cNvGrpSpPr/>
          <p:nvPr/>
        </p:nvGrpSpPr>
        <p:grpSpPr>
          <a:xfrm>
            <a:off x="4808478" y="4119313"/>
            <a:ext cx="849212" cy="523220"/>
            <a:chOff x="5024670" y="3469142"/>
            <a:chExt cx="849212" cy="523220"/>
          </a:xfrm>
        </p:grpSpPr>
        <p:cxnSp>
          <p:nvCxnSpPr>
            <p:cNvPr id="24" name="Straight Arrow Connector 23"/>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5" name="Rectangle 24"/>
            <p:cNvSpPr/>
            <p:nvPr/>
          </p:nvSpPr>
          <p:spPr>
            <a:xfrm>
              <a:off x="5024670" y="3469142"/>
              <a:ext cx="373319" cy="523220"/>
            </a:xfrm>
            <a:prstGeom prst="rect">
              <a:avLst/>
            </a:prstGeom>
          </p:spPr>
          <p:txBody>
            <a:bodyPr wrap="none">
              <a:spAutoFit/>
            </a:bodyPr>
            <a:lstStyle/>
            <a:p>
              <a:r>
                <a:rPr lang="pt-BR" sz="2800" dirty="0"/>
                <a:t>b</a:t>
              </a:r>
            </a:p>
          </p:txBody>
        </p:sp>
      </p:grpSp>
      <p:grpSp>
        <p:nvGrpSpPr>
          <p:cNvPr id="26" name="Group 25"/>
          <p:cNvGrpSpPr/>
          <p:nvPr/>
        </p:nvGrpSpPr>
        <p:grpSpPr>
          <a:xfrm>
            <a:off x="7080092" y="4545456"/>
            <a:ext cx="1513757" cy="523220"/>
            <a:chOff x="7296284" y="3440028"/>
            <a:chExt cx="1513757" cy="523220"/>
          </a:xfrm>
        </p:grpSpPr>
        <p:cxnSp>
          <p:nvCxnSpPr>
            <p:cNvPr id="27" name="Straight Arrow Connector 26"/>
            <p:cNvCxnSpPr/>
            <p:nvPr/>
          </p:nvCxnSpPr>
          <p:spPr>
            <a:xfrm>
              <a:off x="729628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8" name="Rectangle 27"/>
            <p:cNvSpPr/>
            <p:nvPr/>
          </p:nvSpPr>
          <p:spPr>
            <a:xfrm>
              <a:off x="7836748" y="3440028"/>
              <a:ext cx="973293" cy="523220"/>
            </a:xfrm>
            <a:prstGeom prst="rect">
              <a:avLst/>
            </a:prstGeom>
          </p:spPr>
          <p:txBody>
            <a:bodyPr wrap="none">
              <a:spAutoFit/>
            </a:bodyPr>
            <a:lstStyle/>
            <a:p>
              <a:r>
                <a:rPr lang="pt-BR" sz="2800" dirty="0"/>
                <a:t>soma</a:t>
              </a:r>
            </a:p>
          </p:txBody>
        </p:sp>
      </p:grpSp>
      <p:sp>
        <p:nvSpPr>
          <p:cNvPr id="29" name="Rectangle 28"/>
          <p:cNvSpPr/>
          <p:nvPr/>
        </p:nvSpPr>
        <p:spPr>
          <a:xfrm>
            <a:off x="5647858" y="3821257"/>
            <a:ext cx="1432234" cy="1077218"/>
          </a:xfrm>
          <a:prstGeom prst="rect">
            <a:avLst/>
          </a:prstGeom>
        </p:spPr>
        <p:txBody>
          <a:bodyPr wrap="square">
            <a:spAutoFit/>
          </a:bodyPr>
          <a:lstStyle/>
          <a:p>
            <a:pPr algn="ctr"/>
            <a:r>
              <a:rPr lang="en-US" sz="3200" b="1" dirty="0">
                <a:solidFill>
                  <a:schemeClr val="bg1">
                    <a:lumMod val="95000"/>
                  </a:schemeClr>
                </a:solidFill>
              </a:rPr>
              <a:t>Full</a:t>
            </a:r>
          </a:p>
          <a:p>
            <a:pPr algn="ctr"/>
            <a:r>
              <a:rPr lang="en-US" sz="3200" b="1" dirty="0">
                <a:solidFill>
                  <a:schemeClr val="bg1">
                    <a:lumMod val="95000"/>
                  </a:schemeClr>
                </a:solidFill>
              </a:rPr>
              <a:t>Adder</a:t>
            </a:r>
          </a:p>
        </p:txBody>
      </p:sp>
      <p:grpSp>
        <p:nvGrpSpPr>
          <p:cNvPr id="30" name="Group 29"/>
          <p:cNvGrpSpPr/>
          <p:nvPr/>
        </p:nvGrpSpPr>
        <p:grpSpPr>
          <a:xfrm>
            <a:off x="7080624" y="3594119"/>
            <a:ext cx="1531960" cy="523220"/>
            <a:chOff x="7320072" y="3385988"/>
            <a:chExt cx="1531960" cy="523220"/>
          </a:xfrm>
        </p:grpSpPr>
        <p:cxnSp>
          <p:nvCxnSpPr>
            <p:cNvPr id="31" name="Straight Arrow Connector 30"/>
            <p:cNvCxnSpPr/>
            <p:nvPr/>
          </p:nvCxnSpPr>
          <p:spPr>
            <a:xfrm>
              <a:off x="7320072" y="369794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836748" y="3385988"/>
              <a:ext cx="1015284" cy="523220"/>
            </a:xfrm>
            <a:prstGeom prst="rect">
              <a:avLst/>
            </a:prstGeom>
          </p:spPr>
          <p:txBody>
            <a:bodyPr wrap="none">
              <a:spAutoFit/>
            </a:bodyPr>
            <a:lstStyle/>
            <a:p>
              <a:r>
                <a:rPr lang="en-US" sz="2800" i="1" dirty="0"/>
                <a:t>carry</a:t>
              </a:r>
            </a:p>
          </p:txBody>
        </p:sp>
      </p:grpSp>
      <p:grpSp>
        <p:nvGrpSpPr>
          <p:cNvPr id="39" name="Group 38"/>
          <p:cNvGrpSpPr/>
          <p:nvPr/>
        </p:nvGrpSpPr>
        <p:grpSpPr>
          <a:xfrm>
            <a:off x="4812246" y="4582443"/>
            <a:ext cx="849212" cy="523220"/>
            <a:chOff x="5024670" y="3469142"/>
            <a:chExt cx="849212" cy="523220"/>
          </a:xfrm>
        </p:grpSpPr>
        <p:cxnSp>
          <p:nvCxnSpPr>
            <p:cNvPr id="40" name="Straight Arrow Connector 39"/>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1" name="Rectangle 40"/>
            <p:cNvSpPr/>
            <p:nvPr/>
          </p:nvSpPr>
          <p:spPr>
            <a:xfrm>
              <a:off x="5024670" y="3469142"/>
              <a:ext cx="336500" cy="523220"/>
            </a:xfrm>
            <a:prstGeom prst="rect">
              <a:avLst/>
            </a:prstGeom>
          </p:spPr>
          <p:txBody>
            <a:bodyPr wrap="none">
              <a:spAutoFit/>
            </a:bodyPr>
            <a:lstStyle/>
            <a:p>
              <a:r>
                <a:rPr lang="pt-BR" sz="2800" dirty="0"/>
                <a:t>c</a:t>
              </a:r>
            </a:p>
          </p:txBody>
        </p:sp>
      </p:grpSp>
    </p:spTree>
    <p:extLst>
      <p:ext uri="{BB962C8B-B14F-4D97-AF65-F5344CB8AC3E}">
        <p14:creationId xmlns:p14="http://schemas.microsoft.com/office/powerpoint/2010/main" val="273111764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 </a:t>
            </a:r>
            <a:r>
              <a:rPr lang="en-US" dirty="0"/>
              <a:t>Adder</a:t>
            </a:r>
          </a:p>
        </p:txBody>
      </p:sp>
      <p:sp>
        <p:nvSpPr>
          <p:cNvPr id="3" name="Content Placeholder 2"/>
          <p:cNvSpPr>
            <a:spLocks noGrp="1"/>
          </p:cNvSpPr>
          <p:nvPr>
            <p:ph idx="1"/>
          </p:nvPr>
        </p:nvSpPr>
        <p:spPr>
          <a:xfrm>
            <a:off x="657225" y="1485900"/>
            <a:ext cx="8029575" cy="709212"/>
          </a:xfrm>
        </p:spPr>
        <p:txBody>
          <a:bodyPr/>
          <a:lstStyle/>
          <a:p>
            <a:r>
              <a:rPr lang="pt-BR" dirty="0"/>
              <a:t>Um circuito para adicionar dois valores de n bits pode ser construído encadeando n somadores completos (Full </a:t>
            </a:r>
            <a:r>
              <a:rPr lang="pt-BR" dirty="0" err="1"/>
              <a:t>Adders</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cxnSp>
        <p:nvCxnSpPr>
          <p:cNvPr id="31" name="Straight Arrow Connector 30"/>
          <p:cNvCxnSpPr/>
          <p:nvPr/>
        </p:nvCxnSpPr>
        <p:spPr>
          <a:xfrm flipH="1">
            <a:off x="7455513" y="3540484"/>
            <a:ext cx="34423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3" name="Rectangle 32"/>
          <p:cNvSpPr/>
          <p:nvPr/>
        </p:nvSpPr>
        <p:spPr>
          <a:xfrm>
            <a:off x="7743231" y="3307414"/>
            <a:ext cx="425417" cy="400110"/>
          </a:xfrm>
          <a:prstGeom prst="rect">
            <a:avLst/>
          </a:prstGeom>
        </p:spPr>
        <p:txBody>
          <a:bodyPr wrap="none">
            <a:spAutoFit/>
          </a:bodyPr>
          <a:lstStyle/>
          <a:p>
            <a:pPr algn="ctr"/>
            <a:r>
              <a:rPr lang="pt-BR" sz="2000" dirty="0"/>
              <a:t>C</a:t>
            </a:r>
            <a:r>
              <a:rPr lang="pt-BR" sz="1600" dirty="0"/>
              <a:t>0</a:t>
            </a:r>
            <a:endParaRPr lang="pt-BR" sz="2000" dirty="0"/>
          </a:p>
        </p:txBody>
      </p:sp>
      <p:grpSp>
        <p:nvGrpSpPr>
          <p:cNvPr id="51" name="Group 50"/>
          <p:cNvGrpSpPr/>
          <p:nvPr/>
        </p:nvGrpSpPr>
        <p:grpSpPr>
          <a:xfrm>
            <a:off x="5921864" y="2296695"/>
            <a:ext cx="1644851" cy="2387818"/>
            <a:chOff x="6354248" y="2695647"/>
            <a:chExt cx="1644851" cy="2605371"/>
          </a:xfrm>
        </p:grpSpPr>
        <p:sp>
          <p:nvSpPr>
            <p:cNvPr id="10" name="Rectangle 9"/>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2" name="Straight Arrow Connector 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3" name="Rectangle 12"/>
            <p:cNvSpPr/>
            <p:nvPr/>
          </p:nvSpPr>
          <p:spPr>
            <a:xfrm>
              <a:off x="6825436" y="2701555"/>
              <a:ext cx="620357" cy="400110"/>
            </a:xfrm>
            <a:prstGeom prst="rect">
              <a:avLst/>
            </a:prstGeom>
          </p:spPr>
          <p:txBody>
            <a:bodyPr wrap="none">
              <a:spAutoFit/>
            </a:bodyPr>
            <a:lstStyle/>
            <a:p>
              <a:pPr algn="ctr"/>
              <a:r>
                <a:rPr lang="pt-BR" sz="2000" dirty="0"/>
                <a:t>A[0]</a:t>
              </a:r>
            </a:p>
          </p:txBody>
        </p:sp>
        <p:cxnSp>
          <p:nvCxnSpPr>
            <p:cNvPr id="22" name="Straight Arrow Connector 21"/>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387634" y="2695647"/>
              <a:ext cx="611465" cy="400110"/>
            </a:xfrm>
            <a:prstGeom prst="rect">
              <a:avLst/>
            </a:prstGeom>
          </p:spPr>
          <p:txBody>
            <a:bodyPr wrap="none">
              <a:spAutoFit/>
            </a:bodyPr>
            <a:lstStyle/>
            <a:p>
              <a:pPr algn="ctr"/>
              <a:r>
                <a:rPr lang="pt-BR" sz="2000" dirty="0"/>
                <a:t>B[0]</a:t>
              </a:r>
            </a:p>
          </p:txBody>
        </p:sp>
        <p:cxnSp>
          <p:nvCxnSpPr>
            <p:cNvPr id="34" name="Straight Arrow Connector 33"/>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5" name="Rectangle 34"/>
            <p:cNvSpPr/>
            <p:nvPr/>
          </p:nvSpPr>
          <p:spPr>
            <a:xfrm>
              <a:off x="7108542" y="4900908"/>
              <a:ext cx="589800" cy="400110"/>
            </a:xfrm>
            <a:prstGeom prst="rect">
              <a:avLst/>
            </a:prstGeom>
          </p:spPr>
          <p:txBody>
            <a:bodyPr wrap="none">
              <a:spAutoFit/>
            </a:bodyPr>
            <a:lstStyle/>
            <a:p>
              <a:pPr algn="ctr"/>
              <a:r>
                <a:rPr lang="pt-BR" sz="2000" dirty="0"/>
                <a:t>S[0]</a:t>
              </a:r>
            </a:p>
          </p:txBody>
        </p:sp>
        <p:sp>
          <p:nvSpPr>
            <p:cNvPr id="36" name="Rectangle 35"/>
            <p:cNvSpPr/>
            <p:nvPr/>
          </p:nvSpPr>
          <p:spPr>
            <a:xfrm>
              <a:off x="6475837" y="3714884"/>
              <a:ext cx="425417" cy="400110"/>
            </a:xfrm>
            <a:prstGeom prst="rect">
              <a:avLst/>
            </a:prstGeom>
          </p:spPr>
          <p:txBody>
            <a:bodyPr wrap="none">
              <a:spAutoFit/>
            </a:bodyPr>
            <a:lstStyle/>
            <a:p>
              <a:pPr algn="ctr"/>
              <a:r>
                <a:rPr lang="pt-BR" sz="2000" dirty="0"/>
                <a:t>C</a:t>
              </a:r>
              <a:r>
                <a:rPr lang="pt-BR" sz="1600" dirty="0"/>
                <a:t>1</a:t>
              </a:r>
              <a:endParaRPr lang="pt-BR" sz="2000" dirty="0"/>
            </a:p>
          </p:txBody>
        </p:sp>
      </p:grpSp>
      <p:grpSp>
        <p:nvGrpSpPr>
          <p:cNvPr id="90" name="Group 89"/>
          <p:cNvGrpSpPr/>
          <p:nvPr/>
        </p:nvGrpSpPr>
        <p:grpSpPr>
          <a:xfrm>
            <a:off x="4398602" y="2296695"/>
            <a:ext cx="1644851" cy="2421228"/>
            <a:chOff x="6354248" y="2695647"/>
            <a:chExt cx="1644851" cy="2641825"/>
          </a:xfrm>
        </p:grpSpPr>
        <p:sp>
          <p:nvSpPr>
            <p:cNvPr id="91" name="Rectangle 9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92" name="Straight Arrow Connector 9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3" name="Rectangle 92"/>
            <p:cNvSpPr/>
            <p:nvPr/>
          </p:nvSpPr>
          <p:spPr>
            <a:xfrm>
              <a:off x="6825436" y="2701555"/>
              <a:ext cx="620357" cy="436564"/>
            </a:xfrm>
            <a:prstGeom prst="rect">
              <a:avLst/>
            </a:prstGeom>
          </p:spPr>
          <p:txBody>
            <a:bodyPr wrap="none">
              <a:spAutoFit/>
            </a:bodyPr>
            <a:lstStyle/>
            <a:p>
              <a:pPr algn="ctr"/>
              <a:r>
                <a:rPr lang="pt-BR" sz="2000" dirty="0"/>
                <a:t>A[1]</a:t>
              </a:r>
            </a:p>
          </p:txBody>
        </p:sp>
        <p:cxnSp>
          <p:nvCxnSpPr>
            <p:cNvPr id="94" name="Straight Arrow Connector 9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95" name="Straight Arrow Connector 9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6" name="Rectangle 95"/>
            <p:cNvSpPr/>
            <p:nvPr/>
          </p:nvSpPr>
          <p:spPr>
            <a:xfrm>
              <a:off x="7387634" y="2695647"/>
              <a:ext cx="611465" cy="436564"/>
            </a:xfrm>
            <a:prstGeom prst="rect">
              <a:avLst/>
            </a:prstGeom>
          </p:spPr>
          <p:txBody>
            <a:bodyPr wrap="none">
              <a:spAutoFit/>
            </a:bodyPr>
            <a:lstStyle/>
            <a:p>
              <a:pPr algn="ctr"/>
              <a:r>
                <a:rPr lang="pt-BR" sz="2000" dirty="0"/>
                <a:t>B[1]</a:t>
              </a:r>
            </a:p>
          </p:txBody>
        </p:sp>
        <p:cxnSp>
          <p:nvCxnSpPr>
            <p:cNvPr id="97" name="Straight Arrow Connector 9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8" name="Rectangle 97"/>
            <p:cNvSpPr/>
            <p:nvPr/>
          </p:nvSpPr>
          <p:spPr>
            <a:xfrm>
              <a:off x="7108542" y="4900908"/>
              <a:ext cx="589800" cy="436564"/>
            </a:xfrm>
            <a:prstGeom prst="rect">
              <a:avLst/>
            </a:prstGeom>
          </p:spPr>
          <p:txBody>
            <a:bodyPr wrap="none">
              <a:spAutoFit/>
            </a:bodyPr>
            <a:lstStyle/>
            <a:p>
              <a:pPr algn="ctr"/>
              <a:r>
                <a:rPr lang="pt-BR" sz="2000" dirty="0" err="1"/>
                <a:t>S</a:t>
              </a:r>
              <a:r>
                <a:rPr lang="pt-BR" sz="2000" dirty="0"/>
                <a:t>[1]</a:t>
              </a:r>
            </a:p>
          </p:txBody>
        </p:sp>
        <p:sp>
          <p:nvSpPr>
            <p:cNvPr id="99" name="Rectangle 98"/>
            <p:cNvSpPr/>
            <p:nvPr/>
          </p:nvSpPr>
          <p:spPr>
            <a:xfrm>
              <a:off x="6475837" y="3714884"/>
              <a:ext cx="425417" cy="436564"/>
            </a:xfrm>
            <a:prstGeom prst="rect">
              <a:avLst/>
            </a:prstGeom>
          </p:spPr>
          <p:txBody>
            <a:bodyPr wrap="none">
              <a:spAutoFit/>
            </a:bodyPr>
            <a:lstStyle/>
            <a:p>
              <a:pPr algn="ctr"/>
              <a:r>
                <a:rPr lang="pt-BR" sz="2000" dirty="0"/>
                <a:t>C</a:t>
              </a:r>
              <a:r>
                <a:rPr lang="pt-BR" sz="1600" dirty="0"/>
                <a:t>2</a:t>
              </a:r>
              <a:endParaRPr lang="pt-BR" sz="2000" dirty="0"/>
            </a:p>
          </p:txBody>
        </p:sp>
      </p:grpSp>
      <p:grpSp>
        <p:nvGrpSpPr>
          <p:cNvPr id="100" name="Group 99"/>
          <p:cNvGrpSpPr/>
          <p:nvPr/>
        </p:nvGrpSpPr>
        <p:grpSpPr>
          <a:xfrm>
            <a:off x="2875340" y="2296695"/>
            <a:ext cx="1644851" cy="2421228"/>
            <a:chOff x="6354248" y="2695647"/>
            <a:chExt cx="1644851" cy="2641825"/>
          </a:xfrm>
        </p:grpSpPr>
        <p:sp>
          <p:nvSpPr>
            <p:cNvPr id="101" name="Rectangle 10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02" name="Straight Arrow Connector 10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3" name="Rectangle 102"/>
            <p:cNvSpPr/>
            <p:nvPr/>
          </p:nvSpPr>
          <p:spPr>
            <a:xfrm>
              <a:off x="6825436" y="2701555"/>
              <a:ext cx="620357" cy="436564"/>
            </a:xfrm>
            <a:prstGeom prst="rect">
              <a:avLst/>
            </a:prstGeom>
          </p:spPr>
          <p:txBody>
            <a:bodyPr wrap="none">
              <a:spAutoFit/>
            </a:bodyPr>
            <a:lstStyle/>
            <a:p>
              <a:pPr algn="ctr"/>
              <a:r>
                <a:rPr lang="pt-BR" sz="2000" dirty="0"/>
                <a:t>A[2]</a:t>
              </a:r>
            </a:p>
          </p:txBody>
        </p:sp>
        <p:cxnSp>
          <p:nvCxnSpPr>
            <p:cNvPr id="104" name="Straight Arrow Connector 10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05" name="Straight Arrow Connector 10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6" name="Rectangle 105"/>
            <p:cNvSpPr/>
            <p:nvPr/>
          </p:nvSpPr>
          <p:spPr>
            <a:xfrm>
              <a:off x="7387634" y="2695647"/>
              <a:ext cx="611465" cy="436564"/>
            </a:xfrm>
            <a:prstGeom prst="rect">
              <a:avLst/>
            </a:prstGeom>
          </p:spPr>
          <p:txBody>
            <a:bodyPr wrap="none">
              <a:spAutoFit/>
            </a:bodyPr>
            <a:lstStyle/>
            <a:p>
              <a:pPr algn="ctr"/>
              <a:r>
                <a:rPr lang="pt-BR" sz="2000" dirty="0"/>
                <a:t>B[2]</a:t>
              </a:r>
            </a:p>
          </p:txBody>
        </p:sp>
        <p:cxnSp>
          <p:nvCxnSpPr>
            <p:cNvPr id="107" name="Straight Arrow Connector 10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8" name="Rectangle 107"/>
            <p:cNvSpPr/>
            <p:nvPr/>
          </p:nvSpPr>
          <p:spPr>
            <a:xfrm>
              <a:off x="7108542" y="4900908"/>
              <a:ext cx="589800" cy="436564"/>
            </a:xfrm>
            <a:prstGeom prst="rect">
              <a:avLst/>
            </a:prstGeom>
          </p:spPr>
          <p:txBody>
            <a:bodyPr wrap="none">
              <a:spAutoFit/>
            </a:bodyPr>
            <a:lstStyle/>
            <a:p>
              <a:pPr algn="ctr"/>
              <a:r>
                <a:rPr lang="pt-BR" sz="2000" dirty="0" err="1"/>
                <a:t>S</a:t>
              </a:r>
              <a:r>
                <a:rPr lang="pt-BR" sz="2000" dirty="0"/>
                <a:t>[2]</a:t>
              </a:r>
            </a:p>
          </p:txBody>
        </p:sp>
        <p:sp>
          <p:nvSpPr>
            <p:cNvPr id="109" name="Rectangle 108"/>
            <p:cNvSpPr/>
            <p:nvPr/>
          </p:nvSpPr>
          <p:spPr>
            <a:xfrm>
              <a:off x="6475837" y="3714884"/>
              <a:ext cx="425417" cy="436564"/>
            </a:xfrm>
            <a:prstGeom prst="rect">
              <a:avLst/>
            </a:prstGeom>
          </p:spPr>
          <p:txBody>
            <a:bodyPr wrap="none">
              <a:spAutoFit/>
            </a:bodyPr>
            <a:lstStyle/>
            <a:p>
              <a:pPr algn="ctr"/>
              <a:r>
                <a:rPr lang="pt-BR" sz="2000" dirty="0"/>
                <a:t>C</a:t>
              </a:r>
              <a:r>
                <a:rPr lang="pt-BR" sz="1600" dirty="0"/>
                <a:t>3</a:t>
              </a:r>
              <a:endParaRPr lang="pt-BR" sz="2000" dirty="0"/>
            </a:p>
          </p:txBody>
        </p:sp>
      </p:grpSp>
      <p:grpSp>
        <p:nvGrpSpPr>
          <p:cNvPr id="110" name="Group 109"/>
          <p:cNvGrpSpPr/>
          <p:nvPr/>
        </p:nvGrpSpPr>
        <p:grpSpPr>
          <a:xfrm>
            <a:off x="1352078" y="2296695"/>
            <a:ext cx="1644851" cy="2421228"/>
            <a:chOff x="6354248" y="2695647"/>
            <a:chExt cx="1644851" cy="2641825"/>
          </a:xfrm>
        </p:grpSpPr>
        <p:sp>
          <p:nvSpPr>
            <p:cNvPr id="111" name="Rectangle 11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12" name="Straight Arrow Connector 1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3" name="Rectangle 112"/>
            <p:cNvSpPr/>
            <p:nvPr/>
          </p:nvSpPr>
          <p:spPr>
            <a:xfrm>
              <a:off x="6825436" y="2701555"/>
              <a:ext cx="620357" cy="436564"/>
            </a:xfrm>
            <a:prstGeom prst="rect">
              <a:avLst/>
            </a:prstGeom>
          </p:spPr>
          <p:txBody>
            <a:bodyPr wrap="none">
              <a:spAutoFit/>
            </a:bodyPr>
            <a:lstStyle/>
            <a:p>
              <a:pPr algn="ctr"/>
              <a:r>
                <a:rPr lang="pt-BR" sz="2000" dirty="0"/>
                <a:t>A[3]</a:t>
              </a:r>
            </a:p>
          </p:txBody>
        </p:sp>
        <p:cxnSp>
          <p:nvCxnSpPr>
            <p:cNvPr id="114" name="Straight Arrow Connector 11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15" name="Straight Arrow Connector 11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6" name="Rectangle 115"/>
            <p:cNvSpPr/>
            <p:nvPr/>
          </p:nvSpPr>
          <p:spPr>
            <a:xfrm>
              <a:off x="7387634" y="2695647"/>
              <a:ext cx="611465" cy="436564"/>
            </a:xfrm>
            <a:prstGeom prst="rect">
              <a:avLst/>
            </a:prstGeom>
          </p:spPr>
          <p:txBody>
            <a:bodyPr wrap="none">
              <a:spAutoFit/>
            </a:bodyPr>
            <a:lstStyle/>
            <a:p>
              <a:pPr algn="ctr"/>
              <a:r>
                <a:rPr lang="pt-BR" sz="2000" dirty="0"/>
                <a:t>B[3]</a:t>
              </a:r>
            </a:p>
          </p:txBody>
        </p:sp>
        <p:cxnSp>
          <p:nvCxnSpPr>
            <p:cNvPr id="117" name="Straight Arrow Connector 11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8" name="Rectangle 117"/>
            <p:cNvSpPr/>
            <p:nvPr/>
          </p:nvSpPr>
          <p:spPr>
            <a:xfrm>
              <a:off x="7108542" y="4900908"/>
              <a:ext cx="589800" cy="436564"/>
            </a:xfrm>
            <a:prstGeom prst="rect">
              <a:avLst/>
            </a:prstGeom>
          </p:spPr>
          <p:txBody>
            <a:bodyPr wrap="none">
              <a:spAutoFit/>
            </a:bodyPr>
            <a:lstStyle/>
            <a:p>
              <a:pPr algn="ctr"/>
              <a:r>
                <a:rPr lang="pt-BR" sz="2000" dirty="0" err="1"/>
                <a:t>S</a:t>
              </a:r>
              <a:r>
                <a:rPr lang="pt-BR" sz="2000" dirty="0"/>
                <a:t>[3]</a:t>
              </a:r>
            </a:p>
          </p:txBody>
        </p:sp>
        <p:sp>
          <p:nvSpPr>
            <p:cNvPr id="119" name="Rectangle 118"/>
            <p:cNvSpPr/>
            <p:nvPr/>
          </p:nvSpPr>
          <p:spPr>
            <a:xfrm>
              <a:off x="6474384" y="3714884"/>
              <a:ext cx="428322" cy="436564"/>
            </a:xfrm>
            <a:prstGeom prst="rect">
              <a:avLst/>
            </a:prstGeom>
          </p:spPr>
          <p:txBody>
            <a:bodyPr wrap="none">
              <a:spAutoFit/>
            </a:bodyPr>
            <a:lstStyle/>
            <a:p>
              <a:pPr algn="ctr"/>
              <a:r>
                <a:rPr lang="pt-BR" sz="2000" dirty="0"/>
                <a:t>C</a:t>
              </a:r>
              <a:r>
                <a:rPr lang="pt-BR" sz="1600" dirty="0"/>
                <a:t>4</a:t>
              </a:r>
              <a:endParaRPr lang="pt-BR" sz="2000" dirty="0"/>
            </a:p>
          </p:txBody>
        </p:sp>
      </p:grpSp>
      <p:grpSp>
        <p:nvGrpSpPr>
          <p:cNvPr id="148" name="Group 147"/>
          <p:cNvGrpSpPr/>
          <p:nvPr/>
        </p:nvGrpSpPr>
        <p:grpSpPr>
          <a:xfrm>
            <a:off x="686411" y="2296694"/>
            <a:ext cx="8217730" cy="4373893"/>
            <a:chOff x="1214828" y="2296694"/>
            <a:chExt cx="7160895" cy="4373893"/>
          </a:xfrm>
        </p:grpSpPr>
        <p:sp>
          <p:nvSpPr>
            <p:cNvPr id="134" name="Rectangle 133"/>
            <p:cNvSpPr/>
            <p:nvPr/>
          </p:nvSpPr>
          <p:spPr>
            <a:xfrm>
              <a:off x="1214828" y="2296694"/>
              <a:ext cx="7160895" cy="2521507"/>
            </a:xfrm>
            <a:prstGeom prst="rect">
              <a:avLst/>
            </a:prstGeom>
            <a:noFill/>
            <a:ln w="28575" cmpd="sng">
              <a:solidFill>
                <a:schemeClr val="tx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35" name="Rectangle 134"/>
            <p:cNvSpPr/>
            <p:nvPr/>
          </p:nvSpPr>
          <p:spPr>
            <a:xfrm>
              <a:off x="2816230" y="5273792"/>
              <a:ext cx="3979289" cy="1396795"/>
            </a:xfrm>
            <a:prstGeom prst="rect">
              <a:avLst/>
            </a:prstGeom>
            <a:noFill/>
            <a:ln w="28575" cmpd="sng">
              <a:solidFill>
                <a:schemeClr val="tx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38" name="Straight Connector 137"/>
            <p:cNvCxnSpPr/>
            <p:nvPr/>
          </p:nvCxnSpPr>
          <p:spPr>
            <a:xfrm>
              <a:off x="1214828" y="4818201"/>
              <a:ext cx="1601402" cy="1852386"/>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39" name="Straight Connector 138"/>
            <p:cNvCxnSpPr/>
            <p:nvPr/>
          </p:nvCxnSpPr>
          <p:spPr>
            <a:xfrm>
              <a:off x="1214828" y="2302110"/>
              <a:ext cx="1601402" cy="2971682"/>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42" name="Straight Connector 141"/>
            <p:cNvCxnSpPr/>
            <p:nvPr/>
          </p:nvCxnSpPr>
          <p:spPr>
            <a:xfrm flipH="1">
              <a:off x="6795519" y="2302110"/>
              <a:ext cx="1580204" cy="2971682"/>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45" name="Straight Connector 144"/>
            <p:cNvCxnSpPr/>
            <p:nvPr/>
          </p:nvCxnSpPr>
          <p:spPr>
            <a:xfrm flipH="1">
              <a:off x="6795521" y="4818201"/>
              <a:ext cx="1580202" cy="1852386"/>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2816230" y="5399720"/>
            <a:ext cx="4241585" cy="1138513"/>
            <a:chOff x="2816230" y="5399720"/>
            <a:chExt cx="4241585" cy="1138513"/>
          </a:xfrm>
        </p:grpSpPr>
        <p:grpSp>
          <p:nvGrpSpPr>
            <p:cNvPr id="163" name="Group 162"/>
            <p:cNvGrpSpPr/>
            <p:nvPr/>
          </p:nvGrpSpPr>
          <p:grpSpPr>
            <a:xfrm>
              <a:off x="2816230" y="5399720"/>
              <a:ext cx="4241585" cy="1138513"/>
              <a:chOff x="2816230" y="5399720"/>
              <a:chExt cx="4241585" cy="1138513"/>
            </a:xfrm>
          </p:grpSpPr>
          <p:sp>
            <p:nvSpPr>
              <p:cNvPr id="120" name="Rectangle 119"/>
              <p:cNvSpPr/>
              <p:nvPr/>
            </p:nvSpPr>
            <p:spPr>
              <a:xfrm>
                <a:off x="3872517" y="5416905"/>
                <a:ext cx="1432234" cy="112132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t>Adder</a:t>
                </a:r>
              </a:p>
            </p:txBody>
          </p:sp>
          <p:grpSp>
            <p:nvGrpSpPr>
              <p:cNvPr id="121" name="Group 120"/>
              <p:cNvGrpSpPr/>
              <p:nvPr/>
            </p:nvGrpSpPr>
            <p:grpSpPr>
              <a:xfrm>
                <a:off x="2816230" y="5434888"/>
                <a:ext cx="1056287" cy="523220"/>
                <a:chOff x="4987228" y="2963157"/>
                <a:chExt cx="1056287" cy="523220"/>
              </a:xfrm>
            </p:grpSpPr>
            <p:cxnSp>
              <p:nvCxnSpPr>
                <p:cNvPr id="122" name="Straight Arrow Connector 121"/>
                <p:cNvCxnSpPr/>
                <p:nvPr/>
              </p:nvCxnSpPr>
              <p:spPr>
                <a:xfrm>
                  <a:off x="5296562" y="3255903"/>
                  <a:ext cx="746953"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sp>
              <p:nvSpPr>
                <p:cNvPr id="123" name="Rectangle 122"/>
                <p:cNvSpPr/>
                <p:nvPr/>
              </p:nvSpPr>
              <p:spPr>
                <a:xfrm>
                  <a:off x="4987228" y="2963157"/>
                  <a:ext cx="392430" cy="523220"/>
                </a:xfrm>
                <a:prstGeom prst="rect">
                  <a:avLst/>
                </a:prstGeom>
              </p:spPr>
              <p:txBody>
                <a:bodyPr wrap="none">
                  <a:spAutoFit/>
                </a:bodyPr>
                <a:lstStyle/>
                <a:p>
                  <a:r>
                    <a:rPr lang="pt-BR" sz="2800" dirty="0"/>
                    <a:t>A</a:t>
                  </a:r>
                </a:p>
              </p:txBody>
            </p:sp>
          </p:grpSp>
          <p:grpSp>
            <p:nvGrpSpPr>
              <p:cNvPr id="152" name="Group 151"/>
              <p:cNvGrpSpPr/>
              <p:nvPr/>
            </p:nvGrpSpPr>
            <p:grpSpPr>
              <a:xfrm>
                <a:off x="2826062" y="5940873"/>
                <a:ext cx="1046455" cy="523220"/>
                <a:chOff x="2826062" y="5940873"/>
                <a:chExt cx="1046455" cy="523220"/>
              </a:xfrm>
            </p:grpSpPr>
            <p:sp>
              <p:nvSpPr>
                <p:cNvPr id="126" name="Rectangle 125"/>
                <p:cNvSpPr/>
                <p:nvPr/>
              </p:nvSpPr>
              <p:spPr>
                <a:xfrm>
                  <a:off x="2826062" y="5940873"/>
                  <a:ext cx="379982" cy="523220"/>
                </a:xfrm>
                <a:prstGeom prst="rect">
                  <a:avLst/>
                </a:prstGeom>
              </p:spPr>
              <p:txBody>
                <a:bodyPr wrap="none">
                  <a:spAutoFit/>
                </a:bodyPr>
                <a:lstStyle/>
                <a:p>
                  <a:r>
                    <a:rPr lang="pt-BR" sz="2800" dirty="0"/>
                    <a:t>B</a:t>
                  </a:r>
                </a:p>
              </p:txBody>
            </p:sp>
            <p:cxnSp>
              <p:nvCxnSpPr>
                <p:cNvPr id="150" name="Straight Arrow Connector 149"/>
                <p:cNvCxnSpPr/>
                <p:nvPr/>
              </p:nvCxnSpPr>
              <p:spPr>
                <a:xfrm>
                  <a:off x="3125564" y="6240295"/>
                  <a:ext cx="746953"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grpSp>
          <p:grpSp>
            <p:nvGrpSpPr>
              <p:cNvPr id="153" name="Group 152"/>
              <p:cNvGrpSpPr/>
              <p:nvPr/>
            </p:nvGrpSpPr>
            <p:grpSpPr>
              <a:xfrm>
                <a:off x="5334129" y="5717075"/>
                <a:ext cx="1723686" cy="523220"/>
                <a:chOff x="5334129" y="5717075"/>
                <a:chExt cx="1723686" cy="523220"/>
              </a:xfrm>
            </p:grpSpPr>
            <p:sp>
              <p:nvSpPr>
                <p:cNvPr id="129" name="Rectangle 128"/>
                <p:cNvSpPr/>
                <p:nvPr/>
              </p:nvSpPr>
              <p:spPr>
                <a:xfrm>
                  <a:off x="5955655" y="5717075"/>
                  <a:ext cx="1102160" cy="523220"/>
                </a:xfrm>
                <a:prstGeom prst="rect">
                  <a:avLst/>
                </a:prstGeom>
              </p:spPr>
              <p:txBody>
                <a:bodyPr wrap="none">
                  <a:spAutoFit/>
                </a:bodyPr>
                <a:lstStyle/>
                <a:p>
                  <a:r>
                    <a:rPr lang="pt-BR" sz="2800" dirty="0"/>
                    <a:t>SOMA</a:t>
                  </a:r>
                </a:p>
              </p:txBody>
            </p:sp>
            <p:cxnSp>
              <p:nvCxnSpPr>
                <p:cNvPr id="151" name="Straight Arrow Connector 150"/>
                <p:cNvCxnSpPr/>
                <p:nvPr/>
              </p:nvCxnSpPr>
              <p:spPr>
                <a:xfrm>
                  <a:off x="5334129" y="5999526"/>
                  <a:ext cx="695519"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grpSp>
          <p:sp>
            <p:nvSpPr>
              <p:cNvPr id="160" name="Rectangle 159"/>
              <p:cNvSpPr/>
              <p:nvPr/>
            </p:nvSpPr>
            <p:spPr>
              <a:xfrm>
                <a:off x="3204932" y="5399720"/>
                <a:ext cx="288661" cy="338554"/>
              </a:xfrm>
              <a:prstGeom prst="rect">
                <a:avLst/>
              </a:prstGeom>
            </p:spPr>
            <p:txBody>
              <a:bodyPr wrap="none">
                <a:spAutoFit/>
              </a:bodyPr>
              <a:lstStyle/>
              <a:p>
                <a:r>
                  <a:rPr lang="pt-BR" sz="1600" dirty="0"/>
                  <a:t>4</a:t>
                </a:r>
              </a:p>
            </p:txBody>
          </p:sp>
          <p:sp>
            <p:nvSpPr>
              <p:cNvPr id="161" name="Rectangle 160"/>
              <p:cNvSpPr/>
              <p:nvPr/>
            </p:nvSpPr>
            <p:spPr>
              <a:xfrm>
                <a:off x="3204932" y="5915547"/>
                <a:ext cx="288661" cy="338554"/>
              </a:xfrm>
              <a:prstGeom prst="rect">
                <a:avLst/>
              </a:prstGeom>
            </p:spPr>
            <p:txBody>
              <a:bodyPr wrap="none">
                <a:spAutoFit/>
              </a:bodyPr>
              <a:lstStyle/>
              <a:p>
                <a:r>
                  <a:rPr lang="pt-BR" sz="1600" dirty="0"/>
                  <a:t>4</a:t>
                </a:r>
              </a:p>
            </p:txBody>
          </p:sp>
          <p:sp>
            <p:nvSpPr>
              <p:cNvPr id="162" name="Rectangle 161"/>
              <p:cNvSpPr/>
              <p:nvPr/>
            </p:nvSpPr>
            <p:spPr>
              <a:xfrm>
                <a:off x="5389832" y="5674778"/>
                <a:ext cx="288661" cy="338554"/>
              </a:xfrm>
              <a:prstGeom prst="rect">
                <a:avLst/>
              </a:prstGeom>
            </p:spPr>
            <p:txBody>
              <a:bodyPr wrap="none">
                <a:spAutoFit/>
              </a:bodyPr>
              <a:lstStyle/>
              <a:p>
                <a:r>
                  <a:rPr lang="pt-BR" sz="1600" dirty="0"/>
                  <a:t>4</a:t>
                </a:r>
              </a:p>
            </p:txBody>
          </p:sp>
        </p:grpSp>
        <p:cxnSp>
          <p:nvCxnSpPr>
            <p:cNvPr id="69" name="Straight Arrow Connector 68"/>
            <p:cNvCxnSpPr/>
            <p:nvPr/>
          </p:nvCxnSpPr>
          <p:spPr>
            <a:xfrm flipV="1">
              <a:off x="3339614" y="5613133"/>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cxnSp>
          <p:nvCxnSpPr>
            <p:cNvPr id="71" name="Straight Arrow Connector 70"/>
            <p:cNvCxnSpPr/>
            <p:nvPr/>
          </p:nvCxnSpPr>
          <p:spPr>
            <a:xfrm flipV="1">
              <a:off x="3337825" y="6137667"/>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cxnSp>
          <p:nvCxnSpPr>
            <p:cNvPr id="72" name="Straight Arrow Connector 71"/>
            <p:cNvCxnSpPr/>
            <p:nvPr/>
          </p:nvCxnSpPr>
          <p:spPr>
            <a:xfrm flipV="1">
              <a:off x="5525917" y="5885051"/>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grpSp>
    </p:spTree>
    <p:custDataLst>
      <p:tags r:id="rId1"/>
    </p:custDataLst>
    <p:extLst>
      <p:ext uri="{BB962C8B-B14F-4D97-AF65-F5344CB8AC3E}">
        <p14:creationId xmlns:p14="http://schemas.microsoft.com/office/powerpoint/2010/main" val="261040368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base">
                                        <p:cTn id="7" dur="1000" fill="hold"/>
                                        <p:tgtEl>
                                          <p:spTgt spid="90"/>
                                        </p:tgtEl>
                                        <p:attrNameLst>
                                          <p:attrName>ppt_x</p:attrName>
                                        </p:attrNameLst>
                                      </p:cBhvr>
                                      <p:tavLst>
                                        <p:tav tm="0">
                                          <p:val>
                                            <p:strVal val="1+#ppt_w/2"/>
                                          </p:val>
                                        </p:tav>
                                        <p:tav tm="100000">
                                          <p:val>
                                            <p:strVal val="#ppt_x"/>
                                          </p:val>
                                        </p:tav>
                                      </p:tavLst>
                                    </p:anim>
                                    <p:anim calcmode="lin" valueType="num">
                                      <p:cBhvr additive="base">
                                        <p:cTn id="8" dur="1000" fill="hold"/>
                                        <p:tgtEl>
                                          <p:spTgt spid="9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1000" fill="hold"/>
                                        <p:tgtEl>
                                          <p:spTgt spid="100"/>
                                        </p:tgtEl>
                                        <p:attrNameLst>
                                          <p:attrName>ppt_x</p:attrName>
                                        </p:attrNameLst>
                                      </p:cBhvr>
                                      <p:tavLst>
                                        <p:tav tm="0">
                                          <p:val>
                                            <p:strVal val="1+#ppt_w/2"/>
                                          </p:val>
                                        </p:tav>
                                        <p:tav tm="100000">
                                          <p:val>
                                            <p:strVal val="#ppt_x"/>
                                          </p:val>
                                        </p:tav>
                                      </p:tavLst>
                                    </p:anim>
                                    <p:anim calcmode="lin" valueType="num">
                                      <p:cBhvr additive="base">
                                        <p:cTn id="12" dur="1000" fill="hold"/>
                                        <p:tgtEl>
                                          <p:spTgt spid="10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10"/>
                                        </p:tgtEl>
                                        <p:attrNameLst>
                                          <p:attrName>style.visibility</p:attrName>
                                        </p:attrNameLst>
                                      </p:cBhvr>
                                      <p:to>
                                        <p:strVal val="visible"/>
                                      </p:to>
                                    </p:set>
                                    <p:anim calcmode="lin" valueType="num">
                                      <p:cBhvr additive="base">
                                        <p:cTn id="15" dur="1000" fill="hold"/>
                                        <p:tgtEl>
                                          <p:spTgt spid="110"/>
                                        </p:tgtEl>
                                        <p:attrNameLst>
                                          <p:attrName>ppt_x</p:attrName>
                                        </p:attrNameLst>
                                      </p:cBhvr>
                                      <p:tavLst>
                                        <p:tav tm="0">
                                          <p:val>
                                            <p:strVal val="1+#ppt_w/2"/>
                                          </p:val>
                                        </p:tav>
                                        <p:tav tm="100000">
                                          <p:val>
                                            <p:strVal val="#ppt_x"/>
                                          </p:val>
                                        </p:tav>
                                      </p:tavLst>
                                    </p:anim>
                                    <p:anim calcmode="lin" valueType="num">
                                      <p:cBhvr additive="base">
                                        <p:cTn id="16" dur="1000" fill="hold"/>
                                        <p:tgtEl>
                                          <p:spTgt spid="1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8"/>
                                        </p:tgtEl>
                                        <p:attrNameLst>
                                          <p:attrName>style.visibility</p:attrName>
                                        </p:attrNameLst>
                                      </p:cBhvr>
                                      <p:to>
                                        <p:strVal val="visible"/>
                                      </p:to>
                                    </p:set>
                                    <p:animEffect transition="in" filter="fade">
                                      <p:cBhvr>
                                        <p:cTn id="21" dur="500"/>
                                        <p:tgtEl>
                                          <p:spTgt spid="148"/>
                                        </p:tgtEl>
                                      </p:cBhvr>
                                    </p:animEffec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 Incrementador</a:t>
            </a:r>
          </a:p>
        </p:txBody>
      </p:sp>
      <p:sp>
        <p:nvSpPr>
          <p:cNvPr id="3" name="Content Placeholder 2"/>
          <p:cNvSpPr>
            <a:spLocks noGrp="1"/>
          </p:cNvSpPr>
          <p:nvPr>
            <p:ph idx="1"/>
          </p:nvPr>
        </p:nvSpPr>
        <p:spPr>
          <a:xfrm>
            <a:off x="657225" y="1485900"/>
            <a:ext cx="8029575" cy="709212"/>
          </a:xfrm>
        </p:spPr>
        <p:txBody>
          <a:bodyPr>
            <a:normAutofit/>
          </a:bodyPr>
          <a:lstStyle/>
          <a:p>
            <a:r>
              <a:rPr lang="pt-BR" dirty="0"/>
              <a:t>Um incrementador, ou seja, um circuito que soma 1 a um valor binário, pode ser usado por exemplo para um contador.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cxnSp>
        <p:nvCxnSpPr>
          <p:cNvPr id="31" name="Straight Arrow Connector 30"/>
          <p:cNvCxnSpPr/>
          <p:nvPr/>
        </p:nvCxnSpPr>
        <p:spPr>
          <a:xfrm flipH="1">
            <a:off x="7455513" y="4226377"/>
            <a:ext cx="34423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3" name="Rectangle 32"/>
          <p:cNvSpPr/>
          <p:nvPr/>
        </p:nvSpPr>
        <p:spPr>
          <a:xfrm>
            <a:off x="7743231" y="3993307"/>
            <a:ext cx="425417" cy="400110"/>
          </a:xfrm>
          <a:prstGeom prst="rect">
            <a:avLst/>
          </a:prstGeom>
        </p:spPr>
        <p:txBody>
          <a:bodyPr wrap="none">
            <a:spAutoFit/>
          </a:bodyPr>
          <a:lstStyle/>
          <a:p>
            <a:pPr algn="ctr"/>
            <a:r>
              <a:rPr lang="pt-BR" sz="2000" dirty="0"/>
              <a:t>C</a:t>
            </a:r>
            <a:r>
              <a:rPr lang="pt-BR" sz="1600" dirty="0"/>
              <a:t>0</a:t>
            </a:r>
            <a:endParaRPr lang="pt-BR" sz="2000" dirty="0"/>
          </a:p>
        </p:txBody>
      </p:sp>
      <p:grpSp>
        <p:nvGrpSpPr>
          <p:cNvPr id="51" name="Group 50"/>
          <p:cNvGrpSpPr/>
          <p:nvPr/>
        </p:nvGrpSpPr>
        <p:grpSpPr>
          <a:xfrm>
            <a:off x="5921864" y="2982588"/>
            <a:ext cx="1644851" cy="2387818"/>
            <a:chOff x="6354248" y="2695647"/>
            <a:chExt cx="1644851" cy="2605371"/>
          </a:xfrm>
        </p:grpSpPr>
        <p:sp>
          <p:nvSpPr>
            <p:cNvPr id="10" name="Rectangle 9"/>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2" name="Straight Arrow Connector 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3" name="Rectangle 12"/>
            <p:cNvSpPr/>
            <p:nvPr/>
          </p:nvSpPr>
          <p:spPr>
            <a:xfrm>
              <a:off x="6825436" y="2701555"/>
              <a:ext cx="620357" cy="400110"/>
            </a:xfrm>
            <a:prstGeom prst="rect">
              <a:avLst/>
            </a:prstGeom>
          </p:spPr>
          <p:txBody>
            <a:bodyPr wrap="none">
              <a:spAutoFit/>
            </a:bodyPr>
            <a:lstStyle/>
            <a:p>
              <a:pPr algn="ctr"/>
              <a:r>
                <a:rPr lang="pt-BR" sz="2000" dirty="0"/>
                <a:t>A[0]</a:t>
              </a:r>
            </a:p>
          </p:txBody>
        </p:sp>
        <p:cxnSp>
          <p:nvCxnSpPr>
            <p:cNvPr id="22" name="Straight Arrow Connector 21"/>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387634" y="2695647"/>
              <a:ext cx="611465" cy="400110"/>
            </a:xfrm>
            <a:prstGeom prst="rect">
              <a:avLst/>
            </a:prstGeom>
          </p:spPr>
          <p:txBody>
            <a:bodyPr wrap="none">
              <a:spAutoFit/>
            </a:bodyPr>
            <a:lstStyle/>
            <a:p>
              <a:pPr algn="ctr"/>
              <a:r>
                <a:rPr lang="pt-BR" sz="2000" dirty="0"/>
                <a:t>B[0]</a:t>
              </a:r>
            </a:p>
          </p:txBody>
        </p:sp>
        <p:cxnSp>
          <p:nvCxnSpPr>
            <p:cNvPr id="34" name="Straight Arrow Connector 33"/>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5" name="Rectangle 34"/>
            <p:cNvSpPr/>
            <p:nvPr/>
          </p:nvSpPr>
          <p:spPr>
            <a:xfrm>
              <a:off x="7108542" y="4900908"/>
              <a:ext cx="589800" cy="400110"/>
            </a:xfrm>
            <a:prstGeom prst="rect">
              <a:avLst/>
            </a:prstGeom>
          </p:spPr>
          <p:txBody>
            <a:bodyPr wrap="none">
              <a:spAutoFit/>
            </a:bodyPr>
            <a:lstStyle/>
            <a:p>
              <a:pPr algn="ctr"/>
              <a:r>
                <a:rPr lang="pt-BR" sz="2000" dirty="0"/>
                <a:t>S[0]</a:t>
              </a:r>
            </a:p>
          </p:txBody>
        </p:sp>
        <p:sp>
          <p:nvSpPr>
            <p:cNvPr id="36" name="Rectangle 35"/>
            <p:cNvSpPr/>
            <p:nvPr/>
          </p:nvSpPr>
          <p:spPr>
            <a:xfrm>
              <a:off x="6475837" y="3714884"/>
              <a:ext cx="425417" cy="400110"/>
            </a:xfrm>
            <a:prstGeom prst="rect">
              <a:avLst/>
            </a:prstGeom>
          </p:spPr>
          <p:txBody>
            <a:bodyPr wrap="none">
              <a:spAutoFit/>
            </a:bodyPr>
            <a:lstStyle/>
            <a:p>
              <a:pPr algn="ctr"/>
              <a:r>
                <a:rPr lang="pt-BR" sz="2000" dirty="0"/>
                <a:t>C</a:t>
              </a:r>
              <a:r>
                <a:rPr lang="pt-BR" sz="1600" dirty="0"/>
                <a:t>1</a:t>
              </a:r>
              <a:endParaRPr lang="pt-BR" sz="2000" dirty="0"/>
            </a:p>
          </p:txBody>
        </p:sp>
      </p:grpSp>
      <p:grpSp>
        <p:nvGrpSpPr>
          <p:cNvPr id="90" name="Group 89"/>
          <p:cNvGrpSpPr/>
          <p:nvPr/>
        </p:nvGrpSpPr>
        <p:grpSpPr>
          <a:xfrm>
            <a:off x="4398602" y="2982588"/>
            <a:ext cx="1644851" cy="2421228"/>
            <a:chOff x="6354248" y="2695647"/>
            <a:chExt cx="1644851" cy="2641825"/>
          </a:xfrm>
        </p:grpSpPr>
        <p:sp>
          <p:nvSpPr>
            <p:cNvPr id="91" name="Rectangle 9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92" name="Straight Arrow Connector 9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3" name="Rectangle 92"/>
            <p:cNvSpPr/>
            <p:nvPr/>
          </p:nvSpPr>
          <p:spPr>
            <a:xfrm>
              <a:off x="6825436" y="2701555"/>
              <a:ext cx="620357" cy="436564"/>
            </a:xfrm>
            <a:prstGeom prst="rect">
              <a:avLst/>
            </a:prstGeom>
          </p:spPr>
          <p:txBody>
            <a:bodyPr wrap="none">
              <a:spAutoFit/>
            </a:bodyPr>
            <a:lstStyle/>
            <a:p>
              <a:pPr algn="ctr"/>
              <a:r>
                <a:rPr lang="pt-BR" sz="2000" dirty="0"/>
                <a:t>A[1]</a:t>
              </a:r>
            </a:p>
          </p:txBody>
        </p:sp>
        <p:cxnSp>
          <p:nvCxnSpPr>
            <p:cNvPr id="94" name="Straight Arrow Connector 9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95" name="Straight Arrow Connector 9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6" name="Rectangle 95"/>
            <p:cNvSpPr/>
            <p:nvPr/>
          </p:nvSpPr>
          <p:spPr>
            <a:xfrm>
              <a:off x="7387634" y="2695647"/>
              <a:ext cx="611465" cy="436564"/>
            </a:xfrm>
            <a:prstGeom prst="rect">
              <a:avLst/>
            </a:prstGeom>
          </p:spPr>
          <p:txBody>
            <a:bodyPr wrap="none">
              <a:spAutoFit/>
            </a:bodyPr>
            <a:lstStyle/>
            <a:p>
              <a:pPr algn="ctr"/>
              <a:r>
                <a:rPr lang="pt-BR" sz="2000" dirty="0"/>
                <a:t>B[1]</a:t>
              </a:r>
            </a:p>
          </p:txBody>
        </p:sp>
        <p:cxnSp>
          <p:nvCxnSpPr>
            <p:cNvPr id="97" name="Straight Arrow Connector 9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8" name="Rectangle 97"/>
            <p:cNvSpPr/>
            <p:nvPr/>
          </p:nvSpPr>
          <p:spPr>
            <a:xfrm>
              <a:off x="7108542" y="4900908"/>
              <a:ext cx="589800" cy="436564"/>
            </a:xfrm>
            <a:prstGeom prst="rect">
              <a:avLst/>
            </a:prstGeom>
          </p:spPr>
          <p:txBody>
            <a:bodyPr wrap="none">
              <a:spAutoFit/>
            </a:bodyPr>
            <a:lstStyle/>
            <a:p>
              <a:pPr algn="ctr"/>
              <a:r>
                <a:rPr lang="pt-BR" sz="2000" dirty="0" err="1"/>
                <a:t>S</a:t>
              </a:r>
              <a:r>
                <a:rPr lang="pt-BR" sz="2000" dirty="0"/>
                <a:t>[1]</a:t>
              </a:r>
            </a:p>
          </p:txBody>
        </p:sp>
        <p:sp>
          <p:nvSpPr>
            <p:cNvPr id="99" name="Rectangle 98"/>
            <p:cNvSpPr/>
            <p:nvPr/>
          </p:nvSpPr>
          <p:spPr>
            <a:xfrm>
              <a:off x="6475837" y="3714884"/>
              <a:ext cx="425417" cy="436564"/>
            </a:xfrm>
            <a:prstGeom prst="rect">
              <a:avLst/>
            </a:prstGeom>
          </p:spPr>
          <p:txBody>
            <a:bodyPr wrap="none">
              <a:spAutoFit/>
            </a:bodyPr>
            <a:lstStyle/>
            <a:p>
              <a:pPr algn="ctr"/>
              <a:r>
                <a:rPr lang="pt-BR" sz="2000" dirty="0"/>
                <a:t>C</a:t>
              </a:r>
              <a:r>
                <a:rPr lang="pt-BR" sz="1600" dirty="0"/>
                <a:t>2</a:t>
              </a:r>
              <a:endParaRPr lang="pt-BR" sz="2000" dirty="0"/>
            </a:p>
          </p:txBody>
        </p:sp>
      </p:grpSp>
      <p:grpSp>
        <p:nvGrpSpPr>
          <p:cNvPr id="100" name="Group 99"/>
          <p:cNvGrpSpPr/>
          <p:nvPr/>
        </p:nvGrpSpPr>
        <p:grpSpPr>
          <a:xfrm>
            <a:off x="2875340" y="2982588"/>
            <a:ext cx="1644851" cy="2421228"/>
            <a:chOff x="6354248" y="2695647"/>
            <a:chExt cx="1644851" cy="2641825"/>
          </a:xfrm>
        </p:grpSpPr>
        <p:sp>
          <p:nvSpPr>
            <p:cNvPr id="101" name="Rectangle 10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02" name="Straight Arrow Connector 10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3" name="Rectangle 102"/>
            <p:cNvSpPr/>
            <p:nvPr/>
          </p:nvSpPr>
          <p:spPr>
            <a:xfrm>
              <a:off x="6825436" y="2701555"/>
              <a:ext cx="620357" cy="436564"/>
            </a:xfrm>
            <a:prstGeom prst="rect">
              <a:avLst/>
            </a:prstGeom>
          </p:spPr>
          <p:txBody>
            <a:bodyPr wrap="none">
              <a:spAutoFit/>
            </a:bodyPr>
            <a:lstStyle/>
            <a:p>
              <a:pPr algn="ctr"/>
              <a:r>
                <a:rPr lang="pt-BR" sz="2000" dirty="0"/>
                <a:t>A[2]</a:t>
              </a:r>
            </a:p>
          </p:txBody>
        </p:sp>
        <p:cxnSp>
          <p:nvCxnSpPr>
            <p:cNvPr id="104" name="Straight Arrow Connector 10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05" name="Straight Arrow Connector 10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6" name="Rectangle 105"/>
            <p:cNvSpPr/>
            <p:nvPr/>
          </p:nvSpPr>
          <p:spPr>
            <a:xfrm>
              <a:off x="7387634" y="2695647"/>
              <a:ext cx="611465" cy="436564"/>
            </a:xfrm>
            <a:prstGeom prst="rect">
              <a:avLst/>
            </a:prstGeom>
          </p:spPr>
          <p:txBody>
            <a:bodyPr wrap="none">
              <a:spAutoFit/>
            </a:bodyPr>
            <a:lstStyle/>
            <a:p>
              <a:pPr algn="ctr"/>
              <a:r>
                <a:rPr lang="pt-BR" sz="2000" dirty="0"/>
                <a:t>B[2]</a:t>
              </a:r>
            </a:p>
          </p:txBody>
        </p:sp>
        <p:cxnSp>
          <p:nvCxnSpPr>
            <p:cNvPr id="107" name="Straight Arrow Connector 10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8" name="Rectangle 107"/>
            <p:cNvSpPr/>
            <p:nvPr/>
          </p:nvSpPr>
          <p:spPr>
            <a:xfrm>
              <a:off x="7108542" y="4900908"/>
              <a:ext cx="589800" cy="436564"/>
            </a:xfrm>
            <a:prstGeom prst="rect">
              <a:avLst/>
            </a:prstGeom>
          </p:spPr>
          <p:txBody>
            <a:bodyPr wrap="none">
              <a:spAutoFit/>
            </a:bodyPr>
            <a:lstStyle/>
            <a:p>
              <a:pPr algn="ctr"/>
              <a:r>
                <a:rPr lang="pt-BR" sz="2000" dirty="0" err="1"/>
                <a:t>S</a:t>
              </a:r>
              <a:r>
                <a:rPr lang="pt-BR" sz="2000" dirty="0"/>
                <a:t>[2]</a:t>
              </a:r>
            </a:p>
          </p:txBody>
        </p:sp>
        <p:sp>
          <p:nvSpPr>
            <p:cNvPr id="109" name="Rectangle 108"/>
            <p:cNvSpPr/>
            <p:nvPr/>
          </p:nvSpPr>
          <p:spPr>
            <a:xfrm>
              <a:off x="6475837" y="3714884"/>
              <a:ext cx="425417" cy="436564"/>
            </a:xfrm>
            <a:prstGeom prst="rect">
              <a:avLst/>
            </a:prstGeom>
          </p:spPr>
          <p:txBody>
            <a:bodyPr wrap="none">
              <a:spAutoFit/>
            </a:bodyPr>
            <a:lstStyle/>
            <a:p>
              <a:pPr algn="ctr"/>
              <a:r>
                <a:rPr lang="pt-BR" sz="2000" dirty="0"/>
                <a:t>C</a:t>
              </a:r>
              <a:r>
                <a:rPr lang="pt-BR" sz="1600" dirty="0"/>
                <a:t>3</a:t>
              </a:r>
              <a:endParaRPr lang="pt-BR" sz="2000" dirty="0"/>
            </a:p>
          </p:txBody>
        </p:sp>
      </p:grpSp>
      <p:grpSp>
        <p:nvGrpSpPr>
          <p:cNvPr id="110" name="Group 109"/>
          <p:cNvGrpSpPr/>
          <p:nvPr/>
        </p:nvGrpSpPr>
        <p:grpSpPr>
          <a:xfrm>
            <a:off x="1352078" y="2982588"/>
            <a:ext cx="1644851" cy="2421228"/>
            <a:chOff x="6354248" y="2695647"/>
            <a:chExt cx="1644851" cy="2641825"/>
          </a:xfrm>
        </p:grpSpPr>
        <p:sp>
          <p:nvSpPr>
            <p:cNvPr id="111" name="Rectangle 11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12" name="Straight Arrow Connector 1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3" name="Rectangle 112"/>
            <p:cNvSpPr/>
            <p:nvPr/>
          </p:nvSpPr>
          <p:spPr>
            <a:xfrm>
              <a:off x="6825436" y="2701555"/>
              <a:ext cx="620357" cy="436564"/>
            </a:xfrm>
            <a:prstGeom prst="rect">
              <a:avLst/>
            </a:prstGeom>
          </p:spPr>
          <p:txBody>
            <a:bodyPr wrap="none">
              <a:spAutoFit/>
            </a:bodyPr>
            <a:lstStyle/>
            <a:p>
              <a:pPr algn="ctr"/>
              <a:r>
                <a:rPr lang="pt-BR" sz="2000" dirty="0"/>
                <a:t>A[3]</a:t>
              </a:r>
            </a:p>
          </p:txBody>
        </p:sp>
        <p:cxnSp>
          <p:nvCxnSpPr>
            <p:cNvPr id="114" name="Straight Arrow Connector 11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15" name="Straight Arrow Connector 11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6" name="Rectangle 115"/>
            <p:cNvSpPr/>
            <p:nvPr/>
          </p:nvSpPr>
          <p:spPr>
            <a:xfrm>
              <a:off x="7387634" y="2695647"/>
              <a:ext cx="611465" cy="436564"/>
            </a:xfrm>
            <a:prstGeom prst="rect">
              <a:avLst/>
            </a:prstGeom>
          </p:spPr>
          <p:txBody>
            <a:bodyPr wrap="none">
              <a:spAutoFit/>
            </a:bodyPr>
            <a:lstStyle/>
            <a:p>
              <a:pPr algn="ctr"/>
              <a:r>
                <a:rPr lang="pt-BR" sz="2000" dirty="0"/>
                <a:t>B[3]</a:t>
              </a:r>
            </a:p>
          </p:txBody>
        </p:sp>
        <p:cxnSp>
          <p:nvCxnSpPr>
            <p:cNvPr id="117" name="Straight Arrow Connector 11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8" name="Rectangle 117"/>
            <p:cNvSpPr/>
            <p:nvPr/>
          </p:nvSpPr>
          <p:spPr>
            <a:xfrm>
              <a:off x="7108542" y="4900908"/>
              <a:ext cx="589800" cy="436564"/>
            </a:xfrm>
            <a:prstGeom prst="rect">
              <a:avLst/>
            </a:prstGeom>
          </p:spPr>
          <p:txBody>
            <a:bodyPr wrap="none">
              <a:spAutoFit/>
            </a:bodyPr>
            <a:lstStyle/>
            <a:p>
              <a:pPr algn="ctr"/>
              <a:r>
                <a:rPr lang="pt-BR" sz="2000" dirty="0" err="1"/>
                <a:t>S</a:t>
              </a:r>
              <a:r>
                <a:rPr lang="pt-BR" sz="2000" dirty="0"/>
                <a:t>[3]</a:t>
              </a:r>
            </a:p>
          </p:txBody>
        </p:sp>
        <p:sp>
          <p:nvSpPr>
            <p:cNvPr id="119" name="Rectangle 118"/>
            <p:cNvSpPr/>
            <p:nvPr/>
          </p:nvSpPr>
          <p:spPr>
            <a:xfrm>
              <a:off x="6474384" y="3714884"/>
              <a:ext cx="428322" cy="436564"/>
            </a:xfrm>
            <a:prstGeom prst="rect">
              <a:avLst/>
            </a:prstGeom>
          </p:spPr>
          <p:txBody>
            <a:bodyPr wrap="none">
              <a:spAutoFit/>
            </a:bodyPr>
            <a:lstStyle/>
            <a:p>
              <a:pPr algn="ctr"/>
              <a:r>
                <a:rPr lang="pt-BR" sz="2000" dirty="0"/>
                <a:t>C</a:t>
              </a:r>
              <a:r>
                <a:rPr lang="pt-BR" sz="1600" dirty="0"/>
                <a:t>4</a:t>
              </a:r>
              <a:endParaRPr lang="pt-BR" sz="2000" dirty="0"/>
            </a:p>
          </p:txBody>
        </p:sp>
      </p:grpSp>
      <p:sp>
        <p:nvSpPr>
          <p:cNvPr id="6" name="TextBox 5"/>
          <p:cNvSpPr txBox="1"/>
          <p:nvPr/>
        </p:nvSpPr>
        <p:spPr>
          <a:xfrm>
            <a:off x="8168648" y="2517113"/>
            <a:ext cx="689812" cy="584776"/>
          </a:xfrm>
          <a:prstGeom prst="rect">
            <a:avLst/>
          </a:prstGeom>
          <a:noFill/>
        </p:spPr>
        <p:txBody>
          <a:bodyPr wrap="none" rtlCol="0">
            <a:spAutoFit/>
          </a:bodyPr>
          <a:lstStyle/>
          <a:p>
            <a:r>
              <a:rPr lang="pt-BR" sz="3200" b="1" dirty="0">
                <a:solidFill>
                  <a:srgbClr val="FF0000"/>
                </a:solidFill>
              </a:rPr>
              <a:t>+ 1</a:t>
            </a:r>
          </a:p>
        </p:txBody>
      </p:sp>
      <p:cxnSp>
        <p:nvCxnSpPr>
          <p:cNvPr id="8" name="Straight Arrow Connector 7"/>
          <p:cNvCxnSpPr/>
          <p:nvPr/>
        </p:nvCxnSpPr>
        <p:spPr>
          <a:xfrm flipH="1">
            <a:off x="7882581" y="3170917"/>
            <a:ext cx="368897" cy="441783"/>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0308FEB-EB6A-EF28-BCE7-2954CBE3EBDB}"/>
              </a:ext>
            </a:extLst>
          </p:cNvPr>
          <p:cNvSpPr txBox="1"/>
          <p:nvPr/>
        </p:nvSpPr>
        <p:spPr>
          <a:xfrm>
            <a:off x="3108627" y="2233843"/>
            <a:ext cx="393056" cy="584775"/>
          </a:xfrm>
          <a:prstGeom prst="rect">
            <a:avLst/>
          </a:prstGeom>
          <a:noFill/>
        </p:spPr>
        <p:txBody>
          <a:bodyPr wrap="none" rtlCol="0">
            <a:spAutoFit/>
          </a:bodyPr>
          <a:lstStyle/>
          <a:p>
            <a:r>
              <a:rPr lang="pt-BR" sz="3200" b="1" dirty="0">
                <a:solidFill>
                  <a:srgbClr val="FF0000"/>
                </a:solidFill>
              </a:rPr>
              <a:t>0</a:t>
            </a:r>
          </a:p>
        </p:txBody>
      </p:sp>
      <p:cxnSp>
        <p:nvCxnSpPr>
          <p:cNvPr id="9" name="Straight Arrow Connector 8">
            <a:extLst>
              <a:ext uri="{FF2B5EF4-FFF2-40B4-BE49-F238E27FC236}">
                <a16:creationId xmlns:a16="http://schemas.microsoft.com/office/drawing/2014/main" id="{3570253A-F11F-8482-D2F1-53590BABAE7C}"/>
              </a:ext>
            </a:extLst>
          </p:cNvPr>
          <p:cNvCxnSpPr>
            <a:cxnSpLocks/>
          </p:cNvCxnSpPr>
          <p:nvPr/>
        </p:nvCxnSpPr>
        <p:spPr>
          <a:xfrm flipH="1">
            <a:off x="2754586" y="2673047"/>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189C6F6-6036-B7E0-A555-A7C1FDDFAAEE}"/>
              </a:ext>
            </a:extLst>
          </p:cNvPr>
          <p:cNvSpPr txBox="1"/>
          <p:nvPr/>
        </p:nvSpPr>
        <p:spPr>
          <a:xfrm>
            <a:off x="4675837" y="2208590"/>
            <a:ext cx="393056" cy="584775"/>
          </a:xfrm>
          <a:prstGeom prst="rect">
            <a:avLst/>
          </a:prstGeom>
          <a:noFill/>
        </p:spPr>
        <p:txBody>
          <a:bodyPr wrap="none" rtlCol="0">
            <a:spAutoFit/>
          </a:bodyPr>
          <a:lstStyle/>
          <a:p>
            <a:r>
              <a:rPr lang="pt-BR" sz="3200" b="1" dirty="0">
                <a:solidFill>
                  <a:srgbClr val="FF0000"/>
                </a:solidFill>
              </a:rPr>
              <a:t>0</a:t>
            </a:r>
          </a:p>
        </p:txBody>
      </p:sp>
      <p:cxnSp>
        <p:nvCxnSpPr>
          <p:cNvPr id="16" name="Straight Arrow Connector 15">
            <a:extLst>
              <a:ext uri="{FF2B5EF4-FFF2-40B4-BE49-F238E27FC236}">
                <a16:creationId xmlns:a16="http://schemas.microsoft.com/office/drawing/2014/main" id="{0C14CFA5-06E2-CB48-E198-E3E56AD5A242}"/>
              </a:ext>
            </a:extLst>
          </p:cNvPr>
          <p:cNvCxnSpPr>
            <a:cxnSpLocks/>
          </p:cNvCxnSpPr>
          <p:nvPr/>
        </p:nvCxnSpPr>
        <p:spPr>
          <a:xfrm flipH="1">
            <a:off x="4321796" y="264779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D0D5ADA-5B4A-3962-752F-B20FDF3BC9B6}"/>
              </a:ext>
            </a:extLst>
          </p:cNvPr>
          <p:cNvSpPr txBox="1"/>
          <p:nvPr/>
        </p:nvSpPr>
        <p:spPr>
          <a:xfrm>
            <a:off x="6139983" y="2223650"/>
            <a:ext cx="393056" cy="584775"/>
          </a:xfrm>
          <a:prstGeom prst="rect">
            <a:avLst/>
          </a:prstGeom>
          <a:noFill/>
        </p:spPr>
        <p:txBody>
          <a:bodyPr wrap="none" rtlCol="0">
            <a:spAutoFit/>
          </a:bodyPr>
          <a:lstStyle/>
          <a:p>
            <a:r>
              <a:rPr lang="pt-BR" sz="3200" b="1" dirty="0">
                <a:solidFill>
                  <a:srgbClr val="FF0000"/>
                </a:solidFill>
              </a:rPr>
              <a:t>0</a:t>
            </a:r>
          </a:p>
        </p:txBody>
      </p:sp>
      <p:cxnSp>
        <p:nvCxnSpPr>
          <p:cNvPr id="18" name="Straight Arrow Connector 17">
            <a:extLst>
              <a:ext uri="{FF2B5EF4-FFF2-40B4-BE49-F238E27FC236}">
                <a16:creationId xmlns:a16="http://schemas.microsoft.com/office/drawing/2014/main" id="{631FFE9A-3178-E279-A936-70F1F5C4E7C2}"/>
              </a:ext>
            </a:extLst>
          </p:cNvPr>
          <p:cNvCxnSpPr>
            <a:cxnSpLocks/>
          </p:cNvCxnSpPr>
          <p:nvPr/>
        </p:nvCxnSpPr>
        <p:spPr>
          <a:xfrm flipH="1">
            <a:off x="5785942" y="266285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7E18461-F42A-9CCF-A3EE-0A4650E9C17F}"/>
              </a:ext>
            </a:extLst>
          </p:cNvPr>
          <p:cNvSpPr txBox="1"/>
          <p:nvPr/>
        </p:nvSpPr>
        <p:spPr>
          <a:xfrm>
            <a:off x="7678266" y="2223650"/>
            <a:ext cx="393056" cy="584775"/>
          </a:xfrm>
          <a:prstGeom prst="rect">
            <a:avLst/>
          </a:prstGeom>
          <a:noFill/>
        </p:spPr>
        <p:txBody>
          <a:bodyPr wrap="none" rtlCol="0">
            <a:spAutoFit/>
          </a:bodyPr>
          <a:lstStyle/>
          <a:p>
            <a:r>
              <a:rPr lang="pt-BR" sz="3200" b="1" dirty="0">
                <a:solidFill>
                  <a:srgbClr val="FF0000"/>
                </a:solidFill>
              </a:rPr>
              <a:t>0</a:t>
            </a:r>
          </a:p>
        </p:txBody>
      </p:sp>
      <p:cxnSp>
        <p:nvCxnSpPr>
          <p:cNvPr id="20" name="Straight Arrow Connector 19">
            <a:extLst>
              <a:ext uri="{FF2B5EF4-FFF2-40B4-BE49-F238E27FC236}">
                <a16:creationId xmlns:a16="http://schemas.microsoft.com/office/drawing/2014/main" id="{6078E5AA-F680-CB17-50E1-F8A60818E729}"/>
              </a:ext>
            </a:extLst>
          </p:cNvPr>
          <p:cNvCxnSpPr>
            <a:cxnSpLocks/>
          </p:cNvCxnSpPr>
          <p:nvPr/>
        </p:nvCxnSpPr>
        <p:spPr>
          <a:xfrm flipH="1">
            <a:off x="7324225" y="266285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6885026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30" presetClass="entr" presetSubtype="0" fill="hold" nodeType="afterEffect">
                                  <p:stCondLst>
                                    <p:cond delay="10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800" decel="100000"/>
                                        <p:tgtEl>
                                          <p:spTgt spid="8"/>
                                        </p:tgtEl>
                                      </p:cBhvr>
                                    </p:animEffect>
                                    <p:anim calcmode="lin" valueType="num">
                                      <p:cBhvr>
                                        <p:cTn id="11" dur="800" decel="100000" fill="hold"/>
                                        <p:tgtEl>
                                          <p:spTgt spid="8"/>
                                        </p:tgtEl>
                                        <p:attrNameLst>
                                          <p:attrName>style.rotation</p:attrName>
                                        </p:attrNameLst>
                                      </p:cBhvr>
                                      <p:tavLst>
                                        <p:tav tm="0">
                                          <p:val>
                                            <p:fltVal val="-90"/>
                                          </p:val>
                                        </p:tav>
                                        <p:tav tm="100000">
                                          <p:val>
                                            <p:fltVal val="0"/>
                                          </p:val>
                                        </p:tav>
                                      </p:tavLst>
                                    </p:anim>
                                    <p:anim calcmode="lin" valueType="num">
                                      <p:cBhvr>
                                        <p:cTn id="12" dur="800" decel="100000" fill="hold"/>
                                        <p:tgtEl>
                                          <p:spTgt spid="8"/>
                                        </p:tgtEl>
                                        <p:attrNameLst>
                                          <p:attrName>ppt_x</p:attrName>
                                        </p:attrNameLst>
                                      </p:cBhvr>
                                      <p:tavLst>
                                        <p:tav tm="0">
                                          <p:val>
                                            <p:strVal val="#ppt_x+0.4"/>
                                          </p:val>
                                        </p:tav>
                                        <p:tav tm="100000">
                                          <p:val>
                                            <p:strVal val="#ppt_x-0.05"/>
                                          </p:val>
                                        </p:tav>
                                      </p:tavLst>
                                    </p:anim>
                                    <p:anim calcmode="lin" valueType="num">
                                      <p:cBhvr>
                                        <p:cTn id="13" dur="800" decel="100000" fill="hold"/>
                                        <p:tgtEl>
                                          <p:spTgt spid="8"/>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2000"/>
                            </p:stCondLst>
                            <p:childTnLst>
                              <p:par>
                                <p:cTn id="20" presetID="30"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800" decel="100000"/>
                                        <p:tgtEl>
                                          <p:spTgt spid="9"/>
                                        </p:tgtEl>
                                      </p:cBhvr>
                                    </p:animEffect>
                                    <p:anim calcmode="lin" valueType="num">
                                      <p:cBhvr>
                                        <p:cTn id="23" dur="800" decel="100000" fill="hold"/>
                                        <p:tgtEl>
                                          <p:spTgt spid="9"/>
                                        </p:tgtEl>
                                        <p:attrNameLst>
                                          <p:attrName>style.rotation</p:attrName>
                                        </p:attrNameLst>
                                      </p:cBhvr>
                                      <p:tavLst>
                                        <p:tav tm="0">
                                          <p:val>
                                            <p:fltVal val="-90"/>
                                          </p:val>
                                        </p:tav>
                                        <p:tav tm="100000">
                                          <p:val>
                                            <p:fltVal val="0"/>
                                          </p:val>
                                        </p:tav>
                                      </p:tavLst>
                                    </p:anim>
                                    <p:anim calcmode="lin" valueType="num">
                                      <p:cBhvr>
                                        <p:cTn id="24" dur="800" decel="100000" fill="hold"/>
                                        <p:tgtEl>
                                          <p:spTgt spid="9"/>
                                        </p:tgtEl>
                                        <p:attrNameLst>
                                          <p:attrName>ppt_x</p:attrName>
                                        </p:attrNameLst>
                                      </p:cBhvr>
                                      <p:tavLst>
                                        <p:tav tm="0">
                                          <p:val>
                                            <p:strVal val="#ppt_x+0.4"/>
                                          </p:val>
                                        </p:tav>
                                        <p:tav tm="100000">
                                          <p:val>
                                            <p:strVal val="#ppt_x-0.05"/>
                                          </p:val>
                                        </p:tav>
                                      </p:tavLst>
                                    </p:anim>
                                    <p:anim calcmode="lin" valueType="num">
                                      <p:cBhvr>
                                        <p:cTn id="25" dur="800" decel="100000" fill="hold"/>
                                        <p:tgtEl>
                                          <p:spTgt spid="9"/>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par>
                          <p:cTn id="28" fill="hold">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par>
                          <p:cTn id="31" fill="hold">
                            <p:stCondLst>
                              <p:cond delay="3000"/>
                            </p:stCondLst>
                            <p:childTnLst>
                              <p:par>
                                <p:cTn id="32" presetID="30" presetClass="entr" presetSubtype="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800" decel="100000"/>
                                        <p:tgtEl>
                                          <p:spTgt spid="16"/>
                                        </p:tgtEl>
                                      </p:cBhvr>
                                    </p:animEffect>
                                    <p:anim calcmode="lin" valueType="num">
                                      <p:cBhvr>
                                        <p:cTn id="35" dur="800" decel="100000" fill="hold"/>
                                        <p:tgtEl>
                                          <p:spTgt spid="16"/>
                                        </p:tgtEl>
                                        <p:attrNameLst>
                                          <p:attrName>style.rotation</p:attrName>
                                        </p:attrNameLst>
                                      </p:cBhvr>
                                      <p:tavLst>
                                        <p:tav tm="0">
                                          <p:val>
                                            <p:fltVal val="-90"/>
                                          </p:val>
                                        </p:tav>
                                        <p:tav tm="100000">
                                          <p:val>
                                            <p:fltVal val="0"/>
                                          </p:val>
                                        </p:tav>
                                      </p:tavLst>
                                    </p:anim>
                                    <p:anim calcmode="lin" valueType="num">
                                      <p:cBhvr>
                                        <p:cTn id="36" dur="800" decel="100000" fill="hold"/>
                                        <p:tgtEl>
                                          <p:spTgt spid="16"/>
                                        </p:tgtEl>
                                        <p:attrNameLst>
                                          <p:attrName>ppt_x</p:attrName>
                                        </p:attrNameLst>
                                      </p:cBhvr>
                                      <p:tavLst>
                                        <p:tav tm="0">
                                          <p:val>
                                            <p:strVal val="#ppt_x+0.4"/>
                                          </p:val>
                                        </p:tav>
                                        <p:tav tm="100000">
                                          <p:val>
                                            <p:strVal val="#ppt_x-0.05"/>
                                          </p:val>
                                        </p:tav>
                                      </p:tavLst>
                                    </p:anim>
                                    <p:anim calcmode="lin" valueType="num">
                                      <p:cBhvr>
                                        <p:cTn id="37" dur="800" decel="100000" fill="hold"/>
                                        <p:tgtEl>
                                          <p:spTgt spid="16"/>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16"/>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16"/>
                                        </p:tgtEl>
                                        <p:attrNameLst>
                                          <p:attrName>ppt_y</p:attrName>
                                        </p:attrNameLst>
                                      </p:cBhvr>
                                      <p:tavLst>
                                        <p:tav tm="0">
                                          <p:val>
                                            <p:strVal val="#ppt_y+0.1"/>
                                          </p:val>
                                        </p:tav>
                                        <p:tav tm="100000">
                                          <p:val>
                                            <p:strVal val="#ppt_y"/>
                                          </p:val>
                                        </p:tav>
                                      </p:tavLst>
                                    </p:anim>
                                  </p:childTnLst>
                                </p:cTn>
                              </p:par>
                            </p:childTnLst>
                          </p:cTn>
                        </p:par>
                        <p:par>
                          <p:cTn id="40" fill="hold">
                            <p:stCondLst>
                              <p:cond delay="4000"/>
                            </p:stCondLst>
                            <p:childTnLst>
                              <p:par>
                                <p:cTn id="41" presetID="1"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par>
                          <p:cTn id="43" fill="hold">
                            <p:stCondLst>
                              <p:cond delay="4000"/>
                            </p:stCondLst>
                            <p:childTnLst>
                              <p:par>
                                <p:cTn id="44" presetID="30" presetClass="entr" presetSubtype="0"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800" decel="100000"/>
                                        <p:tgtEl>
                                          <p:spTgt spid="18"/>
                                        </p:tgtEl>
                                      </p:cBhvr>
                                    </p:animEffect>
                                    <p:anim calcmode="lin" valueType="num">
                                      <p:cBhvr>
                                        <p:cTn id="47" dur="800" decel="100000" fill="hold"/>
                                        <p:tgtEl>
                                          <p:spTgt spid="18"/>
                                        </p:tgtEl>
                                        <p:attrNameLst>
                                          <p:attrName>style.rotation</p:attrName>
                                        </p:attrNameLst>
                                      </p:cBhvr>
                                      <p:tavLst>
                                        <p:tav tm="0">
                                          <p:val>
                                            <p:fltVal val="-90"/>
                                          </p:val>
                                        </p:tav>
                                        <p:tav tm="100000">
                                          <p:val>
                                            <p:fltVal val="0"/>
                                          </p:val>
                                        </p:tav>
                                      </p:tavLst>
                                    </p:anim>
                                    <p:anim calcmode="lin" valueType="num">
                                      <p:cBhvr>
                                        <p:cTn id="48" dur="800" decel="100000" fill="hold"/>
                                        <p:tgtEl>
                                          <p:spTgt spid="18"/>
                                        </p:tgtEl>
                                        <p:attrNameLst>
                                          <p:attrName>ppt_x</p:attrName>
                                        </p:attrNameLst>
                                      </p:cBhvr>
                                      <p:tavLst>
                                        <p:tav tm="0">
                                          <p:val>
                                            <p:strVal val="#ppt_x+0.4"/>
                                          </p:val>
                                        </p:tav>
                                        <p:tav tm="100000">
                                          <p:val>
                                            <p:strVal val="#ppt_x-0.05"/>
                                          </p:val>
                                        </p:tav>
                                      </p:tavLst>
                                    </p:anim>
                                    <p:anim calcmode="lin" valueType="num">
                                      <p:cBhvr>
                                        <p:cTn id="49" dur="800" decel="100000" fill="hold"/>
                                        <p:tgtEl>
                                          <p:spTgt spid="18"/>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par>
                          <p:cTn id="52" fill="hold">
                            <p:stCondLst>
                              <p:cond delay="5000"/>
                            </p:stCondLst>
                            <p:childTnLst>
                              <p:par>
                                <p:cTn id="53" presetID="1"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par>
                          <p:cTn id="55" fill="hold">
                            <p:stCondLst>
                              <p:cond delay="5000"/>
                            </p:stCondLst>
                            <p:childTnLst>
                              <p:par>
                                <p:cTn id="56" presetID="30" presetClass="entr" presetSubtype="0" fill="hold"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800" decel="100000"/>
                                        <p:tgtEl>
                                          <p:spTgt spid="20"/>
                                        </p:tgtEl>
                                      </p:cBhvr>
                                    </p:animEffect>
                                    <p:anim calcmode="lin" valueType="num">
                                      <p:cBhvr>
                                        <p:cTn id="59" dur="800" decel="100000" fill="hold"/>
                                        <p:tgtEl>
                                          <p:spTgt spid="20"/>
                                        </p:tgtEl>
                                        <p:attrNameLst>
                                          <p:attrName>style.rotation</p:attrName>
                                        </p:attrNameLst>
                                      </p:cBhvr>
                                      <p:tavLst>
                                        <p:tav tm="0">
                                          <p:val>
                                            <p:fltVal val="-90"/>
                                          </p:val>
                                        </p:tav>
                                        <p:tav tm="100000">
                                          <p:val>
                                            <p:fltVal val="0"/>
                                          </p:val>
                                        </p:tav>
                                      </p:tavLst>
                                    </p:anim>
                                    <p:anim calcmode="lin" valueType="num">
                                      <p:cBhvr>
                                        <p:cTn id="60" dur="800" decel="100000" fill="hold"/>
                                        <p:tgtEl>
                                          <p:spTgt spid="20"/>
                                        </p:tgtEl>
                                        <p:attrNameLst>
                                          <p:attrName>ppt_x</p:attrName>
                                        </p:attrNameLst>
                                      </p:cBhvr>
                                      <p:tavLst>
                                        <p:tav tm="0">
                                          <p:val>
                                            <p:strVal val="#ppt_x+0.4"/>
                                          </p:val>
                                        </p:tav>
                                        <p:tav tm="100000">
                                          <p:val>
                                            <p:strVal val="#ppt_x-0.05"/>
                                          </p:val>
                                        </p:tav>
                                      </p:tavLst>
                                    </p:anim>
                                    <p:anim calcmode="lin" valueType="num">
                                      <p:cBhvr>
                                        <p:cTn id="61" dur="800" decel="100000" fill="hold"/>
                                        <p:tgtEl>
                                          <p:spTgt spid="20"/>
                                        </p:tgtEl>
                                        <p:attrNameLst>
                                          <p:attrName>ppt_y</p:attrName>
                                        </p:attrNameLst>
                                      </p:cBhvr>
                                      <p:tavLst>
                                        <p:tav tm="0">
                                          <p:val>
                                            <p:strVal val="#ppt_y-0.4"/>
                                          </p:val>
                                        </p:tav>
                                        <p:tav tm="100000">
                                          <p:val>
                                            <p:strVal val="#ppt_y+0.1"/>
                                          </p:val>
                                        </p:tav>
                                      </p:tavLst>
                                    </p:anim>
                                    <p:anim calcmode="lin" valueType="num">
                                      <p:cBhvr>
                                        <p:cTn id="62"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63"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5" grpId="0"/>
      <p:bldP spid="17"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Somador/Subtrator de 4 bits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pic>
        <p:nvPicPr>
          <p:cNvPr id="6" name="Picture 5"/>
          <p:cNvPicPr>
            <a:picLocks noChangeAspect="1"/>
          </p:cNvPicPr>
          <p:nvPr/>
        </p:nvPicPr>
        <p:blipFill>
          <a:blip r:embed="rId3"/>
          <a:stretch>
            <a:fillRect/>
          </a:stretch>
        </p:blipFill>
        <p:spPr>
          <a:xfrm>
            <a:off x="1238250" y="1524000"/>
            <a:ext cx="6667500" cy="3810000"/>
          </a:xfrm>
          <a:prstGeom prst="rect">
            <a:avLst/>
          </a:prstGeom>
        </p:spPr>
      </p:pic>
      <p:sp>
        <p:nvSpPr>
          <p:cNvPr id="8" name="TextBox 7">
            <a:extLst>
              <a:ext uri="{FF2B5EF4-FFF2-40B4-BE49-F238E27FC236}">
                <a16:creationId xmlns:a16="http://schemas.microsoft.com/office/drawing/2014/main" id="{C47C6FB3-8A68-D5A5-8AEC-2387EF55058D}"/>
              </a:ext>
            </a:extLst>
          </p:cNvPr>
          <p:cNvSpPr txBox="1"/>
          <p:nvPr/>
        </p:nvSpPr>
        <p:spPr>
          <a:xfrm>
            <a:off x="1238250" y="5599613"/>
            <a:ext cx="6742723" cy="523220"/>
          </a:xfrm>
          <a:prstGeom prst="rect">
            <a:avLst/>
          </a:prstGeom>
          <a:noFill/>
        </p:spPr>
        <p:txBody>
          <a:bodyPr wrap="square">
            <a:spAutoFit/>
          </a:bodyPr>
          <a:lstStyle/>
          <a:p>
            <a:r>
              <a:rPr lang="pt-BR" sz="2800" dirty="0"/>
              <a:t>somador/subtrator que calcula </a:t>
            </a:r>
            <a:r>
              <a:rPr lang="pt-BR" sz="2800" b="1" dirty="0">
                <a:latin typeface="Courier New" panose="02070309020205020404" pitchFamily="49" charset="0"/>
              </a:rPr>
              <a:t>B+A e B-A</a:t>
            </a:r>
            <a:r>
              <a:rPr lang="pt-BR" sz="2800" dirty="0"/>
              <a:t> </a:t>
            </a:r>
          </a:p>
        </p:txBody>
      </p:sp>
    </p:spTree>
    <p:extLst>
      <p:ext uri="{BB962C8B-B14F-4D97-AF65-F5344CB8AC3E}">
        <p14:creationId xmlns:p14="http://schemas.microsoft.com/office/powerpoint/2010/main" val="255657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Somador em CPU</a:t>
            </a:r>
            <a:endParaRPr lang="pt-BR" i="1" dirty="0"/>
          </a:p>
        </p:txBody>
      </p:sp>
      <p:sp>
        <p:nvSpPr>
          <p:cNvPr id="3" name="Content Placeholder 2"/>
          <p:cNvSpPr>
            <a:spLocks noGrp="1"/>
          </p:cNvSpPr>
          <p:nvPr>
            <p:ph idx="1"/>
          </p:nvPr>
        </p:nvSpPr>
        <p:spPr/>
        <p:txBody>
          <a:bodyPr/>
          <a:lstStyle/>
          <a:p>
            <a:r>
              <a:rPr lang="pt-BR" dirty="0"/>
              <a:t>Diversas otimizações podem ser realizadas, mas o princípio de circuito para soma é sempre muito parecido.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12</a:t>
            </a:fld>
            <a:endParaRPr lang="pt-BR" dirty="0"/>
          </a:p>
        </p:txBody>
      </p:sp>
      <p:pic>
        <p:nvPicPr>
          <p:cNvPr id="6" name="Picture 5" descr="metal-crop.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5961" y="2593584"/>
            <a:ext cx="5080000" cy="3810000"/>
          </a:xfrm>
          <a:prstGeom prst="rect">
            <a:avLst/>
          </a:prstGeom>
        </p:spPr>
      </p:pic>
      <p:pic>
        <p:nvPicPr>
          <p:cNvPr id="8" name="Picture 7" descr="layers-crop.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5961" y="2593584"/>
            <a:ext cx="5080000" cy="3810000"/>
          </a:xfrm>
          <a:prstGeom prst="rect">
            <a:avLst/>
          </a:prstGeom>
        </p:spPr>
      </p:pic>
      <p:sp>
        <p:nvSpPr>
          <p:cNvPr id="9" name="Rectangle 8"/>
          <p:cNvSpPr/>
          <p:nvPr/>
        </p:nvSpPr>
        <p:spPr>
          <a:xfrm>
            <a:off x="5987387" y="6413952"/>
            <a:ext cx="1274808" cy="276999"/>
          </a:xfrm>
          <a:prstGeom prst="rect">
            <a:avLst/>
          </a:prstGeom>
        </p:spPr>
        <p:txBody>
          <a:bodyPr wrap="none">
            <a:spAutoFit/>
          </a:bodyPr>
          <a:lstStyle/>
          <a:p>
            <a:r>
              <a:rPr lang="pt-BR" sz="1200" dirty="0"/>
              <a:t>Ken </a:t>
            </a:r>
            <a:r>
              <a:rPr lang="pt-BR" sz="1200" dirty="0" err="1"/>
              <a:t>Shirriff's</a:t>
            </a:r>
            <a:r>
              <a:rPr lang="pt-BR" sz="1200" dirty="0"/>
              <a:t> blog</a:t>
            </a:r>
          </a:p>
        </p:txBody>
      </p:sp>
      <p:pic>
        <p:nvPicPr>
          <p:cNvPr id="10" name="Picture 9" descr="68747470733a2f2f7261772e6769746875622e636f6d2f626c69747a636f64652f6e65736b656c6c2f6d61737465722f363530322e706e67.png"/>
          <p:cNvPicPr>
            <a:picLocks noChangeAspect="1"/>
          </p:cNvPicPr>
          <p:nvPr/>
        </p:nvPicPr>
        <p:blipFill>
          <a:blip r:embed="rId6">
            <a:extLst>
              <a:ext uri="{BEBA8EAE-BF5A-486C-A8C5-ECC9F3942E4B}">
                <a14:imgProps xmlns:a14="http://schemas.microsoft.com/office/drawing/2010/main">
                  <a14:imgLayer r:embed="rId7">
                    <a14:imgEffect>
                      <a14:backgroundRemoval t="3232" b="100000" l="86" r="100000">
                        <a14:foregroundMark x1="41781" y1="74905" x2="41781" y2="74905"/>
                        <a14:backgroundMark x1="97260" y1="38403" x2="97260" y2="38403"/>
                        <a14:backgroundMark x1="94863" y1="8175" x2="94863" y2="8175"/>
                      </a14:backgroundRemoval>
                    </a14:imgEffect>
                  </a14:imgLayer>
                </a14:imgProps>
              </a:ext>
              <a:ext uri="{28A0092B-C50C-407E-A947-70E740481C1C}">
                <a14:useLocalDpi xmlns:a14="http://schemas.microsoft.com/office/drawing/2010/main" val="0"/>
              </a:ext>
            </a:extLst>
          </a:blip>
          <a:stretch>
            <a:fillRect/>
          </a:stretch>
        </p:blipFill>
        <p:spPr>
          <a:xfrm rot="1632953">
            <a:off x="6080872" y="2040648"/>
            <a:ext cx="2455627" cy="1105874"/>
          </a:xfrm>
          <a:prstGeom prst="rect">
            <a:avLst/>
          </a:prstGeom>
        </p:spPr>
      </p:pic>
      <p:sp>
        <p:nvSpPr>
          <p:cNvPr id="7" name="Rectangle 6"/>
          <p:cNvSpPr/>
          <p:nvPr/>
        </p:nvSpPr>
        <p:spPr>
          <a:xfrm>
            <a:off x="3915864" y="6370436"/>
            <a:ext cx="1095259" cy="369332"/>
          </a:xfrm>
          <a:prstGeom prst="rect">
            <a:avLst/>
          </a:prstGeom>
        </p:spPr>
        <p:txBody>
          <a:bodyPr wrap="none">
            <a:spAutoFit/>
          </a:bodyPr>
          <a:lstStyle/>
          <a:p>
            <a:r>
              <a:rPr lang="pt-BR" dirty="0"/>
              <a:t>CPU 6502</a:t>
            </a:r>
          </a:p>
        </p:txBody>
      </p:sp>
    </p:spTree>
    <p:custDataLst>
      <p:tags r:id="rId1"/>
    </p:custDataLst>
    <p:extLst>
      <p:ext uri="{BB962C8B-B14F-4D97-AF65-F5344CB8AC3E}">
        <p14:creationId xmlns:p14="http://schemas.microsoft.com/office/powerpoint/2010/main" val="98022158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ALU do Z0 (baseada no </a:t>
            </a:r>
            <a:r>
              <a:rPr lang="pt-BR" dirty="0" err="1"/>
              <a:t>Hack</a:t>
            </a:r>
            <a:r>
              <a:rPr lang="pt-BR" dirty="0"/>
              <a:t>)</a:t>
            </a:r>
          </a:p>
        </p:txBody>
      </p:sp>
      <p:sp>
        <p:nvSpPr>
          <p:cNvPr id="3" name="Content Placeholder 2"/>
          <p:cNvSpPr>
            <a:spLocks noGrp="1"/>
          </p:cNvSpPr>
          <p:nvPr>
            <p:ph idx="1"/>
          </p:nvPr>
        </p:nvSpPr>
        <p:spPr>
          <a:xfrm>
            <a:off x="657225" y="1485900"/>
            <a:ext cx="8029575" cy="1619935"/>
          </a:xfrm>
        </p:spPr>
        <p:txBody>
          <a:bodyPr>
            <a:normAutofit/>
          </a:bodyPr>
          <a:lstStyle/>
          <a:p>
            <a:r>
              <a:rPr lang="pt-BR" sz="2000" dirty="0"/>
              <a:t>A arquitetura do Z0 (</a:t>
            </a:r>
            <a:r>
              <a:rPr lang="pt-BR" sz="2000" dirty="0" err="1"/>
              <a:t>Hack</a:t>
            </a:r>
            <a:r>
              <a:rPr lang="pt-BR" sz="2000" dirty="0"/>
              <a:t>) é baseada em 16 bits. Ou seja, ele tem de fazer operações com entradas de 16 bits e sair com o valor da operação também em 16 bits. Existem 6 bits de controle e mais dois bits de resultado (flags).</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13</a:t>
            </a:fld>
            <a:endParaRPr lang="pt-BR" dirty="0"/>
          </a:p>
        </p:txBody>
      </p:sp>
      <p:graphicFrame>
        <p:nvGraphicFramePr>
          <p:cNvPr id="6" name="Object 10"/>
          <p:cNvGraphicFramePr>
            <a:graphicFrameLocks noChangeAspect="1"/>
          </p:cNvGraphicFramePr>
          <p:nvPr>
            <p:extLst>
              <p:ext uri="{D42A27DB-BD31-4B8C-83A1-F6EECF244321}">
                <p14:modId xmlns:p14="http://schemas.microsoft.com/office/powerpoint/2010/main" val="2419846748"/>
              </p:ext>
            </p:extLst>
          </p:nvPr>
        </p:nvGraphicFramePr>
        <p:xfrm>
          <a:off x="4800600" y="3838452"/>
          <a:ext cx="3886200" cy="2743200"/>
        </p:xfrm>
        <a:graphic>
          <a:graphicData uri="http://schemas.openxmlformats.org/presentationml/2006/ole">
            <mc:AlternateContent xmlns:mc="http://schemas.openxmlformats.org/markup-compatibility/2006">
              <mc:Choice xmlns:v="urn:schemas-microsoft-com:vml" Requires="v">
                <p:oleObj r:id="rId4" imgW="5448300" imgH="4381500" progId="Visio.Drawing.6">
                  <p:embed/>
                </p:oleObj>
              </mc:Choice>
              <mc:Fallback>
                <p:oleObj r:id="rId4" imgW="5448300" imgH="4381500" progId="Visio.Drawing.6">
                  <p:embed/>
                  <p:pic>
                    <p:nvPicPr>
                      <p:cNvPr id="6" name="Object 10"/>
                      <p:cNvPicPr>
                        <a:picLocks noChangeAspect="1" noChangeArrowheads="1"/>
                      </p:cNvPicPr>
                      <p:nvPr/>
                    </p:nvPicPr>
                    <p:blipFill>
                      <a:blip r:embed="rId5">
                        <a:extLst>
                          <a:ext uri="{28A0092B-C50C-407E-A947-70E740481C1C}">
                            <a14:useLocalDpi xmlns:a14="http://schemas.microsoft.com/office/drawing/2010/main" val="0"/>
                          </a:ext>
                        </a:extLst>
                      </a:blip>
                      <a:srcRect l="-862" t="20767" r="11543" b="818"/>
                      <a:stretch>
                        <a:fillRect/>
                      </a:stretch>
                    </p:blipFill>
                    <p:spPr bwMode="auto">
                      <a:xfrm>
                        <a:off x="4800600" y="3838452"/>
                        <a:ext cx="3886200" cy="2743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11"/>
          <p:cNvSpPr>
            <a:spLocks noChangeArrowheads="1"/>
          </p:cNvSpPr>
          <p:nvPr/>
        </p:nvSpPr>
        <p:spPr bwMode="auto">
          <a:xfrm>
            <a:off x="767103" y="3866064"/>
            <a:ext cx="3650456" cy="237086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lIns="92075" tIns="46038" rIns="0" bIns="46038"/>
          <a:lstStyle/>
          <a:p>
            <a:pPr marL="270000" indent="-342900" algn="l">
              <a:buClr>
                <a:srgbClr val="006600"/>
              </a:buClr>
              <a:buSzPct val="85000"/>
              <a:buFont typeface="Wingdings" charset="0"/>
              <a:buNone/>
            </a:pPr>
            <a:r>
              <a:rPr lang="en-US" sz="2400" b="1" dirty="0" err="1">
                <a:latin typeface="Courier New" charset="0"/>
                <a:cs typeface="Courier New" charset="0"/>
              </a:rPr>
              <a:t>x+y</a:t>
            </a:r>
            <a:r>
              <a:rPr lang="en-US" sz="2400" b="1" dirty="0">
                <a:latin typeface="Courier New" charset="0"/>
                <a:cs typeface="Courier New" charset="0"/>
              </a:rPr>
              <a:t>, x-y, y–x,</a:t>
            </a:r>
          </a:p>
          <a:p>
            <a:pPr marL="270000" indent="-342900" algn="l">
              <a:buClr>
                <a:srgbClr val="003399"/>
              </a:buClr>
              <a:buSzPct val="70000"/>
              <a:buFont typeface="Wingdings" charset="0"/>
              <a:buNone/>
            </a:pPr>
            <a:r>
              <a:rPr lang="en-US" sz="2400" b="1" dirty="0">
                <a:latin typeface="Courier New" charset="0"/>
                <a:cs typeface="Courier New" charset="0"/>
              </a:rPr>
              <a:t>0, 1, -1,</a:t>
            </a:r>
          </a:p>
          <a:p>
            <a:pPr marL="270000" indent="-342900" algn="l">
              <a:buClr>
                <a:srgbClr val="003399"/>
              </a:buClr>
              <a:buSzPct val="70000"/>
              <a:buFont typeface="Wingdings" charset="0"/>
              <a:buNone/>
            </a:pPr>
            <a:r>
              <a:rPr lang="en-US" sz="2400" b="1" dirty="0">
                <a:latin typeface="Courier New" charset="0"/>
                <a:cs typeface="Courier New" charset="0"/>
              </a:rPr>
              <a:t>x, y, -x, -y,</a:t>
            </a:r>
          </a:p>
          <a:p>
            <a:pPr marL="270000" indent="-342900">
              <a:buClr>
                <a:srgbClr val="003399"/>
              </a:buClr>
              <a:buSzPct val="70000"/>
            </a:pPr>
            <a:r>
              <a:rPr lang="en-US" sz="2400" b="1" dirty="0">
                <a:latin typeface="Courier New" charset="0"/>
                <a:cs typeface="Courier New" charset="0"/>
              </a:rPr>
              <a:t>!x, !y,</a:t>
            </a:r>
          </a:p>
          <a:p>
            <a:pPr marL="270000" indent="-342900" algn="l">
              <a:buClr>
                <a:srgbClr val="003399"/>
              </a:buClr>
              <a:buSzPct val="70000"/>
              <a:buFont typeface="Wingdings" charset="0"/>
              <a:buNone/>
            </a:pPr>
            <a:r>
              <a:rPr lang="en-US" sz="2400" b="1" dirty="0">
                <a:latin typeface="Courier New" charset="0"/>
                <a:cs typeface="Courier New" charset="0"/>
              </a:rPr>
              <a:t>x+1, y+1, x-1, y-1,</a:t>
            </a:r>
          </a:p>
          <a:p>
            <a:pPr marL="270000" indent="-342900" algn="l">
              <a:buClr>
                <a:srgbClr val="003399"/>
              </a:buClr>
              <a:buSzPct val="70000"/>
              <a:buFont typeface="Wingdings" charset="0"/>
              <a:buNone/>
            </a:pPr>
            <a:r>
              <a:rPr lang="en-US" sz="2400" b="1" dirty="0" err="1">
                <a:latin typeface="Courier New" charset="0"/>
                <a:cs typeface="Courier New" charset="0"/>
              </a:rPr>
              <a:t>x&amp;y</a:t>
            </a:r>
            <a:r>
              <a:rPr lang="en-US" sz="2400" b="1" dirty="0">
                <a:latin typeface="Courier New" charset="0"/>
                <a:cs typeface="Courier New" charset="0"/>
              </a:rPr>
              <a:t>, </a:t>
            </a:r>
            <a:r>
              <a:rPr lang="en-US" sz="2400" b="1" dirty="0" err="1">
                <a:latin typeface="Courier New" charset="0"/>
                <a:cs typeface="Courier New" charset="0"/>
              </a:rPr>
              <a:t>x|y</a:t>
            </a:r>
            <a:endParaRPr lang="en-US" sz="2400" b="1" dirty="0">
              <a:latin typeface="Courier New" charset="0"/>
              <a:cs typeface="Courier New" charset="0"/>
            </a:endParaRPr>
          </a:p>
        </p:txBody>
      </p:sp>
      <p:sp>
        <p:nvSpPr>
          <p:cNvPr id="8" name="Rectangle 7"/>
          <p:cNvSpPr/>
          <p:nvPr/>
        </p:nvSpPr>
        <p:spPr>
          <a:xfrm>
            <a:off x="698078" y="3077767"/>
            <a:ext cx="3816114" cy="646331"/>
          </a:xfrm>
          <a:prstGeom prst="rect">
            <a:avLst/>
          </a:prstGeom>
        </p:spPr>
        <p:txBody>
          <a:bodyPr wrap="square">
            <a:spAutoFit/>
          </a:bodyPr>
          <a:lstStyle/>
          <a:p>
            <a:r>
              <a:rPr lang="pt-BR" dirty="0">
                <a:latin typeface="Verdana"/>
                <a:cs typeface="Verdana"/>
              </a:rPr>
              <a:t>As operações desejadas devem retornar as seguintes saídas:</a:t>
            </a:r>
          </a:p>
        </p:txBody>
      </p:sp>
      <p:sp>
        <p:nvSpPr>
          <p:cNvPr id="9" name="Rectangle 8"/>
          <p:cNvSpPr/>
          <p:nvPr/>
        </p:nvSpPr>
        <p:spPr>
          <a:xfrm>
            <a:off x="5080192" y="3077767"/>
            <a:ext cx="3606608" cy="646331"/>
          </a:xfrm>
          <a:prstGeom prst="rect">
            <a:avLst/>
          </a:prstGeom>
        </p:spPr>
        <p:txBody>
          <a:bodyPr wrap="square">
            <a:spAutoFit/>
          </a:bodyPr>
          <a:lstStyle/>
          <a:p>
            <a:r>
              <a:rPr lang="pt-BR" dirty="0">
                <a:latin typeface="Verdana"/>
                <a:cs typeface="Verdana"/>
              </a:rPr>
              <a:t>Para isso os seguintes controles podem ser usados:</a:t>
            </a:r>
          </a:p>
        </p:txBody>
      </p:sp>
    </p:spTree>
    <p:custDataLst>
      <p:tags r:id="rId1"/>
    </p:custDataLst>
    <p:extLst>
      <p:ext uri="{BB962C8B-B14F-4D97-AF65-F5344CB8AC3E}">
        <p14:creationId xmlns:p14="http://schemas.microsoft.com/office/powerpoint/2010/main" val="200669633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Negar e Inverter</a:t>
            </a:r>
          </a:p>
        </p:txBody>
      </p:sp>
      <p:sp>
        <p:nvSpPr>
          <p:cNvPr id="3" name="Content Placeholder 2"/>
          <p:cNvSpPr>
            <a:spLocks noGrp="1"/>
          </p:cNvSpPr>
          <p:nvPr>
            <p:ph idx="1"/>
          </p:nvPr>
        </p:nvSpPr>
        <p:spPr>
          <a:xfrm>
            <a:off x="470218" y="1538974"/>
            <a:ext cx="8486775" cy="4724400"/>
          </a:xfrm>
        </p:spPr>
        <p:txBody>
          <a:bodyPr>
            <a:normAutofit/>
          </a:bodyPr>
          <a:lstStyle/>
          <a:p>
            <a:r>
              <a:rPr lang="pt-BR" sz="2000" dirty="0"/>
              <a:t>A negação é representada com o símbolo – (menos aritmético) </a:t>
            </a:r>
          </a:p>
          <a:p>
            <a:r>
              <a:rPr lang="pt-BR" sz="2000" dirty="0"/>
              <a:t>	Por exemplo</a:t>
            </a:r>
            <a:r>
              <a:rPr lang="pt-BR" sz="2400" dirty="0">
                <a:latin typeface="Courier"/>
                <a:cs typeface="Courier"/>
              </a:rPr>
              <a:t> </a:t>
            </a:r>
            <a:r>
              <a:rPr lang="pt-BR" sz="2000" dirty="0">
                <a:latin typeface="Courier"/>
                <a:cs typeface="Courier"/>
              </a:rPr>
              <a:t>A =  5</a:t>
            </a:r>
            <a:r>
              <a:rPr lang="pt-BR" sz="2000" baseline="-25000" dirty="0">
                <a:latin typeface="Courier"/>
                <a:cs typeface="Courier"/>
              </a:rPr>
              <a:t>10</a:t>
            </a:r>
            <a:r>
              <a:rPr lang="pt-BR" sz="2000" dirty="0">
                <a:latin typeface="Courier"/>
                <a:cs typeface="Courier"/>
              </a:rPr>
              <a:t> = 00000101</a:t>
            </a:r>
            <a:r>
              <a:rPr lang="pt-BR" sz="2000" baseline="-25000" dirty="0">
                <a:latin typeface="Courier"/>
                <a:cs typeface="Courier"/>
              </a:rPr>
              <a:t>2</a:t>
            </a:r>
          </a:p>
          <a:p>
            <a:r>
              <a:rPr lang="pt-BR" sz="2000" baseline="-25000" dirty="0">
                <a:latin typeface="Courier"/>
                <a:cs typeface="Courier"/>
              </a:rPr>
              <a:t>		</a:t>
            </a:r>
            <a:r>
              <a:rPr lang="pt-BR" sz="2000" dirty="0">
                <a:latin typeface="Courier"/>
                <a:cs typeface="Courier"/>
              </a:rPr>
              <a:t>    </a:t>
            </a:r>
            <a:r>
              <a:rPr lang="pt-BR" sz="1200" dirty="0">
                <a:latin typeface="Courier"/>
                <a:cs typeface="Courier"/>
              </a:rPr>
              <a:t> </a:t>
            </a:r>
            <a:r>
              <a:rPr lang="pt-BR" sz="2000" dirty="0">
                <a:latin typeface="Courier"/>
                <a:cs typeface="Courier"/>
              </a:rPr>
              <a:t>-A = -5</a:t>
            </a:r>
            <a:r>
              <a:rPr lang="pt-BR" sz="2000" baseline="-25000" dirty="0">
                <a:latin typeface="Courier"/>
                <a:cs typeface="Courier"/>
              </a:rPr>
              <a:t>10</a:t>
            </a:r>
            <a:r>
              <a:rPr lang="pt-BR" sz="2000" dirty="0">
                <a:latin typeface="Courier"/>
                <a:cs typeface="Courier"/>
              </a:rPr>
              <a:t> = 11111011</a:t>
            </a:r>
            <a:r>
              <a:rPr lang="pt-BR" sz="2000" baseline="-25000" dirty="0">
                <a:latin typeface="Courier"/>
                <a:cs typeface="Courier"/>
              </a:rPr>
              <a:t>2</a:t>
            </a:r>
          </a:p>
          <a:p>
            <a:endParaRPr lang="pt-BR" sz="2000" baseline="-25000" dirty="0">
              <a:latin typeface="Courier"/>
              <a:cs typeface="Courier"/>
            </a:endParaRPr>
          </a:p>
          <a:p>
            <a:endParaRPr lang="pt-BR" sz="2000" baseline="-25000" dirty="0">
              <a:latin typeface="Courier"/>
              <a:cs typeface="Courier"/>
            </a:endParaRPr>
          </a:p>
          <a:p>
            <a:endParaRPr lang="pt-BR" sz="2000" baseline="-25000" dirty="0">
              <a:latin typeface="Courier"/>
              <a:cs typeface="Courier"/>
            </a:endParaRPr>
          </a:p>
          <a:p>
            <a:r>
              <a:rPr lang="pt-BR" sz="2000" dirty="0"/>
              <a:t>A inversão é representada com o símbolo ! (operador lógico </a:t>
            </a:r>
            <a:r>
              <a:rPr lang="pt-BR" sz="2000" dirty="0" err="1"/>
              <a:t>not</a:t>
            </a:r>
            <a:r>
              <a:rPr lang="pt-BR" sz="2000" dirty="0"/>
              <a:t>)</a:t>
            </a:r>
          </a:p>
          <a:p>
            <a:r>
              <a:rPr lang="pt-BR" sz="2000" dirty="0"/>
              <a:t>	Por exemplo</a:t>
            </a:r>
            <a:r>
              <a:rPr lang="pt-BR" sz="2000" dirty="0">
                <a:latin typeface="Courier"/>
                <a:cs typeface="Courier"/>
              </a:rPr>
              <a:t> A = 5</a:t>
            </a:r>
            <a:r>
              <a:rPr lang="pt-BR" sz="2000" baseline="-25000" dirty="0">
                <a:latin typeface="Courier"/>
                <a:cs typeface="Courier"/>
              </a:rPr>
              <a:t>10</a:t>
            </a:r>
            <a:r>
              <a:rPr lang="pt-BR" sz="2000" dirty="0">
                <a:latin typeface="Courier"/>
                <a:cs typeface="Courier"/>
              </a:rPr>
              <a:t> = 00000101</a:t>
            </a:r>
            <a:r>
              <a:rPr lang="pt-BR" sz="2000" baseline="-25000" dirty="0">
                <a:latin typeface="Courier"/>
                <a:cs typeface="Courier"/>
              </a:rPr>
              <a:t>2</a:t>
            </a:r>
          </a:p>
          <a:p>
            <a:r>
              <a:rPr lang="pt-BR" sz="2000" baseline="-25000" dirty="0">
                <a:latin typeface="Courier"/>
                <a:cs typeface="Courier"/>
              </a:rPr>
              <a:t>		</a:t>
            </a:r>
            <a:r>
              <a:rPr lang="pt-BR" sz="2000" dirty="0">
                <a:latin typeface="Courier"/>
                <a:cs typeface="Courier"/>
              </a:rPr>
              <a:t>         !A = 11111010</a:t>
            </a:r>
            <a:r>
              <a:rPr lang="pt-BR" sz="2000" baseline="-25000" dirty="0">
                <a:latin typeface="Courier"/>
                <a:cs typeface="Courier"/>
              </a:rPr>
              <a:t>2 </a:t>
            </a:r>
            <a:r>
              <a:rPr lang="pt-BR" sz="2000" dirty="0">
                <a:latin typeface="Courier"/>
                <a:cs typeface="Courier"/>
              </a:rPr>
              <a:t>= -6</a:t>
            </a:r>
            <a:r>
              <a:rPr lang="pt-BR" sz="2000" baseline="-25000" dirty="0">
                <a:latin typeface="Courier"/>
                <a:cs typeface="Courier"/>
              </a:rPr>
              <a:t>10</a:t>
            </a:r>
            <a:endParaRPr lang="pt-BR" sz="2000" dirty="0"/>
          </a:p>
          <a:p>
            <a:r>
              <a:rPr lang="pt-BR" sz="2000" dirty="0"/>
              <a:t>	Também conhecido como </a:t>
            </a:r>
            <a:r>
              <a:rPr lang="pt-BR" sz="2000" b="1" dirty="0" err="1"/>
              <a:t>bitwise</a:t>
            </a:r>
            <a:r>
              <a:rPr lang="pt-BR" sz="2000" b="1" dirty="0"/>
              <a:t> </a:t>
            </a:r>
            <a:r>
              <a:rPr lang="pt-BR" sz="2000" b="1" dirty="0" err="1"/>
              <a:t>not</a:t>
            </a:r>
            <a:endParaRPr lang="pt-BR" sz="2000" b="1" dirty="0"/>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spTree>
    <p:extLst>
      <p:ext uri="{BB962C8B-B14F-4D97-AF65-F5344CB8AC3E}">
        <p14:creationId xmlns:p14="http://schemas.microsoft.com/office/powerpoint/2010/main" val="2185014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81050"/>
            <a:ext cx="8444523" cy="619125"/>
          </a:xfrm>
        </p:spPr>
        <p:txBody>
          <a:bodyPr/>
          <a:lstStyle/>
          <a:p>
            <a:r>
              <a:rPr lang="pt-BR" dirty="0"/>
              <a:t>Tabela de controle da ALU do Z0 (Hack)</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15</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1663185921"/>
              </p:ext>
            </p:extLst>
          </p:nvPr>
        </p:nvGraphicFramePr>
        <p:xfrm>
          <a:off x="457198" y="1372563"/>
          <a:ext cx="8229599" cy="5076183"/>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33357">
                <a:tc>
                  <a:txBody>
                    <a:bodyPr/>
                    <a:lstStyle/>
                    <a:p>
                      <a:pPr algn="ctr">
                        <a:lnSpc>
                          <a:spcPts val="1640"/>
                        </a:lnSpc>
                      </a:pPr>
                      <a:r>
                        <a:rPr lang="pt-BR" sz="1700" b="1" noProof="1"/>
                        <a:t>se zx:</a:t>
                      </a:r>
                      <a:br>
                        <a:rPr lang="pt-BR" sz="1700" b="1" noProof="1"/>
                      </a:br>
                      <a:r>
                        <a:rPr lang="pt-BR" sz="1700" b="1" noProof="1"/>
                        <a:t> x=0</a:t>
                      </a:r>
                    </a:p>
                  </a:txBody>
                  <a:tcPr marL="0" marR="0" marT="0" marB="14400" anchor="ctr"/>
                </a:tc>
                <a:tc>
                  <a:txBody>
                    <a:bodyPr/>
                    <a:lstStyle/>
                    <a:p>
                      <a:pPr algn="ctr">
                        <a:lnSpc>
                          <a:spcPts val="1640"/>
                        </a:lnSpc>
                      </a:pPr>
                      <a:r>
                        <a:rPr lang="pt-BR" sz="1700" b="1" noProof="1"/>
                        <a:t>se nx:</a:t>
                      </a:r>
                      <a:br>
                        <a:rPr lang="pt-BR" sz="1700" b="1" noProof="1"/>
                      </a:br>
                      <a:r>
                        <a:rPr lang="pt-BR" sz="1700" b="1" noProof="1"/>
                        <a:t> x=!x</a:t>
                      </a:r>
                    </a:p>
                  </a:txBody>
                  <a:tcPr marL="0" marR="0" marT="0" marB="14400" anchor="ctr"/>
                </a:tc>
                <a:tc>
                  <a:txBody>
                    <a:bodyPr/>
                    <a:lstStyle/>
                    <a:p>
                      <a:pPr algn="ctr">
                        <a:lnSpc>
                          <a:spcPts val="1640"/>
                        </a:lnSpc>
                      </a:pPr>
                      <a:r>
                        <a:rPr lang="pt-BR" sz="1700" b="1" noProof="1"/>
                        <a:t>se zy:</a:t>
                      </a:r>
                      <a:br>
                        <a:rPr lang="pt-BR" sz="1700" b="1" noProof="1"/>
                      </a:br>
                      <a:r>
                        <a:rPr lang="pt-BR" sz="1700" b="1" noProof="1"/>
                        <a:t> y=0</a:t>
                      </a:r>
                    </a:p>
                  </a:txBody>
                  <a:tcPr marL="0" marR="0" marT="0" marB="14400" anchor="ctr"/>
                </a:tc>
                <a:tc>
                  <a:txBody>
                    <a:bodyPr/>
                    <a:lstStyle/>
                    <a:p>
                      <a:pPr algn="ctr">
                        <a:lnSpc>
                          <a:spcPts val="1640"/>
                        </a:lnSpc>
                      </a:pPr>
                      <a:r>
                        <a:rPr lang="pt-BR" sz="1700" b="1" noProof="1"/>
                        <a:t>se ny:</a:t>
                      </a:r>
                      <a:br>
                        <a:rPr lang="pt-BR" sz="1700" b="1" noProof="1"/>
                      </a:br>
                      <a:r>
                        <a:rPr lang="pt-BR" sz="1700" b="1" noProof="1"/>
                        <a:t> y=!y</a:t>
                      </a:r>
                    </a:p>
                  </a:txBody>
                  <a:tcPr marL="0" marR="0" marT="0" marB="14400" anchor="ctr"/>
                </a:tc>
                <a:tc>
                  <a:txBody>
                    <a:bodyPr/>
                    <a:lstStyle/>
                    <a:p>
                      <a:pPr algn="ctr">
                        <a:lnSpc>
                          <a:spcPts val="1640"/>
                        </a:lnSpc>
                      </a:pPr>
                      <a:r>
                        <a:rPr lang="pt-BR" sz="1700" b="1" noProof="1"/>
                        <a:t>se f:</a:t>
                      </a:r>
                      <a:r>
                        <a:rPr lang="pt-BR" sz="1700" b="1" baseline="0" noProof="1"/>
                        <a:t> </a:t>
                      </a:r>
                      <a:r>
                        <a:rPr lang="pt-BR" sz="1700" b="1" noProof="1"/>
                        <a:t>x+y</a:t>
                      </a:r>
                    </a:p>
                    <a:p>
                      <a:pPr algn="ctr">
                        <a:lnSpc>
                          <a:spcPts val="1640"/>
                        </a:lnSpc>
                      </a:pPr>
                      <a:r>
                        <a:rPr lang="pt-BR" sz="1700" b="1" noProof="1"/>
                        <a:t>senão: x&amp;y</a:t>
                      </a:r>
                    </a:p>
                  </a:txBody>
                  <a:tcPr marL="0" marR="0" marT="0" marB="14400" anchor="ctr"/>
                </a:tc>
                <a:tc>
                  <a:txBody>
                    <a:bodyPr/>
                    <a:lstStyle/>
                    <a:p>
                      <a:pPr algn="ctr">
                        <a:lnSpc>
                          <a:spcPts val="1640"/>
                        </a:lnSpc>
                      </a:pPr>
                      <a:r>
                        <a:rPr lang="pt-BR" sz="1700" b="1" noProof="1"/>
                        <a:t>se no:</a:t>
                      </a:r>
                      <a:br>
                        <a:rPr lang="pt-BR" sz="1700" b="1" noProof="1"/>
                      </a:br>
                      <a:r>
                        <a:rPr lang="pt-BR" sz="1700" b="1" noProof="1"/>
                        <a:t>out=!out</a:t>
                      </a:r>
                    </a:p>
                  </a:txBody>
                  <a:tcPr marL="0" marR="0" marT="0" marB="14400" anchor="ctr"/>
                </a:tc>
                <a:tc>
                  <a:txBody>
                    <a:bodyPr/>
                    <a:lstStyle/>
                    <a:p>
                      <a:pPr algn="ctr">
                        <a:lnSpc>
                          <a:spcPts val="1640"/>
                        </a:lnSpc>
                      </a:pPr>
                      <a:r>
                        <a:rPr lang="pt-BR" sz="1700" b="1" noProof="1"/>
                        <a:t>out</a:t>
                      </a:r>
                    </a:p>
                  </a:txBody>
                  <a:tcPr marL="0" marR="0" marT="0" marB="14400" anchor="ctr"/>
                </a:tc>
                <a:extLst>
                  <a:ext uri="{0D108BD9-81ED-4DB2-BD59-A6C34878D82A}">
                    <a16:rowId xmlns:a16="http://schemas.microsoft.com/office/drawing/2014/main" val="10000"/>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extLst>
                  <a:ext uri="{0D108BD9-81ED-4DB2-BD59-A6C34878D82A}">
                    <a16:rowId xmlns:a16="http://schemas.microsoft.com/office/drawing/2014/main" val="10001"/>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extLst>
                  <a:ext uri="{0D108BD9-81ED-4DB2-BD59-A6C34878D82A}">
                    <a16:rowId xmlns:a16="http://schemas.microsoft.com/office/drawing/2014/main" val="10002"/>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extLst>
                  <a:ext uri="{0D108BD9-81ED-4DB2-BD59-A6C34878D82A}">
                    <a16:rowId xmlns:a16="http://schemas.microsoft.com/office/drawing/2014/main" val="10003"/>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4"/>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5"/>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6"/>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7"/>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8"/>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9"/>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x+1</a:t>
                      </a:r>
                    </a:p>
                  </a:txBody>
                  <a:tcPr marL="0" marR="0" marT="0" marB="14400"/>
                </a:tc>
                <a:extLst>
                  <a:ext uri="{0D108BD9-81ED-4DB2-BD59-A6C34878D82A}">
                    <a16:rowId xmlns:a16="http://schemas.microsoft.com/office/drawing/2014/main" val="10010"/>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y+1</a:t>
                      </a:r>
                    </a:p>
                  </a:txBody>
                  <a:tcPr marL="0" marR="0" marT="0" marB="14400"/>
                </a:tc>
                <a:extLst>
                  <a:ext uri="{0D108BD9-81ED-4DB2-BD59-A6C34878D82A}">
                    <a16:rowId xmlns:a16="http://schemas.microsoft.com/office/drawing/2014/main" val="10011"/>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x-1</a:t>
                      </a:r>
                    </a:p>
                  </a:txBody>
                  <a:tcPr marL="0" marR="0" marT="0" marB="14400"/>
                </a:tc>
                <a:extLst>
                  <a:ext uri="{0D108BD9-81ED-4DB2-BD59-A6C34878D82A}">
                    <a16:rowId xmlns:a16="http://schemas.microsoft.com/office/drawing/2014/main" val="10012"/>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y-1</a:t>
                      </a:r>
                    </a:p>
                  </a:txBody>
                  <a:tcPr marL="0" marR="0" marT="0" marB="14400"/>
                </a:tc>
                <a:extLst>
                  <a:ext uri="{0D108BD9-81ED-4DB2-BD59-A6C34878D82A}">
                    <a16:rowId xmlns:a16="http://schemas.microsoft.com/office/drawing/2014/main" val="10013"/>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x+y</a:t>
                      </a:r>
                    </a:p>
                  </a:txBody>
                  <a:tcPr marL="0" marR="0" marT="0" marB="14400"/>
                </a:tc>
                <a:extLst>
                  <a:ext uri="{0D108BD9-81ED-4DB2-BD59-A6C34878D82A}">
                    <a16:rowId xmlns:a16="http://schemas.microsoft.com/office/drawing/2014/main" val="10014"/>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y-x</a:t>
                      </a:r>
                    </a:p>
                  </a:txBody>
                  <a:tcPr marL="0" marR="0" marT="0" marB="14400"/>
                </a:tc>
                <a:extLst>
                  <a:ext uri="{0D108BD9-81ED-4DB2-BD59-A6C34878D82A}">
                    <a16:rowId xmlns:a16="http://schemas.microsoft.com/office/drawing/2014/main" val="10015"/>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x&amp;y</a:t>
                      </a:r>
                    </a:p>
                  </a:txBody>
                  <a:tcPr marL="0" marR="0" marT="0" marB="14400"/>
                </a:tc>
                <a:extLst>
                  <a:ext uri="{0D108BD9-81ED-4DB2-BD59-A6C34878D82A}">
                    <a16:rowId xmlns:a16="http://schemas.microsoft.com/office/drawing/2014/main" val="10016"/>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x|y</a:t>
                      </a:r>
                    </a:p>
                  </a:txBody>
                  <a:tcPr marL="0" marR="0" marT="0" marB="14400"/>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98087779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clrChange>
              <a:clrFrom>
                <a:srgbClr val="FFFFFF"/>
              </a:clrFrom>
              <a:clrTo>
                <a:srgbClr val="FFFFFF">
                  <a:alpha val="0"/>
                </a:srgbClr>
              </a:clrTo>
            </a:clrChange>
          </a:blip>
          <a:stretch>
            <a:fillRect/>
          </a:stretch>
        </p:blipFill>
        <p:spPr>
          <a:xfrm>
            <a:off x="5763432" y="2395960"/>
            <a:ext cx="3352596" cy="2512112"/>
          </a:xfrm>
          <a:prstGeom prst="rect">
            <a:avLst/>
          </a:prstGeom>
        </p:spPr>
      </p:pic>
      <p:sp>
        <p:nvSpPr>
          <p:cNvPr id="2" name="Title 1"/>
          <p:cNvSpPr>
            <a:spLocks noGrp="1"/>
          </p:cNvSpPr>
          <p:nvPr>
            <p:ph type="title"/>
          </p:nvPr>
        </p:nvSpPr>
        <p:spPr/>
        <p:txBody>
          <a:bodyPr/>
          <a:lstStyle/>
          <a:p>
            <a:r>
              <a:rPr lang="pt-BR" dirty="0"/>
              <a:t>VHDL da ALU do Z0 (</a:t>
            </a:r>
            <a:r>
              <a:rPr lang="pt-BR" dirty="0" err="1"/>
              <a:t>Hack</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sp>
        <p:nvSpPr>
          <p:cNvPr id="7" name="Rectangle 6"/>
          <p:cNvSpPr/>
          <p:nvPr/>
        </p:nvSpPr>
        <p:spPr>
          <a:xfrm>
            <a:off x="300758" y="1962657"/>
            <a:ext cx="5359262" cy="3046988"/>
          </a:xfrm>
          <a:prstGeom prst="rect">
            <a:avLst/>
          </a:prstGeom>
          <a:ln>
            <a:solidFill>
              <a:schemeClr val="tx1"/>
            </a:solidFill>
            <a:prstDash val="dash"/>
          </a:ln>
        </p:spPr>
        <p:txBody>
          <a:bodyPr wrap="square">
            <a:spAutoFit/>
          </a:bodyPr>
          <a:lstStyle/>
          <a:p>
            <a:r>
              <a:rPr lang="pt-BR" sz="1200" noProof="1">
                <a:latin typeface="Courier" charset="0"/>
                <a:ea typeface="Courier" charset="0"/>
                <a:cs typeface="Courier" charset="0"/>
              </a:rPr>
              <a:t>library IEEE;</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use IEEE.STD_LOGIC_1164.ALL;</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entity alu is</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port ( </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x,y:   in STD_LOGIC_VECTOR(15 downto 0); -- entradas</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zx:    in STD_LOGIC;  -- zera a entrada x</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nx:    in STD_LOGIC;  -- inverte a entrada x</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zy:    in STD_LOGIC;  -- zera a entrada 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ny:    in STD_LOGIC;  -- inverte a entrada 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f:     in STD_LOGIC;  -- se 0 calcula x&amp;y, senão x+y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no:    in STD_LOGIC;  -- inverte o valor da saída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zr:    in STD_LOGIC;  -- setado se saída igual a zero</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ng:    out STD_LOGIC; -- setado se saída é negativa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saida: out STD_LOGIC_VECTOR(15 downto 0) -- saída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 </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end entity; </a:t>
            </a:r>
            <a:endParaRPr lang="en-US" sz="1200" noProof="1">
              <a:latin typeface="Courier" charset="0"/>
              <a:ea typeface="Courier" charset="0"/>
              <a:cs typeface="Courier" charset="0"/>
            </a:endParaRPr>
          </a:p>
        </p:txBody>
      </p:sp>
    </p:spTree>
    <p:extLst>
      <p:ext uri="{BB962C8B-B14F-4D97-AF65-F5344CB8AC3E}">
        <p14:creationId xmlns:p14="http://schemas.microsoft.com/office/powerpoint/2010/main" val="75660720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1</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314471278"/>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83454264"/>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8</a:t>
              </a:r>
            </a:p>
          </p:txBody>
        </p:sp>
      </p:grpSp>
      <p:sp>
        <p:nvSpPr>
          <p:cNvPr id="15" name="TextBox 14">
            <a:extLst>
              <a:ext uri="{FF2B5EF4-FFF2-40B4-BE49-F238E27FC236}">
                <a16:creationId xmlns:a16="http://schemas.microsoft.com/office/drawing/2014/main" id="{0F300C5C-26DD-EB76-8994-36BB34DB4F5C}"/>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
        <p:nvSpPr>
          <p:cNvPr id="7" name="Rectangle 6">
            <a:extLst>
              <a:ext uri="{FF2B5EF4-FFF2-40B4-BE49-F238E27FC236}">
                <a16:creationId xmlns:a16="http://schemas.microsoft.com/office/drawing/2014/main" id="{F41155C6-40AE-697C-C758-5B4DD6B3B6E2}"/>
              </a:ext>
            </a:extLst>
          </p:cNvPr>
          <p:cNvSpPr/>
          <p:nvPr/>
        </p:nvSpPr>
        <p:spPr>
          <a:xfrm>
            <a:off x="5880671" y="2371211"/>
            <a:ext cx="904415" cy="523220"/>
          </a:xfrm>
          <a:prstGeom prst="rect">
            <a:avLst/>
          </a:prstGeom>
        </p:spPr>
        <p:txBody>
          <a:bodyPr wrap="none">
            <a:spAutoFit/>
          </a:bodyPr>
          <a:lstStyle/>
          <a:p>
            <a:r>
              <a:rPr lang="pt-BR" sz="2800" b="1" dirty="0"/>
              <a:t>} </a:t>
            </a:r>
            <a:r>
              <a:rPr lang="pt-BR" sz="2800" b="1" dirty="0" err="1"/>
              <a:t>x+y</a:t>
            </a:r>
            <a:endParaRPr lang="pt-BR" sz="2800" b="1" dirty="0"/>
          </a:p>
        </p:txBody>
      </p:sp>
    </p:spTree>
    <p:custDataLst>
      <p:tags r:id="rId1"/>
    </p:custDataLst>
    <p:extLst>
      <p:ext uri="{BB962C8B-B14F-4D97-AF65-F5344CB8AC3E}">
        <p14:creationId xmlns:p14="http://schemas.microsoft.com/office/powerpoint/2010/main" val="100162159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par>
                          <p:cTn id="23" fill="hold">
                            <p:stCondLst>
                              <p:cond delay="500"/>
                            </p:stCondLst>
                            <p:childTnLst>
                              <p:par>
                                <p:cTn id="24" presetID="16" presetClass="entr" presetSubtype="21"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2</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18</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218603957"/>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06617758"/>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9</a:t>
              </a:r>
            </a:p>
          </p:txBody>
        </p:sp>
      </p:grpSp>
      <p:sp>
        <p:nvSpPr>
          <p:cNvPr id="8" name="TextBox 7">
            <a:extLst>
              <a:ext uri="{FF2B5EF4-FFF2-40B4-BE49-F238E27FC236}">
                <a16:creationId xmlns:a16="http://schemas.microsoft.com/office/drawing/2014/main" id="{7500C4A2-588D-DBCD-24DD-E9C2304A21A3}"/>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
        <p:nvSpPr>
          <p:cNvPr id="15" name="Rectangle 14">
            <a:extLst>
              <a:ext uri="{FF2B5EF4-FFF2-40B4-BE49-F238E27FC236}">
                <a16:creationId xmlns:a16="http://schemas.microsoft.com/office/drawing/2014/main" id="{8A192B9F-D8C0-EE08-C217-72BADABF99B4}"/>
              </a:ext>
            </a:extLst>
          </p:cNvPr>
          <p:cNvSpPr/>
          <p:nvPr/>
        </p:nvSpPr>
        <p:spPr>
          <a:xfrm>
            <a:off x="5880671" y="2371211"/>
            <a:ext cx="848309" cy="523220"/>
          </a:xfrm>
          <a:prstGeom prst="rect">
            <a:avLst/>
          </a:prstGeom>
        </p:spPr>
        <p:txBody>
          <a:bodyPr wrap="none">
            <a:spAutoFit/>
          </a:bodyPr>
          <a:lstStyle/>
          <a:p>
            <a:r>
              <a:rPr lang="pt-BR" sz="2800" b="1" dirty="0"/>
              <a:t>} x-1</a:t>
            </a:r>
          </a:p>
        </p:txBody>
      </p:sp>
    </p:spTree>
    <p:custDataLst>
      <p:tags r:id="rId1"/>
    </p:custDataLst>
    <p:extLst>
      <p:ext uri="{BB962C8B-B14F-4D97-AF65-F5344CB8AC3E}">
        <p14:creationId xmlns:p14="http://schemas.microsoft.com/office/powerpoint/2010/main" val="2157408286"/>
      </p:ext>
    </p:ext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3</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19</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4071113347"/>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66829461"/>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1</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-10</a:t>
              </a:r>
            </a:p>
          </p:txBody>
        </p:sp>
      </p:grpSp>
      <p:sp>
        <p:nvSpPr>
          <p:cNvPr id="8" name="TextBox 7">
            <a:extLst>
              <a:ext uri="{FF2B5EF4-FFF2-40B4-BE49-F238E27FC236}">
                <a16:creationId xmlns:a16="http://schemas.microsoft.com/office/drawing/2014/main" id="{A644BFDB-8EF4-DEF0-5180-BCA743CA5ECC}"/>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
        <p:nvSpPr>
          <p:cNvPr id="7" name="Rectangle 6">
            <a:extLst>
              <a:ext uri="{FF2B5EF4-FFF2-40B4-BE49-F238E27FC236}">
                <a16:creationId xmlns:a16="http://schemas.microsoft.com/office/drawing/2014/main" id="{B3B2213C-1566-DF2B-D7BA-A2F38C8DFDDC}"/>
              </a:ext>
            </a:extLst>
          </p:cNvPr>
          <p:cNvSpPr/>
          <p:nvPr/>
        </p:nvSpPr>
        <p:spPr>
          <a:xfrm>
            <a:off x="5880671" y="2371211"/>
            <a:ext cx="665567" cy="523220"/>
          </a:xfrm>
          <a:prstGeom prst="rect">
            <a:avLst/>
          </a:prstGeom>
        </p:spPr>
        <p:txBody>
          <a:bodyPr wrap="none">
            <a:spAutoFit/>
          </a:bodyPr>
          <a:lstStyle/>
          <a:p>
            <a:r>
              <a:rPr lang="pt-BR" sz="2800" b="1" dirty="0"/>
              <a:t>} -x</a:t>
            </a:r>
          </a:p>
        </p:txBody>
      </p:sp>
    </p:spTree>
    <p:custDataLst>
      <p:tags r:id="rId1"/>
    </p:custDataLst>
    <p:extLst>
      <p:ext uri="{BB962C8B-B14F-4D97-AF65-F5344CB8AC3E}">
        <p14:creationId xmlns:p14="http://schemas.microsoft.com/office/powerpoint/2010/main" val="2289230575"/>
      </p:ext>
    </p:ext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4</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20</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10683089"/>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95067268"/>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0</a:t>
              </a:r>
            </a:p>
          </p:txBody>
        </p:sp>
      </p:grpSp>
      <p:sp>
        <p:nvSpPr>
          <p:cNvPr id="8" name="TextBox 7">
            <a:extLst>
              <a:ext uri="{FF2B5EF4-FFF2-40B4-BE49-F238E27FC236}">
                <a16:creationId xmlns:a16="http://schemas.microsoft.com/office/drawing/2014/main" id="{DB0F8E96-704D-74C1-DA04-FF3C9AB81FB8}"/>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
        <p:nvSpPr>
          <p:cNvPr id="7" name="Rectangle 6">
            <a:extLst>
              <a:ext uri="{FF2B5EF4-FFF2-40B4-BE49-F238E27FC236}">
                <a16:creationId xmlns:a16="http://schemas.microsoft.com/office/drawing/2014/main" id="{710D567C-DB8B-9720-5D05-5FB015AF6147}"/>
              </a:ext>
            </a:extLst>
          </p:cNvPr>
          <p:cNvSpPr/>
          <p:nvPr/>
        </p:nvSpPr>
        <p:spPr>
          <a:xfrm>
            <a:off x="5880671" y="2371211"/>
            <a:ext cx="572593" cy="523220"/>
          </a:xfrm>
          <a:prstGeom prst="rect">
            <a:avLst/>
          </a:prstGeom>
        </p:spPr>
        <p:txBody>
          <a:bodyPr wrap="none">
            <a:spAutoFit/>
          </a:bodyPr>
          <a:lstStyle/>
          <a:p>
            <a:r>
              <a:rPr lang="pt-BR" sz="2800" b="1" dirty="0"/>
              <a:t>} 0</a:t>
            </a:r>
          </a:p>
        </p:txBody>
      </p:sp>
    </p:spTree>
    <p:custDataLst>
      <p:tags r:id="rId1"/>
    </p:custDataLst>
    <p:extLst>
      <p:ext uri="{BB962C8B-B14F-4D97-AF65-F5344CB8AC3E}">
        <p14:creationId xmlns:p14="http://schemas.microsoft.com/office/powerpoint/2010/main" val="475993518"/>
      </p:ext>
    </p:ext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36|8.151|23.341|12.819|4.646"/>
</p:tagLst>
</file>

<file path=ppt/tags/tag2.xml><?xml version="1.0" encoding="utf-8"?>
<p:tagLst xmlns:a="http://schemas.openxmlformats.org/drawingml/2006/main" xmlns:r="http://schemas.openxmlformats.org/officeDocument/2006/relationships" xmlns:p="http://schemas.openxmlformats.org/presentationml/2006/main">
  <p:tag name="TIMING" val="|7.088|23.048"/>
</p:tagLst>
</file>

<file path=ppt/tags/tag3.xml><?xml version="1.0" encoding="utf-8"?>
<p:tagLst xmlns:a="http://schemas.openxmlformats.org/drawingml/2006/main" xmlns:r="http://schemas.openxmlformats.org/officeDocument/2006/relationships" xmlns:p="http://schemas.openxmlformats.org/presentationml/2006/main">
  <p:tag name="TIMING" val="|14.386"/>
</p:tagLst>
</file>

<file path=ppt/tags/tag4.xml><?xml version="1.0" encoding="utf-8"?>
<p:tagLst xmlns:a="http://schemas.openxmlformats.org/drawingml/2006/main" xmlns:r="http://schemas.openxmlformats.org/officeDocument/2006/relationships" xmlns:p="http://schemas.openxmlformats.org/presentationml/2006/main">
  <p:tag name="TIMING" val="|15.175"/>
</p:tagLst>
</file>

<file path=ppt/tags/tag5.xml><?xml version="1.0" encoding="utf-8"?>
<p:tagLst xmlns:a="http://schemas.openxmlformats.org/drawingml/2006/main" xmlns:r="http://schemas.openxmlformats.org/officeDocument/2006/relationships" xmlns:p="http://schemas.openxmlformats.org/presentationml/2006/main">
  <p:tag name="TIMING" val="|16.006|25.931"/>
</p:tagLst>
</file>

<file path=ppt/tags/tag6.xml><?xml version="1.0" encoding="utf-8"?>
<p:tagLst xmlns:a="http://schemas.openxmlformats.org/drawingml/2006/main" xmlns:r="http://schemas.openxmlformats.org/officeDocument/2006/relationships" xmlns:p="http://schemas.openxmlformats.org/presentationml/2006/main">
  <p:tag name="TIMING" val="|20.368|3.391001|15.68|2.413002"/>
</p:tagLst>
</file>

<file path=ppt/tags/tag7.xml><?xml version="1.0" encoding="utf-8"?>
<p:tagLst xmlns:a="http://schemas.openxmlformats.org/drawingml/2006/main" xmlns:r="http://schemas.openxmlformats.org/officeDocument/2006/relationships" xmlns:p="http://schemas.openxmlformats.org/presentationml/2006/main">
  <p:tag name="TIMING" val="|17.487|2.934|8.27|2.834"/>
</p:tagLst>
</file>

<file path=ppt/tags/tag8.xml><?xml version="1.0" encoding="utf-8"?>
<p:tagLst xmlns:a="http://schemas.openxmlformats.org/drawingml/2006/main" xmlns:r="http://schemas.openxmlformats.org/officeDocument/2006/relationships" xmlns:p="http://schemas.openxmlformats.org/presentationml/2006/main">
  <p:tag name="TIMING" val="|15.396|1.639|3.315001|2.138"/>
</p:tagLst>
</file>

<file path=ppt/tags/tag9.xml><?xml version="1.0" encoding="utf-8"?>
<p:tagLst xmlns:a="http://schemas.openxmlformats.org/drawingml/2006/main" xmlns:r="http://schemas.openxmlformats.org/officeDocument/2006/relationships" xmlns:p="http://schemas.openxmlformats.org/presentationml/2006/main">
  <p:tag name="TIMING" val="|7.164|0.9330001|5.739|1.441"/>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22816</TotalTime>
  <Words>2832</Words>
  <Application>Microsoft Office PowerPoint</Application>
  <PresentationFormat>On-screen Show (4:3)</PresentationFormat>
  <Paragraphs>758</Paragraphs>
  <Slides>21</Slides>
  <Notes>17</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Calibri</vt:lpstr>
      <vt:lpstr>Courier</vt:lpstr>
      <vt:lpstr>Courier New</vt:lpstr>
      <vt:lpstr>Verdana</vt:lpstr>
      <vt:lpstr>Wingdings</vt:lpstr>
      <vt:lpstr>Personalizar design</vt:lpstr>
      <vt:lpstr>Visio.Drawing.6</vt:lpstr>
      <vt:lpstr>PowerPoint Presentation</vt:lpstr>
      <vt:lpstr>John Vincent Atanasoff  &amp; Clifford Berry</vt:lpstr>
      <vt:lpstr>Harvard Mark 1 </vt:lpstr>
      <vt:lpstr>7483 e 74181 </vt:lpstr>
      <vt:lpstr>Unidade de Ponto Flutuante</vt:lpstr>
      <vt:lpstr>Unidade Lógica Aritmética (ULA) </vt:lpstr>
      <vt:lpstr>Meio-somador (Half Adder)</vt:lpstr>
      <vt:lpstr>Circuito Aritmético – Adders (Full)</vt:lpstr>
      <vt:lpstr>Circuito Aritmético – Adder</vt:lpstr>
      <vt:lpstr>Circuito Aritmético – Incrementador</vt:lpstr>
      <vt:lpstr>Somador/Subtrator de 4 bits</vt:lpstr>
      <vt:lpstr>Somador em CPU</vt:lpstr>
      <vt:lpstr>ALU do Z0 (baseada no Hack)</vt:lpstr>
      <vt:lpstr>Negar e Inverter</vt:lpstr>
      <vt:lpstr>Tabela de controle da ALU do Z0 (Hack)</vt:lpstr>
      <vt:lpstr>VHDL da ALU do Z0 (Hack)</vt:lpstr>
      <vt:lpstr>Exemplos de comportamento da ALU</vt:lpstr>
      <vt:lpstr>Exemplos de comportamento da ALU</vt:lpstr>
      <vt:lpstr>Exemplos de comportamento da ALU</vt:lpstr>
      <vt:lpstr>Exemplos de comportamento da ALU</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Soares</cp:lastModifiedBy>
  <cp:revision>735</cp:revision>
  <cp:lastPrinted>2015-05-25T01:17:28Z</cp:lastPrinted>
  <dcterms:created xsi:type="dcterms:W3CDTF">2014-04-17T20:05:08Z</dcterms:created>
  <dcterms:modified xsi:type="dcterms:W3CDTF">2026-09-04T19:44:12Z</dcterms:modified>
  <cp:category/>
</cp:coreProperties>
</file>