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xml" ContentType="application/vnd.openxmlformats-officedocument.presentationml.tags+xml"/>
  <Override PartName="/ppt/notesSlides/notesSlide17.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9.xml" ContentType="application/vnd.openxmlformats-officedocument.presentationml.tags+xml"/>
  <Override PartName="/ppt/notesSlides/notesSlide22.xml" ContentType="application/vnd.openxmlformats-officedocument.presentationml.notesSlide+xml"/>
  <Override PartName="/ppt/ink/inkAction1.xml" ContentType="application/vnd.ms-office.inkAction+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0"/>
  </p:notesMasterIdLst>
  <p:handoutMasterIdLst>
    <p:handoutMasterId r:id="rId31"/>
  </p:handoutMasterIdLst>
  <p:sldIdLst>
    <p:sldId id="269" r:id="rId2"/>
    <p:sldId id="382" r:id="rId3"/>
    <p:sldId id="464" r:id="rId4"/>
    <p:sldId id="383" r:id="rId5"/>
    <p:sldId id="327" r:id="rId6"/>
    <p:sldId id="388" r:id="rId7"/>
    <p:sldId id="344" r:id="rId8"/>
    <p:sldId id="340" r:id="rId9"/>
    <p:sldId id="465" r:id="rId10"/>
    <p:sldId id="314" r:id="rId11"/>
    <p:sldId id="315" r:id="rId12"/>
    <p:sldId id="393" r:id="rId13"/>
    <p:sldId id="467" r:id="rId14"/>
    <p:sldId id="341" r:id="rId15"/>
    <p:sldId id="415" r:id="rId16"/>
    <p:sldId id="374" r:id="rId17"/>
    <p:sldId id="373" r:id="rId18"/>
    <p:sldId id="395" r:id="rId19"/>
    <p:sldId id="396" r:id="rId20"/>
    <p:sldId id="466" r:id="rId21"/>
    <p:sldId id="399" r:id="rId22"/>
    <p:sldId id="408" r:id="rId23"/>
    <p:sldId id="347" r:id="rId24"/>
    <p:sldId id="349" r:id="rId25"/>
    <p:sldId id="409" r:id="rId26"/>
    <p:sldId id="413" r:id="rId27"/>
    <p:sldId id="410" r:id="rId28"/>
    <p:sldId id="262"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26"/>
    <a:srgbClr val="BCBEC0"/>
    <a:srgbClr val="BA0E2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09"/>
    <p:restoredTop sz="83288" autoAdjust="0"/>
  </p:normalViewPr>
  <p:slideViewPr>
    <p:cSldViewPr snapToGrid="0" snapToObjects="1" showGuides="1">
      <p:cViewPr varScale="1">
        <p:scale>
          <a:sx n="109" d="100"/>
          <a:sy n="109" d="100"/>
        </p:scale>
        <p:origin x="1614" y="11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3" d="100"/>
          <a:sy n="83" d="100"/>
        </p:scale>
        <p:origin x="-198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B2933F-D0FD-7240-A363-4A10A64C6792}" type="datetimeFigureOut">
              <a:rPr lang="en-US" smtClean="0"/>
              <a:t>8/28/2026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25F2C9-07E4-FF4F-8189-CD4ED964D9B5}" type="slidenum">
              <a:rPr lang="en-US" smtClean="0"/>
              <a:t>‹#›</a:t>
            </a:fld>
            <a:endParaRPr lang="en-US"/>
          </a:p>
        </p:txBody>
      </p:sp>
    </p:spTree>
    <p:extLst>
      <p:ext uri="{BB962C8B-B14F-4D97-AF65-F5344CB8AC3E}">
        <p14:creationId xmlns:p14="http://schemas.microsoft.com/office/powerpoint/2010/main" val="3263012808"/>
      </p:ext>
    </p:extLst>
  </p:cSld>
  <p:clrMap bg1="lt1" tx1="dk1" bg2="lt2" tx2="dk2" accent1="accent1" accent2="accent2" accent3="accent3" accent4="accent4" accent5="accent5" accent6="accent6" hlink="hlink" folHlink="folHlink"/>
</p:handoutMaster>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units="cm"/>
          <inkml:channel name="Y" type="integer" units="cm"/>
          <inkml:channel name="T" type="integer" max="2.14748E9" units="dev"/>
        </inkml:traceFormat>
        <inkml:channelProperties>
          <inkml:channelProperty channel="X" name="resolution" value="0.28222" units="1/cm"/>
          <inkml:channelProperty channel="Y" name="resolution" value="0.28222" units="1/cm"/>
          <inkml:channelProperty channel="T" name="resolution" value="1" units="1/dev"/>
        </inkml:channelProperties>
      </inkml:inkSource>
      <inkml:timestamp xml:id="ts0" timeString="2017-02-17T19:18:30.478Z"/>
    </inkml:context>
    <inkml:brush xml:id="br0">
      <inkml:brushProperty name="width" value="0.07292" units="cm"/>
      <inkml:brushProperty name="height" value="0.07292" units="cm"/>
      <inkml:brushProperty name="color" value="#FF0000"/>
    </inkml:brush>
    <inkml:brush xml:id="brinv">
      <inkml:brushProperty name="width" value="0.05" units="cm"/>
      <inkml:brushProperty name="height" value="0.05" units="cm"/>
      <inkml:brushProperty name="color" value="#000000"/>
      <inkml:brushProperty name="transparency" value="255"/>
    </inkml:brush>
  </inkml:definitions>
  <iact:action type="add" startTime="11446">
    <iact:property name="dataType"/>
    <iact:actionData xml:id="d0">
      <inkml:trace xmlns:inkml="http://www.w3.org/2003/InkML" xml:id="stk0" contextRef="#ctx0" brushRef="#br0">8 8 0</inkml:trace>
    </iact:actionData>
  </iact:action>
  <iact:action type="add" startTime="13057">
    <iact:property name="dataType"/>
    <iact:actionData xml:id="d1">
      <inkml:trace xmlns:inkml="http://www.w3.org/2003/InkML" xml:id="stk1" contextRef="#ctx0" brushRef="#br0">207 152 0</inkml:trace>
    </iact:actionData>
  </iact:action>
  <iact:action type="add" startTime="14401">
    <iact:property name="dataType"/>
    <iact:actionData xml:id="d2">
      <inkml:trace xmlns:inkml="http://www.w3.org/2003/InkML" xml:id="stk2" contextRef="#ctx0" brushRef="#br0">74 262 0</inkml:trace>
    </iact:actionData>
  </iact:action>
  <iact:action type="add" startTime="25520">
    <iact:property name="dataType"/>
    <iact:actionData xml:id="d3">
      <inkml:trace xmlns:inkml="http://www.w3.org/2003/InkML" xml:id="stk3" contextRef="#ctx0" brushRef="#br0">8 411 0</inkml:trace>
    </iact:actionData>
  </iact:action>
  <iact:action type="add" startTime="29939">
    <iact:property name="dataType"/>
    <iact:actionData xml:id="d4">
      <inkml:trace xmlns:inkml="http://www.w3.org/2003/InkML" xml:id="stk4" contextRef="#ctx0" brushRef="#br0">819 405 0</inkml:trace>
    </iact:actionData>
  </iact:action>
  <iact:action type="add" startTime="33503">
    <iact:property name="dataType"/>
    <iact:actionData xml:id="d5">
      <inkml:trace xmlns:inkml="http://www.w3.org/2003/InkML" xml:id="stk5" contextRef="#ctx0" brushRef="#br0">2158 388 0</inkml:trace>
    </iact:actionData>
  </iact:action>
  <iact:action type="add" startTime="33504">
    <iact:property name="dataType"/>
    <iact:actionData xml:id="d6">
      <inkml:trace xmlns:inkml="http://www.w3.org/2003/InkML" xml:id="stk6" contextRef="#ctx0" brushRef="#brinv">0 0 0</inkml:trace>
    </iact:actionData>
  </iact:action>
  <iact:action type="add" startTime="33505">
    <iact:property name="dataType"/>
    <iact:actionData xml:id="d7">
      <inkml:trace xmlns:inkml="http://www.w3.org/2003/InkML" xml:id="stk7" contextRef="#ctx0" brushRef="#brinv">2166 419 0</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9F3387-6852-4167-A065-1B417E5289FE}" type="datetimeFigureOut">
              <a:rPr lang="pt-BR" smtClean="0"/>
              <a:t>28/08/2026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3FB91E-A0DC-4A5F-B463-D7B8E79502D1}" type="slidenum">
              <a:rPr lang="pt-BR" smtClean="0"/>
              <a:t>‹#›</a:t>
            </a:fld>
            <a:endParaRPr lang="pt-BR"/>
          </a:p>
        </p:txBody>
      </p:sp>
    </p:spTree>
    <p:extLst>
      <p:ext uri="{BB962C8B-B14F-4D97-AF65-F5344CB8AC3E}">
        <p14:creationId xmlns:p14="http://schemas.microsoft.com/office/powerpoint/2010/main" val="25812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engquimicasantossp.com.br/2012/09/historia-da-calculadora.html"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homepage.cs.uiowa.edu/~jones/assem/notes/02data.s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https://en.wikiquote.org/wiki/Gottfried_Leibniz</a:t>
            </a:r>
          </a:p>
        </p:txBody>
      </p:sp>
      <p:sp>
        <p:nvSpPr>
          <p:cNvPr id="4" name="Slide Number Placeholder 3"/>
          <p:cNvSpPr>
            <a:spLocks noGrp="1"/>
          </p:cNvSpPr>
          <p:nvPr>
            <p:ph type="sldNum" sz="quarter" idx="10"/>
          </p:nvPr>
        </p:nvSpPr>
        <p:spPr/>
        <p:txBody>
          <a:bodyPr/>
          <a:lstStyle/>
          <a:p>
            <a:fld id="{F23FB91E-A0DC-4A5F-B463-D7B8E79502D1}" type="slidenum">
              <a:rPr lang="pt-BR" smtClean="0"/>
              <a:t>1</a:t>
            </a:fld>
            <a:endParaRPr lang="pt-BR"/>
          </a:p>
        </p:txBody>
      </p:sp>
    </p:spTree>
    <p:extLst>
      <p:ext uri="{BB962C8B-B14F-4D97-AF65-F5344CB8AC3E}">
        <p14:creationId xmlns:p14="http://schemas.microsoft.com/office/powerpoint/2010/main" val="3034910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Do site: A </a:t>
            </a:r>
            <a:r>
              <a:rPr lang="en-US" sz="1200" b="0" i="0" kern="1200" dirty="0" err="1">
                <a:solidFill>
                  <a:schemeClr val="tx1"/>
                </a:solidFill>
                <a:effectLst/>
                <a:latin typeface="+mn-lt"/>
                <a:ea typeface="+mn-ea"/>
                <a:cs typeface="+mn-cs"/>
              </a:rPr>
              <a:t>primeira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mecânica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foi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inventada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pelo</a:t>
            </a:r>
            <a:r>
              <a:rPr lang="en-US" sz="1200" b="0" i="0" kern="1200" dirty="0">
                <a:solidFill>
                  <a:schemeClr val="tx1"/>
                </a:solidFill>
                <a:effectLst/>
                <a:latin typeface="+mn-lt"/>
                <a:ea typeface="+mn-ea"/>
                <a:cs typeface="+mn-cs"/>
              </a:rPr>
              <a:t> professor </a:t>
            </a:r>
            <a:r>
              <a:rPr lang="en-US" sz="1200" b="0" i="0" kern="1200" dirty="0" err="1">
                <a:solidFill>
                  <a:schemeClr val="tx1"/>
                </a:solidFill>
                <a:effectLst/>
                <a:latin typeface="+mn-lt"/>
                <a:ea typeface="+mn-ea"/>
                <a:cs typeface="+mn-cs"/>
              </a:rPr>
              <a:t>alemão</a:t>
            </a:r>
            <a:r>
              <a:rPr lang="en-US" sz="1200" b="0" i="0" kern="1200" dirty="0">
                <a:solidFill>
                  <a:schemeClr val="tx1"/>
                </a:solidFill>
                <a:effectLst/>
                <a:latin typeface="+mn-lt"/>
                <a:ea typeface="+mn-ea"/>
                <a:cs typeface="+mn-cs"/>
              </a:rPr>
              <a:t> Wilhelm </a:t>
            </a:r>
            <a:r>
              <a:rPr lang="en-US" sz="1200" b="0" i="0" kern="1200" dirty="0" err="1">
                <a:solidFill>
                  <a:schemeClr val="tx1"/>
                </a:solidFill>
                <a:effectLst/>
                <a:latin typeface="+mn-lt"/>
                <a:ea typeface="+mn-ea"/>
                <a:cs typeface="+mn-cs"/>
              </a:rPr>
              <a:t>Schickard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1623. Essa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era </a:t>
            </a:r>
            <a:r>
              <a:rPr lang="en-US" sz="1200" b="0" i="0" kern="1200" dirty="0" err="1">
                <a:solidFill>
                  <a:schemeClr val="tx1"/>
                </a:solidFill>
                <a:effectLst/>
                <a:latin typeface="+mn-lt"/>
                <a:ea typeface="+mn-ea"/>
                <a:cs typeface="+mn-cs"/>
              </a:rPr>
              <a:t>capaz</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somar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subtrair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dividir</a:t>
            </a:r>
            <a:r>
              <a:rPr lang="en-US" sz="1200" b="0" i="0" kern="1200" dirty="0">
                <a:solidFill>
                  <a:schemeClr val="tx1"/>
                </a:solidFill>
                <a:effectLst/>
                <a:latin typeface="+mn-lt"/>
                <a:ea typeface="+mn-ea"/>
                <a:cs typeface="+mn-cs"/>
              </a:rPr>
              <a:t> e </a:t>
            </a:r>
            <a:r>
              <a:rPr lang="en-US" sz="1200" b="0" i="0" kern="1200" dirty="0" err="1">
                <a:solidFill>
                  <a:schemeClr val="tx1"/>
                </a:solidFill>
                <a:effectLst/>
                <a:latin typeface="+mn-lt"/>
                <a:ea typeface="+mn-ea"/>
                <a:cs typeface="+mn-cs"/>
              </a:rPr>
              <a:t>multiplicar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números</a:t>
            </a:r>
            <a:r>
              <a:rPr lang="en-US" sz="1200" b="0" i="0" kern="1200" dirty="0">
                <a:solidFill>
                  <a:schemeClr val="tx1"/>
                </a:solidFill>
                <a:effectLst/>
                <a:latin typeface="+mn-lt"/>
                <a:ea typeface="+mn-ea"/>
                <a:cs typeface="+mn-cs"/>
              </a:rPr>
              <a:t> ate 6 </a:t>
            </a:r>
            <a:r>
              <a:rPr lang="en-US" sz="1200" b="0" i="0" kern="1200" dirty="0" err="1">
                <a:solidFill>
                  <a:schemeClr val="tx1"/>
                </a:solidFill>
                <a:effectLst/>
                <a:latin typeface="+mn-lt"/>
                <a:ea typeface="+mn-ea"/>
                <a:cs typeface="+mn-cs"/>
              </a:rPr>
              <a:t>dígitos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indicando</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resultado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através</a:t>
            </a:r>
            <a:r>
              <a:rPr lang="en-US" sz="1200" b="0" i="0" kern="1200" dirty="0">
                <a:solidFill>
                  <a:schemeClr val="tx1"/>
                </a:solidFill>
                <a:effectLst/>
                <a:latin typeface="+mn-lt"/>
                <a:ea typeface="+mn-ea"/>
                <a:cs typeface="+mn-cs"/>
              </a:rPr>
              <a:t> de um toque de </a:t>
            </a:r>
            <a:r>
              <a:rPr lang="en-US" sz="1200" b="0" i="0" kern="1200" dirty="0" err="1">
                <a:solidFill>
                  <a:schemeClr val="tx1"/>
                </a:solidFill>
                <a:effectLst/>
                <a:latin typeface="+mn-lt"/>
                <a:ea typeface="+mn-ea"/>
                <a:cs typeface="+mn-cs"/>
              </a:rPr>
              <a:t>sino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isso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ficou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conhecida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relógio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t>
            </a:r>
            <a:r>
              <a:rPr lang="en-US" sz="1200" b="0" i="0" kern="1200" dirty="0">
                <a:solidFill>
                  <a:schemeClr val="tx1"/>
                </a:solidFill>
                <a:effectLst/>
                <a:latin typeface="+mn-lt"/>
                <a:ea typeface="+mn-ea"/>
                <a:cs typeface="+mn-cs"/>
              </a:rPr>
              <a:t>.</a:t>
            </a:r>
          </a:p>
          <a:p>
            <a:pPr fontAlgn="base"/>
            <a:r>
              <a:rPr lang="en-US" sz="1200" b="0" i="0" kern="1200" dirty="0" err="1">
                <a:solidFill>
                  <a:schemeClr val="tx1"/>
                </a:solidFill>
                <a:effectLst/>
                <a:latin typeface="+mn-lt"/>
                <a:ea typeface="+mn-ea"/>
                <a:cs typeface="+mn-cs"/>
              </a:rPr>
              <a:t>Infelizmente</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único</a:t>
            </a:r>
            <a:r>
              <a:rPr lang="en-US" sz="1200" b="0" i="0" kern="1200" dirty="0">
                <a:solidFill>
                  <a:schemeClr val="tx1"/>
                </a:solidFill>
                <a:effectLst/>
                <a:latin typeface="+mn-lt"/>
                <a:ea typeface="+mn-ea"/>
                <a:cs typeface="+mn-cs"/>
              </a:rPr>
              <a:t> exemplar </a:t>
            </a:r>
            <a:r>
              <a:rPr lang="en-US" sz="1200" b="0" i="0" kern="1200" dirty="0" err="1">
                <a:solidFill>
                  <a:schemeClr val="tx1"/>
                </a:solidFill>
                <a:effectLst/>
                <a:latin typeface="+mn-lt"/>
                <a:ea typeface="+mn-ea"/>
                <a:cs typeface="+mn-cs"/>
              </a:rPr>
              <a:t>dessa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ainda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incompleto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foi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destruído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a:t>
            </a:r>
            <a:r>
              <a:rPr lang="en-US" sz="1200" b="0" i="0" kern="1200" dirty="0">
                <a:solidFill>
                  <a:schemeClr val="tx1"/>
                </a:solidFill>
                <a:effectLst/>
                <a:latin typeface="+mn-lt"/>
                <a:ea typeface="+mn-ea"/>
                <a:cs typeface="+mn-cs"/>
              </a:rPr>
              <a:t> um </a:t>
            </a:r>
            <a:r>
              <a:rPr lang="en-US" sz="1200" b="0" i="0" kern="1200" dirty="0" err="1">
                <a:solidFill>
                  <a:schemeClr val="tx1"/>
                </a:solidFill>
                <a:effectLst/>
                <a:latin typeface="+mn-lt"/>
                <a:ea typeface="+mn-ea"/>
                <a:cs typeface="+mn-cs"/>
              </a:rPr>
              <a:t>incêndio</a:t>
            </a:r>
            <a:r>
              <a:rPr lang="en-US" sz="1200" b="0" i="0" kern="1200" dirty="0">
                <a:solidFill>
                  <a:schemeClr val="tx1"/>
                </a:solidFill>
                <a:effectLst/>
                <a:latin typeface="+mn-lt"/>
                <a:ea typeface="+mn-ea"/>
                <a:cs typeface="+mn-cs"/>
              </a:rPr>
              <a:t>, Mas </a:t>
            </a:r>
            <a:r>
              <a:rPr lang="en-US" sz="1200" b="0" i="0" kern="1200" dirty="0" err="1">
                <a:solidFill>
                  <a:schemeClr val="tx1"/>
                </a:solidFill>
                <a:effectLst/>
                <a:latin typeface="+mn-lt"/>
                <a:ea typeface="+mn-ea"/>
                <a:cs typeface="+mn-cs"/>
              </a:rPr>
              <a:t>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década</a:t>
            </a:r>
            <a:r>
              <a:rPr lang="en-US" sz="1200" b="0" i="0" kern="1200" dirty="0">
                <a:solidFill>
                  <a:schemeClr val="tx1"/>
                </a:solidFill>
                <a:effectLst/>
                <a:latin typeface="+mn-lt"/>
                <a:ea typeface="+mn-ea"/>
                <a:cs typeface="+mn-cs"/>
              </a:rPr>
              <a:t> de 60, </a:t>
            </a:r>
            <a:r>
              <a:rPr lang="en-US" sz="1200" b="0" i="0" kern="1200" dirty="0" err="1">
                <a:solidFill>
                  <a:schemeClr val="tx1"/>
                </a:solidFill>
                <a:effectLst/>
                <a:latin typeface="+mn-lt"/>
                <a:ea typeface="+mn-ea"/>
                <a:cs typeface="+mn-cs"/>
              </a:rPr>
              <a:t>foram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encontradas</a:t>
            </a:r>
            <a:r>
              <a:rPr lang="en-US" sz="1200" b="0" i="0" kern="1200" dirty="0">
                <a:solidFill>
                  <a:schemeClr val="tx1"/>
                </a:solidFill>
                <a:effectLst/>
                <a:latin typeface="+mn-lt"/>
                <a:ea typeface="+mn-ea"/>
                <a:cs typeface="+mn-cs"/>
              </a:rPr>
              <a:t> as </a:t>
            </a:r>
            <a:r>
              <a:rPr lang="en-US" sz="1200" b="0" i="0" kern="1200" dirty="0" err="1">
                <a:solidFill>
                  <a:schemeClr val="tx1"/>
                </a:solidFill>
                <a:effectLst/>
                <a:latin typeface="+mn-lt"/>
                <a:ea typeface="+mn-ea"/>
                <a:cs typeface="+mn-cs"/>
              </a:rPr>
              <a:t>anotações</a:t>
            </a:r>
            <a:r>
              <a:rPr lang="en-US" sz="1200" b="0" i="0" kern="1200" dirty="0">
                <a:solidFill>
                  <a:schemeClr val="tx1"/>
                </a:solidFill>
                <a:effectLst/>
                <a:latin typeface="+mn-lt"/>
                <a:ea typeface="+mn-ea"/>
                <a:cs typeface="+mn-cs"/>
              </a:rPr>
              <a:t> do </a:t>
            </a:r>
            <a:r>
              <a:rPr lang="en-US" sz="1200" b="0" i="0" kern="1200" dirty="0" err="1">
                <a:solidFill>
                  <a:schemeClr val="tx1"/>
                </a:solidFill>
                <a:effectLst/>
                <a:latin typeface="+mn-lt"/>
                <a:ea typeface="+mn-ea"/>
                <a:cs typeface="+mn-cs"/>
              </a:rPr>
              <a:t>projeto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dessa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possibilitando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reprodução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atribuindo</a:t>
            </a:r>
            <a:r>
              <a:rPr lang="en-US" sz="1200" b="0" i="0" kern="1200" dirty="0">
                <a:solidFill>
                  <a:schemeClr val="tx1"/>
                </a:solidFill>
                <a:effectLst/>
                <a:latin typeface="+mn-lt"/>
                <a:ea typeface="+mn-ea"/>
                <a:cs typeface="+mn-cs"/>
              </a:rPr>
              <a:t> a Wilhelm </a:t>
            </a:r>
            <a:r>
              <a:rPr lang="en-US" sz="1200" b="0" i="0" kern="1200" dirty="0" err="1">
                <a:solidFill>
                  <a:schemeClr val="tx1"/>
                </a:solidFill>
                <a:effectLst/>
                <a:latin typeface="+mn-lt"/>
                <a:ea typeface="+mn-ea"/>
                <a:cs typeface="+mn-cs"/>
              </a:rPr>
              <a:t>Schickard</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invenção</a:t>
            </a:r>
            <a:r>
              <a:rPr lang="en-US" sz="1200" b="0" i="0" kern="1200" dirty="0">
                <a:solidFill>
                  <a:schemeClr val="tx1"/>
                </a:solidFill>
                <a:effectLst/>
                <a:latin typeface="+mn-lt"/>
                <a:ea typeface="+mn-ea"/>
                <a:cs typeface="+mn-cs"/>
              </a:rPr>
              <a:t> da </a:t>
            </a:r>
            <a:r>
              <a:rPr lang="en-US" sz="1200" b="0" i="0" kern="1200" dirty="0" err="1">
                <a:solidFill>
                  <a:schemeClr val="tx1"/>
                </a:solidFill>
                <a:effectLst/>
                <a:latin typeface="+mn-lt"/>
                <a:ea typeface="+mn-ea"/>
                <a:cs typeface="+mn-cs"/>
              </a:rPr>
              <a:t>calculadora</a:t>
            </a:r>
            <a:r>
              <a:rPr lang="en-US" sz="1200" b="0" i="0" kern="1200" dirty="0">
                <a:solidFill>
                  <a:schemeClr val="tx1"/>
                </a:solidFill>
                <a:effectLst/>
                <a:latin typeface="+mn-lt"/>
                <a:ea typeface="+mn-ea"/>
                <a:cs typeface="+mn-cs"/>
              </a:rPr>
              <a:t>.</a:t>
            </a:r>
          </a:p>
          <a:p>
            <a:pPr fontAlgn="base"/>
            <a:br>
              <a:rPr lang="en-US" sz="1200" b="0" i="0" kern="1200" dirty="0">
                <a:solidFill>
                  <a:schemeClr val="tx1"/>
                </a:solidFill>
                <a:effectLst/>
                <a:latin typeface="+mn-lt"/>
                <a:ea typeface="+mn-ea"/>
                <a:cs typeface="+mn-cs"/>
              </a:rPr>
            </a:br>
            <a:r>
              <a:rPr lang="pt-BR" dirty="0" err="1"/>
              <a:t>http</a:t>
            </a:r>
            <a:r>
              <a:rPr lang="pt-BR" dirty="0"/>
              <a:t>://</a:t>
            </a:r>
            <a:r>
              <a:rPr lang="pt-BR" dirty="0" err="1"/>
              <a:t>people.idsia.ch</a:t>
            </a:r>
            <a:r>
              <a:rPr lang="pt-BR" dirty="0"/>
              <a:t>/~</a:t>
            </a:r>
            <a:r>
              <a:rPr lang="pt-BR" dirty="0" err="1"/>
              <a:t>juergen</a:t>
            </a:r>
            <a:r>
              <a:rPr lang="pt-BR" dirty="0"/>
              <a:t>/</a:t>
            </a:r>
            <a:r>
              <a:rPr lang="pt-BR" dirty="0" err="1"/>
              <a:t>schickard.html</a:t>
            </a:r>
            <a:endParaRPr lang="pt-BR" dirty="0"/>
          </a:p>
          <a:p>
            <a:r>
              <a:rPr lang="pt-BR" dirty="0">
                <a:hlinkClick r:id="rId3"/>
              </a:rPr>
              <a:t>http://www.engquimicasantossp.com.br/2012/09/historia-da-calculadora.html</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calculators</a:t>
            </a:r>
            <a:r>
              <a:rPr lang="pt-BR" dirty="0"/>
              <a:t>/1/47</a:t>
            </a:r>
          </a:p>
          <a:p>
            <a:r>
              <a:rPr lang="pt-BR" dirty="0" err="1"/>
              <a:t>http</a:t>
            </a:r>
            <a:r>
              <a:rPr lang="pt-BR" dirty="0"/>
              <a:t>://www.ami19.org/</a:t>
            </a:r>
            <a:r>
              <a:rPr lang="pt-BR" dirty="0" err="1"/>
              <a:t>Pascaline</a:t>
            </a:r>
            <a:r>
              <a:rPr lang="pt-BR" dirty="0"/>
              <a:t>/</a:t>
            </a:r>
            <a:r>
              <a:rPr lang="pt-BR" dirty="0" err="1"/>
              <a:t>IndexPascaline-English.html</a:t>
            </a:r>
            <a:endParaRPr lang="pt-BR" dirty="0"/>
          </a:p>
          <a:p>
            <a:r>
              <a:rPr lang="pt-BR" dirty="0" err="1"/>
              <a:t>http</a:t>
            </a:r>
            <a:r>
              <a:rPr lang="pt-BR" dirty="0"/>
              <a:t>://</a:t>
            </a:r>
            <a:r>
              <a:rPr lang="pt-BR" dirty="0" err="1"/>
              <a:t>global.britannica.com</a:t>
            </a:r>
            <a:r>
              <a:rPr lang="pt-BR" dirty="0"/>
              <a:t>/</a:t>
            </a:r>
            <a:r>
              <a:rPr lang="pt-BR" dirty="0" err="1"/>
              <a:t>technology</a:t>
            </a:r>
            <a:r>
              <a:rPr lang="pt-BR" dirty="0"/>
              <a:t>/</a:t>
            </a:r>
            <a:r>
              <a:rPr lang="pt-BR" dirty="0" err="1"/>
              <a:t>Pascaline</a:t>
            </a:r>
            <a:endParaRPr lang="pt-BR" dirty="0"/>
          </a:p>
          <a:p>
            <a:r>
              <a:rPr lang="pt-BR" dirty="0" err="1"/>
              <a:t>https</a:t>
            </a:r>
            <a:r>
              <a:rPr lang="pt-BR" dirty="0"/>
              <a:t>://</a:t>
            </a:r>
            <a:r>
              <a:rPr lang="pt-BR" dirty="0" err="1"/>
              <a:t>www.liveauctioneers.com</a:t>
            </a:r>
            <a:r>
              <a:rPr lang="pt-BR" dirty="0"/>
              <a:t>/item/17377272_rare-six-digit-pascaline-calculator-by-b-pascal</a:t>
            </a:r>
          </a:p>
          <a:p>
            <a:endParaRPr lang="pt-BR" dirty="0"/>
          </a:p>
          <a:p>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a:t>
            </a:fld>
            <a:endParaRPr lang="pt-BR"/>
          </a:p>
        </p:txBody>
      </p:sp>
    </p:spTree>
    <p:extLst>
      <p:ext uri="{BB962C8B-B14F-4D97-AF65-F5344CB8AC3E}">
        <p14:creationId xmlns:p14="http://schemas.microsoft.com/office/powerpoint/2010/main" val="3160500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 made each ten-teeth wheel accessible to be turned directly by a person's hand</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first signs of technophobia emerged with mathematicians fearing the loss of their jobs due to progress.</a:t>
            </a:r>
            <a:endParaRPr lang="pt-BR" dirty="0"/>
          </a:p>
          <a:p>
            <a:endParaRPr lang="pt-BR" dirty="0"/>
          </a:p>
          <a:p>
            <a:r>
              <a:rPr lang="pt-BR" dirty="0" err="1"/>
              <a:t>http</a:t>
            </a:r>
            <a:r>
              <a:rPr lang="pt-BR" dirty="0"/>
              <a:t>://</a:t>
            </a:r>
            <a:r>
              <a:rPr lang="pt-BR" dirty="0" err="1"/>
              <a:t>www.gouwepeer.nl</a:t>
            </a:r>
            <a:r>
              <a:rPr lang="pt-BR" dirty="0"/>
              <a:t>/</a:t>
            </a:r>
            <a:r>
              <a:rPr lang="pt-BR" dirty="0" err="1"/>
              <a:t>afbeeldingen</a:t>
            </a:r>
            <a:r>
              <a:rPr lang="pt-BR" dirty="0"/>
              <a:t>/</a:t>
            </a:r>
            <a:r>
              <a:rPr lang="pt-BR" dirty="0" err="1"/>
              <a:t>pascaline.jpg</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calculators</a:t>
            </a:r>
            <a:r>
              <a:rPr lang="pt-BR" dirty="0"/>
              <a:t>/1/47</a:t>
            </a:r>
          </a:p>
          <a:p>
            <a:r>
              <a:rPr lang="pt-BR" dirty="0" err="1"/>
              <a:t>http</a:t>
            </a:r>
            <a:r>
              <a:rPr lang="pt-BR" dirty="0"/>
              <a:t>://www.ami19.org/</a:t>
            </a:r>
            <a:r>
              <a:rPr lang="pt-BR" dirty="0" err="1"/>
              <a:t>Pascaline</a:t>
            </a:r>
            <a:r>
              <a:rPr lang="pt-BR" dirty="0"/>
              <a:t>/</a:t>
            </a:r>
            <a:r>
              <a:rPr lang="pt-BR" dirty="0" err="1"/>
              <a:t>IndexPascaline-English.html</a:t>
            </a:r>
            <a:endParaRPr lang="pt-BR" dirty="0"/>
          </a:p>
          <a:p>
            <a:r>
              <a:rPr lang="pt-BR" dirty="0" err="1"/>
              <a:t>http</a:t>
            </a:r>
            <a:r>
              <a:rPr lang="pt-BR" dirty="0"/>
              <a:t>://</a:t>
            </a:r>
            <a:r>
              <a:rPr lang="pt-BR" dirty="0" err="1"/>
              <a:t>global.britannica.com</a:t>
            </a:r>
            <a:r>
              <a:rPr lang="pt-BR" dirty="0"/>
              <a:t>/</a:t>
            </a:r>
            <a:r>
              <a:rPr lang="pt-BR" dirty="0" err="1"/>
              <a:t>technology</a:t>
            </a:r>
            <a:r>
              <a:rPr lang="pt-BR" dirty="0"/>
              <a:t>/</a:t>
            </a:r>
            <a:r>
              <a:rPr lang="pt-BR" dirty="0" err="1"/>
              <a:t>Pascaline</a:t>
            </a:r>
            <a:endParaRPr lang="pt-BR" dirty="0"/>
          </a:p>
          <a:p>
            <a:r>
              <a:rPr lang="pt-BR" dirty="0" err="1"/>
              <a:t>https</a:t>
            </a:r>
            <a:r>
              <a:rPr lang="pt-BR" dirty="0"/>
              <a:t>://</a:t>
            </a:r>
            <a:r>
              <a:rPr lang="pt-BR" dirty="0" err="1"/>
              <a:t>www.liveauctioneers.com</a:t>
            </a:r>
            <a:r>
              <a:rPr lang="pt-BR" dirty="0"/>
              <a:t>/item/17377272_rare-six-digit-pascaline-calculator-by-b-pascal</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www.eingang.org</a:t>
            </a:r>
            <a:r>
              <a:rPr lang="pt-BR" dirty="0"/>
              <a:t>/</a:t>
            </a:r>
            <a:r>
              <a:rPr lang="pt-BR" dirty="0" err="1"/>
              <a:t>Lecture</a:t>
            </a:r>
            <a:r>
              <a:rPr lang="pt-BR" dirty="0"/>
              <a:t>/</a:t>
            </a:r>
            <a:r>
              <a:rPr lang="pt-BR" dirty="0" err="1"/>
              <a:t>pascaline.html</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3</a:t>
            </a:fld>
            <a:endParaRPr lang="pt-BR"/>
          </a:p>
        </p:txBody>
      </p:sp>
    </p:spTree>
    <p:extLst>
      <p:ext uri="{BB962C8B-B14F-4D97-AF65-F5344CB8AC3E}">
        <p14:creationId xmlns:p14="http://schemas.microsoft.com/office/powerpoint/2010/main" val="322442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https</a:t>
            </a:r>
            <a:r>
              <a:rPr lang="pt-BR" dirty="0"/>
              <a:t>://</a:t>
            </a:r>
            <a:r>
              <a:rPr lang="pt-BR" dirty="0" err="1"/>
              <a:t>en.wikipedia.org</a:t>
            </a:r>
            <a:r>
              <a:rPr lang="pt-BR" dirty="0"/>
              <a:t>/</a:t>
            </a:r>
            <a:r>
              <a:rPr lang="pt-BR" dirty="0" err="1"/>
              <a:t>wiki</a:t>
            </a:r>
            <a:r>
              <a:rPr lang="pt-BR" dirty="0"/>
              <a:t>/</a:t>
            </a:r>
            <a:r>
              <a:rPr lang="pt-BR" dirty="0" err="1"/>
              <a:t>Gottfried_Wilhelm_Leibniz</a:t>
            </a:r>
            <a:endParaRPr lang="pt-BR" dirty="0"/>
          </a:p>
          <a:p>
            <a:r>
              <a:rPr lang="pt-BR" dirty="0" err="1"/>
              <a:t>http</a:t>
            </a:r>
            <a:r>
              <a:rPr lang="pt-BR" dirty="0"/>
              <a:t>://</a:t>
            </a:r>
            <a:r>
              <a:rPr lang="pt-BR" dirty="0" err="1"/>
              <a:t>www.computerhistory.org</a:t>
            </a:r>
            <a:r>
              <a:rPr lang="pt-BR" dirty="0"/>
              <a:t>/</a:t>
            </a:r>
            <a:r>
              <a:rPr lang="pt-BR" dirty="0" err="1"/>
              <a:t>revolution</a:t>
            </a:r>
            <a:r>
              <a:rPr lang="pt-BR" dirty="0"/>
              <a:t>/</a:t>
            </a:r>
            <a:r>
              <a:rPr lang="pt-BR" dirty="0" err="1"/>
              <a:t>calculators</a:t>
            </a:r>
            <a:r>
              <a:rPr lang="pt-BR" dirty="0"/>
              <a:t>/1/49</a:t>
            </a:r>
          </a:p>
          <a:p>
            <a:r>
              <a:rPr lang="pt-BR" dirty="0" err="1"/>
              <a:t>http</a:t>
            </a:r>
            <a:r>
              <a:rPr lang="pt-BR" dirty="0"/>
              <a:t>://</a:t>
            </a:r>
            <a:r>
              <a:rPr lang="pt-BR" dirty="0" err="1"/>
              <a:t>people.idsia.ch</a:t>
            </a:r>
            <a:r>
              <a:rPr lang="pt-BR" dirty="0"/>
              <a:t>/~</a:t>
            </a:r>
            <a:r>
              <a:rPr lang="pt-BR" dirty="0" err="1"/>
              <a:t>juergen</a:t>
            </a:r>
            <a:r>
              <a:rPr lang="pt-BR" dirty="0"/>
              <a:t>/</a:t>
            </a:r>
            <a:r>
              <a:rPr lang="pt-BR" dirty="0" err="1"/>
              <a:t>leibniz.html</a:t>
            </a:r>
            <a:endParaRPr lang="pt-BR" dirty="0"/>
          </a:p>
          <a:p>
            <a:endParaRPr lang="pt-BR" dirty="0"/>
          </a:p>
          <a:p>
            <a:r>
              <a:rPr lang="pt-BR" dirty="0"/>
              <a:t>Leibniz' final </a:t>
            </a:r>
            <a:r>
              <a:rPr lang="pt-BR" dirty="0" err="1"/>
              <a:t>years</a:t>
            </a:r>
            <a:r>
              <a:rPr lang="pt-BR" dirty="0"/>
              <a:t> </a:t>
            </a:r>
            <a:r>
              <a:rPr lang="pt-BR" dirty="0" err="1"/>
              <a:t>were</a:t>
            </a:r>
            <a:r>
              <a:rPr lang="pt-BR" dirty="0"/>
              <a:t> </a:t>
            </a:r>
            <a:r>
              <a:rPr lang="pt-BR" dirty="0" err="1"/>
              <a:t>overshadowed</a:t>
            </a:r>
            <a:r>
              <a:rPr lang="pt-BR" dirty="0"/>
              <a:t> </a:t>
            </a:r>
            <a:r>
              <a:rPr lang="pt-BR" dirty="0" err="1"/>
              <a:t>by</a:t>
            </a:r>
            <a:r>
              <a:rPr lang="pt-BR" dirty="0"/>
              <a:t> a </a:t>
            </a:r>
            <a:r>
              <a:rPr lang="pt-BR" dirty="0" err="1"/>
              <a:t>priority</a:t>
            </a:r>
            <a:r>
              <a:rPr lang="pt-BR" dirty="0"/>
              <a:t> </a:t>
            </a:r>
            <a:r>
              <a:rPr lang="pt-BR" dirty="0" err="1"/>
              <a:t>fight</a:t>
            </a:r>
            <a:r>
              <a:rPr lang="pt-BR" dirty="0"/>
              <a:t> </a:t>
            </a:r>
            <a:r>
              <a:rPr lang="pt-BR" dirty="0" err="1"/>
              <a:t>with</a:t>
            </a:r>
            <a:r>
              <a:rPr lang="pt-BR" dirty="0"/>
              <a:t> </a:t>
            </a:r>
            <a:r>
              <a:rPr lang="pt-BR" dirty="0" err="1"/>
              <a:t>the</a:t>
            </a:r>
            <a:r>
              <a:rPr lang="pt-BR" dirty="0"/>
              <a:t> </a:t>
            </a:r>
            <a:r>
              <a:rPr lang="pt-BR" dirty="0" err="1"/>
              <a:t>powerful</a:t>
            </a:r>
            <a:r>
              <a:rPr lang="pt-BR" dirty="0"/>
              <a:t> </a:t>
            </a:r>
            <a:r>
              <a:rPr lang="pt-BR" dirty="0" err="1"/>
              <a:t>president</a:t>
            </a:r>
            <a:r>
              <a:rPr lang="pt-BR" dirty="0"/>
              <a:t> </a:t>
            </a:r>
            <a:r>
              <a:rPr lang="pt-BR" dirty="0" err="1"/>
              <a:t>of</a:t>
            </a:r>
            <a:r>
              <a:rPr lang="pt-BR" dirty="0"/>
              <a:t> </a:t>
            </a:r>
            <a:r>
              <a:rPr lang="pt-BR" dirty="0" err="1"/>
              <a:t>the</a:t>
            </a:r>
            <a:r>
              <a:rPr lang="pt-BR" dirty="0"/>
              <a:t> Royal </a:t>
            </a:r>
            <a:r>
              <a:rPr lang="pt-BR" dirty="0" err="1"/>
              <a:t>Society</a:t>
            </a:r>
            <a:r>
              <a:rPr lang="pt-BR" dirty="0"/>
              <a:t>, Isaac Newton, </a:t>
            </a:r>
            <a:r>
              <a:rPr lang="pt-BR" dirty="0" err="1"/>
              <a:t>who</a:t>
            </a:r>
            <a:r>
              <a:rPr lang="pt-BR" dirty="0"/>
              <a:t> </a:t>
            </a:r>
            <a:r>
              <a:rPr lang="pt-BR" dirty="0" err="1"/>
              <a:t>said</a:t>
            </a:r>
            <a:r>
              <a:rPr lang="pt-BR" dirty="0"/>
              <a:t> </a:t>
            </a:r>
            <a:r>
              <a:rPr lang="pt-BR" dirty="0" err="1"/>
              <a:t>he</a:t>
            </a:r>
            <a:r>
              <a:rPr lang="pt-BR" dirty="0"/>
              <a:t> </a:t>
            </a:r>
            <a:r>
              <a:rPr lang="pt-BR" dirty="0" err="1"/>
              <a:t>had</a:t>
            </a:r>
            <a:r>
              <a:rPr lang="pt-BR" dirty="0"/>
              <a:t> </a:t>
            </a:r>
            <a:r>
              <a:rPr lang="pt-BR" dirty="0" err="1"/>
              <a:t>invented</a:t>
            </a:r>
            <a:r>
              <a:rPr lang="pt-BR" dirty="0"/>
              <a:t> </a:t>
            </a:r>
            <a:r>
              <a:rPr lang="pt-BR" dirty="0" err="1"/>
              <a:t>calculus</a:t>
            </a:r>
            <a:r>
              <a:rPr lang="pt-BR" dirty="0"/>
              <a:t> </a:t>
            </a:r>
            <a:r>
              <a:rPr lang="pt-BR" dirty="0" err="1"/>
              <a:t>before</a:t>
            </a:r>
            <a:r>
              <a:rPr lang="pt-BR" dirty="0"/>
              <a:t> Leibniz, </a:t>
            </a:r>
            <a:r>
              <a:rPr lang="pt-BR" dirty="0" err="1"/>
              <a:t>without</a:t>
            </a:r>
            <a:r>
              <a:rPr lang="pt-BR" dirty="0"/>
              <a:t> </a:t>
            </a:r>
            <a:r>
              <a:rPr lang="pt-BR" dirty="0" err="1"/>
              <a:t>publishing</a:t>
            </a:r>
            <a:r>
              <a:rPr lang="pt-BR" dirty="0"/>
              <a:t> it, </a:t>
            </a:r>
            <a:r>
              <a:rPr lang="pt-BR" dirty="0" err="1"/>
              <a:t>and</a:t>
            </a:r>
            <a:r>
              <a:rPr lang="pt-BR" dirty="0"/>
              <a:t> </a:t>
            </a:r>
            <a:r>
              <a:rPr lang="pt-BR" dirty="0" err="1"/>
              <a:t>who</a:t>
            </a:r>
            <a:r>
              <a:rPr lang="pt-BR" dirty="0"/>
              <a:t> </a:t>
            </a:r>
            <a:r>
              <a:rPr lang="pt-BR" dirty="0" err="1"/>
              <a:t>made</a:t>
            </a:r>
            <a:r>
              <a:rPr lang="pt-BR" dirty="0"/>
              <a:t> </a:t>
            </a:r>
            <a:r>
              <a:rPr lang="pt-BR" dirty="0" err="1"/>
              <a:t>friends</a:t>
            </a:r>
            <a:r>
              <a:rPr lang="pt-BR" dirty="0"/>
              <a:t> </a:t>
            </a:r>
            <a:r>
              <a:rPr lang="pt-BR" dirty="0" err="1"/>
              <a:t>sign</a:t>
            </a:r>
            <a:r>
              <a:rPr lang="pt-BR" dirty="0"/>
              <a:t> </a:t>
            </a:r>
            <a:r>
              <a:rPr lang="pt-BR" dirty="0" err="1"/>
              <a:t>texts</a:t>
            </a:r>
            <a:r>
              <a:rPr lang="pt-BR" dirty="0"/>
              <a:t> </a:t>
            </a:r>
            <a:r>
              <a:rPr lang="pt-BR" dirty="0" err="1"/>
              <a:t>he</a:t>
            </a:r>
            <a:r>
              <a:rPr lang="pt-BR" dirty="0"/>
              <a:t> </a:t>
            </a:r>
            <a:r>
              <a:rPr lang="pt-BR" dirty="0" err="1"/>
              <a:t>wrote</a:t>
            </a:r>
            <a:r>
              <a:rPr lang="pt-BR" dirty="0"/>
              <a:t> </a:t>
            </a:r>
            <a:r>
              <a:rPr lang="pt-BR" dirty="0" err="1"/>
              <a:t>to</a:t>
            </a:r>
            <a:r>
              <a:rPr lang="pt-BR" dirty="0"/>
              <a:t> </a:t>
            </a:r>
            <a:r>
              <a:rPr lang="pt-BR" dirty="0" err="1"/>
              <a:t>support</a:t>
            </a:r>
            <a:r>
              <a:rPr lang="pt-BR" dirty="0"/>
              <a:t> </a:t>
            </a:r>
            <a:r>
              <a:rPr lang="pt-BR" dirty="0" err="1"/>
              <a:t>this</a:t>
            </a:r>
            <a:r>
              <a:rPr lang="pt-BR" dirty="0"/>
              <a:t> </a:t>
            </a:r>
            <a:r>
              <a:rPr lang="pt-BR" dirty="0" err="1"/>
              <a:t>claim</a:t>
            </a:r>
            <a:r>
              <a:rPr lang="pt-BR" dirty="0"/>
              <a:t>. </a:t>
            </a:r>
            <a:r>
              <a:rPr lang="pt-BR" dirty="0" err="1"/>
              <a:t>Today's</a:t>
            </a:r>
            <a:r>
              <a:rPr lang="pt-BR" dirty="0"/>
              <a:t> </a:t>
            </a:r>
            <a:r>
              <a:rPr lang="pt-BR" dirty="0" err="1"/>
              <a:t>historians</a:t>
            </a:r>
            <a:r>
              <a:rPr lang="pt-BR" dirty="0"/>
              <a:t> </a:t>
            </a:r>
            <a:r>
              <a:rPr lang="pt-BR" dirty="0" err="1"/>
              <a:t>give</a:t>
            </a:r>
            <a:r>
              <a:rPr lang="pt-BR" dirty="0"/>
              <a:t> </a:t>
            </a:r>
            <a:r>
              <a:rPr lang="pt-BR" dirty="0" err="1"/>
              <a:t>credit</a:t>
            </a:r>
            <a:r>
              <a:rPr lang="pt-BR" dirty="0"/>
              <a:t> </a:t>
            </a:r>
            <a:r>
              <a:rPr lang="pt-BR" dirty="0" err="1"/>
              <a:t>not</a:t>
            </a:r>
            <a:r>
              <a:rPr lang="pt-BR" dirty="0"/>
              <a:t> </a:t>
            </a:r>
            <a:r>
              <a:rPr lang="pt-BR" dirty="0" err="1"/>
              <a:t>only</a:t>
            </a:r>
            <a:r>
              <a:rPr lang="pt-BR" dirty="0"/>
              <a:t> </a:t>
            </a:r>
            <a:r>
              <a:rPr lang="pt-BR" dirty="0" err="1"/>
              <a:t>to</a:t>
            </a:r>
            <a:r>
              <a:rPr lang="pt-BR" dirty="0"/>
              <a:t> Leibniz </a:t>
            </a:r>
            <a:r>
              <a:rPr lang="pt-BR" dirty="0" err="1"/>
              <a:t>and</a:t>
            </a:r>
            <a:r>
              <a:rPr lang="pt-BR" dirty="0"/>
              <a:t> Newton </a:t>
            </a:r>
            <a:r>
              <a:rPr lang="pt-BR" dirty="0" err="1"/>
              <a:t>but</a:t>
            </a:r>
            <a:r>
              <a:rPr lang="pt-BR" dirty="0"/>
              <a:t> </a:t>
            </a:r>
            <a:r>
              <a:rPr lang="pt-BR" dirty="0" err="1"/>
              <a:t>also</a:t>
            </a:r>
            <a:r>
              <a:rPr lang="pt-BR" dirty="0"/>
              <a:t> </a:t>
            </a:r>
            <a:r>
              <a:rPr lang="pt-BR" dirty="0" err="1"/>
              <a:t>to</a:t>
            </a:r>
            <a:r>
              <a:rPr lang="pt-BR" dirty="0"/>
              <a:t> </a:t>
            </a:r>
            <a:r>
              <a:rPr lang="pt-BR" dirty="0" err="1"/>
              <a:t>the</a:t>
            </a:r>
            <a:r>
              <a:rPr lang="pt-BR" dirty="0"/>
              <a:t> </a:t>
            </a:r>
            <a:r>
              <a:rPr lang="pt-BR" dirty="0" err="1"/>
              <a:t>much</a:t>
            </a:r>
            <a:r>
              <a:rPr lang="pt-BR" dirty="0"/>
              <a:t> </a:t>
            </a:r>
            <a:r>
              <a:rPr lang="pt-BR" dirty="0" err="1"/>
              <a:t>earlier</a:t>
            </a:r>
            <a:r>
              <a:rPr lang="pt-BR" dirty="0"/>
              <a:t> </a:t>
            </a:r>
            <a:r>
              <a:rPr lang="pt-BR" dirty="0" err="1"/>
              <a:t>Indian</a:t>
            </a:r>
            <a:r>
              <a:rPr lang="pt-BR" dirty="0"/>
              <a:t> </a:t>
            </a:r>
            <a:r>
              <a:rPr lang="pt-BR" dirty="0" err="1"/>
              <a:t>Kerala</a:t>
            </a:r>
            <a:r>
              <a:rPr lang="pt-BR" dirty="0"/>
              <a:t> </a:t>
            </a:r>
            <a:r>
              <a:rPr lang="pt-BR" dirty="0" err="1"/>
              <a:t>School</a:t>
            </a:r>
            <a:r>
              <a:rPr lang="pt-BR" dirty="0"/>
              <a:t>, in particular, </a:t>
            </a:r>
            <a:r>
              <a:rPr lang="pt-BR" dirty="0" err="1"/>
              <a:t>Madhava</a:t>
            </a:r>
            <a:r>
              <a:rPr lang="pt-BR" dirty="0"/>
              <a:t> </a:t>
            </a:r>
            <a:r>
              <a:rPr lang="pt-BR" dirty="0" err="1"/>
              <a:t>of</a:t>
            </a:r>
            <a:r>
              <a:rPr lang="pt-BR" dirty="0"/>
              <a:t> </a:t>
            </a:r>
            <a:r>
              <a:rPr lang="pt-BR" dirty="0" err="1"/>
              <a:t>Sangamagrama</a:t>
            </a:r>
            <a:r>
              <a:rPr lang="pt-BR" dirty="0"/>
              <a:t>. </a:t>
            </a:r>
            <a:r>
              <a:rPr lang="pt-BR" dirty="0" err="1"/>
              <a:t>All</a:t>
            </a:r>
            <a:r>
              <a:rPr lang="pt-BR" dirty="0"/>
              <a:t> </a:t>
            </a:r>
            <a:r>
              <a:rPr lang="pt-BR" dirty="0" err="1"/>
              <a:t>of</a:t>
            </a:r>
            <a:r>
              <a:rPr lang="pt-BR" dirty="0"/>
              <a:t> </a:t>
            </a:r>
            <a:r>
              <a:rPr lang="pt-BR" dirty="0" err="1"/>
              <a:t>them</a:t>
            </a:r>
            <a:r>
              <a:rPr lang="pt-BR" dirty="0"/>
              <a:t> </a:t>
            </a:r>
            <a:r>
              <a:rPr lang="pt-BR" dirty="0" err="1"/>
              <a:t>extended</a:t>
            </a:r>
            <a:r>
              <a:rPr lang="pt-BR" dirty="0"/>
              <a:t> </a:t>
            </a:r>
            <a:r>
              <a:rPr lang="pt-BR" dirty="0" err="1"/>
              <a:t>the</a:t>
            </a:r>
            <a:r>
              <a:rPr lang="pt-BR" dirty="0"/>
              <a:t> </a:t>
            </a:r>
            <a:r>
              <a:rPr lang="pt-BR" dirty="0" err="1"/>
              <a:t>pioneering</a:t>
            </a:r>
            <a:r>
              <a:rPr lang="pt-BR" dirty="0"/>
              <a:t> </a:t>
            </a:r>
            <a:r>
              <a:rPr lang="pt-BR" dirty="0" err="1"/>
              <a:t>work</a:t>
            </a:r>
            <a:r>
              <a:rPr lang="pt-BR" dirty="0"/>
              <a:t> </a:t>
            </a:r>
            <a:r>
              <a:rPr lang="pt-BR" dirty="0" err="1"/>
              <a:t>on</a:t>
            </a:r>
            <a:r>
              <a:rPr lang="pt-BR" dirty="0"/>
              <a:t> </a:t>
            </a:r>
            <a:r>
              <a:rPr lang="pt-BR" dirty="0" err="1"/>
              <a:t>infinitesimals</a:t>
            </a:r>
            <a:r>
              <a:rPr lang="pt-BR" dirty="0"/>
              <a:t> </a:t>
            </a:r>
            <a:r>
              <a:rPr lang="pt-BR" dirty="0" err="1"/>
              <a:t>and</a:t>
            </a:r>
            <a:r>
              <a:rPr lang="pt-BR" dirty="0"/>
              <a:t> </a:t>
            </a:r>
            <a:r>
              <a:rPr lang="pt-BR" dirty="0" err="1"/>
              <a:t>special</a:t>
            </a:r>
            <a:r>
              <a:rPr lang="pt-BR" dirty="0"/>
              <a:t> cases </a:t>
            </a:r>
            <a:r>
              <a:rPr lang="pt-BR" dirty="0" err="1"/>
              <a:t>of</a:t>
            </a:r>
            <a:r>
              <a:rPr lang="pt-BR" dirty="0"/>
              <a:t> </a:t>
            </a:r>
            <a:r>
              <a:rPr lang="pt-BR" dirty="0" err="1"/>
              <a:t>calculus</a:t>
            </a:r>
            <a:r>
              <a:rPr lang="pt-BR" dirty="0"/>
              <a:t> </a:t>
            </a:r>
            <a:r>
              <a:rPr lang="pt-BR" dirty="0" err="1"/>
              <a:t>by</a:t>
            </a:r>
            <a:r>
              <a:rPr lang="pt-BR" dirty="0"/>
              <a:t> Archimedes.</a:t>
            </a:r>
          </a:p>
        </p:txBody>
      </p:sp>
      <p:sp>
        <p:nvSpPr>
          <p:cNvPr id="4" name="Slide Number Placeholder 3"/>
          <p:cNvSpPr>
            <a:spLocks noGrp="1"/>
          </p:cNvSpPr>
          <p:nvPr>
            <p:ph type="sldNum" sz="quarter" idx="10"/>
          </p:nvPr>
        </p:nvSpPr>
        <p:spPr/>
        <p:txBody>
          <a:bodyPr/>
          <a:lstStyle/>
          <a:p>
            <a:fld id="{F23FB91E-A0DC-4A5F-B463-D7B8E79502D1}" type="slidenum">
              <a:rPr lang="pt-BR" smtClean="0"/>
              <a:t>4</a:t>
            </a:fld>
            <a:endParaRPr lang="pt-BR"/>
          </a:p>
        </p:txBody>
      </p:sp>
    </p:spTree>
    <p:extLst>
      <p:ext uri="{BB962C8B-B14F-4D97-AF65-F5344CB8AC3E}">
        <p14:creationId xmlns:p14="http://schemas.microsoft.com/office/powerpoint/2010/main" val="4233617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200" dirty="0"/>
              <a:t>Algumas línguas, embora na maior mortas, não conseguem forma um número maior do que um limite determinado (na maioria das vezes devido à falta de necessidade).</a:t>
            </a:r>
          </a:p>
          <a:p>
            <a:endParaRPr lang="pt-BR" dirty="0"/>
          </a:p>
          <a:p>
            <a:r>
              <a:rPr lang="pt-BR" dirty="0"/>
              <a:t>Relógio, comprar na feira, A base de 10 nem sempre é o melhor, pois é somente </a:t>
            </a:r>
            <a:r>
              <a:rPr lang="pt-BR" dirty="0" err="1"/>
              <a:t>divisibly</a:t>
            </a:r>
            <a:r>
              <a:rPr lang="pt-BR" dirty="0"/>
              <a:t> por 1, 2 e 5. Alguns argumentar que uma base de 12 iria funcionar melhor, uma vez que é divisível por 1, 2, 3, 4, e 6. que poderia fazer muitos cálculos muito mais fáceis de executar, pelo menos em uns cabeça.</a:t>
            </a:r>
          </a:p>
          <a:p>
            <a:r>
              <a:rPr lang="pt-BR" dirty="0"/>
              <a:t>[Boyer] Boyer, CB "Passos fundamental no desenvolvimento de Numeração", Isis, 35, 157-158.</a:t>
            </a:r>
          </a:p>
          <a:p>
            <a:endParaRPr lang="pt-BR" dirty="0"/>
          </a:p>
          <a:p>
            <a:r>
              <a:rPr lang="pt-BR" dirty="0"/>
              <a:t>Base 12? duodecimal (</a:t>
            </a:r>
            <a:r>
              <a:rPr lang="pt-BR" dirty="0" err="1"/>
              <a:t>dozenal</a:t>
            </a:r>
            <a:r>
              <a:rPr lang="pt-BR" dirty="0"/>
              <a:t>) system	</a:t>
            </a:r>
            <a:r>
              <a:rPr lang="pt-BR" dirty="0" err="1"/>
              <a:t>is</a:t>
            </a:r>
            <a:r>
              <a:rPr lang="pt-BR" dirty="0"/>
              <a:t> </a:t>
            </a:r>
            <a:r>
              <a:rPr lang="pt-BR" dirty="0" err="1"/>
              <a:t>often</a:t>
            </a:r>
            <a:r>
              <a:rPr lang="pt-BR" dirty="0"/>
              <a:t> </a:t>
            </a:r>
            <a:r>
              <a:rPr lang="pt-BR" dirty="0" err="1"/>
              <a:t>used</a:t>
            </a:r>
            <a:r>
              <a:rPr lang="pt-BR" dirty="0"/>
              <a:t> </a:t>
            </a:r>
            <a:r>
              <a:rPr lang="pt-BR" dirty="0" err="1"/>
              <a:t>due</a:t>
            </a:r>
            <a:r>
              <a:rPr lang="pt-BR" dirty="0"/>
              <a:t> </a:t>
            </a:r>
            <a:r>
              <a:rPr lang="pt-BR" dirty="0" err="1"/>
              <a:t>to</a:t>
            </a:r>
            <a:r>
              <a:rPr lang="pt-BR" dirty="0"/>
              <a:t> </a:t>
            </a:r>
            <a:r>
              <a:rPr lang="pt-BR" dirty="0" err="1"/>
              <a:t>divisibility</a:t>
            </a:r>
            <a:r>
              <a:rPr lang="pt-BR" dirty="0"/>
              <a:t> </a:t>
            </a:r>
            <a:r>
              <a:rPr lang="pt-BR" dirty="0" err="1"/>
              <a:t>by</a:t>
            </a:r>
            <a:r>
              <a:rPr lang="pt-BR" dirty="0"/>
              <a:t> 2, 3, 4 </a:t>
            </a:r>
            <a:r>
              <a:rPr lang="pt-BR" dirty="0" err="1"/>
              <a:t>and</a:t>
            </a:r>
            <a:r>
              <a:rPr lang="pt-BR" dirty="0"/>
              <a:t> 6. It </a:t>
            </a:r>
            <a:r>
              <a:rPr lang="pt-BR" dirty="0" err="1"/>
              <a:t>was</a:t>
            </a:r>
            <a:r>
              <a:rPr lang="pt-BR" dirty="0"/>
              <a:t> </a:t>
            </a:r>
            <a:r>
              <a:rPr lang="pt-BR" dirty="0" err="1"/>
              <a:t>traditionally</a:t>
            </a:r>
            <a:r>
              <a:rPr lang="pt-BR" dirty="0"/>
              <a:t> </a:t>
            </a:r>
            <a:r>
              <a:rPr lang="pt-BR" dirty="0" err="1"/>
              <a:t>used</a:t>
            </a:r>
            <a:r>
              <a:rPr lang="pt-BR" dirty="0"/>
              <a:t> as </a:t>
            </a:r>
            <a:r>
              <a:rPr lang="pt-BR" dirty="0" err="1"/>
              <a:t>part</a:t>
            </a:r>
            <a:r>
              <a:rPr lang="pt-BR" dirty="0"/>
              <a:t> </a:t>
            </a:r>
            <a:r>
              <a:rPr lang="pt-BR" dirty="0" err="1"/>
              <a:t>of</a:t>
            </a:r>
            <a:r>
              <a:rPr lang="pt-BR" dirty="0"/>
              <a:t> </a:t>
            </a:r>
            <a:r>
              <a:rPr lang="pt-BR" dirty="0" err="1"/>
              <a:t>quantities</a:t>
            </a:r>
            <a:r>
              <a:rPr lang="pt-BR" dirty="0"/>
              <a:t> </a:t>
            </a:r>
            <a:r>
              <a:rPr lang="pt-BR" dirty="0" err="1"/>
              <a:t>expressed</a:t>
            </a:r>
            <a:r>
              <a:rPr lang="pt-BR" dirty="0"/>
              <a:t> in </a:t>
            </a:r>
            <a:r>
              <a:rPr lang="pt-BR" dirty="0" err="1"/>
              <a:t>dozens</a:t>
            </a:r>
            <a:r>
              <a:rPr lang="pt-BR" dirty="0"/>
              <a:t> </a:t>
            </a:r>
            <a:r>
              <a:rPr lang="pt-BR" dirty="0" err="1"/>
              <a:t>and</a:t>
            </a:r>
            <a:r>
              <a:rPr lang="pt-BR" dirty="0"/>
              <a:t> </a:t>
            </a:r>
            <a:r>
              <a:rPr lang="pt-BR" dirty="0" err="1"/>
              <a:t>grosses</a:t>
            </a:r>
            <a:r>
              <a:rPr lang="pt-BR" dirty="0"/>
              <a:t>.</a:t>
            </a:r>
          </a:p>
          <a:p>
            <a:endParaRPr lang="pt-BR" dirty="0"/>
          </a:p>
          <a:p>
            <a:endParaRPr lang="pt-BR" dirty="0"/>
          </a:p>
          <a:p>
            <a:r>
              <a:rPr lang="pt-BR" dirty="0" err="1"/>
              <a:t>http</a:t>
            </a:r>
            <a:r>
              <a:rPr lang="pt-BR" dirty="0"/>
              <a:t>://</a:t>
            </a:r>
            <a:r>
              <a:rPr lang="pt-BR" dirty="0" err="1"/>
              <a:t>www.math.chalmers.se</a:t>
            </a:r>
            <a:r>
              <a:rPr lang="pt-BR" dirty="0"/>
              <a:t>/</a:t>
            </a:r>
            <a:r>
              <a:rPr lang="pt-BR" dirty="0" err="1"/>
              <a:t>Math</a:t>
            </a:r>
            <a:r>
              <a:rPr lang="pt-BR" dirty="0"/>
              <a:t>/</a:t>
            </a:r>
            <a:r>
              <a:rPr lang="pt-BR" dirty="0" err="1"/>
              <a:t>Grundutb</a:t>
            </a:r>
            <a:r>
              <a:rPr lang="pt-BR" dirty="0"/>
              <a:t>/GU/MAN250/S04/</a:t>
            </a:r>
            <a:r>
              <a:rPr lang="pt-BR" dirty="0" err="1"/>
              <a:t>Number_Systems.pdf</a:t>
            </a:r>
            <a:endParaRPr lang="pt-BR" dirty="0"/>
          </a:p>
          <a:p>
            <a:r>
              <a:rPr lang="pt-BR" dirty="0" err="1"/>
              <a:t>http</a:t>
            </a:r>
            <a:r>
              <a:rPr lang="pt-BR" dirty="0"/>
              <a:t>://</a:t>
            </a:r>
            <a:r>
              <a:rPr lang="pt-BR" dirty="0" err="1"/>
              <a:t>www.pierce.ctc.edu</a:t>
            </a:r>
            <a:r>
              <a:rPr lang="pt-BR" dirty="0"/>
              <a:t>/staff/</a:t>
            </a:r>
            <a:r>
              <a:rPr lang="pt-BR" dirty="0" err="1"/>
              <a:t>dlippman</a:t>
            </a:r>
            <a:r>
              <a:rPr lang="pt-BR" dirty="0"/>
              <a:t>/</a:t>
            </a:r>
            <a:r>
              <a:rPr lang="pt-BR" dirty="0" err="1"/>
              <a:t>mathinsociety</a:t>
            </a:r>
            <a:r>
              <a:rPr lang="pt-BR" dirty="0"/>
              <a:t>/HistoricalCounting1.0.pdf</a:t>
            </a:r>
          </a:p>
          <a:p>
            <a:r>
              <a:rPr lang="pt-BR" dirty="0" err="1"/>
              <a:t>http</a:t>
            </a:r>
            <a:r>
              <a:rPr lang="pt-BR" dirty="0"/>
              <a:t>://</a:t>
            </a:r>
            <a:r>
              <a:rPr lang="pt-BR" dirty="0" err="1"/>
              <a:t>www.nationalarchives.gov.uk</a:t>
            </a:r>
            <a:r>
              <a:rPr lang="pt-BR" dirty="0"/>
              <a:t>/</a:t>
            </a:r>
            <a:r>
              <a:rPr lang="pt-BR" dirty="0" err="1"/>
              <a:t>museum</a:t>
            </a:r>
            <a:r>
              <a:rPr lang="pt-BR" dirty="0"/>
              <a:t>/</a:t>
            </a:r>
            <a:r>
              <a:rPr lang="pt-BR" dirty="0" err="1"/>
              <a:t>item.asp?item_id</a:t>
            </a:r>
            <a:r>
              <a:rPr lang="pt-BR" dirty="0"/>
              <a:t>=6</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5</a:t>
            </a:fld>
            <a:endParaRPr lang="pt-BR"/>
          </a:p>
        </p:txBody>
      </p:sp>
    </p:spTree>
    <p:extLst>
      <p:ext uri="{BB962C8B-B14F-4D97-AF65-F5344CB8AC3E}">
        <p14:creationId xmlns:p14="http://schemas.microsoft.com/office/powerpoint/2010/main" val="1549222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PT" sz="1200" b="0" i="0" kern="1200" dirty="0">
                <a:solidFill>
                  <a:schemeClr val="tx1"/>
                </a:solidFill>
                <a:effectLst/>
                <a:latin typeface="+mn-lt"/>
                <a:ea typeface="+mn-ea"/>
                <a:cs typeface="+mn-cs"/>
              </a:rPr>
              <a:t>Sequência de </a:t>
            </a:r>
            <a:r>
              <a:rPr lang="pt-PT" sz="1200" b="0" i="0" kern="1200" dirty="0" err="1">
                <a:solidFill>
                  <a:schemeClr val="tx1"/>
                </a:solidFill>
                <a:effectLst/>
                <a:latin typeface="+mn-lt"/>
                <a:ea typeface="+mn-ea"/>
                <a:cs typeface="+mn-cs"/>
              </a:rPr>
              <a:t>Fibonacci</a:t>
            </a:r>
            <a:endParaRPr lang="pt-PT" sz="1200" b="0" i="0" kern="1200" dirty="0">
              <a:solidFill>
                <a:schemeClr val="tx1"/>
              </a:solidFill>
              <a:effectLst/>
              <a:latin typeface="+mn-lt"/>
              <a:ea typeface="+mn-ea"/>
              <a:cs typeface="+mn-cs"/>
            </a:endParaRPr>
          </a:p>
          <a:p>
            <a:endParaRPr lang="pt-BR" dirty="0"/>
          </a:p>
          <a:p>
            <a:endParaRPr lang="pt-BR" dirty="0"/>
          </a:p>
          <a:p>
            <a:r>
              <a:rPr lang="pt-BR" dirty="0" err="1"/>
              <a:t>http</a:t>
            </a:r>
            <a:r>
              <a:rPr lang="pt-BR" dirty="0"/>
              <a:t>://</a:t>
            </a:r>
            <a:r>
              <a:rPr lang="pt-BR" dirty="0" err="1"/>
              <a:t>www.stephanieylin.com</a:t>
            </a:r>
            <a:r>
              <a:rPr lang="pt-BR" dirty="0"/>
              <a:t>/</a:t>
            </a:r>
            <a:r>
              <a:rPr lang="pt-BR" dirty="0" err="1"/>
              <a:t>humanbeing</a:t>
            </a:r>
            <a:r>
              <a:rPr lang="pt-BR" dirty="0"/>
              <a:t>/</a:t>
            </a:r>
          </a:p>
          <a:p>
            <a:endParaRPr lang="pt-BR" dirty="0"/>
          </a:p>
          <a:p>
            <a:r>
              <a:rPr lang="pt-BR" dirty="0" err="1"/>
              <a:t>doc</a:t>
            </a:r>
            <a:r>
              <a:rPr lang="pt-BR" dirty="0"/>
              <a:t>: </a:t>
            </a:r>
            <a:r>
              <a:rPr lang="pt-BR" dirty="0" err="1"/>
              <a:t>http</a:t>
            </a:r>
            <a:r>
              <a:rPr lang="pt-BR" dirty="0"/>
              <a:t>://</a:t>
            </a:r>
            <a:r>
              <a:rPr lang="pt-BR" dirty="0" err="1"/>
              <a:t>www.math.chalmers.se</a:t>
            </a:r>
            <a:r>
              <a:rPr lang="pt-BR" dirty="0"/>
              <a:t>/</a:t>
            </a:r>
            <a:r>
              <a:rPr lang="pt-BR" dirty="0" err="1"/>
              <a:t>Math</a:t>
            </a:r>
            <a:r>
              <a:rPr lang="pt-BR" dirty="0"/>
              <a:t>/</a:t>
            </a:r>
            <a:r>
              <a:rPr lang="pt-BR" dirty="0" err="1"/>
              <a:t>Grundutb</a:t>
            </a:r>
            <a:r>
              <a:rPr lang="pt-BR" dirty="0"/>
              <a:t>/GU/MAN250/S04/</a:t>
            </a:r>
            <a:r>
              <a:rPr lang="pt-BR" dirty="0" err="1"/>
              <a:t>Number_Systems.pdf</a:t>
            </a:r>
            <a:endParaRPr lang="pt-BR" dirty="0"/>
          </a:p>
          <a:p>
            <a:r>
              <a:rPr lang="pt-BR" dirty="0" err="1"/>
              <a:t>https</a:t>
            </a:r>
            <a:r>
              <a:rPr lang="pt-BR" dirty="0"/>
              <a:t>://</a:t>
            </a:r>
            <a:r>
              <a:rPr lang="pt-BR" dirty="0" err="1"/>
              <a:t>en.wikipedia.org</a:t>
            </a:r>
            <a:r>
              <a:rPr lang="pt-BR" dirty="0"/>
              <a:t>/</a:t>
            </a:r>
            <a:r>
              <a:rPr lang="pt-BR" dirty="0" err="1"/>
              <a:t>wiki</a:t>
            </a:r>
            <a:r>
              <a:rPr lang="pt-BR" dirty="0"/>
              <a:t>/Fibonacci#/media/</a:t>
            </a:r>
            <a:r>
              <a:rPr lang="pt-BR" dirty="0" err="1"/>
              <a:t>File:Fibonacci.jpg</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6</a:t>
            </a:fld>
            <a:endParaRPr lang="pt-BR"/>
          </a:p>
        </p:txBody>
      </p:sp>
    </p:spTree>
    <p:extLst>
      <p:ext uri="{BB962C8B-B14F-4D97-AF65-F5344CB8AC3E}">
        <p14:creationId xmlns:p14="http://schemas.microsoft.com/office/powerpoint/2010/main" val="3857331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www.toomanymornings.com</a:t>
            </a:r>
            <a:r>
              <a:rPr lang="pt-BR" dirty="0"/>
              <a:t>/?</a:t>
            </a:r>
            <a:r>
              <a:rPr lang="pt-BR" dirty="0" err="1"/>
              <a:t>attachment_id</a:t>
            </a:r>
            <a:r>
              <a:rPr lang="pt-BR" dirty="0"/>
              <a:t>=4104</a:t>
            </a:r>
          </a:p>
          <a:p>
            <a:r>
              <a:rPr lang="pt-BR" dirty="0" err="1"/>
              <a:t>http</a:t>
            </a:r>
            <a:r>
              <a:rPr lang="pt-BR" dirty="0"/>
              <a:t>://www.10magazine.com.au/blog/</a:t>
            </a:r>
            <a:r>
              <a:rPr lang="pt-BR" dirty="0" err="1"/>
              <a:t>bespoke</a:t>
            </a:r>
            <a:r>
              <a:rPr lang="pt-BR" dirty="0"/>
              <a:t>-</a:t>
            </a:r>
            <a:r>
              <a:rPr lang="pt-BR" dirty="0" err="1"/>
              <a:t>coco-rocha</a:t>
            </a:r>
            <a:r>
              <a:rPr lang="pt-BR" dirty="0"/>
              <a:t>/	</a:t>
            </a:r>
          </a:p>
        </p:txBody>
      </p:sp>
      <p:sp>
        <p:nvSpPr>
          <p:cNvPr id="4" name="Slide Number Placeholder 3"/>
          <p:cNvSpPr>
            <a:spLocks noGrp="1"/>
          </p:cNvSpPr>
          <p:nvPr>
            <p:ph type="sldNum" sz="quarter" idx="10"/>
          </p:nvPr>
        </p:nvSpPr>
        <p:spPr/>
        <p:txBody>
          <a:bodyPr/>
          <a:lstStyle/>
          <a:p>
            <a:fld id="{F23FB91E-A0DC-4A5F-B463-D7B8E79502D1}" type="slidenum">
              <a:rPr lang="pt-BR" smtClean="0"/>
              <a:t>7</a:t>
            </a:fld>
            <a:endParaRPr lang="pt-BR"/>
          </a:p>
        </p:txBody>
      </p:sp>
    </p:spTree>
    <p:extLst>
      <p:ext uri="{BB962C8B-B14F-4D97-AF65-F5344CB8AC3E}">
        <p14:creationId xmlns:p14="http://schemas.microsoft.com/office/powerpoint/2010/main" val="241508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err="1"/>
              <a:t>Pingala</a:t>
            </a:r>
            <a:r>
              <a:rPr lang="en-US" dirty="0"/>
              <a:t> </a:t>
            </a:r>
            <a:r>
              <a:rPr lang="en-US" dirty="0" err="1"/>
              <a:t>é</a:t>
            </a:r>
            <a:r>
              <a:rPr lang="en-US" dirty="0"/>
              <a:t> um </a:t>
            </a:r>
            <a:r>
              <a:rPr lang="en-US" dirty="0" err="1"/>
              <a:t>antigo</a:t>
            </a:r>
            <a:r>
              <a:rPr lang="en-US" dirty="0"/>
              <a:t> </a:t>
            </a:r>
            <a:r>
              <a:rPr lang="en-US" dirty="0" err="1"/>
              <a:t>matemático</a:t>
            </a:r>
            <a:r>
              <a:rPr lang="en-US" dirty="0"/>
              <a:t> </a:t>
            </a:r>
            <a:r>
              <a:rPr lang="en-US" dirty="0" err="1"/>
              <a:t>indiano</a:t>
            </a:r>
            <a:r>
              <a:rPr lang="en-US" dirty="0"/>
              <a:t>, </a:t>
            </a:r>
            <a:r>
              <a:rPr lang="en-US" dirty="0" err="1"/>
              <a:t>famoso</a:t>
            </a:r>
            <a:r>
              <a:rPr lang="en-US" dirty="0"/>
              <a:t> </a:t>
            </a:r>
            <a:r>
              <a:rPr lang="en-US" dirty="0" err="1"/>
              <a:t>por</a:t>
            </a:r>
            <a:r>
              <a:rPr lang="en-US" dirty="0"/>
              <a:t> </a:t>
            </a:r>
            <a:r>
              <a:rPr lang="en-US" dirty="0" err="1"/>
              <a:t>sua</a:t>
            </a:r>
            <a:r>
              <a:rPr lang="en-US" dirty="0"/>
              <a:t> </a:t>
            </a:r>
            <a:r>
              <a:rPr lang="en-US" dirty="0" err="1"/>
              <a:t>obra</a:t>
            </a:r>
            <a:r>
              <a:rPr lang="en-US" dirty="0"/>
              <a:t>, o </a:t>
            </a:r>
            <a:r>
              <a:rPr lang="en-US" dirty="0" err="1"/>
              <a:t>Chandas</a:t>
            </a:r>
            <a:r>
              <a:rPr lang="en-US" dirty="0"/>
              <a:t> </a:t>
            </a:r>
            <a:r>
              <a:rPr lang="en-US" dirty="0" err="1"/>
              <a:t>shastra</a:t>
            </a:r>
            <a:r>
              <a:rPr lang="en-US" dirty="0"/>
              <a:t> que </a:t>
            </a:r>
            <a:r>
              <a:rPr lang="en-US" dirty="0" err="1"/>
              <a:t>discuti</a:t>
            </a:r>
            <a:r>
              <a:rPr lang="en-US" dirty="0"/>
              <a:t> </a:t>
            </a:r>
            <a:r>
              <a:rPr lang="en-US" dirty="0" err="1"/>
              <a:t>números</a:t>
            </a:r>
            <a:r>
              <a:rPr lang="en-US" dirty="0"/>
              <a:t> </a:t>
            </a:r>
            <a:r>
              <a:rPr lang="en-US" dirty="0" err="1"/>
              <a:t>binários</a:t>
            </a:r>
            <a:r>
              <a:rPr lang="en-US" dirty="0"/>
              <a:t>.</a:t>
            </a:r>
          </a:p>
          <a:p>
            <a:endParaRPr lang="pt-BR" dirty="0"/>
          </a:p>
          <a:p>
            <a:r>
              <a:rPr lang="pt-BR" dirty="0" err="1"/>
              <a:t>http</a:t>
            </a:r>
            <a:r>
              <a:rPr lang="pt-BR" dirty="0"/>
              <a:t>://</a:t>
            </a:r>
            <a:r>
              <a:rPr lang="pt-BR" dirty="0" err="1"/>
              <a:t>www.pierce.ctc.edu</a:t>
            </a:r>
            <a:r>
              <a:rPr lang="pt-BR" dirty="0"/>
              <a:t>/staff/</a:t>
            </a:r>
            <a:r>
              <a:rPr lang="pt-BR" dirty="0" err="1"/>
              <a:t>dlippman</a:t>
            </a:r>
            <a:r>
              <a:rPr lang="pt-BR" dirty="0"/>
              <a:t>/</a:t>
            </a:r>
            <a:r>
              <a:rPr lang="pt-BR" dirty="0" err="1"/>
              <a:t>mathinsociety</a:t>
            </a:r>
            <a:r>
              <a:rPr lang="pt-BR" dirty="0"/>
              <a:t>/HistoricalCounting1.0.pdf</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a:t>
            </a:r>
            <a:r>
              <a:rPr lang="pt-BR" dirty="0" err="1"/>
              <a:t>Radix</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www.math.chalmers.se</a:t>
            </a:r>
            <a:r>
              <a:rPr lang="pt-BR" dirty="0"/>
              <a:t>/</a:t>
            </a:r>
            <a:r>
              <a:rPr lang="pt-BR" dirty="0" err="1"/>
              <a:t>Math</a:t>
            </a:r>
            <a:r>
              <a:rPr lang="pt-BR" dirty="0"/>
              <a:t>/</a:t>
            </a:r>
            <a:r>
              <a:rPr lang="pt-BR" dirty="0" err="1"/>
              <a:t>Grundutb</a:t>
            </a:r>
            <a:r>
              <a:rPr lang="pt-BR" dirty="0"/>
              <a:t>/GU/MAN250/S04/</a:t>
            </a:r>
            <a:r>
              <a:rPr lang="pt-BR" dirty="0" err="1"/>
              <a:t>Number_Systems.pdf</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8</a:t>
            </a:fld>
            <a:endParaRPr lang="pt-BR"/>
          </a:p>
        </p:txBody>
      </p:sp>
    </p:spTree>
    <p:extLst>
      <p:ext uri="{BB962C8B-B14F-4D97-AF65-F5344CB8AC3E}">
        <p14:creationId xmlns:p14="http://schemas.microsoft.com/office/powerpoint/2010/main" val="134922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duas casas 4 possibilidades, 3 casas 8 possibilidades,</a:t>
            </a:r>
            <a:r>
              <a:rPr lang="pt-BR" baseline="0" dirty="0"/>
              <a:t> ou seja dois elevado ao número de </a:t>
            </a:r>
            <a:r>
              <a:rPr lang="pt-BR" baseline="0" dirty="0" err="1"/>
              <a:t>digitos</a:t>
            </a:r>
            <a:r>
              <a:rPr lang="pt-BR" dirty="0"/>
              <a:t>.</a:t>
            </a:r>
          </a:p>
          <a:p>
            <a:r>
              <a:rPr lang="pt-BR" dirty="0"/>
              <a:t>Dessa forma em 8 bits podemos colocar dados entre:</a:t>
            </a:r>
          </a:p>
          <a:p>
            <a:r>
              <a:rPr lang="pt-BR" dirty="0"/>
              <a:t>00000000 à 11111111</a:t>
            </a:r>
          </a:p>
          <a:p>
            <a:endParaRPr lang="pt-BR" dirty="0"/>
          </a:p>
          <a:p>
            <a:r>
              <a:rPr lang="pt-BR" dirty="0"/>
              <a:t>Estudar:</a:t>
            </a:r>
          </a:p>
          <a:p>
            <a:r>
              <a:rPr lang="pt-BR" dirty="0">
                <a:hlinkClick r:id="rId3"/>
              </a:rPr>
              <a:t>http://homepage.cs.uiowa.edu/~jones/assem/notes/02data.shtml</a:t>
            </a:r>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9</a:t>
            </a:fld>
            <a:endParaRPr lang="pt-BR"/>
          </a:p>
        </p:txBody>
      </p:sp>
    </p:spTree>
    <p:extLst>
      <p:ext uri="{BB962C8B-B14F-4D97-AF65-F5344CB8AC3E}">
        <p14:creationId xmlns:p14="http://schemas.microsoft.com/office/powerpoint/2010/main" val="530051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10</a:t>
            </a:fld>
            <a:endParaRPr lang="pt-BR"/>
          </a:p>
        </p:txBody>
      </p:sp>
    </p:spTree>
    <p:extLst>
      <p:ext uri="{BB962C8B-B14F-4D97-AF65-F5344CB8AC3E}">
        <p14:creationId xmlns:p14="http://schemas.microsoft.com/office/powerpoint/2010/main" val="656737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11</a:t>
            </a:fld>
            <a:endParaRPr lang="pt-BR"/>
          </a:p>
        </p:txBody>
      </p:sp>
    </p:spTree>
    <p:extLst>
      <p:ext uri="{BB962C8B-B14F-4D97-AF65-F5344CB8AC3E}">
        <p14:creationId xmlns:p14="http://schemas.microsoft.com/office/powerpoint/2010/main" val="65673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12</a:t>
            </a:fld>
            <a:endParaRPr lang="pt-BR"/>
          </a:p>
        </p:txBody>
      </p:sp>
    </p:spTree>
    <p:extLst>
      <p:ext uri="{BB962C8B-B14F-4D97-AF65-F5344CB8AC3E}">
        <p14:creationId xmlns:p14="http://schemas.microsoft.com/office/powerpoint/2010/main" val="1090617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05267-4550-9E1D-82A3-2F72F9159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7A6F1-89D6-A47C-1E52-B10AF8656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5714D-DA6B-660A-35F5-D48EBAE33897}"/>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8A45B230-9AAE-50CE-C713-231D432D6DE1}"/>
              </a:ext>
            </a:extLst>
          </p:cNvPr>
          <p:cNvSpPr>
            <a:spLocks noGrp="1"/>
          </p:cNvSpPr>
          <p:nvPr>
            <p:ph type="sldNum" sz="quarter" idx="10"/>
          </p:nvPr>
        </p:nvSpPr>
        <p:spPr/>
        <p:txBody>
          <a:bodyPr/>
          <a:lstStyle/>
          <a:p>
            <a:fld id="{F23FB91E-A0DC-4A5F-B463-D7B8E79502D1}" type="slidenum">
              <a:rPr lang="pt-BR" smtClean="0"/>
              <a:t>13</a:t>
            </a:fld>
            <a:endParaRPr lang="pt-BR"/>
          </a:p>
        </p:txBody>
      </p:sp>
    </p:spTree>
    <p:extLst>
      <p:ext uri="{BB962C8B-B14F-4D97-AF65-F5344CB8AC3E}">
        <p14:creationId xmlns:p14="http://schemas.microsoft.com/office/powerpoint/2010/main" val="2120996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www.pierce.ctc.edu</a:t>
            </a:r>
            <a:r>
              <a:rPr lang="pt-BR" dirty="0"/>
              <a:t>/staff/</a:t>
            </a:r>
            <a:r>
              <a:rPr lang="pt-BR" dirty="0" err="1"/>
              <a:t>dlippman</a:t>
            </a:r>
            <a:r>
              <a:rPr lang="pt-BR" dirty="0"/>
              <a:t>/</a:t>
            </a:r>
            <a:r>
              <a:rPr lang="pt-BR" dirty="0" err="1"/>
              <a:t>mathinsociety</a:t>
            </a:r>
            <a:r>
              <a:rPr lang="pt-BR" dirty="0"/>
              <a:t>/HistoricalCounting1.0.pdf</a:t>
            </a:r>
          </a:p>
        </p:txBody>
      </p:sp>
      <p:sp>
        <p:nvSpPr>
          <p:cNvPr id="4" name="Slide Number Placeholder 3"/>
          <p:cNvSpPr>
            <a:spLocks noGrp="1"/>
          </p:cNvSpPr>
          <p:nvPr>
            <p:ph type="sldNum" sz="quarter" idx="10"/>
          </p:nvPr>
        </p:nvSpPr>
        <p:spPr/>
        <p:txBody>
          <a:bodyPr/>
          <a:lstStyle/>
          <a:p>
            <a:fld id="{F23FB91E-A0DC-4A5F-B463-D7B8E79502D1}" type="slidenum">
              <a:rPr lang="pt-BR" smtClean="0"/>
              <a:t>14</a:t>
            </a:fld>
            <a:endParaRPr lang="pt-BR"/>
          </a:p>
        </p:txBody>
      </p:sp>
    </p:spTree>
    <p:extLst>
      <p:ext uri="{BB962C8B-B14F-4D97-AF65-F5344CB8AC3E}">
        <p14:creationId xmlns:p14="http://schemas.microsoft.com/office/powerpoint/2010/main" val="3707713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www.clker.com</a:t>
            </a:r>
            <a:r>
              <a:rPr lang="pt-BR" dirty="0"/>
              <a:t>/</a:t>
            </a:r>
            <a:r>
              <a:rPr lang="pt-BR" dirty="0" err="1"/>
              <a:t>clipart-frowny-sad-face.html</a:t>
            </a:r>
            <a:endParaRPr lang="pt-BR" dirty="0"/>
          </a:p>
          <a:p>
            <a:r>
              <a:rPr lang="pt-BR" dirty="0"/>
              <a:t>http://</a:t>
            </a:r>
            <a:r>
              <a:rPr lang="pt-BR" dirty="0" err="1"/>
              <a:t>www.clker.com</a:t>
            </a:r>
            <a:r>
              <a:rPr lang="pt-BR" dirty="0"/>
              <a:t>/</a:t>
            </a:r>
            <a:r>
              <a:rPr lang="pt-BR" dirty="0" err="1"/>
              <a:t>clipart-happy-smiling-face.html</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15</a:t>
            </a:fld>
            <a:endParaRPr lang="pt-BR"/>
          </a:p>
        </p:txBody>
      </p:sp>
    </p:spTree>
    <p:extLst>
      <p:ext uri="{BB962C8B-B14F-4D97-AF65-F5344CB8AC3E}">
        <p14:creationId xmlns:p14="http://schemas.microsoft.com/office/powerpoint/2010/main" val="1449975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a:t>
            </a:r>
            <a:r>
              <a:rPr lang="pt-BR" dirty="0" err="1"/>
              <a:t>Method_of_complements</a:t>
            </a:r>
            <a:endParaRPr lang="pt-BR" dirty="0"/>
          </a:p>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https</a:t>
            </a:r>
            <a:r>
              <a:rPr lang="pt-BR" dirty="0"/>
              <a:t>://</a:t>
            </a:r>
            <a:r>
              <a:rPr lang="pt-BR" dirty="0" err="1"/>
              <a:t>en.wikipedia.org</a:t>
            </a:r>
            <a:r>
              <a:rPr lang="pt-BR" dirty="0"/>
              <a:t>/</a:t>
            </a:r>
            <a:r>
              <a:rPr lang="pt-BR" dirty="0" err="1"/>
              <a:t>wiki</a:t>
            </a:r>
            <a:r>
              <a:rPr lang="pt-BR" dirty="0"/>
              <a:t>/Two%27s_complement</a:t>
            </a:r>
          </a:p>
          <a:p>
            <a:endParaRPr lang="pt-BR" dirty="0"/>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16</a:t>
            </a:fld>
            <a:endParaRPr lang="pt-BR"/>
          </a:p>
        </p:txBody>
      </p:sp>
    </p:spTree>
    <p:extLst>
      <p:ext uri="{BB962C8B-B14F-4D97-AF65-F5344CB8AC3E}">
        <p14:creationId xmlns:p14="http://schemas.microsoft.com/office/powerpoint/2010/main" val="3348807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Seu computador usa, em linguagens como C é possível ver o comportamento.</a:t>
            </a:r>
          </a:p>
          <a:p>
            <a:pPr marL="0" marR="0" indent="0" algn="l" defTabSz="914400" rtl="0" eaLnBrk="1" fontAlgn="auto" latinLnBrk="0" hangingPunct="1">
              <a:lnSpc>
                <a:spcPct val="100000"/>
              </a:lnSpc>
              <a:spcBef>
                <a:spcPts val="0"/>
              </a:spcBef>
              <a:spcAft>
                <a:spcPts val="0"/>
              </a:spcAft>
              <a:buClrTx/>
              <a:buSzTx/>
              <a:buFontTx/>
              <a:buNone/>
              <a:tabLst/>
              <a:defRPr/>
            </a:pPr>
            <a:r>
              <a:rPr lang="pt-BR" dirty="0"/>
              <a:t>Para adicionar um você pode ir invertendo os bits da direita para a esquerda até a primeira vez</a:t>
            </a:r>
            <a:r>
              <a:rPr lang="pt-BR" baseline="0" dirty="0"/>
              <a:t> que um bit 0 mude para 1.</a:t>
            </a:r>
            <a:endParaRPr lang="pt-BR" dirty="0"/>
          </a:p>
          <a:p>
            <a:r>
              <a:rPr lang="pt-BR" dirty="0"/>
              <a:t>Existem provas para, mas se quiser conferir</a:t>
            </a:r>
            <a:r>
              <a:rPr lang="pt-BR" baseline="0" dirty="0"/>
              <a:t> de uma pesquisada na internet.</a:t>
            </a:r>
            <a:endParaRPr lang="pt-BR" dirty="0"/>
          </a:p>
          <a:p>
            <a:r>
              <a:rPr lang="pt-BR" dirty="0" err="1"/>
              <a:t>http</a:t>
            </a:r>
            <a:r>
              <a:rPr lang="pt-BR" dirty="0"/>
              <a:t>://</a:t>
            </a:r>
            <a:r>
              <a:rPr lang="pt-BR" dirty="0" err="1"/>
              <a:t>vica-trade.com</a:t>
            </a:r>
            <a:r>
              <a:rPr lang="pt-BR" dirty="0"/>
              <a:t>/</a:t>
            </a:r>
            <a:r>
              <a:rPr lang="pt-BR" dirty="0" err="1"/>
              <a:t>images</a:t>
            </a:r>
            <a:r>
              <a:rPr lang="pt-BR" dirty="0"/>
              <a:t>/</a:t>
            </a:r>
            <a:r>
              <a:rPr lang="pt-BR" dirty="0" err="1"/>
              <a:t>categorie</a:t>
            </a:r>
            <a:r>
              <a:rPr lang="pt-BR" dirty="0"/>
              <a:t>/</a:t>
            </a:r>
            <a:r>
              <a:rPr lang="pt-BR" dirty="0" err="1"/>
              <a:t>model_odometer.jpg</a:t>
            </a:r>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17</a:t>
            </a:fld>
            <a:endParaRPr lang="pt-BR"/>
          </a:p>
        </p:txBody>
      </p:sp>
    </p:spTree>
    <p:extLst>
      <p:ext uri="{BB962C8B-B14F-4D97-AF65-F5344CB8AC3E}">
        <p14:creationId xmlns:p14="http://schemas.microsoft.com/office/powerpoint/2010/main" val="1304072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https://</a:t>
            </a:r>
            <a:r>
              <a:rPr lang="pt-BR" dirty="0" err="1"/>
              <a:t>startingelectronics.org</a:t>
            </a:r>
            <a:r>
              <a:rPr lang="pt-BR" dirty="0"/>
              <a:t>/</a:t>
            </a:r>
            <a:r>
              <a:rPr lang="pt-BR" dirty="0" err="1"/>
              <a:t>beginners</a:t>
            </a:r>
            <a:r>
              <a:rPr lang="pt-BR" dirty="0"/>
              <a:t>/</a:t>
            </a:r>
            <a:r>
              <a:rPr lang="pt-BR" dirty="0" err="1"/>
              <a:t>components</a:t>
            </a:r>
            <a:r>
              <a:rPr lang="pt-BR" dirty="0"/>
              <a:t>/7-segment-display/7-segment-displays.jpg</a:t>
            </a:r>
          </a:p>
        </p:txBody>
      </p:sp>
      <p:sp>
        <p:nvSpPr>
          <p:cNvPr id="4" name="Slide Number Placeholder 3"/>
          <p:cNvSpPr>
            <a:spLocks noGrp="1"/>
          </p:cNvSpPr>
          <p:nvPr>
            <p:ph type="sldNum" sz="quarter" idx="10"/>
          </p:nvPr>
        </p:nvSpPr>
        <p:spPr/>
        <p:txBody>
          <a:bodyPr/>
          <a:lstStyle/>
          <a:p>
            <a:fld id="{F23FB91E-A0DC-4A5F-B463-D7B8E79502D1}" type="slidenum">
              <a:rPr lang="pt-BR" smtClean="0"/>
              <a:t>20</a:t>
            </a:fld>
            <a:endParaRPr lang="pt-BR"/>
          </a:p>
        </p:txBody>
      </p:sp>
    </p:spTree>
    <p:extLst>
      <p:ext uri="{BB962C8B-B14F-4D97-AF65-F5344CB8AC3E}">
        <p14:creationId xmlns:p14="http://schemas.microsoft.com/office/powerpoint/2010/main" val="542037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pt-BR"/>
              <a:t>Estruturas de Dados Avançadas • 2011.2</a:t>
            </a:r>
            <a:endParaRPr lang="en-US"/>
          </a:p>
        </p:txBody>
      </p:sp>
      <p:sp>
        <p:nvSpPr>
          <p:cNvPr id="5" name="Date Placeholder 4"/>
          <p:cNvSpPr>
            <a:spLocks noGrp="1"/>
          </p:cNvSpPr>
          <p:nvPr>
            <p:ph type="dt" idx="11"/>
          </p:nvPr>
        </p:nvSpPr>
        <p:spPr/>
        <p:txBody>
          <a:bodyPr/>
          <a:lstStyle/>
          <a:p>
            <a:pPr>
              <a:defRPr/>
            </a:pPr>
            <a:fld id="{3A7F20AB-37B1-478F-A742-7A1AA2173FAD}" type="datetime1">
              <a:rPr lang="pt-BR" smtClean="0"/>
              <a:t>28/08/2026</a:t>
            </a:fld>
            <a:endParaRPr lang="en-US"/>
          </a:p>
        </p:txBody>
      </p:sp>
      <p:sp>
        <p:nvSpPr>
          <p:cNvPr id="6" name="Slide Number Placeholder 5"/>
          <p:cNvSpPr>
            <a:spLocks noGrp="1"/>
          </p:cNvSpPr>
          <p:nvPr>
            <p:ph type="sldNum" sz="quarter" idx="12"/>
          </p:nvPr>
        </p:nvSpPr>
        <p:spPr/>
        <p:txBody>
          <a:bodyPr/>
          <a:lstStyle/>
          <a:p>
            <a:pPr>
              <a:defRPr/>
            </a:pPr>
            <a:fld id="{323E123E-5D0E-4313-9A8F-34EE8A1E0CF2}" type="slidenum">
              <a:rPr lang="en-US" smtClean="0"/>
              <a:pPr>
                <a:defRPr/>
              </a:pPr>
              <a:t>21</a:t>
            </a:fld>
            <a:endParaRPr lang="en-US"/>
          </a:p>
        </p:txBody>
      </p:sp>
    </p:spTree>
    <p:extLst>
      <p:ext uri="{BB962C8B-B14F-4D97-AF65-F5344CB8AC3E}">
        <p14:creationId xmlns:p14="http://schemas.microsoft.com/office/powerpoint/2010/main" val="2743949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err="1"/>
              <a:t>http</a:t>
            </a:r>
            <a:r>
              <a:rPr lang="pt-BR" dirty="0"/>
              <a:t>://</a:t>
            </a:r>
            <a:r>
              <a:rPr lang="pt-BR" dirty="0" err="1"/>
              <a:t>www.plcdev.com</a:t>
            </a:r>
            <a:r>
              <a:rPr lang="pt-BR" dirty="0"/>
              <a:t>/</a:t>
            </a:r>
            <a:r>
              <a:rPr lang="pt-BR" dirty="0" err="1"/>
              <a:t>ascii_chart</a:t>
            </a:r>
            <a:endParaRPr lang="pt-BR" dirty="0"/>
          </a:p>
        </p:txBody>
      </p:sp>
      <p:sp>
        <p:nvSpPr>
          <p:cNvPr id="4" name="Slide Number Placeholder 3"/>
          <p:cNvSpPr>
            <a:spLocks noGrp="1"/>
          </p:cNvSpPr>
          <p:nvPr>
            <p:ph type="sldNum" sz="quarter" idx="10"/>
          </p:nvPr>
        </p:nvSpPr>
        <p:spPr/>
        <p:txBody>
          <a:bodyPr/>
          <a:lstStyle/>
          <a:p>
            <a:fld id="{FAB685F9-7665-42D5-A7FF-C968935170E9}" type="slidenum">
              <a:rPr lang="pt-BR" smtClean="0"/>
              <a:pPr/>
              <a:t>23</a:t>
            </a:fld>
            <a:endParaRPr lang="pt-BR"/>
          </a:p>
        </p:txBody>
      </p:sp>
    </p:spTree>
    <p:extLst>
      <p:ext uri="{BB962C8B-B14F-4D97-AF65-F5344CB8AC3E}">
        <p14:creationId xmlns:p14="http://schemas.microsoft.com/office/powerpoint/2010/main" val="4092607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codegolf.stackexchange.com</a:t>
            </a:r>
            <a:r>
              <a:rPr lang="pt-BR" dirty="0"/>
              <a:t>/</a:t>
            </a:r>
            <a:r>
              <a:rPr lang="pt-BR" dirty="0" err="1"/>
              <a:t>questions</a:t>
            </a:r>
            <a:r>
              <a:rPr lang="pt-BR" dirty="0"/>
              <a:t>/39915/pixel-art-episode-1-display-super-mario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25</a:t>
            </a:fld>
            <a:endParaRPr lang="pt-BR"/>
          </a:p>
        </p:txBody>
      </p:sp>
    </p:spTree>
    <p:extLst>
      <p:ext uri="{BB962C8B-B14F-4D97-AF65-F5344CB8AC3E}">
        <p14:creationId xmlns:p14="http://schemas.microsoft.com/office/powerpoint/2010/main" val="1929037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codegolf.stackexchange.com</a:t>
            </a:r>
            <a:r>
              <a:rPr lang="pt-BR" dirty="0"/>
              <a:t>/</a:t>
            </a:r>
            <a:r>
              <a:rPr lang="pt-BR" dirty="0" err="1"/>
              <a:t>questions</a:t>
            </a:r>
            <a:r>
              <a:rPr lang="pt-BR" dirty="0"/>
              <a:t>/39915/pixel-art-episode-1-display-super-mario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26</a:t>
            </a:fld>
            <a:endParaRPr lang="pt-BR"/>
          </a:p>
        </p:txBody>
      </p:sp>
    </p:spTree>
    <p:extLst>
      <p:ext uri="{BB962C8B-B14F-4D97-AF65-F5344CB8AC3E}">
        <p14:creationId xmlns:p14="http://schemas.microsoft.com/office/powerpoint/2010/main" val="1929037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err="1"/>
              <a:t>http</a:t>
            </a:r>
            <a:r>
              <a:rPr lang="pt-BR" dirty="0"/>
              <a:t>://</a:t>
            </a:r>
            <a:r>
              <a:rPr lang="pt-BR" dirty="0" err="1"/>
              <a:t>codegolf.stackexchange.com</a:t>
            </a:r>
            <a:r>
              <a:rPr lang="pt-BR" dirty="0"/>
              <a:t>/</a:t>
            </a:r>
            <a:r>
              <a:rPr lang="pt-BR" dirty="0" err="1"/>
              <a:t>questions</a:t>
            </a:r>
            <a:r>
              <a:rPr lang="pt-BR" dirty="0"/>
              <a:t>/39915/pixel-art-episode-1-display-super-mario</a:t>
            </a:r>
          </a:p>
          <a:p>
            <a:endParaRPr lang="pt-BR" dirty="0"/>
          </a:p>
        </p:txBody>
      </p:sp>
      <p:sp>
        <p:nvSpPr>
          <p:cNvPr id="4" name="Slide Number Placeholder 3"/>
          <p:cNvSpPr>
            <a:spLocks noGrp="1"/>
          </p:cNvSpPr>
          <p:nvPr>
            <p:ph type="sldNum" sz="quarter" idx="10"/>
          </p:nvPr>
        </p:nvSpPr>
        <p:spPr/>
        <p:txBody>
          <a:bodyPr/>
          <a:lstStyle/>
          <a:p>
            <a:fld id="{F23FB91E-A0DC-4A5F-B463-D7B8E79502D1}" type="slidenum">
              <a:rPr lang="pt-BR" smtClean="0"/>
              <a:t>27</a:t>
            </a:fld>
            <a:endParaRPr lang="pt-BR"/>
          </a:p>
        </p:txBody>
      </p:sp>
    </p:spTree>
    <p:extLst>
      <p:ext uri="{BB962C8B-B14F-4D97-AF65-F5344CB8AC3E}">
        <p14:creationId xmlns:p14="http://schemas.microsoft.com/office/powerpoint/2010/main" val="10992216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p:cNvSpPr>
            <a:spLocks noGrp="1"/>
          </p:cNvSpPr>
          <p:nvPr>
            <p:ph type="dt" sz="half" idx="10"/>
          </p:nvPr>
        </p:nvSpPr>
        <p:spPr/>
        <p:txBody>
          <a:bodyPr/>
          <a:lstStyle>
            <a:lvl1pPr>
              <a:defRPr>
                <a:solidFill>
                  <a:srgbClr val="BCBEC0"/>
                </a:solidFill>
              </a:defRPr>
            </a:lvl1pPr>
          </a:lstStyle>
          <a:p>
            <a:fld id="{CC8788FA-9D8F-3C45-9A7B-393163C83DF0}" type="datetime1">
              <a:rPr lang="en-US" smtClean="0"/>
              <a:t>8/28/2026</a:t>
            </a:fld>
            <a:endParaRPr lang="pt-BR" dirty="0"/>
          </a:p>
        </p:txBody>
      </p:sp>
      <p:sp>
        <p:nvSpPr>
          <p:cNvPr id="5" name="Espaço Reservado para Rodapé 4"/>
          <p:cNvSpPr>
            <a:spLocks noGrp="1"/>
          </p:cNvSpPr>
          <p:nvPr>
            <p:ph type="ftr" sz="quarter" idx="11"/>
          </p:nvPr>
        </p:nvSpPr>
        <p:spPr/>
        <p:txBody>
          <a:bodyPr/>
          <a:lstStyle>
            <a:lvl1pPr>
              <a:defRPr>
                <a:solidFill>
                  <a:srgbClr val="BCBEC0"/>
                </a:solidFill>
              </a:defRPr>
            </a:lvl1pPr>
          </a:lstStyle>
          <a:p>
            <a:endParaRPr lang="pt-BR" dirty="0"/>
          </a:p>
        </p:txBody>
      </p:sp>
      <p:sp>
        <p:nvSpPr>
          <p:cNvPr id="6" name="Espaço Reservado para Número de Slide 5"/>
          <p:cNvSpPr>
            <a:spLocks noGrp="1"/>
          </p:cNvSpPr>
          <p:nvPr>
            <p:ph type="sldNum" sz="quarter" idx="12"/>
          </p:nvPr>
        </p:nvSpPr>
        <p:spPr/>
        <p:txBody>
          <a:bodyPr/>
          <a:lstStyle>
            <a:lvl1pPr>
              <a:defRPr>
                <a:solidFill>
                  <a:srgbClr val="BCBEC0"/>
                </a:solidFill>
              </a:defRPr>
            </a:lvl1pPr>
          </a:lstStyle>
          <a:p>
            <a:fld id="{7FFE5E5C-C80A-4D8D-A711-3102A7BA9258}" type="slidenum">
              <a:rPr lang="pt-BR" smtClean="0"/>
              <a:pPr/>
              <a:t>‹#›</a:t>
            </a:fld>
            <a:endParaRPr lang="pt-BR" dirty="0"/>
          </a:p>
        </p:txBody>
      </p:sp>
      <p:pic>
        <p:nvPicPr>
          <p:cNvPr id="7" name="Imagem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857" y="0"/>
            <a:ext cx="9138285" cy="6858000"/>
          </a:xfrm>
          <a:prstGeom prst="rect">
            <a:avLst/>
          </a:prstGeom>
        </p:spPr>
      </p:pic>
      <p:sp>
        <p:nvSpPr>
          <p:cNvPr id="9" name="Espaço Reservado para Conteúdo 2"/>
          <p:cNvSpPr>
            <a:spLocks noGrp="1"/>
          </p:cNvSpPr>
          <p:nvPr>
            <p:ph idx="1" hasCustomPrompt="1"/>
          </p:nvPr>
        </p:nvSpPr>
        <p:spPr>
          <a:xfrm>
            <a:off x="966786" y="2714625"/>
            <a:ext cx="7343775" cy="714375"/>
          </a:xfrm>
          <a:prstGeom prst="rect">
            <a:avLst/>
          </a:prstGeom>
        </p:spPr>
        <p:txBody>
          <a:bodyPr>
            <a:normAutofit/>
          </a:bodyPr>
          <a:lstStyle>
            <a:lvl1pPr marL="0" indent="0" algn="ctr">
              <a:buFontTx/>
              <a:buNone/>
              <a:defRPr sz="3600" b="1">
                <a:solidFill>
                  <a:schemeClr val="bg1"/>
                </a:solidFill>
              </a:defRPr>
            </a:lvl1pPr>
            <a:lvl2pPr>
              <a:defRPr sz="1800"/>
            </a:lvl2pPr>
            <a:lvl3pPr>
              <a:defRPr sz="1800"/>
            </a:lvl3pPr>
            <a:lvl4pPr>
              <a:defRPr sz="1800"/>
            </a:lvl4pPr>
            <a:lvl5pPr>
              <a:defRPr sz="1800"/>
            </a:lvl5pPr>
          </a:lstStyle>
          <a:p>
            <a:pPr lvl="0"/>
            <a:r>
              <a:rPr lang="pt-BR" dirty="0"/>
              <a:t>Clique para editar o título</a:t>
            </a:r>
          </a:p>
        </p:txBody>
      </p:sp>
      <p:sp>
        <p:nvSpPr>
          <p:cNvPr id="10" name="Espaço Reservado para Conteúdo 2"/>
          <p:cNvSpPr>
            <a:spLocks noGrp="1"/>
          </p:cNvSpPr>
          <p:nvPr>
            <p:ph idx="13" hasCustomPrompt="1"/>
          </p:nvPr>
        </p:nvSpPr>
        <p:spPr>
          <a:xfrm>
            <a:off x="966786" y="3429001"/>
            <a:ext cx="7343775" cy="476250"/>
          </a:xfrm>
          <a:prstGeom prst="rect">
            <a:avLst/>
          </a:prstGeom>
        </p:spPr>
        <p:txBody>
          <a:bodyPr>
            <a:normAutofit/>
          </a:bodyPr>
          <a:lstStyle>
            <a:lvl1pPr marL="0" indent="0" algn="ctr">
              <a:buFontTx/>
              <a:buNone/>
              <a:defRPr sz="2000" b="0">
                <a:solidFill>
                  <a:schemeClr val="bg1"/>
                </a:solidFill>
              </a:defRPr>
            </a:lvl1pPr>
            <a:lvl2pPr>
              <a:defRPr sz="1800"/>
            </a:lvl2pPr>
            <a:lvl3pPr>
              <a:defRPr sz="1800"/>
            </a:lvl3pPr>
            <a:lvl4pPr>
              <a:defRPr sz="1800"/>
            </a:lvl4pPr>
            <a:lvl5pPr>
              <a:defRPr sz="1800"/>
            </a:lvl5pPr>
          </a:lstStyle>
          <a:p>
            <a:pPr lvl="0"/>
            <a:r>
              <a:rPr lang="pt-BR" dirty="0"/>
              <a:t>Clique para editar o subtítulo</a:t>
            </a:r>
          </a:p>
        </p:txBody>
      </p:sp>
      <p:sp>
        <p:nvSpPr>
          <p:cNvPr id="11" name="Espaço Reservado para Conteúdo 2"/>
          <p:cNvSpPr>
            <a:spLocks noGrp="1"/>
          </p:cNvSpPr>
          <p:nvPr>
            <p:ph idx="14" hasCustomPrompt="1"/>
          </p:nvPr>
        </p:nvSpPr>
        <p:spPr>
          <a:xfrm>
            <a:off x="900111" y="6356349"/>
            <a:ext cx="7343775" cy="238125"/>
          </a:xfrm>
          <a:prstGeom prst="rect">
            <a:avLst/>
          </a:prstGeom>
        </p:spPr>
        <p:txBody>
          <a:bodyPr>
            <a:normAutofit/>
          </a:bodyPr>
          <a:lstStyle>
            <a:lvl1pPr marL="0" indent="0" algn="ctr">
              <a:buFontTx/>
              <a:buNone/>
              <a:defRPr sz="1400" b="0" baseline="0">
                <a:solidFill>
                  <a:schemeClr val="bg1"/>
                </a:solidFill>
              </a:defRPr>
            </a:lvl1pPr>
            <a:lvl2pPr>
              <a:defRPr sz="1800"/>
            </a:lvl2pPr>
            <a:lvl3pPr>
              <a:defRPr sz="1800"/>
            </a:lvl3pPr>
            <a:lvl4pPr>
              <a:defRPr sz="1800"/>
            </a:lvl4pPr>
            <a:lvl5pPr>
              <a:defRPr sz="1800"/>
            </a:lvl5pPr>
          </a:lstStyle>
          <a:p>
            <a:pPr lvl="0"/>
            <a:r>
              <a:rPr lang="pt-BR" dirty="0"/>
              <a:t>Clique para editar a data e o nome da área ou disciplina</a:t>
            </a:r>
          </a:p>
        </p:txBody>
      </p:sp>
    </p:spTree>
    <p:extLst>
      <p:ext uri="{BB962C8B-B14F-4D97-AF65-F5344CB8AC3E}">
        <p14:creationId xmlns:p14="http://schemas.microsoft.com/office/powerpoint/2010/main" val="2529634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5" name="Espaço Reservado para Número de Slide 5"/>
          <p:cNvSpPr>
            <a:spLocks noGrp="1"/>
          </p:cNvSpPr>
          <p:nvPr>
            <p:ph type="sldNum" sz="quarter" idx="4"/>
          </p:nvPr>
        </p:nvSpPr>
        <p:spPr>
          <a:xfrm>
            <a:off x="84172" y="6402174"/>
            <a:ext cx="641516"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848132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AB1C2149-89A1-2143-B6CB-10E4BD2D3370}" type="datetime1">
              <a:rPr lang="en-US" smtClean="0"/>
              <a:t>8/28/2026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635760" cy="365125"/>
          </a:xfrm>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18" name="Espaço Reservado para Texto 4"/>
          <p:cNvSpPr>
            <a:spLocks noGrp="1"/>
          </p:cNvSpPr>
          <p:nvPr>
            <p:ph type="body" sz="quarter" idx="15" hasCustomPrompt="1"/>
          </p:nvPr>
        </p:nvSpPr>
        <p:spPr>
          <a:xfrm>
            <a:off x="4714875" y="1484313"/>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0" name="Espaço Reservado para Texto 4"/>
          <p:cNvSpPr>
            <a:spLocks noGrp="1"/>
          </p:cNvSpPr>
          <p:nvPr>
            <p:ph type="body" sz="quarter" idx="16" hasCustomPrompt="1"/>
          </p:nvPr>
        </p:nvSpPr>
        <p:spPr>
          <a:xfrm>
            <a:off x="657225" y="1487488"/>
            <a:ext cx="3971925" cy="63976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dirty="0"/>
              <a:t>Clique para editar subtítulo mestre</a:t>
            </a:r>
          </a:p>
        </p:txBody>
      </p:sp>
      <p:sp>
        <p:nvSpPr>
          <p:cNvPr id="21" name="Espaço Reservado para Conteúdo 2"/>
          <p:cNvSpPr>
            <a:spLocks noGrp="1"/>
          </p:cNvSpPr>
          <p:nvPr>
            <p:ph idx="1"/>
          </p:nvPr>
        </p:nvSpPr>
        <p:spPr>
          <a:xfrm>
            <a:off x="657225" y="2181225"/>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2190750"/>
            <a:ext cx="3971925" cy="3962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 name="TextBox 1"/>
          <p:cNvSpPr txBox="1"/>
          <p:nvPr userDrawn="1"/>
        </p:nvSpPr>
        <p:spPr>
          <a:xfrm>
            <a:off x="7640320" y="6482080"/>
            <a:ext cx="184731" cy="369332"/>
          </a:xfrm>
          <a:prstGeom prst="rect">
            <a:avLst/>
          </a:prstGeom>
          <a:noFill/>
        </p:spPr>
        <p:txBody>
          <a:bodyPr wrap="none" rtlCol="0">
            <a:spAutoFit/>
          </a:bodyPr>
          <a:lstStyle/>
          <a:p>
            <a:endParaRPr lang="en-US"/>
          </a:p>
        </p:txBody>
      </p:sp>
      <p:sp>
        <p:nvSpPr>
          <p:cNvPr id="3" name="TextBox 2"/>
          <p:cNvSpPr txBox="1"/>
          <p:nvPr userDrawn="1"/>
        </p:nvSpPr>
        <p:spPr>
          <a:xfrm>
            <a:off x="7112000" y="6563360"/>
            <a:ext cx="396240" cy="369332"/>
          </a:xfrm>
          <a:prstGeom prst="rect">
            <a:avLst/>
          </a:prstGeom>
          <a:noFill/>
        </p:spPr>
        <p:txBody>
          <a:bodyPr wrap="square" rtlCol="0">
            <a:spAutoFit/>
          </a:bodyPr>
          <a:lstStyle/>
          <a:p>
            <a:endParaRPr lang="en-US"/>
          </a:p>
        </p:txBody>
      </p:sp>
      <p:sp>
        <p:nvSpPr>
          <p:cNvPr id="13" name="TextBox 12"/>
          <p:cNvSpPr txBox="1"/>
          <p:nvPr userDrawn="1"/>
        </p:nvSpPr>
        <p:spPr>
          <a:xfrm>
            <a:off x="7106920" y="6356350"/>
            <a:ext cx="39624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09930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372D7956-45FE-0B43-9FB1-4BE9D905D684}" type="datetime1">
              <a:rPr lang="en-US" smtClean="0"/>
              <a:t>8/28/2026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7FFE5E5C-C80A-4D8D-A711-3102A7BA9258}" type="slidenum">
              <a:rPr lang="pt-BR" smtClean="0"/>
              <a:t>‹#›</a:t>
            </a:fld>
            <a:endParaRPr lang="pt-BR"/>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5"/>
            <a:ext cx="3971925" cy="466725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900368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omparação">
    <p:spTree>
      <p:nvGrpSpPr>
        <p:cNvPr id="1" name=""/>
        <p:cNvGrpSpPr/>
        <p:nvPr/>
      </p:nvGrpSpPr>
      <p:grpSpPr>
        <a:xfrm>
          <a:off x="0" y="0"/>
          <a:ext cx="0" cy="0"/>
          <a:chOff x="0" y="0"/>
          <a:chExt cx="0" cy="0"/>
        </a:xfrm>
      </p:grpSpPr>
      <p:sp>
        <p:nvSpPr>
          <p:cNvPr id="7" name="Espaço Reservado para Data 6"/>
          <p:cNvSpPr>
            <a:spLocks noGrp="1"/>
          </p:cNvSpPr>
          <p:nvPr>
            <p:ph type="dt" sz="half" idx="10"/>
          </p:nvPr>
        </p:nvSpPr>
        <p:spPr/>
        <p:txBody>
          <a:bodyPr/>
          <a:lstStyle/>
          <a:p>
            <a:fld id="{2316C89B-46A1-944B-8294-819B08567B54}" type="datetime1">
              <a:rPr lang="en-US" smtClean="0"/>
              <a:t>8/28/2026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a:xfrm>
            <a:off x="6553200" y="6356350"/>
            <a:ext cx="1503680" cy="365125"/>
          </a:xfrm>
        </p:spPr>
        <p:txBody>
          <a:bodyPr/>
          <a:lstStyle/>
          <a:p>
            <a:fld id="{7FFE5E5C-C80A-4D8D-A711-3102A7BA9258}" type="slidenum">
              <a:rPr lang="pt-BR" smtClean="0"/>
              <a:t>‹#›</a:t>
            </a:fld>
            <a:endParaRPr lang="pt-BR" dirty="0"/>
          </a:p>
        </p:txBody>
      </p:sp>
      <p:sp>
        <p:nvSpPr>
          <p:cNvPr id="16"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7"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
        <p:nvSpPr>
          <p:cNvPr id="21" name="Espaço Reservado para Conteúdo 2"/>
          <p:cNvSpPr>
            <a:spLocks noGrp="1"/>
          </p:cNvSpPr>
          <p:nvPr>
            <p:ph idx="1"/>
          </p:nvPr>
        </p:nvSpPr>
        <p:spPr>
          <a:xfrm>
            <a:off x="657225" y="1476374"/>
            <a:ext cx="3971925" cy="24288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22" name="Espaço Reservado para Conteúdo 2"/>
          <p:cNvSpPr>
            <a:spLocks noGrp="1"/>
          </p:cNvSpPr>
          <p:nvPr>
            <p:ph idx="17"/>
          </p:nvPr>
        </p:nvSpPr>
        <p:spPr>
          <a:xfrm>
            <a:off x="4714875" y="1476375"/>
            <a:ext cx="3971925" cy="4676775"/>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0" name="Espaço Reservado para Imagem 2"/>
          <p:cNvSpPr>
            <a:spLocks noGrp="1"/>
          </p:cNvSpPr>
          <p:nvPr>
            <p:ph type="pic" idx="15"/>
          </p:nvPr>
        </p:nvSpPr>
        <p:spPr>
          <a:xfrm>
            <a:off x="657224" y="4086225"/>
            <a:ext cx="3971925" cy="17049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11" name="Espaço Reservado para Texto 7"/>
          <p:cNvSpPr>
            <a:spLocks noGrp="1"/>
          </p:cNvSpPr>
          <p:nvPr>
            <p:ph type="body" sz="quarter" idx="16" hasCustomPrompt="1"/>
          </p:nvPr>
        </p:nvSpPr>
        <p:spPr>
          <a:xfrm>
            <a:off x="657225" y="5791200"/>
            <a:ext cx="3971924" cy="352425"/>
          </a:xfrm>
          <a:prstGeom prst="rect">
            <a:avLst/>
          </a:prstGeom>
        </p:spPr>
        <p:txBody>
          <a:bodyPr>
            <a:normAutofit/>
          </a:bodyPr>
          <a:lstStyle>
            <a:lvl1pPr marL="0" indent="0">
              <a:buNone/>
              <a:defRPr sz="1100" b="0" i="1" baseline="0">
                <a:solidFill>
                  <a:srgbClr val="BCBEC0"/>
                </a:solidFill>
              </a:defRPr>
            </a:lvl1pPr>
          </a:lstStyle>
          <a:p>
            <a:pPr lvl="0"/>
            <a:r>
              <a:rPr lang="pt-BR" dirty="0"/>
              <a:t>Clique para editar a legenda mestre</a:t>
            </a:r>
          </a:p>
        </p:txBody>
      </p:sp>
      <p:sp>
        <p:nvSpPr>
          <p:cNvPr id="12" name="TextBox 11"/>
          <p:cNvSpPr txBox="1"/>
          <p:nvPr userDrawn="1"/>
        </p:nvSpPr>
        <p:spPr>
          <a:xfrm>
            <a:off x="7386320" y="6356350"/>
            <a:ext cx="467360"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874775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m com Legenda">
    <p:spTree>
      <p:nvGrpSpPr>
        <p:cNvPr id="1" name=""/>
        <p:cNvGrpSpPr/>
        <p:nvPr/>
      </p:nvGrpSpPr>
      <p:grpSpPr>
        <a:xfrm>
          <a:off x="0" y="0"/>
          <a:ext cx="0" cy="0"/>
          <a:chOff x="0" y="0"/>
          <a:chExt cx="0" cy="0"/>
        </a:xfrm>
      </p:grpSpPr>
      <p:sp>
        <p:nvSpPr>
          <p:cNvPr id="3" name="Espaço Reservado para Imagem 2"/>
          <p:cNvSpPr>
            <a:spLocks noGrp="1"/>
          </p:cNvSpPr>
          <p:nvPr>
            <p:ph type="pic" idx="1"/>
          </p:nvPr>
        </p:nvSpPr>
        <p:spPr>
          <a:xfrm>
            <a:off x="4924424" y="0"/>
            <a:ext cx="4219575"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5" name="Espaço Reservado para Data 4"/>
          <p:cNvSpPr>
            <a:spLocks noGrp="1"/>
          </p:cNvSpPr>
          <p:nvPr>
            <p:ph type="dt" sz="half" idx="10"/>
          </p:nvPr>
        </p:nvSpPr>
        <p:spPr/>
        <p:txBody>
          <a:bodyPr/>
          <a:lstStyle/>
          <a:p>
            <a:fld id="{02FE0B43-6A8C-D94C-A4F4-9A1865BE9A40}" type="datetime1">
              <a:rPr lang="en-US" smtClean="0"/>
              <a:t>8/28/2026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7FFE5E5C-C80A-4D8D-A711-3102A7BA9258}" type="slidenum">
              <a:rPr lang="pt-BR" smtClean="0"/>
              <a:t>‹#›</a:t>
            </a:fld>
            <a:endParaRPr lang="pt-BR"/>
          </a:p>
        </p:txBody>
      </p:sp>
      <p:sp>
        <p:nvSpPr>
          <p:cNvPr id="8" name="Título 1"/>
          <p:cNvSpPr>
            <a:spLocks noGrp="1"/>
          </p:cNvSpPr>
          <p:nvPr>
            <p:ph type="title" hasCustomPrompt="1"/>
          </p:nvPr>
        </p:nvSpPr>
        <p:spPr>
          <a:xfrm>
            <a:off x="457200" y="781050"/>
            <a:ext cx="4363508" cy="619125"/>
          </a:xfrm>
          <a:prstGeom prst="rect">
            <a:avLst/>
          </a:prstGeom>
        </p:spPr>
        <p:txBody>
          <a:bodyPr/>
          <a:lstStyle>
            <a:lvl1pPr>
              <a:defRPr baseline="0"/>
            </a:lvl1pPr>
          </a:lstStyle>
          <a:p>
            <a:r>
              <a:rPr lang="pt-BR" dirty="0"/>
              <a:t>Edite o título mestre</a:t>
            </a:r>
          </a:p>
        </p:txBody>
      </p:sp>
      <p:sp>
        <p:nvSpPr>
          <p:cNvPr id="9" name="Espaço Reservado para Conteúdo 2"/>
          <p:cNvSpPr>
            <a:spLocks noGrp="1"/>
          </p:cNvSpPr>
          <p:nvPr>
            <p:ph idx="13"/>
          </p:nvPr>
        </p:nvSpPr>
        <p:spPr>
          <a:xfrm>
            <a:off x="657225" y="1485900"/>
            <a:ext cx="4163483"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45108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2" name="Picture 1" descr="fundo_ppt1.jpg"/>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10" name="Título 1"/>
          <p:cNvSpPr>
            <a:spLocks noGrp="1"/>
          </p:cNvSpPr>
          <p:nvPr>
            <p:ph type="title"/>
          </p:nvPr>
        </p:nvSpPr>
        <p:spPr>
          <a:xfrm>
            <a:off x="457200" y="781050"/>
            <a:ext cx="8229600" cy="619125"/>
          </a:xfrm>
          <a:prstGeom prst="rect">
            <a:avLst/>
          </a:prstGeom>
        </p:spPr>
        <p:txBody>
          <a:bodyPr/>
          <a:lstStyle/>
          <a:p>
            <a:r>
              <a:rPr lang="pt-BR"/>
              <a:t>Clique para editar o título mestre</a:t>
            </a:r>
          </a:p>
        </p:txBody>
      </p:sp>
      <p:sp>
        <p:nvSpPr>
          <p:cNvPr id="11" name="Espaço Reservado para Conteúdo 2"/>
          <p:cNvSpPr>
            <a:spLocks noGrp="1"/>
          </p:cNvSpPr>
          <p:nvPr>
            <p:ph idx="1"/>
          </p:nvPr>
        </p:nvSpPr>
        <p:spPr>
          <a:xfrm>
            <a:off x="657225" y="1485900"/>
            <a:ext cx="8029575" cy="4724400"/>
          </a:xfrm>
          <a:prstGeom prst="rect">
            <a:avLst/>
          </a:prstGeom>
        </p:spPr>
        <p:txBody>
          <a:bodyPr>
            <a:normAutofit/>
          </a:bodyPr>
          <a:lstStyle>
            <a:lvl1pPr marL="0" indent="0">
              <a:buFontTx/>
              <a:buNone/>
              <a:defRPr sz="1800"/>
            </a:lvl1pPr>
            <a:lvl2pPr>
              <a:defRPr sz="1800"/>
            </a:lvl2pPr>
            <a:lvl3pPr>
              <a:defRPr sz="1800"/>
            </a:lvl3pPr>
            <a:lvl4pPr>
              <a:defRPr sz="1800"/>
            </a:lvl4pPr>
            <a:lvl5pPr>
              <a:defRPr sz="1800"/>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2" name="Espaço Reservado para Texto 7"/>
          <p:cNvSpPr>
            <a:spLocks noGrp="1"/>
          </p:cNvSpPr>
          <p:nvPr>
            <p:ph type="body" sz="quarter" idx="13" hasCustomPrompt="1"/>
          </p:nvPr>
        </p:nvSpPr>
        <p:spPr>
          <a:xfrm>
            <a:off x="161925" y="85725"/>
            <a:ext cx="7229475" cy="352425"/>
          </a:xfrm>
          <a:prstGeom prst="rect">
            <a:avLst/>
          </a:prstGeom>
        </p:spPr>
        <p:txBody>
          <a:bodyPr>
            <a:normAutofit/>
          </a:bodyPr>
          <a:lstStyle>
            <a:lvl1pPr marL="0" indent="0">
              <a:buNone/>
              <a:defRPr sz="1300" b="1">
                <a:solidFill>
                  <a:srgbClr val="BCBEC0"/>
                </a:solidFill>
              </a:defRPr>
            </a:lvl1pPr>
          </a:lstStyle>
          <a:p>
            <a:pPr lvl="0"/>
            <a:r>
              <a:rPr lang="pt-BR" dirty="0"/>
              <a:t>Clique para editar o chapéu mestre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347048" cy="1143000"/>
          </a:xfrm>
          <a:prstGeom prst="rect">
            <a:avLst/>
          </a:prstGeom>
        </p:spPr>
        <p:txBody>
          <a:bodyPr/>
          <a:lstStyle/>
          <a:p>
            <a:r>
              <a:rPr lang="en-US"/>
              <a:t>Click to edit Master title style</a:t>
            </a:r>
            <a:endParaRPr lang="pt-BR"/>
          </a:p>
        </p:txBody>
      </p:sp>
      <p:sp>
        <p:nvSpPr>
          <p:cNvPr id="3" name="Content Placeholder 2"/>
          <p:cNvSpPr>
            <a:spLocks noGrp="1"/>
          </p:cNvSpPr>
          <p:nvPr>
            <p:ph idx="1"/>
          </p:nvPr>
        </p:nvSpPr>
        <p:spPr>
          <a:xfrm>
            <a:off x="457200" y="1600200"/>
            <a:ext cx="8229600" cy="4525963"/>
          </a:xfrm>
          <a:prstGeom prst="rect">
            <a:avLst/>
          </a:prstGeo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Slide Number Placeholder 5"/>
          <p:cNvSpPr>
            <a:spLocks noGrp="1"/>
          </p:cNvSpPr>
          <p:nvPr>
            <p:ph type="sldNum" sz="quarter" idx="12"/>
          </p:nvPr>
        </p:nvSpPr>
        <p:spPr>
          <a:xfrm>
            <a:off x="35496" y="6453336"/>
            <a:ext cx="625399" cy="365125"/>
          </a:xfrm>
        </p:spPr>
        <p:txBody>
          <a:bodyPr/>
          <a:lstStyle/>
          <a:p>
            <a:fld id="{77ADD9C6-6B50-42C1-AB90-24E38D1CF250}" type="slidenum">
              <a:rPr lang="pt-BR" smtClean="0"/>
              <a:t>‹#›</a:t>
            </a:fld>
            <a:endParaRPr lang="pt-BR"/>
          </a:p>
        </p:txBody>
      </p:sp>
    </p:spTree>
    <p:extLst>
      <p:ext uri="{BB962C8B-B14F-4D97-AF65-F5344CB8AC3E}">
        <p14:creationId xmlns:p14="http://schemas.microsoft.com/office/powerpoint/2010/main" val="2430412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a:prstGeom prst="rect">
            <a:avLst/>
          </a:prstGeo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F6ED924-9D16-4A38-9B8F-043BDA0BE473}" type="datetime1">
              <a:rPr lang="pt-BR" smtClean="0"/>
              <a:t>28/08/2026</a:t>
            </a:fld>
            <a:endParaRPr lang="en-US"/>
          </a:p>
        </p:txBody>
      </p:sp>
      <p:sp>
        <p:nvSpPr>
          <p:cNvPr id="5" name="Slide Number Placeholder 5"/>
          <p:cNvSpPr>
            <a:spLocks noGrp="1"/>
          </p:cNvSpPr>
          <p:nvPr>
            <p:ph type="sldNum" sz="quarter" idx="12"/>
          </p:nvPr>
        </p:nvSpPr>
        <p:spPr/>
        <p:txBody>
          <a:bodyPr/>
          <a:lstStyle>
            <a:lvl1pPr>
              <a:defRPr/>
            </a:lvl1pPr>
          </a:lstStyle>
          <a:p>
            <a:pPr>
              <a:defRPr/>
            </a:pPr>
            <a:fld id="{01504547-F0A7-41A7-8ADB-B6B38A133856}" type="slidenum">
              <a:rPr lang="en-US"/>
              <a:pPr>
                <a:defRPr/>
              </a:pPr>
              <a:t>‹#›</a:t>
            </a:fld>
            <a:endParaRPr lang="en-US"/>
          </a:p>
        </p:txBody>
      </p:sp>
    </p:spTree>
    <p:extLst>
      <p:ext uri="{BB962C8B-B14F-4D97-AF65-F5344CB8AC3E}">
        <p14:creationId xmlns:p14="http://schemas.microsoft.com/office/powerpoint/2010/main" val="2971499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2" descr="fundo_ppt1_ok.jpg"/>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A8EA56D1-9008-324A-AE78-6F3716B85DF9}" type="datetime1">
              <a:rPr lang="en-US" smtClean="0"/>
              <a:t>8/28/2026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0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7FFE5E5C-C80A-4D8D-A711-3102A7BA9258}" type="slidenum">
              <a:rPr lang="pt-BR" smtClean="0"/>
              <a:pPr/>
              <a:t>‹#›</a:t>
            </a:fld>
            <a:endParaRPr lang="pt-BR" dirty="0"/>
          </a:p>
        </p:txBody>
      </p:sp>
    </p:spTree>
    <p:extLst>
      <p:ext uri="{BB962C8B-B14F-4D97-AF65-F5344CB8AC3E}">
        <p14:creationId xmlns:p14="http://schemas.microsoft.com/office/powerpoint/2010/main" val="695403014"/>
      </p:ext>
    </p:extLst>
  </p:cSld>
  <p:clrMap bg1="lt1" tx1="dk1" bg2="lt2" tx2="dk2" accent1="accent1" accent2="accent2" accent3="accent3" accent4="accent4" accent5="accent5" accent6="accent6" hlink="hlink" folHlink="folHlink"/>
  <p:sldLayoutIdLst>
    <p:sldLayoutId id="2147483653" r:id="rId1"/>
    <p:sldLayoutId id="2147483668" r:id="rId2"/>
    <p:sldLayoutId id="2147483656" r:id="rId3"/>
    <p:sldLayoutId id="2147483666" r:id="rId4"/>
    <p:sldLayoutId id="2147483667" r:id="rId5"/>
    <p:sldLayoutId id="2147483660" r:id="rId6"/>
    <p:sldLayoutId id="2147483662" r:id="rId7"/>
    <p:sldLayoutId id="2147483669" r:id="rId8"/>
    <p:sldLayoutId id="2147483673" r:id="rId9"/>
  </p:sldLayoutIdLst>
  <p:hf hdr="0" ftr="0" dt="0"/>
  <p:txStyles>
    <p:titleStyle>
      <a:lvl1pPr algn="l" defTabSz="914400" rtl="0" eaLnBrk="1" latinLnBrk="0" hangingPunct="1">
        <a:spcBef>
          <a:spcPct val="0"/>
        </a:spcBef>
        <a:buNone/>
        <a:defRPr sz="3200" kern="1200">
          <a:solidFill>
            <a:srgbClr val="C00026"/>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psoares@insper.edu.br?subject=e-mail%20professor%20Luciano%20Soar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tiff"/><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9.tif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0.tif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8.xml"/><Relationship Id="rId5" Type="http://schemas.microsoft.com/office/2007/relationships/hdphoto" Target="../media/hdphoto2.wdp"/><Relationship Id="rId4" Type="http://schemas.openxmlformats.org/officeDocument/2006/relationships/image" Target="../media/image2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12"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tags" Target="../tags/tag9.xml"/><Relationship Id="rId6" Type="http://schemas.microsoft.com/office/2011/relationships/inkAction" Target="../ink/inkAction1.xml"/><Relationship Id="rId5" Type="http://schemas.microsoft.com/office/2007/relationships/hdphoto" Target="../media/hdphoto3.wdp"/><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966786" y="2384425"/>
            <a:ext cx="7343775" cy="714375"/>
          </a:xfrm>
        </p:spPr>
        <p:txBody>
          <a:bodyPr>
            <a:normAutofit fontScale="25000" lnSpcReduction="20000"/>
          </a:bodyPr>
          <a:lstStyle/>
          <a:p>
            <a:pPr lvl="0" defTabSz="457200">
              <a:spcBef>
                <a:spcPct val="0"/>
              </a:spcBef>
              <a:spcAft>
                <a:spcPts val="600"/>
              </a:spcAft>
              <a:defRPr/>
            </a:pPr>
            <a:r>
              <a:rPr lang="pt-BR" sz="14400" dirty="0">
                <a:latin typeface="Verdana"/>
                <a:cs typeface="Verdana"/>
              </a:rPr>
              <a:t>Elementos de Sistemas</a:t>
            </a:r>
          </a:p>
        </p:txBody>
      </p:sp>
      <p:sp>
        <p:nvSpPr>
          <p:cNvPr id="3" name="Espaço Reservado para Conteúdo 2"/>
          <p:cNvSpPr>
            <a:spLocks noGrp="1"/>
          </p:cNvSpPr>
          <p:nvPr>
            <p:ph idx="13"/>
          </p:nvPr>
        </p:nvSpPr>
        <p:spPr/>
        <p:txBody>
          <a:bodyPr/>
          <a:lstStyle/>
          <a:p>
            <a:r>
              <a:rPr lang="pt-BR" dirty="0">
                <a:latin typeface="Verdana"/>
                <a:cs typeface="Verdana"/>
              </a:rPr>
              <a:t>Descrição de Dados Digitais</a:t>
            </a:r>
          </a:p>
          <a:p>
            <a:endParaRPr lang="pt-BR" dirty="0"/>
          </a:p>
        </p:txBody>
      </p:sp>
      <p:sp>
        <p:nvSpPr>
          <p:cNvPr id="7" name="Espaço Reservado para Conteúdo 3"/>
          <p:cNvSpPr>
            <a:spLocks noGrp="1"/>
          </p:cNvSpPr>
          <p:nvPr>
            <p:ph idx="14"/>
          </p:nvPr>
        </p:nvSpPr>
        <p:spPr>
          <a:xfrm>
            <a:off x="900111" y="6146800"/>
            <a:ext cx="7343775" cy="447674"/>
          </a:xfrm>
        </p:spPr>
        <p:txBody>
          <a:bodyPr>
            <a:normAutofit/>
          </a:bodyPr>
          <a:lstStyle/>
          <a:p>
            <a:pPr algn="r"/>
            <a:r>
              <a:rPr lang="pt-BR" dirty="0"/>
              <a:t>Ciência da Computação - Luciano Soares </a:t>
            </a:r>
            <a:r>
              <a:rPr lang="pt-BR" dirty="0">
                <a:solidFill>
                  <a:schemeClr val="tx2">
                    <a:lumMod val="40000"/>
                    <a:lumOff val="60000"/>
                  </a:schemeClr>
                </a:solidFill>
                <a:hlinkClick r:id="rId3" invalidUrl="mailto:lpsoares@insper.edu.br?subject=e-mail professor Luciano Soares"/>
              </a:rPr>
              <a:t>&lt;lpsoares@insper.edu.br&gt;</a:t>
            </a:r>
            <a:endParaRPr lang="pt-BR" dirty="0">
              <a:solidFill>
                <a:schemeClr val="tx2">
                  <a:lumMod val="40000"/>
                  <a:lumOff val="60000"/>
                </a:schemeClr>
              </a:solidFill>
            </a:endParaRPr>
          </a:p>
          <a:p>
            <a:pPr algn="r"/>
            <a:endParaRPr lang="pt-BR" dirty="0"/>
          </a:p>
          <a:p>
            <a:pPr algn="r"/>
            <a:endParaRPr lang="pt-BR" dirty="0"/>
          </a:p>
        </p:txBody>
      </p:sp>
      <p:sp>
        <p:nvSpPr>
          <p:cNvPr id="6" name="Rectangle 7"/>
          <p:cNvSpPr/>
          <p:nvPr/>
        </p:nvSpPr>
        <p:spPr>
          <a:xfrm>
            <a:off x="234948" y="4456654"/>
            <a:ext cx="8674100" cy="830997"/>
          </a:xfrm>
          <a:prstGeom prst="rect">
            <a:avLst/>
          </a:prstGeom>
        </p:spPr>
        <p:txBody>
          <a:bodyPr wrap="square">
            <a:spAutoFit/>
          </a:bodyPr>
          <a:lstStyle/>
          <a:p>
            <a:pPr defTabSz="914400">
              <a:defRPr/>
            </a:pPr>
            <a:r>
              <a:rPr lang="pt-BR" sz="1600" b="1" i="1" dirty="0">
                <a:solidFill>
                  <a:schemeClr val="bg1"/>
                </a:solidFill>
              </a:rPr>
              <a:t>" A música é um exercício de aritmética inconsciente da alma."</a:t>
            </a:r>
          </a:p>
          <a:p>
            <a:pPr defTabSz="914400">
              <a:defRPr/>
            </a:pPr>
            <a:r>
              <a:rPr lang="en-US" sz="1600" b="1" i="1" noProof="1">
                <a:solidFill>
                  <a:schemeClr val="bg1"/>
                </a:solidFill>
              </a:rPr>
              <a:t>"Musica est exercitium arithmeticae occultum nescientis se numerare animi."</a:t>
            </a:r>
          </a:p>
          <a:p>
            <a:pPr defTabSz="914400">
              <a:defRPr/>
            </a:pPr>
            <a:r>
              <a:rPr lang="fi-FI" sz="1600" b="1" i="1" dirty="0">
                <a:solidFill>
                  <a:schemeClr val="bg1"/>
                </a:solidFill>
              </a:rPr>
              <a:t>Gottfried Wilhelm von Leibniz (1646 - 1716)</a:t>
            </a:r>
            <a:r>
              <a:rPr lang="is-IS" sz="1600" b="1" i="1" dirty="0">
                <a:solidFill>
                  <a:schemeClr val="bg1"/>
                </a:solidFill>
              </a:rPr>
              <a:t> matemático e filósofo alemão</a:t>
            </a:r>
            <a:endParaRPr lang="en-US" sz="1600" b="1" dirty="0">
              <a:solidFill>
                <a:schemeClr val="bg1"/>
              </a:solidFill>
            </a:endParaRPr>
          </a:p>
        </p:txBody>
      </p:sp>
    </p:spTree>
    <p:extLst>
      <p:ext uri="{BB962C8B-B14F-4D97-AF65-F5344CB8AC3E}">
        <p14:creationId xmlns:p14="http://schemas.microsoft.com/office/powerpoint/2010/main" val="28423469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Primeiras Máquinas de Calcular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a:t>
            </a:fld>
            <a:endParaRPr lang="pt-BR" dirty="0"/>
          </a:p>
        </p:txBody>
      </p:sp>
      <p:pic>
        <p:nvPicPr>
          <p:cNvPr id="6" name="Picture 5" descr="500004240-03-01.jpg"/>
          <p:cNvPicPr>
            <a:picLocks noChangeAspect="1"/>
          </p:cNvPicPr>
          <p:nvPr/>
        </p:nvPicPr>
        <p:blipFill rotWithShape="1">
          <a:blip r:embed="rId3">
            <a:extLst>
              <a:ext uri="{28A0092B-C50C-407E-A947-70E740481C1C}">
                <a14:useLocalDpi xmlns:a14="http://schemas.microsoft.com/office/drawing/2010/main" val="0"/>
              </a:ext>
            </a:extLst>
          </a:blip>
          <a:srcRect l="18597" r="18597"/>
          <a:stretch/>
        </p:blipFill>
        <p:spPr>
          <a:xfrm>
            <a:off x="6970310" y="1322506"/>
            <a:ext cx="1967534" cy="2349500"/>
          </a:xfrm>
          <a:prstGeom prst="rect">
            <a:avLst/>
          </a:prstGeom>
        </p:spPr>
      </p:pic>
      <p:pic>
        <p:nvPicPr>
          <p:cNvPr id="9" name="Picture 8" descr="500004239-03-01.jpg"/>
          <p:cNvPicPr>
            <a:picLocks noChangeAspect="1"/>
          </p:cNvPicPr>
          <p:nvPr/>
        </p:nvPicPr>
        <p:blipFill>
          <a:blip r:embed="rId4">
            <a:extLst>
              <a:ext uri="{BEBA8EAE-BF5A-486C-A8C5-ECC9F3942E4B}">
                <a14:imgProps xmlns:a14="http://schemas.microsoft.com/office/drawing/2010/main">
                  <a14:imgLayer r:embed="rId5">
                    <a14:imgEffect>
                      <a14:backgroundRemoval t="2344" b="97396" l="0" r="100000">
                        <a14:backgroundMark x1="5603" y1="64323" x2="5603" y2="64323"/>
                        <a14:backgroundMark x1="1940" y1="15885" x2="1940" y2="15885"/>
                        <a14:backgroundMark x1="3233" y1="51042" x2="3233" y2="51042"/>
                      </a14:backgroundRemoval>
                    </a14:imgEffect>
                  </a14:imgLayer>
                </a14:imgProps>
              </a:ext>
              <a:ext uri="{28A0092B-C50C-407E-A947-70E740481C1C}">
                <a14:useLocalDpi xmlns:a14="http://schemas.microsoft.com/office/drawing/2010/main" val="0"/>
              </a:ext>
            </a:extLst>
          </a:blip>
          <a:stretch>
            <a:fillRect/>
          </a:stretch>
        </p:blipFill>
        <p:spPr>
          <a:xfrm>
            <a:off x="6166108" y="3429000"/>
            <a:ext cx="2450583" cy="2028069"/>
          </a:xfrm>
          <a:prstGeom prst="rect">
            <a:avLst/>
          </a:prstGeom>
        </p:spPr>
      </p:pic>
      <p:sp>
        <p:nvSpPr>
          <p:cNvPr id="3" name="Content Placeholder 2"/>
          <p:cNvSpPr>
            <a:spLocks noGrp="1"/>
          </p:cNvSpPr>
          <p:nvPr>
            <p:ph idx="1"/>
          </p:nvPr>
        </p:nvSpPr>
        <p:spPr>
          <a:xfrm>
            <a:off x="527309" y="1485900"/>
            <a:ext cx="6443002" cy="2136942"/>
          </a:xfrm>
        </p:spPr>
        <p:txBody>
          <a:bodyPr>
            <a:noAutofit/>
          </a:bodyPr>
          <a:lstStyle/>
          <a:p>
            <a:pPr>
              <a:spcBef>
                <a:spcPts val="0"/>
              </a:spcBef>
            </a:pPr>
            <a:r>
              <a:rPr lang="pt-BR" sz="2000" dirty="0"/>
              <a:t>Wilhelm </a:t>
            </a:r>
            <a:r>
              <a:rPr lang="pt-BR" sz="2000" dirty="0" err="1"/>
              <a:t>Schickard</a:t>
            </a:r>
            <a:r>
              <a:rPr lang="pt-BR" sz="2000" dirty="0"/>
              <a:t> (1592–1635) construiu em 1623 uma calculadora para seu amigo astrônomo Johannes Kepler. Esta é uma das mais antigas calculadoras mecânicas conhecidas capazes de realizar as quatro operações. Seu projeto foi redescoberto no século XX a partir de desenhos e correspondência.</a:t>
            </a:r>
          </a:p>
          <a:p>
            <a:pPr>
              <a:spcBef>
                <a:spcPts val="0"/>
              </a:spcBef>
            </a:pPr>
            <a:endParaRPr lang="pt-BR" sz="2000" dirty="0"/>
          </a:p>
        </p:txBody>
      </p:sp>
      <p:pic>
        <p:nvPicPr>
          <p:cNvPr id="11" name="Picture 10"/>
          <p:cNvPicPr>
            <a:picLocks noChangeAspect="1"/>
          </p:cNvPicPr>
          <p:nvPr/>
        </p:nvPicPr>
        <p:blipFill rotWithShape="1">
          <a:blip r:embed="rId6"/>
          <a:srcRect l="11120"/>
          <a:stretch/>
        </p:blipFill>
        <p:spPr>
          <a:xfrm>
            <a:off x="2727552" y="3911296"/>
            <a:ext cx="3168203" cy="2673440"/>
          </a:xfrm>
          <a:prstGeom prst="rect">
            <a:avLst/>
          </a:prstGeom>
        </p:spPr>
      </p:pic>
    </p:spTree>
    <p:extLst>
      <p:ext uri="{BB962C8B-B14F-4D97-AF65-F5344CB8AC3E}">
        <p14:creationId xmlns:p14="http://schemas.microsoft.com/office/powerpoint/2010/main" val="25842661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3000" fill="hold"/>
                                        <p:tgtEl>
                                          <p:spTgt spid="9"/>
                                        </p:tgtEl>
                                        <p:attrNameLst>
                                          <p:attrName>ppt_w</p:attrName>
                                        </p:attrNameLst>
                                      </p:cBhvr>
                                      <p:tavLst>
                                        <p:tav tm="0">
                                          <p:val>
                                            <p:strVal val="2/3*#ppt_w"/>
                                          </p:val>
                                        </p:tav>
                                        <p:tav tm="100000">
                                          <p:val>
                                            <p:strVal val="#ppt_w"/>
                                          </p:val>
                                        </p:tav>
                                      </p:tavLst>
                                    </p:anim>
                                    <p:anim calcmode="lin" valueType="num">
                                      <p:cBhvr>
                                        <p:cTn id="8" dur="3000" fill="hold"/>
                                        <p:tgtEl>
                                          <p:spTgt spid="9"/>
                                        </p:tgtEl>
                                        <p:attrNameLst>
                                          <p:attrName>ppt_h</p:attrName>
                                        </p:attrNameLst>
                                      </p:cBhvr>
                                      <p:tavLst>
                                        <p:tav tm="0">
                                          <p:val>
                                            <p:strVal val="2/3*#ppt_h"/>
                                          </p:val>
                                        </p:tav>
                                        <p:tav tm="100000">
                                          <p:val>
                                            <p:strVal val="#ppt_h"/>
                                          </p:val>
                                        </p:tav>
                                      </p:tavLst>
                                    </p:anim>
                                  </p:childTnLst>
                                </p:cTn>
                              </p:par>
                              <p:par>
                                <p:cTn id="9" presetID="0" presetClass="path" presetSubtype="0" accel="50000" decel="50000" fill="hold" nodeType="withEffect">
                                  <p:stCondLst>
                                    <p:cond delay="0"/>
                                  </p:stCondLst>
                                  <p:childTnLst>
                                    <p:animMotion origin="layout" path="M 2.86309E-7 -1.51922E-6 L -0.01475 0.01784 " pathEditMode="relative" ptsTypes="AA">
                                      <p:cBhvr>
                                        <p:cTn id="10" dur="5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889627" y="4135882"/>
            <a:ext cx="4364489" cy="2455025"/>
          </a:xfrm>
          <a:prstGeom prst="rect">
            <a:avLst/>
          </a:prstGeom>
        </p:spPr>
      </p:pic>
      <p:sp>
        <p:nvSpPr>
          <p:cNvPr id="2" name="Title 1"/>
          <p:cNvSpPr>
            <a:spLocks noGrp="1"/>
          </p:cNvSpPr>
          <p:nvPr>
            <p:ph type="title"/>
          </p:nvPr>
        </p:nvSpPr>
        <p:spPr/>
        <p:txBody>
          <a:bodyPr/>
          <a:lstStyle/>
          <a:p>
            <a:r>
              <a:rPr lang="pt-BR" dirty="0"/>
              <a:t>Primeiras Máquinas de Calcular</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3</a:t>
            </a:fld>
            <a:endParaRPr lang="pt-BR" dirty="0"/>
          </a:p>
        </p:txBody>
      </p:sp>
      <p:pic>
        <p:nvPicPr>
          <p:cNvPr id="7" name="Picture 6" descr="Pascal.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743075"/>
            <a:ext cx="1613996" cy="1990595"/>
          </a:xfrm>
          <a:prstGeom prst="rect">
            <a:avLst/>
          </a:prstGeom>
        </p:spPr>
      </p:pic>
      <p:pic>
        <p:nvPicPr>
          <p:cNvPr id="8" name="Picture 7" descr="17377272_1_x.jpg"/>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5536" b="25536"/>
          <a:stretch/>
        </p:blipFill>
        <p:spPr>
          <a:xfrm>
            <a:off x="1184157" y="3167634"/>
            <a:ext cx="2112836" cy="1033766"/>
          </a:xfrm>
          <a:prstGeom prst="rect">
            <a:avLst/>
          </a:prstGeom>
        </p:spPr>
      </p:pic>
      <p:sp>
        <p:nvSpPr>
          <p:cNvPr id="10" name="Content Placeholder 2"/>
          <p:cNvSpPr txBox="1">
            <a:spLocks/>
          </p:cNvSpPr>
          <p:nvPr/>
        </p:nvSpPr>
        <p:spPr>
          <a:xfrm>
            <a:off x="2169835" y="1801894"/>
            <a:ext cx="6753801" cy="2136942"/>
          </a:xfrm>
          <a:prstGeom prst="rect">
            <a:avLst/>
          </a:prstGeom>
        </p:spPr>
        <p:txBody>
          <a:bodyPr>
            <a:no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0"/>
              </a:spcBef>
            </a:pPr>
            <a:r>
              <a:rPr lang="pt-BR" sz="2100" dirty="0" err="1"/>
              <a:t>Blaise</a:t>
            </a:r>
            <a:r>
              <a:rPr lang="pt-BR" sz="2100" dirty="0"/>
              <a:t> Pascal (1623-1662) inventou e produziu em 1642 a </a:t>
            </a:r>
            <a:r>
              <a:rPr lang="pt-BR" sz="2100" dirty="0" err="1"/>
              <a:t>Pascaline</a:t>
            </a:r>
            <a:r>
              <a:rPr lang="pt-BR" sz="2100" dirty="0"/>
              <a:t>. Ela só podia fazer adição e subtração, manipulando os números inscritos em seus mostradores. Ele construiu 50 deles ao </a:t>
            </a:r>
          </a:p>
          <a:p>
            <a:pPr>
              <a:spcBef>
                <a:spcPts val="0"/>
              </a:spcBef>
            </a:pPr>
            <a:r>
              <a:rPr lang="pt-BR" sz="2100" dirty="0"/>
              <a:t>             longo de 10 anos, embora só tenha</a:t>
            </a:r>
          </a:p>
          <a:p>
            <a:pPr>
              <a:spcBef>
                <a:spcPts val="0"/>
              </a:spcBef>
            </a:pPr>
            <a:r>
              <a:rPr lang="pt-BR" sz="2100" dirty="0"/>
              <a:t>             vendido 15.</a:t>
            </a:r>
          </a:p>
        </p:txBody>
      </p:sp>
    </p:spTree>
    <p:extLst>
      <p:ext uri="{BB962C8B-B14F-4D97-AF65-F5344CB8AC3E}">
        <p14:creationId xmlns:p14="http://schemas.microsoft.com/office/powerpoint/2010/main" val="6565177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3000" fill="hold"/>
                                        <p:tgtEl>
                                          <p:spTgt spid="8"/>
                                        </p:tgtEl>
                                        <p:attrNameLst>
                                          <p:attrName>ppt_w</p:attrName>
                                        </p:attrNameLst>
                                      </p:cBhvr>
                                      <p:tavLst>
                                        <p:tav tm="0">
                                          <p:val>
                                            <p:strVal val="4/3*#ppt_w"/>
                                          </p:val>
                                        </p:tav>
                                        <p:tav tm="100000">
                                          <p:val>
                                            <p:strVal val="#ppt_w"/>
                                          </p:val>
                                        </p:tav>
                                      </p:tavLst>
                                    </p:anim>
                                    <p:anim calcmode="lin" valueType="num">
                                      <p:cBhvr>
                                        <p:cTn id="8" dur="3000" fill="hold"/>
                                        <p:tgtEl>
                                          <p:spTgt spid="8"/>
                                        </p:tgtEl>
                                        <p:attrNameLst>
                                          <p:attrName>ppt_h</p:attrName>
                                        </p:attrNameLst>
                                      </p:cBhvr>
                                      <p:tavLst>
                                        <p:tav tm="0">
                                          <p:val>
                                            <p:strVal val="4/3*#ppt_h"/>
                                          </p:val>
                                        </p:tav>
                                        <p:tav tm="100000">
                                          <p:val>
                                            <p:strVal val="#ppt_h"/>
                                          </p:val>
                                        </p:tav>
                                      </p:tavLst>
                                    </p:anim>
                                  </p:childTnLst>
                                </p:cTn>
                              </p:par>
                              <p:par>
                                <p:cTn id="9" presetID="0" presetClass="path" presetSubtype="0" accel="50000" decel="50000" fill="hold" nodeType="withEffect">
                                  <p:stCondLst>
                                    <p:cond delay="0"/>
                                  </p:stCondLst>
                                  <p:childTnLst>
                                    <p:animMotion origin="layout" path="M -4.44444E-6 4.44444E-6 L 0.00799 4.44444E-6 " pathEditMode="relative" rAng="0" ptsTypes="AA">
                                      <p:cBhvr>
                                        <p:cTn id="10" dur="5000" fill="hold"/>
                                        <p:tgtEl>
                                          <p:spTgt spid="7"/>
                                        </p:tgtEl>
                                        <p:attrNameLst>
                                          <p:attrName>ppt_x</p:attrName>
                                          <p:attrName>ppt_y</p:attrName>
                                        </p:attrNameLst>
                                      </p:cBhvr>
                                      <p:rCtr x="3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Sistema Binário de Numeração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4</a:t>
            </a:fld>
            <a:endParaRPr lang="pt-BR" dirty="0"/>
          </a:p>
        </p:txBody>
      </p:sp>
      <p:pic>
        <p:nvPicPr>
          <p:cNvPr id="6" name="Picture 5" descr="102636916-03-0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8499" y="1575328"/>
            <a:ext cx="1871627" cy="2008772"/>
          </a:xfrm>
          <a:prstGeom prst="rect">
            <a:avLst/>
          </a:prstGeom>
        </p:spPr>
      </p:pic>
      <p:pic>
        <p:nvPicPr>
          <p:cNvPr id="7" name="Picture 6" descr="102630768-03-01.jpg"/>
          <p:cNvPicPr>
            <a:picLocks noChangeAspect="1"/>
          </p:cNvPicPr>
          <p:nvPr/>
        </p:nvPicPr>
        <p:blipFill rotWithShape="1">
          <a:blip r:embed="rId4">
            <a:extLst>
              <a:ext uri="{28A0092B-C50C-407E-A947-70E740481C1C}">
                <a14:useLocalDpi xmlns:a14="http://schemas.microsoft.com/office/drawing/2010/main" val="0"/>
              </a:ext>
            </a:extLst>
          </a:blip>
          <a:srcRect b="3505"/>
          <a:stretch/>
        </p:blipFill>
        <p:spPr>
          <a:xfrm>
            <a:off x="831993" y="3647232"/>
            <a:ext cx="6756400" cy="3210768"/>
          </a:xfrm>
          <a:prstGeom prst="rect">
            <a:avLst/>
          </a:prstGeom>
        </p:spPr>
      </p:pic>
      <p:sp>
        <p:nvSpPr>
          <p:cNvPr id="3" name="Content Placeholder 2"/>
          <p:cNvSpPr>
            <a:spLocks noGrp="1"/>
          </p:cNvSpPr>
          <p:nvPr>
            <p:ph idx="1"/>
          </p:nvPr>
        </p:nvSpPr>
        <p:spPr>
          <a:xfrm>
            <a:off x="657226" y="1485900"/>
            <a:ext cx="6341273" cy="4724400"/>
          </a:xfrm>
        </p:spPr>
        <p:txBody>
          <a:bodyPr>
            <a:normAutofit/>
          </a:bodyPr>
          <a:lstStyle/>
          <a:p>
            <a:r>
              <a:rPr lang="pt-BR" sz="2000" dirty="0"/>
              <a:t>Gottfried Wilhelm von Leibniz (1646-1716) é creditado como um dos inventores do cálculo diferencial e integral. </a:t>
            </a:r>
            <a:r>
              <a:rPr lang="en-BR" sz="2000" dirty="0"/>
              <a:t>Leibniz desenvolveu e publicou uma das primeiras exposições sistemáticas modernas da aritmética binária</a:t>
            </a:r>
            <a:r>
              <a:rPr lang="pt-BR" sz="2000" dirty="0"/>
              <a:t> (base 2). Em 1672 Leibniz começou a inventar uma máquina capaz de fazer as 4 operações aritméticas, o </a:t>
            </a:r>
            <a:r>
              <a:rPr lang="pt-BR" sz="2000" dirty="0" err="1"/>
              <a:t>Staffelwalze</a:t>
            </a:r>
            <a:r>
              <a:rPr lang="pt-BR" sz="2000" dirty="0"/>
              <a:t>.</a:t>
            </a:r>
          </a:p>
        </p:txBody>
      </p:sp>
    </p:spTree>
    <p:extLst>
      <p:ext uri="{BB962C8B-B14F-4D97-AF65-F5344CB8AC3E}">
        <p14:creationId xmlns:p14="http://schemas.microsoft.com/office/powerpoint/2010/main" val="5024173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7.96287E-6 5.42844E-6 L -0.00139 -0.00879 " pathEditMode="relative" ptsTypes="AA">
                                      <p:cBhvr>
                                        <p:cTn id="6" dur="5000" fill="hold"/>
                                        <p:tgtEl>
                                          <p:spTgt spid="6"/>
                                        </p:tgtEl>
                                        <p:attrNameLst>
                                          <p:attrName>ppt_x</p:attrName>
                                          <p:attrName>ppt_y</p:attrName>
                                        </p:attrNameLst>
                                      </p:cBhvr>
                                    </p:animMotion>
                                  </p:childTnLst>
                                </p:cTn>
                              </p:par>
                              <p:par>
                                <p:cTn id="7" presetID="42"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0"/>
                                        <p:tgtEl>
                                          <p:spTgt spid="7"/>
                                        </p:tgtEl>
                                      </p:cBhvr>
                                    </p:animEffect>
                                    <p:anim calcmode="lin" valueType="num">
                                      <p:cBhvr>
                                        <p:cTn id="10" dur="5000" fill="hold"/>
                                        <p:tgtEl>
                                          <p:spTgt spid="7"/>
                                        </p:tgtEl>
                                        <p:attrNameLst>
                                          <p:attrName>ppt_x</p:attrName>
                                        </p:attrNameLst>
                                      </p:cBhvr>
                                      <p:tavLst>
                                        <p:tav tm="0">
                                          <p:val>
                                            <p:strVal val="#ppt_x"/>
                                          </p:val>
                                        </p:tav>
                                        <p:tav tm="100000">
                                          <p:val>
                                            <p:strVal val="#ppt_x"/>
                                          </p:val>
                                        </p:tav>
                                      </p:tavLst>
                                    </p:anim>
                                    <p:anim calcmode="lin" valueType="num">
                                      <p:cBhvr>
                                        <p:cTn id="11" dur="5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Números</a:t>
            </a:r>
          </a:p>
        </p:txBody>
      </p:sp>
      <p:sp>
        <p:nvSpPr>
          <p:cNvPr id="3" name="Content Placeholder 2"/>
          <p:cNvSpPr>
            <a:spLocks noGrp="1"/>
          </p:cNvSpPr>
          <p:nvPr>
            <p:ph idx="1"/>
          </p:nvPr>
        </p:nvSpPr>
        <p:spPr>
          <a:xfrm>
            <a:off x="657226" y="1485900"/>
            <a:ext cx="4759800" cy="4916274"/>
          </a:xfrm>
        </p:spPr>
        <p:txBody>
          <a:bodyPr>
            <a:normAutofit/>
          </a:bodyPr>
          <a:lstStyle/>
          <a:p>
            <a:r>
              <a:rPr lang="pt-BR" sz="2400" dirty="0"/>
              <a:t>Os símbolos "1", "2", "3" levaram muitos séculos para surgir.</a:t>
            </a:r>
          </a:p>
          <a:p>
            <a:endParaRPr lang="pt-BR" sz="2400" dirty="0"/>
          </a:p>
          <a:p>
            <a:r>
              <a:rPr lang="pt-BR" sz="2400" dirty="0"/>
              <a:t>O sistema decimal é o mais amplamente usado pelas civilizações modernas.</a:t>
            </a:r>
          </a:p>
          <a:p>
            <a:endParaRPr lang="pt-BR" sz="2400" dirty="0"/>
          </a:p>
          <a:p>
            <a:r>
              <a:rPr lang="pt-BR" sz="2400" dirty="0"/>
              <a:t>Porém, muitas outras civilizações usaram outras formas de contar do que usamos hoje.</a:t>
            </a:r>
          </a:p>
          <a:p>
            <a:endParaRPr lang="pt-BR" sz="2400" dirty="0"/>
          </a:p>
          <a:p>
            <a:endParaRPr lang="pt-BR" sz="2400" dirty="0"/>
          </a:p>
          <a:p>
            <a:endParaRPr lang="pt-BR" sz="24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5</a:t>
            </a:fld>
            <a:endParaRPr lang="pt-BR" dirty="0"/>
          </a:p>
        </p:txBody>
      </p:sp>
      <p:grpSp>
        <p:nvGrpSpPr>
          <p:cNvPr id="8" name="Group 7"/>
          <p:cNvGrpSpPr/>
          <p:nvPr/>
        </p:nvGrpSpPr>
        <p:grpSpPr>
          <a:xfrm>
            <a:off x="5378925" y="1485900"/>
            <a:ext cx="3514486" cy="3798785"/>
            <a:chOff x="5417025" y="2272633"/>
            <a:chExt cx="3514486" cy="3798785"/>
          </a:xfrm>
        </p:grpSpPr>
        <p:pic>
          <p:nvPicPr>
            <p:cNvPr id="6" name="Picture 5" descr="6.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025" y="2272633"/>
              <a:ext cx="3514486" cy="2967788"/>
            </a:xfrm>
            <a:prstGeom prst="rect">
              <a:avLst/>
            </a:prstGeom>
          </p:spPr>
        </p:pic>
        <p:sp>
          <p:nvSpPr>
            <p:cNvPr id="7" name="Rectangle 6"/>
            <p:cNvSpPr/>
            <p:nvPr/>
          </p:nvSpPr>
          <p:spPr>
            <a:xfrm>
              <a:off x="5417025" y="5240421"/>
              <a:ext cx="3514486" cy="830997"/>
            </a:xfrm>
            <a:prstGeom prst="rect">
              <a:avLst/>
            </a:prstGeom>
          </p:spPr>
          <p:txBody>
            <a:bodyPr wrap="square">
              <a:spAutoFit/>
            </a:bodyPr>
            <a:lstStyle/>
            <a:p>
              <a:pPr algn="ctr"/>
              <a:r>
                <a:rPr lang="en-BR" sz="1600" dirty="0"/>
                <a:t>Marcações em madeira, ossos e outros materiais estão entre as formas mais antigas de registro de quantidades</a:t>
              </a:r>
              <a:r>
                <a:rPr lang="pt-BR" sz="1500" dirty="0"/>
                <a:t>.</a:t>
              </a:r>
            </a:p>
          </p:txBody>
        </p:sp>
      </p:grpSp>
    </p:spTree>
    <p:extLst>
      <p:ext uri="{BB962C8B-B14F-4D97-AF65-F5344CB8AC3E}">
        <p14:creationId xmlns:p14="http://schemas.microsoft.com/office/powerpoint/2010/main" val="70890031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Como os algarismos chegaram a nós</a:t>
            </a:r>
          </a:p>
        </p:txBody>
      </p:sp>
      <p:sp>
        <p:nvSpPr>
          <p:cNvPr id="3" name="Content Placeholder 2"/>
          <p:cNvSpPr>
            <a:spLocks noGrp="1"/>
          </p:cNvSpPr>
          <p:nvPr>
            <p:ph idx="1"/>
          </p:nvPr>
        </p:nvSpPr>
        <p:spPr/>
        <p:txBody>
          <a:bodyPr/>
          <a:lstStyle/>
          <a:p>
            <a:r>
              <a:rPr lang="pt-BR" dirty="0"/>
              <a:t>No Liber </a:t>
            </a:r>
            <a:r>
              <a:rPr lang="pt-BR" dirty="0" err="1"/>
              <a:t>Abaci</a:t>
            </a:r>
            <a:r>
              <a:rPr lang="pt-BR" dirty="0"/>
              <a:t> (1202), Leonardo Fibonacci ajudou a difundir na Europa a numeração indo-arábica.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6</a:t>
            </a:fld>
            <a:endParaRPr lang="pt-BR" dirty="0"/>
          </a:p>
        </p:txBody>
      </p:sp>
      <p:sp>
        <p:nvSpPr>
          <p:cNvPr id="6" name="Rounded Rectangle 5"/>
          <p:cNvSpPr/>
          <p:nvPr/>
        </p:nvSpPr>
        <p:spPr>
          <a:xfrm>
            <a:off x="3410716" y="2579071"/>
            <a:ext cx="4880605" cy="870405"/>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pt-BR" sz="2800" dirty="0" err="1"/>
              <a:t>I</a:t>
            </a:r>
            <a:r>
              <a:rPr lang="pt-BR" sz="2800" dirty="0"/>
              <a:t>, II, III, IV, V, VI, VII, VIII, IX</a:t>
            </a:r>
          </a:p>
        </p:txBody>
      </p:sp>
      <p:sp>
        <p:nvSpPr>
          <p:cNvPr id="8" name="Rounded Rectangle 7"/>
          <p:cNvSpPr/>
          <p:nvPr/>
        </p:nvSpPr>
        <p:spPr>
          <a:xfrm>
            <a:off x="3406135" y="4530785"/>
            <a:ext cx="4880605" cy="870405"/>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pt-BR" sz="2800" dirty="0"/>
              <a:t>0, 1, 2, 3, 4, 5, 6, 7, 8, 9</a:t>
            </a:r>
          </a:p>
        </p:txBody>
      </p:sp>
      <p:grpSp>
        <p:nvGrpSpPr>
          <p:cNvPr id="11" name="Group 10"/>
          <p:cNvGrpSpPr/>
          <p:nvPr/>
        </p:nvGrpSpPr>
        <p:grpSpPr>
          <a:xfrm>
            <a:off x="1244593" y="4179535"/>
            <a:ext cx="1335889" cy="2056523"/>
            <a:chOff x="1244593" y="2098925"/>
            <a:chExt cx="1335889" cy="2056523"/>
          </a:xfrm>
        </p:grpSpPr>
        <p:pic>
          <p:nvPicPr>
            <p:cNvPr id="12" name="Picture 11" descr="Fibonacci.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593" y="2098925"/>
              <a:ext cx="1335889" cy="1801199"/>
            </a:xfrm>
            <a:prstGeom prst="rect">
              <a:avLst/>
            </a:prstGeom>
          </p:spPr>
        </p:pic>
        <p:sp>
          <p:nvSpPr>
            <p:cNvPr id="10" name="Rectangle 9"/>
            <p:cNvSpPr/>
            <p:nvPr/>
          </p:nvSpPr>
          <p:spPr>
            <a:xfrm>
              <a:off x="1431783" y="3847671"/>
              <a:ext cx="870726" cy="307777"/>
            </a:xfrm>
            <a:prstGeom prst="rect">
              <a:avLst/>
            </a:prstGeom>
          </p:spPr>
          <p:txBody>
            <a:bodyPr wrap="none">
              <a:spAutoFit/>
            </a:bodyPr>
            <a:lstStyle/>
            <a:p>
              <a:r>
                <a:rPr lang="pt-BR" sz="1400" dirty="0"/>
                <a:t>Fibonacci</a:t>
              </a:r>
            </a:p>
          </p:txBody>
        </p:sp>
      </p:grpSp>
      <p:pic>
        <p:nvPicPr>
          <p:cNvPr id="15" name="Picture 14" descr="Ancient-gold-Roman-coin-solidus-Constantinus-II.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559" y="2279739"/>
            <a:ext cx="1639845" cy="1639845"/>
          </a:xfrm>
          <a:prstGeom prst="rect">
            <a:avLst/>
          </a:prstGeom>
        </p:spPr>
      </p:pic>
    </p:spTree>
    <p:extLst>
      <p:ext uri="{BB962C8B-B14F-4D97-AF65-F5344CB8AC3E}">
        <p14:creationId xmlns:p14="http://schemas.microsoft.com/office/powerpoint/2010/main" val="26731680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000"/>
                                        <p:tgtEl>
                                          <p:spTgt spid="15"/>
                                        </p:tgtEl>
                                      </p:cBhvr>
                                    </p:animEffect>
                                    <p:anim calcmode="lin" valueType="num">
                                      <p:cBhvr>
                                        <p:cTn id="8" dur="2000" fill="hold"/>
                                        <p:tgtEl>
                                          <p:spTgt spid="15"/>
                                        </p:tgtEl>
                                        <p:attrNameLst>
                                          <p:attrName>ppt_w</p:attrName>
                                        </p:attrNameLst>
                                      </p:cBhvr>
                                      <p:tavLst>
                                        <p:tav tm="0" fmla="#ppt_w*sin(2.5*pi*$)">
                                          <p:val>
                                            <p:fltVal val="0"/>
                                          </p:val>
                                        </p:tav>
                                        <p:tav tm="100000">
                                          <p:val>
                                            <p:fltVal val="1"/>
                                          </p:val>
                                        </p:tav>
                                      </p:tavLst>
                                    </p:anim>
                                    <p:anim calcmode="lin" valueType="num">
                                      <p:cBhvr>
                                        <p:cTn id="9" dur="2000" fill="hold"/>
                                        <p:tgtEl>
                                          <p:spTgt spid="15"/>
                                        </p:tgtEl>
                                        <p:attrNameLst>
                                          <p:attrName>ppt_h</p:attrName>
                                        </p:attrNameLst>
                                      </p:cBhvr>
                                      <p:tavLst>
                                        <p:tav tm="0">
                                          <p:val>
                                            <p:strVal val="#ppt_h"/>
                                          </p:val>
                                        </p:tav>
                                        <p:tav tm="100000">
                                          <p:val>
                                            <p:strVal val="#ppt_h"/>
                                          </p:val>
                                        </p:tav>
                                      </p:tavLst>
                                    </p:anim>
                                  </p:childTnLst>
                                </p:cTn>
                              </p:par>
                              <p:par>
                                <p:cTn id="10" presetID="31"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2000" fill="hold"/>
                                        <p:tgtEl>
                                          <p:spTgt spid="11"/>
                                        </p:tgtEl>
                                        <p:attrNameLst>
                                          <p:attrName>ppt_w</p:attrName>
                                        </p:attrNameLst>
                                      </p:cBhvr>
                                      <p:tavLst>
                                        <p:tav tm="0">
                                          <p:val>
                                            <p:fltVal val="0"/>
                                          </p:val>
                                        </p:tav>
                                        <p:tav tm="100000">
                                          <p:val>
                                            <p:strVal val="#ppt_w"/>
                                          </p:val>
                                        </p:tav>
                                      </p:tavLst>
                                    </p:anim>
                                    <p:anim calcmode="lin" valueType="num">
                                      <p:cBhvr>
                                        <p:cTn id="13" dur="2000" fill="hold"/>
                                        <p:tgtEl>
                                          <p:spTgt spid="11"/>
                                        </p:tgtEl>
                                        <p:attrNameLst>
                                          <p:attrName>ppt_h</p:attrName>
                                        </p:attrNameLst>
                                      </p:cBhvr>
                                      <p:tavLst>
                                        <p:tav tm="0">
                                          <p:val>
                                            <p:fltVal val="0"/>
                                          </p:val>
                                        </p:tav>
                                        <p:tav tm="100000">
                                          <p:val>
                                            <p:strVal val="#ppt_h"/>
                                          </p:val>
                                        </p:tav>
                                      </p:tavLst>
                                    </p:anim>
                                    <p:anim calcmode="lin" valueType="num">
                                      <p:cBhvr>
                                        <p:cTn id="14" dur="2000" fill="hold"/>
                                        <p:tgtEl>
                                          <p:spTgt spid="11"/>
                                        </p:tgtEl>
                                        <p:attrNameLst>
                                          <p:attrName>style.rotation</p:attrName>
                                        </p:attrNameLst>
                                      </p:cBhvr>
                                      <p:tavLst>
                                        <p:tav tm="0">
                                          <p:val>
                                            <p:fltVal val="90"/>
                                          </p:val>
                                        </p:tav>
                                        <p:tav tm="100000">
                                          <p:val>
                                            <p:fltVal val="0"/>
                                          </p:val>
                                        </p:tav>
                                      </p:tavLst>
                                    </p:anim>
                                    <p:animEffect transition="in" filter="fade">
                                      <p:cBhvr>
                                        <p:cTn id="1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Base e Posicionamento dos Números</a:t>
            </a:r>
          </a:p>
        </p:txBody>
      </p:sp>
      <p:sp>
        <p:nvSpPr>
          <p:cNvPr id="6" name="Content Placeholder 5"/>
          <p:cNvSpPr>
            <a:spLocks noGrp="1"/>
          </p:cNvSpPr>
          <p:nvPr>
            <p:ph idx="1"/>
          </p:nvPr>
        </p:nvSpPr>
        <p:spPr/>
        <p:txBody>
          <a:bodyPr>
            <a:normAutofit/>
          </a:bodyPr>
          <a:lstStyle/>
          <a:p>
            <a:r>
              <a:rPr lang="pt-BR" sz="2200" dirty="0"/>
              <a:t>Os sistemas numéricos atuais, como o decimal indo-arábico, são chamados de sistemas posicionais, o que significa que a posição de um símbolo tem influência sobre o valor do símbolo, no caso múltiplos de 10. A prevalência histórica da base 10 é geralmente associada ao fato de termos dez dedos.</a:t>
            </a:r>
          </a:p>
          <a:p>
            <a:endParaRPr lang="pt-BR" sz="2200" dirty="0"/>
          </a:p>
        </p:txBody>
      </p:sp>
      <p:sp>
        <p:nvSpPr>
          <p:cNvPr id="9" name="Text Placeholder 8"/>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7</a:t>
            </a:fld>
            <a:endParaRPr lang="pt-BR" dirty="0"/>
          </a:p>
        </p:txBody>
      </p:sp>
      <p:pic>
        <p:nvPicPr>
          <p:cNvPr id="8" name="Picture 7"/>
          <p:cNvPicPr>
            <a:picLocks noChangeAspect="1"/>
          </p:cNvPicPr>
          <p:nvPr/>
        </p:nvPicPr>
        <p:blipFill>
          <a:blip r:embed="rId3"/>
          <a:stretch>
            <a:fillRect/>
          </a:stretch>
        </p:blipFill>
        <p:spPr>
          <a:xfrm>
            <a:off x="1115644" y="3710522"/>
            <a:ext cx="3318779" cy="2691652"/>
          </a:xfrm>
          <a:prstGeom prst="rect">
            <a:avLst/>
          </a:prstGeom>
        </p:spPr>
      </p:pic>
      <p:pic>
        <p:nvPicPr>
          <p:cNvPr id="7" name="Picture 6"/>
          <p:cNvPicPr>
            <a:picLocks noChangeAspect="1"/>
          </p:cNvPicPr>
          <p:nvPr/>
        </p:nvPicPr>
        <p:blipFill>
          <a:blip r:embed="rId4"/>
          <a:stretch>
            <a:fillRect/>
          </a:stretch>
        </p:blipFill>
        <p:spPr>
          <a:xfrm>
            <a:off x="4824379" y="4246815"/>
            <a:ext cx="3112168" cy="2337921"/>
          </a:xfrm>
          <a:prstGeom prst="rect">
            <a:avLst/>
          </a:prstGeom>
        </p:spPr>
      </p:pic>
    </p:spTree>
    <p:extLst>
      <p:ext uri="{BB962C8B-B14F-4D97-AF65-F5344CB8AC3E}">
        <p14:creationId xmlns:p14="http://schemas.microsoft.com/office/powerpoint/2010/main" val="39926715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900" decel="100000" fill="hold"/>
                                        <p:tgtEl>
                                          <p:spTgt spid="8"/>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23" presetClass="entr" presetSubtype="16"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Base e Posicionamento dos Números</a:t>
            </a:r>
          </a:p>
        </p:txBody>
      </p:sp>
      <p:sp>
        <p:nvSpPr>
          <p:cNvPr id="3" name="Content Placeholder 2"/>
          <p:cNvSpPr>
            <a:spLocks noGrp="1"/>
          </p:cNvSpPr>
          <p:nvPr>
            <p:ph idx="1"/>
          </p:nvPr>
        </p:nvSpPr>
        <p:spPr>
          <a:xfrm>
            <a:off x="3835017" y="1485900"/>
            <a:ext cx="5197858" cy="4724400"/>
          </a:xfrm>
        </p:spPr>
        <p:txBody>
          <a:bodyPr>
            <a:noAutofit/>
          </a:bodyPr>
          <a:lstStyle/>
          <a:p>
            <a:r>
              <a:rPr lang="pt-BR" sz="2300" dirty="0"/>
              <a:t>Além do </a:t>
            </a:r>
            <a:r>
              <a:rPr lang="pt-BR" sz="2300" dirty="0" err="1"/>
              <a:t>radix</a:t>
            </a:r>
            <a:r>
              <a:rPr lang="pt-BR" sz="2300" dirty="0"/>
              <a:t> (base) decimal, qualquer outra base pode ser usada. Por exemplo a base 12 tem a vantagem de ser divisível por 1, 2, 3, 4, e 6. </a:t>
            </a:r>
          </a:p>
          <a:p>
            <a:endParaRPr lang="pt-BR" sz="2300" dirty="0"/>
          </a:p>
          <a:p>
            <a:r>
              <a:rPr lang="pt-BR" sz="2300" dirty="0"/>
              <a:t>Internamente os computadores funcionam com o sistema binário, porém é mais comum usarmos base 10 no dia a dia, e eventualmente a base 16 </a:t>
            </a:r>
            <a:r>
              <a:rPr lang="en-BR" sz="2300" dirty="0"/>
              <a:t>como representação compacta </a:t>
            </a:r>
            <a:r>
              <a:rPr lang="pt-BR" sz="2300" dirty="0"/>
              <a:t>de dados digitais.</a:t>
            </a:r>
          </a:p>
          <a:p>
            <a:endParaRPr lang="pt-BR" sz="23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8</a:t>
            </a:fld>
            <a:endParaRPr lang="pt-BR" dirty="0"/>
          </a:p>
        </p:txBody>
      </p:sp>
      <p:graphicFrame>
        <p:nvGraphicFramePr>
          <p:cNvPr id="6" name="Table 5"/>
          <p:cNvGraphicFramePr>
            <a:graphicFrameLocks noGrp="1"/>
          </p:cNvGraphicFramePr>
          <p:nvPr>
            <p:extLst>
              <p:ext uri="{D42A27DB-BD31-4B8C-83A1-F6EECF244321}">
                <p14:modId xmlns:p14="http://schemas.microsoft.com/office/powerpoint/2010/main" val="1931446148"/>
              </p:ext>
            </p:extLst>
          </p:nvPr>
        </p:nvGraphicFramePr>
        <p:xfrm>
          <a:off x="614563" y="1400175"/>
          <a:ext cx="3220454" cy="5105040"/>
        </p:xfrm>
        <a:graphic>
          <a:graphicData uri="http://schemas.openxmlformats.org/drawingml/2006/table">
            <a:tbl>
              <a:tblPr firstRow="1" bandRow="1">
                <a:tableStyleId>{5C22544A-7EE6-4342-B048-85BDC9FD1C3A}</a:tableStyleId>
              </a:tblPr>
              <a:tblGrid>
                <a:gridCol w="784114">
                  <a:extLst>
                    <a:ext uri="{9D8B030D-6E8A-4147-A177-3AD203B41FA5}">
                      <a16:colId xmlns:a16="http://schemas.microsoft.com/office/drawing/2014/main" val="20000"/>
                    </a:ext>
                  </a:extLst>
                </a:gridCol>
                <a:gridCol w="701495">
                  <a:extLst>
                    <a:ext uri="{9D8B030D-6E8A-4147-A177-3AD203B41FA5}">
                      <a16:colId xmlns:a16="http://schemas.microsoft.com/office/drawing/2014/main" val="20001"/>
                    </a:ext>
                  </a:extLst>
                </a:gridCol>
                <a:gridCol w="588083">
                  <a:extLst>
                    <a:ext uri="{9D8B030D-6E8A-4147-A177-3AD203B41FA5}">
                      <a16:colId xmlns:a16="http://schemas.microsoft.com/office/drawing/2014/main" val="20002"/>
                    </a:ext>
                  </a:extLst>
                </a:gridCol>
                <a:gridCol w="1146762">
                  <a:extLst>
                    <a:ext uri="{9D8B030D-6E8A-4147-A177-3AD203B41FA5}">
                      <a16:colId xmlns:a16="http://schemas.microsoft.com/office/drawing/2014/main" val="20003"/>
                    </a:ext>
                  </a:extLst>
                </a:gridCol>
              </a:tblGrid>
              <a:tr h="140570">
                <a:tc>
                  <a:txBody>
                    <a:bodyPr/>
                    <a:lstStyle/>
                    <a:p>
                      <a:pPr algn="ctr"/>
                      <a:r>
                        <a:rPr lang="pt-BR" sz="1600" dirty="0"/>
                        <a:t>Decimal</a:t>
                      </a:r>
                    </a:p>
                  </a:txBody>
                  <a:tcPr marL="0" marR="0"/>
                </a:tc>
                <a:tc>
                  <a:txBody>
                    <a:bodyPr/>
                    <a:lstStyle/>
                    <a:p>
                      <a:pPr algn="ctr"/>
                      <a:r>
                        <a:rPr lang="pt-BR" sz="1600" dirty="0"/>
                        <a:t>Binário</a:t>
                      </a:r>
                    </a:p>
                  </a:txBody>
                  <a:tcPr marL="0" marR="0"/>
                </a:tc>
                <a:tc>
                  <a:txBody>
                    <a:bodyPr/>
                    <a:lstStyle/>
                    <a:p>
                      <a:pPr algn="ctr"/>
                      <a:r>
                        <a:rPr lang="pt-BR" sz="1600" dirty="0"/>
                        <a:t>Octal</a:t>
                      </a:r>
                    </a:p>
                  </a:txBody>
                  <a:tcPr marL="0" marR="0"/>
                </a:tc>
                <a:tc>
                  <a:txBody>
                    <a:bodyPr/>
                    <a:lstStyle/>
                    <a:p>
                      <a:pPr algn="ctr"/>
                      <a:r>
                        <a:rPr lang="pt-BR" sz="1600" dirty="0"/>
                        <a:t>Hexadecimal</a:t>
                      </a:r>
                    </a:p>
                  </a:txBody>
                  <a:tcPr marL="0" marR="0"/>
                </a:tc>
                <a:extLst>
                  <a:ext uri="{0D108BD9-81ED-4DB2-BD59-A6C34878D82A}">
                    <a16:rowId xmlns:a16="http://schemas.microsoft.com/office/drawing/2014/main" val="10000"/>
                  </a:ext>
                </a:extLst>
              </a:tr>
              <a:tr h="100604">
                <a:tc>
                  <a:txBody>
                    <a:bodyPr/>
                    <a:lstStyle/>
                    <a:p>
                      <a:pPr algn="r"/>
                      <a:r>
                        <a:rPr lang="pt-BR" sz="1600" dirty="0"/>
                        <a:t>0</a:t>
                      </a:r>
                    </a:p>
                  </a:txBody>
                  <a:tcPr marT="3600" marB="3600"/>
                </a:tc>
                <a:tc>
                  <a:txBody>
                    <a:bodyPr/>
                    <a:lstStyle/>
                    <a:p>
                      <a:pPr algn="r"/>
                      <a:r>
                        <a:rPr lang="pt-BR" sz="1600"/>
                        <a:t>0</a:t>
                      </a:r>
                      <a:endParaRPr lang="pt-BR" sz="1600" dirty="0"/>
                    </a:p>
                  </a:txBody>
                  <a:tcPr marT="3600" marB="3600"/>
                </a:tc>
                <a:tc>
                  <a:txBody>
                    <a:bodyPr/>
                    <a:lstStyle/>
                    <a:p>
                      <a:pPr algn="r"/>
                      <a:r>
                        <a:rPr lang="pt-BR" sz="1600" dirty="0"/>
                        <a:t>0</a:t>
                      </a:r>
                    </a:p>
                  </a:txBody>
                  <a:tcPr marT="3600" marB="3600"/>
                </a:tc>
                <a:tc>
                  <a:txBody>
                    <a:bodyPr/>
                    <a:lstStyle/>
                    <a:p>
                      <a:pPr algn="r"/>
                      <a:r>
                        <a:rPr lang="pt-BR" sz="1600" dirty="0"/>
                        <a:t>0</a:t>
                      </a:r>
                    </a:p>
                  </a:txBody>
                  <a:tcPr marT="3600" marB="3600"/>
                </a:tc>
                <a:extLst>
                  <a:ext uri="{0D108BD9-81ED-4DB2-BD59-A6C34878D82A}">
                    <a16:rowId xmlns:a16="http://schemas.microsoft.com/office/drawing/2014/main" val="10001"/>
                  </a:ext>
                </a:extLst>
              </a:tr>
              <a:tr h="100604">
                <a:tc>
                  <a:txBody>
                    <a:bodyPr/>
                    <a:lstStyle/>
                    <a:p>
                      <a:pPr algn="r"/>
                      <a:r>
                        <a:rPr lang="pt-BR" sz="1600" dirty="0"/>
                        <a:t>1</a:t>
                      </a:r>
                    </a:p>
                  </a:txBody>
                  <a:tcPr marT="3600" marB="3600"/>
                </a:tc>
                <a:tc>
                  <a:txBody>
                    <a:bodyPr/>
                    <a:lstStyle/>
                    <a:p>
                      <a:pPr algn="r"/>
                      <a:r>
                        <a:rPr lang="pt-BR" sz="1600"/>
                        <a:t>1</a:t>
                      </a:r>
                      <a:endParaRPr lang="pt-BR" sz="1600" dirty="0"/>
                    </a:p>
                  </a:txBody>
                  <a:tcPr marT="3600" marB="3600"/>
                </a:tc>
                <a:tc>
                  <a:txBody>
                    <a:bodyPr/>
                    <a:lstStyle/>
                    <a:p>
                      <a:pPr algn="r"/>
                      <a:r>
                        <a:rPr lang="pt-BR" sz="1600" dirty="0"/>
                        <a:t>1</a:t>
                      </a:r>
                    </a:p>
                  </a:txBody>
                  <a:tcPr marT="3600" marB="3600"/>
                </a:tc>
                <a:tc>
                  <a:txBody>
                    <a:bodyPr/>
                    <a:lstStyle/>
                    <a:p>
                      <a:pPr algn="r"/>
                      <a:r>
                        <a:rPr lang="pt-BR" sz="1600" dirty="0"/>
                        <a:t>1</a:t>
                      </a:r>
                    </a:p>
                  </a:txBody>
                  <a:tcPr marT="3600" marB="3600"/>
                </a:tc>
                <a:extLst>
                  <a:ext uri="{0D108BD9-81ED-4DB2-BD59-A6C34878D82A}">
                    <a16:rowId xmlns:a16="http://schemas.microsoft.com/office/drawing/2014/main" val="10002"/>
                  </a:ext>
                </a:extLst>
              </a:tr>
              <a:tr h="100604">
                <a:tc>
                  <a:txBody>
                    <a:bodyPr/>
                    <a:lstStyle/>
                    <a:p>
                      <a:pPr algn="r"/>
                      <a:r>
                        <a:rPr lang="pt-BR" sz="1600" dirty="0"/>
                        <a:t>2</a:t>
                      </a:r>
                    </a:p>
                  </a:txBody>
                  <a:tcPr marT="3600" marB="3600"/>
                </a:tc>
                <a:tc>
                  <a:txBody>
                    <a:bodyPr/>
                    <a:lstStyle/>
                    <a:p>
                      <a:pPr algn="r"/>
                      <a:r>
                        <a:rPr lang="pt-BR" sz="1600"/>
                        <a:t>10</a:t>
                      </a:r>
                      <a:endParaRPr lang="pt-BR" sz="1600" dirty="0"/>
                    </a:p>
                  </a:txBody>
                  <a:tcPr marT="3600" marB="3600"/>
                </a:tc>
                <a:tc>
                  <a:txBody>
                    <a:bodyPr/>
                    <a:lstStyle/>
                    <a:p>
                      <a:pPr algn="r"/>
                      <a:r>
                        <a:rPr lang="pt-BR" sz="1600" dirty="0"/>
                        <a:t>2</a:t>
                      </a:r>
                    </a:p>
                  </a:txBody>
                  <a:tcPr marT="3600" marB="3600"/>
                </a:tc>
                <a:tc>
                  <a:txBody>
                    <a:bodyPr/>
                    <a:lstStyle/>
                    <a:p>
                      <a:pPr algn="r"/>
                      <a:r>
                        <a:rPr lang="pt-BR" sz="1600" dirty="0"/>
                        <a:t>2</a:t>
                      </a:r>
                    </a:p>
                  </a:txBody>
                  <a:tcPr marT="3600" marB="3600"/>
                </a:tc>
                <a:extLst>
                  <a:ext uri="{0D108BD9-81ED-4DB2-BD59-A6C34878D82A}">
                    <a16:rowId xmlns:a16="http://schemas.microsoft.com/office/drawing/2014/main" val="10003"/>
                  </a:ext>
                </a:extLst>
              </a:tr>
              <a:tr h="100604">
                <a:tc>
                  <a:txBody>
                    <a:bodyPr/>
                    <a:lstStyle/>
                    <a:p>
                      <a:pPr algn="r"/>
                      <a:r>
                        <a:rPr lang="pt-BR" sz="1600" dirty="0"/>
                        <a:t>3</a:t>
                      </a:r>
                    </a:p>
                  </a:txBody>
                  <a:tcPr marT="3600" marB="3600"/>
                </a:tc>
                <a:tc>
                  <a:txBody>
                    <a:bodyPr/>
                    <a:lstStyle/>
                    <a:p>
                      <a:pPr algn="r"/>
                      <a:r>
                        <a:rPr lang="pt-BR" sz="1600" dirty="0"/>
                        <a:t>11</a:t>
                      </a:r>
                    </a:p>
                  </a:txBody>
                  <a:tcPr marT="3600" marB="3600"/>
                </a:tc>
                <a:tc>
                  <a:txBody>
                    <a:bodyPr/>
                    <a:lstStyle/>
                    <a:p>
                      <a:pPr algn="r"/>
                      <a:r>
                        <a:rPr lang="pt-BR" sz="1600" dirty="0"/>
                        <a:t>3</a:t>
                      </a:r>
                    </a:p>
                  </a:txBody>
                  <a:tcPr marT="3600" marB="3600"/>
                </a:tc>
                <a:tc>
                  <a:txBody>
                    <a:bodyPr/>
                    <a:lstStyle/>
                    <a:p>
                      <a:pPr algn="r"/>
                      <a:r>
                        <a:rPr lang="pt-BR" sz="1600" dirty="0"/>
                        <a:t>3</a:t>
                      </a:r>
                    </a:p>
                  </a:txBody>
                  <a:tcPr marT="3600" marB="3600"/>
                </a:tc>
                <a:extLst>
                  <a:ext uri="{0D108BD9-81ED-4DB2-BD59-A6C34878D82A}">
                    <a16:rowId xmlns:a16="http://schemas.microsoft.com/office/drawing/2014/main" val="10004"/>
                  </a:ext>
                </a:extLst>
              </a:tr>
              <a:tr h="100604">
                <a:tc>
                  <a:txBody>
                    <a:bodyPr/>
                    <a:lstStyle/>
                    <a:p>
                      <a:pPr algn="r"/>
                      <a:r>
                        <a:rPr lang="pt-BR" sz="1600" dirty="0"/>
                        <a:t>4</a:t>
                      </a:r>
                    </a:p>
                  </a:txBody>
                  <a:tcPr marT="3600" marB="3600"/>
                </a:tc>
                <a:tc>
                  <a:txBody>
                    <a:bodyPr/>
                    <a:lstStyle/>
                    <a:p>
                      <a:pPr algn="r"/>
                      <a:r>
                        <a:rPr lang="pt-BR" sz="1600" dirty="0"/>
                        <a:t>100</a:t>
                      </a:r>
                    </a:p>
                  </a:txBody>
                  <a:tcPr marT="3600" marB="3600"/>
                </a:tc>
                <a:tc>
                  <a:txBody>
                    <a:bodyPr/>
                    <a:lstStyle/>
                    <a:p>
                      <a:pPr algn="r"/>
                      <a:r>
                        <a:rPr lang="pt-BR" sz="1600" dirty="0"/>
                        <a:t>4</a:t>
                      </a:r>
                    </a:p>
                  </a:txBody>
                  <a:tcPr marT="3600" marB="3600"/>
                </a:tc>
                <a:tc>
                  <a:txBody>
                    <a:bodyPr/>
                    <a:lstStyle/>
                    <a:p>
                      <a:pPr algn="r"/>
                      <a:r>
                        <a:rPr lang="pt-BR" sz="1600" dirty="0"/>
                        <a:t>4</a:t>
                      </a:r>
                    </a:p>
                  </a:txBody>
                  <a:tcPr marT="3600" marB="3600"/>
                </a:tc>
                <a:extLst>
                  <a:ext uri="{0D108BD9-81ED-4DB2-BD59-A6C34878D82A}">
                    <a16:rowId xmlns:a16="http://schemas.microsoft.com/office/drawing/2014/main" val="10005"/>
                  </a:ext>
                </a:extLst>
              </a:tr>
              <a:tr h="100604">
                <a:tc>
                  <a:txBody>
                    <a:bodyPr/>
                    <a:lstStyle/>
                    <a:p>
                      <a:pPr algn="r"/>
                      <a:r>
                        <a:rPr lang="pt-BR" sz="1600" dirty="0"/>
                        <a:t>5</a:t>
                      </a:r>
                    </a:p>
                  </a:txBody>
                  <a:tcPr marT="3600" marB="3600"/>
                </a:tc>
                <a:tc>
                  <a:txBody>
                    <a:bodyPr/>
                    <a:lstStyle/>
                    <a:p>
                      <a:pPr algn="r"/>
                      <a:r>
                        <a:rPr lang="pt-BR" sz="1600" dirty="0"/>
                        <a:t>101</a:t>
                      </a:r>
                    </a:p>
                  </a:txBody>
                  <a:tcPr marT="3600" marB="3600"/>
                </a:tc>
                <a:tc>
                  <a:txBody>
                    <a:bodyPr/>
                    <a:lstStyle/>
                    <a:p>
                      <a:pPr algn="r"/>
                      <a:r>
                        <a:rPr lang="pt-BR" sz="1600" dirty="0"/>
                        <a:t>5</a:t>
                      </a:r>
                    </a:p>
                  </a:txBody>
                  <a:tcPr marT="3600" marB="3600"/>
                </a:tc>
                <a:tc>
                  <a:txBody>
                    <a:bodyPr/>
                    <a:lstStyle/>
                    <a:p>
                      <a:pPr algn="r"/>
                      <a:r>
                        <a:rPr lang="pt-BR" sz="1600" dirty="0"/>
                        <a:t>5</a:t>
                      </a:r>
                    </a:p>
                  </a:txBody>
                  <a:tcPr marT="3600" marB="3600"/>
                </a:tc>
                <a:extLst>
                  <a:ext uri="{0D108BD9-81ED-4DB2-BD59-A6C34878D82A}">
                    <a16:rowId xmlns:a16="http://schemas.microsoft.com/office/drawing/2014/main" val="10006"/>
                  </a:ext>
                </a:extLst>
              </a:tr>
              <a:tr h="100604">
                <a:tc>
                  <a:txBody>
                    <a:bodyPr/>
                    <a:lstStyle/>
                    <a:p>
                      <a:pPr algn="r"/>
                      <a:r>
                        <a:rPr lang="pt-BR" sz="1600" dirty="0"/>
                        <a:t>6</a:t>
                      </a:r>
                    </a:p>
                  </a:txBody>
                  <a:tcPr marT="3600" marB="3600"/>
                </a:tc>
                <a:tc>
                  <a:txBody>
                    <a:bodyPr/>
                    <a:lstStyle/>
                    <a:p>
                      <a:pPr algn="r"/>
                      <a:r>
                        <a:rPr lang="pt-BR" sz="1600" dirty="0"/>
                        <a:t>110</a:t>
                      </a:r>
                    </a:p>
                  </a:txBody>
                  <a:tcPr marT="3600" marB="3600"/>
                </a:tc>
                <a:tc>
                  <a:txBody>
                    <a:bodyPr/>
                    <a:lstStyle/>
                    <a:p>
                      <a:pPr algn="r"/>
                      <a:r>
                        <a:rPr lang="pt-BR" sz="1600" dirty="0"/>
                        <a:t>6</a:t>
                      </a:r>
                    </a:p>
                  </a:txBody>
                  <a:tcPr marT="3600" marB="3600"/>
                </a:tc>
                <a:tc>
                  <a:txBody>
                    <a:bodyPr/>
                    <a:lstStyle/>
                    <a:p>
                      <a:pPr algn="r"/>
                      <a:r>
                        <a:rPr lang="pt-BR" sz="1600" dirty="0"/>
                        <a:t>6</a:t>
                      </a:r>
                    </a:p>
                  </a:txBody>
                  <a:tcPr marT="3600" marB="3600"/>
                </a:tc>
                <a:extLst>
                  <a:ext uri="{0D108BD9-81ED-4DB2-BD59-A6C34878D82A}">
                    <a16:rowId xmlns:a16="http://schemas.microsoft.com/office/drawing/2014/main" val="10007"/>
                  </a:ext>
                </a:extLst>
              </a:tr>
              <a:tr h="100604">
                <a:tc>
                  <a:txBody>
                    <a:bodyPr/>
                    <a:lstStyle/>
                    <a:p>
                      <a:pPr algn="r"/>
                      <a:r>
                        <a:rPr lang="pt-BR" sz="1600" dirty="0"/>
                        <a:t>7</a:t>
                      </a:r>
                    </a:p>
                  </a:txBody>
                  <a:tcPr marT="3600" marB="3600"/>
                </a:tc>
                <a:tc>
                  <a:txBody>
                    <a:bodyPr/>
                    <a:lstStyle/>
                    <a:p>
                      <a:pPr algn="r"/>
                      <a:r>
                        <a:rPr lang="pt-BR" sz="1600" dirty="0"/>
                        <a:t>111</a:t>
                      </a:r>
                    </a:p>
                  </a:txBody>
                  <a:tcPr marT="3600" marB="3600"/>
                </a:tc>
                <a:tc>
                  <a:txBody>
                    <a:bodyPr/>
                    <a:lstStyle/>
                    <a:p>
                      <a:pPr algn="r"/>
                      <a:r>
                        <a:rPr lang="pt-BR" sz="1600" dirty="0"/>
                        <a:t>7</a:t>
                      </a:r>
                    </a:p>
                  </a:txBody>
                  <a:tcPr marT="3600" marB="3600"/>
                </a:tc>
                <a:tc>
                  <a:txBody>
                    <a:bodyPr/>
                    <a:lstStyle/>
                    <a:p>
                      <a:pPr algn="r"/>
                      <a:r>
                        <a:rPr lang="pt-BR" sz="1600" dirty="0"/>
                        <a:t>7</a:t>
                      </a:r>
                    </a:p>
                  </a:txBody>
                  <a:tcPr marT="3600" marB="3600"/>
                </a:tc>
                <a:extLst>
                  <a:ext uri="{0D108BD9-81ED-4DB2-BD59-A6C34878D82A}">
                    <a16:rowId xmlns:a16="http://schemas.microsoft.com/office/drawing/2014/main" val="10008"/>
                  </a:ext>
                </a:extLst>
              </a:tr>
              <a:tr h="100604">
                <a:tc>
                  <a:txBody>
                    <a:bodyPr/>
                    <a:lstStyle/>
                    <a:p>
                      <a:pPr algn="r"/>
                      <a:r>
                        <a:rPr lang="pt-BR" sz="1600" dirty="0"/>
                        <a:t>8</a:t>
                      </a:r>
                    </a:p>
                  </a:txBody>
                  <a:tcPr marT="3600" marB="3600"/>
                </a:tc>
                <a:tc>
                  <a:txBody>
                    <a:bodyPr/>
                    <a:lstStyle/>
                    <a:p>
                      <a:pPr algn="r"/>
                      <a:r>
                        <a:rPr lang="pt-BR" sz="1600" dirty="0"/>
                        <a:t>1000</a:t>
                      </a:r>
                    </a:p>
                  </a:txBody>
                  <a:tcPr marT="3600" marB="3600"/>
                </a:tc>
                <a:tc>
                  <a:txBody>
                    <a:bodyPr/>
                    <a:lstStyle/>
                    <a:p>
                      <a:pPr algn="r"/>
                      <a:r>
                        <a:rPr lang="pt-BR" sz="1600" dirty="0"/>
                        <a:t>10</a:t>
                      </a:r>
                    </a:p>
                  </a:txBody>
                  <a:tcPr marT="3600" marB="3600"/>
                </a:tc>
                <a:tc>
                  <a:txBody>
                    <a:bodyPr/>
                    <a:lstStyle/>
                    <a:p>
                      <a:pPr algn="r"/>
                      <a:r>
                        <a:rPr lang="pt-BR" sz="1600" dirty="0"/>
                        <a:t>8</a:t>
                      </a:r>
                    </a:p>
                  </a:txBody>
                  <a:tcPr marT="3600" marB="3600"/>
                </a:tc>
                <a:extLst>
                  <a:ext uri="{0D108BD9-81ED-4DB2-BD59-A6C34878D82A}">
                    <a16:rowId xmlns:a16="http://schemas.microsoft.com/office/drawing/2014/main" val="10009"/>
                  </a:ext>
                </a:extLst>
              </a:tr>
              <a:tr h="100604">
                <a:tc>
                  <a:txBody>
                    <a:bodyPr/>
                    <a:lstStyle/>
                    <a:p>
                      <a:pPr algn="r"/>
                      <a:r>
                        <a:rPr lang="pt-BR" sz="1600" dirty="0"/>
                        <a:t>9</a:t>
                      </a:r>
                    </a:p>
                  </a:txBody>
                  <a:tcPr marT="3600" marB="3600"/>
                </a:tc>
                <a:tc>
                  <a:txBody>
                    <a:bodyPr/>
                    <a:lstStyle/>
                    <a:p>
                      <a:pPr algn="r"/>
                      <a:r>
                        <a:rPr lang="pt-BR" sz="1600" dirty="0"/>
                        <a:t>1001</a:t>
                      </a:r>
                    </a:p>
                  </a:txBody>
                  <a:tcPr marT="3600" marB="3600"/>
                </a:tc>
                <a:tc>
                  <a:txBody>
                    <a:bodyPr/>
                    <a:lstStyle/>
                    <a:p>
                      <a:pPr algn="r"/>
                      <a:r>
                        <a:rPr lang="pt-BR" sz="1600" dirty="0"/>
                        <a:t>11</a:t>
                      </a:r>
                    </a:p>
                  </a:txBody>
                  <a:tcPr marT="3600" marB="3600"/>
                </a:tc>
                <a:tc>
                  <a:txBody>
                    <a:bodyPr/>
                    <a:lstStyle/>
                    <a:p>
                      <a:pPr algn="r"/>
                      <a:r>
                        <a:rPr lang="pt-BR" sz="1600" dirty="0"/>
                        <a:t>9</a:t>
                      </a:r>
                    </a:p>
                  </a:txBody>
                  <a:tcPr marT="3600" marB="3600"/>
                </a:tc>
                <a:extLst>
                  <a:ext uri="{0D108BD9-81ED-4DB2-BD59-A6C34878D82A}">
                    <a16:rowId xmlns:a16="http://schemas.microsoft.com/office/drawing/2014/main" val="10010"/>
                  </a:ext>
                </a:extLst>
              </a:tr>
              <a:tr h="100604">
                <a:tc>
                  <a:txBody>
                    <a:bodyPr/>
                    <a:lstStyle/>
                    <a:p>
                      <a:pPr algn="r"/>
                      <a:r>
                        <a:rPr lang="pt-BR" sz="1600" dirty="0"/>
                        <a:t>10</a:t>
                      </a:r>
                    </a:p>
                  </a:txBody>
                  <a:tcPr marT="3600" marB="3600"/>
                </a:tc>
                <a:tc>
                  <a:txBody>
                    <a:bodyPr/>
                    <a:lstStyle/>
                    <a:p>
                      <a:pPr algn="r"/>
                      <a:r>
                        <a:rPr lang="pt-BR" sz="1600" dirty="0"/>
                        <a:t>1010</a:t>
                      </a:r>
                    </a:p>
                  </a:txBody>
                  <a:tcPr marT="3600" marB="3600"/>
                </a:tc>
                <a:tc>
                  <a:txBody>
                    <a:bodyPr/>
                    <a:lstStyle/>
                    <a:p>
                      <a:pPr algn="r"/>
                      <a:r>
                        <a:rPr lang="pt-BR" sz="1600" dirty="0"/>
                        <a:t>12</a:t>
                      </a:r>
                    </a:p>
                  </a:txBody>
                  <a:tcPr marT="3600" marB="3600"/>
                </a:tc>
                <a:tc>
                  <a:txBody>
                    <a:bodyPr/>
                    <a:lstStyle/>
                    <a:p>
                      <a:pPr algn="r"/>
                      <a:r>
                        <a:rPr lang="pt-BR" sz="1600" dirty="0"/>
                        <a:t>A</a:t>
                      </a:r>
                    </a:p>
                  </a:txBody>
                  <a:tcPr marT="3600" marB="3600"/>
                </a:tc>
                <a:extLst>
                  <a:ext uri="{0D108BD9-81ED-4DB2-BD59-A6C34878D82A}">
                    <a16:rowId xmlns:a16="http://schemas.microsoft.com/office/drawing/2014/main" val="10011"/>
                  </a:ext>
                </a:extLst>
              </a:tr>
              <a:tr h="100604">
                <a:tc>
                  <a:txBody>
                    <a:bodyPr/>
                    <a:lstStyle/>
                    <a:p>
                      <a:pPr algn="r"/>
                      <a:r>
                        <a:rPr lang="pt-BR" sz="1600" dirty="0"/>
                        <a:t>11</a:t>
                      </a:r>
                    </a:p>
                  </a:txBody>
                  <a:tcPr marT="3600" marB="3600"/>
                </a:tc>
                <a:tc>
                  <a:txBody>
                    <a:bodyPr/>
                    <a:lstStyle/>
                    <a:p>
                      <a:pPr algn="r"/>
                      <a:r>
                        <a:rPr lang="pt-BR" sz="1600" dirty="0"/>
                        <a:t>1011</a:t>
                      </a:r>
                    </a:p>
                  </a:txBody>
                  <a:tcPr marT="3600" marB="3600"/>
                </a:tc>
                <a:tc>
                  <a:txBody>
                    <a:bodyPr/>
                    <a:lstStyle/>
                    <a:p>
                      <a:pPr algn="r"/>
                      <a:r>
                        <a:rPr lang="pt-BR" sz="1600" dirty="0"/>
                        <a:t>13</a:t>
                      </a:r>
                    </a:p>
                  </a:txBody>
                  <a:tcPr marT="3600" marB="3600"/>
                </a:tc>
                <a:tc>
                  <a:txBody>
                    <a:bodyPr/>
                    <a:lstStyle/>
                    <a:p>
                      <a:pPr algn="r"/>
                      <a:r>
                        <a:rPr lang="pt-BR" sz="1600" dirty="0" err="1"/>
                        <a:t>B</a:t>
                      </a:r>
                      <a:endParaRPr lang="pt-BR" sz="1600" dirty="0"/>
                    </a:p>
                  </a:txBody>
                  <a:tcPr marT="3600" marB="3600"/>
                </a:tc>
                <a:extLst>
                  <a:ext uri="{0D108BD9-81ED-4DB2-BD59-A6C34878D82A}">
                    <a16:rowId xmlns:a16="http://schemas.microsoft.com/office/drawing/2014/main" val="10012"/>
                  </a:ext>
                </a:extLst>
              </a:tr>
              <a:tr h="100604">
                <a:tc>
                  <a:txBody>
                    <a:bodyPr/>
                    <a:lstStyle/>
                    <a:p>
                      <a:pPr algn="r"/>
                      <a:r>
                        <a:rPr lang="pt-BR" sz="1600" dirty="0"/>
                        <a:t>12</a:t>
                      </a:r>
                    </a:p>
                  </a:txBody>
                  <a:tcPr marT="3600" marB="3600"/>
                </a:tc>
                <a:tc>
                  <a:txBody>
                    <a:bodyPr/>
                    <a:lstStyle/>
                    <a:p>
                      <a:pPr algn="r"/>
                      <a:r>
                        <a:rPr lang="pt-BR" sz="1600" dirty="0"/>
                        <a:t>1100</a:t>
                      </a:r>
                    </a:p>
                  </a:txBody>
                  <a:tcPr marT="3600" marB="3600"/>
                </a:tc>
                <a:tc>
                  <a:txBody>
                    <a:bodyPr/>
                    <a:lstStyle/>
                    <a:p>
                      <a:pPr algn="r"/>
                      <a:r>
                        <a:rPr lang="pt-BR" sz="1600" dirty="0"/>
                        <a:t>14</a:t>
                      </a:r>
                    </a:p>
                  </a:txBody>
                  <a:tcPr marT="3600" marB="3600"/>
                </a:tc>
                <a:tc>
                  <a:txBody>
                    <a:bodyPr/>
                    <a:lstStyle/>
                    <a:p>
                      <a:pPr algn="r"/>
                      <a:r>
                        <a:rPr lang="pt-BR" sz="1600" dirty="0"/>
                        <a:t>C</a:t>
                      </a:r>
                    </a:p>
                  </a:txBody>
                  <a:tcPr marT="3600" marB="3600"/>
                </a:tc>
                <a:extLst>
                  <a:ext uri="{0D108BD9-81ED-4DB2-BD59-A6C34878D82A}">
                    <a16:rowId xmlns:a16="http://schemas.microsoft.com/office/drawing/2014/main" val="10013"/>
                  </a:ext>
                </a:extLst>
              </a:tr>
              <a:tr h="100604">
                <a:tc>
                  <a:txBody>
                    <a:bodyPr/>
                    <a:lstStyle/>
                    <a:p>
                      <a:pPr algn="r"/>
                      <a:r>
                        <a:rPr lang="pt-BR" sz="1600" dirty="0"/>
                        <a:t>13</a:t>
                      </a:r>
                    </a:p>
                  </a:txBody>
                  <a:tcPr marT="3600" marB="3600"/>
                </a:tc>
                <a:tc>
                  <a:txBody>
                    <a:bodyPr/>
                    <a:lstStyle/>
                    <a:p>
                      <a:pPr algn="r"/>
                      <a:r>
                        <a:rPr lang="pt-BR" sz="1600" dirty="0"/>
                        <a:t>1101</a:t>
                      </a:r>
                    </a:p>
                  </a:txBody>
                  <a:tcPr marT="3600" marB="3600"/>
                </a:tc>
                <a:tc>
                  <a:txBody>
                    <a:bodyPr/>
                    <a:lstStyle/>
                    <a:p>
                      <a:pPr algn="r"/>
                      <a:r>
                        <a:rPr lang="pt-BR" sz="1600" dirty="0"/>
                        <a:t>15</a:t>
                      </a:r>
                    </a:p>
                  </a:txBody>
                  <a:tcPr marT="3600" marB="3600"/>
                </a:tc>
                <a:tc>
                  <a:txBody>
                    <a:bodyPr/>
                    <a:lstStyle/>
                    <a:p>
                      <a:pPr algn="r"/>
                      <a:r>
                        <a:rPr lang="pt-BR" sz="1600" dirty="0" err="1"/>
                        <a:t>D</a:t>
                      </a:r>
                      <a:endParaRPr lang="pt-BR" sz="1600" dirty="0"/>
                    </a:p>
                  </a:txBody>
                  <a:tcPr marT="3600" marB="3600"/>
                </a:tc>
                <a:extLst>
                  <a:ext uri="{0D108BD9-81ED-4DB2-BD59-A6C34878D82A}">
                    <a16:rowId xmlns:a16="http://schemas.microsoft.com/office/drawing/2014/main" val="10014"/>
                  </a:ext>
                </a:extLst>
              </a:tr>
              <a:tr h="100604">
                <a:tc>
                  <a:txBody>
                    <a:bodyPr/>
                    <a:lstStyle/>
                    <a:p>
                      <a:pPr algn="r"/>
                      <a:r>
                        <a:rPr lang="pt-BR" sz="1600" dirty="0"/>
                        <a:t>14</a:t>
                      </a:r>
                    </a:p>
                  </a:txBody>
                  <a:tcPr marT="3600" marB="3600"/>
                </a:tc>
                <a:tc>
                  <a:txBody>
                    <a:bodyPr/>
                    <a:lstStyle/>
                    <a:p>
                      <a:pPr algn="r"/>
                      <a:r>
                        <a:rPr lang="pt-BR" sz="1600" dirty="0"/>
                        <a:t>1110</a:t>
                      </a:r>
                    </a:p>
                  </a:txBody>
                  <a:tcPr marT="3600" marB="3600"/>
                </a:tc>
                <a:tc>
                  <a:txBody>
                    <a:bodyPr/>
                    <a:lstStyle/>
                    <a:p>
                      <a:pPr algn="r"/>
                      <a:r>
                        <a:rPr lang="pt-BR" sz="1600" dirty="0"/>
                        <a:t>16</a:t>
                      </a:r>
                    </a:p>
                  </a:txBody>
                  <a:tcPr marT="3600" marB="3600"/>
                </a:tc>
                <a:tc>
                  <a:txBody>
                    <a:bodyPr/>
                    <a:lstStyle/>
                    <a:p>
                      <a:pPr algn="r"/>
                      <a:r>
                        <a:rPr lang="pt-BR" sz="1600" dirty="0"/>
                        <a:t>E</a:t>
                      </a:r>
                    </a:p>
                  </a:txBody>
                  <a:tcPr marT="3600" marB="3600"/>
                </a:tc>
                <a:extLst>
                  <a:ext uri="{0D108BD9-81ED-4DB2-BD59-A6C34878D82A}">
                    <a16:rowId xmlns:a16="http://schemas.microsoft.com/office/drawing/2014/main" val="10015"/>
                  </a:ext>
                </a:extLst>
              </a:tr>
              <a:tr h="100604">
                <a:tc>
                  <a:txBody>
                    <a:bodyPr/>
                    <a:lstStyle/>
                    <a:p>
                      <a:pPr algn="r"/>
                      <a:r>
                        <a:rPr lang="pt-BR" sz="1600" dirty="0"/>
                        <a:t>15</a:t>
                      </a:r>
                    </a:p>
                  </a:txBody>
                  <a:tcPr marT="3600" marB="3600"/>
                </a:tc>
                <a:tc>
                  <a:txBody>
                    <a:bodyPr/>
                    <a:lstStyle/>
                    <a:p>
                      <a:pPr algn="r"/>
                      <a:r>
                        <a:rPr lang="pt-BR" sz="1600" dirty="0"/>
                        <a:t>1111</a:t>
                      </a:r>
                    </a:p>
                  </a:txBody>
                  <a:tcPr marT="3600" marB="3600"/>
                </a:tc>
                <a:tc>
                  <a:txBody>
                    <a:bodyPr/>
                    <a:lstStyle/>
                    <a:p>
                      <a:pPr algn="r"/>
                      <a:r>
                        <a:rPr lang="pt-BR" sz="1600" dirty="0"/>
                        <a:t>17</a:t>
                      </a:r>
                    </a:p>
                  </a:txBody>
                  <a:tcPr marT="3600" marB="3600"/>
                </a:tc>
                <a:tc>
                  <a:txBody>
                    <a:bodyPr/>
                    <a:lstStyle/>
                    <a:p>
                      <a:pPr algn="r"/>
                      <a:r>
                        <a:rPr lang="pt-BR" sz="1600" dirty="0" err="1"/>
                        <a:t>F</a:t>
                      </a:r>
                      <a:endParaRPr lang="pt-BR" sz="1600" dirty="0"/>
                    </a:p>
                  </a:txBody>
                  <a:tcPr marT="3600" marB="3600"/>
                </a:tc>
                <a:extLst>
                  <a:ext uri="{0D108BD9-81ED-4DB2-BD59-A6C34878D82A}">
                    <a16:rowId xmlns:a16="http://schemas.microsoft.com/office/drawing/2014/main" val="10016"/>
                  </a:ext>
                </a:extLst>
              </a:tr>
              <a:tr h="100604">
                <a:tc>
                  <a:txBody>
                    <a:bodyPr/>
                    <a:lstStyle/>
                    <a:p>
                      <a:pPr algn="r"/>
                      <a:r>
                        <a:rPr lang="pt-BR" sz="1600" dirty="0"/>
                        <a:t>16</a:t>
                      </a:r>
                    </a:p>
                  </a:txBody>
                  <a:tcPr marT="3600" marB="3600"/>
                </a:tc>
                <a:tc>
                  <a:txBody>
                    <a:bodyPr/>
                    <a:lstStyle/>
                    <a:p>
                      <a:pPr algn="r"/>
                      <a:r>
                        <a:rPr lang="pt-BR" sz="1600" dirty="0"/>
                        <a:t>10000</a:t>
                      </a:r>
                    </a:p>
                  </a:txBody>
                  <a:tcPr marT="3600" marB="3600"/>
                </a:tc>
                <a:tc>
                  <a:txBody>
                    <a:bodyPr/>
                    <a:lstStyle/>
                    <a:p>
                      <a:pPr algn="r"/>
                      <a:r>
                        <a:rPr lang="pt-BR" sz="1600" dirty="0"/>
                        <a:t>20</a:t>
                      </a:r>
                    </a:p>
                  </a:txBody>
                  <a:tcPr marT="3600" marB="3600"/>
                </a:tc>
                <a:tc>
                  <a:txBody>
                    <a:bodyPr/>
                    <a:lstStyle/>
                    <a:p>
                      <a:pPr algn="r"/>
                      <a:r>
                        <a:rPr lang="pt-BR" sz="1600" dirty="0"/>
                        <a:t>10</a:t>
                      </a:r>
                    </a:p>
                  </a:txBody>
                  <a:tcPr marT="3600" marB="3600"/>
                </a:tc>
                <a:extLst>
                  <a:ext uri="{0D108BD9-81ED-4DB2-BD59-A6C34878D82A}">
                    <a16:rowId xmlns:a16="http://schemas.microsoft.com/office/drawing/2014/main" val="10017"/>
                  </a:ext>
                </a:extLst>
              </a:tr>
              <a:tr h="100604">
                <a:tc>
                  <a:txBody>
                    <a:bodyPr/>
                    <a:lstStyle/>
                    <a:p>
                      <a:pPr algn="r"/>
                      <a:r>
                        <a:rPr lang="pt-BR" sz="1600" dirty="0"/>
                        <a:t>17</a:t>
                      </a:r>
                    </a:p>
                  </a:txBody>
                  <a:tcPr marT="3600" marB="3600"/>
                </a:tc>
                <a:tc>
                  <a:txBody>
                    <a:bodyPr/>
                    <a:lstStyle/>
                    <a:p>
                      <a:pPr algn="r"/>
                      <a:r>
                        <a:rPr lang="pt-BR" sz="1600" dirty="0"/>
                        <a:t>10001</a:t>
                      </a:r>
                    </a:p>
                  </a:txBody>
                  <a:tcPr marT="3600" marB="3600"/>
                </a:tc>
                <a:tc>
                  <a:txBody>
                    <a:bodyPr/>
                    <a:lstStyle/>
                    <a:p>
                      <a:pPr algn="r"/>
                      <a:r>
                        <a:rPr lang="pt-BR" sz="1600" dirty="0"/>
                        <a:t>21</a:t>
                      </a:r>
                    </a:p>
                  </a:txBody>
                  <a:tcPr marT="3600" marB="3600"/>
                </a:tc>
                <a:tc>
                  <a:txBody>
                    <a:bodyPr/>
                    <a:lstStyle/>
                    <a:p>
                      <a:pPr algn="r"/>
                      <a:r>
                        <a:rPr lang="pt-BR" sz="1600" dirty="0"/>
                        <a:t>11</a:t>
                      </a:r>
                    </a:p>
                  </a:txBody>
                  <a:tcPr marT="3600" marB="3600"/>
                </a:tc>
                <a:extLst>
                  <a:ext uri="{0D108BD9-81ED-4DB2-BD59-A6C34878D82A}">
                    <a16:rowId xmlns:a16="http://schemas.microsoft.com/office/drawing/2014/main" val="10018"/>
                  </a:ext>
                </a:extLst>
              </a:tr>
              <a:tr h="100604">
                <a:tc>
                  <a:txBody>
                    <a:bodyPr/>
                    <a:lstStyle/>
                    <a:p>
                      <a:pPr algn="r"/>
                      <a:r>
                        <a:rPr lang="pt-BR" sz="1600" dirty="0"/>
                        <a:t>18</a:t>
                      </a:r>
                    </a:p>
                  </a:txBody>
                  <a:tcPr marT="3600" marB="3600"/>
                </a:tc>
                <a:tc>
                  <a:txBody>
                    <a:bodyPr/>
                    <a:lstStyle/>
                    <a:p>
                      <a:pPr algn="r"/>
                      <a:r>
                        <a:rPr lang="pt-BR" sz="1600" dirty="0"/>
                        <a:t>10010</a:t>
                      </a:r>
                    </a:p>
                  </a:txBody>
                  <a:tcPr marT="3600" marB="3600"/>
                </a:tc>
                <a:tc>
                  <a:txBody>
                    <a:bodyPr/>
                    <a:lstStyle/>
                    <a:p>
                      <a:pPr algn="r"/>
                      <a:r>
                        <a:rPr lang="pt-BR" sz="1600" dirty="0"/>
                        <a:t>22</a:t>
                      </a:r>
                    </a:p>
                  </a:txBody>
                  <a:tcPr marT="3600" marB="3600"/>
                </a:tc>
                <a:tc>
                  <a:txBody>
                    <a:bodyPr/>
                    <a:lstStyle/>
                    <a:p>
                      <a:pPr algn="r"/>
                      <a:r>
                        <a:rPr lang="pt-BR" sz="1600" dirty="0"/>
                        <a:t>12</a:t>
                      </a:r>
                    </a:p>
                  </a:txBody>
                  <a:tcPr marT="3600" marB="3600"/>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0108021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Dados Binários (e Hexadecimais)</a:t>
            </a:r>
          </a:p>
        </p:txBody>
      </p:sp>
      <p:sp>
        <p:nvSpPr>
          <p:cNvPr id="3" name="Content Placeholder 2"/>
          <p:cNvSpPr>
            <a:spLocks noGrp="1"/>
          </p:cNvSpPr>
          <p:nvPr>
            <p:ph idx="1"/>
          </p:nvPr>
        </p:nvSpPr>
        <p:spPr/>
        <p:txBody>
          <a:bodyPr/>
          <a:lstStyle/>
          <a:p>
            <a:r>
              <a:rPr lang="pt-BR" dirty="0"/>
              <a:t>Cada dígito binário representa um bit. </a:t>
            </a:r>
            <a:r>
              <a:rPr lang="en-BR" dirty="0"/>
              <a:t>Um byte possui 8 bits. Dados são frequentemente organizados em grupos de 1, 2, 4 ou 8 bytes (8, 16, 32 ou 64 bits).</a:t>
            </a:r>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9</a:t>
            </a:fld>
            <a:endParaRPr lang="pt-BR" dirty="0"/>
          </a:p>
        </p:txBody>
      </p:sp>
      <p:grpSp>
        <p:nvGrpSpPr>
          <p:cNvPr id="6" name="Group 17"/>
          <p:cNvGrpSpPr>
            <a:grpSpLocks/>
          </p:cNvGrpSpPr>
          <p:nvPr/>
        </p:nvGrpSpPr>
        <p:grpSpPr bwMode="auto">
          <a:xfrm>
            <a:off x="2085975" y="3746814"/>
            <a:ext cx="4648200" cy="508000"/>
            <a:chOff x="1905000" y="3886200"/>
            <a:chExt cx="7086600" cy="773723"/>
          </a:xfrm>
        </p:grpSpPr>
        <p:sp>
          <p:nvSpPr>
            <p:cNvPr id="7" name="Rectangle 6"/>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8" name="Rectangle 7"/>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9" name="Rectangle 8"/>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0" name="Rectangle 9"/>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dirty="0">
                  <a:solidFill>
                    <a:srgbClr val="000000"/>
                  </a:solidFill>
                  <a:latin typeface="+mn-lt"/>
                </a:rPr>
                <a:t>1</a:t>
              </a:r>
              <a:endParaRPr lang="en-US" sz="2800" dirty="0">
                <a:solidFill>
                  <a:srgbClr val="000000"/>
                </a:solidFill>
                <a:latin typeface="+mn-lt"/>
              </a:endParaRPr>
            </a:p>
          </p:txBody>
        </p:sp>
        <p:sp>
          <p:nvSpPr>
            <p:cNvPr id="11" name="Rectangle 10"/>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2" name="Rectangle 11"/>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3" name="Rectangle 12"/>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4" name="Rectangle 13"/>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grpSp>
        <p:nvGrpSpPr>
          <p:cNvPr id="25" name="Group 24"/>
          <p:cNvGrpSpPr/>
          <p:nvPr/>
        </p:nvGrpSpPr>
        <p:grpSpPr>
          <a:xfrm>
            <a:off x="352153" y="4313418"/>
            <a:ext cx="3036138" cy="1297536"/>
            <a:chOff x="352153" y="4313418"/>
            <a:chExt cx="3036138" cy="1297536"/>
          </a:xfrm>
        </p:grpSpPr>
        <p:sp>
          <p:nvSpPr>
            <p:cNvPr id="15" name="Rectangle 14"/>
            <p:cNvSpPr/>
            <p:nvPr/>
          </p:nvSpPr>
          <p:spPr>
            <a:xfrm>
              <a:off x="352153" y="4697884"/>
              <a:ext cx="3036138" cy="913070"/>
            </a:xfrm>
            <a:prstGeom prst="rect">
              <a:avLst/>
            </a:prstGeom>
            <a:ln>
              <a:solidFill>
                <a:srgbClr val="000000"/>
              </a:solidFill>
              <a:prstDash val="sysDash"/>
            </a:ln>
          </p:spPr>
          <p:txBody>
            <a:bodyPr wrap="none">
              <a:spAutoFit/>
            </a:bodyPr>
            <a:lstStyle/>
            <a:p>
              <a:pPr algn="ctr"/>
              <a:r>
                <a:rPr lang="pt-BR" sz="3200" baseline="30000" dirty="0"/>
                <a:t>bit</a:t>
              </a:r>
              <a:r>
                <a:rPr lang="pt-BR" sz="3200" dirty="0"/>
                <a:t> </a:t>
              </a:r>
              <a:r>
                <a:rPr lang="pt-BR" sz="3200" baseline="30000" dirty="0"/>
                <a:t>mais significativo</a:t>
              </a:r>
            </a:p>
            <a:p>
              <a:pPr algn="ctr"/>
              <a:r>
                <a:rPr lang="en-US" sz="3200" baseline="30000" dirty="0"/>
                <a:t>(MSB) most significant bit</a:t>
              </a:r>
              <a:endParaRPr lang="en-US" sz="3200" dirty="0"/>
            </a:p>
          </p:txBody>
        </p:sp>
        <p:cxnSp>
          <p:nvCxnSpPr>
            <p:cNvPr id="16" name="Straight Arrow Connector 15"/>
            <p:cNvCxnSpPr>
              <a:stCxn id="15" idx="0"/>
            </p:cNvCxnSpPr>
            <p:nvPr/>
          </p:nvCxnSpPr>
          <p:spPr>
            <a:xfrm flipV="1">
              <a:off x="1870222" y="4313418"/>
              <a:ext cx="215753" cy="384466"/>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5685599" y="4289460"/>
            <a:ext cx="2990237" cy="1297536"/>
            <a:chOff x="5685599" y="4289460"/>
            <a:chExt cx="2990237" cy="1297536"/>
          </a:xfrm>
        </p:grpSpPr>
        <p:sp>
          <p:nvSpPr>
            <p:cNvPr id="19" name="Rectangle 18"/>
            <p:cNvSpPr/>
            <p:nvPr/>
          </p:nvSpPr>
          <p:spPr>
            <a:xfrm>
              <a:off x="5685599" y="4673926"/>
              <a:ext cx="2990237" cy="913070"/>
            </a:xfrm>
            <a:prstGeom prst="rect">
              <a:avLst/>
            </a:prstGeom>
            <a:ln>
              <a:solidFill>
                <a:srgbClr val="000000"/>
              </a:solidFill>
              <a:prstDash val="sysDash"/>
            </a:ln>
          </p:spPr>
          <p:txBody>
            <a:bodyPr wrap="square">
              <a:spAutoFit/>
            </a:bodyPr>
            <a:lstStyle/>
            <a:p>
              <a:pPr algn="ctr"/>
              <a:r>
                <a:rPr lang="pt-BR" sz="3200" baseline="30000" dirty="0"/>
                <a:t>bit</a:t>
              </a:r>
              <a:r>
                <a:rPr lang="pt-BR" sz="3200" dirty="0"/>
                <a:t> </a:t>
              </a:r>
              <a:r>
                <a:rPr lang="pt-BR" sz="3200" baseline="30000" dirty="0"/>
                <a:t>menos significativo</a:t>
              </a:r>
            </a:p>
            <a:p>
              <a:pPr algn="ctr"/>
              <a:r>
                <a:rPr lang="en-US" sz="3200" baseline="30000" dirty="0"/>
                <a:t>(LSB) least significant bit</a:t>
              </a:r>
              <a:endParaRPr lang="en-US" sz="3200" dirty="0"/>
            </a:p>
          </p:txBody>
        </p:sp>
        <p:cxnSp>
          <p:nvCxnSpPr>
            <p:cNvPr id="20" name="Straight Arrow Connector 19"/>
            <p:cNvCxnSpPr>
              <a:stCxn id="19" idx="0"/>
            </p:cNvCxnSpPr>
            <p:nvPr/>
          </p:nvCxnSpPr>
          <p:spPr>
            <a:xfrm flipH="1" flipV="1">
              <a:off x="6758136" y="4289460"/>
              <a:ext cx="422582" cy="384466"/>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sp>
        <p:nvSpPr>
          <p:cNvPr id="17" name="Left Brace 16"/>
          <p:cNvSpPr/>
          <p:nvPr/>
        </p:nvSpPr>
        <p:spPr>
          <a:xfrm rot="5400000">
            <a:off x="3052349" y="2299295"/>
            <a:ext cx="373890" cy="23066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2" name="Left Brace 21"/>
          <p:cNvSpPr/>
          <p:nvPr/>
        </p:nvSpPr>
        <p:spPr>
          <a:xfrm rot="5400000">
            <a:off x="5393912" y="2299295"/>
            <a:ext cx="373890" cy="23066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 name="Rectangle 17"/>
          <p:cNvSpPr/>
          <p:nvPr/>
        </p:nvSpPr>
        <p:spPr>
          <a:xfrm>
            <a:off x="2390379" y="2590849"/>
            <a:ext cx="4341999" cy="707886"/>
          </a:xfrm>
          <a:prstGeom prst="rect">
            <a:avLst/>
          </a:prstGeom>
        </p:spPr>
        <p:txBody>
          <a:bodyPr wrap="square">
            <a:spAutoFit/>
          </a:bodyPr>
          <a:lstStyle/>
          <a:p>
            <a:r>
              <a:rPr lang="pt-BR" sz="4000" noProof="1"/>
              <a:t>0 x F              </a:t>
            </a:r>
            <a:r>
              <a:rPr lang="pt-BR" sz="2000" noProof="1"/>
              <a:t> </a:t>
            </a:r>
            <a:r>
              <a:rPr lang="pt-BR" sz="4000" noProof="1"/>
              <a:t>    F</a:t>
            </a:r>
          </a:p>
        </p:txBody>
      </p:sp>
      <p:sp>
        <p:nvSpPr>
          <p:cNvPr id="23" name="Rectangle 22"/>
          <p:cNvSpPr/>
          <p:nvPr/>
        </p:nvSpPr>
        <p:spPr>
          <a:xfrm>
            <a:off x="524893" y="3799390"/>
            <a:ext cx="846707" cy="369332"/>
          </a:xfrm>
          <a:prstGeom prst="rect">
            <a:avLst/>
          </a:prstGeom>
        </p:spPr>
        <p:txBody>
          <a:bodyPr wrap="none">
            <a:spAutoFit/>
          </a:bodyPr>
          <a:lstStyle/>
          <a:p>
            <a:r>
              <a:rPr lang="pt-BR" dirty="0">
                <a:solidFill>
                  <a:srgbClr val="002060"/>
                </a:solidFill>
              </a:rPr>
              <a:t>binário</a:t>
            </a:r>
          </a:p>
        </p:txBody>
      </p:sp>
      <p:sp>
        <p:nvSpPr>
          <p:cNvPr id="24" name="Rectangle 23"/>
          <p:cNvSpPr/>
          <p:nvPr/>
        </p:nvSpPr>
        <p:spPr>
          <a:xfrm>
            <a:off x="524892" y="2823504"/>
            <a:ext cx="1360052" cy="369332"/>
          </a:xfrm>
          <a:prstGeom prst="rect">
            <a:avLst/>
          </a:prstGeom>
        </p:spPr>
        <p:txBody>
          <a:bodyPr wrap="none">
            <a:spAutoFit/>
          </a:bodyPr>
          <a:lstStyle/>
          <a:p>
            <a:r>
              <a:rPr lang="pt-BR" dirty="0">
                <a:solidFill>
                  <a:srgbClr val="002060"/>
                </a:solidFill>
              </a:rPr>
              <a:t>hexadecimal</a:t>
            </a:r>
          </a:p>
        </p:txBody>
      </p:sp>
    </p:spTree>
    <p:custDataLst>
      <p:tags r:id="rId1"/>
    </p:custDataLst>
    <p:extLst>
      <p:ext uri="{BB962C8B-B14F-4D97-AF65-F5344CB8AC3E}">
        <p14:creationId xmlns:p14="http://schemas.microsoft.com/office/powerpoint/2010/main" val="8492120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anim calcmode="lin" valueType="num">
                                      <p:cBhvr>
                                        <p:cTn id="22" dur="500" fill="hold"/>
                                        <p:tgtEl>
                                          <p:spTgt spid="17"/>
                                        </p:tgtEl>
                                        <p:attrNameLst>
                                          <p:attrName>ppt_x</p:attrName>
                                        </p:attrNameLst>
                                      </p:cBhvr>
                                      <p:tavLst>
                                        <p:tav tm="0">
                                          <p:val>
                                            <p:strVal val="#ppt_x"/>
                                          </p:val>
                                        </p:tav>
                                        <p:tav tm="100000">
                                          <p:val>
                                            <p:strVal val="#ppt_x"/>
                                          </p:val>
                                        </p:tav>
                                      </p:tavLst>
                                    </p:anim>
                                    <p:anim calcmode="lin" valueType="num">
                                      <p:cBhvr>
                                        <p:cTn id="23" dur="500" fill="hold"/>
                                        <p:tgtEl>
                                          <p:spTgt spid="17"/>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30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anim calcmode="lin" valueType="num">
                                      <p:cBhvr>
                                        <p:cTn id="27" dur="500" fill="hold"/>
                                        <p:tgtEl>
                                          <p:spTgt spid="22"/>
                                        </p:tgtEl>
                                        <p:attrNameLst>
                                          <p:attrName>ppt_x</p:attrName>
                                        </p:attrNameLst>
                                      </p:cBhvr>
                                      <p:tavLst>
                                        <p:tav tm="0">
                                          <p:val>
                                            <p:strVal val="#ppt_x"/>
                                          </p:val>
                                        </p:tav>
                                        <p:tav tm="100000">
                                          <p:val>
                                            <p:strVal val="#ppt_x"/>
                                          </p:val>
                                        </p:tav>
                                      </p:tavLst>
                                    </p:anim>
                                    <p:anim calcmode="lin" valueType="num">
                                      <p:cBhvr>
                                        <p:cTn id="28" dur="500" fill="hold"/>
                                        <p:tgtEl>
                                          <p:spTgt spid="22"/>
                                        </p:tgtEl>
                                        <p:attrNameLst>
                                          <p:attrName>ppt_y</p:attrName>
                                        </p:attrNameLst>
                                      </p:cBhvr>
                                      <p:tavLst>
                                        <p:tav tm="0">
                                          <p:val>
                                            <p:strVal val="#ppt_y-.1"/>
                                          </p:val>
                                        </p:tav>
                                        <p:tav tm="100000">
                                          <p:val>
                                            <p:strVal val="#ppt_y"/>
                                          </p:val>
                                        </p:tav>
                                      </p:tavLst>
                                    </p:anim>
                                  </p:childTnLst>
                                </p:cTn>
                              </p:par>
                            </p:childTnLst>
                          </p:cTn>
                        </p:par>
                        <p:par>
                          <p:cTn id="29" fill="hold">
                            <p:stCondLst>
                              <p:cond delay="800"/>
                            </p:stCondLst>
                            <p:childTnLst>
                              <p:par>
                                <p:cTn id="30" presetID="1" presetClass="entr" presetSubtype="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P spid="18" grpId="0"/>
      <p:bldP spid="23"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em base 10 </a:t>
            </a:r>
          </a:p>
        </p:txBody>
      </p:sp>
      <p:sp>
        <p:nvSpPr>
          <p:cNvPr id="3" name="Content Placeholder 2"/>
          <p:cNvSpPr>
            <a:spLocks noGrp="1"/>
          </p:cNvSpPr>
          <p:nvPr>
            <p:ph idx="1"/>
          </p:nvPr>
        </p:nvSpPr>
        <p:spPr>
          <a:xfrm>
            <a:off x="1056038" y="4103280"/>
            <a:ext cx="7206742" cy="697245"/>
          </a:xfrm>
        </p:spPr>
        <p:txBody>
          <a:bodyPr>
            <a:noAutofit/>
          </a:bodyPr>
          <a:lstStyle/>
          <a:p>
            <a:pPr algn="ctr"/>
            <a:r>
              <a:rPr lang="pt-BR" sz="2800" u="sng" dirty="0"/>
              <a:t>4</a:t>
            </a:r>
            <a:r>
              <a:rPr lang="pt-BR" sz="2800" dirty="0"/>
              <a:t>x10</a:t>
            </a:r>
            <a:r>
              <a:rPr lang="pt-BR" sz="2800" baseline="30000" dirty="0"/>
              <a:t>3</a:t>
            </a:r>
            <a:r>
              <a:rPr lang="pt-BR" sz="2800" dirty="0"/>
              <a:t> + </a:t>
            </a:r>
            <a:r>
              <a:rPr lang="pt-BR" sz="2800" u="sng" dirty="0"/>
              <a:t>7</a:t>
            </a:r>
            <a:r>
              <a:rPr lang="pt-BR" sz="2800" dirty="0"/>
              <a:t>x10</a:t>
            </a:r>
            <a:r>
              <a:rPr lang="pt-BR" sz="2800" baseline="30000" dirty="0"/>
              <a:t>2</a:t>
            </a:r>
            <a:r>
              <a:rPr lang="pt-BR" sz="2800" dirty="0"/>
              <a:t> + </a:t>
            </a:r>
            <a:r>
              <a:rPr lang="pt-BR" sz="2800" u="sng" dirty="0"/>
              <a:t>2</a:t>
            </a:r>
            <a:r>
              <a:rPr lang="pt-BR" sz="2800" dirty="0"/>
              <a:t>x10</a:t>
            </a:r>
            <a:r>
              <a:rPr lang="pt-BR" sz="2800" baseline="30000" dirty="0"/>
              <a:t>1</a:t>
            </a:r>
            <a:r>
              <a:rPr lang="pt-BR" sz="2800" dirty="0"/>
              <a:t> + </a:t>
            </a:r>
            <a:r>
              <a:rPr lang="pt-BR" sz="2800" u="sng" dirty="0"/>
              <a:t>9</a:t>
            </a:r>
            <a:r>
              <a:rPr lang="pt-BR" sz="2800" dirty="0"/>
              <a:t>x10</a:t>
            </a:r>
            <a:r>
              <a:rPr lang="pt-BR" sz="2800" baseline="30000" dirty="0"/>
              <a:t>0</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10</a:t>
            </a:fld>
            <a:endParaRPr lang="pt-BR" dirty="0"/>
          </a:p>
        </p:txBody>
      </p:sp>
      <p:sp>
        <p:nvSpPr>
          <p:cNvPr id="6" name="Rectangle 5"/>
          <p:cNvSpPr/>
          <p:nvPr/>
        </p:nvSpPr>
        <p:spPr>
          <a:xfrm>
            <a:off x="3412810" y="1931593"/>
            <a:ext cx="2264562" cy="1323439"/>
          </a:xfrm>
          <a:prstGeom prst="rect">
            <a:avLst/>
          </a:prstGeom>
        </p:spPr>
        <p:txBody>
          <a:bodyPr wrap="none">
            <a:spAutoFit/>
          </a:bodyPr>
          <a:lstStyle/>
          <a:p>
            <a:r>
              <a:rPr lang="pt-BR" sz="8000" dirty="0"/>
              <a:t>4729</a:t>
            </a:r>
          </a:p>
        </p:txBody>
      </p:sp>
      <p:cxnSp>
        <p:nvCxnSpPr>
          <p:cNvPr id="8" name="Straight Arrow Connector 7"/>
          <p:cNvCxnSpPr/>
          <p:nvPr/>
        </p:nvCxnSpPr>
        <p:spPr>
          <a:xfrm flipH="1">
            <a:off x="2040721" y="3067818"/>
            <a:ext cx="1612598"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3539153" y="3067818"/>
            <a:ext cx="627915"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4780710" y="3067818"/>
            <a:ext cx="228333"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5337271" y="3067818"/>
            <a:ext cx="1184474"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816262" y="5304349"/>
            <a:ext cx="1660280" cy="646331"/>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pt-BR" sz="3600" b="1" dirty="0"/>
              <a:t>Base 10</a:t>
            </a:r>
          </a:p>
        </p:txBody>
      </p:sp>
    </p:spTree>
    <p:extLst>
      <p:ext uri="{BB962C8B-B14F-4D97-AF65-F5344CB8AC3E}">
        <p14:creationId xmlns:p14="http://schemas.microsoft.com/office/powerpoint/2010/main" val="16430924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Exemplo em base 2</a:t>
            </a:r>
          </a:p>
        </p:txBody>
      </p:sp>
      <p:sp>
        <p:nvSpPr>
          <p:cNvPr id="3" name="Content Placeholder 2"/>
          <p:cNvSpPr>
            <a:spLocks noGrp="1"/>
          </p:cNvSpPr>
          <p:nvPr>
            <p:ph idx="1"/>
          </p:nvPr>
        </p:nvSpPr>
        <p:spPr>
          <a:xfrm>
            <a:off x="1978430" y="4103280"/>
            <a:ext cx="6577330" cy="697245"/>
          </a:xfrm>
        </p:spPr>
        <p:txBody>
          <a:bodyPr>
            <a:noAutofit/>
          </a:bodyPr>
          <a:lstStyle/>
          <a:p>
            <a:r>
              <a:rPr lang="pt-BR" sz="2800" u="sng" dirty="0"/>
              <a:t>1</a:t>
            </a:r>
            <a:r>
              <a:rPr lang="pt-BR" sz="2800" dirty="0"/>
              <a:t>x2</a:t>
            </a:r>
            <a:r>
              <a:rPr lang="pt-BR" sz="2800" baseline="30000" dirty="0"/>
              <a:t>3</a:t>
            </a:r>
            <a:r>
              <a:rPr lang="pt-BR" sz="2800" dirty="0"/>
              <a:t> + </a:t>
            </a:r>
            <a:r>
              <a:rPr lang="pt-BR" sz="2800" u="sng" dirty="0"/>
              <a:t>0</a:t>
            </a:r>
            <a:r>
              <a:rPr lang="pt-BR" sz="2800" dirty="0"/>
              <a:t>x2</a:t>
            </a:r>
            <a:r>
              <a:rPr lang="pt-BR" sz="2800" baseline="30000" dirty="0"/>
              <a:t>2</a:t>
            </a:r>
            <a:r>
              <a:rPr lang="pt-BR" sz="2800" dirty="0"/>
              <a:t> + </a:t>
            </a:r>
            <a:r>
              <a:rPr lang="pt-BR" sz="2800" u="sng" dirty="0"/>
              <a:t>0</a:t>
            </a:r>
            <a:r>
              <a:rPr lang="pt-BR" sz="2800" dirty="0"/>
              <a:t>x2</a:t>
            </a:r>
            <a:r>
              <a:rPr lang="pt-BR" sz="2800" baseline="30000" dirty="0"/>
              <a:t>1</a:t>
            </a:r>
            <a:r>
              <a:rPr lang="pt-BR" sz="2800" dirty="0"/>
              <a:t> + </a:t>
            </a:r>
            <a:r>
              <a:rPr lang="pt-BR" sz="2800" u="sng" dirty="0"/>
              <a:t>1</a:t>
            </a:r>
            <a:r>
              <a:rPr lang="pt-BR" sz="2800" dirty="0"/>
              <a:t>x2</a:t>
            </a:r>
            <a:r>
              <a:rPr lang="pt-BR" sz="2800" baseline="30000" dirty="0"/>
              <a:t>0 =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11</a:t>
            </a:fld>
            <a:endParaRPr lang="pt-BR" dirty="0"/>
          </a:p>
        </p:txBody>
      </p:sp>
      <p:sp>
        <p:nvSpPr>
          <p:cNvPr id="6" name="Rectangle 5"/>
          <p:cNvSpPr/>
          <p:nvPr/>
        </p:nvSpPr>
        <p:spPr>
          <a:xfrm>
            <a:off x="3412810" y="1931593"/>
            <a:ext cx="2576547" cy="1323439"/>
          </a:xfrm>
          <a:prstGeom prst="rect">
            <a:avLst/>
          </a:prstGeom>
        </p:spPr>
        <p:txBody>
          <a:bodyPr wrap="none">
            <a:spAutoFit/>
          </a:bodyPr>
          <a:lstStyle/>
          <a:p>
            <a:r>
              <a:rPr lang="pt-BR" sz="8000" dirty="0"/>
              <a:t>1001</a:t>
            </a:r>
            <a:r>
              <a:rPr lang="pt-BR" sz="5400" baseline="-25000" dirty="0"/>
              <a:t>2</a:t>
            </a:r>
            <a:endParaRPr lang="pt-BR" sz="8000" baseline="-25000" dirty="0"/>
          </a:p>
        </p:txBody>
      </p:sp>
      <p:cxnSp>
        <p:nvCxnSpPr>
          <p:cNvPr id="8" name="Straight Arrow Connector 7"/>
          <p:cNvCxnSpPr/>
          <p:nvPr/>
        </p:nvCxnSpPr>
        <p:spPr>
          <a:xfrm flipH="1">
            <a:off x="2426032" y="3067818"/>
            <a:ext cx="1227287"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flipH="1">
            <a:off x="3707904" y="3067818"/>
            <a:ext cx="459165" cy="1009254"/>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4780710" y="3067818"/>
            <a:ext cx="228333"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5337271" y="3067818"/>
            <a:ext cx="1013225" cy="103546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816262" y="5304349"/>
            <a:ext cx="1426292" cy="646331"/>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pt-BR" sz="3600" b="1" dirty="0"/>
              <a:t>Base 2</a:t>
            </a:r>
          </a:p>
        </p:txBody>
      </p:sp>
    </p:spTree>
    <p:extLst>
      <p:ext uri="{BB962C8B-B14F-4D97-AF65-F5344CB8AC3E}">
        <p14:creationId xmlns:p14="http://schemas.microsoft.com/office/powerpoint/2010/main" val="11263478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pt-BR" dirty="0"/>
              <a:t>Conversão para Números Binários</a:t>
            </a:r>
          </a:p>
        </p:txBody>
      </p:sp>
      <p:sp>
        <p:nvSpPr>
          <p:cNvPr id="17" name="Text Placeholder 16"/>
          <p:cNvSpPr>
            <a:spLocks noGrp="1"/>
          </p:cNvSpPr>
          <p:nvPr>
            <p:ph type="body" sz="quarter" idx="13"/>
          </p:nvPr>
        </p:nvSpPr>
        <p:spPr/>
        <p:txBody>
          <a:bodyPr/>
          <a:lstStyle/>
          <a:p>
            <a:endParaRPr lang="pt-BR"/>
          </a:p>
        </p:txBody>
      </p:sp>
      <p:sp>
        <p:nvSpPr>
          <p:cNvPr id="11" name="Slide Number Placeholder 10"/>
          <p:cNvSpPr>
            <a:spLocks noGrp="1"/>
          </p:cNvSpPr>
          <p:nvPr>
            <p:ph type="sldNum" sz="quarter" idx="4"/>
          </p:nvPr>
        </p:nvSpPr>
        <p:spPr/>
        <p:txBody>
          <a:bodyPr/>
          <a:lstStyle/>
          <a:p>
            <a:pPr>
              <a:defRPr/>
            </a:pPr>
            <a:fld id="{C77AF6B4-4C9D-4A5A-8706-A2C5B906F96F}" type="slidenum">
              <a:rPr lang="en-US" smtClean="0">
                <a:solidFill>
                  <a:srgbClr val="000000"/>
                </a:solidFill>
              </a:rPr>
              <a:pPr>
                <a:defRPr/>
              </a:pPr>
              <a:t>12</a:t>
            </a:fld>
            <a:endParaRPr lang="en-US">
              <a:solidFill>
                <a:srgbClr val="000000"/>
              </a:solidFill>
            </a:endParaRPr>
          </a:p>
        </p:txBody>
      </p:sp>
      <p:sp>
        <p:nvSpPr>
          <p:cNvPr id="5" name="Slide Number Placeholder 4"/>
          <p:cNvSpPr txBox="1">
            <a:spLocks noGrp="1"/>
          </p:cNvSpPr>
          <p:nvPr/>
        </p:nvSpPr>
        <p:spPr>
          <a:xfrm>
            <a:off x="8204200" y="6477000"/>
            <a:ext cx="733425" cy="274638"/>
          </a:xfrm>
          <a:prstGeom prst="rect">
            <a:avLst/>
          </a:prstGeom>
          <a:noFill/>
        </p:spPr>
        <p:txBody>
          <a:bodyPr bIns="0" anchor="b"/>
          <a:lstStyle/>
          <a:p>
            <a:pPr algn="r" fontAlgn="auto">
              <a:spcBef>
                <a:spcPts val="0"/>
              </a:spcBef>
              <a:spcAft>
                <a:spcPts val="0"/>
              </a:spcAft>
              <a:defRPr/>
            </a:pPr>
            <a:fld id="{86709ACC-2A15-4D3D-8928-9ED6FAC32EE0}" type="slidenum">
              <a:rPr lang="en-US" sz="1100">
                <a:solidFill>
                  <a:srgbClr val="000000"/>
                </a:solidFill>
                <a:latin typeface="+mn-lt"/>
              </a:rPr>
              <a:pPr algn="r" fontAlgn="auto">
                <a:spcBef>
                  <a:spcPts val="0"/>
                </a:spcBef>
                <a:spcAft>
                  <a:spcPts val="0"/>
                </a:spcAft>
                <a:defRPr/>
              </a:pPr>
              <a:t>12</a:t>
            </a:fld>
            <a:endParaRPr lang="en-US" sz="1100">
              <a:solidFill>
                <a:srgbClr val="000000"/>
              </a:solidFill>
              <a:latin typeface="+mn-lt"/>
            </a:endParaRPr>
          </a:p>
        </p:txBody>
      </p:sp>
      <p:sp>
        <p:nvSpPr>
          <p:cNvPr id="7" name="TextBox 6"/>
          <p:cNvSpPr txBox="1"/>
          <p:nvPr/>
        </p:nvSpPr>
        <p:spPr bwMode="auto">
          <a:xfrm>
            <a:off x="1143000" y="5542087"/>
            <a:ext cx="6858000" cy="762000"/>
          </a:xfrm>
          <a:prstGeom prst="rect">
            <a:avLst/>
          </a:prstGeom>
          <a:noFill/>
          <a:ln>
            <a:noFill/>
            <a:headEnd/>
            <a:tailEnd/>
          </a:ln>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r>
              <a:rPr lang="en-US" sz="2400" dirty="0">
                <a:solidFill>
                  <a:srgbClr val="000000"/>
                </a:solidFill>
              </a:rPr>
              <a:t>37 = 2</a:t>
            </a:r>
            <a:r>
              <a:rPr lang="en-US" sz="2400" baseline="30000" dirty="0">
                <a:solidFill>
                  <a:srgbClr val="000000"/>
                </a:solidFill>
              </a:rPr>
              <a:t>5</a:t>
            </a:r>
            <a:r>
              <a:rPr lang="en-US" sz="2400" dirty="0">
                <a:solidFill>
                  <a:srgbClr val="000000"/>
                </a:solidFill>
              </a:rPr>
              <a:t>+2</a:t>
            </a:r>
            <a:r>
              <a:rPr lang="en-US" sz="2400" baseline="30000" dirty="0">
                <a:solidFill>
                  <a:srgbClr val="000000"/>
                </a:solidFill>
              </a:rPr>
              <a:t>2</a:t>
            </a:r>
            <a:r>
              <a:rPr lang="en-US" sz="2400" dirty="0">
                <a:solidFill>
                  <a:srgbClr val="000000"/>
                </a:solidFill>
              </a:rPr>
              <a:t>+2</a:t>
            </a:r>
            <a:r>
              <a:rPr lang="en-US" sz="2400" baseline="30000" dirty="0">
                <a:solidFill>
                  <a:srgbClr val="000000"/>
                </a:solidFill>
              </a:rPr>
              <a:t>0</a:t>
            </a:r>
            <a:r>
              <a:rPr lang="en-US" dirty="0">
                <a:solidFill>
                  <a:srgbClr val="000000"/>
                </a:solidFill>
              </a:rPr>
              <a:t> </a:t>
            </a:r>
            <a:r>
              <a:rPr lang="en-US" sz="2400" dirty="0">
                <a:solidFill>
                  <a:srgbClr val="000000"/>
                </a:solidFill>
              </a:rPr>
              <a:t>= 32 + 4 + 1 = 100101</a:t>
            </a:r>
            <a:endParaRPr lang="en-US" sz="2400" baseline="30000" dirty="0">
              <a:solidFill>
                <a:srgbClr val="000000"/>
              </a:solidFill>
            </a:endParaRPr>
          </a:p>
        </p:txBody>
      </p:sp>
      <p:cxnSp>
        <p:nvCxnSpPr>
          <p:cNvPr id="10" name="Straight Arrow Connector 9"/>
          <p:cNvCxnSpPr>
            <a:cxnSpLocks/>
          </p:cNvCxnSpPr>
          <p:nvPr/>
        </p:nvCxnSpPr>
        <p:spPr>
          <a:xfrm flipH="1">
            <a:off x="5712740" y="6162799"/>
            <a:ext cx="10795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Freeform 13"/>
          <p:cNvSpPr/>
          <p:nvPr/>
        </p:nvSpPr>
        <p:spPr>
          <a:xfrm>
            <a:off x="2008188" y="2451100"/>
            <a:ext cx="4621212" cy="2730500"/>
          </a:xfrm>
          <a:custGeom>
            <a:avLst/>
            <a:gdLst>
              <a:gd name="connsiteX0" fmla="*/ 0 w 4620768"/>
              <a:gd name="connsiteY0" fmla="*/ 0 h 2731008"/>
              <a:gd name="connsiteX1" fmla="*/ 3267456 w 4620768"/>
              <a:gd name="connsiteY1" fmla="*/ 2731008 h 2731008"/>
              <a:gd name="connsiteX2" fmla="*/ 4620768 w 4620768"/>
              <a:gd name="connsiteY2" fmla="*/ 2731008 h 2731008"/>
            </a:gdLst>
            <a:ahLst/>
            <a:cxnLst>
              <a:cxn ang="0">
                <a:pos x="connsiteX0" y="connsiteY0"/>
              </a:cxn>
              <a:cxn ang="0">
                <a:pos x="connsiteX1" y="connsiteY1"/>
              </a:cxn>
              <a:cxn ang="0">
                <a:pos x="connsiteX2" y="connsiteY2"/>
              </a:cxn>
            </a:cxnLst>
            <a:rect l="l" t="t" r="r" b="b"/>
            <a:pathLst>
              <a:path w="4620768" h="2731008">
                <a:moveTo>
                  <a:pt x="0" y="0"/>
                </a:moveTo>
                <a:lnTo>
                  <a:pt x="3267456" y="2731008"/>
                </a:lnTo>
                <a:lnTo>
                  <a:pt x="4620768" y="2731008"/>
                </a:lnTo>
              </a:path>
            </a:pathLst>
          </a:cu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solidFill>
                <a:srgbClr val="000000"/>
              </a:solidFill>
            </a:endParaRPr>
          </a:p>
        </p:txBody>
      </p:sp>
      <p:graphicFrame>
        <p:nvGraphicFramePr>
          <p:cNvPr id="22" name="Table 21"/>
          <p:cNvGraphicFramePr>
            <a:graphicFrameLocks noGrp="1"/>
          </p:cNvGraphicFramePr>
          <p:nvPr>
            <p:extLst>
              <p:ext uri="{D42A27DB-BD31-4B8C-83A1-F6EECF244321}">
                <p14:modId xmlns:p14="http://schemas.microsoft.com/office/powerpoint/2010/main" val="1150557644"/>
              </p:ext>
            </p:extLst>
          </p:nvPr>
        </p:nvGraphicFramePr>
        <p:xfrm>
          <a:off x="5355704" y="3955494"/>
          <a:ext cx="1269688" cy="1159934"/>
        </p:xfrm>
        <a:graphic>
          <a:graphicData uri="http://schemas.openxmlformats.org/drawingml/2006/table">
            <a:tbl>
              <a:tblPr>
                <a:tableStyleId>{073A0DAA-6AF3-43AB-8588-CEC1D06C72B9}</a:tableStyleId>
              </a:tblPr>
              <a:tblGrid>
                <a:gridCol w="634844">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u="sng" dirty="0">
                          <a:solidFill>
                            <a:sysClr val="windowText" lastClr="000000"/>
                          </a:solidFill>
                        </a:rPr>
                        <a:t>1</a:t>
                      </a:r>
                    </a:p>
                  </a:txBody>
                  <a:tcPr anchor="ctr">
                    <a:lnL w="12700" cmpd="sng">
                      <a:noFill/>
                    </a:lnL>
                    <a:lnR w="12700" cmpd="sng">
                      <a:noFill/>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386037285"/>
              </p:ext>
            </p:extLst>
          </p:nvPr>
        </p:nvGraphicFramePr>
        <p:xfrm>
          <a:off x="4707492" y="3366835"/>
          <a:ext cx="1269688" cy="1159934"/>
        </p:xfrm>
        <a:graphic>
          <a:graphicData uri="http://schemas.openxmlformats.org/drawingml/2006/table">
            <a:tbl>
              <a:tblPr>
                <a:tableStyleId>{073A0DAA-6AF3-43AB-8588-CEC1D06C72B9}</a:tableStyleId>
              </a:tblPr>
              <a:tblGrid>
                <a:gridCol w="634844">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4087806236"/>
              </p:ext>
            </p:extLst>
          </p:nvPr>
        </p:nvGraphicFramePr>
        <p:xfrm>
          <a:off x="4045912" y="2760132"/>
          <a:ext cx="1269688" cy="1159934"/>
        </p:xfrm>
        <a:graphic>
          <a:graphicData uri="http://schemas.openxmlformats.org/drawingml/2006/table">
            <a:tbl>
              <a:tblPr>
                <a:tableStyleId>{073A0DAA-6AF3-43AB-8588-CEC1D06C72B9}</a:tableStyleId>
              </a:tblPr>
              <a:tblGrid>
                <a:gridCol w="634844">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4</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2205947150"/>
              </p:ext>
            </p:extLst>
          </p:nvPr>
        </p:nvGraphicFramePr>
        <p:xfrm>
          <a:off x="3168633" y="2140061"/>
          <a:ext cx="1498755" cy="1159934"/>
        </p:xfrm>
        <a:graphic>
          <a:graphicData uri="http://schemas.openxmlformats.org/drawingml/2006/table">
            <a:tbl>
              <a:tblPr>
                <a:tableStyleId>{073A0DAA-6AF3-43AB-8588-CEC1D06C72B9}</a:tableStyleId>
              </a:tblPr>
              <a:tblGrid>
                <a:gridCol w="863911">
                  <a:extLst>
                    <a:ext uri="{9D8B030D-6E8A-4147-A177-3AD203B41FA5}">
                      <a16:colId xmlns:a16="http://schemas.microsoft.com/office/drawing/2014/main" val="20000"/>
                    </a:ext>
                  </a:extLst>
                </a:gridCol>
                <a:gridCol w="634844">
                  <a:extLst>
                    <a:ext uri="{9D8B030D-6E8A-4147-A177-3AD203B41FA5}">
                      <a16:colId xmlns:a16="http://schemas.microsoft.com/office/drawing/2014/main" val="20001"/>
                    </a:ext>
                  </a:extLst>
                </a:gridCol>
              </a:tblGrid>
              <a:tr h="579967">
                <a:tc>
                  <a:txBody>
                    <a:bodyPr/>
                    <a:lstStyle/>
                    <a:p>
                      <a:pPr algn="ctr"/>
                      <a:endParaRPr lang="en-US" dirty="0">
                        <a:solidFill>
                          <a:sysClr val="windowText" lastClr="000000"/>
                        </a:solidFill>
                      </a:endParaRPr>
                    </a:p>
                  </a:txBody>
                  <a:tcPr anchor="ctr">
                    <a:lnL w="12700" cmpd="sng">
                      <a:noFill/>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9</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122783993"/>
              </p:ext>
            </p:extLst>
          </p:nvPr>
        </p:nvGraphicFramePr>
        <p:xfrm>
          <a:off x="2290823" y="1519990"/>
          <a:ext cx="1727822" cy="1159934"/>
        </p:xfrm>
        <a:graphic>
          <a:graphicData uri="http://schemas.openxmlformats.org/drawingml/2006/table">
            <a:tbl>
              <a:tblPr>
                <a:tableStyleId>{073A0DAA-6AF3-43AB-8588-CEC1D06C72B9}</a:tableStyleId>
              </a:tblPr>
              <a:tblGrid>
                <a:gridCol w="863911">
                  <a:extLst>
                    <a:ext uri="{9D8B030D-6E8A-4147-A177-3AD203B41FA5}">
                      <a16:colId xmlns:a16="http://schemas.microsoft.com/office/drawing/2014/main" val="20000"/>
                    </a:ext>
                  </a:extLst>
                </a:gridCol>
                <a:gridCol w="863911">
                  <a:extLst>
                    <a:ext uri="{9D8B030D-6E8A-4147-A177-3AD203B41FA5}">
                      <a16:colId xmlns:a16="http://schemas.microsoft.com/office/drawing/2014/main" val="20001"/>
                    </a:ext>
                  </a:extLst>
                </a:gridCol>
              </a:tblGrid>
              <a:tr h="579967">
                <a:tc>
                  <a:txBody>
                    <a:bodyPr/>
                    <a:lstStyle/>
                    <a:p>
                      <a:pPr algn="ctr"/>
                      <a:r>
                        <a:rPr lang="en-US" dirty="0">
                          <a:solidFill>
                            <a:sysClr val="windowText" lastClr="000000"/>
                          </a:solidFill>
                        </a:rPr>
                        <a:t>37</a:t>
                      </a:r>
                    </a:p>
                  </a:txBody>
                  <a:tcPr anchor="ctr">
                    <a:lnL w="12700" cmpd="sng">
                      <a:noFill/>
                    </a:lnL>
                    <a:lnR w="12700" cap="flat" cmpd="sng" algn="ctr">
                      <a:solidFill>
                        <a:scrgbClr r="0" g="0" b="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2</a:t>
                      </a:r>
                    </a:p>
                  </a:txBody>
                  <a:tcPr anchor="ctr">
                    <a:lnL w="12700" cap="flat" cmpd="sng" algn="ctr">
                      <a:solidFill>
                        <a:scrgbClr r="0" g="0" b="0"/>
                      </a:solidFill>
                      <a:prstDash val="solid"/>
                      <a:round/>
                      <a:headEnd type="none" w="med" len="med"/>
                      <a:tailEnd type="none" w="med" len="med"/>
                    </a:lnL>
                    <a:lnR w="12700" cmpd="sng">
                      <a:noFill/>
                    </a:lnR>
                    <a:lnT w="12700" cmpd="sng">
                      <a:noFill/>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9967">
                <a:tc>
                  <a:txBody>
                    <a:bodyPr/>
                    <a:lstStyle/>
                    <a:p>
                      <a:pPr algn="ctr"/>
                      <a:r>
                        <a:rPr lang="en-US" u="sng" dirty="0">
                          <a:solidFill>
                            <a:sysClr val="windowText" lastClr="000000"/>
                          </a:solidFill>
                        </a:rPr>
                        <a:t>1</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dirty="0">
                          <a:solidFill>
                            <a:sysClr val="windowText" lastClr="000000"/>
                          </a:solidFill>
                        </a:rPr>
                        <a:t>18</a:t>
                      </a:r>
                    </a:p>
                  </a:txBody>
                  <a:tcPr anchor="ctr">
                    <a:lnL w="12700" cmpd="sng">
                      <a:noFill/>
                    </a:lnL>
                    <a:lnR w="12700" cap="flat" cmpd="sng" algn="ctr">
                      <a:solidFill>
                        <a:schemeClr val="bg1"/>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2" name="Rectangle 1"/>
          <p:cNvSpPr/>
          <p:nvPr/>
        </p:nvSpPr>
        <p:spPr>
          <a:xfrm>
            <a:off x="2166924" y="2216261"/>
            <a:ext cx="613604" cy="369332"/>
          </a:xfrm>
          <a:prstGeom prst="rect">
            <a:avLst/>
          </a:prstGeom>
        </p:spPr>
        <p:txBody>
          <a:bodyPr wrap="square">
            <a:spAutoFit/>
          </a:bodyPr>
          <a:lstStyle/>
          <a:p>
            <a:r>
              <a:rPr lang="pt-BR" b="1" dirty="0">
                <a:solidFill>
                  <a:srgbClr val="FF0000"/>
                </a:solidFill>
              </a:rPr>
              <a:t>LSB</a:t>
            </a:r>
          </a:p>
        </p:txBody>
      </p:sp>
      <p:sp>
        <p:nvSpPr>
          <p:cNvPr id="3" name="Rectangle 2">
            <a:extLst>
              <a:ext uri="{FF2B5EF4-FFF2-40B4-BE49-F238E27FC236}">
                <a16:creationId xmlns:a16="http://schemas.microsoft.com/office/drawing/2014/main" id="{48CFDCC6-E7B7-B59B-6892-C4F2AADAB8E6}"/>
              </a:ext>
            </a:extLst>
          </p:cNvPr>
          <p:cNvSpPr/>
          <p:nvPr/>
        </p:nvSpPr>
        <p:spPr>
          <a:xfrm>
            <a:off x="6407392" y="4651273"/>
            <a:ext cx="728420" cy="369332"/>
          </a:xfrm>
          <a:prstGeom prst="rect">
            <a:avLst/>
          </a:prstGeom>
        </p:spPr>
        <p:txBody>
          <a:bodyPr wrap="square">
            <a:spAutoFit/>
          </a:bodyPr>
          <a:lstStyle/>
          <a:p>
            <a:r>
              <a:rPr lang="pt-BR" b="1" dirty="0">
                <a:solidFill>
                  <a:srgbClr val="FF0000"/>
                </a:solidFill>
              </a:rPr>
              <a:t>MSB</a:t>
            </a:r>
          </a:p>
        </p:txBody>
      </p:sp>
      <p:sp>
        <p:nvSpPr>
          <p:cNvPr id="6" name="Rectangle 5">
            <a:extLst>
              <a:ext uri="{FF2B5EF4-FFF2-40B4-BE49-F238E27FC236}">
                <a16:creationId xmlns:a16="http://schemas.microsoft.com/office/drawing/2014/main" id="{9AA8139C-D7DD-50BF-23CC-8BE04A9DAC9F}"/>
              </a:ext>
            </a:extLst>
          </p:cNvPr>
          <p:cNvSpPr/>
          <p:nvPr/>
        </p:nvSpPr>
        <p:spPr>
          <a:xfrm>
            <a:off x="6625392" y="6187153"/>
            <a:ext cx="613604" cy="369332"/>
          </a:xfrm>
          <a:prstGeom prst="rect">
            <a:avLst/>
          </a:prstGeom>
        </p:spPr>
        <p:txBody>
          <a:bodyPr wrap="square">
            <a:spAutoFit/>
          </a:bodyPr>
          <a:lstStyle/>
          <a:p>
            <a:r>
              <a:rPr lang="pt-BR" b="1" dirty="0">
                <a:solidFill>
                  <a:srgbClr val="FF0000"/>
                </a:solidFill>
              </a:rPr>
              <a:t>LSB</a:t>
            </a:r>
          </a:p>
        </p:txBody>
      </p:sp>
      <p:sp>
        <p:nvSpPr>
          <p:cNvPr id="8" name="Rectangle 7">
            <a:extLst>
              <a:ext uri="{FF2B5EF4-FFF2-40B4-BE49-F238E27FC236}">
                <a16:creationId xmlns:a16="http://schemas.microsoft.com/office/drawing/2014/main" id="{D02AA94E-B5D5-A4B8-9B77-BE04FC57F046}"/>
              </a:ext>
            </a:extLst>
          </p:cNvPr>
          <p:cNvSpPr/>
          <p:nvPr/>
        </p:nvSpPr>
        <p:spPr>
          <a:xfrm>
            <a:off x="5414370" y="6188199"/>
            <a:ext cx="728420" cy="369332"/>
          </a:xfrm>
          <a:prstGeom prst="rect">
            <a:avLst/>
          </a:prstGeom>
        </p:spPr>
        <p:txBody>
          <a:bodyPr wrap="square">
            <a:spAutoFit/>
          </a:bodyPr>
          <a:lstStyle/>
          <a:p>
            <a:r>
              <a:rPr lang="pt-BR" b="1" dirty="0">
                <a:solidFill>
                  <a:srgbClr val="FF0000"/>
                </a:solidFill>
              </a:rPr>
              <a:t>MSB</a:t>
            </a:r>
          </a:p>
        </p:txBody>
      </p:sp>
    </p:spTree>
    <p:custDataLst>
      <p:tags r:id="rId1"/>
    </p:custDataLst>
    <p:extLst>
      <p:ext uri="{BB962C8B-B14F-4D97-AF65-F5344CB8AC3E}">
        <p14:creationId xmlns:p14="http://schemas.microsoft.com/office/powerpoint/2010/main" val="21154409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2"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right)">
                                      <p:cBhvr>
                                        <p:cTn id="40" dur="500"/>
                                        <p:tgtEl>
                                          <p:spTgt spid="10"/>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6"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66EAA-394B-3484-312A-772731553839}"/>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C7DB811E-72EC-0908-BC87-C731158DF2AA}"/>
              </a:ext>
            </a:extLst>
          </p:cNvPr>
          <p:cNvSpPr>
            <a:spLocks noGrp="1"/>
          </p:cNvSpPr>
          <p:nvPr>
            <p:ph type="title"/>
          </p:nvPr>
        </p:nvSpPr>
        <p:spPr/>
        <p:txBody>
          <a:bodyPr/>
          <a:lstStyle/>
          <a:p>
            <a:r>
              <a:rPr lang="pt-BR" dirty="0"/>
              <a:t>Conversão para Números Binários</a:t>
            </a:r>
          </a:p>
        </p:txBody>
      </p:sp>
      <p:sp>
        <p:nvSpPr>
          <p:cNvPr id="17" name="Text Placeholder 16">
            <a:extLst>
              <a:ext uri="{FF2B5EF4-FFF2-40B4-BE49-F238E27FC236}">
                <a16:creationId xmlns:a16="http://schemas.microsoft.com/office/drawing/2014/main" id="{2F5091D3-1D89-7F86-1AFD-6323AFD315CF}"/>
              </a:ext>
            </a:extLst>
          </p:cNvPr>
          <p:cNvSpPr>
            <a:spLocks noGrp="1"/>
          </p:cNvSpPr>
          <p:nvPr>
            <p:ph type="body" sz="quarter" idx="13"/>
          </p:nvPr>
        </p:nvSpPr>
        <p:spPr/>
        <p:txBody>
          <a:bodyPr/>
          <a:lstStyle/>
          <a:p>
            <a:endParaRPr lang="pt-BR"/>
          </a:p>
        </p:txBody>
      </p:sp>
      <p:sp>
        <p:nvSpPr>
          <p:cNvPr id="11" name="Slide Number Placeholder 10">
            <a:extLst>
              <a:ext uri="{FF2B5EF4-FFF2-40B4-BE49-F238E27FC236}">
                <a16:creationId xmlns:a16="http://schemas.microsoft.com/office/drawing/2014/main" id="{7C0048DB-8DA2-0ECB-05EC-4D2A5047C000}"/>
              </a:ext>
            </a:extLst>
          </p:cNvPr>
          <p:cNvSpPr>
            <a:spLocks noGrp="1"/>
          </p:cNvSpPr>
          <p:nvPr>
            <p:ph type="sldNum" sz="quarter" idx="4"/>
          </p:nvPr>
        </p:nvSpPr>
        <p:spPr/>
        <p:txBody>
          <a:bodyPr/>
          <a:lstStyle/>
          <a:p>
            <a:pPr>
              <a:defRPr/>
            </a:pPr>
            <a:fld id="{C77AF6B4-4C9D-4A5A-8706-A2C5B906F96F}" type="slidenum">
              <a:rPr lang="en-US" smtClean="0">
                <a:solidFill>
                  <a:srgbClr val="000000"/>
                </a:solidFill>
              </a:rPr>
              <a:pPr>
                <a:defRPr/>
              </a:pPr>
              <a:t>13</a:t>
            </a:fld>
            <a:endParaRPr lang="en-US">
              <a:solidFill>
                <a:srgbClr val="000000"/>
              </a:solidFill>
            </a:endParaRPr>
          </a:p>
        </p:txBody>
      </p:sp>
      <p:sp>
        <p:nvSpPr>
          <p:cNvPr id="5" name="Slide Number Placeholder 4">
            <a:extLst>
              <a:ext uri="{FF2B5EF4-FFF2-40B4-BE49-F238E27FC236}">
                <a16:creationId xmlns:a16="http://schemas.microsoft.com/office/drawing/2014/main" id="{7217085B-3E96-1F14-58DB-BDF141034A39}"/>
              </a:ext>
            </a:extLst>
          </p:cNvPr>
          <p:cNvSpPr txBox="1">
            <a:spLocks noGrp="1"/>
          </p:cNvSpPr>
          <p:nvPr/>
        </p:nvSpPr>
        <p:spPr>
          <a:xfrm>
            <a:off x="8204200" y="6477000"/>
            <a:ext cx="733425" cy="274638"/>
          </a:xfrm>
          <a:prstGeom prst="rect">
            <a:avLst/>
          </a:prstGeom>
          <a:noFill/>
        </p:spPr>
        <p:txBody>
          <a:bodyPr bIns="0" anchor="b"/>
          <a:lstStyle/>
          <a:p>
            <a:pPr algn="r" fontAlgn="auto">
              <a:spcBef>
                <a:spcPts val="0"/>
              </a:spcBef>
              <a:spcAft>
                <a:spcPts val="0"/>
              </a:spcAft>
              <a:defRPr/>
            </a:pPr>
            <a:fld id="{86709ACC-2A15-4D3D-8928-9ED6FAC32EE0}" type="slidenum">
              <a:rPr lang="en-US" sz="1100">
                <a:solidFill>
                  <a:srgbClr val="000000"/>
                </a:solidFill>
                <a:latin typeface="+mn-lt"/>
              </a:rPr>
              <a:pPr algn="r" fontAlgn="auto">
                <a:spcBef>
                  <a:spcPts val="0"/>
                </a:spcBef>
                <a:spcAft>
                  <a:spcPts val="0"/>
                </a:spcAft>
                <a:defRPr/>
              </a:pPr>
              <a:t>13</a:t>
            </a:fld>
            <a:endParaRPr lang="en-US" sz="1100">
              <a:solidFill>
                <a:srgbClr val="000000"/>
              </a:solidFill>
              <a:latin typeface="+mn-lt"/>
            </a:endParaRPr>
          </a:p>
        </p:txBody>
      </p:sp>
      <p:sp>
        <p:nvSpPr>
          <p:cNvPr id="7" name="TextBox 6">
            <a:extLst>
              <a:ext uri="{FF2B5EF4-FFF2-40B4-BE49-F238E27FC236}">
                <a16:creationId xmlns:a16="http://schemas.microsoft.com/office/drawing/2014/main" id="{CAE7C23C-F1F9-D368-A11B-0B6AD11324AD}"/>
              </a:ext>
            </a:extLst>
          </p:cNvPr>
          <p:cNvSpPr txBox="1"/>
          <p:nvPr/>
        </p:nvSpPr>
        <p:spPr bwMode="auto">
          <a:xfrm>
            <a:off x="1143000" y="4932487"/>
            <a:ext cx="6858000" cy="762000"/>
          </a:xfrm>
          <a:prstGeom prst="rect">
            <a:avLst/>
          </a:prstGeom>
          <a:noFill/>
          <a:ln>
            <a:noFill/>
            <a:headEnd/>
            <a:tailEnd/>
          </a:ln>
        </p:spPr>
        <p:style>
          <a:lnRef idx="2">
            <a:schemeClr val="dk1">
              <a:shade val="50000"/>
            </a:schemeClr>
          </a:lnRef>
          <a:fillRef idx="1">
            <a:schemeClr val="dk1"/>
          </a:fillRef>
          <a:effectRef idx="0">
            <a:schemeClr val="dk1"/>
          </a:effectRef>
          <a:fontRef idx="minor">
            <a:schemeClr val="lt1"/>
          </a:fontRef>
        </p:style>
        <p:txBody>
          <a:bodyPr anchor="ctr"/>
          <a:lstStyle/>
          <a:p>
            <a:pPr marL="457200" indent="-457200" algn="ctr" fontAlgn="auto">
              <a:spcBef>
                <a:spcPts val="0"/>
              </a:spcBef>
              <a:spcAft>
                <a:spcPts val="0"/>
              </a:spcAft>
              <a:buAutoNum type="arabicPlain" startAt="64"/>
              <a:defRPr/>
            </a:pPr>
            <a:r>
              <a:rPr lang="en-US" sz="3200" dirty="0">
                <a:solidFill>
                  <a:srgbClr val="000000"/>
                </a:solidFill>
              </a:rPr>
              <a:t>  32    16    8    4    2    1</a:t>
            </a:r>
          </a:p>
        </p:txBody>
      </p:sp>
      <p:sp>
        <p:nvSpPr>
          <p:cNvPr id="6" name="TextBox 5">
            <a:extLst>
              <a:ext uri="{FF2B5EF4-FFF2-40B4-BE49-F238E27FC236}">
                <a16:creationId xmlns:a16="http://schemas.microsoft.com/office/drawing/2014/main" id="{07D91EC8-9F5C-769A-ABA3-8668B0EE41B3}"/>
              </a:ext>
            </a:extLst>
          </p:cNvPr>
          <p:cNvSpPr txBox="1"/>
          <p:nvPr/>
        </p:nvSpPr>
        <p:spPr>
          <a:xfrm>
            <a:off x="582230" y="2080272"/>
            <a:ext cx="641516" cy="523220"/>
          </a:xfrm>
          <a:prstGeom prst="rect">
            <a:avLst/>
          </a:prstGeom>
          <a:noFill/>
        </p:spPr>
        <p:txBody>
          <a:bodyPr wrap="square">
            <a:spAutoFit/>
          </a:bodyPr>
          <a:lstStyle/>
          <a:p>
            <a:r>
              <a:rPr lang="en-US" sz="2800" dirty="0">
                <a:solidFill>
                  <a:sysClr val="windowText" lastClr="000000"/>
                </a:solidFill>
              </a:rPr>
              <a:t>37</a:t>
            </a:r>
          </a:p>
        </p:txBody>
      </p:sp>
      <p:sp>
        <p:nvSpPr>
          <p:cNvPr id="8" name="Rectangle 7">
            <a:extLst>
              <a:ext uri="{FF2B5EF4-FFF2-40B4-BE49-F238E27FC236}">
                <a16:creationId xmlns:a16="http://schemas.microsoft.com/office/drawing/2014/main" id="{076C0F8F-278F-CC8B-8FEB-4736D96B2381}"/>
              </a:ext>
            </a:extLst>
          </p:cNvPr>
          <p:cNvSpPr/>
          <p:nvPr/>
        </p:nvSpPr>
        <p:spPr>
          <a:xfrm>
            <a:off x="3098800" y="5040437"/>
            <a:ext cx="508000" cy="546100"/>
          </a:xfrm>
          <a:prstGeom prst="rect">
            <a:avLst/>
          </a:prstGeom>
          <a:noFill/>
          <a:ln>
            <a:solidFill>
              <a:srgbClr val="C000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C4A803C-2A2B-4C7C-9974-F47B4A182A0E}"/>
              </a:ext>
            </a:extLst>
          </p:cNvPr>
          <p:cNvSpPr txBox="1"/>
          <p:nvPr/>
        </p:nvSpPr>
        <p:spPr>
          <a:xfrm>
            <a:off x="582230" y="2635332"/>
            <a:ext cx="1983170" cy="523220"/>
          </a:xfrm>
          <a:prstGeom prst="rect">
            <a:avLst/>
          </a:prstGeom>
          <a:noFill/>
        </p:spPr>
        <p:txBody>
          <a:bodyPr wrap="square">
            <a:spAutoFit/>
          </a:bodyPr>
          <a:lstStyle/>
          <a:p>
            <a:r>
              <a:rPr lang="en-US" sz="2800" dirty="0">
                <a:solidFill>
                  <a:sysClr val="windowText" lastClr="000000"/>
                </a:solidFill>
              </a:rPr>
              <a:t>37 – 32 = 5 </a:t>
            </a:r>
          </a:p>
        </p:txBody>
      </p:sp>
      <p:sp>
        <p:nvSpPr>
          <p:cNvPr id="12" name="TextBox 11">
            <a:extLst>
              <a:ext uri="{FF2B5EF4-FFF2-40B4-BE49-F238E27FC236}">
                <a16:creationId xmlns:a16="http://schemas.microsoft.com/office/drawing/2014/main" id="{5B2C8051-E6BF-0162-316C-22E47066F7F6}"/>
              </a:ext>
            </a:extLst>
          </p:cNvPr>
          <p:cNvSpPr txBox="1"/>
          <p:nvPr/>
        </p:nvSpPr>
        <p:spPr>
          <a:xfrm>
            <a:off x="582230" y="3190392"/>
            <a:ext cx="1983170" cy="523220"/>
          </a:xfrm>
          <a:prstGeom prst="rect">
            <a:avLst/>
          </a:prstGeom>
          <a:noFill/>
        </p:spPr>
        <p:txBody>
          <a:bodyPr wrap="square">
            <a:spAutoFit/>
          </a:bodyPr>
          <a:lstStyle/>
          <a:p>
            <a:r>
              <a:rPr lang="en-US" sz="2800" dirty="0">
                <a:solidFill>
                  <a:sysClr val="windowText" lastClr="000000"/>
                </a:solidFill>
              </a:rPr>
              <a:t>5 – 4 = 1 </a:t>
            </a:r>
          </a:p>
        </p:txBody>
      </p:sp>
      <p:sp>
        <p:nvSpPr>
          <p:cNvPr id="13" name="TextBox 12">
            <a:extLst>
              <a:ext uri="{FF2B5EF4-FFF2-40B4-BE49-F238E27FC236}">
                <a16:creationId xmlns:a16="http://schemas.microsoft.com/office/drawing/2014/main" id="{785200A3-5E16-3727-C1F4-71D4DC0840E9}"/>
              </a:ext>
            </a:extLst>
          </p:cNvPr>
          <p:cNvSpPr txBox="1"/>
          <p:nvPr/>
        </p:nvSpPr>
        <p:spPr>
          <a:xfrm>
            <a:off x="582230" y="3745452"/>
            <a:ext cx="1983170" cy="523220"/>
          </a:xfrm>
          <a:prstGeom prst="rect">
            <a:avLst/>
          </a:prstGeom>
          <a:noFill/>
        </p:spPr>
        <p:txBody>
          <a:bodyPr wrap="square">
            <a:spAutoFit/>
          </a:bodyPr>
          <a:lstStyle/>
          <a:p>
            <a:r>
              <a:rPr lang="en-US" sz="2800" dirty="0">
                <a:solidFill>
                  <a:sysClr val="windowText" lastClr="000000"/>
                </a:solidFill>
              </a:rPr>
              <a:t>1 – 1 = 0 </a:t>
            </a:r>
          </a:p>
        </p:txBody>
      </p:sp>
      <p:sp>
        <p:nvSpPr>
          <p:cNvPr id="16" name="Rectangle 15">
            <a:extLst>
              <a:ext uri="{FF2B5EF4-FFF2-40B4-BE49-F238E27FC236}">
                <a16:creationId xmlns:a16="http://schemas.microsoft.com/office/drawing/2014/main" id="{C2D4B035-ED35-A04B-C29E-7B1F04D36F08}"/>
              </a:ext>
            </a:extLst>
          </p:cNvPr>
          <p:cNvSpPr/>
          <p:nvPr/>
        </p:nvSpPr>
        <p:spPr>
          <a:xfrm>
            <a:off x="5143500" y="5040437"/>
            <a:ext cx="508000" cy="546100"/>
          </a:xfrm>
          <a:prstGeom prst="rect">
            <a:avLst/>
          </a:prstGeom>
          <a:noFill/>
          <a:ln>
            <a:solidFill>
              <a:srgbClr val="C000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ABFBD7A-F78F-E8BD-9D1F-88A6114BA795}"/>
              </a:ext>
            </a:extLst>
          </p:cNvPr>
          <p:cNvSpPr/>
          <p:nvPr/>
        </p:nvSpPr>
        <p:spPr>
          <a:xfrm>
            <a:off x="6273800" y="5040437"/>
            <a:ext cx="508000" cy="546100"/>
          </a:xfrm>
          <a:prstGeom prst="rect">
            <a:avLst/>
          </a:prstGeom>
          <a:noFill/>
          <a:ln>
            <a:solidFill>
              <a:srgbClr val="C0002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1C7D260-C3D9-04A8-B795-4FF7B2B2916C}"/>
              </a:ext>
            </a:extLst>
          </p:cNvPr>
          <p:cNvSpPr txBox="1"/>
          <p:nvPr/>
        </p:nvSpPr>
        <p:spPr bwMode="auto">
          <a:xfrm>
            <a:off x="1223746" y="5715000"/>
            <a:ext cx="6858000" cy="762000"/>
          </a:xfrm>
          <a:prstGeom prst="rect">
            <a:avLst/>
          </a:prstGeom>
          <a:noFill/>
          <a:ln>
            <a:noFill/>
            <a:headEnd/>
            <a:tailEnd/>
          </a:ln>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r>
              <a:rPr lang="en-US" sz="3200" b="1" dirty="0">
                <a:solidFill>
                  <a:srgbClr val="00B0F0"/>
                </a:solidFill>
              </a:rPr>
              <a:t>0     1     0     0     1     0     1</a:t>
            </a:r>
          </a:p>
        </p:txBody>
      </p:sp>
    </p:spTree>
    <p:custDataLst>
      <p:tags r:id="rId1"/>
    </p:custDataLst>
    <p:extLst>
      <p:ext uri="{BB962C8B-B14F-4D97-AF65-F5344CB8AC3E}">
        <p14:creationId xmlns:p14="http://schemas.microsoft.com/office/powerpoint/2010/main" val="17133181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2" grpId="0"/>
      <p:bldP spid="13" grpId="0"/>
      <p:bldP spid="16" grpId="0" animBg="1"/>
      <p:bldP spid="23" grpId="0" animBg="1"/>
      <p:bldP spid="2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Conversão para Base 10</a:t>
            </a:r>
          </a:p>
        </p:txBody>
      </p:sp>
      <p:sp>
        <p:nvSpPr>
          <p:cNvPr id="3" name="Content Placeholder 2"/>
          <p:cNvSpPr>
            <a:spLocks noGrp="1"/>
          </p:cNvSpPr>
          <p:nvPr>
            <p:ph idx="1"/>
          </p:nvPr>
        </p:nvSpPr>
        <p:spPr/>
        <p:txBody>
          <a:bodyPr/>
          <a:lstStyle/>
          <a:p>
            <a:r>
              <a:rPr lang="pt-BR" dirty="0"/>
              <a:t>Exemplo:</a:t>
            </a:r>
          </a:p>
          <a:p>
            <a:endParaRPr lang="pt-BR" dirty="0"/>
          </a:p>
          <a:p>
            <a:endParaRPr lang="pt-BR" dirty="0"/>
          </a:p>
          <a:p>
            <a:r>
              <a:rPr lang="pt-BR" dirty="0"/>
              <a:t>Converter 6734</a:t>
            </a:r>
            <a:r>
              <a:rPr lang="pt-BR" baseline="-25000" dirty="0"/>
              <a:t>8</a:t>
            </a:r>
            <a:r>
              <a:rPr lang="pt-BR" dirty="0"/>
              <a:t> para a base 10: </a:t>
            </a:r>
          </a:p>
          <a:p>
            <a:endParaRPr lang="pt-BR" dirty="0"/>
          </a:p>
          <a:p>
            <a:endParaRPr lang="pt-BR" dirty="0"/>
          </a:p>
          <a:p>
            <a:endParaRPr lang="pt-BR" dirty="0"/>
          </a:p>
          <a:p>
            <a:endParaRPr lang="pt-BR" dirty="0"/>
          </a:p>
          <a:p>
            <a:endParaRPr lang="pt-BR" dirty="0"/>
          </a:p>
          <a:p>
            <a:endParaRPr lang="pt-BR" dirty="0"/>
          </a:p>
          <a:p>
            <a:r>
              <a:rPr lang="pt-BR" dirty="0"/>
              <a:t>Converter 1F8</a:t>
            </a:r>
            <a:r>
              <a:rPr lang="pt-BR" baseline="-25000" dirty="0"/>
              <a:t>16</a:t>
            </a:r>
            <a:r>
              <a:rPr lang="pt-BR" dirty="0"/>
              <a:t> para a base 10: </a:t>
            </a:r>
          </a:p>
          <a:p>
            <a:endParaRPr lang="pt-BR" dirty="0"/>
          </a:p>
          <a:p>
            <a:endParaRPr lang="pt-BR" dirty="0"/>
          </a:p>
          <a:p>
            <a:endParaRPr lang="pt-BR" dirty="0"/>
          </a:p>
          <a:p>
            <a:endParaRPr lang="pt-BR" dirty="0"/>
          </a:p>
          <a:p>
            <a:endParaRPr lang="pt-BR" dirty="0"/>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14</a:t>
            </a:fld>
            <a:endParaRPr lang="pt-BR" dirty="0"/>
          </a:p>
        </p:txBody>
      </p:sp>
      <p:graphicFrame>
        <p:nvGraphicFramePr>
          <p:cNvPr id="9" name="Table 8"/>
          <p:cNvGraphicFramePr>
            <a:graphicFrameLocks noGrp="1"/>
          </p:cNvGraphicFramePr>
          <p:nvPr>
            <p:extLst>
              <p:ext uri="{D42A27DB-BD31-4B8C-83A1-F6EECF244321}">
                <p14:modId xmlns:p14="http://schemas.microsoft.com/office/powerpoint/2010/main" val="646170558"/>
              </p:ext>
            </p:extLst>
          </p:nvPr>
        </p:nvGraphicFramePr>
        <p:xfrm>
          <a:off x="5054383" y="1624263"/>
          <a:ext cx="3632415" cy="2225040"/>
        </p:xfrm>
        <a:graphic>
          <a:graphicData uri="http://schemas.openxmlformats.org/drawingml/2006/table">
            <a:tbl>
              <a:tblPr>
                <a:tableStyleId>{5C22544A-7EE6-4342-B048-85BDC9FD1C3A}</a:tableStyleId>
              </a:tblPr>
              <a:tblGrid>
                <a:gridCol w="302546">
                  <a:extLst>
                    <a:ext uri="{9D8B030D-6E8A-4147-A177-3AD203B41FA5}">
                      <a16:colId xmlns:a16="http://schemas.microsoft.com/office/drawing/2014/main" val="20000"/>
                    </a:ext>
                  </a:extLst>
                </a:gridCol>
                <a:gridCol w="951391">
                  <a:extLst>
                    <a:ext uri="{9D8B030D-6E8A-4147-A177-3AD203B41FA5}">
                      <a16:colId xmlns:a16="http://schemas.microsoft.com/office/drawing/2014/main" val="20001"/>
                    </a:ext>
                  </a:extLst>
                </a:gridCol>
                <a:gridCol w="1381051">
                  <a:extLst>
                    <a:ext uri="{9D8B030D-6E8A-4147-A177-3AD203B41FA5}">
                      <a16:colId xmlns:a16="http://schemas.microsoft.com/office/drawing/2014/main" val="20002"/>
                    </a:ext>
                  </a:extLst>
                </a:gridCol>
                <a:gridCol w="997427">
                  <a:extLst>
                    <a:ext uri="{9D8B030D-6E8A-4147-A177-3AD203B41FA5}">
                      <a16:colId xmlns:a16="http://schemas.microsoft.com/office/drawing/2014/main" val="20003"/>
                    </a:ext>
                  </a:extLst>
                </a:gridCol>
              </a:tblGrid>
              <a:tr h="370840">
                <a:tc>
                  <a:txBody>
                    <a:bodyPr/>
                    <a:lstStyle/>
                    <a:p>
                      <a:endParaRPr lang="pt-BR" dirty="0"/>
                    </a:p>
                  </a:txBody>
                  <a:tcPr/>
                </a:tc>
                <a:tc>
                  <a:txBody>
                    <a:bodyPr/>
                    <a:lstStyle/>
                    <a:p>
                      <a:r>
                        <a:rPr lang="pt-BR" i="1" dirty="0"/>
                        <a:t>Base 8</a:t>
                      </a:r>
                    </a:p>
                  </a:txBody>
                  <a:tcPr/>
                </a:tc>
                <a:tc>
                  <a:txBody>
                    <a:bodyPr/>
                    <a:lstStyle/>
                    <a:p>
                      <a:r>
                        <a:rPr lang="pt-BR" i="1" dirty="0"/>
                        <a:t>Conversão</a:t>
                      </a:r>
                    </a:p>
                  </a:txBody>
                  <a:tcPr/>
                </a:tc>
                <a:tc>
                  <a:txBody>
                    <a:bodyPr/>
                    <a:lstStyle/>
                    <a:p>
                      <a:r>
                        <a:rPr lang="pt-BR" i="1" dirty="0"/>
                        <a:t>Base 10</a:t>
                      </a:r>
                    </a:p>
                  </a:txBody>
                  <a:tcPr/>
                </a:tc>
                <a:extLst>
                  <a:ext uri="{0D108BD9-81ED-4DB2-BD59-A6C34878D82A}">
                    <a16:rowId xmlns:a16="http://schemas.microsoft.com/office/drawing/2014/main" val="10000"/>
                  </a:ext>
                </a:extLst>
              </a:tr>
              <a:tr h="370840">
                <a:tc>
                  <a:txBody>
                    <a:bodyPr/>
                    <a:lstStyle/>
                    <a:p>
                      <a:endParaRPr lang="pt-BR"/>
                    </a:p>
                  </a:txBody>
                  <a:tcPr/>
                </a:tc>
                <a:tc>
                  <a:txBody>
                    <a:bodyPr/>
                    <a:lstStyle/>
                    <a:p>
                      <a:r>
                        <a:rPr lang="pt-BR" baseline="0" dirty="0"/>
                        <a:t> 6 * 8</a:t>
                      </a:r>
                      <a:r>
                        <a:rPr lang="pt-BR" baseline="30000" dirty="0"/>
                        <a:t>3</a:t>
                      </a:r>
                    </a:p>
                  </a:txBody>
                  <a:tcPr/>
                </a:tc>
                <a:tc>
                  <a:txBody>
                    <a:bodyPr/>
                    <a:lstStyle/>
                    <a:p>
                      <a:r>
                        <a:rPr lang="pt-BR" dirty="0"/>
                        <a:t>= 6 * 512</a:t>
                      </a:r>
                    </a:p>
                  </a:txBody>
                  <a:tcPr/>
                </a:tc>
                <a:tc>
                  <a:txBody>
                    <a:bodyPr/>
                    <a:lstStyle/>
                    <a:p>
                      <a:r>
                        <a:rPr lang="pt-BR" dirty="0"/>
                        <a:t>= 3072</a:t>
                      </a:r>
                    </a:p>
                  </a:txBody>
                  <a:tcPr/>
                </a:tc>
                <a:extLst>
                  <a:ext uri="{0D108BD9-81ED-4DB2-BD59-A6C34878D82A}">
                    <a16:rowId xmlns:a16="http://schemas.microsoft.com/office/drawing/2014/main" val="10001"/>
                  </a:ext>
                </a:extLst>
              </a:tr>
              <a:tr h="370840">
                <a:tc>
                  <a:txBody>
                    <a:bodyPr/>
                    <a:lstStyle/>
                    <a:p>
                      <a:r>
                        <a:rPr lang="pt-BR" dirty="0"/>
                        <a:t>+</a:t>
                      </a:r>
                    </a:p>
                  </a:txBody>
                  <a:tcPr/>
                </a:tc>
                <a:tc>
                  <a:txBody>
                    <a:bodyPr/>
                    <a:lstStyle/>
                    <a:p>
                      <a:r>
                        <a:rPr lang="pt-BR" baseline="0" dirty="0"/>
                        <a:t> 7 * 8</a:t>
                      </a:r>
                      <a:r>
                        <a:rPr lang="pt-BR" baseline="30000" dirty="0"/>
                        <a:t>2</a:t>
                      </a:r>
                    </a:p>
                  </a:txBody>
                  <a:tcPr/>
                </a:tc>
                <a:tc>
                  <a:txBody>
                    <a:bodyPr/>
                    <a:lstStyle/>
                    <a:p>
                      <a:r>
                        <a:rPr lang="pt-BR" dirty="0"/>
                        <a:t>= 7 * 64</a:t>
                      </a:r>
                    </a:p>
                  </a:txBody>
                  <a:tcPr/>
                </a:tc>
                <a:tc>
                  <a:txBody>
                    <a:bodyPr/>
                    <a:lstStyle/>
                    <a:p>
                      <a:r>
                        <a:rPr lang="pt-BR" dirty="0"/>
                        <a:t>= 448</a:t>
                      </a:r>
                    </a:p>
                  </a:txBody>
                  <a:tcPr/>
                </a:tc>
                <a:extLst>
                  <a:ext uri="{0D108BD9-81ED-4DB2-BD59-A6C34878D82A}">
                    <a16:rowId xmlns:a16="http://schemas.microsoft.com/office/drawing/2014/main" val="10002"/>
                  </a:ext>
                </a:extLst>
              </a:tr>
              <a:tr h="370840">
                <a:tc>
                  <a:txBody>
                    <a:bodyPr/>
                    <a:lstStyle/>
                    <a:p>
                      <a:r>
                        <a:rPr lang="pt-BR" dirty="0"/>
                        <a:t>+</a:t>
                      </a:r>
                    </a:p>
                  </a:txBody>
                  <a:tcPr/>
                </a:tc>
                <a:tc>
                  <a:txBody>
                    <a:bodyPr/>
                    <a:lstStyle/>
                    <a:p>
                      <a:r>
                        <a:rPr lang="pt-BR" baseline="0" dirty="0"/>
                        <a:t> 3 * 8</a:t>
                      </a:r>
                      <a:r>
                        <a:rPr lang="pt-BR" baseline="30000" dirty="0"/>
                        <a:t>1</a:t>
                      </a:r>
                    </a:p>
                  </a:txBody>
                  <a:tcPr/>
                </a:tc>
                <a:tc>
                  <a:txBody>
                    <a:bodyPr/>
                    <a:lstStyle/>
                    <a:p>
                      <a:r>
                        <a:rPr lang="pt-BR" dirty="0"/>
                        <a:t>= 3 * 8</a:t>
                      </a:r>
                    </a:p>
                  </a:txBody>
                  <a:tcPr/>
                </a:tc>
                <a:tc>
                  <a:txBody>
                    <a:bodyPr/>
                    <a:lstStyle/>
                    <a:p>
                      <a:r>
                        <a:rPr lang="pt-BR" dirty="0"/>
                        <a:t>= 24</a:t>
                      </a:r>
                    </a:p>
                  </a:txBody>
                  <a:tcPr/>
                </a:tc>
                <a:extLst>
                  <a:ext uri="{0D108BD9-81ED-4DB2-BD59-A6C34878D82A}">
                    <a16:rowId xmlns:a16="http://schemas.microsoft.com/office/drawing/2014/main" val="10003"/>
                  </a:ext>
                </a:extLst>
              </a:tr>
              <a:tr h="370840">
                <a:tc>
                  <a:txBody>
                    <a:bodyPr/>
                    <a:lstStyle/>
                    <a:p>
                      <a:r>
                        <a:rPr lang="pt-BR" dirty="0"/>
                        <a:t>+</a:t>
                      </a:r>
                    </a:p>
                  </a:txBody>
                  <a:tcPr/>
                </a:tc>
                <a:tc>
                  <a:txBody>
                    <a:bodyPr/>
                    <a:lstStyle/>
                    <a:p>
                      <a:r>
                        <a:rPr lang="pt-BR" baseline="0" dirty="0"/>
                        <a:t> 4 * 8</a:t>
                      </a:r>
                      <a:r>
                        <a:rPr lang="pt-BR" baseline="30000" dirty="0"/>
                        <a:t>0</a:t>
                      </a:r>
                    </a:p>
                  </a:txBody>
                  <a:tcPr/>
                </a:tc>
                <a:tc>
                  <a:txBody>
                    <a:bodyPr/>
                    <a:lstStyle/>
                    <a:p>
                      <a:r>
                        <a:rPr lang="pt-BR" dirty="0"/>
                        <a:t>= 4 * 1</a:t>
                      </a:r>
                    </a:p>
                  </a:txBody>
                  <a:tcPr/>
                </a:tc>
                <a:tc>
                  <a:txBody>
                    <a:bodyPr/>
                    <a:lstStyle/>
                    <a:p>
                      <a:r>
                        <a:rPr lang="pt-BR" dirty="0"/>
                        <a:t>= 4</a:t>
                      </a:r>
                    </a:p>
                  </a:txBody>
                  <a:tcPr/>
                </a:tc>
                <a:extLst>
                  <a:ext uri="{0D108BD9-81ED-4DB2-BD59-A6C34878D82A}">
                    <a16:rowId xmlns:a16="http://schemas.microsoft.com/office/drawing/2014/main" val="10004"/>
                  </a:ext>
                </a:extLst>
              </a:tr>
              <a:tr h="370840">
                <a:tc>
                  <a:txBody>
                    <a:bodyPr/>
                    <a:lstStyle/>
                    <a:p>
                      <a:endParaRPr lang="pt-BR"/>
                    </a:p>
                  </a:txBody>
                  <a:tcPr/>
                </a:tc>
                <a:tc>
                  <a:txBody>
                    <a:bodyPr/>
                    <a:lstStyle/>
                    <a:p>
                      <a:endParaRPr lang="pt-BR"/>
                    </a:p>
                  </a:txBody>
                  <a:tcPr/>
                </a:tc>
                <a:tc>
                  <a:txBody>
                    <a:bodyPr/>
                    <a:lstStyle/>
                    <a:p>
                      <a:r>
                        <a:rPr lang="pt-BR" b="1" dirty="0"/>
                        <a:t>Total</a:t>
                      </a:r>
                    </a:p>
                  </a:txBody>
                  <a:tcPr/>
                </a:tc>
                <a:tc>
                  <a:txBody>
                    <a:bodyPr/>
                    <a:lstStyle/>
                    <a:p>
                      <a:r>
                        <a:rPr lang="pt-BR" b="1" dirty="0"/>
                        <a:t>3548</a:t>
                      </a:r>
                    </a:p>
                  </a:txBody>
                  <a:tcPr/>
                </a:tc>
                <a:extLst>
                  <a:ext uri="{0D108BD9-81ED-4DB2-BD59-A6C34878D82A}">
                    <a16:rowId xmlns:a16="http://schemas.microsoft.com/office/drawing/2014/main" val="10005"/>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420045789"/>
              </p:ext>
            </p:extLst>
          </p:nvPr>
        </p:nvGraphicFramePr>
        <p:xfrm>
          <a:off x="5054381" y="4150398"/>
          <a:ext cx="3632418" cy="1854200"/>
        </p:xfrm>
        <a:graphic>
          <a:graphicData uri="http://schemas.openxmlformats.org/drawingml/2006/table">
            <a:tbl>
              <a:tblPr>
                <a:tableStyleId>{5C22544A-7EE6-4342-B048-85BDC9FD1C3A}</a:tableStyleId>
              </a:tblPr>
              <a:tblGrid>
                <a:gridCol w="302547">
                  <a:extLst>
                    <a:ext uri="{9D8B030D-6E8A-4147-A177-3AD203B41FA5}">
                      <a16:colId xmlns:a16="http://schemas.microsoft.com/office/drawing/2014/main" val="20000"/>
                    </a:ext>
                  </a:extLst>
                </a:gridCol>
                <a:gridCol w="951391">
                  <a:extLst>
                    <a:ext uri="{9D8B030D-6E8A-4147-A177-3AD203B41FA5}">
                      <a16:colId xmlns:a16="http://schemas.microsoft.com/office/drawing/2014/main" val="20001"/>
                    </a:ext>
                  </a:extLst>
                </a:gridCol>
                <a:gridCol w="1381052">
                  <a:extLst>
                    <a:ext uri="{9D8B030D-6E8A-4147-A177-3AD203B41FA5}">
                      <a16:colId xmlns:a16="http://schemas.microsoft.com/office/drawing/2014/main" val="20002"/>
                    </a:ext>
                  </a:extLst>
                </a:gridCol>
                <a:gridCol w="997428">
                  <a:extLst>
                    <a:ext uri="{9D8B030D-6E8A-4147-A177-3AD203B41FA5}">
                      <a16:colId xmlns:a16="http://schemas.microsoft.com/office/drawing/2014/main" val="20003"/>
                    </a:ext>
                  </a:extLst>
                </a:gridCol>
              </a:tblGrid>
              <a:tr h="370840">
                <a:tc>
                  <a:txBody>
                    <a:bodyPr/>
                    <a:lstStyle/>
                    <a:p>
                      <a:endParaRPr lang="pt-BR" dirty="0"/>
                    </a:p>
                  </a:txBody>
                  <a:tcPr/>
                </a:tc>
                <a:tc>
                  <a:txBody>
                    <a:bodyPr/>
                    <a:lstStyle/>
                    <a:p>
                      <a:r>
                        <a:rPr lang="pt-BR" i="1" dirty="0"/>
                        <a:t>Base 16</a:t>
                      </a:r>
                    </a:p>
                  </a:txBody>
                  <a:tcPr/>
                </a:tc>
                <a:tc>
                  <a:txBody>
                    <a:bodyPr/>
                    <a:lstStyle/>
                    <a:p>
                      <a:r>
                        <a:rPr lang="pt-BR" i="1" dirty="0"/>
                        <a:t>Conversão</a:t>
                      </a:r>
                    </a:p>
                  </a:txBody>
                  <a:tcPr/>
                </a:tc>
                <a:tc>
                  <a:txBody>
                    <a:bodyPr/>
                    <a:lstStyle/>
                    <a:p>
                      <a:r>
                        <a:rPr lang="pt-BR" i="1" dirty="0"/>
                        <a:t>Base 10</a:t>
                      </a:r>
                    </a:p>
                  </a:txBody>
                  <a:tcPr/>
                </a:tc>
                <a:extLst>
                  <a:ext uri="{0D108BD9-81ED-4DB2-BD59-A6C34878D82A}">
                    <a16:rowId xmlns:a16="http://schemas.microsoft.com/office/drawing/2014/main" val="10000"/>
                  </a:ext>
                </a:extLst>
              </a:tr>
              <a:tr h="370840">
                <a:tc>
                  <a:txBody>
                    <a:bodyPr/>
                    <a:lstStyle/>
                    <a:p>
                      <a:endParaRPr lang="pt-BR"/>
                    </a:p>
                  </a:txBody>
                  <a:tcPr/>
                </a:tc>
                <a:tc>
                  <a:txBody>
                    <a:bodyPr/>
                    <a:lstStyle/>
                    <a:p>
                      <a:r>
                        <a:rPr lang="pt-BR" baseline="0" dirty="0"/>
                        <a:t> 1 * 16</a:t>
                      </a:r>
                      <a:r>
                        <a:rPr lang="pt-BR" baseline="30000" dirty="0"/>
                        <a:t>2</a:t>
                      </a:r>
                    </a:p>
                  </a:txBody>
                  <a:tcPr/>
                </a:tc>
                <a:tc>
                  <a:txBody>
                    <a:bodyPr/>
                    <a:lstStyle/>
                    <a:p>
                      <a:r>
                        <a:rPr lang="pt-BR" dirty="0"/>
                        <a:t>= 1 * 256</a:t>
                      </a:r>
                    </a:p>
                  </a:txBody>
                  <a:tcPr/>
                </a:tc>
                <a:tc>
                  <a:txBody>
                    <a:bodyPr/>
                    <a:lstStyle/>
                    <a:p>
                      <a:r>
                        <a:rPr lang="pt-BR" dirty="0"/>
                        <a:t>= 256</a:t>
                      </a:r>
                    </a:p>
                  </a:txBody>
                  <a:tcPr/>
                </a:tc>
                <a:extLst>
                  <a:ext uri="{0D108BD9-81ED-4DB2-BD59-A6C34878D82A}">
                    <a16:rowId xmlns:a16="http://schemas.microsoft.com/office/drawing/2014/main" val="10001"/>
                  </a:ext>
                </a:extLst>
              </a:tr>
              <a:tr h="370840">
                <a:tc>
                  <a:txBody>
                    <a:bodyPr/>
                    <a:lstStyle/>
                    <a:p>
                      <a:r>
                        <a:rPr lang="pt-BR" dirty="0"/>
                        <a:t>+</a:t>
                      </a:r>
                    </a:p>
                  </a:txBody>
                  <a:tcPr/>
                </a:tc>
                <a:tc>
                  <a:txBody>
                    <a:bodyPr/>
                    <a:lstStyle/>
                    <a:p>
                      <a:r>
                        <a:rPr lang="pt-BR" baseline="0" dirty="0"/>
                        <a:t> F * 16</a:t>
                      </a:r>
                      <a:r>
                        <a:rPr lang="pt-BR" baseline="30000" dirty="0"/>
                        <a:t>1</a:t>
                      </a:r>
                    </a:p>
                  </a:txBody>
                  <a:tcPr/>
                </a:tc>
                <a:tc>
                  <a:txBody>
                    <a:bodyPr/>
                    <a:lstStyle/>
                    <a:p>
                      <a:r>
                        <a:rPr lang="pt-BR" dirty="0"/>
                        <a:t>= 15 * 16</a:t>
                      </a:r>
                    </a:p>
                  </a:txBody>
                  <a:tcPr/>
                </a:tc>
                <a:tc>
                  <a:txBody>
                    <a:bodyPr/>
                    <a:lstStyle/>
                    <a:p>
                      <a:r>
                        <a:rPr lang="pt-BR" dirty="0"/>
                        <a:t>= 240</a:t>
                      </a:r>
                    </a:p>
                  </a:txBody>
                  <a:tcPr/>
                </a:tc>
                <a:extLst>
                  <a:ext uri="{0D108BD9-81ED-4DB2-BD59-A6C34878D82A}">
                    <a16:rowId xmlns:a16="http://schemas.microsoft.com/office/drawing/2014/main" val="10002"/>
                  </a:ext>
                </a:extLst>
              </a:tr>
              <a:tr h="370840">
                <a:tc>
                  <a:txBody>
                    <a:bodyPr/>
                    <a:lstStyle/>
                    <a:p>
                      <a:r>
                        <a:rPr lang="pt-BR" dirty="0"/>
                        <a:t>+</a:t>
                      </a:r>
                    </a:p>
                  </a:txBody>
                  <a:tcPr/>
                </a:tc>
                <a:tc>
                  <a:txBody>
                    <a:bodyPr/>
                    <a:lstStyle/>
                    <a:p>
                      <a:r>
                        <a:rPr lang="pt-BR" baseline="0" dirty="0"/>
                        <a:t> 8 * 16</a:t>
                      </a:r>
                      <a:r>
                        <a:rPr lang="pt-BR" baseline="30000" dirty="0"/>
                        <a:t>0</a:t>
                      </a:r>
                    </a:p>
                  </a:txBody>
                  <a:tcPr/>
                </a:tc>
                <a:tc>
                  <a:txBody>
                    <a:bodyPr/>
                    <a:lstStyle/>
                    <a:p>
                      <a:r>
                        <a:rPr lang="pt-BR" dirty="0"/>
                        <a:t>= 8 * 1</a:t>
                      </a:r>
                    </a:p>
                  </a:txBody>
                  <a:tcPr/>
                </a:tc>
                <a:tc>
                  <a:txBody>
                    <a:bodyPr/>
                    <a:lstStyle/>
                    <a:p>
                      <a:r>
                        <a:rPr lang="pt-BR" dirty="0"/>
                        <a:t>= 8</a:t>
                      </a:r>
                    </a:p>
                  </a:txBody>
                  <a:tcPr/>
                </a:tc>
                <a:extLst>
                  <a:ext uri="{0D108BD9-81ED-4DB2-BD59-A6C34878D82A}">
                    <a16:rowId xmlns:a16="http://schemas.microsoft.com/office/drawing/2014/main" val="10003"/>
                  </a:ext>
                </a:extLst>
              </a:tr>
              <a:tr h="370840">
                <a:tc>
                  <a:txBody>
                    <a:bodyPr/>
                    <a:lstStyle/>
                    <a:p>
                      <a:endParaRPr lang="pt-BR" dirty="0"/>
                    </a:p>
                  </a:txBody>
                  <a:tcPr/>
                </a:tc>
                <a:tc>
                  <a:txBody>
                    <a:bodyPr/>
                    <a:lstStyle/>
                    <a:p>
                      <a:endParaRPr lang="pt-BR"/>
                    </a:p>
                  </a:txBody>
                  <a:tcPr/>
                </a:tc>
                <a:tc>
                  <a:txBody>
                    <a:bodyPr/>
                    <a:lstStyle/>
                    <a:p>
                      <a:r>
                        <a:rPr lang="pt-BR" b="1" dirty="0"/>
                        <a:t>Total</a:t>
                      </a:r>
                    </a:p>
                  </a:txBody>
                  <a:tcPr/>
                </a:tc>
                <a:tc>
                  <a:txBody>
                    <a:bodyPr/>
                    <a:lstStyle/>
                    <a:p>
                      <a:r>
                        <a:rPr lang="pt-BR" b="1" dirty="0"/>
                        <a:t>504</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399218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Adição Binária</a:t>
            </a:r>
          </a:p>
        </p:txBody>
      </p:sp>
      <p:sp>
        <p:nvSpPr>
          <p:cNvPr id="3" name="Content Placeholder 2"/>
          <p:cNvSpPr>
            <a:spLocks noGrp="1"/>
          </p:cNvSpPr>
          <p:nvPr>
            <p:ph idx="1"/>
          </p:nvPr>
        </p:nvSpPr>
        <p:spPr>
          <a:xfrm>
            <a:off x="657225" y="1485900"/>
            <a:ext cx="8229600" cy="716226"/>
          </a:xfrm>
        </p:spPr>
        <p:txBody>
          <a:bodyPr/>
          <a:lstStyle/>
          <a:p>
            <a:r>
              <a:rPr lang="en-BR" dirty="0"/>
              <a:t>Fazer operações com números binários é análogo a fazer operações com números decimais.</a:t>
            </a:r>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15</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3939810781"/>
              </p:ext>
            </p:extLst>
          </p:nvPr>
        </p:nvGraphicFramePr>
        <p:xfrm>
          <a:off x="293034" y="3176108"/>
          <a:ext cx="3135180" cy="155448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gridCol w="627036">
                  <a:extLst>
                    <a:ext uri="{9D8B030D-6E8A-4147-A177-3AD203B41FA5}">
                      <a16:colId xmlns:a16="http://schemas.microsoft.com/office/drawing/2014/main" val="20001"/>
                    </a:ext>
                  </a:extLst>
                </a:gridCol>
                <a:gridCol w="627036">
                  <a:extLst>
                    <a:ext uri="{9D8B030D-6E8A-4147-A177-3AD203B41FA5}">
                      <a16:colId xmlns:a16="http://schemas.microsoft.com/office/drawing/2014/main" val="20002"/>
                    </a:ext>
                  </a:extLst>
                </a:gridCol>
                <a:gridCol w="627036">
                  <a:extLst>
                    <a:ext uri="{9D8B030D-6E8A-4147-A177-3AD203B41FA5}">
                      <a16:colId xmlns:a16="http://schemas.microsoft.com/office/drawing/2014/main" val="20003"/>
                    </a:ext>
                  </a:extLst>
                </a:gridCol>
                <a:gridCol w="627036">
                  <a:extLst>
                    <a:ext uri="{9D8B030D-6E8A-4147-A177-3AD203B41FA5}">
                      <a16:colId xmlns:a16="http://schemas.microsoft.com/office/drawing/2014/main" val="20004"/>
                    </a:ext>
                  </a:extLst>
                </a:gridCol>
              </a:tblGrid>
              <a:tr h="370840">
                <a:tc>
                  <a:txBody>
                    <a:bodyPr/>
                    <a:lstStyle/>
                    <a:p>
                      <a:pPr algn="ctr"/>
                      <a:endParaRPr lang="pt-BR" sz="280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r">
                        <a:lnSpc>
                          <a:spcPts val="2160"/>
                        </a:lnSpc>
                      </a:pPr>
                      <a:r>
                        <a:rPr lang="pt-BR" sz="4000" dirty="0"/>
                        <a:t>+</a:t>
                      </a:r>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pt-BR" sz="2800" b="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576420052"/>
              </p:ext>
            </p:extLst>
          </p:nvPr>
        </p:nvGraphicFramePr>
        <p:xfrm>
          <a:off x="2801178" y="4212428"/>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401591477"/>
              </p:ext>
            </p:extLst>
          </p:nvPr>
        </p:nvGraphicFramePr>
        <p:xfrm>
          <a:off x="2174142" y="4212428"/>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253786398"/>
              </p:ext>
            </p:extLst>
          </p:nvPr>
        </p:nvGraphicFramePr>
        <p:xfrm>
          <a:off x="1547106" y="4201595"/>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682606500"/>
              </p:ext>
            </p:extLst>
          </p:nvPr>
        </p:nvGraphicFramePr>
        <p:xfrm>
          <a:off x="920070" y="4217782"/>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7" name="Table 26"/>
          <p:cNvGraphicFramePr>
            <a:graphicFrameLocks noGrp="1"/>
          </p:cNvGraphicFramePr>
          <p:nvPr>
            <p:extLst>
              <p:ext uri="{D42A27DB-BD31-4B8C-83A1-F6EECF244321}">
                <p14:modId xmlns:p14="http://schemas.microsoft.com/office/powerpoint/2010/main" val="3297251185"/>
              </p:ext>
            </p:extLst>
          </p:nvPr>
        </p:nvGraphicFramePr>
        <p:xfrm>
          <a:off x="4684326" y="3181462"/>
          <a:ext cx="3135180" cy="155448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gridCol w="627036">
                  <a:extLst>
                    <a:ext uri="{9D8B030D-6E8A-4147-A177-3AD203B41FA5}">
                      <a16:colId xmlns:a16="http://schemas.microsoft.com/office/drawing/2014/main" val="20001"/>
                    </a:ext>
                  </a:extLst>
                </a:gridCol>
                <a:gridCol w="627036">
                  <a:extLst>
                    <a:ext uri="{9D8B030D-6E8A-4147-A177-3AD203B41FA5}">
                      <a16:colId xmlns:a16="http://schemas.microsoft.com/office/drawing/2014/main" val="20002"/>
                    </a:ext>
                  </a:extLst>
                </a:gridCol>
                <a:gridCol w="627036">
                  <a:extLst>
                    <a:ext uri="{9D8B030D-6E8A-4147-A177-3AD203B41FA5}">
                      <a16:colId xmlns:a16="http://schemas.microsoft.com/office/drawing/2014/main" val="20003"/>
                    </a:ext>
                  </a:extLst>
                </a:gridCol>
                <a:gridCol w="627036">
                  <a:extLst>
                    <a:ext uri="{9D8B030D-6E8A-4147-A177-3AD203B41FA5}">
                      <a16:colId xmlns:a16="http://schemas.microsoft.com/office/drawing/2014/main" val="20004"/>
                    </a:ext>
                  </a:extLst>
                </a:gridCol>
              </a:tblGrid>
              <a:tr h="370840">
                <a:tc>
                  <a:txBody>
                    <a:bodyPr/>
                    <a:lstStyle/>
                    <a:p>
                      <a:pPr algn="ctr"/>
                      <a:endParaRPr lang="pt-BR" sz="280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r">
                        <a:lnSpc>
                          <a:spcPts val="2160"/>
                        </a:lnSpc>
                      </a:pPr>
                      <a:r>
                        <a:rPr lang="pt-BR" sz="4000" dirty="0"/>
                        <a:t>+</a:t>
                      </a:r>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tc>
                  <a:txBody>
                    <a:bodyPr/>
                    <a:lstStyle/>
                    <a:p>
                      <a:pPr algn="ctr"/>
                      <a:r>
                        <a:rPr lang="pt-BR" sz="2800" dirty="0"/>
                        <a:t>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pt-BR" sz="2800" b="0" dirty="0"/>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a:txBody>
                    <a:bodyPr/>
                    <a:lstStyle/>
                    <a:p>
                      <a:pPr algn="ctr"/>
                      <a:endParaRPr lang="pt-BR" sz="2800" b="1" dirty="0"/>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452461671"/>
              </p:ext>
            </p:extLst>
          </p:nvPr>
        </p:nvGraphicFramePr>
        <p:xfrm>
          <a:off x="7192470" y="4217782"/>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1912704933"/>
              </p:ext>
            </p:extLst>
          </p:nvPr>
        </p:nvGraphicFramePr>
        <p:xfrm>
          <a:off x="6565434" y="4217782"/>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1743614373"/>
              </p:ext>
            </p:extLst>
          </p:nvPr>
        </p:nvGraphicFramePr>
        <p:xfrm>
          <a:off x="5938398" y="4206949"/>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2103111789"/>
              </p:ext>
            </p:extLst>
          </p:nvPr>
        </p:nvGraphicFramePr>
        <p:xfrm>
          <a:off x="5311362" y="4223136"/>
          <a:ext cx="627036" cy="51816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800" b="1"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3485770601"/>
              </p:ext>
            </p:extLst>
          </p:nvPr>
        </p:nvGraphicFramePr>
        <p:xfrm>
          <a:off x="4762406" y="4225525"/>
          <a:ext cx="627036" cy="45720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24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1886551631"/>
              </p:ext>
            </p:extLst>
          </p:nvPr>
        </p:nvGraphicFramePr>
        <p:xfrm>
          <a:off x="5984432" y="2810622"/>
          <a:ext cx="627036" cy="370840"/>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370840">
                <a:tc>
                  <a:txBody>
                    <a:bodyPr/>
                    <a:lstStyle/>
                    <a:p>
                      <a:pPr algn="ctr"/>
                      <a:r>
                        <a:rPr lang="pt-BR" sz="1800" dirty="0"/>
                        <a:t>1</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3009443269"/>
              </p:ext>
            </p:extLst>
          </p:nvPr>
        </p:nvGraphicFramePr>
        <p:xfrm>
          <a:off x="3566076" y="3173306"/>
          <a:ext cx="627036" cy="1546449"/>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515483">
                <a:tc>
                  <a:txBody>
                    <a:bodyPr/>
                    <a:lstStyle/>
                    <a:p>
                      <a:pPr algn="ctr"/>
                      <a:r>
                        <a:rPr lang="pt-BR" sz="2000" i="1" dirty="0">
                          <a:latin typeface="Courier"/>
                          <a:cs typeface="Courier"/>
                        </a:rPr>
                        <a:t>9</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515483">
                <a:tc>
                  <a:txBody>
                    <a:bodyPr/>
                    <a:lstStyle/>
                    <a:p>
                      <a:pPr algn="ctr"/>
                      <a:r>
                        <a:rPr lang="pt-BR" sz="2000" i="1" dirty="0">
                          <a:latin typeface="Courier"/>
                          <a:cs typeface="Courier"/>
                        </a:rPr>
                        <a:t>2</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515483">
                <a:tc>
                  <a:txBody>
                    <a:bodyPr/>
                    <a:lstStyle/>
                    <a:p>
                      <a:pPr algn="ctr"/>
                      <a:r>
                        <a:rPr lang="pt-BR" sz="2000" b="1" i="1" dirty="0">
                          <a:latin typeface="Courier"/>
                          <a:cs typeface="Courier"/>
                        </a:rPr>
                        <a:t>11</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2399109291"/>
              </p:ext>
            </p:extLst>
          </p:nvPr>
        </p:nvGraphicFramePr>
        <p:xfrm>
          <a:off x="7961126" y="3176108"/>
          <a:ext cx="627036" cy="1546449"/>
        </p:xfrm>
        <a:graphic>
          <a:graphicData uri="http://schemas.openxmlformats.org/drawingml/2006/table">
            <a:tbl>
              <a:tblPr>
                <a:tableStyleId>{5C22544A-7EE6-4342-B048-85BDC9FD1C3A}</a:tableStyleId>
              </a:tblPr>
              <a:tblGrid>
                <a:gridCol w="627036">
                  <a:extLst>
                    <a:ext uri="{9D8B030D-6E8A-4147-A177-3AD203B41FA5}">
                      <a16:colId xmlns:a16="http://schemas.microsoft.com/office/drawing/2014/main" val="20000"/>
                    </a:ext>
                  </a:extLst>
                </a:gridCol>
              </a:tblGrid>
              <a:tr h="515483">
                <a:tc>
                  <a:txBody>
                    <a:bodyPr/>
                    <a:lstStyle/>
                    <a:p>
                      <a:pPr algn="ctr"/>
                      <a:r>
                        <a:rPr lang="pt-BR" sz="2000" i="1" dirty="0">
                          <a:latin typeface="Courier"/>
                          <a:cs typeface="Courier"/>
                        </a:rPr>
                        <a:t>11</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515483">
                <a:tc>
                  <a:txBody>
                    <a:bodyPr/>
                    <a:lstStyle/>
                    <a:p>
                      <a:pPr algn="ctr"/>
                      <a:r>
                        <a:rPr lang="pt-BR" sz="2000" i="1" dirty="0">
                          <a:latin typeface="Courier"/>
                          <a:cs typeface="Courier"/>
                        </a:rPr>
                        <a:t>10</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28575"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1"/>
                  </a:ext>
                </a:extLst>
              </a:tr>
              <a:tr h="515483">
                <a:tc>
                  <a:txBody>
                    <a:bodyPr/>
                    <a:lstStyle/>
                    <a:p>
                      <a:pPr algn="ctr"/>
                      <a:r>
                        <a:rPr lang="pt-BR" sz="2000" b="1" i="1" dirty="0">
                          <a:latin typeface="Courier"/>
                          <a:cs typeface="Courier"/>
                        </a:rPr>
                        <a:t>5</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28575"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42" name="Group 41"/>
          <p:cNvGrpSpPr/>
          <p:nvPr/>
        </p:nvGrpSpPr>
        <p:grpSpPr>
          <a:xfrm>
            <a:off x="3711131" y="4682725"/>
            <a:ext cx="1364793" cy="573428"/>
            <a:chOff x="5391716" y="2207937"/>
            <a:chExt cx="1364793" cy="573428"/>
          </a:xfrm>
        </p:grpSpPr>
        <p:sp>
          <p:nvSpPr>
            <p:cNvPr id="43" name="Rectangle 42"/>
            <p:cNvSpPr/>
            <p:nvPr/>
          </p:nvSpPr>
          <p:spPr>
            <a:xfrm>
              <a:off x="5391716" y="2319700"/>
              <a:ext cx="1042914" cy="461665"/>
            </a:xfrm>
            <a:prstGeom prst="rect">
              <a:avLst/>
            </a:prstGeom>
          </p:spPr>
          <p:txBody>
            <a:bodyPr wrap="none" anchor="t">
              <a:spAutoFit/>
            </a:bodyPr>
            <a:lstStyle/>
            <a:p>
              <a:pPr algn="r"/>
              <a:r>
                <a:rPr lang="en-US" dirty="0"/>
                <a:t>carry-out</a:t>
              </a:r>
              <a:endParaRPr lang="en-US" sz="600" dirty="0"/>
            </a:p>
            <a:p>
              <a:pPr algn="r"/>
              <a:endParaRPr lang="en-US" sz="600" dirty="0"/>
            </a:p>
          </p:txBody>
        </p:sp>
        <p:cxnSp>
          <p:nvCxnSpPr>
            <p:cNvPr id="44" name="Curved Connector 43"/>
            <p:cNvCxnSpPr>
              <a:stCxn id="43" idx="3"/>
              <a:endCxn id="32" idx="2"/>
            </p:cNvCxnSpPr>
            <p:nvPr/>
          </p:nvCxnSpPr>
          <p:spPr>
            <a:xfrm flipV="1">
              <a:off x="6434630" y="2207937"/>
              <a:ext cx="321879" cy="342596"/>
            </a:xfrm>
            <a:prstGeom prst="curvedConnector2">
              <a:avLst/>
            </a:prstGeom>
            <a:ln w="28575" cmpd="sng">
              <a:solidFill>
                <a:srgbClr val="000000"/>
              </a:solidFill>
              <a:headEnd type="none"/>
              <a:tailEnd type="triangle"/>
            </a:ln>
          </p:spPr>
          <p:style>
            <a:lnRef idx="2">
              <a:schemeClr val="accent1"/>
            </a:lnRef>
            <a:fillRef idx="0">
              <a:schemeClr val="accent1"/>
            </a:fillRef>
            <a:effectRef idx="1">
              <a:schemeClr val="accent1"/>
            </a:effectRef>
            <a:fontRef idx="minor">
              <a:schemeClr val="tx1"/>
            </a:fontRef>
          </p:style>
        </p:cxnSp>
      </p:grpSp>
      <p:pic>
        <p:nvPicPr>
          <p:cNvPr id="46" name="Picture 45" descr="120657385441132693Arnoud999_Right_or_wrong_2.svg.m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1398" y="2253069"/>
            <a:ext cx="976267" cy="976267"/>
          </a:xfrm>
          <a:prstGeom prst="rect">
            <a:avLst/>
          </a:prstGeom>
        </p:spPr>
      </p:pic>
      <p:pic>
        <p:nvPicPr>
          <p:cNvPr id="47" name="Picture 46" descr="1206573862448734250Arnoud999_Right_or_wrong_3.svg.med.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5471" y="2322488"/>
            <a:ext cx="976267" cy="976267"/>
          </a:xfrm>
          <a:prstGeom prst="rect">
            <a:avLst/>
          </a:prstGeom>
        </p:spPr>
      </p:pic>
      <p:sp>
        <p:nvSpPr>
          <p:cNvPr id="48" name="Content Placeholder 2"/>
          <p:cNvSpPr txBox="1">
            <a:spLocks/>
          </p:cNvSpPr>
          <p:nvPr/>
        </p:nvSpPr>
        <p:spPr>
          <a:xfrm>
            <a:off x="809625" y="5488643"/>
            <a:ext cx="8029575" cy="1101830"/>
          </a:xfrm>
          <a:prstGeom prst="rect">
            <a:avLst/>
          </a:prstGeom>
        </p:spPr>
        <p:txBody>
          <a:bodyPr>
            <a:normAutofit/>
          </a:bodyPr>
          <a:lstStyle>
            <a:lvl1pPr marL="0" indent="0" algn="l" defTabSz="914400" rtl="0" eaLnBrk="1" latinLnBrk="0" hangingPunct="1">
              <a:spcBef>
                <a:spcPct val="20000"/>
              </a:spcBef>
              <a:buFontTx/>
              <a:buNone/>
              <a:defRPr sz="1800" b="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pt-BR" dirty="0"/>
              <a:t>Para o correto cálculo da soma binária, os </a:t>
            </a:r>
            <a:r>
              <a:rPr lang="pt-BR" i="1" dirty="0" err="1"/>
              <a:t>carries</a:t>
            </a:r>
            <a:r>
              <a:rPr lang="pt-BR" dirty="0"/>
              <a:t> (vai um) precisariam ser tratados. O </a:t>
            </a:r>
            <a:r>
              <a:rPr lang="pt-BR" dirty="0" err="1"/>
              <a:t>carry</a:t>
            </a:r>
            <a:r>
              <a:rPr lang="pt-BR" dirty="0"/>
              <a:t>-out </a:t>
            </a:r>
            <a:r>
              <a:rPr lang="en-BR" dirty="0"/>
              <a:t>indica que a soma unsigned excedeu a faixa representável e também precisa ser tratado.</a:t>
            </a:r>
            <a:endParaRPr lang="pt-BR" dirty="0"/>
          </a:p>
        </p:txBody>
      </p:sp>
      <p:sp>
        <p:nvSpPr>
          <p:cNvPr id="8" name="TextBox 7">
            <a:extLst>
              <a:ext uri="{FF2B5EF4-FFF2-40B4-BE49-F238E27FC236}">
                <a16:creationId xmlns:a16="http://schemas.microsoft.com/office/drawing/2014/main" id="{66406EDF-FC4A-DEEE-D11D-6DD3782B0071}"/>
              </a:ext>
            </a:extLst>
          </p:cNvPr>
          <p:cNvSpPr txBox="1"/>
          <p:nvPr/>
        </p:nvSpPr>
        <p:spPr>
          <a:xfrm>
            <a:off x="5646714" y="4843651"/>
            <a:ext cx="1929508" cy="276999"/>
          </a:xfrm>
          <a:prstGeom prst="rect">
            <a:avLst/>
          </a:prstGeom>
          <a:noFill/>
        </p:spPr>
        <p:txBody>
          <a:bodyPr wrap="square">
            <a:spAutoFit/>
          </a:bodyPr>
          <a:lstStyle/>
          <a:p>
            <a:r>
              <a:rPr lang="pt-BR" sz="1200" dirty="0">
                <a:solidFill>
                  <a:srgbClr val="FF0000"/>
                </a:solidFill>
              </a:rPr>
              <a:t>Limitando o número a 4 bits</a:t>
            </a:r>
          </a:p>
        </p:txBody>
      </p:sp>
    </p:spTree>
    <p:custDataLst>
      <p:tags r:id="rId1"/>
    </p:custDataLst>
    <p:extLst>
      <p:ext uri="{BB962C8B-B14F-4D97-AF65-F5344CB8AC3E}">
        <p14:creationId xmlns:p14="http://schemas.microsoft.com/office/powerpoint/2010/main" val="232045032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ppt_y</p:attrName>
                                        </p:attrNameLst>
                                      </p:cBhvr>
                                      <p:tavLst>
                                        <p:tav tm="0">
                                          <p:val>
                                            <p:strVal val="#ppt_y-#ppt_h*1.125000"/>
                                          </p:val>
                                        </p:tav>
                                        <p:tav tm="100000">
                                          <p:val>
                                            <p:strVal val="#ppt_y"/>
                                          </p:val>
                                        </p:tav>
                                      </p:tavLst>
                                    </p:anim>
                                    <p:animEffect transition="in" filter="wipe(down)">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p:tgtEl>
                                          <p:spTgt spid="14"/>
                                        </p:tgtEl>
                                        <p:attrNameLst>
                                          <p:attrName>ppt_y</p:attrName>
                                        </p:attrNameLst>
                                      </p:cBhvr>
                                      <p:tavLst>
                                        <p:tav tm="0">
                                          <p:val>
                                            <p:strVal val="#ppt_y-#ppt_h*1.125000"/>
                                          </p:val>
                                        </p:tav>
                                        <p:tav tm="100000">
                                          <p:val>
                                            <p:strVal val="#ppt_y"/>
                                          </p:val>
                                        </p:tav>
                                      </p:tavLst>
                                    </p:anim>
                                    <p:animEffect transition="in" filter="wipe(down)">
                                      <p:cBhvr>
                                        <p:cTn id="14" dur="500"/>
                                        <p:tgtEl>
                                          <p:spTgt spid="1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1"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p:tgtEl>
                                          <p:spTgt spid="15"/>
                                        </p:tgtEl>
                                        <p:attrNameLst>
                                          <p:attrName>ppt_y</p:attrName>
                                        </p:attrNameLst>
                                      </p:cBhvr>
                                      <p:tavLst>
                                        <p:tav tm="0">
                                          <p:val>
                                            <p:strVal val="#ppt_y-#ppt_h*1.125000"/>
                                          </p:val>
                                        </p:tav>
                                        <p:tav tm="100000">
                                          <p:val>
                                            <p:strVal val="#ppt_y"/>
                                          </p:val>
                                        </p:tav>
                                      </p:tavLst>
                                    </p:anim>
                                    <p:animEffect transition="in" filter="wipe(down)">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p:tgtEl>
                                          <p:spTgt spid="16"/>
                                        </p:tgtEl>
                                        <p:attrNameLst>
                                          <p:attrName>ppt_y</p:attrName>
                                        </p:attrNameLst>
                                      </p:cBhvr>
                                      <p:tavLst>
                                        <p:tav tm="0">
                                          <p:val>
                                            <p:strVal val="#ppt_y-#ppt_h*1.125000"/>
                                          </p:val>
                                        </p:tav>
                                        <p:tav tm="100000">
                                          <p:val>
                                            <p:strVal val="#ppt_y"/>
                                          </p:val>
                                        </p:tav>
                                      </p:tavLst>
                                    </p:anim>
                                    <p:animEffect transition="in" filter="wipe(down)">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dissolve">
                                      <p:cBhvr>
                                        <p:cTn id="31" dur="500"/>
                                        <p:tgtEl>
                                          <p:spTgt spid="34"/>
                                        </p:tgtEl>
                                      </p:cBhvr>
                                    </p:animEffect>
                                  </p:childTnLst>
                                </p:cTn>
                              </p:par>
                            </p:childTnLst>
                          </p:cTn>
                        </p:par>
                      </p:childTnLst>
                    </p:cTn>
                  </p:par>
                  <p:par>
                    <p:cTn id="32" fill="hold">
                      <p:stCondLst>
                        <p:cond delay="indefinite"/>
                      </p:stCondLst>
                      <p:childTnLst>
                        <p:par>
                          <p:cTn id="33" fill="hold">
                            <p:stCondLst>
                              <p:cond delay="0"/>
                            </p:stCondLst>
                            <p:childTnLst>
                              <p:par>
                                <p:cTn id="34" presetID="30" presetClass="entr" presetSubtype="0" fill="hold"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800" decel="100000"/>
                                        <p:tgtEl>
                                          <p:spTgt spid="46"/>
                                        </p:tgtEl>
                                      </p:cBhvr>
                                    </p:animEffect>
                                    <p:anim calcmode="lin" valueType="num">
                                      <p:cBhvr>
                                        <p:cTn id="37" dur="800" decel="100000" fill="hold"/>
                                        <p:tgtEl>
                                          <p:spTgt spid="46"/>
                                        </p:tgtEl>
                                        <p:attrNameLst>
                                          <p:attrName>style.rotation</p:attrName>
                                        </p:attrNameLst>
                                      </p:cBhvr>
                                      <p:tavLst>
                                        <p:tav tm="0">
                                          <p:val>
                                            <p:fltVal val="-90"/>
                                          </p:val>
                                        </p:tav>
                                        <p:tav tm="100000">
                                          <p:val>
                                            <p:fltVal val="0"/>
                                          </p:val>
                                        </p:tav>
                                      </p:tavLst>
                                    </p:anim>
                                    <p:anim calcmode="lin" valueType="num">
                                      <p:cBhvr>
                                        <p:cTn id="38" dur="800" decel="100000" fill="hold"/>
                                        <p:tgtEl>
                                          <p:spTgt spid="46"/>
                                        </p:tgtEl>
                                        <p:attrNameLst>
                                          <p:attrName>ppt_x</p:attrName>
                                        </p:attrNameLst>
                                      </p:cBhvr>
                                      <p:tavLst>
                                        <p:tav tm="0">
                                          <p:val>
                                            <p:strVal val="#ppt_x+0.4"/>
                                          </p:val>
                                        </p:tav>
                                        <p:tav tm="100000">
                                          <p:val>
                                            <p:strVal val="#ppt_x-0.05"/>
                                          </p:val>
                                        </p:tav>
                                      </p:tavLst>
                                    </p:anim>
                                    <p:anim calcmode="lin" valueType="num">
                                      <p:cBhvr>
                                        <p:cTn id="39" dur="800" decel="100000" fill="hold"/>
                                        <p:tgtEl>
                                          <p:spTgt spid="46"/>
                                        </p:tgtEl>
                                        <p:attrNameLst>
                                          <p:attrName>ppt_y</p:attrName>
                                        </p:attrNameLst>
                                      </p:cBhvr>
                                      <p:tavLst>
                                        <p:tav tm="0">
                                          <p:val>
                                            <p:strVal val="#ppt_y-0.4"/>
                                          </p:val>
                                        </p:tav>
                                        <p:tav tm="100000">
                                          <p:val>
                                            <p:strVal val="#ppt_y+0.1"/>
                                          </p:val>
                                        </p:tav>
                                      </p:tavLst>
                                    </p:anim>
                                    <p:anim calcmode="lin" valueType="num">
                                      <p:cBhvr>
                                        <p:cTn id="40" dur="200" accel="100000" fill="hold">
                                          <p:stCondLst>
                                            <p:cond delay="800"/>
                                          </p:stCondLst>
                                        </p:cTn>
                                        <p:tgtEl>
                                          <p:spTgt spid="46"/>
                                        </p:tgtEl>
                                        <p:attrNameLst>
                                          <p:attrName>ppt_x</p:attrName>
                                        </p:attrNameLst>
                                      </p:cBhvr>
                                      <p:tavLst>
                                        <p:tav tm="0">
                                          <p:val>
                                            <p:strVal val="#ppt_x-0.05"/>
                                          </p:val>
                                        </p:tav>
                                        <p:tav tm="100000">
                                          <p:val>
                                            <p:strVal val="#ppt_x"/>
                                          </p:val>
                                        </p:tav>
                                      </p:tavLst>
                                    </p:anim>
                                    <p:anim calcmode="lin" valueType="num">
                                      <p:cBhvr>
                                        <p:cTn id="41" dur="200" accel="100000" fill="hold">
                                          <p:stCondLst>
                                            <p:cond delay="800"/>
                                          </p:stCondLst>
                                        </p:cTn>
                                        <p:tgtEl>
                                          <p:spTgt spid="46"/>
                                        </p:tgtEl>
                                        <p:attrNameLst>
                                          <p:attrName>ppt_y</p:attrName>
                                        </p:attrNameLst>
                                      </p:cBhvr>
                                      <p:tavLst>
                                        <p:tav tm="0">
                                          <p:val>
                                            <p:strVal val="#ppt_y+0.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nodeType="clickEffect">
                                  <p:stCondLst>
                                    <p:cond delay="0"/>
                                  </p:stCondLst>
                                  <p:childTnLst>
                                    <p:set>
                                      <p:cBhvr>
                                        <p:cTn id="49" dur="1" fill="hold">
                                          <p:stCondLst>
                                            <p:cond delay="0"/>
                                          </p:stCondLst>
                                        </p:cTn>
                                        <p:tgtEl>
                                          <p:spTgt spid="28"/>
                                        </p:tgtEl>
                                        <p:attrNameLst>
                                          <p:attrName>style.visibility</p:attrName>
                                        </p:attrNameLst>
                                      </p:cBhvr>
                                      <p:to>
                                        <p:strVal val="visible"/>
                                      </p:to>
                                    </p:set>
                                    <p:anim calcmode="lin" valueType="num">
                                      <p:cBhvr additive="base">
                                        <p:cTn id="50" dur="500"/>
                                        <p:tgtEl>
                                          <p:spTgt spid="28"/>
                                        </p:tgtEl>
                                        <p:attrNameLst>
                                          <p:attrName>ppt_y</p:attrName>
                                        </p:attrNameLst>
                                      </p:cBhvr>
                                      <p:tavLst>
                                        <p:tav tm="0">
                                          <p:val>
                                            <p:strVal val="#ppt_y-#ppt_h*1.125000"/>
                                          </p:val>
                                        </p:tav>
                                        <p:tav tm="100000">
                                          <p:val>
                                            <p:strVal val="#ppt_y"/>
                                          </p:val>
                                        </p:tav>
                                      </p:tavLst>
                                    </p:anim>
                                    <p:animEffect transition="in" filter="wipe(down)">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1" fill="hold" nodeType="click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additive="base">
                                        <p:cTn id="56" dur="500"/>
                                        <p:tgtEl>
                                          <p:spTgt spid="29"/>
                                        </p:tgtEl>
                                        <p:attrNameLst>
                                          <p:attrName>ppt_y</p:attrName>
                                        </p:attrNameLst>
                                      </p:cBhvr>
                                      <p:tavLst>
                                        <p:tav tm="0">
                                          <p:val>
                                            <p:strVal val="#ppt_y-#ppt_h*1.125000"/>
                                          </p:val>
                                        </p:tav>
                                        <p:tav tm="100000">
                                          <p:val>
                                            <p:strVal val="#ppt_y"/>
                                          </p:val>
                                        </p:tav>
                                      </p:tavLst>
                                    </p:anim>
                                    <p:animEffect transition="in" filter="wipe(down)">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31" presetClass="entr" presetSubtype="0" fill="hold" nodeType="click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 calcmode="lin" valueType="num">
                                      <p:cBhvr>
                                        <p:cTn id="64" dur="500" fill="hold"/>
                                        <p:tgtEl>
                                          <p:spTgt spid="33"/>
                                        </p:tgtEl>
                                        <p:attrNameLst>
                                          <p:attrName>style.rotation</p:attrName>
                                        </p:attrNameLst>
                                      </p:cBhvr>
                                      <p:tavLst>
                                        <p:tav tm="0">
                                          <p:val>
                                            <p:fltVal val="90"/>
                                          </p:val>
                                        </p:tav>
                                        <p:tav tm="100000">
                                          <p:val>
                                            <p:fltVal val="0"/>
                                          </p:val>
                                        </p:tav>
                                      </p:tavLst>
                                    </p:anim>
                                    <p:animEffect transition="in" filter="fade">
                                      <p:cBhvr>
                                        <p:cTn id="65" dur="500"/>
                                        <p:tgtEl>
                                          <p:spTgt spid="33"/>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1" fill="hold" nodeType="click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500"/>
                                        <p:tgtEl>
                                          <p:spTgt spid="30"/>
                                        </p:tgtEl>
                                        <p:attrNameLst>
                                          <p:attrName>ppt_y</p:attrName>
                                        </p:attrNameLst>
                                      </p:cBhvr>
                                      <p:tavLst>
                                        <p:tav tm="0">
                                          <p:val>
                                            <p:strVal val="#ppt_y-#ppt_h*1.125000"/>
                                          </p:val>
                                        </p:tav>
                                        <p:tav tm="100000">
                                          <p:val>
                                            <p:strVal val="#ppt_y"/>
                                          </p:val>
                                        </p:tav>
                                      </p:tavLst>
                                    </p:anim>
                                    <p:animEffect transition="in" filter="wipe(down)">
                                      <p:cBhvr>
                                        <p:cTn id="71" dur="500"/>
                                        <p:tgtEl>
                                          <p:spTgt spid="30"/>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1" fill="hold" nodeType="clickEffect">
                                  <p:stCondLst>
                                    <p:cond delay="0"/>
                                  </p:stCondLst>
                                  <p:childTnLst>
                                    <p:set>
                                      <p:cBhvr>
                                        <p:cTn id="75" dur="1" fill="hold">
                                          <p:stCondLst>
                                            <p:cond delay="0"/>
                                          </p:stCondLst>
                                        </p:cTn>
                                        <p:tgtEl>
                                          <p:spTgt spid="31"/>
                                        </p:tgtEl>
                                        <p:attrNameLst>
                                          <p:attrName>style.visibility</p:attrName>
                                        </p:attrNameLst>
                                      </p:cBhvr>
                                      <p:to>
                                        <p:strVal val="visible"/>
                                      </p:to>
                                    </p:set>
                                    <p:anim calcmode="lin" valueType="num">
                                      <p:cBhvr additive="base">
                                        <p:cTn id="76" dur="500"/>
                                        <p:tgtEl>
                                          <p:spTgt spid="31"/>
                                        </p:tgtEl>
                                        <p:attrNameLst>
                                          <p:attrName>ppt_y</p:attrName>
                                        </p:attrNameLst>
                                      </p:cBhvr>
                                      <p:tavLst>
                                        <p:tav tm="0">
                                          <p:val>
                                            <p:strVal val="#ppt_y-#ppt_h*1.125000"/>
                                          </p:val>
                                        </p:tav>
                                        <p:tav tm="100000">
                                          <p:val>
                                            <p:strVal val="#ppt_y"/>
                                          </p:val>
                                        </p:tav>
                                      </p:tavLst>
                                    </p:anim>
                                    <p:animEffect transition="in" filter="wipe(down)">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down)">
                                      <p:cBhvr>
                                        <p:cTn id="82" dur="500"/>
                                        <p:tgtEl>
                                          <p:spTgt spid="32"/>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dissolve">
                                      <p:cBhvr>
                                        <p:cTn id="95" dur="500"/>
                                        <p:tgtEl>
                                          <p:spTgt spid="35"/>
                                        </p:tgtEl>
                                      </p:cBhvr>
                                    </p:animEffect>
                                  </p:childTnLst>
                                </p:cTn>
                              </p:par>
                            </p:childTnLst>
                          </p:cTn>
                        </p:par>
                      </p:childTnLst>
                    </p:cTn>
                  </p:par>
                  <p:par>
                    <p:cTn id="96" fill="hold">
                      <p:stCondLst>
                        <p:cond delay="indefinite"/>
                      </p:stCondLst>
                      <p:childTnLst>
                        <p:par>
                          <p:cTn id="97" fill="hold">
                            <p:stCondLst>
                              <p:cond delay="0"/>
                            </p:stCondLst>
                            <p:childTnLst>
                              <p:par>
                                <p:cTn id="98" presetID="30" presetClass="entr" presetSubtype="0" fill="hold" nodeType="click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800" decel="100000"/>
                                        <p:tgtEl>
                                          <p:spTgt spid="47"/>
                                        </p:tgtEl>
                                      </p:cBhvr>
                                    </p:animEffect>
                                    <p:anim calcmode="lin" valueType="num">
                                      <p:cBhvr>
                                        <p:cTn id="101" dur="800" decel="100000" fill="hold"/>
                                        <p:tgtEl>
                                          <p:spTgt spid="47"/>
                                        </p:tgtEl>
                                        <p:attrNameLst>
                                          <p:attrName>style.rotation</p:attrName>
                                        </p:attrNameLst>
                                      </p:cBhvr>
                                      <p:tavLst>
                                        <p:tav tm="0">
                                          <p:val>
                                            <p:fltVal val="-90"/>
                                          </p:val>
                                        </p:tav>
                                        <p:tav tm="100000">
                                          <p:val>
                                            <p:fltVal val="0"/>
                                          </p:val>
                                        </p:tav>
                                      </p:tavLst>
                                    </p:anim>
                                    <p:anim calcmode="lin" valueType="num">
                                      <p:cBhvr>
                                        <p:cTn id="102" dur="800" decel="100000" fill="hold"/>
                                        <p:tgtEl>
                                          <p:spTgt spid="47"/>
                                        </p:tgtEl>
                                        <p:attrNameLst>
                                          <p:attrName>ppt_x</p:attrName>
                                        </p:attrNameLst>
                                      </p:cBhvr>
                                      <p:tavLst>
                                        <p:tav tm="0">
                                          <p:val>
                                            <p:strVal val="#ppt_x+0.4"/>
                                          </p:val>
                                        </p:tav>
                                        <p:tav tm="100000">
                                          <p:val>
                                            <p:strVal val="#ppt_x-0.05"/>
                                          </p:val>
                                        </p:tav>
                                      </p:tavLst>
                                    </p:anim>
                                    <p:anim calcmode="lin" valueType="num">
                                      <p:cBhvr>
                                        <p:cTn id="103" dur="800" decel="100000" fill="hold"/>
                                        <p:tgtEl>
                                          <p:spTgt spid="47"/>
                                        </p:tgtEl>
                                        <p:attrNameLst>
                                          <p:attrName>ppt_y</p:attrName>
                                        </p:attrNameLst>
                                      </p:cBhvr>
                                      <p:tavLst>
                                        <p:tav tm="0">
                                          <p:val>
                                            <p:strVal val="#ppt_y-0.4"/>
                                          </p:val>
                                        </p:tav>
                                        <p:tav tm="100000">
                                          <p:val>
                                            <p:strVal val="#ppt_y+0.1"/>
                                          </p:val>
                                        </p:tav>
                                      </p:tavLst>
                                    </p:anim>
                                    <p:anim calcmode="lin" valueType="num">
                                      <p:cBhvr>
                                        <p:cTn id="104" dur="200" accel="100000" fill="hold">
                                          <p:stCondLst>
                                            <p:cond delay="800"/>
                                          </p:stCondLst>
                                        </p:cTn>
                                        <p:tgtEl>
                                          <p:spTgt spid="47"/>
                                        </p:tgtEl>
                                        <p:attrNameLst>
                                          <p:attrName>ppt_x</p:attrName>
                                        </p:attrNameLst>
                                      </p:cBhvr>
                                      <p:tavLst>
                                        <p:tav tm="0">
                                          <p:val>
                                            <p:strVal val="#ppt_x-0.05"/>
                                          </p:val>
                                        </p:tav>
                                        <p:tav tm="100000">
                                          <p:val>
                                            <p:strVal val="#ppt_x"/>
                                          </p:val>
                                        </p:tav>
                                      </p:tavLst>
                                    </p:anim>
                                    <p:anim calcmode="lin" valueType="num">
                                      <p:cBhvr>
                                        <p:cTn id="105" dur="200" accel="100000" fill="hold">
                                          <p:stCondLst>
                                            <p:cond delay="800"/>
                                          </p:stCondLst>
                                        </p:cTn>
                                        <p:tgtEl>
                                          <p:spTgt spid="47"/>
                                        </p:tgtEl>
                                        <p:attrNameLst>
                                          <p:attrName>ppt_y</p:attrName>
                                        </p:attrNameLst>
                                      </p:cBhvr>
                                      <p:tavLst>
                                        <p:tav tm="0">
                                          <p:val>
                                            <p:strVal val="#ppt_y+0.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Inteiros Positivos e Negativos</a:t>
            </a:r>
          </a:p>
        </p:txBody>
      </p:sp>
      <p:sp>
        <p:nvSpPr>
          <p:cNvPr id="3" name="Content Placeholder 2"/>
          <p:cNvSpPr>
            <a:spLocks noGrp="1"/>
          </p:cNvSpPr>
          <p:nvPr>
            <p:ph idx="1"/>
          </p:nvPr>
        </p:nvSpPr>
        <p:spPr>
          <a:xfrm>
            <a:off x="657225" y="1485899"/>
            <a:ext cx="8334375" cy="5281399"/>
          </a:xfrm>
        </p:spPr>
        <p:txBody>
          <a:bodyPr>
            <a:normAutofit/>
          </a:bodyPr>
          <a:lstStyle/>
          <a:p>
            <a:r>
              <a:rPr lang="pt-BR" b="1" dirty="0"/>
              <a:t>Números Inteiros em Complemento de 2 (um)</a:t>
            </a:r>
          </a:p>
          <a:p>
            <a:endParaRPr lang="pt-BR" b="1" dirty="0"/>
          </a:p>
          <a:p>
            <a:pPr marL="285750" indent="-285750">
              <a:buFont typeface="Arial"/>
              <a:buChar char="•"/>
            </a:pPr>
            <a:r>
              <a:rPr lang="pt-BR" dirty="0"/>
              <a:t>Supondo um conjunto de números inteiros de </a:t>
            </a:r>
            <a:r>
              <a:rPr lang="pt-BR" dirty="0" err="1"/>
              <a:t>n</a:t>
            </a:r>
            <a:r>
              <a:rPr lang="pt-BR" dirty="0"/>
              <a:t> bits:</a:t>
            </a:r>
          </a:p>
          <a:p>
            <a:pPr marL="285750" indent="-285750">
              <a:buFont typeface="Arial"/>
              <a:buChar char="•"/>
            </a:pPr>
            <a:endParaRPr lang="pt-BR" dirty="0"/>
          </a:p>
          <a:p>
            <a:endParaRPr lang="pt-BR" dirty="0"/>
          </a:p>
          <a:p>
            <a:pPr marL="285750" indent="-285750">
              <a:buFont typeface="Arial"/>
              <a:buChar char="•"/>
            </a:pPr>
            <a:endParaRPr lang="pt-BR" dirty="0"/>
          </a:p>
          <a:p>
            <a:pPr marL="285750" indent="-285750">
              <a:buFont typeface="Arial"/>
              <a:buChar char="•"/>
            </a:pPr>
            <a:r>
              <a:rPr lang="pt-BR" dirty="0"/>
              <a:t>valores não negativos começam com 0</a:t>
            </a:r>
          </a:p>
          <a:p>
            <a:pPr marL="285750" indent="-285750">
              <a:buFont typeface="Arial"/>
              <a:buChar char="•"/>
            </a:pPr>
            <a:endParaRPr lang="pt-BR" dirty="0"/>
          </a:p>
          <a:p>
            <a:pPr marL="285750" indent="-285750">
              <a:buFont typeface="Arial"/>
              <a:buChar char="•"/>
            </a:pPr>
            <a:r>
              <a:rPr lang="pt-BR" dirty="0"/>
              <a:t>valores negativos começam com 1</a:t>
            </a:r>
          </a:p>
          <a:p>
            <a:pPr marL="285750" indent="-285750">
              <a:buFont typeface="Arial"/>
              <a:buChar char="•"/>
            </a:pPr>
            <a:endParaRPr lang="pt-BR" dirty="0"/>
          </a:p>
          <a:p>
            <a:pPr marL="285750" indent="-285750">
              <a:buFont typeface="Arial"/>
              <a:buChar char="•"/>
            </a:pPr>
            <a:r>
              <a:rPr lang="pt-BR" dirty="0"/>
              <a:t>Metade dos números seriam não negativos e estariam entre:</a:t>
            </a:r>
          </a:p>
          <a:p>
            <a:r>
              <a:rPr lang="pt-BR" dirty="0"/>
              <a:t>	0 e (2</a:t>
            </a:r>
            <a:r>
              <a:rPr lang="pt-BR" baseline="30000" dirty="0"/>
              <a:t>(</a:t>
            </a:r>
            <a:r>
              <a:rPr lang="pt-BR" baseline="30000" dirty="0" err="1"/>
              <a:t>n</a:t>
            </a:r>
            <a:r>
              <a:rPr lang="pt-BR" baseline="30000" dirty="0"/>
              <a:t> − 1)</a:t>
            </a:r>
            <a:r>
              <a:rPr lang="pt-BR" dirty="0"/>
              <a:t> − 1) </a:t>
            </a:r>
          </a:p>
          <a:p>
            <a:endParaRPr lang="pt-BR" dirty="0"/>
          </a:p>
          <a:p>
            <a:pPr marL="285750" indent="-285750">
              <a:buFont typeface="Arial"/>
              <a:buChar char="•"/>
            </a:pPr>
            <a:r>
              <a:rPr lang="pt-BR" dirty="0"/>
              <a:t>A outra metade compreenderia o espaço de:</a:t>
            </a:r>
          </a:p>
          <a:p>
            <a:r>
              <a:rPr lang="pt-BR" dirty="0"/>
              <a:t>	−2</a:t>
            </a:r>
            <a:r>
              <a:rPr lang="pt-BR" baseline="30000" dirty="0"/>
              <a:t>(</a:t>
            </a:r>
            <a:r>
              <a:rPr lang="pt-BR" baseline="30000" dirty="0" err="1"/>
              <a:t>n</a:t>
            </a:r>
            <a:r>
              <a:rPr lang="pt-BR" baseline="30000" dirty="0"/>
              <a:t> − 1)</a:t>
            </a:r>
            <a:r>
              <a:rPr lang="pt-BR" dirty="0"/>
              <a:t> e −1 </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16</a:t>
            </a:fld>
            <a:endParaRPr lang="pt-BR" dirty="0"/>
          </a:p>
        </p:txBody>
      </p:sp>
      <p:grpSp>
        <p:nvGrpSpPr>
          <p:cNvPr id="16" name="Group 15"/>
          <p:cNvGrpSpPr/>
          <p:nvPr/>
        </p:nvGrpSpPr>
        <p:grpSpPr>
          <a:xfrm>
            <a:off x="1508125" y="2519151"/>
            <a:ext cx="4648200" cy="615553"/>
            <a:chOff x="1508125" y="2023851"/>
            <a:chExt cx="4648200" cy="615553"/>
          </a:xfrm>
        </p:grpSpPr>
        <p:grpSp>
          <p:nvGrpSpPr>
            <p:cNvPr id="6" name="Group 17"/>
            <p:cNvGrpSpPr>
              <a:grpSpLocks/>
            </p:cNvGrpSpPr>
            <p:nvPr/>
          </p:nvGrpSpPr>
          <p:grpSpPr bwMode="auto">
            <a:xfrm>
              <a:off x="1508125" y="2093488"/>
              <a:ext cx="4648200" cy="508000"/>
              <a:chOff x="1905000" y="3886200"/>
              <a:chExt cx="7086600" cy="773723"/>
            </a:xfrm>
          </p:grpSpPr>
          <p:sp>
            <p:nvSpPr>
              <p:cNvPr id="7" name="Rectangle 6"/>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latin typeface="+mn-lt"/>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latin typeface="+mn-lt"/>
                  </a:rPr>
                  <a:t>n-1</a:t>
                </a:r>
                <a:endParaRPr lang="en-US" dirty="0">
                  <a:solidFill>
                    <a:srgbClr val="000000"/>
                  </a:solidFill>
                  <a:latin typeface="+mn-lt"/>
                </a:endParaRPr>
              </a:p>
            </p:txBody>
          </p:sp>
          <p:sp>
            <p:nvSpPr>
              <p:cNvPr id="8" name="Rectangle 7"/>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rPr>
                  <a:t>n-2</a:t>
                </a:r>
                <a:endParaRPr lang="en-US" dirty="0">
                  <a:solidFill>
                    <a:srgbClr val="000000"/>
                  </a:solidFill>
                </a:endParaRPr>
              </a:p>
            </p:txBody>
          </p:sp>
          <p:sp>
            <p:nvSpPr>
              <p:cNvPr id="9" name="Rectangle 8"/>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en-US" dirty="0">
                  <a:solidFill>
                    <a:srgbClr val="000000"/>
                  </a:solidFill>
                  <a:latin typeface="+mn-lt"/>
                </a:endParaRPr>
              </a:p>
              <a:p>
                <a:pPr algn="ctr" defTabSz="669925" eaLnBrk="0" hangingPunct="0">
                  <a:spcBef>
                    <a:spcPct val="50000"/>
                  </a:spcBef>
                  <a:defRPr/>
                </a:pPr>
                <a:endParaRPr lang="en-US" dirty="0">
                  <a:solidFill>
                    <a:srgbClr val="000000"/>
                  </a:solidFill>
                </a:endParaRPr>
              </a:p>
              <a:p>
                <a:pPr algn="ctr" defTabSz="669925" eaLnBrk="0" hangingPunct="0">
                  <a:spcBef>
                    <a:spcPct val="50000"/>
                  </a:spcBef>
                  <a:defRPr/>
                </a:pPr>
                <a:r>
                  <a:rPr lang="en-US" dirty="0">
                    <a:solidFill>
                      <a:srgbClr val="000000"/>
                    </a:solidFill>
                    <a:latin typeface="+mn-lt"/>
                  </a:rPr>
                  <a:t>n-3</a:t>
                </a:r>
              </a:p>
            </p:txBody>
          </p:sp>
          <p:sp>
            <p:nvSpPr>
              <p:cNvPr id="12" name="Rectangle 11"/>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latin typeface="+mn-lt"/>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latin typeface="+mn-lt"/>
                  </a:rPr>
                  <a:t>2</a:t>
                </a:r>
                <a:endParaRPr lang="en-US" dirty="0">
                  <a:solidFill>
                    <a:srgbClr val="000000"/>
                  </a:solidFill>
                  <a:latin typeface="+mn-lt"/>
                </a:endParaRPr>
              </a:p>
            </p:txBody>
          </p:sp>
          <p:sp>
            <p:nvSpPr>
              <p:cNvPr id="13" name="Rectangle 12"/>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latin typeface="+mn-lt"/>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latin typeface="+mn-lt"/>
                  </a:rPr>
                  <a:t>1</a:t>
                </a:r>
                <a:endParaRPr lang="en-US" dirty="0">
                  <a:solidFill>
                    <a:srgbClr val="000000"/>
                  </a:solidFill>
                  <a:latin typeface="+mn-lt"/>
                </a:endParaRPr>
              </a:p>
            </p:txBody>
          </p:sp>
          <p:sp>
            <p:nvSpPr>
              <p:cNvPr id="14" name="Rectangle 13"/>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endParaRPr lang="pt-BR" dirty="0">
                  <a:solidFill>
                    <a:srgbClr val="000000"/>
                  </a:solidFill>
                </a:endParaRPr>
              </a:p>
              <a:p>
                <a:pPr algn="ctr" defTabSz="669925" eaLnBrk="0" hangingPunct="0">
                  <a:spcBef>
                    <a:spcPct val="50000"/>
                  </a:spcBef>
                  <a:defRPr/>
                </a:pPr>
                <a:r>
                  <a:rPr lang="pt-BR" dirty="0">
                    <a:solidFill>
                      <a:srgbClr val="000000"/>
                    </a:solidFill>
                  </a:rPr>
                  <a:t>0</a:t>
                </a:r>
                <a:endParaRPr lang="en-US" dirty="0">
                  <a:solidFill>
                    <a:srgbClr val="000000"/>
                  </a:solidFill>
                </a:endParaRPr>
              </a:p>
            </p:txBody>
          </p:sp>
        </p:grpSp>
        <p:sp>
          <p:nvSpPr>
            <p:cNvPr id="15" name="Rectangle 14"/>
            <p:cNvSpPr/>
            <p:nvPr/>
          </p:nvSpPr>
          <p:spPr>
            <a:xfrm>
              <a:off x="3342105" y="2023851"/>
              <a:ext cx="989263" cy="615553"/>
            </a:xfrm>
            <a:prstGeom prst="rect">
              <a:avLst/>
            </a:prstGeom>
          </p:spPr>
          <p:txBody>
            <a:bodyPr wrap="square" tIns="0" bIns="0" anchor="ctr">
              <a:spAutoFit/>
            </a:bodyPr>
            <a:lstStyle/>
            <a:p>
              <a:pPr algn="ctr"/>
              <a:r>
                <a:rPr lang="pt-BR" sz="4000" dirty="0"/>
                <a:t>...</a:t>
              </a:r>
            </a:p>
          </p:txBody>
        </p:sp>
      </p:grpSp>
    </p:spTree>
    <p:extLst>
      <p:ext uri="{BB962C8B-B14F-4D97-AF65-F5344CB8AC3E}">
        <p14:creationId xmlns:p14="http://schemas.microsoft.com/office/powerpoint/2010/main" val="40626757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Complemento de 2 (dois)</a:t>
            </a:r>
          </a:p>
        </p:txBody>
      </p:sp>
      <p:sp>
        <p:nvSpPr>
          <p:cNvPr id="3" name="Content Placeholder 2"/>
          <p:cNvSpPr>
            <a:spLocks noGrp="1"/>
          </p:cNvSpPr>
          <p:nvPr>
            <p:ph idx="1"/>
          </p:nvPr>
        </p:nvSpPr>
        <p:spPr>
          <a:xfrm>
            <a:off x="324629" y="1485900"/>
            <a:ext cx="6185781" cy="4724400"/>
          </a:xfrm>
        </p:spPr>
        <p:txBody>
          <a:bodyPr/>
          <a:lstStyle/>
          <a:p>
            <a:r>
              <a:rPr lang="en-BR" dirty="0"/>
              <a:t>Complemento de 2 é a representação mais comum de números inteiros com sinal em computadores</a:t>
            </a:r>
            <a:r>
              <a:rPr lang="pt-BR" dirty="0"/>
              <a:t>.</a:t>
            </a:r>
          </a:p>
          <a:p>
            <a:endParaRPr lang="pt-BR" sz="600" dirty="0"/>
          </a:p>
          <a:p>
            <a:r>
              <a:rPr lang="pt-BR" dirty="0"/>
              <a:t>Para obter a representação de −</a:t>
            </a:r>
            <a:r>
              <a:rPr lang="pt-BR" dirty="0" err="1"/>
              <a:t>x</a:t>
            </a:r>
            <a:r>
              <a:rPr lang="pt-BR" dirty="0"/>
              <a:t> a partir de </a:t>
            </a:r>
            <a:r>
              <a:rPr lang="pt-BR" dirty="0" err="1"/>
              <a:t>x</a:t>
            </a:r>
            <a:r>
              <a:rPr lang="pt-BR" dirty="0"/>
              <a:t>, em uma largura fixa de </a:t>
            </a:r>
            <a:r>
              <a:rPr lang="pt-BR" dirty="0" err="1"/>
              <a:t>n</a:t>
            </a:r>
            <a:r>
              <a:rPr lang="pt-BR" dirty="0"/>
              <a:t> bits:</a:t>
            </a:r>
          </a:p>
          <a:p>
            <a:pPr marL="285750" indent="-285750">
              <a:buFont typeface="Arial"/>
              <a:buChar char="•"/>
            </a:pPr>
            <a:r>
              <a:rPr lang="pt-BR" dirty="0"/>
              <a:t>Inverta todos os bits</a:t>
            </a:r>
          </a:p>
          <a:p>
            <a:pPr marL="285750" indent="-285750">
              <a:buFont typeface="Arial"/>
              <a:buChar char="•"/>
            </a:pPr>
            <a:r>
              <a:rPr lang="pt-BR" dirty="0"/>
              <a:t>Some 1 (um) ao resultado.</a:t>
            </a:r>
          </a:p>
          <a:p>
            <a:endParaRPr lang="pt-BR" sz="1050" dirty="0"/>
          </a:p>
          <a:p>
            <a:endParaRPr lang="pt-BR" sz="1050" dirty="0"/>
          </a:p>
          <a:p>
            <a:endParaRPr lang="pt-BR" sz="1050" dirty="0"/>
          </a:p>
          <a:p>
            <a:r>
              <a:rPr lang="pt-BR" dirty="0"/>
              <a:t>Essa representação simplifica as operações de soma e subtração. </a:t>
            </a:r>
          </a:p>
          <a:p>
            <a:r>
              <a:rPr lang="pt-BR" dirty="0"/>
              <a:t>Exemplo: 3 – 5.</a:t>
            </a:r>
          </a:p>
          <a:p>
            <a:endParaRPr lang="pt-BR" sz="400" dirty="0"/>
          </a:p>
          <a:p>
            <a:r>
              <a:rPr lang="pt-BR" dirty="0"/>
              <a:t>    Invertendo 5             Subtraindo 5 de 3</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17</a:t>
            </a:fld>
            <a:endParaRPr lang="pt-BR" dirty="0"/>
          </a:p>
        </p:txBody>
      </p:sp>
      <p:graphicFrame>
        <p:nvGraphicFramePr>
          <p:cNvPr id="7" name="Table 6"/>
          <p:cNvGraphicFramePr>
            <a:graphicFrameLocks noGrp="1"/>
          </p:cNvGraphicFramePr>
          <p:nvPr>
            <p:extLst>
              <p:ext uri="{D42A27DB-BD31-4B8C-83A1-F6EECF244321}">
                <p14:modId xmlns:p14="http://schemas.microsoft.com/office/powerpoint/2010/main" val="62912111"/>
              </p:ext>
            </p:extLst>
          </p:nvPr>
        </p:nvGraphicFramePr>
        <p:xfrm>
          <a:off x="6510410" y="1483895"/>
          <a:ext cx="2308961" cy="4663440"/>
        </p:xfrm>
        <a:graphic>
          <a:graphicData uri="http://schemas.openxmlformats.org/drawingml/2006/table">
            <a:tbl>
              <a:tblPr firstRow="1">
                <a:tableStyleId>{0505E3EF-67EA-436B-97B2-0124C06EBD24}</a:tableStyleId>
              </a:tblPr>
              <a:tblGrid>
                <a:gridCol w="998855">
                  <a:extLst>
                    <a:ext uri="{9D8B030D-6E8A-4147-A177-3AD203B41FA5}">
                      <a16:colId xmlns:a16="http://schemas.microsoft.com/office/drawing/2014/main" val="20000"/>
                    </a:ext>
                  </a:extLst>
                </a:gridCol>
                <a:gridCol w="1310106">
                  <a:extLst>
                    <a:ext uri="{9D8B030D-6E8A-4147-A177-3AD203B41FA5}">
                      <a16:colId xmlns:a16="http://schemas.microsoft.com/office/drawing/2014/main" val="20001"/>
                    </a:ext>
                  </a:extLst>
                </a:gridCol>
              </a:tblGrid>
              <a:tr h="229622">
                <a:tc>
                  <a:txBody>
                    <a:bodyPr/>
                    <a:lstStyle/>
                    <a:p>
                      <a:pPr algn="ctr"/>
                      <a:r>
                        <a:rPr lang="pt-BR" dirty="0"/>
                        <a:t>Decimal</a:t>
                      </a:r>
                    </a:p>
                  </a:txBody>
                  <a:tcPr marT="0" marB="0"/>
                </a:tc>
                <a:tc>
                  <a:txBody>
                    <a:bodyPr/>
                    <a:lstStyle/>
                    <a:p>
                      <a:pPr algn="ctr"/>
                      <a:r>
                        <a:rPr lang="pt-BR" dirty="0"/>
                        <a:t>Binário(C’2)</a:t>
                      </a:r>
                    </a:p>
                  </a:txBody>
                  <a:tcPr marT="0" marB="0"/>
                </a:tc>
                <a:extLst>
                  <a:ext uri="{0D108BD9-81ED-4DB2-BD59-A6C34878D82A}">
                    <a16:rowId xmlns:a16="http://schemas.microsoft.com/office/drawing/2014/main" val="10000"/>
                  </a:ext>
                </a:extLst>
              </a:tr>
              <a:tr h="229622">
                <a:tc>
                  <a:txBody>
                    <a:bodyPr/>
                    <a:lstStyle/>
                    <a:p>
                      <a:pPr algn="ctr"/>
                      <a:r>
                        <a:rPr lang="pt-BR" dirty="0"/>
                        <a:t>7</a:t>
                      </a:r>
                    </a:p>
                  </a:txBody>
                  <a:tcPr marT="0" marB="0"/>
                </a:tc>
                <a:tc>
                  <a:txBody>
                    <a:bodyPr/>
                    <a:lstStyle/>
                    <a:p>
                      <a:pPr algn="ctr"/>
                      <a:r>
                        <a:rPr lang="pt-BR" dirty="0"/>
                        <a:t>0111</a:t>
                      </a:r>
                    </a:p>
                  </a:txBody>
                  <a:tcPr marT="0" marB="0"/>
                </a:tc>
                <a:extLst>
                  <a:ext uri="{0D108BD9-81ED-4DB2-BD59-A6C34878D82A}">
                    <a16:rowId xmlns:a16="http://schemas.microsoft.com/office/drawing/2014/main" val="10001"/>
                  </a:ext>
                </a:extLst>
              </a:tr>
              <a:tr h="229622">
                <a:tc>
                  <a:txBody>
                    <a:bodyPr/>
                    <a:lstStyle/>
                    <a:p>
                      <a:pPr algn="ctr"/>
                      <a:r>
                        <a:rPr lang="pt-BR" dirty="0"/>
                        <a:t>6</a:t>
                      </a:r>
                    </a:p>
                  </a:txBody>
                  <a:tcPr marT="0" marB="0"/>
                </a:tc>
                <a:tc>
                  <a:txBody>
                    <a:bodyPr/>
                    <a:lstStyle/>
                    <a:p>
                      <a:pPr algn="ctr"/>
                      <a:r>
                        <a:rPr lang="pt-BR" dirty="0"/>
                        <a:t>0110</a:t>
                      </a:r>
                    </a:p>
                  </a:txBody>
                  <a:tcPr marT="0" marB="0"/>
                </a:tc>
                <a:extLst>
                  <a:ext uri="{0D108BD9-81ED-4DB2-BD59-A6C34878D82A}">
                    <a16:rowId xmlns:a16="http://schemas.microsoft.com/office/drawing/2014/main" val="10002"/>
                  </a:ext>
                </a:extLst>
              </a:tr>
              <a:tr h="229622">
                <a:tc>
                  <a:txBody>
                    <a:bodyPr/>
                    <a:lstStyle/>
                    <a:p>
                      <a:pPr algn="ctr"/>
                      <a:r>
                        <a:rPr lang="pt-BR" dirty="0"/>
                        <a:t>5</a:t>
                      </a:r>
                    </a:p>
                  </a:txBody>
                  <a:tcPr marT="0" marB="0"/>
                </a:tc>
                <a:tc>
                  <a:txBody>
                    <a:bodyPr/>
                    <a:lstStyle/>
                    <a:p>
                      <a:pPr algn="ctr"/>
                      <a:r>
                        <a:rPr lang="pt-BR" dirty="0"/>
                        <a:t>0101</a:t>
                      </a:r>
                    </a:p>
                  </a:txBody>
                  <a:tcPr marT="0" marB="0"/>
                </a:tc>
                <a:extLst>
                  <a:ext uri="{0D108BD9-81ED-4DB2-BD59-A6C34878D82A}">
                    <a16:rowId xmlns:a16="http://schemas.microsoft.com/office/drawing/2014/main" val="10003"/>
                  </a:ext>
                </a:extLst>
              </a:tr>
              <a:tr h="229622">
                <a:tc>
                  <a:txBody>
                    <a:bodyPr/>
                    <a:lstStyle/>
                    <a:p>
                      <a:pPr algn="ctr"/>
                      <a:r>
                        <a:rPr lang="pt-BR" dirty="0"/>
                        <a:t>4</a:t>
                      </a:r>
                    </a:p>
                  </a:txBody>
                  <a:tcPr marT="0" marB="0"/>
                </a:tc>
                <a:tc>
                  <a:txBody>
                    <a:bodyPr/>
                    <a:lstStyle/>
                    <a:p>
                      <a:pPr algn="ctr"/>
                      <a:r>
                        <a:rPr lang="pt-BR" dirty="0"/>
                        <a:t>0100</a:t>
                      </a:r>
                    </a:p>
                  </a:txBody>
                  <a:tcPr marT="0" marB="0"/>
                </a:tc>
                <a:extLst>
                  <a:ext uri="{0D108BD9-81ED-4DB2-BD59-A6C34878D82A}">
                    <a16:rowId xmlns:a16="http://schemas.microsoft.com/office/drawing/2014/main" val="10004"/>
                  </a:ext>
                </a:extLst>
              </a:tr>
              <a:tr h="229622">
                <a:tc>
                  <a:txBody>
                    <a:bodyPr/>
                    <a:lstStyle/>
                    <a:p>
                      <a:pPr algn="ctr"/>
                      <a:r>
                        <a:rPr lang="pt-BR" dirty="0"/>
                        <a:t>3</a:t>
                      </a:r>
                    </a:p>
                  </a:txBody>
                  <a:tcPr marT="0" marB="0"/>
                </a:tc>
                <a:tc>
                  <a:txBody>
                    <a:bodyPr/>
                    <a:lstStyle/>
                    <a:p>
                      <a:pPr algn="ctr"/>
                      <a:r>
                        <a:rPr lang="pt-BR" dirty="0"/>
                        <a:t>0011</a:t>
                      </a:r>
                    </a:p>
                  </a:txBody>
                  <a:tcPr marT="0" marB="0"/>
                </a:tc>
                <a:extLst>
                  <a:ext uri="{0D108BD9-81ED-4DB2-BD59-A6C34878D82A}">
                    <a16:rowId xmlns:a16="http://schemas.microsoft.com/office/drawing/2014/main" val="10005"/>
                  </a:ext>
                </a:extLst>
              </a:tr>
              <a:tr h="229622">
                <a:tc>
                  <a:txBody>
                    <a:bodyPr/>
                    <a:lstStyle/>
                    <a:p>
                      <a:pPr algn="ctr"/>
                      <a:r>
                        <a:rPr lang="pt-BR" dirty="0"/>
                        <a:t>2</a:t>
                      </a:r>
                    </a:p>
                  </a:txBody>
                  <a:tcPr marT="0" marB="0"/>
                </a:tc>
                <a:tc>
                  <a:txBody>
                    <a:bodyPr/>
                    <a:lstStyle/>
                    <a:p>
                      <a:pPr algn="ctr"/>
                      <a:r>
                        <a:rPr lang="pt-BR" dirty="0"/>
                        <a:t>0010</a:t>
                      </a:r>
                    </a:p>
                  </a:txBody>
                  <a:tcPr marT="0" marB="0"/>
                </a:tc>
                <a:extLst>
                  <a:ext uri="{0D108BD9-81ED-4DB2-BD59-A6C34878D82A}">
                    <a16:rowId xmlns:a16="http://schemas.microsoft.com/office/drawing/2014/main" val="10006"/>
                  </a:ext>
                </a:extLst>
              </a:tr>
              <a:tr h="229622">
                <a:tc>
                  <a:txBody>
                    <a:bodyPr/>
                    <a:lstStyle/>
                    <a:p>
                      <a:pPr algn="ctr"/>
                      <a:r>
                        <a:rPr lang="pt-BR" dirty="0"/>
                        <a:t>1</a:t>
                      </a:r>
                    </a:p>
                  </a:txBody>
                  <a:tcPr marT="0" marB="0"/>
                </a:tc>
                <a:tc>
                  <a:txBody>
                    <a:bodyPr/>
                    <a:lstStyle/>
                    <a:p>
                      <a:pPr algn="ctr"/>
                      <a:r>
                        <a:rPr lang="pt-BR" dirty="0"/>
                        <a:t>0001</a:t>
                      </a:r>
                    </a:p>
                  </a:txBody>
                  <a:tcPr marT="0" marB="0"/>
                </a:tc>
                <a:extLst>
                  <a:ext uri="{0D108BD9-81ED-4DB2-BD59-A6C34878D82A}">
                    <a16:rowId xmlns:a16="http://schemas.microsoft.com/office/drawing/2014/main" val="10007"/>
                  </a:ext>
                </a:extLst>
              </a:tr>
              <a:tr h="229622">
                <a:tc>
                  <a:txBody>
                    <a:bodyPr/>
                    <a:lstStyle/>
                    <a:p>
                      <a:pPr algn="ctr"/>
                      <a:r>
                        <a:rPr lang="pt-BR" dirty="0"/>
                        <a:t>0</a:t>
                      </a:r>
                    </a:p>
                  </a:txBody>
                  <a:tcPr marT="0" marB="0"/>
                </a:tc>
                <a:tc>
                  <a:txBody>
                    <a:bodyPr/>
                    <a:lstStyle/>
                    <a:p>
                      <a:pPr algn="ctr"/>
                      <a:r>
                        <a:rPr lang="pt-BR" dirty="0"/>
                        <a:t>0000</a:t>
                      </a:r>
                    </a:p>
                  </a:txBody>
                  <a:tcPr marT="0" marB="0"/>
                </a:tc>
                <a:extLst>
                  <a:ext uri="{0D108BD9-81ED-4DB2-BD59-A6C34878D82A}">
                    <a16:rowId xmlns:a16="http://schemas.microsoft.com/office/drawing/2014/main" val="10008"/>
                  </a:ext>
                </a:extLst>
              </a:tr>
              <a:tr h="229622">
                <a:tc>
                  <a:txBody>
                    <a:bodyPr/>
                    <a:lstStyle/>
                    <a:p>
                      <a:pPr algn="ctr"/>
                      <a:r>
                        <a:rPr lang="pt-BR" dirty="0"/>
                        <a:t>-1</a:t>
                      </a:r>
                    </a:p>
                  </a:txBody>
                  <a:tcPr marT="0" marB="0"/>
                </a:tc>
                <a:tc>
                  <a:txBody>
                    <a:bodyPr/>
                    <a:lstStyle/>
                    <a:p>
                      <a:pPr algn="ctr"/>
                      <a:r>
                        <a:rPr lang="pt-BR" dirty="0"/>
                        <a:t>1111</a:t>
                      </a:r>
                    </a:p>
                  </a:txBody>
                  <a:tcPr marT="0" marB="0"/>
                </a:tc>
                <a:extLst>
                  <a:ext uri="{0D108BD9-81ED-4DB2-BD59-A6C34878D82A}">
                    <a16:rowId xmlns:a16="http://schemas.microsoft.com/office/drawing/2014/main" val="10009"/>
                  </a:ext>
                </a:extLst>
              </a:tr>
              <a:tr h="229622">
                <a:tc>
                  <a:txBody>
                    <a:bodyPr/>
                    <a:lstStyle/>
                    <a:p>
                      <a:pPr algn="ctr"/>
                      <a:r>
                        <a:rPr lang="pt-BR" dirty="0"/>
                        <a:t>-2</a:t>
                      </a:r>
                    </a:p>
                  </a:txBody>
                  <a:tcPr marT="0" marB="0"/>
                </a:tc>
                <a:tc>
                  <a:txBody>
                    <a:bodyPr/>
                    <a:lstStyle/>
                    <a:p>
                      <a:pPr algn="ctr"/>
                      <a:r>
                        <a:rPr lang="pt-BR" dirty="0"/>
                        <a:t>1110</a:t>
                      </a:r>
                    </a:p>
                  </a:txBody>
                  <a:tcPr marT="0" marB="0"/>
                </a:tc>
                <a:extLst>
                  <a:ext uri="{0D108BD9-81ED-4DB2-BD59-A6C34878D82A}">
                    <a16:rowId xmlns:a16="http://schemas.microsoft.com/office/drawing/2014/main" val="10010"/>
                  </a:ext>
                </a:extLst>
              </a:tr>
              <a:tr h="229622">
                <a:tc>
                  <a:txBody>
                    <a:bodyPr/>
                    <a:lstStyle/>
                    <a:p>
                      <a:pPr algn="ctr"/>
                      <a:r>
                        <a:rPr lang="pt-BR" dirty="0"/>
                        <a:t>-3</a:t>
                      </a:r>
                    </a:p>
                  </a:txBody>
                  <a:tcPr marT="0" marB="0"/>
                </a:tc>
                <a:tc>
                  <a:txBody>
                    <a:bodyPr/>
                    <a:lstStyle/>
                    <a:p>
                      <a:pPr algn="ctr"/>
                      <a:r>
                        <a:rPr lang="pt-BR" dirty="0"/>
                        <a:t>1101</a:t>
                      </a:r>
                    </a:p>
                  </a:txBody>
                  <a:tcPr marT="0" marB="0"/>
                </a:tc>
                <a:extLst>
                  <a:ext uri="{0D108BD9-81ED-4DB2-BD59-A6C34878D82A}">
                    <a16:rowId xmlns:a16="http://schemas.microsoft.com/office/drawing/2014/main" val="10011"/>
                  </a:ext>
                </a:extLst>
              </a:tr>
              <a:tr h="229622">
                <a:tc>
                  <a:txBody>
                    <a:bodyPr/>
                    <a:lstStyle/>
                    <a:p>
                      <a:pPr algn="ctr"/>
                      <a:r>
                        <a:rPr lang="pt-BR" dirty="0"/>
                        <a:t>-4</a:t>
                      </a:r>
                    </a:p>
                  </a:txBody>
                  <a:tcPr marT="0" marB="0"/>
                </a:tc>
                <a:tc>
                  <a:txBody>
                    <a:bodyPr/>
                    <a:lstStyle/>
                    <a:p>
                      <a:pPr algn="ctr"/>
                      <a:r>
                        <a:rPr lang="pt-BR" dirty="0"/>
                        <a:t>1100</a:t>
                      </a:r>
                    </a:p>
                  </a:txBody>
                  <a:tcPr marT="0" marB="0"/>
                </a:tc>
                <a:extLst>
                  <a:ext uri="{0D108BD9-81ED-4DB2-BD59-A6C34878D82A}">
                    <a16:rowId xmlns:a16="http://schemas.microsoft.com/office/drawing/2014/main" val="10012"/>
                  </a:ext>
                </a:extLst>
              </a:tr>
              <a:tr h="229622">
                <a:tc>
                  <a:txBody>
                    <a:bodyPr/>
                    <a:lstStyle/>
                    <a:p>
                      <a:pPr algn="ctr"/>
                      <a:r>
                        <a:rPr lang="pt-BR" dirty="0"/>
                        <a:t>-5</a:t>
                      </a:r>
                    </a:p>
                  </a:txBody>
                  <a:tcPr marT="0" marB="0"/>
                </a:tc>
                <a:tc>
                  <a:txBody>
                    <a:bodyPr/>
                    <a:lstStyle/>
                    <a:p>
                      <a:pPr algn="ctr"/>
                      <a:r>
                        <a:rPr lang="pt-BR" dirty="0"/>
                        <a:t>1011</a:t>
                      </a:r>
                    </a:p>
                  </a:txBody>
                  <a:tcPr marT="0" marB="0"/>
                </a:tc>
                <a:extLst>
                  <a:ext uri="{0D108BD9-81ED-4DB2-BD59-A6C34878D82A}">
                    <a16:rowId xmlns:a16="http://schemas.microsoft.com/office/drawing/2014/main" val="10013"/>
                  </a:ext>
                </a:extLst>
              </a:tr>
              <a:tr h="229622">
                <a:tc>
                  <a:txBody>
                    <a:bodyPr/>
                    <a:lstStyle/>
                    <a:p>
                      <a:pPr algn="ctr"/>
                      <a:r>
                        <a:rPr lang="pt-BR" dirty="0"/>
                        <a:t>-6</a:t>
                      </a:r>
                    </a:p>
                  </a:txBody>
                  <a:tcPr marT="0" marB="0"/>
                </a:tc>
                <a:tc>
                  <a:txBody>
                    <a:bodyPr/>
                    <a:lstStyle/>
                    <a:p>
                      <a:pPr algn="ctr"/>
                      <a:r>
                        <a:rPr lang="pt-BR" dirty="0"/>
                        <a:t>1010</a:t>
                      </a:r>
                    </a:p>
                  </a:txBody>
                  <a:tcPr marT="0" marB="0"/>
                </a:tc>
                <a:extLst>
                  <a:ext uri="{0D108BD9-81ED-4DB2-BD59-A6C34878D82A}">
                    <a16:rowId xmlns:a16="http://schemas.microsoft.com/office/drawing/2014/main" val="10014"/>
                  </a:ext>
                </a:extLst>
              </a:tr>
              <a:tr h="229622">
                <a:tc>
                  <a:txBody>
                    <a:bodyPr/>
                    <a:lstStyle/>
                    <a:p>
                      <a:pPr algn="ctr"/>
                      <a:r>
                        <a:rPr lang="pt-BR" dirty="0"/>
                        <a:t>-7</a:t>
                      </a:r>
                    </a:p>
                  </a:txBody>
                  <a:tcPr marT="0" marB="0"/>
                </a:tc>
                <a:tc>
                  <a:txBody>
                    <a:bodyPr/>
                    <a:lstStyle/>
                    <a:p>
                      <a:pPr algn="ctr"/>
                      <a:r>
                        <a:rPr lang="pt-BR" dirty="0"/>
                        <a:t>1001</a:t>
                      </a:r>
                    </a:p>
                  </a:txBody>
                  <a:tcPr marT="0" marB="0"/>
                </a:tc>
                <a:extLst>
                  <a:ext uri="{0D108BD9-81ED-4DB2-BD59-A6C34878D82A}">
                    <a16:rowId xmlns:a16="http://schemas.microsoft.com/office/drawing/2014/main" val="10015"/>
                  </a:ext>
                </a:extLst>
              </a:tr>
              <a:tr h="229622">
                <a:tc>
                  <a:txBody>
                    <a:bodyPr/>
                    <a:lstStyle/>
                    <a:p>
                      <a:pPr algn="ctr"/>
                      <a:r>
                        <a:rPr lang="pt-BR" dirty="0"/>
                        <a:t>-8</a:t>
                      </a:r>
                    </a:p>
                  </a:txBody>
                  <a:tcPr marT="0" marB="0"/>
                </a:tc>
                <a:tc>
                  <a:txBody>
                    <a:bodyPr/>
                    <a:lstStyle/>
                    <a:p>
                      <a:pPr algn="ctr"/>
                      <a:r>
                        <a:rPr lang="pt-BR" dirty="0"/>
                        <a:t>1000</a:t>
                      </a:r>
                    </a:p>
                  </a:txBody>
                  <a:tcPr marT="0" marB="0"/>
                </a:tc>
                <a:extLst>
                  <a:ext uri="{0D108BD9-81ED-4DB2-BD59-A6C34878D82A}">
                    <a16:rowId xmlns:a16="http://schemas.microsoft.com/office/drawing/2014/main" val="10016"/>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005539799"/>
              </p:ext>
            </p:extLst>
          </p:nvPr>
        </p:nvGraphicFramePr>
        <p:xfrm>
          <a:off x="3305793" y="5460771"/>
          <a:ext cx="1988100" cy="822960"/>
        </p:xfrm>
        <a:graphic>
          <a:graphicData uri="http://schemas.openxmlformats.org/drawingml/2006/table">
            <a:tbl>
              <a:tblPr firstRow="1">
                <a:tableStyleId>{C4B1156A-380E-4F78-BDF5-A606A8083BF9}</a:tableStyleId>
              </a:tblPr>
              <a:tblGrid>
                <a:gridCol w="958732">
                  <a:extLst>
                    <a:ext uri="{9D8B030D-6E8A-4147-A177-3AD203B41FA5}">
                      <a16:colId xmlns:a16="http://schemas.microsoft.com/office/drawing/2014/main" val="20000"/>
                    </a:ext>
                  </a:extLst>
                </a:gridCol>
                <a:gridCol w="1029368">
                  <a:extLst>
                    <a:ext uri="{9D8B030D-6E8A-4147-A177-3AD203B41FA5}">
                      <a16:colId xmlns:a16="http://schemas.microsoft.com/office/drawing/2014/main" val="20001"/>
                    </a:ext>
                  </a:extLst>
                </a:gridCol>
              </a:tblGrid>
              <a:tr h="229622">
                <a:tc>
                  <a:txBody>
                    <a:bodyPr/>
                    <a:lstStyle/>
                    <a:p>
                      <a:pPr algn="ctr"/>
                      <a:r>
                        <a:rPr lang="pt-BR" b="0" dirty="0"/>
                        <a:t>3</a:t>
                      </a:r>
                    </a:p>
                  </a:txBody>
                  <a:tcPr marT="0" marB="0"/>
                </a:tc>
                <a:tc>
                  <a:txBody>
                    <a:bodyPr/>
                    <a:lstStyle/>
                    <a:p>
                      <a:pPr algn="ctr"/>
                      <a:r>
                        <a:rPr lang="pt-BR" b="0" dirty="0"/>
                        <a:t>0011</a:t>
                      </a:r>
                    </a:p>
                  </a:txBody>
                  <a:tcPr marT="0" marB="0"/>
                </a:tc>
                <a:extLst>
                  <a:ext uri="{0D108BD9-81ED-4DB2-BD59-A6C34878D82A}">
                    <a16:rowId xmlns:a16="http://schemas.microsoft.com/office/drawing/2014/main" val="10000"/>
                  </a:ext>
                </a:extLst>
              </a:tr>
              <a:tr h="229622">
                <a:tc>
                  <a:txBody>
                    <a:bodyPr/>
                    <a:lstStyle/>
                    <a:p>
                      <a:pPr algn="ctr"/>
                      <a:r>
                        <a:rPr lang="pt-BR" dirty="0"/>
                        <a:t>+ (-5)</a:t>
                      </a:r>
                    </a:p>
                  </a:txBody>
                  <a:tcPr marT="0" marB="0"/>
                </a:tc>
                <a:tc>
                  <a:txBody>
                    <a:bodyPr/>
                    <a:lstStyle/>
                    <a:p>
                      <a:pPr algn="ctr"/>
                      <a:r>
                        <a:rPr lang="pt-BR" dirty="0"/>
                        <a:t>1011</a:t>
                      </a:r>
                    </a:p>
                  </a:txBody>
                  <a:tcPr marT="0" marB="0"/>
                </a:tc>
                <a:extLst>
                  <a:ext uri="{0D108BD9-81ED-4DB2-BD59-A6C34878D82A}">
                    <a16:rowId xmlns:a16="http://schemas.microsoft.com/office/drawing/2014/main" val="10001"/>
                  </a:ext>
                </a:extLst>
              </a:tr>
              <a:tr h="229622">
                <a:tc>
                  <a:txBody>
                    <a:bodyPr/>
                    <a:lstStyle/>
                    <a:p>
                      <a:pPr algn="ctr"/>
                      <a:r>
                        <a:rPr lang="pt-BR" b="1" dirty="0"/>
                        <a:t>3-5 = -2</a:t>
                      </a:r>
                    </a:p>
                  </a:txBody>
                  <a:tcPr marT="0" marB="0"/>
                </a:tc>
                <a:tc>
                  <a:txBody>
                    <a:bodyPr/>
                    <a:lstStyle/>
                    <a:p>
                      <a:pPr algn="ctr"/>
                      <a:r>
                        <a:rPr lang="pt-BR" b="1" dirty="0"/>
                        <a:t>1110</a:t>
                      </a:r>
                    </a:p>
                  </a:txBody>
                  <a:tcPr marT="0" marB="0"/>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945597562"/>
              </p:ext>
            </p:extLst>
          </p:nvPr>
        </p:nvGraphicFramePr>
        <p:xfrm>
          <a:off x="657225" y="5460771"/>
          <a:ext cx="1913306" cy="822960"/>
        </p:xfrm>
        <a:graphic>
          <a:graphicData uri="http://schemas.openxmlformats.org/drawingml/2006/table">
            <a:tbl>
              <a:tblPr firstRow="1">
                <a:tableStyleId>{C4B1156A-380E-4F78-BDF5-A606A8083BF9}</a:tableStyleId>
              </a:tblPr>
              <a:tblGrid>
                <a:gridCol w="813301">
                  <a:extLst>
                    <a:ext uri="{9D8B030D-6E8A-4147-A177-3AD203B41FA5}">
                      <a16:colId xmlns:a16="http://schemas.microsoft.com/office/drawing/2014/main" val="20000"/>
                    </a:ext>
                  </a:extLst>
                </a:gridCol>
                <a:gridCol w="1100005">
                  <a:extLst>
                    <a:ext uri="{9D8B030D-6E8A-4147-A177-3AD203B41FA5}">
                      <a16:colId xmlns:a16="http://schemas.microsoft.com/office/drawing/2014/main" val="20001"/>
                    </a:ext>
                  </a:extLst>
                </a:gridCol>
              </a:tblGrid>
              <a:tr h="229622">
                <a:tc>
                  <a:txBody>
                    <a:bodyPr/>
                    <a:lstStyle/>
                    <a:p>
                      <a:pPr algn="ctr"/>
                      <a:r>
                        <a:rPr lang="pt-BR" b="0" dirty="0"/>
                        <a:t>5</a:t>
                      </a:r>
                    </a:p>
                  </a:txBody>
                  <a:tcPr marT="0" marB="0"/>
                </a:tc>
                <a:tc>
                  <a:txBody>
                    <a:bodyPr/>
                    <a:lstStyle/>
                    <a:p>
                      <a:pPr algn="ctr"/>
                      <a:r>
                        <a:rPr lang="pt-BR" b="0" dirty="0"/>
                        <a:t>0101</a:t>
                      </a:r>
                    </a:p>
                  </a:txBody>
                  <a:tcPr marT="0" marB="0"/>
                </a:tc>
                <a:extLst>
                  <a:ext uri="{0D108BD9-81ED-4DB2-BD59-A6C34878D82A}">
                    <a16:rowId xmlns:a16="http://schemas.microsoft.com/office/drawing/2014/main" val="10000"/>
                  </a:ext>
                </a:extLst>
              </a:tr>
              <a:tr h="229622">
                <a:tc>
                  <a:txBody>
                    <a:bodyPr/>
                    <a:lstStyle/>
                    <a:p>
                      <a:pPr algn="ctr"/>
                      <a:r>
                        <a:rPr lang="pt-BR" dirty="0" err="1"/>
                        <a:t>inv</a:t>
                      </a:r>
                      <a:r>
                        <a:rPr lang="pt-BR" dirty="0"/>
                        <a:t> + 1</a:t>
                      </a:r>
                    </a:p>
                  </a:txBody>
                  <a:tcPr marT="0" marB="0"/>
                </a:tc>
                <a:tc>
                  <a:txBody>
                    <a:bodyPr/>
                    <a:lstStyle/>
                    <a:p>
                      <a:pPr algn="ctr"/>
                      <a:r>
                        <a:rPr lang="pt-BR" dirty="0"/>
                        <a:t>1010</a:t>
                      </a:r>
                      <a:r>
                        <a:rPr lang="pt-BR" baseline="0" dirty="0"/>
                        <a:t> + 1</a:t>
                      </a:r>
                      <a:endParaRPr lang="pt-BR" dirty="0"/>
                    </a:p>
                  </a:txBody>
                  <a:tcPr marT="0" marB="0"/>
                </a:tc>
                <a:extLst>
                  <a:ext uri="{0D108BD9-81ED-4DB2-BD59-A6C34878D82A}">
                    <a16:rowId xmlns:a16="http://schemas.microsoft.com/office/drawing/2014/main" val="10001"/>
                  </a:ext>
                </a:extLst>
              </a:tr>
              <a:tr h="229622">
                <a:tc>
                  <a:txBody>
                    <a:bodyPr/>
                    <a:lstStyle/>
                    <a:p>
                      <a:pPr algn="ctr"/>
                      <a:r>
                        <a:rPr lang="pt-BR" b="1" dirty="0"/>
                        <a:t>-5</a:t>
                      </a:r>
                    </a:p>
                  </a:txBody>
                  <a:tcPr marT="0" marB="0"/>
                </a:tc>
                <a:tc>
                  <a:txBody>
                    <a:bodyPr/>
                    <a:lstStyle/>
                    <a:p>
                      <a:pPr algn="ctr"/>
                      <a:r>
                        <a:rPr lang="pt-BR" dirty="0"/>
                        <a:t>1011</a:t>
                      </a:r>
                    </a:p>
                  </a:txBody>
                  <a:tcPr marT="0" marB="0"/>
                </a:tc>
                <a:extLst>
                  <a:ext uri="{0D108BD9-81ED-4DB2-BD59-A6C34878D82A}">
                    <a16:rowId xmlns:a16="http://schemas.microsoft.com/office/drawing/2014/main" val="10002"/>
                  </a:ext>
                </a:extLst>
              </a:tr>
            </a:tbl>
          </a:graphicData>
        </a:graphic>
      </p:graphicFrame>
      <p:pic>
        <p:nvPicPr>
          <p:cNvPr id="6" name="Picture 5"/>
          <p:cNvPicPr>
            <a:picLocks noChangeAspect="1"/>
          </p:cNvPicPr>
          <p:nvPr/>
        </p:nvPicPr>
        <p:blipFill rotWithShape="1">
          <a:blip r:embed="rId4"/>
          <a:srcRect l="4545" t="12000" r="4187" b="18016"/>
          <a:stretch/>
        </p:blipFill>
        <p:spPr>
          <a:xfrm>
            <a:off x="6851560" y="118142"/>
            <a:ext cx="1656895" cy="1264151"/>
          </a:xfrm>
          <a:prstGeom prst="rect">
            <a:avLst/>
          </a:prstGeom>
        </p:spPr>
      </p:pic>
    </p:spTree>
    <p:custDataLst>
      <p:tags r:id="rId1"/>
    </p:custDataLst>
    <p:extLst>
      <p:ext uri="{BB962C8B-B14F-4D97-AF65-F5344CB8AC3E}">
        <p14:creationId xmlns:p14="http://schemas.microsoft.com/office/powerpoint/2010/main" val="40046832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p:cNvGrpSpPr>
            <a:grpSpLocks/>
          </p:cNvGrpSpPr>
          <p:nvPr/>
        </p:nvGrpSpPr>
        <p:grpSpPr bwMode="auto">
          <a:xfrm>
            <a:off x="1014413" y="3365208"/>
            <a:ext cx="4776787" cy="470184"/>
            <a:chOff x="1014719" y="5168616"/>
            <a:chExt cx="4776865" cy="470184"/>
          </a:xfrm>
        </p:grpSpPr>
        <p:sp>
          <p:nvSpPr>
            <p:cNvPr id="31" name="Down Arrow 30"/>
            <p:cNvSpPr/>
            <p:nvPr/>
          </p:nvSpPr>
          <p:spPr bwMode="auto">
            <a:xfrm>
              <a:off x="1014719" y="5181600"/>
              <a:ext cx="411169" cy="457200"/>
            </a:xfrm>
            <a:prstGeom prst="downArrow">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tIns="91440" bIns="91440"/>
            <a:lstStyle/>
            <a:p>
              <a:pPr defTabSz="669925" eaLnBrk="0" hangingPunct="0">
                <a:spcBef>
                  <a:spcPct val="50000"/>
                </a:spcBef>
                <a:defRPr/>
              </a:pPr>
              <a:endParaRPr lang="en-US">
                <a:solidFill>
                  <a:srgbClr val="000000"/>
                </a:solidFill>
              </a:endParaRPr>
            </a:p>
          </p:txBody>
        </p:sp>
        <p:sp>
          <p:nvSpPr>
            <p:cNvPr id="111620" name="TextBox 33"/>
            <p:cNvSpPr txBox="1">
              <a:spLocks noChangeArrowheads="1"/>
            </p:cNvSpPr>
            <p:nvPr/>
          </p:nvSpPr>
          <p:spPr bwMode="auto">
            <a:xfrm>
              <a:off x="1395757" y="5168616"/>
              <a:ext cx="4395827" cy="292388"/>
            </a:xfrm>
            <a:prstGeom prst="rect">
              <a:avLst/>
            </a:prstGeom>
            <a:noFill/>
            <a:ln w="9525">
              <a:noFill/>
              <a:miter lim="800000"/>
              <a:headEnd/>
              <a:tailEnd/>
            </a:ln>
          </p:spPr>
          <p:txBody>
            <a:bodyPr wrap="none">
              <a:spAutoFit/>
            </a:bodyPr>
            <a:lstStyle/>
            <a:p>
              <a:r>
                <a:rPr lang="pt-BR" sz="1300" dirty="0">
                  <a:solidFill>
                    <a:srgbClr val="000000"/>
                  </a:solidFill>
                  <a:latin typeface="Lucida Sans" pitchFamily="34" charset="0"/>
                </a:rPr>
                <a:t>bit mais à esquerda (MSB) caracteriza valor negativo</a:t>
              </a:r>
              <a:endParaRPr lang="en-US" sz="1300" dirty="0">
                <a:solidFill>
                  <a:srgbClr val="000000"/>
                </a:solidFill>
                <a:latin typeface="Lucida Sans" pitchFamily="34" charset="0"/>
              </a:endParaRPr>
            </a:p>
          </p:txBody>
        </p:sp>
      </p:grpSp>
      <p:sp>
        <p:nvSpPr>
          <p:cNvPr id="14" name="Title 13"/>
          <p:cNvSpPr>
            <a:spLocks noGrp="1"/>
          </p:cNvSpPr>
          <p:nvPr>
            <p:ph type="title"/>
          </p:nvPr>
        </p:nvSpPr>
        <p:spPr/>
        <p:txBody>
          <a:bodyPr/>
          <a:lstStyle/>
          <a:p>
            <a:r>
              <a:rPr lang="pt-BR" dirty="0"/>
              <a:t>Complemento </a:t>
            </a:r>
            <a:r>
              <a:rPr lang="pt-BR"/>
              <a:t>de Dois no Byte</a:t>
            </a:r>
            <a:endParaRPr lang="pt-BR" dirty="0"/>
          </a:p>
        </p:txBody>
      </p:sp>
      <p:sp>
        <p:nvSpPr>
          <p:cNvPr id="3" name="Content Placeholder 2"/>
          <p:cNvSpPr>
            <a:spLocks noGrp="1"/>
          </p:cNvSpPr>
          <p:nvPr>
            <p:ph idx="1"/>
          </p:nvPr>
        </p:nvSpPr>
        <p:spPr>
          <a:xfrm>
            <a:off x="657225" y="1485900"/>
            <a:ext cx="8029575" cy="2070100"/>
          </a:xfrm>
          <a:prstGeom prst="rect">
            <a:avLst/>
          </a:prstGeom>
        </p:spPr>
        <p:txBody>
          <a:bodyPr rtlCol="0">
            <a:normAutofit/>
          </a:bodyPr>
          <a:lstStyle/>
          <a:p>
            <a:pPr fontAlgn="auto">
              <a:spcBef>
                <a:spcPts val="1800"/>
              </a:spcBef>
              <a:spcAft>
                <a:spcPts val="0"/>
              </a:spcAft>
              <a:buFont typeface="Wingdings 2"/>
              <a:buNone/>
              <a:defRPr/>
            </a:pPr>
            <a:r>
              <a:rPr lang="pt-BR" sz="2800" dirty="0">
                <a:solidFill>
                  <a:srgbClr val="000000"/>
                </a:solidFill>
              </a:rPr>
              <a:t>2</a:t>
            </a:r>
            <a:r>
              <a:rPr lang="pt-BR" sz="2800" baseline="30000" dirty="0">
                <a:solidFill>
                  <a:srgbClr val="000000"/>
                </a:solidFill>
              </a:rPr>
              <a:t>8</a:t>
            </a:r>
            <a:r>
              <a:rPr lang="pt-BR" sz="2800" dirty="0">
                <a:solidFill>
                  <a:srgbClr val="000000"/>
                </a:solidFill>
              </a:rPr>
              <a:t> valores </a:t>
            </a:r>
            <a:r>
              <a:rPr lang="pt-BR" sz="2800" dirty="0">
                <a:solidFill>
                  <a:srgbClr val="000000"/>
                </a:solidFill>
                <a:sym typeface="Symbol"/>
              </a:rPr>
              <a:t></a:t>
            </a:r>
            <a:r>
              <a:rPr lang="pt-BR" sz="2800" dirty="0">
                <a:solidFill>
                  <a:srgbClr val="000000"/>
                </a:solidFill>
              </a:rPr>
              <a:t> 256 valores</a:t>
            </a:r>
          </a:p>
          <a:p>
            <a:pPr marL="804863" lvl="1" indent="-347663" fontAlgn="auto">
              <a:spcBef>
                <a:spcPts val="0"/>
              </a:spcBef>
              <a:buClr>
                <a:schemeClr val="accent2">
                  <a:lumMod val="50000"/>
                </a:schemeClr>
              </a:buClr>
              <a:tabLst>
                <a:tab pos="804863" algn="l"/>
                <a:tab pos="1371600" algn="l"/>
                <a:tab pos="5824538" algn="l"/>
              </a:tabLst>
              <a:defRPr/>
            </a:pPr>
            <a:r>
              <a:rPr lang="pt-BR" sz="2400" dirty="0">
                <a:solidFill>
                  <a:srgbClr val="000000"/>
                </a:solidFill>
              </a:rPr>
              <a:t>sem sinal: 0 a 255             </a:t>
            </a:r>
            <a:r>
              <a:rPr lang="en-US" sz="2400" dirty="0">
                <a:solidFill>
                  <a:srgbClr val="000000"/>
                </a:solidFill>
              </a:rPr>
              <a:t>(unsigned)</a:t>
            </a:r>
          </a:p>
          <a:p>
            <a:pPr marL="804863" lvl="1" indent="-347663" fontAlgn="auto">
              <a:spcBef>
                <a:spcPts val="0"/>
              </a:spcBef>
              <a:buClr>
                <a:schemeClr val="accent2">
                  <a:lumMod val="50000"/>
                </a:schemeClr>
              </a:buClr>
              <a:tabLst>
                <a:tab pos="804863" algn="l"/>
                <a:tab pos="1371600" algn="l"/>
                <a:tab pos="5824538" algn="l"/>
              </a:tabLst>
              <a:defRPr/>
            </a:pPr>
            <a:endParaRPr lang="pt-BR" sz="2400" dirty="0">
              <a:solidFill>
                <a:srgbClr val="000000"/>
              </a:solidFill>
            </a:endParaRPr>
          </a:p>
          <a:p>
            <a:pPr marL="804863" lvl="1" indent="-347663" fontAlgn="auto">
              <a:spcBef>
                <a:spcPts val="0"/>
              </a:spcBef>
              <a:buClr>
                <a:schemeClr val="accent2">
                  <a:lumMod val="50000"/>
                </a:schemeClr>
              </a:buClr>
              <a:tabLst>
                <a:tab pos="804863" algn="l"/>
                <a:tab pos="1371600" algn="l"/>
                <a:tab pos="5824538" algn="l"/>
              </a:tabLst>
              <a:defRPr/>
            </a:pPr>
            <a:endParaRPr lang="pt-BR" sz="2400" dirty="0">
              <a:solidFill>
                <a:srgbClr val="000000"/>
              </a:solidFill>
            </a:endParaRPr>
          </a:p>
          <a:p>
            <a:pPr marL="804863" lvl="1" indent="-347663" fontAlgn="auto">
              <a:spcBef>
                <a:spcPts val="0"/>
              </a:spcBef>
              <a:buClr>
                <a:schemeClr val="accent2">
                  <a:lumMod val="50000"/>
                </a:schemeClr>
              </a:buClr>
              <a:tabLst>
                <a:tab pos="804863" algn="l"/>
                <a:tab pos="1371600" algn="l"/>
                <a:tab pos="5824538" algn="l"/>
              </a:tabLst>
              <a:defRPr/>
            </a:pPr>
            <a:r>
              <a:rPr lang="pt-BR" sz="2400" dirty="0">
                <a:solidFill>
                  <a:srgbClr val="000000"/>
                </a:solidFill>
              </a:rPr>
              <a:t>inteiros: -128 a 127           </a:t>
            </a:r>
            <a:r>
              <a:rPr lang="en-US" sz="2400" dirty="0">
                <a:solidFill>
                  <a:srgbClr val="000000"/>
                </a:solidFill>
              </a:rPr>
              <a:t>(signed)</a:t>
            </a:r>
          </a:p>
        </p:txBody>
      </p:sp>
      <p:sp>
        <p:nvSpPr>
          <p:cNvPr id="16" name="Text Placeholder 15"/>
          <p:cNvSpPr>
            <a:spLocks noGrp="1"/>
          </p:cNvSpPr>
          <p:nvPr>
            <p:ph type="body" sz="quarter" idx="13"/>
          </p:nvPr>
        </p:nvSpPr>
        <p:spPr/>
        <p:txBody>
          <a:bodyPr/>
          <a:lstStyle/>
          <a:p>
            <a:endParaRPr lang="pt-BR"/>
          </a:p>
        </p:txBody>
      </p:sp>
      <p:sp>
        <p:nvSpPr>
          <p:cNvPr id="15" name="Slide Number Placeholder 14"/>
          <p:cNvSpPr>
            <a:spLocks noGrp="1"/>
          </p:cNvSpPr>
          <p:nvPr>
            <p:ph type="sldNum" sz="quarter" idx="4"/>
          </p:nvPr>
        </p:nvSpPr>
        <p:spPr/>
        <p:txBody>
          <a:bodyPr/>
          <a:lstStyle/>
          <a:p>
            <a:pPr>
              <a:defRPr/>
            </a:pPr>
            <a:fld id="{C77AF6B4-4C9D-4A5A-8706-A2C5B906F96F}" type="slidenum">
              <a:rPr lang="en-US" smtClean="0">
                <a:solidFill>
                  <a:srgbClr val="000000"/>
                </a:solidFill>
              </a:rPr>
              <a:pPr>
                <a:defRPr/>
              </a:pPr>
              <a:t>18</a:t>
            </a:fld>
            <a:endParaRPr lang="en-US" dirty="0">
              <a:solidFill>
                <a:srgbClr val="000000"/>
              </a:solidFill>
            </a:endParaRPr>
          </a:p>
        </p:txBody>
      </p:sp>
      <p:grpSp>
        <p:nvGrpSpPr>
          <p:cNvPr id="4" name="Group 17"/>
          <p:cNvGrpSpPr>
            <a:grpSpLocks/>
          </p:cNvGrpSpPr>
          <p:nvPr/>
        </p:nvGrpSpPr>
        <p:grpSpPr bwMode="auto">
          <a:xfrm>
            <a:off x="958850" y="2347488"/>
            <a:ext cx="4648200" cy="508000"/>
            <a:chOff x="1905000" y="3886200"/>
            <a:chExt cx="7086600" cy="773723"/>
          </a:xfrm>
        </p:grpSpPr>
        <p:sp>
          <p:nvSpPr>
            <p:cNvPr id="5" name="Rectangle 4"/>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6" name="Rectangle 5"/>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7" name="Rectangle 6"/>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8" name="Rectangle 7"/>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dirty="0">
                  <a:solidFill>
                    <a:srgbClr val="000000"/>
                  </a:solidFill>
                  <a:latin typeface="+mn-lt"/>
                </a:rPr>
                <a:t>1</a:t>
              </a:r>
              <a:endParaRPr lang="en-US" sz="2800" dirty="0">
                <a:solidFill>
                  <a:srgbClr val="000000"/>
                </a:solidFill>
                <a:latin typeface="+mn-lt"/>
              </a:endParaRPr>
            </a:p>
          </p:txBody>
        </p:sp>
        <p:sp>
          <p:nvSpPr>
            <p:cNvPr id="9" name="Rectangle 8"/>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0" name="Rectangle 9"/>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1" name="Rectangle 10"/>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12" name="Rectangle 11"/>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32" name="TextBox 31"/>
          <p:cNvSpPr txBox="1">
            <a:spLocks noChangeArrowheads="1"/>
          </p:cNvSpPr>
          <p:nvPr/>
        </p:nvSpPr>
        <p:spPr bwMode="auto">
          <a:xfrm>
            <a:off x="5791200" y="2369713"/>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255	(0xFF)</a:t>
            </a:r>
            <a:endParaRPr lang="en-US" sz="2400">
              <a:solidFill>
                <a:srgbClr val="000000"/>
              </a:solidFill>
              <a:latin typeface="Lucida Sans" pitchFamily="34" charset="0"/>
            </a:endParaRPr>
          </a:p>
        </p:txBody>
      </p:sp>
      <p:sp>
        <p:nvSpPr>
          <p:cNvPr id="33" name="TextBox 32"/>
          <p:cNvSpPr txBox="1">
            <a:spLocks noChangeArrowheads="1"/>
          </p:cNvSpPr>
          <p:nvPr/>
        </p:nvSpPr>
        <p:spPr bwMode="auto">
          <a:xfrm>
            <a:off x="5791200" y="385761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-128	(0x80)</a:t>
            </a:r>
            <a:endParaRPr lang="en-US" sz="2400">
              <a:solidFill>
                <a:srgbClr val="000000"/>
              </a:solidFill>
              <a:latin typeface="Lucida Sans" pitchFamily="34" charset="0"/>
            </a:endParaRPr>
          </a:p>
        </p:txBody>
      </p:sp>
      <p:grpSp>
        <p:nvGrpSpPr>
          <p:cNvPr id="22" name="Group 17"/>
          <p:cNvGrpSpPr>
            <a:grpSpLocks/>
          </p:cNvGrpSpPr>
          <p:nvPr/>
        </p:nvGrpSpPr>
        <p:grpSpPr bwMode="auto">
          <a:xfrm>
            <a:off x="958850" y="3835392"/>
            <a:ext cx="4648200" cy="508000"/>
            <a:chOff x="1905000" y="3886200"/>
            <a:chExt cx="7086600" cy="773723"/>
          </a:xfrm>
        </p:grpSpPr>
        <p:sp>
          <p:nvSpPr>
            <p:cNvPr id="23" name="Rectangle 22"/>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24" name="Rectangle 23"/>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5" name="Rectangle 24"/>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6" name="Rectangle 25"/>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7" name="Rectangle 26"/>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8" name="Rectangle 27"/>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29" name="Rectangle 28"/>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30" name="Rectangle 29"/>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grpSp>
      <p:sp>
        <p:nvSpPr>
          <p:cNvPr id="39" name="TextBox 38"/>
          <p:cNvSpPr txBox="1">
            <a:spLocks noChangeArrowheads="1"/>
          </p:cNvSpPr>
          <p:nvPr/>
        </p:nvSpPr>
        <p:spPr bwMode="auto">
          <a:xfrm>
            <a:off x="5791200" y="606741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127	(0x7F)</a:t>
            </a:r>
            <a:endParaRPr lang="en-US" sz="2400">
              <a:solidFill>
                <a:srgbClr val="000000"/>
              </a:solidFill>
              <a:latin typeface="Lucida Sans" pitchFamily="34" charset="0"/>
            </a:endParaRPr>
          </a:p>
        </p:txBody>
      </p:sp>
      <p:grpSp>
        <p:nvGrpSpPr>
          <p:cNvPr id="40" name="Group 17"/>
          <p:cNvGrpSpPr>
            <a:grpSpLocks/>
          </p:cNvGrpSpPr>
          <p:nvPr/>
        </p:nvGrpSpPr>
        <p:grpSpPr bwMode="auto">
          <a:xfrm>
            <a:off x="958850" y="6045192"/>
            <a:ext cx="4648200" cy="508000"/>
            <a:chOff x="1905000" y="3886200"/>
            <a:chExt cx="7086600" cy="773723"/>
          </a:xfrm>
        </p:grpSpPr>
        <p:sp>
          <p:nvSpPr>
            <p:cNvPr id="41" name="Rectangle 4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42" name="Rectangle 4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3" name="Rectangle 4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4" name="Rectangle 4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5" name="Rectangle 4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6" name="Rectangle 4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7" name="Rectangle 4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48" name="Rectangle 4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49" name="TextBox 48"/>
          <p:cNvSpPr txBox="1">
            <a:spLocks noChangeArrowheads="1"/>
          </p:cNvSpPr>
          <p:nvPr/>
        </p:nvSpPr>
        <p:spPr bwMode="auto">
          <a:xfrm>
            <a:off x="5791200" y="551496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	(0xFF)</a:t>
            </a:r>
            <a:endParaRPr lang="en-US" sz="2400">
              <a:solidFill>
                <a:srgbClr val="000000"/>
              </a:solidFill>
              <a:latin typeface="Lucida Sans" pitchFamily="34" charset="0"/>
            </a:endParaRPr>
          </a:p>
        </p:txBody>
      </p:sp>
      <p:grpSp>
        <p:nvGrpSpPr>
          <p:cNvPr id="50" name="Group 17"/>
          <p:cNvGrpSpPr>
            <a:grpSpLocks/>
          </p:cNvGrpSpPr>
          <p:nvPr/>
        </p:nvGrpSpPr>
        <p:grpSpPr bwMode="auto">
          <a:xfrm>
            <a:off x="958850" y="5492742"/>
            <a:ext cx="4648200" cy="508000"/>
            <a:chOff x="1905000" y="3886200"/>
            <a:chExt cx="7086600" cy="773723"/>
          </a:xfrm>
        </p:grpSpPr>
        <p:sp>
          <p:nvSpPr>
            <p:cNvPr id="51" name="Rectangle 5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2" name="Rectangle 5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3" name="Rectangle 5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4" name="Rectangle 5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5" name="Rectangle 5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6" name="Rectangle 5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7" name="Rectangle 5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58" name="Rectangle 5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59" name="TextBox 58"/>
          <p:cNvSpPr txBox="1">
            <a:spLocks noChangeArrowheads="1"/>
          </p:cNvSpPr>
          <p:nvPr/>
        </p:nvSpPr>
        <p:spPr bwMode="auto">
          <a:xfrm>
            <a:off x="5791200" y="441006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-127	(0x81)</a:t>
            </a:r>
            <a:endParaRPr lang="en-US" sz="2400">
              <a:solidFill>
                <a:srgbClr val="000000"/>
              </a:solidFill>
              <a:latin typeface="Lucida Sans" pitchFamily="34" charset="0"/>
            </a:endParaRPr>
          </a:p>
        </p:txBody>
      </p:sp>
      <p:grpSp>
        <p:nvGrpSpPr>
          <p:cNvPr id="60" name="Group 17"/>
          <p:cNvGrpSpPr>
            <a:grpSpLocks/>
          </p:cNvGrpSpPr>
          <p:nvPr/>
        </p:nvGrpSpPr>
        <p:grpSpPr bwMode="auto">
          <a:xfrm>
            <a:off x="958850" y="4387842"/>
            <a:ext cx="4648200" cy="508000"/>
            <a:chOff x="1905000" y="3886200"/>
            <a:chExt cx="7086600" cy="773723"/>
          </a:xfrm>
        </p:grpSpPr>
        <p:sp>
          <p:nvSpPr>
            <p:cNvPr id="61" name="Rectangle 6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62" name="Rectangle 6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3" name="Rectangle 6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4" name="Rectangle 6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5" name="Rectangle 6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6" name="Rectangle 6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7" name="Rectangle 6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68" name="Rectangle 6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grpSp>
      <p:sp>
        <p:nvSpPr>
          <p:cNvPr id="69" name="TextBox 68"/>
          <p:cNvSpPr txBox="1">
            <a:spLocks noChangeArrowheads="1"/>
          </p:cNvSpPr>
          <p:nvPr/>
        </p:nvSpPr>
        <p:spPr bwMode="auto">
          <a:xfrm>
            <a:off x="5791200" y="4962517"/>
            <a:ext cx="2841625" cy="461963"/>
          </a:xfrm>
          <a:prstGeom prst="rect">
            <a:avLst/>
          </a:prstGeom>
          <a:noFill/>
          <a:ln w="9525">
            <a:noFill/>
            <a:miter lim="800000"/>
            <a:headEnd/>
            <a:tailEnd/>
          </a:ln>
        </p:spPr>
        <p:txBody>
          <a:bodyPr wrap="none">
            <a:spAutoFit/>
          </a:bodyPr>
          <a:lstStyle/>
          <a:p>
            <a:pPr>
              <a:tabLst>
                <a:tab pos="2630488" algn="r"/>
              </a:tabLst>
            </a:pPr>
            <a:r>
              <a:rPr lang="pt-BR" sz="2400">
                <a:solidFill>
                  <a:srgbClr val="000000"/>
                </a:solidFill>
                <a:latin typeface="Lucida Sans" pitchFamily="34" charset="0"/>
              </a:rPr>
              <a:t>= -126	(0x82)</a:t>
            </a:r>
            <a:endParaRPr lang="en-US" sz="2400">
              <a:solidFill>
                <a:srgbClr val="000000"/>
              </a:solidFill>
              <a:latin typeface="Lucida Sans" pitchFamily="34" charset="0"/>
            </a:endParaRPr>
          </a:p>
        </p:txBody>
      </p:sp>
      <p:grpSp>
        <p:nvGrpSpPr>
          <p:cNvPr id="70" name="Group 17"/>
          <p:cNvGrpSpPr>
            <a:grpSpLocks/>
          </p:cNvGrpSpPr>
          <p:nvPr/>
        </p:nvGrpSpPr>
        <p:grpSpPr bwMode="auto">
          <a:xfrm>
            <a:off x="958850" y="4940292"/>
            <a:ext cx="4648200" cy="508000"/>
            <a:chOff x="1905000" y="3886200"/>
            <a:chExt cx="7086600" cy="773723"/>
          </a:xfrm>
        </p:grpSpPr>
        <p:sp>
          <p:nvSpPr>
            <p:cNvPr id="71" name="Rectangle 70"/>
            <p:cNvSpPr/>
            <p:nvPr/>
          </p:nvSpPr>
          <p:spPr bwMode="auto">
            <a:xfrm>
              <a:off x="1905000"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72" name="Rectangle 71"/>
            <p:cNvSpPr/>
            <p:nvPr/>
          </p:nvSpPr>
          <p:spPr bwMode="auto">
            <a:xfrm>
              <a:off x="2798087"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3" name="Rectangle 72"/>
            <p:cNvSpPr/>
            <p:nvPr/>
          </p:nvSpPr>
          <p:spPr bwMode="auto">
            <a:xfrm>
              <a:off x="3691172"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4" name="Rectangle 73"/>
            <p:cNvSpPr/>
            <p:nvPr/>
          </p:nvSpPr>
          <p:spPr bwMode="auto">
            <a:xfrm>
              <a:off x="4581837" y="3886200"/>
              <a:ext cx="839840"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5" name="Rectangle 74"/>
            <p:cNvSpPr/>
            <p:nvPr/>
          </p:nvSpPr>
          <p:spPr bwMode="auto">
            <a:xfrm>
              <a:off x="5474924" y="3886200"/>
              <a:ext cx="83983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6" name="Rectangle 75"/>
            <p:cNvSpPr/>
            <p:nvPr/>
          </p:nvSpPr>
          <p:spPr bwMode="auto">
            <a:xfrm>
              <a:off x="6368009"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sp>
          <p:nvSpPr>
            <p:cNvPr id="77" name="Rectangle 76"/>
            <p:cNvSpPr/>
            <p:nvPr/>
          </p:nvSpPr>
          <p:spPr bwMode="auto">
            <a:xfrm>
              <a:off x="7261096"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1</a:t>
              </a:r>
              <a:endParaRPr lang="en-US" sz="2800">
                <a:solidFill>
                  <a:srgbClr val="000000"/>
                </a:solidFill>
                <a:latin typeface="+mn-lt"/>
              </a:endParaRPr>
            </a:p>
          </p:txBody>
        </p:sp>
        <p:sp>
          <p:nvSpPr>
            <p:cNvPr id="78" name="Rectangle 77"/>
            <p:cNvSpPr/>
            <p:nvPr/>
          </p:nvSpPr>
          <p:spPr bwMode="auto">
            <a:xfrm>
              <a:off x="8154181" y="3886200"/>
              <a:ext cx="837419" cy="773723"/>
            </a:xfrm>
            <a:prstGeom prst="rect">
              <a:avLst/>
            </a:prstGeom>
            <a:solidFill>
              <a:schemeClr val="bg1">
                <a:lumMod val="65000"/>
                <a:lumOff val="35000"/>
              </a:schemeClr>
            </a:solidFill>
            <a:ln w="9525" cap="flat" cmpd="sng" algn="ctr">
              <a:solidFill>
                <a:schemeClr val="tx1"/>
              </a:solidFill>
              <a:prstDash val="solid"/>
              <a:round/>
              <a:headEnd type="none" w="med" len="med"/>
              <a:tailEnd type="none" w="med" len="med"/>
            </a:ln>
            <a:effectLst/>
          </p:spPr>
          <p:txBody>
            <a:bodyPr tIns="91440" bIns="91440" anchor="ctr"/>
            <a:lstStyle/>
            <a:p>
              <a:pPr algn="ctr" defTabSz="669925" eaLnBrk="0" hangingPunct="0">
                <a:spcBef>
                  <a:spcPct val="50000"/>
                </a:spcBef>
                <a:defRPr/>
              </a:pPr>
              <a:r>
                <a:rPr lang="pt-BR" sz="2800">
                  <a:solidFill>
                    <a:srgbClr val="000000"/>
                  </a:solidFill>
                  <a:latin typeface="+mn-lt"/>
                </a:rPr>
                <a:t>0</a:t>
              </a:r>
              <a:endParaRPr lang="en-US" sz="2800">
                <a:solidFill>
                  <a:srgbClr val="000000"/>
                </a:solidFill>
                <a:latin typeface="+mn-lt"/>
              </a:endParaRPr>
            </a:p>
          </p:txBody>
        </p:sp>
      </p:grpSp>
    </p:spTree>
    <p:custDataLst>
      <p:tags r:id="rId1"/>
    </p:custDataLst>
    <p:extLst>
      <p:ext uri="{BB962C8B-B14F-4D97-AF65-F5344CB8AC3E}">
        <p14:creationId xmlns:p14="http://schemas.microsoft.com/office/powerpoint/2010/main" val="19523314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2" grpId="0"/>
      <p:bldP spid="33" grpId="0"/>
      <p:bldP spid="39" grpId="0"/>
      <p:bldP spid="49" grpId="0"/>
      <p:bldP spid="59" grpId="0"/>
      <p:bldP spid="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5847" y="1649660"/>
            <a:ext cx="9144000" cy="16550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22" name="Rectangle 221"/>
          <p:cNvSpPr/>
          <p:nvPr/>
        </p:nvSpPr>
        <p:spPr>
          <a:xfrm>
            <a:off x="0" y="4799260"/>
            <a:ext cx="9144000" cy="165501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Title 2"/>
          <p:cNvSpPr>
            <a:spLocks noGrp="1"/>
          </p:cNvSpPr>
          <p:nvPr>
            <p:ph type="title"/>
          </p:nvPr>
        </p:nvSpPr>
        <p:spPr/>
        <p:txBody>
          <a:bodyPr/>
          <a:lstStyle/>
          <a:p>
            <a:r>
              <a:rPr lang="pt-BR" dirty="0"/>
              <a:t>Inteiros de vários bits</a:t>
            </a:r>
          </a:p>
        </p:txBody>
      </p:sp>
      <p:sp>
        <p:nvSpPr>
          <p:cNvPr id="5" name="Text Placeholder 4"/>
          <p:cNvSpPr>
            <a:spLocks noGrp="1"/>
          </p:cNvSpPr>
          <p:nvPr>
            <p:ph type="body" sz="quarter" idx="13"/>
          </p:nvPr>
        </p:nvSpPr>
        <p:spPr/>
        <p:txBody>
          <a:bodyPr/>
          <a:lstStyle/>
          <a:p>
            <a:endParaRPr lang="pt-BR"/>
          </a:p>
        </p:txBody>
      </p:sp>
      <p:sp>
        <p:nvSpPr>
          <p:cNvPr id="104" name="Slide Number Placeholder 103"/>
          <p:cNvSpPr>
            <a:spLocks noGrp="1"/>
          </p:cNvSpPr>
          <p:nvPr>
            <p:ph type="sldNum" sz="quarter" idx="4"/>
          </p:nvPr>
        </p:nvSpPr>
        <p:spPr>
          <a:xfrm>
            <a:off x="294104" y="6402174"/>
            <a:ext cx="431583" cy="365125"/>
          </a:xfrm>
        </p:spPr>
        <p:txBody>
          <a:bodyPr/>
          <a:lstStyle/>
          <a:p>
            <a:pPr>
              <a:defRPr/>
            </a:pPr>
            <a:fld id="{5011BC5E-FD60-44BA-A79D-0821B9C6E40B}" type="slidenum">
              <a:rPr lang="en-US"/>
              <a:pPr>
                <a:defRPr/>
              </a:pPr>
              <a:t>19</a:t>
            </a:fld>
            <a:endParaRPr lang="en-US"/>
          </a:p>
        </p:txBody>
      </p:sp>
      <p:sp>
        <p:nvSpPr>
          <p:cNvPr id="29" name="TextBox 28"/>
          <p:cNvSpPr txBox="1"/>
          <p:nvPr/>
        </p:nvSpPr>
        <p:spPr>
          <a:xfrm>
            <a:off x="576263" y="2129568"/>
            <a:ext cx="2192803" cy="707886"/>
          </a:xfrm>
          <a:prstGeom prst="rect">
            <a:avLst/>
          </a:prstGeom>
          <a:noFill/>
        </p:spPr>
        <p:txBody>
          <a:bodyPr wrap="none">
            <a:spAutoFit/>
          </a:bodyPr>
          <a:lstStyle/>
          <a:p>
            <a:pPr fontAlgn="auto">
              <a:spcBef>
                <a:spcPts val="0"/>
              </a:spcBef>
              <a:spcAft>
                <a:spcPts val="0"/>
              </a:spcAft>
              <a:defRPr/>
            </a:pPr>
            <a:r>
              <a:rPr lang="en-US" sz="2000">
                <a:solidFill>
                  <a:schemeClr val="tx1">
                    <a:lumMod val="50000"/>
                  </a:schemeClr>
                </a:solidFill>
                <a:latin typeface="+mn-lt"/>
              </a:rPr>
              <a:t>unsigned : 0 a 255</a:t>
            </a:r>
          </a:p>
          <a:p>
            <a:pPr fontAlgn="auto">
              <a:spcBef>
                <a:spcPts val="0"/>
              </a:spcBef>
              <a:spcAft>
                <a:spcPts val="0"/>
              </a:spcAft>
              <a:defRPr/>
            </a:pPr>
            <a:r>
              <a:rPr lang="en-US" sz="2000">
                <a:solidFill>
                  <a:schemeClr val="tx1">
                    <a:lumMod val="50000"/>
                  </a:schemeClr>
                </a:solidFill>
                <a:latin typeface="+mn-lt"/>
              </a:rPr>
              <a:t>signed : –128 a 127</a:t>
            </a:r>
          </a:p>
        </p:txBody>
      </p:sp>
      <p:sp>
        <p:nvSpPr>
          <p:cNvPr id="42" name="TextBox 41"/>
          <p:cNvSpPr txBox="1"/>
          <p:nvPr/>
        </p:nvSpPr>
        <p:spPr>
          <a:xfrm>
            <a:off x="576263" y="3743639"/>
            <a:ext cx="2828744" cy="707886"/>
          </a:xfrm>
          <a:prstGeom prst="rect">
            <a:avLst/>
          </a:prstGeom>
          <a:noFill/>
        </p:spPr>
        <p:txBody>
          <a:bodyPr wrap="none">
            <a:spAutoFit/>
          </a:bodyPr>
          <a:lstStyle/>
          <a:p>
            <a:pPr>
              <a:defRPr/>
            </a:pPr>
            <a:r>
              <a:rPr lang="en-US" sz="2000">
                <a:solidFill>
                  <a:schemeClr val="tx1">
                    <a:lumMod val="50000"/>
                  </a:schemeClr>
                </a:solidFill>
              </a:rPr>
              <a:t>unsigned : 0 a 65 535</a:t>
            </a:r>
          </a:p>
          <a:p>
            <a:pPr fontAlgn="auto">
              <a:spcBef>
                <a:spcPts val="0"/>
              </a:spcBef>
              <a:spcAft>
                <a:spcPts val="0"/>
              </a:spcAft>
              <a:defRPr/>
            </a:pPr>
            <a:r>
              <a:rPr lang="en-US" sz="2000">
                <a:solidFill>
                  <a:schemeClr val="tx1">
                    <a:lumMod val="50000"/>
                  </a:schemeClr>
                </a:solidFill>
              </a:rPr>
              <a:t>signed : –32 768 a 32 767</a:t>
            </a:r>
          </a:p>
        </p:txBody>
      </p:sp>
      <p:sp>
        <p:nvSpPr>
          <p:cNvPr id="56" name="TextBox 55"/>
          <p:cNvSpPr txBox="1"/>
          <p:nvPr/>
        </p:nvSpPr>
        <p:spPr>
          <a:xfrm>
            <a:off x="576263" y="4881563"/>
            <a:ext cx="4360614" cy="707886"/>
          </a:xfrm>
          <a:prstGeom prst="rect">
            <a:avLst/>
          </a:prstGeom>
          <a:noFill/>
        </p:spPr>
        <p:txBody>
          <a:bodyPr wrap="none">
            <a:spAutoFit/>
          </a:bodyPr>
          <a:lstStyle/>
          <a:p>
            <a:pPr>
              <a:defRPr/>
            </a:pPr>
            <a:r>
              <a:rPr lang="en-US" sz="2000">
                <a:solidFill>
                  <a:schemeClr val="tx1">
                    <a:lumMod val="50000"/>
                  </a:schemeClr>
                </a:solidFill>
              </a:rPr>
              <a:t>unsigned : 0 a 4 294 967 295</a:t>
            </a:r>
          </a:p>
          <a:p>
            <a:pPr fontAlgn="auto">
              <a:spcBef>
                <a:spcPts val="0"/>
              </a:spcBef>
              <a:spcAft>
                <a:spcPts val="0"/>
              </a:spcAft>
              <a:defRPr/>
            </a:pPr>
            <a:r>
              <a:rPr lang="en-US" sz="2000">
                <a:solidFill>
                  <a:schemeClr val="tx1">
                    <a:lumMod val="50000"/>
                  </a:schemeClr>
                </a:solidFill>
              </a:rPr>
              <a:t>signed : –2 147 483 648 a 2 147 483 647</a:t>
            </a:r>
          </a:p>
        </p:txBody>
      </p:sp>
      <p:sp>
        <p:nvSpPr>
          <p:cNvPr id="101" name="TextBox 100"/>
          <p:cNvSpPr txBox="1"/>
          <p:nvPr/>
        </p:nvSpPr>
        <p:spPr>
          <a:xfrm>
            <a:off x="7265988" y="1745975"/>
            <a:ext cx="1801812" cy="400050"/>
          </a:xfrm>
          <a:prstGeom prst="rect">
            <a:avLst/>
          </a:prstGeom>
          <a:noFill/>
        </p:spPr>
        <p:txBody>
          <a:bodyPr>
            <a:spAutoFit/>
          </a:bodyPr>
          <a:lstStyle/>
          <a:p>
            <a:pPr algn="r" fontAlgn="auto">
              <a:spcBef>
                <a:spcPts val="0"/>
              </a:spcBef>
              <a:spcAft>
                <a:spcPts val="0"/>
              </a:spcAft>
              <a:defRPr/>
            </a:pPr>
            <a:r>
              <a:rPr lang="en-US" sz="2000">
                <a:solidFill>
                  <a:schemeClr val="tx1">
                    <a:lumMod val="50000"/>
                  </a:schemeClr>
                </a:solidFill>
                <a:latin typeface="+mn-lt"/>
              </a:rPr>
              <a:t>1 byte</a:t>
            </a:r>
          </a:p>
        </p:txBody>
      </p:sp>
      <p:sp>
        <p:nvSpPr>
          <p:cNvPr id="102" name="TextBox 101"/>
          <p:cNvSpPr txBox="1"/>
          <p:nvPr/>
        </p:nvSpPr>
        <p:spPr>
          <a:xfrm>
            <a:off x="8159049" y="3469080"/>
            <a:ext cx="937326" cy="400110"/>
          </a:xfrm>
          <a:prstGeom prst="rect">
            <a:avLst/>
          </a:prstGeom>
          <a:noFill/>
        </p:spPr>
        <p:txBody>
          <a:bodyPr wrap="none">
            <a:spAutoFit/>
          </a:bodyPr>
          <a:lstStyle/>
          <a:p>
            <a:pPr algn="r" fontAlgn="auto">
              <a:spcBef>
                <a:spcPts val="0"/>
              </a:spcBef>
              <a:spcAft>
                <a:spcPts val="0"/>
              </a:spcAft>
              <a:defRPr/>
            </a:pPr>
            <a:r>
              <a:rPr lang="en-US" sz="2000">
                <a:solidFill>
                  <a:schemeClr val="tx1">
                    <a:lumMod val="50000"/>
                  </a:schemeClr>
                </a:solidFill>
                <a:latin typeface="+mn-lt"/>
              </a:rPr>
              <a:t>2 bytes</a:t>
            </a:r>
          </a:p>
        </p:txBody>
      </p:sp>
      <p:sp>
        <p:nvSpPr>
          <p:cNvPr id="103" name="TextBox 102"/>
          <p:cNvSpPr txBox="1"/>
          <p:nvPr/>
        </p:nvSpPr>
        <p:spPr>
          <a:xfrm>
            <a:off x="8159049" y="5284788"/>
            <a:ext cx="937326" cy="400110"/>
          </a:xfrm>
          <a:prstGeom prst="rect">
            <a:avLst/>
          </a:prstGeom>
          <a:noFill/>
        </p:spPr>
        <p:txBody>
          <a:bodyPr wrap="none">
            <a:spAutoFit/>
          </a:bodyPr>
          <a:lstStyle/>
          <a:p>
            <a:pPr algn="r" fontAlgn="auto">
              <a:spcBef>
                <a:spcPts val="0"/>
              </a:spcBef>
              <a:spcAft>
                <a:spcPts val="0"/>
              </a:spcAft>
              <a:defRPr/>
            </a:pPr>
            <a:r>
              <a:rPr lang="en-US" sz="2000">
                <a:solidFill>
                  <a:schemeClr val="tx1">
                    <a:lumMod val="50000"/>
                  </a:schemeClr>
                </a:solidFill>
                <a:latin typeface="+mn-lt"/>
              </a:rPr>
              <a:t>4 bytes</a:t>
            </a:r>
          </a:p>
        </p:txBody>
      </p:sp>
      <p:sp>
        <p:nvSpPr>
          <p:cNvPr id="197" name="TextBox 196"/>
          <p:cNvSpPr txBox="1"/>
          <p:nvPr/>
        </p:nvSpPr>
        <p:spPr>
          <a:xfrm>
            <a:off x="8493125" y="4307280"/>
            <a:ext cx="574675" cy="338138"/>
          </a:xfrm>
          <a:prstGeom prst="rect">
            <a:avLst/>
          </a:prstGeom>
          <a:noFill/>
        </p:spPr>
        <p:txBody>
          <a:bodyPr>
            <a:spAutoFit/>
          </a:bodyPr>
          <a:lstStyle/>
          <a:p>
            <a:pPr algn="r" fontAlgn="auto">
              <a:spcBef>
                <a:spcPts val="0"/>
              </a:spcBef>
              <a:spcAft>
                <a:spcPts val="0"/>
              </a:spcAft>
              <a:defRPr/>
            </a:pPr>
            <a:r>
              <a:rPr lang="pt-BR" sz="1600">
                <a:solidFill>
                  <a:schemeClr val="tx1">
                    <a:lumMod val="50000"/>
                  </a:schemeClr>
                </a:solidFill>
                <a:latin typeface="+mn-lt"/>
              </a:rPr>
              <a:t>456</a:t>
            </a:r>
            <a:endParaRPr lang="en-US" sz="1600">
              <a:solidFill>
                <a:schemeClr val="tx1">
                  <a:lumMod val="50000"/>
                </a:schemeClr>
              </a:solidFill>
              <a:latin typeface="+mn-lt"/>
            </a:endParaRPr>
          </a:p>
        </p:txBody>
      </p:sp>
      <p:sp>
        <p:nvSpPr>
          <p:cNvPr id="198" name="TextBox 197"/>
          <p:cNvSpPr txBox="1"/>
          <p:nvPr/>
        </p:nvSpPr>
        <p:spPr>
          <a:xfrm>
            <a:off x="7010400" y="2584175"/>
            <a:ext cx="2057400" cy="338137"/>
          </a:xfrm>
          <a:prstGeom prst="rect">
            <a:avLst/>
          </a:prstGeom>
          <a:noFill/>
        </p:spPr>
        <p:txBody>
          <a:bodyPr>
            <a:spAutoFit/>
          </a:bodyPr>
          <a:lstStyle/>
          <a:p>
            <a:pPr algn="r" fontAlgn="auto">
              <a:spcBef>
                <a:spcPts val="0"/>
              </a:spcBef>
              <a:spcAft>
                <a:spcPts val="0"/>
              </a:spcAft>
              <a:defRPr/>
            </a:pPr>
            <a:r>
              <a:rPr lang="pt-BR" sz="1600" dirty="0">
                <a:solidFill>
                  <a:schemeClr val="tx1">
                    <a:lumMod val="50000"/>
                  </a:schemeClr>
                </a:solidFill>
                <a:latin typeface="+mn-lt"/>
              </a:rPr>
              <a:t>67</a:t>
            </a:r>
            <a:endParaRPr lang="en-US" sz="1600" dirty="0">
              <a:solidFill>
                <a:schemeClr val="tx1">
                  <a:lumMod val="50000"/>
                </a:schemeClr>
              </a:solidFill>
              <a:latin typeface="+mn-lt"/>
            </a:endParaRPr>
          </a:p>
        </p:txBody>
      </p:sp>
      <p:sp>
        <p:nvSpPr>
          <p:cNvPr id="211" name="TextBox 210"/>
          <p:cNvSpPr txBox="1"/>
          <p:nvPr/>
        </p:nvSpPr>
        <p:spPr>
          <a:xfrm>
            <a:off x="6477000" y="6122988"/>
            <a:ext cx="2590800" cy="338137"/>
          </a:xfrm>
          <a:prstGeom prst="rect">
            <a:avLst/>
          </a:prstGeom>
          <a:noFill/>
        </p:spPr>
        <p:txBody>
          <a:bodyPr>
            <a:spAutoFit/>
          </a:bodyPr>
          <a:lstStyle/>
          <a:p>
            <a:pPr algn="r" fontAlgn="auto">
              <a:spcBef>
                <a:spcPts val="0"/>
              </a:spcBef>
              <a:spcAft>
                <a:spcPts val="0"/>
              </a:spcAft>
              <a:defRPr/>
            </a:pPr>
            <a:r>
              <a:rPr lang="pt-BR" sz="1600">
                <a:solidFill>
                  <a:schemeClr val="tx1">
                    <a:lumMod val="50000"/>
                  </a:schemeClr>
                </a:solidFill>
                <a:latin typeface="+mn-lt"/>
              </a:rPr>
              <a:t>1.077.150.273</a:t>
            </a:r>
            <a:endParaRPr lang="en-US" sz="1600">
              <a:solidFill>
                <a:schemeClr val="tx1">
                  <a:lumMod val="50000"/>
                </a:schemeClr>
              </a:solidFill>
              <a:latin typeface="+mn-lt"/>
            </a:endParaRPr>
          </a:p>
        </p:txBody>
      </p:sp>
      <p:graphicFrame>
        <p:nvGraphicFramePr>
          <p:cNvPr id="212" name="Table 211"/>
          <p:cNvGraphicFramePr>
            <a:graphicFrameLocks noGrp="1"/>
          </p:cNvGraphicFramePr>
          <p:nvPr>
            <p:extLst>
              <p:ext uri="{D42A27DB-BD31-4B8C-83A1-F6EECF244321}">
                <p14:modId xmlns:p14="http://schemas.microsoft.com/office/powerpoint/2010/main" val="2318535492"/>
              </p:ext>
            </p:extLst>
          </p:nvPr>
        </p:nvGraphicFramePr>
        <p:xfrm>
          <a:off x="838200" y="566578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54686">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4" name="Table 213"/>
          <p:cNvGraphicFramePr>
            <a:graphicFrameLocks noGrp="1"/>
          </p:cNvGraphicFramePr>
          <p:nvPr>
            <p:extLst>
              <p:ext uri="{D42A27DB-BD31-4B8C-83A1-F6EECF244321}">
                <p14:modId xmlns:p14="http://schemas.microsoft.com/office/powerpoint/2010/main" val="2227645993"/>
              </p:ext>
            </p:extLst>
          </p:nvPr>
        </p:nvGraphicFramePr>
        <p:xfrm>
          <a:off x="2895600" y="566578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54686">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6" name="Table 215"/>
          <p:cNvGraphicFramePr>
            <a:graphicFrameLocks noGrp="1"/>
          </p:cNvGraphicFramePr>
          <p:nvPr>
            <p:extLst>
              <p:ext uri="{D42A27DB-BD31-4B8C-83A1-F6EECF244321}">
                <p14:modId xmlns:p14="http://schemas.microsoft.com/office/powerpoint/2010/main" val="64936892"/>
              </p:ext>
            </p:extLst>
          </p:nvPr>
        </p:nvGraphicFramePr>
        <p:xfrm>
          <a:off x="7010400" y="566578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54686">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19" name="Table 218"/>
          <p:cNvGraphicFramePr>
            <a:graphicFrameLocks noGrp="1"/>
          </p:cNvGraphicFramePr>
          <p:nvPr>
            <p:extLst>
              <p:ext uri="{D42A27DB-BD31-4B8C-83A1-F6EECF244321}">
                <p14:modId xmlns:p14="http://schemas.microsoft.com/office/powerpoint/2010/main" val="3321044520"/>
              </p:ext>
            </p:extLst>
          </p:nvPr>
        </p:nvGraphicFramePr>
        <p:xfrm>
          <a:off x="7010400" y="3850080"/>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rgbClr val="000000"/>
                          </a:solidFill>
                        </a:rPr>
                        <a:t>1</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220" name="Table 219"/>
          <p:cNvGraphicFramePr>
            <a:graphicFrameLocks noGrp="1"/>
          </p:cNvGraphicFramePr>
          <p:nvPr>
            <p:extLst>
              <p:ext uri="{D42A27DB-BD31-4B8C-83A1-F6EECF244321}">
                <p14:modId xmlns:p14="http://schemas.microsoft.com/office/powerpoint/2010/main" val="2020913655"/>
              </p:ext>
            </p:extLst>
          </p:nvPr>
        </p:nvGraphicFramePr>
        <p:xfrm>
          <a:off x="7010400" y="2126975"/>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chemeClr val="tx1"/>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chemeClr val="tx1"/>
                          </a:solidFill>
                        </a:rPr>
                        <a:t>1</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3" name="Table 32"/>
          <p:cNvGraphicFramePr>
            <a:graphicFrameLocks noGrp="1"/>
          </p:cNvGraphicFramePr>
          <p:nvPr>
            <p:extLst>
              <p:ext uri="{D42A27DB-BD31-4B8C-83A1-F6EECF244321}">
                <p14:modId xmlns:p14="http://schemas.microsoft.com/office/powerpoint/2010/main" val="1517354156"/>
              </p:ext>
            </p:extLst>
          </p:nvPr>
        </p:nvGraphicFramePr>
        <p:xfrm>
          <a:off x="4953000" y="3850080"/>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2481284327"/>
              </p:ext>
            </p:extLst>
          </p:nvPr>
        </p:nvGraphicFramePr>
        <p:xfrm>
          <a:off x="4953000" y="5665768"/>
          <a:ext cx="1981200" cy="378333"/>
        </p:xfrm>
        <a:graphic>
          <a:graphicData uri="http://schemas.openxmlformats.org/drawingml/2006/table">
            <a:tbl>
              <a:tblPr>
                <a:tableStyleId>{073A0DAA-6AF3-43AB-8588-CEC1D06C72B9}</a:tableStyleId>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247650">
                  <a:extLst>
                    <a:ext uri="{9D8B030D-6E8A-4147-A177-3AD203B41FA5}">
                      <a16:colId xmlns:a16="http://schemas.microsoft.com/office/drawing/2014/main" val="20004"/>
                    </a:ext>
                  </a:extLst>
                </a:gridCol>
                <a:gridCol w="247650">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247650">
                  <a:extLst>
                    <a:ext uri="{9D8B030D-6E8A-4147-A177-3AD203B41FA5}">
                      <a16:colId xmlns:a16="http://schemas.microsoft.com/office/drawing/2014/main" val="20007"/>
                    </a:ext>
                  </a:extLst>
                </a:gridCol>
              </a:tblGrid>
              <a:tr h="304800">
                <a:tc>
                  <a:txBody>
                    <a:bodyPr/>
                    <a:lstStyle/>
                    <a:p>
                      <a:pPr algn="ctr">
                        <a:lnSpc>
                          <a:spcPct val="150000"/>
                        </a:lnSpc>
                      </a:pPr>
                      <a:r>
                        <a:rPr lang="en-US" sz="1400" b="0" dirty="0">
                          <a:solidFill>
                            <a:srgbClr val="000000"/>
                          </a:solidFill>
                        </a:rPr>
                        <a:t>0</a:t>
                      </a:r>
                    </a:p>
                  </a:txBody>
                  <a:tcPr anchor="ctr">
                    <a:lnL w="38100" cap="flat" cmpd="sng" algn="ctr">
                      <a:solidFill>
                        <a:schemeClr val="tx1">
                          <a:lumMod val="50000"/>
                        </a:schemeClr>
                      </a:solidFill>
                      <a:prstDash val="solid"/>
                      <a:round/>
                      <a:headEnd type="none" w="med" len="med"/>
                      <a:tailEnd type="none" w="med" len="med"/>
                    </a:lnL>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1</a:t>
                      </a:r>
                    </a:p>
                  </a:txBody>
                  <a:tcPr anchor="ct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tc>
                  <a:txBody>
                    <a:bodyPr/>
                    <a:lstStyle/>
                    <a:p>
                      <a:pPr algn="ctr">
                        <a:lnSpc>
                          <a:spcPct val="150000"/>
                        </a:lnSpc>
                      </a:pPr>
                      <a:r>
                        <a:rPr lang="en-US" sz="1400" b="0" dirty="0">
                          <a:solidFill>
                            <a:srgbClr val="000000"/>
                          </a:solidFill>
                        </a:rPr>
                        <a:t>0</a:t>
                      </a:r>
                    </a:p>
                  </a:txBody>
                  <a:tcPr anchor="ctr">
                    <a:lnR w="38100" cap="flat" cmpd="sng" algn="ctr">
                      <a:solidFill>
                        <a:schemeClr val="tx1">
                          <a:lumMod val="50000"/>
                        </a:schemeClr>
                      </a:solidFill>
                      <a:prstDash val="solid"/>
                      <a:round/>
                      <a:headEnd type="none" w="med" len="med"/>
                      <a:tailEnd type="none" w="med" len="med"/>
                    </a:lnR>
                    <a:lnT w="38100" cap="flat" cmpd="sng" algn="ctr">
                      <a:solidFill>
                        <a:schemeClr val="tx1">
                          <a:lumMod val="50000"/>
                        </a:schemeClr>
                      </a:solidFill>
                      <a:prstDash val="solid"/>
                      <a:round/>
                      <a:headEnd type="none" w="med" len="med"/>
                      <a:tailEnd type="none" w="med" len="med"/>
                    </a:lnT>
                    <a:lnB w="38100" cap="flat" cmpd="sng" algn="ctr">
                      <a:solidFill>
                        <a:schemeClr val="tx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3705907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22" grpId="0" animBg="1"/>
      <p:bldP spid="42" grpId="0"/>
      <p:bldP spid="56" grpId="0"/>
      <p:bldP spid="10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BCD (Binary Coded Decimal)</a:t>
            </a:r>
          </a:p>
        </p:txBody>
      </p:sp>
      <p:sp>
        <p:nvSpPr>
          <p:cNvPr id="3" name="Content Placeholder 2"/>
          <p:cNvSpPr>
            <a:spLocks noGrp="1"/>
          </p:cNvSpPr>
          <p:nvPr>
            <p:ph idx="1"/>
          </p:nvPr>
        </p:nvSpPr>
        <p:spPr>
          <a:xfrm>
            <a:off x="657225" y="1575750"/>
            <a:ext cx="8029575" cy="4634550"/>
          </a:xfrm>
        </p:spPr>
        <p:txBody>
          <a:bodyPr>
            <a:normAutofit/>
          </a:bodyPr>
          <a:lstStyle/>
          <a:p>
            <a:r>
              <a:rPr lang="pt-BR" sz="2000" dirty="0"/>
              <a:t>O BCD (Codificação binária decimal) usa uma representação binária para números decimais.  </a:t>
            </a:r>
          </a:p>
          <a:p>
            <a:endParaRPr lang="pt-BR" sz="2000" dirty="0"/>
          </a:p>
          <a:p>
            <a:r>
              <a:rPr lang="pt-BR" sz="2000" dirty="0"/>
              <a:t>Por exemplo:</a:t>
            </a:r>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20</a:t>
            </a:fld>
            <a:endParaRPr lang="pt-BR" dirty="0"/>
          </a:p>
        </p:txBody>
      </p:sp>
      <p:sp>
        <p:nvSpPr>
          <p:cNvPr id="10" name="Rectangle 9"/>
          <p:cNvSpPr/>
          <p:nvPr/>
        </p:nvSpPr>
        <p:spPr>
          <a:xfrm>
            <a:off x="725688" y="3078765"/>
            <a:ext cx="6061478" cy="2577629"/>
          </a:xfrm>
          <a:prstGeom prst="rect">
            <a:avLst/>
          </a:prstGeom>
        </p:spPr>
        <p:txBody>
          <a:bodyPr wrap="square">
            <a:spAutoFit/>
          </a:bodyPr>
          <a:lstStyle/>
          <a:p>
            <a:r>
              <a:rPr lang="is-IS" sz="2550" dirty="0"/>
              <a:t>314159</a:t>
            </a:r>
            <a:r>
              <a:rPr lang="is-IS" sz="2550" baseline="-25000" dirty="0"/>
              <a:t>10 </a:t>
            </a:r>
            <a:r>
              <a:rPr lang="is-IS" sz="2550" dirty="0"/>
              <a:t>= 001100010100000101011001</a:t>
            </a:r>
            <a:r>
              <a:rPr lang="is-IS" sz="2550" baseline="-25000" dirty="0"/>
              <a:t>BCD</a:t>
            </a:r>
          </a:p>
          <a:p>
            <a:endParaRPr lang="is-IS" sz="2550" baseline="-25000" dirty="0"/>
          </a:p>
          <a:p>
            <a:endParaRPr lang="is-IS" sz="2550" baseline="-25000" dirty="0"/>
          </a:p>
          <a:p>
            <a:endParaRPr lang="is-IS" sz="2550" baseline="-25000" dirty="0"/>
          </a:p>
          <a:p>
            <a:endParaRPr lang="is-IS" sz="2550" baseline="-25000" dirty="0"/>
          </a:p>
          <a:p>
            <a:endParaRPr lang="is-IS" sz="2550" baseline="-25000" dirty="0"/>
          </a:p>
          <a:p>
            <a:r>
              <a:rPr lang="is-IS" sz="2550" dirty="0"/>
              <a:t>271823</a:t>
            </a:r>
            <a:r>
              <a:rPr lang="is-IS" sz="2550" baseline="-25000" dirty="0"/>
              <a:t>10</a:t>
            </a:r>
            <a:r>
              <a:rPr lang="is-IS" sz="2550" dirty="0"/>
              <a:t>= 001001110001100000100011</a:t>
            </a:r>
            <a:r>
              <a:rPr lang="is-IS" sz="2550" baseline="-25000" dirty="0"/>
              <a:t>BCD</a:t>
            </a:r>
            <a:br>
              <a:rPr lang="is-IS" sz="2550" dirty="0"/>
            </a:br>
            <a:endParaRPr lang="pt-BR" sz="2550" dirty="0"/>
          </a:p>
        </p:txBody>
      </p:sp>
      <p:graphicFrame>
        <p:nvGraphicFramePr>
          <p:cNvPr id="7" name="Table 6"/>
          <p:cNvGraphicFramePr>
            <a:graphicFrameLocks noGrp="1"/>
          </p:cNvGraphicFramePr>
          <p:nvPr>
            <p:extLst>
              <p:ext uri="{D42A27DB-BD31-4B8C-83A1-F6EECF244321}">
                <p14:modId xmlns:p14="http://schemas.microsoft.com/office/powerpoint/2010/main" val="591942358"/>
              </p:ext>
            </p:extLst>
          </p:nvPr>
        </p:nvGraphicFramePr>
        <p:xfrm>
          <a:off x="6958012" y="2552102"/>
          <a:ext cx="1728787" cy="3180960"/>
        </p:xfrm>
        <a:graphic>
          <a:graphicData uri="http://schemas.openxmlformats.org/drawingml/2006/table">
            <a:tbl>
              <a:tblPr firstRow="1" bandRow="1">
                <a:tableStyleId>{5C22544A-7EE6-4342-B048-85BDC9FD1C3A}</a:tableStyleId>
              </a:tblPr>
              <a:tblGrid>
                <a:gridCol w="912465">
                  <a:extLst>
                    <a:ext uri="{9D8B030D-6E8A-4147-A177-3AD203B41FA5}">
                      <a16:colId xmlns:a16="http://schemas.microsoft.com/office/drawing/2014/main" val="20000"/>
                    </a:ext>
                  </a:extLst>
                </a:gridCol>
                <a:gridCol w="816322">
                  <a:extLst>
                    <a:ext uri="{9D8B030D-6E8A-4147-A177-3AD203B41FA5}">
                      <a16:colId xmlns:a16="http://schemas.microsoft.com/office/drawing/2014/main" val="20001"/>
                    </a:ext>
                  </a:extLst>
                </a:gridCol>
              </a:tblGrid>
              <a:tr h="140570">
                <a:tc>
                  <a:txBody>
                    <a:bodyPr/>
                    <a:lstStyle/>
                    <a:p>
                      <a:pPr algn="ctr"/>
                      <a:r>
                        <a:rPr lang="pt-BR" sz="1800" dirty="0"/>
                        <a:t>Decimal</a:t>
                      </a:r>
                    </a:p>
                  </a:txBody>
                  <a:tcPr marL="0" marR="0"/>
                </a:tc>
                <a:tc>
                  <a:txBody>
                    <a:bodyPr/>
                    <a:lstStyle/>
                    <a:p>
                      <a:pPr algn="ctr"/>
                      <a:r>
                        <a:rPr lang="pt-BR" sz="1800" dirty="0"/>
                        <a:t>BCD</a:t>
                      </a:r>
                    </a:p>
                  </a:txBody>
                  <a:tcPr marL="0" marR="0"/>
                </a:tc>
                <a:extLst>
                  <a:ext uri="{0D108BD9-81ED-4DB2-BD59-A6C34878D82A}">
                    <a16:rowId xmlns:a16="http://schemas.microsoft.com/office/drawing/2014/main" val="10000"/>
                  </a:ext>
                </a:extLst>
              </a:tr>
              <a:tr h="100604">
                <a:tc>
                  <a:txBody>
                    <a:bodyPr/>
                    <a:lstStyle/>
                    <a:p>
                      <a:pPr algn="r"/>
                      <a:r>
                        <a:rPr lang="pt-BR" sz="1800" dirty="0"/>
                        <a:t>0</a:t>
                      </a:r>
                    </a:p>
                  </a:txBody>
                  <a:tcPr marT="3600" marB="3600"/>
                </a:tc>
                <a:tc>
                  <a:txBody>
                    <a:bodyPr/>
                    <a:lstStyle/>
                    <a:p>
                      <a:pPr algn="r"/>
                      <a:r>
                        <a:rPr lang="pt-BR" sz="1800" dirty="0"/>
                        <a:t>0000</a:t>
                      </a:r>
                    </a:p>
                  </a:txBody>
                  <a:tcPr marT="3600" marB="3600"/>
                </a:tc>
                <a:extLst>
                  <a:ext uri="{0D108BD9-81ED-4DB2-BD59-A6C34878D82A}">
                    <a16:rowId xmlns:a16="http://schemas.microsoft.com/office/drawing/2014/main" val="10001"/>
                  </a:ext>
                </a:extLst>
              </a:tr>
              <a:tr h="100604">
                <a:tc>
                  <a:txBody>
                    <a:bodyPr/>
                    <a:lstStyle/>
                    <a:p>
                      <a:pPr algn="r"/>
                      <a:r>
                        <a:rPr lang="pt-BR" sz="1800" dirty="0"/>
                        <a:t>1</a:t>
                      </a:r>
                    </a:p>
                  </a:txBody>
                  <a:tcPr marT="3600" marB="3600"/>
                </a:tc>
                <a:tc>
                  <a:txBody>
                    <a:bodyPr/>
                    <a:lstStyle/>
                    <a:p>
                      <a:pPr algn="r"/>
                      <a:r>
                        <a:rPr lang="pt-BR" sz="1800" dirty="0"/>
                        <a:t>0001</a:t>
                      </a:r>
                    </a:p>
                  </a:txBody>
                  <a:tcPr marT="3600" marB="3600"/>
                </a:tc>
                <a:extLst>
                  <a:ext uri="{0D108BD9-81ED-4DB2-BD59-A6C34878D82A}">
                    <a16:rowId xmlns:a16="http://schemas.microsoft.com/office/drawing/2014/main" val="10002"/>
                  </a:ext>
                </a:extLst>
              </a:tr>
              <a:tr h="100604">
                <a:tc>
                  <a:txBody>
                    <a:bodyPr/>
                    <a:lstStyle/>
                    <a:p>
                      <a:pPr algn="r"/>
                      <a:r>
                        <a:rPr lang="pt-BR" sz="1800" dirty="0"/>
                        <a:t>2</a:t>
                      </a:r>
                    </a:p>
                  </a:txBody>
                  <a:tcPr marT="3600" marB="3600"/>
                </a:tc>
                <a:tc>
                  <a:txBody>
                    <a:bodyPr/>
                    <a:lstStyle/>
                    <a:p>
                      <a:pPr algn="r"/>
                      <a:r>
                        <a:rPr lang="pt-BR" sz="1800" dirty="0"/>
                        <a:t>0010</a:t>
                      </a:r>
                    </a:p>
                  </a:txBody>
                  <a:tcPr marT="3600" marB="3600"/>
                </a:tc>
                <a:extLst>
                  <a:ext uri="{0D108BD9-81ED-4DB2-BD59-A6C34878D82A}">
                    <a16:rowId xmlns:a16="http://schemas.microsoft.com/office/drawing/2014/main" val="10003"/>
                  </a:ext>
                </a:extLst>
              </a:tr>
              <a:tr h="100604">
                <a:tc>
                  <a:txBody>
                    <a:bodyPr/>
                    <a:lstStyle/>
                    <a:p>
                      <a:pPr algn="r"/>
                      <a:r>
                        <a:rPr lang="pt-BR" sz="1800" dirty="0"/>
                        <a:t>3</a:t>
                      </a:r>
                    </a:p>
                  </a:txBody>
                  <a:tcPr marT="3600" marB="3600"/>
                </a:tc>
                <a:tc>
                  <a:txBody>
                    <a:bodyPr/>
                    <a:lstStyle/>
                    <a:p>
                      <a:pPr algn="r"/>
                      <a:r>
                        <a:rPr lang="pt-BR" sz="1800" dirty="0"/>
                        <a:t>0011</a:t>
                      </a:r>
                    </a:p>
                  </a:txBody>
                  <a:tcPr marT="3600" marB="3600"/>
                </a:tc>
                <a:extLst>
                  <a:ext uri="{0D108BD9-81ED-4DB2-BD59-A6C34878D82A}">
                    <a16:rowId xmlns:a16="http://schemas.microsoft.com/office/drawing/2014/main" val="10004"/>
                  </a:ext>
                </a:extLst>
              </a:tr>
              <a:tr h="100604">
                <a:tc>
                  <a:txBody>
                    <a:bodyPr/>
                    <a:lstStyle/>
                    <a:p>
                      <a:pPr algn="r"/>
                      <a:r>
                        <a:rPr lang="pt-BR" sz="1800" dirty="0"/>
                        <a:t>4</a:t>
                      </a:r>
                    </a:p>
                  </a:txBody>
                  <a:tcPr marT="3600" marB="3600"/>
                </a:tc>
                <a:tc>
                  <a:txBody>
                    <a:bodyPr/>
                    <a:lstStyle/>
                    <a:p>
                      <a:pPr algn="r"/>
                      <a:r>
                        <a:rPr lang="pt-BR" sz="1800" dirty="0"/>
                        <a:t>0100</a:t>
                      </a:r>
                    </a:p>
                  </a:txBody>
                  <a:tcPr marT="3600" marB="3600"/>
                </a:tc>
                <a:extLst>
                  <a:ext uri="{0D108BD9-81ED-4DB2-BD59-A6C34878D82A}">
                    <a16:rowId xmlns:a16="http://schemas.microsoft.com/office/drawing/2014/main" val="10005"/>
                  </a:ext>
                </a:extLst>
              </a:tr>
              <a:tr h="100604">
                <a:tc>
                  <a:txBody>
                    <a:bodyPr/>
                    <a:lstStyle/>
                    <a:p>
                      <a:pPr algn="r"/>
                      <a:r>
                        <a:rPr lang="pt-BR" sz="1800" dirty="0"/>
                        <a:t>5</a:t>
                      </a:r>
                    </a:p>
                  </a:txBody>
                  <a:tcPr marT="3600" marB="3600"/>
                </a:tc>
                <a:tc>
                  <a:txBody>
                    <a:bodyPr/>
                    <a:lstStyle/>
                    <a:p>
                      <a:pPr algn="r"/>
                      <a:r>
                        <a:rPr lang="pt-BR" sz="1800" dirty="0"/>
                        <a:t>0101</a:t>
                      </a:r>
                    </a:p>
                  </a:txBody>
                  <a:tcPr marT="3600" marB="3600"/>
                </a:tc>
                <a:extLst>
                  <a:ext uri="{0D108BD9-81ED-4DB2-BD59-A6C34878D82A}">
                    <a16:rowId xmlns:a16="http://schemas.microsoft.com/office/drawing/2014/main" val="10006"/>
                  </a:ext>
                </a:extLst>
              </a:tr>
              <a:tr h="100604">
                <a:tc>
                  <a:txBody>
                    <a:bodyPr/>
                    <a:lstStyle/>
                    <a:p>
                      <a:pPr algn="r"/>
                      <a:r>
                        <a:rPr lang="pt-BR" sz="1800" dirty="0"/>
                        <a:t>6</a:t>
                      </a:r>
                    </a:p>
                  </a:txBody>
                  <a:tcPr marT="3600" marB="3600"/>
                </a:tc>
                <a:tc>
                  <a:txBody>
                    <a:bodyPr/>
                    <a:lstStyle/>
                    <a:p>
                      <a:pPr algn="r"/>
                      <a:r>
                        <a:rPr lang="pt-BR" sz="1800" dirty="0"/>
                        <a:t>0110</a:t>
                      </a:r>
                    </a:p>
                  </a:txBody>
                  <a:tcPr marT="3600" marB="3600"/>
                </a:tc>
                <a:extLst>
                  <a:ext uri="{0D108BD9-81ED-4DB2-BD59-A6C34878D82A}">
                    <a16:rowId xmlns:a16="http://schemas.microsoft.com/office/drawing/2014/main" val="10007"/>
                  </a:ext>
                </a:extLst>
              </a:tr>
              <a:tr h="100604">
                <a:tc>
                  <a:txBody>
                    <a:bodyPr/>
                    <a:lstStyle/>
                    <a:p>
                      <a:pPr algn="r"/>
                      <a:r>
                        <a:rPr lang="pt-BR" sz="1800" dirty="0"/>
                        <a:t>7</a:t>
                      </a:r>
                    </a:p>
                  </a:txBody>
                  <a:tcPr marT="3600" marB="3600"/>
                </a:tc>
                <a:tc>
                  <a:txBody>
                    <a:bodyPr/>
                    <a:lstStyle/>
                    <a:p>
                      <a:pPr algn="r"/>
                      <a:r>
                        <a:rPr lang="pt-BR" sz="1800" dirty="0"/>
                        <a:t>0111</a:t>
                      </a:r>
                    </a:p>
                  </a:txBody>
                  <a:tcPr marT="3600" marB="3600"/>
                </a:tc>
                <a:extLst>
                  <a:ext uri="{0D108BD9-81ED-4DB2-BD59-A6C34878D82A}">
                    <a16:rowId xmlns:a16="http://schemas.microsoft.com/office/drawing/2014/main" val="10008"/>
                  </a:ext>
                </a:extLst>
              </a:tr>
              <a:tr h="100604">
                <a:tc>
                  <a:txBody>
                    <a:bodyPr/>
                    <a:lstStyle/>
                    <a:p>
                      <a:pPr algn="r"/>
                      <a:r>
                        <a:rPr lang="pt-BR" sz="1800" dirty="0"/>
                        <a:t>8</a:t>
                      </a:r>
                    </a:p>
                  </a:txBody>
                  <a:tcPr marT="3600" marB="3600"/>
                </a:tc>
                <a:tc>
                  <a:txBody>
                    <a:bodyPr/>
                    <a:lstStyle/>
                    <a:p>
                      <a:pPr algn="r"/>
                      <a:r>
                        <a:rPr lang="pt-BR" sz="1800" dirty="0"/>
                        <a:t>1000</a:t>
                      </a:r>
                    </a:p>
                  </a:txBody>
                  <a:tcPr marT="3600" marB="3600"/>
                </a:tc>
                <a:extLst>
                  <a:ext uri="{0D108BD9-81ED-4DB2-BD59-A6C34878D82A}">
                    <a16:rowId xmlns:a16="http://schemas.microsoft.com/office/drawing/2014/main" val="10009"/>
                  </a:ext>
                </a:extLst>
              </a:tr>
              <a:tr h="100604">
                <a:tc>
                  <a:txBody>
                    <a:bodyPr/>
                    <a:lstStyle/>
                    <a:p>
                      <a:pPr algn="r"/>
                      <a:r>
                        <a:rPr lang="pt-BR" sz="1800" dirty="0"/>
                        <a:t>9</a:t>
                      </a:r>
                    </a:p>
                  </a:txBody>
                  <a:tcPr marT="3600" marB="3600"/>
                </a:tc>
                <a:tc>
                  <a:txBody>
                    <a:bodyPr/>
                    <a:lstStyle/>
                    <a:p>
                      <a:pPr algn="r"/>
                      <a:r>
                        <a:rPr lang="pt-BR" sz="1800" dirty="0"/>
                        <a:t>1001</a:t>
                      </a:r>
                    </a:p>
                  </a:txBody>
                  <a:tcPr marT="3600" marB="3600"/>
                </a:tc>
                <a:extLst>
                  <a:ext uri="{0D108BD9-81ED-4DB2-BD59-A6C34878D82A}">
                    <a16:rowId xmlns:a16="http://schemas.microsoft.com/office/drawing/2014/main" val="10010"/>
                  </a:ext>
                </a:extLst>
              </a:tr>
            </a:tbl>
          </a:graphicData>
        </a:graphic>
      </p:graphicFrame>
      <p:pic>
        <p:nvPicPr>
          <p:cNvPr id="8" name="Picture 7"/>
          <p:cNvPicPr>
            <a:picLocks noChangeAspect="1"/>
          </p:cNvPicPr>
          <p:nvPr/>
        </p:nvPicPr>
        <p:blipFill rotWithShape="1">
          <a:blip r:embed="rId4"/>
          <a:srcRect l="39172"/>
          <a:stretch/>
        </p:blipFill>
        <p:spPr>
          <a:xfrm>
            <a:off x="7391400" y="157123"/>
            <a:ext cx="1113444" cy="1347229"/>
          </a:xfrm>
          <a:prstGeom prst="rect">
            <a:avLst/>
          </a:prstGeom>
        </p:spPr>
      </p:pic>
      <p:sp>
        <p:nvSpPr>
          <p:cNvPr id="11" name="Left Brace 10"/>
          <p:cNvSpPr/>
          <p:nvPr/>
        </p:nvSpPr>
        <p:spPr>
          <a:xfrm rot="16200000">
            <a:off x="2433706" y="331718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2" name="Left Brace 11"/>
          <p:cNvSpPr/>
          <p:nvPr/>
        </p:nvSpPr>
        <p:spPr>
          <a:xfrm rot="16200000">
            <a:off x="3086004" y="331718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3" name="Left Brace 12"/>
          <p:cNvSpPr/>
          <p:nvPr/>
        </p:nvSpPr>
        <p:spPr>
          <a:xfrm rot="16200000">
            <a:off x="3750721" y="3317186"/>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4" name="Left Brace 13"/>
          <p:cNvSpPr/>
          <p:nvPr/>
        </p:nvSpPr>
        <p:spPr>
          <a:xfrm rot="16200000">
            <a:off x="4403019" y="3317186"/>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5" name="Left Brace 14"/>
          <p:cNvSpPr/>
          <p:nvPr/>
        </p:nvSpPr>
        <p:spPr>
          <a:xfrm rot="16200000">
            <a:off x="5058851" y="3327917"/>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6" name="Left Brace 15"/>
          <p:cNvSpPr/>
          <p:nvPr/>
        </p:nvSpPr>
        <p:spPr>
          <a:xfrm rot="16200000">
            <a:off x="5711149" y="3327917"/>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7" name="Left Brace 16"/>
          <p:cNvSpPr/>
          <p:nvPr/>
        </p:nvSpPr>
        <p:spPr>
          <a:xfrm rot="16200000">
            <a:off x="2387118" y="4996411"/>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8" name="Left Brace 17"/>
          <p:cNvSpPr/>
          <p:nvPr/>
        </p:nvSpPr>
        <p:spPr>
          <a:xfrm rot="16200000">
            <a:off x="3039416" y="4996411"/>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19" name="Left Brace 18"/>
          <p:cNvSpPr/>
          <p:nvPr/>
        </p:nvSpPr>
        <p:spPr>
          <a:xfrm rot="16200000">
            <a:off x="3704133" y="4996413"/>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0" name="Left Brace 19"/>
          <p:cNvSpPr/>
          <p:nvPr/>
        </p:nvSpPr>
        <p:spPr>
          <a:xfrm rot="16200000">
            <a:off x="4356431" y="4996413"/>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1" name="Left Brace 20"/>
          <p:cNvSpPr/>
          <p:nvPr/>
        </p:nvSpPr>
        <p:spPr>
          <a:xfrm rot="16200000">
            <a:off x="5012263" y="500714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2" name="Left Brace 21"/>
          <p:cNvSpPr/>
          <p:nvPr/>
        </p:nvSpPr>
        <p:spPr>
          <a:xfrm rot="16200000">
            <a:off x="5664561" y="5007144"/>
            <a:ext cx="373890" cy="6314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3" name="Rectangle 22"/>
          <p:cNvSpPr/>
          <p:nvPr/>
        </p:nvSpPr>
        <p:spPr>
          <a:xfrm>
            <a:off x="2492995" y="3810772"/>
            <a:ext cx="3584636" cy="369332"/>
          </a:xfrm>
          <a:prstGeom prst="rect">
            <a:avLst/>
          </a:prstGeom>
        </p:spPr>
        <p:txBody>
          <a:bodyPr wrap="none">
            <a:spAutoFit/>
          </a:bodyPr>
          <a:lstStyle/>
          <a:p>
            <a:r>
              <a:rPr lang="is-IS" dirty="0"/>
              <a:t>3          1          4           1          5          9</a:t>
            </a:r>
            <a:endParaRPr lang="pt-BR" dirty="0"/>
          </a:p>
        </p:txBody>
      </p:sp>
      <p:sp>
        <p:nvSpPr>
          <p:cNvPr id="24" name="Rectangle 23"/>
          <p:cNvSpPr/>
          <p:nvPr/>
        </p:nvSpPr>
        <p:spPr>
          <a:xfrm>
            <a:off x="2433005" y="5499090"/>
            <a:ext cx="3637534" cy="369332"/>
          </a:xfrm>
          <a:prstGeom prst="rect">
            <a:avLst/>
          </a:prstGeom>
        </p:spPr>
        <p:txBody>
          <a:bodyPr wrap="none">
            <a:spAutoFit/>
          </a:bodyPr>
          <a:lstStyle/>
          <a:p>
            <a:r>
              <a:rPr lang="is-IS" dirty="0"/>
              <a:t>2          7           1          8      </a:t>
            </a:r>
            <a:r>
              <a:rPr lang="is-IS" sz="1200" dirty="0"/>
              <a:t> </a:t>
            </a:r>
            <a:r>
              <a:rPr lang="is-IS" dirty="0"/>
              <a:t>    2          3</a:t>
            </a:r>
            <a:endParaRPr lang="pt-BR" dirty="0"/>
          </a:p>
        </p:txBody>
      </p:sp>
    </p:spTree>
    <p:custDataLst>
      <p:tags r:id="rId1"/>
    </p:custDataLst>
    <p:extLst>
      <p:ext uri="{BB962C8B-B14F-4D97-AF65-F5344CB8AC3E}">
        <p14:creationId xmlns:p14="http://schemas.microsoft.com/office/powerpoint/2010/main" val="39184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0"/>
                            </p:stCondLst>
                            <p:childTnLst>
                              <p:par>
                                <p:cTn id="8" presetID="47"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anim calcmode="lin" valueType="num">
                                      <p:cBhvr>
                                        <p:cTn id="11" dur="400" fill="hold"/>
                                        <p:tgtEl>
                                          <p:spTgt spid="11"/>
                                        </p:tgtEl>
                                        <p:attrNameLst>
                                          <p:attrName>ppt_x</p:attrName>
                                        </p:attrNameLst>
                                      </p:cBhvr>
                                      <p:tavLst>
                                        <p:tav tm="0">
                                          <p:val>
                                            <p:strVal val="#ppt_x"/>
                                          </p:val>
                                        </p:tav>
                                        <p:tav tm="100000">
                                          <p:val>
                                            <p:strVal val="#ppt_x"/>
                                          </p:val>
                                        </p:tav>
                                      </p:tavLst>
                                    </p:anim>
                                    <p:anim calcmode="lin" valueType="num">
                                      <p:cBhvr>
                                        <p:cTn id="12" dur="400" fill="hold"/>
                                        <p:tgtEl>
                                          <p:spTgt spid="11"/>
                                        </p:tgtEl>
                                        <p:attrNameLst>
                                          <p:attrName>ppt_y</p:attrName>
                                        </p:attrNameLst>
                                      </p:cBhvr>
                                      <p:tavLst>
                                        <p:tav tm="0">
                                          <p:val>
                                            <p:strVal val="#ppt_y-.1"/>
                                          </p:val>
                                        </p:tav>
                                        <p:tav tm="100000">
                                          <p:val>
                                            <p:strVal val="#ppt_y"/>
                                          </p:val>
                                        </p:tav>
                                      </p:tavLst>
                                    </p:anim>
                                  </p:childTnLst>
                                </p:cTn>
                              </p:par>
                            </p:childTnLst>
                          </p:cTn>
                        </p:par>
                        <p:par>
                          <p:cTn id="13" fill="hold">
                            <p:stCondLst>
                              <p:cond delay="400"/>
                            </p:stCondLst>
                            <p:childTnLst>
                              <p:par>
                                <p:cTn id="14" presetID="47"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anim calcmode="lin" valueType="num">
                                      <p:cBhvr>
                                        <p:cTn id="17" dur="400" fill="hold"/>
                                        <p:tgtEl>
                                          <p:spTgt spid="12"/>
                                        </p:tgtEl>
                                        <p:attrNameLst>
                                          <p:attrName>ppt_x</p:attrName>
                                        </p:attrNameLst>
                                      </p:cBhvr>
                                      <p:tavLst>
                                        <p:tav tm="0">
                                          <p:val>
                                            <p:strVal val="#ppt_x"/>
                                          </p:val>
                                        </p:tav>
                                        <p:tav tm="100000">
                                          <p:val>
                                            <p:strVal val="#ppt_x"/>
                                          </p:val>
                                        </p:tav>
                                      </p:tavLst>
                                    </p:anim>
                                    <p:anim calcmode="lin" valueType="num">
                                      <p:cBhvr>
                                        <p:cTn id="18" dur="400" fill="hold"/>
                                        <p:tgtEl>
                                          <p:spTgt spid="12"/>
                                        </p:tgtEl>
                                        <p:attrNameLst>
                                          <p:attrName>ppt_y</p:attrName>
                                        </p:attrNameLst>
                                      </p:cBhvr>
                                      <p:tavLst>
                                        <p:tav tm="0">
                                          <p:val>
                                            <p:strVal val="#ppt_y-.1"/>
                                          </p:val>
                                        </p:tav>
                                        <p:tav tm="100000">
                                          <p:val>
                                            <p:strVal val="#ppt_y"/>
                                          </p:val>
                                        </p:tav>
                                      </p:tavLst>
                                    </p:anim>
                                  </p:childTnLst>
                                </p:cTn>
                              </p:par>
                            </p:childTnLst>
                          </p:cTn>
                        </p:par>
                        <p:par>
                          <p:cTn id="19" fill="hold">
                            <p:stCondLst>
                              <p:cond delay="800"/>
                            </p:stCondLst>
                            <p:childTnLst>
                              <p:par>
                                <p:cTn id="20" presetID="47" presetClass="entr" presetSubtype="0"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anim calcmode="lin" valueType="num">
                                      <p:cBhvr>
                                        <p:cTn id="23" dur="400" fill="hold"/>
                                        <p:tgtEl>
                                          <p:spTgt spid="13"/>
                                        </p:tgtEl>
                                        <p:attrNameLst>
                                          <p:attrName>ppt_x</p:attrName>
                                        </p:attrNameLst>
                                      </p:cBhvr>
                                      <p:tavLst>
                                        <p:tav tm="0">
                                          <p:val>
                                            <p:strVal val="#ppt_x"/>
                                          </p:val>
                                        </p:tav>
                                        <p:tav tm="100000">
                                          <p:val>
                                            <p:strVal val="#ppt_x"/>
                                          </p:val>
                                        </p:tav>
                                      </p:tavLst>
                                    </p:anim>
                                    <p:anim calcmode="lin" valueType="num">
                                      <p:cBhvr>
                                        <p:cTn id="24" dur="400" fill="hold"/>
                                        <p:tgtEl>
                                          <p:spTgt spid="13"/>
                                        </p:tgtEl>
                                        <p:attrNameLst>
                                          <p:attrName>ppt_y</p:attrName>
                                        </p:attrNameLst>
                                      </p:cBhvr>
                                      <p:tavLst>
                                        <p:tav tm="0">
                                          <p:val>
                                            <p:strVal val="#ppt_y-.1"/>
                                          </p:val>
                                        </p:tav>
                                        <p:tav tm="100000">
                                          <p:val>
                                            <p:strVal val="#ppt_y"/>
                                          </p:val>
                                        </p:tav>
                                      </p:tavLst>
                                    </p:anim>
                                  </p:childTnLst>
                                </p:cTn>
                              </p:par>
                            </p:childTnLst>
                          </p:cTn>
                        </p:par>
                        <p:par>
                          <p:cTn id="25" fill="hold">
                            <p:stCondLst>
                              <p:cond delay="1200"/>
                            </p:stCondLst>
                            <p:childTnLst>
                              <p:par>
                                <p:cTn id="26" presetID="47"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anim calcmode="lin" valueType="num">
                                      <p:cBhvr>
                                        <p:cTn id="29" dur="400" fill="hold"/>
                                        <p:tgtEl>
                                          <p:spTgt spid="14"/>
                                        </p:tgtEl>
                                        <p:attrNameLst>
                                          <p:attrName>ppt_x</p:attrName>
                                        </p:attrNameLst>
                                      </p:cBhvr>
                                      <p:tavLst>
                                        <p:tav tm="0">
                                          <p:val>
                                            <p:strVal val="#ppt_x"/>
                                          </p:val>
                                        </p:tav>
                                        <p:tav tm="100000">
                                          <p:val>
                                            <p:strVal val="#ppt_x"/>
                                          </p:val>
                                        </p:tav>
                                      </p:tavLst>
                                    </p:anim>
                                    <p:anim calcmode="lin" valueType="num">
                                      <p:cBhvr>
                                        <p:cTn id="30" dur="400" fill="hold"/>
                                        <p:tgtEl>
                                          <p:spTgt spid="14"/>
                                        </p:tgtEl>
                                        <p:attrNameLst>
                                          <p:attrName>ppt_y</p:attrName>
                                        </p:attrNameLst>
                                      </p:cBhvr>
                                      <p:tavLst>
                                        <p:tav tm="0">
                                          <p:val>
                                            <p:strVal val="#ppt_y-.1"/>
                                          </p:val>
                                        </p:tav>
                                        <p:tav tm="100000">
                                          <p:val>
                                            <p:strVal val="#ppt_y"/>
                                          </p:val>
                                        </p:tav>
                                      </p:tavLst>
                                    </p:anim>
                                  </p:childTnLst>
                                </p:cTn>
                              </p:par>
                            </p:childTnLst>
                          </p:cTn>
                        </p:par>
                        <p:par>
                          <p:cTn id="31" fill="hold">
                            <p:stCondLst>
                              <p:cond delay="1600"/>
                            </p:stCondLst>
                            <p:childTnLst>
                              <p:par>
                                <p:cTn id="32" presetID="47" presetClass="entr" presetSubtype="0"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anim calcmode="lin" valueType="num">
                                      <p:cBhvr>
                                        <p:cTn id="35" dur="400" fill="hold"/>
                                        <p:tgtEl>
                                          <p:spTgt spid="15"/>
                                        </p:tgtEl>
                                        <p:attrNameLst>
                                          <p:attrName>ppt_x</p:attrName>
                                        </p:attrNameLst>
                                      </p:cBhvr>
                                      <p:tavLst>
                                        <p:tav tm="0">
                                          <p:val>
                                            <p:strVal val="#ppt_x"/>
                                          </p:val>
                                        </p:tav>
                                        <p:tav tm="100000">
                                          <p:val>
                                            <p:strVal val="#ppt_x"/>
                                          </p:val>
                                        </p:tav>
                                      </p:tavLst>
                                    </p:anim>
                                    <p:anim calcmode="lin" valueType="num">
                                      <p:cBhvr>
                                        <p:cTn id="36" dur="400" fill="hold"/>
                                        <p:tgtEl>
                                          <p:spTgt spid="15"/>
                                        </p:tgtEl>
                                        <p:attrNameLst>
                                          <p:attrName>ppt_y</p:attrName>
                                        </p:attrNameLst>
                                      </p:cBhvr>
                                      <p:tavLst>
                                        <p:tav tm="0">
                                          <p:val>
                                            <p:strVal val="#ppt_y-.1"/>
                                          </p:val>
                                        </p:tav>
                                        <p:tav tm="100000">
                                          <p:val>
                                            <p:strVal val="#ppt_y"/>
                                          </p:val>
                                        </p:tav>
                                      </p:tavLst>
                                    </p:anim>
                                  </p:childTnLst>
                                </p:cTn>
                              </p:par>
                            </p:childTnLst>
                          </p:cTn>
                        </p:par>
                        <p:par>
                          <p:cTn id="37" fill="hold">
                            <p:stCondLst>
                              <p:cond delay="2000"/>
                            </p:stCondLst>
                            <p:childTnLst>
                              <p:par>
                                <p:cTn id="38" presetID="47" presetClass="entr" presetSubtype="0"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anim calcmode="lin" valueType="num">
                                      <p:cBhvr>
                                        <p:cTn id="41" dur="400" fill="hold"/>
                                        <p:tgtEl>
                                          <p:spTgt spid="16"/>
                                        </p:tgtEl>
                                        <p:attrNameLst>
                                          <p:attrName>ppt_x</p:attrName>
                                        </p:attrNameLst>
                                      </p:cBhvr>
                                      <p:tavLst>
                                        <p:tav tm="0">
                                          <p:val>
                                            <p:strVal val="#ppt_x"/>
                                          </p:val>
                                        </p:tav>
                                        <p:tav tm="100000">
                                          <p:val>
                                            <p:strVal val="#ppt_x"/>
                                          </p:val>
                                        </p:tav>
                                      </p:tavLst>
                                    </p:anim>
                                    <p:anim calcmode="lin" valueType="num">
                                      <p:cBhvr>
                                        <p:cTn id="42" dur="4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par>
                          <p:cTn id="47" fill="hold">
                            <p:stCondLst>
                              <p:cond delay="0"/>
                            </p:stCondLst>
                            <p:childTnLst>
                              <p:par>
                                <p:cTn id="48" presetID="47"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00"/>
                                        <p:tgtEl>
                                          <p:spTgt spid="17"/>
                                        </p:tgtEl>
                                      </p:cBhvr>
                                    </p:animEffect>
                                    <p:anim calcmode="lin" valueType="num">
                                      <p:cBhvr>
                                        <p:cTn id="51" dur="400" fill="hold"/>
                                        <p:tgtEl>
                                          <p:spTgt spid="17"/>
                                        </p:tgtEl>
                                        <p:attrNameLst>
                                          <p:attrName>ppt_x</p:attrName>
                                        </p:attrNameLst>
                                      </p:cBhvr>
                                      <p:tavLst>
                                        <p:tav tm="0">
                                          <p:val>
                                            <p:strVal val="#ppt_x"/>
                                          </p:val>
                                        </p:tav>
                                        <p:tav tm="100000">
                                          <p:val>
                                            <p:strVal val="#ppt_x"/>
                                          </p:val>
                                        </p:tav>
                                      </p:tavLst>
                                    </p:anim>
                                    <p:anim calcmode="lin" valueType="num">
                                      <p:cBhvr>
                                        <p:cTn id="52" dur="400" fill="hold"/>
                                        <p:tgtEl>
                                          <p:spTgt spid="17"/>
                                        </p:tgtEl>
                                        <p:attrNameLst>
                                          <p:attrName>ppt_y</p:attrName>
                                        </p:attrNameLst>
                                      </p:cBhvr>
                                      <p:tavLst>
                                        <p:tav tm="0">
                                          <p:val>
                                            <p:strVal val="#ppt_y-.1"/>
                                          </p:val>
                                        </p:tav>
                                        <p:tav tm="100000">
                                          <p:val>
                                            <p:strVal val="#ppt_y"/>
                                          </p:val>
                                        </p:tav>
                                      </p:tavLst>
                                    </p:anim>
                                  </p:childTnLst>
                                </p:cTn>
                              </p:par>
                            </p:childTnLst>
                          </p:cTn>
                        </p:par>
                        <p:par>
                          <p:cTn id="53" fill="hold">
                            <p:stCondLst>
                              <p:cond delay="400"/>
                            </p:stCondLst>
                            <p:childTnLst>
                              <p:par>
                                <p:cTn id="54" presetID="47" presetClass="entr" presetSubtype="0" fill="hold" grpId="0"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anim calcmode="lin" valueType="num">
                                      <p:cBhvr>
                                        <p:cTn id="57" dur="400" fill="hold"/>
                                        <p:tgtEl>
                                          <p:spTgt spid="18"/>
                                        </p:tgtEl>
                                        <p:attrNameLst>
                                          <p:attrName>ppt_x</p:attrName>
                                        </p:attrNameLst>
                                      </p:cBhvr>
                                      <p:tavLst>
                                        <p:tav tm="0">
                                          <p:val>
                                            <p:strVal val="#ppt_x"/>
                                          </p:val>
                                        </p:tav>
                                        <p:tav tm="100000">
                                          <p:val>
                                            <p:strVal val="#ppt_x"/>
                                          </p:val>
                                        </p:tav>
                                      </p:tavLst>
                                    </p:anim>
                                    <p:anim calcmode="lin" valueType="num">
                                      <p:cBhvr>
                                        <p:cTn id="58" dur="400" fill="hold"/>
                                        <p:tgtEl>
                                          <p:spTgt spid="18"/>
                                        </p:tgtEl>
                                        <p:attrNameLst>
                                          <p:attrName>ppt_y</p:attrName>
                                        </p:attrNameLst>
                                      </p:cBhvr>
                                      <p:tavLst>
                                        <p:tav tm="0">
                                          <p:val>
                                            <p:strVal val="#ppt_y-.1"/>
                                          </p:val>
                                        </p:tav>
                                        <p:tav tm="100000">
                                          <p:val>
                                            <p:strVal val="#ppt_y"/>
                                          </p:val>
                                        </p:tav>
                                      </p:tavLst>
                                    </p:anim>
                                  </p:childTnLst>
                                </p:cTn>
                              </p:par>
                            </p:childTnLst>
                          </p:cTn>
                        </p:par>
                        <p:par>
                          <p:cTn id="59" fill="hold">
                            <p:stCondLst>
                              <p:cond delay="800"/>
                            </p:stCondLst>
                            <p:childTnLst>
                              <p:par>
                                <p:cTn id="60" presetID="47" presetClass="entr" presetSubtype="0" fill="hold" grpId="0" nodeType="after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400"/>
                                        <p:tgtEl>
                                          <p:spTgt spid="19"/>
                                        </p:tgtEl>
                                      </p:cBhvr>
                                    </p:animEffect>
                                    <p:anim calcmode="lin" valueType="num">
                                      <p:cBhvr>
                                        <p:cTn id="63" dur="400" fill="hold"/>
                                        <p:tgtEl>
                                          <p:spTgt spid="19"/>
                                        </p:tgtEl>
                                        <p:attrNameLst>
                                          <p:attrName>ppt_x</p:attrName>
                                        </p:attrNameLst>
                                      </p:cBhvr>
                                      <p:tavLst>
                                        <p:tav tm="0">
                                          <p:val>
                                            <p:strVal val="#ppt_x"/>
                                          </p:val>
                                        </p:tav>
                                        <p:tav tm="100000">
                                          <p:val>
                                            <p:strVal val="#ppt_x"/>
                                          </p:val>
                                        </p:tav>
                                      </p:tavLst>
                                    </p:anim>
                                    <p:anim calcmode="lin" valueType="num">
                                      <p:cBhvr>
                                        <p:cTn id="64" dur="400" fill="hold"/>
                                        <p:tgtEl>
                                          <p:spTgt spid="19"/>
                                        </p:tgtEl>
                                        <p:attrNameLst>
                                          <p:attrName>ppt_y</p:attrName>
                                        </p:attrNameLst>
                                      </p:cBhvr>
                                      <p:tavLst>
                                        <p:tav tm="0">
                                          <p:val>
                                            <p:strVal val="#ppt_y-.1"/>
                                          </p:val>
                                        </p:tav>
                                        <p:tav tm="100000">
                                          <p:val>
                                            <p:strVal val="#ppt_y"/>
                                          </p:val>
                                        </p:tav>
                                      </p:tavLst>
                                    </p:anim>
                                  </p:childTnLst>
                                </p:cTn>
                              </p:par>
                            </p:childTnLst>
                          </p:cTn>
                        </p:par>
                        <p:par>
                          <p:cTn id="65" fill="hold">
                            <p:stCondLst>
                              <p:cond delay="1200"/>
                            </p:stCondLst>
                            <p:childTnLst>
                              <p:par>
                                <p:cTn id="66" presetID="47" presetClass="entr" presetSubtype="0" fill="hold" grpId="0" nodeType="after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fade">
                                      <p:cBhvr>
                                        <p:cTn id="68" dur="400"/>
                                        <p:tgtEl>
                                          <p:spTgt spid="20"/>
                                        </p:tgtEl>
                                      </p:cBhvr>
                                    </p:animEffect>
                                    <p:anim calcmode="lin" valueType="num">
                                      <p:cBhvr>
                                        <p:cTn id="69" dur="400" fill="hold"/>
                                        <p:tgtEl>
                                          <p:spTgt spid="20"/>
                                        </p:tgtEl>
                                        <p:attrNameLst>
                                          <p:attrName>ppt_x</p:attrName>
                                        </p:attrNameLst>
                                      </p:cBhvr>
                                      <p:tavLst>
                                        <p:tav tm="0">
                                          <p:val>
                                            <p:strVal val="#ppt_x"/>
                                          </p:val>
                                        </p:tav>
                                        <p:tav tm="100000">
                                          <p:val>
                                            <p:strVal val="#ppt_x"/>
                                          </p:val>
                                        </p:tav>
                                      </p:tavLst>
                                    </p:anim>
                                    <p:anim calcmode="lin" valueType="num">
                                      <p:cBhvr>
                                        <p:cTn id="70" dur="400" fill="hold"/>
                                        <p:tgtEl>
                                          <p:spTgt spid="20"/>
                                        </p:tgtEl>
                                        <p:attrNameLst>
                                          <p:attrName>ppt_y</p:attrName>
                                        </p:attrNameLst>
                                      </p:cBhvr>
                                      <p:tavLst>
                                        <p:tav tm="0">
                                          <p:val>
                                            <p:strVal val="#ppt_y-.1"/>
                                          </p:val>
                                        </p:tav>
                                        <p:tav tm="100000">
                                          <p:val>
                                            <p:strVal val="#ppt_y"/>
                                          </p:val>
                                        </p:tav>
                                      </p:tavLst>
                                    </p:anim>
                                  </p:childTnLst>
                                </p:cTn>
                              </p:par>
                            </p:childTnLst>
                          </p:cTn>
                        </p:par>
                        <p:par>
                          <p:cTn id="71" fill="hold">
                            <p:stCondLst>
                              <p:cond delay="1600"/>
                            </p:stCondLst>
                            <p:childTnLst>
                              <p:par>
                                <p:cTn id="72" presetID="47" presetClass="entr" presetSubtype="0"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400"/>
                                        <p:tgtEl>
                                          <p:spTgt spid="21"/>
                                        </p:tgtEl>
                                      </p:cBhvr>
                                    </p:animEffect>
                                    <p:anim calcmode="lin" valueType="num">
                                      <p:cBhvr>
                                        <p:cTn id="75" dur="400" fill="hold"/>
                                        <p:tgtEl>
                                          <p:spTgt spid="21"/>
                                        </p:tgtEl>
                                        <p:attrNameLst>
                                          <p:attrName>ppt_x</p:attrName>
                                        </p:attrNameLst>
                                      </p:cBhvr>
                                      <p:tavLst>
                                        <p:tav tm="0">
                                          <p:val>
                                            <p:strVal val="#ppt_x"/>
                                          </p:val>
                                        </p:tav>
                                        <p:tav tm="100000">
                                          <p:val>
                                            <p:strVal val="#ppt_x"/>
                                          </p:val>
                                        </p:tav>
                                      </p:tavLst>
                                    </p:anim>
                                    <p:anim calcmode="lin" valueType="num">
                                      <p:cBhvr>
                                        <p:cTn id="76" dur="400" fill="hold"/>
                                        <p:tgtEl>
                                          <p:spTgt spid="21"/>
                                        </p:tgtEl>
                                        <p:attrNameLst>
                                          <p:attrName>ppt_y</p:attrName>
                                        </p:attrNameLst>
                                      </p:cBhvr>
                                      <p:tavLst>
                                        <p:tav tm="0">
                                          <p:val>
                                            <p:strVal val="#ppt_y-.1"/>
                                          </p:val>
                                        </p:tav>
                                        <p:tav tm="100000">
                                          <p:val>
                                            <p:strVal val="#ppt_y"/>
                                          </p:val>
                                        </p:tav>
                                      </p:tavLst>
                                    </p:anim>
                                  </p:childTnLst>
                                </p:cTn>
                              </p:par>
                            </p:childTnLst>
                          </p:cTn>
                        </p:par>
                        <p:par>
                          <p:cTn id="77" fill="hold">
                            <p:stCondLst>
                              <p:cond delay="2000"/>
                            </p:stCondLst>
                            <p:childTnLst>
                              <p:par>
                                <p:cTn id="78" presetID="47" presetClass="entr" presetSubtype="0" fill="hold" grpId="0"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400"/>
                                        <p:tgtEl>
                                          <p:spTgt spid="22"/>
                                        </p:tgtEl>
                                      </p:cBhvr>
                                    </p:animEffect>
                                    <p:anim calcmode="lin" valueType="num">
                                      <p:cBhvr>
                                        <p:cTn id="81" dur="400" fill="hold"/>
                                        <p:tgtEl>
                                          <p:spTgt spid="22"/>
                                        </p:tgtEl>
                                        <p:attrNameLst>
                                          <p:attrName>ppt_x</p:attrName>
                                        </p:attrNameLst>
                                      </p:cBhvr>
                                      <p:tavLst>
                                        <p:tav tm="0">
                                          <p:val>
                                            <p:strVal val="#ppt_x"/>
                                          </p:val>
                                        </p:tav>
                                        <p:tav tm="100000">
                                          <p:val>
                                            <p:strVal val="#ppt_x"/>
                                          </p:val>
                                        </p:tav>
                                      </p:tavLst>
                                    </p:anim>
                                    <p:anim calcmode="lin" valueType="num">
                                      <p:cBhvr>
                                        <p:cTn id="82" dur="4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p:bldP spid="2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Ponto Flutuante</a:t>
            </a:r>
            <a:endParaRPr lang="en-US" dirty="0"/>
          </a:p>
        </p:txBody>
      </p:sp>
      <p:sp>
        <p:nvSpPr>
          <p:cNvPr id="3" name="Content Placeholder 2"/>
          <p:cNvSpPr>
            <a:spLocks noGrp="1"/>
          </p:cNvSpPr>
          <p:nvPr>
            <p:ph idx="1"/>
          </p:nvPr>
        </p:nvSpPr>
        <p:spPr>
          <a:xfrm>
            <a:off x="5331988" y="1077796"/>
            <a:ext cx="3598117" cy="1647215"/>
          </a:xfrm>
        </p:spPr>
        <p:txBody>
          <a:bodyPr>
            <a:noAutofit/>
          </a:bodyPr>
          <a:lstStyle/>
          <a:p>
            <a:pPr marL="0" indent="0">
              <a:spcBef>
                <a:spcPts val="600"/>
              </a:spcBef>
              <a:buNone/>
            </a:pPr>
            <a:r>
              <a:rPr lang="pt-BR" sz="2000" b="1" dirty="0" err="1"/>
              <a:t>S</a:t>
            </a:r>
            <a:r>
              <a:rPr lang="pt-BR" sz="2000" dirty="0"/>
              <a:t>: sinal</a:t>
            </a:r>
          </a:p>
          <a:p>
            <a:pPr marL="0" indent="0">
              <a:spcBef>
                <a:spcPts val="600"/>
              </a:spcBef>
              <a:buNone/>
            </a:pPr>
            <a:r>
              <a:rPr lang="pt-BR" sz="2000" b="1" dirty="0"/>
              <a:t>F</a:t>
            </a:r>
            <a:r>
              <a:rPr lang="pt-BR" sz="2000" dirty="0"/>
              <a:t>: fração</a:t>
            </a:r>
          </a:p>
          <a:p>
            <a:pPr marL="0" indent="0">
              <a:spcBef>
                <a:spcPts val="600"/>
              </a:spcBef>
              <a:buNone/>
            </a:pPr>
            <a:r>
              <a:rPr lang="pt-BR" sz="2000" b="1" dirty="0"/>
              <a:t>E</a:t>
            </a:r>
            <a:r>
              <a:rPr lang="pt-BR" sz="2000" dirty="0"/>
              <a:t>: expoente</a:t>
            </a:r>
          </a:p>
          <a:p>
            <a:pPr marL="0" indent="0">
              <a:spcBef>
                <a:spcPts val="600"/>
              </a:spcBef>
              <a:buNone/>
            </a:pPr>
            <a:r>
              <a:rPr lang="pt-BR" sz="2000" b="1" dirty="0"/>
              <a:t>C</a:t>
            </a:r>
            <a:r>
              <a:rPr lang="pt-BR" sz="2000" dirty="0"/>
              <a:t>: 127 </a:t>
            </a:r>
            <a:r>
              <a:rPr lang="pt-BR" dirty="0"/>
              <a:t>(</a:t>
            </a:r>
            <a:r>
              <a:rPr lang="en-US" noProof="0" dirty="0"/>
              <a:t>single precision</a:t>
            </a:r>
            <a:r>
              <a:rPr lang="pt-BR" dirty="0"/>
              <a:t>)</a:t>
            </a:r>
            <a:endParaRPr lang="pt-BR" sz="2000" dirty="0"/>
          </a:p>
        </p:txBody>
      </p:sp>
      <p:sp>
        <p:nvSpPr>
          <p:cNvPr id="7" name="Text Placeholder 6"/>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pPr>
              <a:defRPr/>
            </a:pPr>
            <a:fld id="{D524D41C-F03E-438F-B7ED-D51155B1138B}" type="slidenum">
              <a:rPr lang="en-US" smtClean="0"/>
              <a:pPr>
                <a:defRPr/>
              </a:pPr>
              <a:t>21</a:t>
            </a:fld>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61615480"/>
              </p:ext>
            </p:extLst>
          </p:nvPr>
        </p:nvGraphicFramePr>
        <p:xfrm>
          <a:off x="533384" y="3504590"/>
          <a:ext cx="8077216" cy="533400"/>
        </p:xfrm>
        <a:graphic>
          <a:graphicData uri="http://schemas.openxmlformats.org/drawingml/2006/table">
            <a:tbl>
              <a:tblPr firstRow="1" bandRow="1">
                <a:tableStyleId>{5C22544A-7EE6-4342-B048-85BDC9FD1C3A}</a:tableStyleId>
              </a:tblPr>
              <a:tblGrid>
                <a:gridCol w="252413">
                  <a:extLst>
                    <a:ext uri="{9D8B030D-6E8A-4147-A177-3AD203B41FA5}">
                      <a16:colId xmlns:a16="http://schemas.microsoft.com/office/drawing/2014/main" val="20000"/>
                    </a:ext>
                  </a:extLst>
                </a:gridCol>
                <a:gridCol w="252413">
                  <a:extLst>
                    <a:ext uri="{9D8B030D-6E8A-4147-A177-3AD203B41FA5}">
                      <a16:colId xmlns:a16="http://schemas.microsoft.com/office/drawing/2014/main" val="20001"/>
                    </a:ext>
                  </a:extLst>
                </a:gridCol>
                <a:gridCol w="252413">
                  <a:extLst>
                    <a:ext uri="{9D8B030D-6E8A-4147-A177-3AD203B41FA5}">
                      <a16:colId xmlns:a16="http://schemas.microsoft.com/office/drawing/2014/main" val="20002"/>
                    </a:ext>
                  </a:extLst>
                </a:gridCol>
                <a:gridCol w="252413">
                  <a:extLst>
                    <a:ext uri="{9D8B030D-6E8A-4147-A177-3AD203B41FA5}">
                      <a16:colId xmlns:a16="http://schemas.microsoft.com/office/drawing/2014/main" val="20003"/>
                    </a:ext>
                  </a:extLst>
                </a:gridCol>
                <a:gridCol w="252413">
                  <a:extLst>
                    <a:ext uri="{9D8B030D-6E8A-4147-A177-3AD203B41FA5}">
                      <a16:colId xmlns:a16="http://schemas.microsoft.com/office/drawing/2014/main" val="20004"/>
                    </a:ext>
                  </a:extLst>
                </a:gridCol>
                <a:gridCol w="252413">
                  <a:extLst>
                    <a:ext uri="{9D8B030D-6E8A-4147-A177-3AD203B41FA5}">
                      <a16:colId xmlns:a16="http://schemas.microsoft.com/office/drawing/2014/main" val="20005"/>
                    </a:ext>
                  </a:extLst>
                </a:gridCol>
                <a:gridCol w="252413">
                  <a:extLst>
                    <a:ext uri="{9D8B030D-6E8A-4147-A177-3AD203B41FA5}">
                      <a16:colId xmlns:a16="http://schemas.microsoft.com/office/drawing/2014/main" val="20006"/>
                    </a:ext>
                  </a:extLst>
                </a:gridCol>
                <a:gridCol w="252413">
                  <a:extLst>
                    <a:ext uri="{9D8B030D-6E8A-4147-A177-3AD203B41FA5}">
                      <a16:colId xmlns:a16="http://schemas.microsoft.com/office/drawing/2014/main" val="20007"/>
                    </a:ext>
                  </a:extLst>
                </a:gridCol>
                <a:gridCol w="252413">
                  <a:extLst>
                    <a:ext uri="{9D8B030D-6E8A-4147-A177-3AD203B41FA5}">
                      <a16:colId xmlns:a16="http://schemas.microsoft.com/office/drawing/2014/main" val="20008"/>
                    </a:ext>
                  </a:extLst>
                </a:gridCol>
                <a:gridCol w="252413">
                  <a:extLst>
                    <a:ext uri="{9D8B030D-6E8A-4147-A177-3AD203B41FA5}">
                      <a16:colId xmlns:a16="http://schemas.microsoft.com/office/drawing/2014/main" val="20009"/>
                    </a:ext>
                  </a:extLst>
                </a:gridCol>
                <a:gridCol w="252413">
                  <a:extLst>
                    <a:ext uri="{9D8B030D-6E8A-4147-A177-3AD203B41FA5}">
                      <a16:colId xmlns:a16="http://schemas.microsoft.com/office/drawing/2014/main" val="20010"/>
                    </a:ext>
                  </a:extLst>
                </a:gridCol>
                <a:gridCol w="252413">
                  <a:extLst>
                    <a:ext uri="{9D8B030D-6E8A-4147-A177-3AD203B41FA5}">
                      <a16:colId xmlns:a16="http://schemas.microsoft.com/office/drawing/2014/main" val="20011"/>
                    </a:ext>
                  </a:extLst>
                </a:gridCol>
                <a:gridCol w="252413">
                  <a:extLst>
                    <a:ext uri="{9D8B030D-6E8A-4147-A177-3AD203B41FA5}">
                      <a16:colId xmlns:a16="http://schemas.microsoft.com/office/drawing/2014/main" val="20012"/>
                    </a:ext>
                  </a:extLst>
                </a:gridCol>
                <a:gridCol w="252413">
                  <a:extLst>
                    <a:ext uri="{9D8B030D-6E8A-4147-A177-3AD203B41FA5}">
                      <a16:colId xmlns:a16="http://schemas.microsoft.com/office/drawing/2014/main" val="20013"/>
                    </a:ext>
                  </a:extLst>
                </a:gridCol>
                <a:gridCol w="252413">
                  <a:extLst>
                    <a:ext uri="{9D8B030D-6E8A-4147-A177-3AD203B41FA5}">
                      <a16:colId xmlns:a16="http://schemas.microsoft.com/office/drawing/2014/main" val="20014"/>
                    </a:ext>
                  </a:extLst>
                </a:gridCol>
                <a:gridCol w="252413">
                  <a:extLst>
                    <a:ext uri="{9D8B030D-6E8A-4147-A177-3AD203B41FA5}">
                      <a16:colId xmlns:a16="http://schemas.microsoft.com/office/drawing/2014/main" val="20015"/>
                    </a:ext>
                  </a:extLst>
                </a:gridCol>
                <a:gridCol w="252413">
                  <a:extLst>
                    <a:ext uri="{9D8B030D-6E8A-4147-A177-3AD203B41FA5}">
                      <a16:colId xmlns:a16="http://schemas.microsoft.com/office/drawing/2014/main" val="20016"/>
                    </a:ext>
                  </a:extLst>
                </a:gridCol>
                <a:gridCol w="252413">
                  <a:extLst>
                    <a:ext uri="{9D8B030D-6E8A-4147-A177-3AD203B41FA5}">
                      <a16:colId xmlns:a16="http://schemas.microsoft.com/office/drawing/2014/main" val="20017"/>
                    </a:ext>
                  </a:extLst>
                </a:gridCol>
                <a:gridCol w="252413">
                  <a:extLst>
                    <a:ext uri="{9D8B030D-6E8A-4147-A177-3AD203B41FA5}">
                      <a16:colId xmlns:a16="http://schemas.microsoft.com/office/drawing/2014/main" val="20018"/>
                    </a:ext>
                  </a:extLst>
                </a:gridCol>
                <a:gridCol w="252413">
                  <a:extLst>
                    <a:ext uri="{9D8B030D-6E8A-4147-A177-3AD203B41FA5}">
                      <a16:colId xmlns:a16="http://schemas.microsoft.com/office/drawing/2014/main" val="20019"/>
                    </a:ext>
                  </a:extLst>
                </a:gridCol>
                <a:gridCol w="252413">
                  <a:extLst>
                    <a:ext uri="{9D8B030D-6E8A-4147-A177-3AD203B41FA5}">
                      <a16:colId xmlns:a16="http://schemas.microsoft.com/office/drawing/2014/main" val="20020"/>
                    </a:ext>
                  </a:extLst>
                </a:gridCol>
                <a:gridCol w="252413">
                  <a:extLst>
                    <a:ext uri="{9D8B030D-6E8A-4147-A177-3AD203B41FA5}">
                      <a16:colId xmlns:a16="http://schemas.microsoft.com/office/drawing/2014/main" val="20021"/>
                    </a:ext>
                  </a:extLst>
                </a:gridCol>
                <a:gridCol w="252413">
                  <a:extLst>
                    <a:ext uri="{9D8B030D-6E8A-4147-A177-3AD203B41FA5}">
                      <a16:colId xmlns:a16="http://schemas.microsoft.com/office/drawing/2014/main" val="20022"/>
                    </a:ext>
                  </a:extLst>
                </a:gridCol>
                <a:gridCol w="252413">
                  <a:extLst>
                    <a:ext uri="{9D8B030D-6E8A-4147-A177-3AD203B41FA5}">
                      <a16:colId xmlns:a16="http://schemas.microsoft.com/office/drawing/2014/main" val="20023"/>
                    </a:ext>
                  </a:extLst>
                </a:gridCol>
                <a:gridCol w="252413">
                  <a:extLst>
                    <a:ext uri="{9D8B030D-6E8A-4147-A177-3AD203B41FA5}">
                      <a16:colId xmlns:a16="http://schemas.microsoft.com/office/drawing/2014/main" val="20024"/>
                    </a:ext>
                  </a:extLst>
                </a:gridCol>
                <a:gridCol w="252413">
                  <a:extLst>
                    <a:ext uri="{9D8B030D-6E8A-4147-A177-3AD203B41FA5}">
                      <a16:colId xmlns:a16="http://schemas.microsoft.com/office/drawing/2014/main" val="20025"/>
                    </a:ext>
                  </a:extLst>
                </a:gridCol>
                <a:gridCol w="252413">
                  <a:extLst>
                    <a:ext uri="{9D8B030D-6E8A-4147-A177-3AD203B41FA5}">
                      <a16:colId xmlns:a16="http://schemas.microsoft.com/office/drawing/2014/main" val="20026"/>
                    </a:ext>
                  </a:extLst>
                </a:gridCol>
                <a:gridCol w="252413">
                  <a:extLst>
                    <a:ext uri="{9D8B030D-6E8A-4147-A177-3AD203B41FA5}">
                      <a16:colId xmlns:a16="http://schemas.microsoft.com/office/drawing/2014/main" val="20027"/>
                    </a:ext>
                  </a:extLst>
                </a:gridCol>
                <a:gridCol w="252413">
                  <a:extLst>
                    <a:ext uri="{9D8B030D-6E8A-4147-A177-3AD203B41FA5}">
                      <a16:colId xmlns:a16="http://schemas.microsoft.com/office/drawing/2014/main" val="20028"/>
                    </a:ext>
                  </a:extLst>
                </a:gridCol>
                <a:gridCol w="252413">
                  <a:extLst>
                    <a:ext uri="{9D8B030D-6E8A-4147-A177-3AD203B41FA5}">
                      <a16:colId xmlns:a16="http://schemas.microsoft.com/office/drawing/2014/main" val="20029"/>
                    </a:ext>
                  </a:extLst>
                </a:gridCol>
                <a:gridCol w="252413">
                  <a:extLst>
                    <a:ext uri="{9D8B030D-6E8A-4147-A177-3AD203B41FA5}">
                      <a16:colId xmlns:a16="http://schemas.microsoft.com/office/drawing/2014/main" val="20030"/>
                    </a:ext>
                  </a:extLst>
                </a:gridCol>
                <a:gridCol w="252413">
                  <a:extLst>
                    <a:ext uri="{9D8B030D-6E8A-4147-A177-3AD203B41FA5}">
                      <a16:colId xmlns:a16="http://schemas.microsoft.com/office/drawing/2014/main" val="20031"/>
                    </a:ext>
                  </a:extLst>
                </a:gridCol>
              </a:tblGrid>
              <a:tr h="533400">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4">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2">
                        <a:lumMod val="75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endParaRPr lang="en-US" sz="1200" dirty="0">
                        <a:effectLst/>
                        <a:latin typeface="Cambria"/>
                        <a:ea typeface="ＭＳ 明朝"/>
                        <a:cs typeface="Times New Roman"/>
                      </a:endParaRP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tc>
                  <a:txBody>
                    <a:bodyPr/>
                    <a:lstStyle/>
                    <a:p>
                      <a:pPr>
                        <a:spcAft>
                          <a:spcPts val="0"/>
                        </a:spcAft>
                      </a:pPr>
                      <a:r>
                        <a:rPr lang="en-US" sz="1200" dirty="0">
                          <a:effectLst/>
                          <a:latin typeface="Cambria"/>
                          <a:ea typeface="ＭＳ 明朝"/>
                          <a:cs typeface="Times New Roman"/>
                        </a:rPr>
                        <a:t> </a:t>
                      </a:r>
                    </a:p>
                  </a:txBody>
                  <a:tcPr marL="68580" marR="68580" marT="0" marB="0">
                    <a:lnL w="6350" cap="flat" cmpd="sng" algn="ctr">
                      <a:solidFill>
                        <a:srgbClr val="000000">
                          <a:lumMod val="75000"/>
                          <a:lumOff val="25000"/>
                        </a:srgbClr>
                      </a:solidFill>
                      <a:prstDash val="solid"/>
                      <a:round/>
                      <a:headEnd type="none" w="med" len="med"/>
                      <a:tailEnd type="none" w="med" len="med"/>
                    </a:lnL>
                    <a:lnR w="6350" cap="flat" cmpd="sng" algn="ctr">
                      <a:solidFill>
                        <a:srgbClr val="000000">
                          <a:lumMod val="75000"/>
                          <a:lumOff val="25000"/>
                        </a:srgbClr>
                      </a:solidFill>
                      <a:prstDash val="solid"/>
                      <a:round/>
                      <a:headEnd type="none" w="med" len="med"/>
                      <a:tailEnd type="none" w="med" len="med"/>
                    </a:lnR>
                    <a:lnT w="6350" cap="flat" cmpd="sng" algn="ctr">
                      <a:solidFill>
                        <a:srgbClr val="000000">
                          <a:lumMod val="75000"/>
                          <a:lumOff val="25000"/>
                        </a:srgbClr>
                      </a:solidFill>
                      <a:prstDash val="solid"/>
                      <a:round/>
                      <a:headEnd type="none" w="med" len="med"/>
                      <a:tailEnd type="none" w="med" len="med"/>
                    </a:lnT>
                    <a:lnB w="6350" cap="flat" cmpd="sng" algn="ctr">
                      <a:solidFill>
                        <a:srgbClr val="000000">
                          <a:lumMod val="75000"/>
                          <a:lumOff val="25000"/>
                        </a:srgbClr>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0"/>
                  </a:ext>
                </a:extLst>
              </a:tr>
            </a:tbl>
          </a:graphicData>
        </a:graphic>
      </p:graphicFrame>
      <p:sp>
        <p:nvSpPr>
          <p:cNvPr id="11" name="Rectangle 10"/>
          <p:cNvSpPr/>
          <p:nvPr/>
        </p:nvSpPr>
        <p:spPr>
          <a:xfrm rot="16200000">
            <a:off x="296854" y="3553745"/>
            <a:ext cx="660307" cy="400110"/>
          </a:xfrm>
          <a:prstGeom prst="rect">
            <a:avLst/>
          </a:prstGeom>
        </p:spPr>
        <p:txBody>
          <a:bodyPr wrap="none">
            <a:spAutoFit/>
          </a:bodyPr>
          <a:lstStyle/>
          <a:p>
            <a:pPr lvl="0">
              <a:spcBef>
                <a:spcPct val="30000"/>
              </a:spcBef>
            </a:pPr>
            <a:r>
              <a:rPr lang="pt-BR" sz="2000" dirty="0">
                <a:solidFill>
                  <a:prstClr val="black"/>
                </a:solidFill>
                <a:latin typeface="Calibri"/>
              </a:rPr>
              <a:t>sinal</a:t>
            </a:r>
          </a:p>
        </p:txBody>
      </p:sp>
      <p:sp>
        <p:nvSpPr>
          <p:cNvPr id="12" name="Rectangle 11"/>
          <p:cNvSpPr/>
          <p:nvPr/>
        </p:nvSpPr>
        <p:spPr>
          <a:xfrm>
            <a:off x="1021432" y="3458626"/>
            <a:ext cx="1563098" cy="523220"/>
          </a:xfrm>
          <a:prstGeom prst="rect">
            <a:avLst/>
          </a:prstGeom>
        </p:spPr>
        <p:txBody>
          <a:bodyPr wrap="none">
            <a:spAutoFit/>
          </a:bodyPr>
          <a:lstStyle/>
          <a:p>
            <a:pPr lvl="0">
              <a:spcBef>
                <a:spcPct val="30000"/>
              </a:spcBef>
            </a:pPr>
            <a:r>
              <a:rPr lang="pt-BR" sz="2800" dirty="0">
                <a:solidFill>
                  <a:prstClr val="black"/>
                </a:solidFill>
                <a:latin typeface="Calibri"/>
              </a:rPr>
              <a:t>expoente</a:t>
            </a:r>
          </a:p>
        </p:txBody>
      </p:sp>
      <p:sp>
        <p:nvSpPr>
          <p:cNvPr id="13" name="Rectangle 12"/>
          <p:cNvSpPr/>
          <p:nvPr/>
        </p:nvSpPr>
        <p:spPr>
          <a:xfrm>
            <a:off x="4990094" y="3458626"/>
            <a:ext cx="1092863" cy="523220"/>
          </a:xfrm>
          <a:prstGeom prst="rect">
            <a:avLst/>
          </a:prstGeom>
        </p:spPr>
        <p:txBody>
          <a:bodyPr wrap="none">
            <a:spAutoFit/>
          </a:bodyPr>
          <a:lstStyle/>
          <a:p>
            <a:pPr lvl="0">
              <a:spcBef>
                <a:spcPct val="30000"/>
              </a:spcBef>
            </a:pPr>
            <a:r>
              <a:rPr lang="pt-BR" sz="2800" dirty="0">
                <a:solidFill>
                  <a:prstClr val="black"/>
                </a:solidFill>
                <a:latin typeface="Calibri"/>
              </a:rPr>
              <a:t>fração</a:t>
            </a:r>
          </a:p>
        </p:txBody>
      </p:sp>
      <p:sp>
        <p:nvSpPr>
          <p:cNvPr id="19" name="Rectangle 18"/>
          <p:cNvSpPr/>
          <p:nvPr/>
        </p:nvSpPr>
        <p:spPr>
          <a:xfrm>
            <a:off x="1446053" y="3162617"/>
            <a:ext cx="736387" cy="369332"/>
          </a:xfrm>
          <a:prstGeom prst="rect">
            <a:avLst/>
          </a:prstGeom>
        </p:spPr>
        <p:txBody>
          <a:bodyPr wrap="none">
            <a:spAutoFit/>
          </a:bodyPr>
          <a:lstStyle/>
          <a:p>
            <a:r>
              <a:rPr lang="en-US" dirty="0">
                <a:solidFill>
                  <a:srgbClr val="000000"/>
                </a:solidFill>
              </a:rPr>
              <a:t>8 bits</a:t>
            </a:r>
          </a:p>
        </p:txBody>
      </p:sp>
      <p:sp>
        <p:nvSpPr>
          <p:cNvPr id="20" name="Rectangle 19"/>
          <p:cNvSpPr/>
          <p:nvPr/>
        </p:nvSpPr>
        <p:spPr>
          <a:xfrm>
            <a:off x="5283405" y="3162617"/>
            <a:ext cx="864765" cy="369332"/>
          </a:xfrm>
          <a:prstGeom prst="rect">
            <a:avLst/>
          </a:prstGeom>
        </p:spPr>
        <p:txBody>
          <a:bodyPr wrap="none">
            <a:spAutoFit/>
          </a:bodyPr>
          <a:lstStyle/>
          <a:p>
            <a:r>
              <a:rPr lang="en-US" dirty="0">
                <a:solidFill>
                  <a:srgbClr val="000000"/>
                </a:solidFill>
              </a:rPr>
              <a:t>23 bits</a:t>
            </a:r>
          </a:p>
        </p:txBody>
      </p:sp>
      <p:sp>
        <p:nvSpPr>
          <p:cNvPr id="21" name="Rectangle 20"/>
          <p:cNvSpPr/>
          <p:nvPr/>
        </p:nvSpPr>
        <p:spPr>
          <a:xfrm>
            <a:off x="502552" y="3162617"/>
            <a:ext cx="313044" cy="369332"/>
          </a:xfrm>
          <a:prstGeom prst="rect">
            <a:avLst/>
          </a:prstGeom>
        </p:spPr>
        <p:txBody>
          <a:bodyPr wrap="none">
            <a:spAutoFit/>
          </a:bodyPr>
          <a:lstStyle/>
          <a:p>
            <a:r>
              <a:rPr lang="en-US" dirty="0">
                <a:solidFill>
                  <a:srgbClr val="000000"/>
                </a:solidFill>
              </a:rPr>
              <a:t>1</a:t>
            </a:r>
          </a:p>
        </p:txBody>
      </p:sp>
      <p:cxnSp>
        <p:nvCxnSpPr>
          <p:cNvPr id="24" name="Straight Arrow Connector 23"/>
          <p:cNvCxnSpPr/>
          <p:nvPr/>
        </p:nvCxnSpPr>
        <p:spPr>
          <a:xfrm flipH="1">
            <a:off x="2871168" y="3376642"/>
            <a:ext cx="2377320" cy="15118"/>
          </a:xfrm>
          <a:prstGeom prst="straightConnector1">
            <a:avLst/>
          </a:prstGeom>
          <a:ln w="28575" cmpd="sng">
            <a:solidFill>
              <a:srgbClr val="000000"/>
            </a:solidFill>
            <a:tailEnd type="arrow"/>
          </a:ln>
        </p:spPr>
        <p:style>
          <a:lnRef idx="1">
            <a:schemeClr val="accent6"/>
          </a:lnRef>
          <a:fillRef idx="0">
            <a:schemeClr val="accent6"/>
          </a:fillRef>
          <a:effectRef idx="0">
            <a:schemeClr val="accent6"/>
          </a:effectRef>
          <a:fontRef idx="minor">
            <a:schemeClr val="tx1"/>
          </a:fontRef>
        </p:style>
      </p:cxnSp>
      <p:cxnSp>
        <p:nvCxnSpPr>
          <p:cNvPr id="26" name="Straight Arrow Connector 25"/>
          <p:cNvCxnSpPr/>
          <p:nvPr/>
        </p:nvCxnSpPr>
        <p:spPr>
          <a:xfrm flipH="1">
            <a:off x="813768" y="3391733"/>
            <a:ext cx="634024" cy="0"/>
          </a:xfrm>
          <a:prstGeom prst="straightConnector1">
            <a:avLst/>
          </a:prstGeom>
          <a:ln w="28575" cmpd="sng">
            <a:solidFill>
              <a:srgbClr val="000000"/>
            </a:solidFill>
            <a:tailEnd type="arrow"/>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p:nvPr/>
        </p:nvCxnSpPr>
        <p:spPr>
          <a:xfrm flipH="1">
            <a:off x="6108204" y="3376615"/>
            <a:ext cx="2377320" cy="15118"/>
          </a:xfrm>
          <a:prstGeom prst="straightConnector1">
            <a:avLst/>
          </a:prstGeom>
          <a:ln w="28575" cmpd="sng">
            <a:solidFill>
              <a:srgbClr val="000000"/>
            </a:solidFill>
            <a:headEnd type="arrow"/>
            <a:tailEnd type="none"/>
          </a:ln>
        </p:spPr>
        <p:style>
          <a:lnRef idx="1">
            <a:schemeClr val="accent6"/>
          </a:lnRef>
          <a:fillRef idx="0">
            <a:schemeClr val="accent6"/>
          </a:fillRef>
          <a:effectRef idx="0">
            <a:schemeClr val="accent6"/>
          </a:effectRef>
          <a:fontRef idx="minor">
            <a:schemeClr val="tx1"/>
          </a:fontRef>
        </p:style>
      </p:cxnSp>
      <p:cxnSp>
        <p:nvCxnSpPr>
          <p:cNvPr id="30" name="Straight Arrow Connector 29"/>
          <p:cNvCxnSpPr/>
          <p:nvPr/>
        </p:nvCxnSpPr>
        <p:spPr>
          <a:xfrm>
            <a:off x="2133592" y="3387829"/>
            <a:ext cx="618904" cy="0"/>
          </a:xfrm>
          <a:prstGeom prst="straightConnector1">
            <a:avLst/>
          </a:prstGeom>
          <a:ln w="28575" cmpd="sng">
            <a:solidFill>
              <a:srgbClr val="000000"/>
            </a:solidFill>
            <a:tailEnd type="arrow"/>
          </a:ln>
        </p:spPr>
        <p:style>
          <a:lnRef idx="1">
            <a:schemeClr val="accent6"/>
          </a:lnRef>
          <a:fillRef idx="0">
            <a:schemeClr val="accent6"/>
          </a:fillRef>
          <a:effectRef idx="0">
            <a:schemeClr val="accent6"/>
          </a:effectRef>
          <a:fontRef idx="minor">
            <a:schemeClr val="tx1"/>
          </a:fontRef>
        </p:style>
      </p:cxnSp>
      <p:cxnSp>
        <p:nvCxnSpPr>
          <p:cNvPr id="44" name="Straight Connector 43"/>
          <p:cNvCxnSpPr/>
          <p:nvPr/>
        </p:nvCxnSpPr>
        <p:spPr>
          <a:xfrm>
            <a:off x="8610592" y="3084566"/>
            <a:ext cx="0" cy="381000"/>
          </a:xfrm>
          <a:prstGeom prst="line">
            <a:avLst/>
          </a:prstGeom>
          <a:ln w="38100" cmpd="sng">
            <a:solidFill>
              <a:schemeClr val="bg1"/>
            </a:solidFill>
          </a:ln>
        </p:spPr>
        <p:style>
          <a:lnRef idx="1">
            <a:schemeClr val="accent6"/>
          </a:lnRef>
          <a:fillRef idx="0">
            <a:schemeClr val="accent6"/>
          </a:fillRef>
          <a:effectRef idx="0">
            <a:schemeClr val="accent6"/>
          </a:effectRef>
          <a:fontRef idx="minor">
            <a:schemeClr val="tx1"/>
          </a:fontRef>
        </p:style>
      </p:cxnSp>
      <p:sp>
        <p:nvSpPr>
          <p:cNvPr id="50" name="Rectangle 49"/>
          <p:cNvSpPr/>
          <p:nvPr/>
        </p:nvSpPr>
        <p:spPr>
          <a:xfrm>
            <a:off x="400551" y="2742657"/>
            <a:ext cx="4019049" cy="369332"/>
          </a:xfrm>
          <a:prstGeom prst="rect">
            <a:avLst/>
          </a:prstGeom>
        </p:spPr>
        <p:txBody>
          <a:bodyPr wrap="none">
            <a:spAutoFit/>
          </a:bodyPr>
          <a:lstStyle/>
          <a:p>
            <a:pPr marL="285750" indent="-285750">
              <a:buFont typeface="Arial"/>
              <a:buChar char="•"/>
            </a:pPr>
            <a:r>
              <a:rPr lang="pt-BR" b="1" i="1" noProof="0" dirty="0">
                <a:solidFill>
                  <a:srgbClr val="000000"/>
                </a:solidFill>
              </a:rPr>
              <a:t>IEEE 754-2008 Precisão Simples</a:t>
            </a:r>
          </a:p>
        </p:txBody>
      </p:sp>
      <p:sp>
        <p:nvSpPr>
          <p:cNvPr id="98" name="Rectangle 97"/>
          <p:cNvSpPr/>
          <p:nvPr/>
        </p:nvSpPr>
        <p:spPr>
          <a:xfrm>
            <a:off x="8543253" y="3830461"/>
            <a:ext cx="262662" cy="276999"/>
          </a:xfrm>
          <a:prstGeom prst="rect">
            <a:avLst/>
          </a:prstGeom>
        </p:spPr>
        <p:txBody>
          <a:bodyPr wrap="none">
            <a:spAutoFit/>
          </a:bodyPr>
          <a:lstStyle/>
          <a:p>
            <a:pPr lvl="0">
              <a:spcBef>
                <a:spcPct val="30000"/>
              </a:spcBef>
            </a:pPr>
            <a:r>
              <a:rPr lang="en-US" sz="1200" dirty="0">
                <a:solidFill>
                  <a:prstClr val="black"/>
                </a:solidFill>
                <a:latin typeface="Calibri"/>
              </a:rPr>
              <a:t>0</a:t>
            </a:r>
          </a:p>
        </p:txBody>
      </p:sp>
      <p:sp>
        <p:nvSpPr>
          <p:cNvPr id="101" name="Rectangle 100"/>
          <p:cNvSpPr/>
          <p:nvPr/>
        </p:nvSpPr>
        <p:spPr>
          <a:xfrm>
            <a:off x="276948" y="3822211"/>
            <a:ext cx="340658" cy="276999"/>
          </a:xfrm>
          <a:prstGeom prst="rect">
            <a:avLst/>
          </a:prstGeom>
        </p:spPr>
        <p:txBody>
          <a:bodyPr wrap="none">
            <a:spAutoFit/>
          </a:bodyPr>
          <a:lstStyle/>
          <a:p>
            <a:pPr lvl="0">
              <a:spcBef>
                <a:spcPct val="30000"/>
              </a:spcBef>
            </a:pPr>
            <a:r>
              <a:rPr lang="en-US" sz="1200" dirty="0">
                <a:solidFill>
                  <a:prstClr val="black"/>
                </a:solidFill>
                <a:latin typeface="Calibri"/>
              </a:rPr>
              <a:t>31</a:t>
            </a:r>
          </a:p>
        </p:txBody>
      </p:sp>
      <p:sp>
        <p:nvSpPr>
          <p:cNvPr id="6" name="Rectangle 5"/>
          <p:cNvSpPr/>
          <p:nvPr/>
        </p:nvSpPr>
        <p:spPr>
          <a:xfrm>
            <a:off x="1021432" y="1625387"/>
            <a:ext cx="3936014" cy="707886"/>
          </a:xfrm>
          <a:prstGeom prst="rect">
            <a:avLst/>
          </a:prstGeom>
          <a:ln>
            <a:solidFill>
              <a:schemeClr val="tx1"/>
            </a:solidFill>
          </a:ln>
        </p:spPr>
        <p:txBody>
          <a:bodyPr wrap="none">
            <a:spAutoFit/>
          </a:bodyPr>
          <a:lstStyle/>
          <a:p>
            <a:pPr>
              <a:spcBef>
                <a:spcPts val="600"/>
              </a:spcBef>
            </a:pPr>
            <a:r>
              <a:rPr lang="pt-BR" sz="4000" dirty="0"/>
              <a:t> (-1)</a:t>
            </a:r>
            <a:r>
              <a:rPr lang="pt-BR" sz="4000" baseline="30000" dirty="0" err="1"/>
              <a:t>S</a:t>
            </a:r>
            <a:r>
              <a:rPr lang="pt-BR" sz="4000" dirty="0"/>
              <a:t> · (1+F</a:t>
            </a:r>
            <a:r>
              <a:rPr lang="pt-BR" sz="4000" baseline="-25000" dirty="0"/>
              <a:t>2</a:t>
            </a:r>
            <a:r>
              <a:rPr lang="pt-BR" sz="4000" dirty="0"/>
              <a:t>) · 2</a:t>
            </a:r>
            <a:r>
              <a:rPr lang="pt-BR" sz="4000" baseline="30000" dirty="0"/>
              <a:t>E-C</a:t>
            </a:r>
          </a:p>
        </p:txBody>
      </p:sp>
      <p:sp>
        <p:nvSpPr>
          <p:cNvPr id="77" name="Rectangle 76"/>
          <p:cNvSpPr/>
          <p:nvPr/>
        </p:nvSpPr>
        <p:spPr>
          <a:xfrm>
            <a:off x="1435773" y="4648095"/>
            <a:ext cx="697827" cy="338554"/>
          </a:xfrm>
          <a:prstGeom prst="rect">
            <a:avLst/>
          </a:prstGeom>
          <a:ln>
            <a:solidFill>
              <a:srgbClr val="000000"/>
            </a:solidFill>
          </a:ln>
        </p:spPr>
        <p:txBody>
          <a:bodyPr wrap="none">
            <a:spAutoFit/>
          </a:bodyPr>
          <a:lstStyle/>
          <a:p>
            <a:r>
              <a:rPr lang="en-US" sz="1600" dirty="0">
                <a:solidFill>
                  <a:srgbClr val="000000"/>
                </a:solidFill>
              </a:rPr>
              <a:t>E – C</a:t>
            </a:r>
          </a:p>
        </p:txBody>
      </p:sp>
      <p:sp>
        <p:nvSpPr>
          <p:cNvPr id="78" name="Rectangle 77"/>
          <p:cNvSpPr/>
          <p:nvPr/>
        </p:nvSpPr>
        <p:spPr>
          <a:xfrm>
            <a:off x="356576" y="4490284"/>
            <a:ext cx="589625" cy="584776"/>
          </a:xfrm>
          <a:prstGeom prst="rect">
            <a:avLst/>
          </a:prstGeom>
          <a:ln>
            <a:solidFill>
              <a:srgbClr val="000000"/>
            </a:solidFill>
          </a:ln>
        </p:spPr>
        <p:txBody>
          <a:bodyPr wrap="none">
            <a:spAutoFit/>
          </a:bodyPr>
          <a:lstStyle/>
          <a:p>
            <a:r>
              <a:rPr lang="en-US" sz="1600" dirty="0">
                <a:solidFill>
                  <a:srgbClr val="000000"/>
                </a:solidFill>
              </a:rPr>
              <a:t>0 : +</a:t>
            </a:r>
          </a:p>
          <a:p>
            <a:r>
              <a:rPr lang="en-US" sz="1600" dirty="0">
                <a:solidFill>
                  <a:srgbClr val="000000"/>
                </a:solidFill>
              </a:rPr>
              <a:t>1 : -</a:t>
            </a:r>
          </a:p>
        </p:txBody>
      </p:sp>
      <p:graphicFrame>
        <p:nvGraphicFramePr>
          <p:cNvPr id="79" name="Table 78"/>
          <p:cNvGraphicFramePr>
            <a:graphicFrameLocks noGrp="1"/>
          </p:cNvGraphicFramePr>
          <p:nvPr>
            <p:extLst>
              <p:ext uri="{D42A27DB-BD31-4B8C-83A1-F6EECF244321}">
                <p14:modId xmlns:p14="http://schemas.microsoft.com/office/powerpoint/2010/main" val="615470467"/>
              </p:ext>
            </p:extLst>
          </p:nvPr>
        </p:nvGraphicFramePr>
        <p:xfrm>
          <a:off x="3989752" y="4115027"/>
          <a:ext cx="2438400" cy="1854200"/>
        </p:xfrm>
        <a:graphic>
          <a:graphicData uri="http://schemas.openxmlformats.org/drawingml/2006/table">
            <a:tbl>
              <a:tblPr>
                <a:tableStyleId>{073A0DAA-6AF3-43AB-8588-CEC1D06C72B9}</a:tableStyleId>
              </a:tblPr>
              <a:tblGrid>
                <a:gridCol w="2438400">
                  <a:extLst>
                    <a:ext uri="{9D8B030D-6E8A-4147-A177-3AD203B41FA5}">
                      <a16:colId xmlns:a16="http://schemas.microsoft.com/office/drawing/2014/main" val="2000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-4</a:t>
                      </a:r>
                      <a:r>
                        <a:rPr lang="en-US" sz="1800" dirty="0">
                          <a:solidFill>
                            <a:srgbClr val="000000"/>
                          </a:solidFill>
                        </a:rPr>
                        <a:t> = 0,0625</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-3</a:t>
                      </a:r>
                      <a:r>
                        <a:rPr lang="en-US" sz="1800" dirty="0">
                          <a:solidFill>
                            <a:srgbClr val="000000"/>
                          </a:solidFill>
                        </a:rPr>
                        <a:t> = 0,125</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-2</a:t>
                      </a:r>
                      <a:r>
                        <a:rPr lang="en-US" sz="1800" dirty="0">
                          <a:solidFill>
                            <a:srgbClr val="000000"/>
                          </a:solidFill>
                        </a:rPr>
                        <a:t> = 0,25</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rPr>
                        <a:t>2</a:t>
                      </a:r>
                      <a:r>
                        <a:rPr lang="en-US" sz="1800" baseline="30000" dirty="0">
                          <a:solidFill>
                            <a:srgbClr val="000000"/>
                          </a:solidFill>
                        </a:rPr>
                        <a:t>-1</a:t>
                      </a:r>
                      <a:r>
                        <a:rPr lang="en-US" sz="1800" dirty="0">
                          <a:solidFill>
                            <a:srgbClr val="000000"/>
                          </a:solidFill>
                        </a:rPr>
                        <a:t> = 0,5</a:t>
                      </a:r>
                    </a:p>
                  </a:txBody>
                  <a:tcPr/>
                </a:tc>
                <a:extLst>
                  <a:ext uri="{0D108BD9-81ED-4DB2-BD59-A6C34878D82A}">
                    <a16:rowId xmlns:a16="http://schemas.microsoft.com/office/drawing/2014/main" val="10004"/>
                  </a:ext>
                </a:extLst>
              </a:tr>
            </a:tbl>
          </a:graphicData>
        </a:graphic>
      </p:graphicFrame>
      <p:cxnSp>
        <p:nvCxnSpPr>
          <p:cNvPr id="80" name="Straight Arrow Connector 79"/>
          <p:cNvCxnSpPr/>
          <p:nvPr/>
        </p:nvCxnSpPr>
        <p:spPr>
          <a:xfrm flipH="1">
            <a:off x="651389" y="4046928"/>
            <a:ext cx="11005" cy="4433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1" name="Straight Arrow Connector 80"/>
          <p:cNvCxnSpPr/>
          <p:nvPr/>
        </p:nvCxnSpPr>
        <p:spPr>
          <a:xfrm>
            <a:off x="1783004" y="4059139"/>
            <a:ext cx="1683" cy="5889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2" name="Straight Arrow Connector 31"/>
          <p:cNvCxnSpPr/>
          <p:nvPr/>
        </p:nvCxnSpPr>
        <p:spPr>
          <a:xfrm rot="16200000" flipH="1">
            <a:off x="2573943" y="4403948"/>
            <a:ext cx="1733266" cy="1043647"/>
          </a:xfrm>
          <a:prstGeom prst="bentConnector3">
            <a:avLst>
              <a:gd name="adj1" fmla="val 99316"/>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4" name="Straight Arrow Connector 31"/>
          <p:cNvCxnSpPr/>
          <p:nvPr/>
        </p:nvCxnSpPr>
        <p:spPr>
          <a:xfrm rot="16200000" flipH="1">
            <a:off x="2883388" y="4344605"/>
            <a:ext cx="1371600" cy="762000"/>
          </a:xfrm>
          <a:prstGeom prst="bentConnector3">
            <a:avLst>
              <a:gd name="adj1" fmla="val 101636"/>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5" name="Straight Arrow Connector 31"/>
          <p:cNvCxnSpPr/>
          <p:nvPr/>
        </p:nvCxnSpPr>
        <p:spPr>
          <a:xfrm rot="16200000" flipH="1">
            <a:off x="3208215" y="4260590"/>
            <a:ext cx="1002322" cy="56075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6" name="Straight Arrow Connector 31"/>
          <p:cNvCxnSpPr/>
          <p:nvPr/>
        </p:nvCxnSpPr>
        <p:spPr>
          <a:xfrm rot="16200000" flipH="1">
            <a:off x="3517921" y="4204926"/>
            <a:ext cx="614690" cy="274272"/>
          </a:xfrm>
          <a:prstGeom prst="bentConnector3">
            <a:avLst>
              <a:gd name="adj1" fmla="val 97677"/>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0FA8945-D91E-D63A-DFDB-5ECE134E180E}"/>
              </a:ext>
            </a:extLst>
          </p:cNvPr>
          <p:cNvSpPr txBox="1"/>
          <p:nvPr/>
        </p:nvSpPr>
        <p:spPr>
          <a:xfrm>
            <a:off x="1228016" y="6381361"/>
            <a:ext cx="6383168" cy="338554"/>
          </a:xfrm>
          <a:prstGeom prst="rect">
            <a:avLst/>
          </a:prstGeom>
          <a:noFill/>
        </p:spPr>
        <p:txBody>
          <a:bodyPr wrap="square">
            <a:spAutoFit/>
          </a:bodyPr>
          <a:lstStyle/>
          <a:p>
            <a:r>
              <a:rPr lang="pt-BR" sz="1600" noProof="0" dirty="0" err="1"/>
              <a:t>Obs</a:t>
            </a:r>
            <a:r>
              <a:rPr lang="pt-BR" sz="1600" noProof="0" dirty="0"/>
              <a:t>: A especificação também trata casos especiais, como: ±∞ e </a:t>
            </a:r>
            <a:r>
              <a:rPr lang="pt-BR" sz="1600" noProof="0" dirty="0" err="1"/>
              <a:t>NaN</a:t>
            </a:r>
            <a:r>
              <a:rPr lang="pt-BR" sz="1600" noProof="0" dirty="0"/>
              <a:t> </a:t>
            </a:r>
          </a:p>
        </p:txBody>
      </p:sp>
    </p:spTree>
    <p:extLst>
      <p:ext uri="{BB962C8B-B14F-4D97-AF65-F5344CB8AC3E}">
        <p14:creationId xmlns:p14="http://schemas.microsoft.com/office/powerpoint/2010/main" val="6053566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Arquivos de Texto</a:t>
            </a:r>
          </a:p>
        </p:txBody>
      </p:sp>
      <p:sp>
        <p:nvSpPr>
          <p:cNvPr id="3" name="Content Placeholder 2"/>
          <p:cNvSpPr>
            <a:spLocks noGrp="1"/>
          </p:cNvSpPr>
          <p:nvPr>
            <p:ph idx="1"/>
          </p:nvPr>
        </p:nvSpPr>
        <p:spPr>
          <a:xfrm>
            <a:off x="657225" y="1485900"/>
            <a:ext cx="8372475" cy="4724400"/>
          </a:xfrm>
        </p:spPr>
        <p:txBody>
          <a:bodyPr/>
          <a:lstStyle/>
          <a:p>
            <a:pPr>
              <a:defRPr/>
            </a:pPr>
            <a:r>
              <a:rPr lang="pt-BR" sz="2400" dirty="0"/>
              <a:t>Os arquivos podem ser divididos assim em dois </a:t>
            </a:r>
            <a:r>
              <a:rPr lang="pt-BR" sz="2400" dirty="0" err="1"/>
              <a:t>sub-grupos</a:t>
            </a:r>
            <a:r>
              <a:rPr lang="pt-BR" sz="2400" dirty="0"/>
              <a:t>:</a:t>
            </a:r>
          </a:p>
          <a:p>
            <a:pPr marL="914400" lvl="1" indent="-457200">
              <a:buFont typeface="Arial"/>
              <a:buChar char="•"/>
              <a:defRPr/>
            </a:pPr>
            <a:r>
              <a:rPr lang="pt-BR" sz="2000" dirty="0"/>
              <a:t>Texto;</a:t>
            </a:r>
          </a:p>
          <a:p>
            <a:pPr marL="914400" lvl="1" indent="-457200">
              <a:buFont typeface="Arial"/>
              <a:buChar char="•"/>
              <a:defRPr/>
            </a:pPr>
            <a:r>
              <a:rPr lang="pt-BR" sz="2000" dirty="0"/>
              <a:t>Binários.</a:t>
            </a:r>
          </a:p>
          <a:p>
            <a:pPr>
              <a:defRPr/>
            </a:pPr>
            <a:endParaRPr lang="pt-BR" sz="2400" dirty="0"/>
          </a:p>
          <a:p>
            <a:pPr>
              <a:defRPr/>
            </a:pPr>
            <a:r>
              <a:rPr lang="pt-BR" sz="2400" dirty="0"/>
              <a:t>Arquivos são lidos como uma sequ</a:t>
            </a:r>
            <a:r>
              <a:rPr lang="en-US" sz="2400" dirty="0" err="1"/>
              <a:t>ê</a:t>
            </a:r>
            <a:r>
              <a:rPr lang="pt-BR" sz="2400" dirty="0" err="1"/>
              <a:t>ncia</a:t>
            </a:r>
            <a:r>
              <a:rPr lang="pt-BR" sz="2400" dirty="0"/>
              <a:t> de bytes</a:t>
            </a:r>
          </a:p>
          <a:p>
            <a:pPr marL="304800" lvl="1" indent="-215900">
              <a:defRPr/>
            </a:pPr>
            <a:r>
              <a:rPr lang="pt-BR" sz="2000" dirty="0"/>
              <a:t>Estes bytes podem estar organizados segundo uma codificação/formato que só um programa específico entenda;</a:t>
            </a:r>
          </a:p>
          <a:p>
            <a:pPr marL="304800" lvl="1" indent="-215900">
              <a:defRPr/>
            </a:pPr>
            <a:r>
              <a:rPr lang="pt-BR" sz="2000" dirty="0"/>
              <a:t>Em arquivos de texto, sequências de bytes são interpretadas como caracteres segundo uma codificação, como ASCII. </a:t>
            </a:r>
            <a:br>
              <a:rPr lang="pt-BR" sz="2000" dirty="0"/>
            </a:br>
            <a:r>
              <a:rPr lang="pt-BR" sz="1700" dirty="0"/>
              <a:t>Programas de edição de texto puro trabalham com estes arquivos.</a:t>
            </a:r>
          </a:p>
          <a:p>
            <a:pPr>
              <a:defRPr/>
            </a:pPr>
            <a:endParaRPr lang="pt-BR" sz="2400" dirty="0"/>
          </a:p>
          <a:p>
            <a:endParaRPr lang="pt-BR"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22</a:t>
            </a:fld>
            <a:endParaRPr lang="pt-BR" dirty="0"/>
          </a:p>
        </p:txBody>
      </p:sp>
    </p:spTree>
    <p:extLst>
      <p:ext uri="{BB962C8B-B14F-4D97-AF65-F5344CB8AC3E}">
        <p14:creationId xmlns:p14="http://schemas.microsoft.com/office/powerpoint/2010/main" val="392208351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92786" cy="1143000"/>
          </a:xfrm>
        </p:spPr>
        <p:txBody>
          <a:bodyPr/>
          <a:lstStyle/>
          <a:p>
            <a:r>
              <a:rPr lang="pt-BR" dirty="0"/>
              <a:t>Tabela ASCII</a:t>
            </a:r>
            <a:br>
              <a:rPr lang="pt-BR" dirty="0"/>
            </a:br>
            <a:r>
              <a:rPr lang="en-US" sz="2000" dirty="0"/>
              <a:t>(American Standard Code for Information Interchange)</a:t>
            </a:r>
            <a:endParaRPr lang="en-US" dirty="0"/>
          </a:p>
        </p:txBody>
      </p:sp>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artisticPhotocopy/>
                    </a14:imgEffect>
                  </a14:imgLayer>
                </a14:imgProps>
              </a:ext>
            </a:extLst>
          </a:blip>
          <a:stretch>
            <a:fillRect/>
          </a:stretch>
        </p:blipFill>
        <p:spPr>
          <a:xfrm>
            <a:off x="323528" y="1681953"/>
            <a:ext cx="8496944" cy="3481252"/>
          </a:xfrm>
          <a:prstGeom prst="rect">
            <a:avLst/>
          </a:prstGeom>
        </p:spPr>
      </p:pic>
      <p:sp>
        <p:nvSpPr>
          <p:cNvPr id="3" name="Rectangle 2"/>
          <p:cNvSpPr/>
          <p:nvPr/>
        </p:nvSpPr>
        <p:spPr>
          <a:xfrm>
            <a:off x="283335" y="4533363"/>
            <a:ext cx="1159099" cy="1803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ctangle 5"/>
          <p:cNvSpPr/>
          <p:nvPr/>
        </p:nvSpPr>
        <p:spPr>
          <a:xfrm>
            <a:off x="296214" y="3890642"/>
            <a:ext cx="1159099" cy="1803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ctangle 3"/>
          <p:cNvSpPr/>
          <p:nvPr/>
        </p:nvSpPr>
        <p:spPr>
          <a:xfrm>
            <a:off x="323528" y="5586985"/>
            <a:ext cx="8726457" cy="677108"/>
          </a:xfrm>
          <a:prstGeom prst="rect">
            <a:avLst/>
          </a:prstGeom>
        </p:spPr>
        <p:txBody>
          <a:bodyPr wrap="square">
            <a:spAutoFit/>
          </a:bodyPr>
          <a:lstStyle/>
          <a:p>
            <a:r>
              <a:rPr lang="pt-BR" sz="1900" b="1" dirty="0">
                <a:solidFill>
                  <a:srgbClr val="FF0000"/>
                </a:solidFill>
              </a:rPr>
              <a:t>Em arquivos o Windows usa os caracteres CR e LF para terminar uma linha, enquanto sistemas Unix-like (Linux/</a:t>
            </a:r>
            <a:r>
              <a:rPr lang="pt-BR" sz="1900" b="1" dirty="0" err="1">
                <a:solidFill>
                  <a:srgbClr val="FF0000"/>
                </a:solidFill>
              </a:rPr>
              <a:t>macOS</a:t>
            </a:r>
            <a:r>
              <a:rPr lang="pt-BR" sz="1900" b="1" dirty="0">
                <a:solidFill>
                  <a:srgbClr val="FF0000"/>
                </a:solidFill>
              </a:rPr>
              <a:t>) usam somente o LF para terminar a linha.</a:t>
            </a:r>
          </a:p>
        </p:txBody>
      </p:sp>
    </p:spTree>
    <p:custDataLst>
      <p:tags r:id="rId1"/>
    </p:custDataLst>
    <p:extLst>
      <p:ext uri="{BB962C8B-B14F-4D97-AF65-F5344CB8AC3E}">
        <p14:creationId xmlns:p14="http://schemas.microsoft.com/office/powerpoint/2010/main" val="10665347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BR" dirty="0"/>
              <a:t>Unicode e codificações de caracteres</a:t>
            </a:r>
            <a:endParaRPr lang="pt-BR" dirty="0"/>
          </a:p>
        </p:txBody>
      </p:sp>
      <p:sp>
        <p:nvSpPr>
          <p:cNvPr id="5" name="Content Placeholder 4">
            <a:extLst>
              <a:ext uri="{FF2B5EF4-FFF2-40B4-BE49-F238E27FC236}">
                <a16:creationId xmlns:a16="http://schemas.microsoft.com/office/drawing/2014/main" id="{0B1F0F87-13BD-26C3-858F-F60AB0087875}"/>
              </a:ext>
            </a:extLst>
          </p:cNvPr>
          <p:cNvSpPr>
            <a:spLocks noGrp="1"/>
          </p:cNvSpPr>
          <p:nvPr>
            <p:ph idx="1"/>
          </p:nvPr>
        </p:nvSpPr>
        <p:spPr/>
        <p:txBody>
          <a:bodyPr>
            <a:normAutofit/>
          </a:bodyPr>
          <a:lstStyle/>
          <a:p>
            <a:r>
              <a:rPr lang="en-BR" sz="2400" b="1" dirty="0"/>
              <a:t>Unicode </a:t>
            </a:r>
            <a:r>
              <a:rPr lang="en-BR" sz="2400" dirty="0"/>
              <a:t>→ associa caracteres a </a:t>
            </a:r>
            <a:r>
              <a:rPr lang="en-BR" sz="2400" i="1" dirty="0"/>
              <a:t>code points</a:t>
            </a:r>
          </a:p>
          <a:p>
            <a:endParaRPr lang="en-US" sz="2400" dirty="0"/>
          </a:p>
          <a:p>
            <a:r>
              <a:rPr lang="en-US" sz="2400" dirty="0"/>
              <a:t>UTF-8 - </a:t>
            </a:r>
            <a:r>
              <a:rPr lang="en-BR" sz="2400" dirty="0"/>
              <a:t>codifica um </a:t>
            </a:r>
            <a:r>
              <a:rPr lang="en-BR" sz="2400" i="1" dirty="0"/>
              <a:t>code point</a:t>
            </a:r>
            <a:r>
              <a:rPr lang="en-BR" sz="2400" dirty="0"/>
              <a:t> usando 1 a 4 bytes</a:t>
            </a:r>
            <a:endParaRPr lang="en-US" sz="2400" dirty="0"/>
          </a:p>
          <a:p>
            <a:r>
              <a:rPr lang="en-US" sz="2400" dirty="0"/>
              <a:t>UTF-16 -</a:t>
            </a:r>
            <a:r>
              <a:rPr lang="en-BR" sz="2400" dirty="0"/>
              <a:t> utiliza uma ou duas unidades de 16 bits</a:t>
            </a:r>
          </a:p>
          <a:p>
            <a:endParaRPr lang="en-BR" sz="2400" dirty="0"/>
          </a:p>
          <a:p>
            <a:endParaRPr lang="en-US" sz="2400" dirty="0"/>
          </a:p>
          <a:p>
            <a:endParaRPr lang="en-US" sz="2400" dirty="0"/>
          </a:p>
        </p:txBody>
      </p:sp>
      <p:sp>
        <p:nvSpPr>
          <p:cNvPr id="8" name="Text Placeholder 7">
            <a:extLst>
              <a:ext uri="{FF2B5EF4-FFF2-40B4-BE49-F238E27FC236}">
                <a16:creationId xmlns:a16="http://schemas.microsoft.com/office/drawing/2014/main" id="{A100E467-109F-D2B8-519A-8EEDB34376EB}"/>
              </a:ext>
            </a:extLst>
          </p:cNvPr>
          <p:cNvSpPr>
            <a:spLocks noGrp="1"/>
          </p:cNvSpPr>
          <p:nvPr>
            <p:ph type="body" sz="quarter" idx="13"/>
          </p:nvPr>
        </p:nvSpPr>
        <p:spPr/>
        <p:txBody>
          <a:bodyPr/>
          <a:lstStyle/>
          <a:p>
            <a:endParaRPr lang="en-US"/>
          </a:p>
        </p:txBody>
      </p:sp>
      <p:sp>
        <p:nvSpPr>
          <p:cNvPr id="4" name="Slide Number Placeholder 3"/>
          <p:cNvSpPr>
            <a:spLocks noGrp="1"/>
          </p:cNvSpPr>
          <p:nvPr>
            <p:ph type="sldNum" sz="quarter" idx="4"/>
          </p:nvPr>
        </p:nvSpPr>
        <p:spPr/>
        <p:txBody>
          <a:bodyPr/>
          <a:lstStyle/>
          <a:p>
            <a:fld id="{77ADD9C6-6B50-42C1-AB90-24E38D1CF250}" type="slidenum">
              <a:rPr lang="pt-BR" smtClean="0"/>
              <a:t>24</a:t>
            </a:fld>
            <a:endParaRPr lang="pt-BR"/>
          </a:p>
        </p:txBody>
      </p:sp>
      <p:sp>
        <p:nvSpPr>
          <p:cNvPr id="10" name="TextBox 9">
            <a:extLst>
              <a:ext uri="{FF2B5EF4-FFF2-40B4-BE49-F238E27FC236}">
                <a16:creationId xmlns:a16="http://schemas.microsoft.com/office/drawing/2014/main" id="{877CE639-DF61-7F15-CF6C-BB329EB6A3AF}"/>
              </a:ext>
            </a:extLst>
          </p:cNvPr>
          <p:cNvSpPr txBox="1"/>
          <p:nvPr/>
        </p:nvSpPr>
        <p:spPr>
          <a:xfrm>
            <a:off x="1524793" y="3830181"/>
            <a:ext cx="6294438" cy="2246769"/>
          </a:xfrm>
          <a:prstGeom prst="rect">
            <a:avLst/>
          </a:prstGeom>
          <a:noFill/>
        </p:spPr>
        <p:txBody>
          <a:bodyPr wrap="square">
            <a:spAutoFit/>
          </a:bodyPr>
          <a:lstStyle/>
          <a:p>
            <a:pPr>
              <a:buNone/>
            </a:pPr>
            <a:r>
              <a:rPr lang="en-BR" sz="2800" dirty="0">
                <a:latin typeface="Courier New" panose="02070309020205020404" pitchFamily="49" charset="0"/>
              </a:rPr>
              <a:t>A</a:t>
            </a:r>
            <a:r>
              <a:rPr lang="en-BR" sz="2800" dirty="0"/>
              <a:t> → </a:t>
            </a:r>
            <a:r>
              <a:rPr lang="en-BR" sz="2800" b="1" dirty="0"/>
              <a:t>U+0041</a:t>
            </a:r>
            <a:r>
              <a:rPr lang="en-BR" sz="2800" dirty="0"/>
              <a:t> → UTF-8: </a:t>
            </a:r>
            <a:r>
              <a:rPr lang="en-BR" sz="2800" b="1" dirty="0"/>
              <a:t>41</a:t>
            </a:r>
          </a:p>
          <a:p>
            <a:pPr>
              <a:buNone/>
            </a:pPr>
            <a:endParaRPr lang="en-BR" sz="2800" dirty="0"/>
          </a:p>
          <a:p>
            <a:pPr>
              <a:buNone/>
            </a:pPr>
            <a:r>
              <a:rPr lang="en-BR" sz="2800" dirty="0">
                <a:latin typeface="Courier New" panose="02070309020205020404" pitchFamily="49" charset="0"/>
              </a:rPr>
              <a:t>é</a:t>
            </a:r>
            <a:r>
              <a:rPr lang="en-BR" sz="2800" dirty="0"/>
              <a:t> → </a:t>
            </a:r>
            <a:r>
              <a:rPr lang="en-BR" sz="2800" b="1" dirty="0"/>
              <a:t>U+00E9</a:t>
            </a:r>
            <a:r>
              <a:rPr lang="en-BR" sz="2800" dirty="0"/>
              <a:t> → UTF-8: </a:t>
            </a:r>
            <a:r>
              <a:rPr lang="en-BR" sz="2800" b="1" dirty="0"/>
              <a:t>C3 A9</a:t>
            </a:r>
          </a:p>
          <a:p>
            <a:pPr>
              <a:buNone/>
            </a:pPr>
            <a:endParaRPr lang="en-BR" sz="2800" dirty="0"/>
          </a:p>
          <a:p>
            <a:pPr>
              <a:buNone/>
            </a:pPr>
            <a:r>
              <a:rPr lang="en-BR" sz="2800" dirty="0">
                <a:latin typeface="Courier New" panose="02070309020205020404" pitchFamily="49" charset="0"/>
              </a:rPr>
              <a:t>😀</a:t>
            </a:r>
            <a:r>
              <a:rPr lang="en-BR" sz="2800" dirty="0"/>
              <a:t> → </a:t>
            </a:r>
            <a:r>
              <a:rPr lang="en-BR" sz="2800" b="1" dirty="0"/>
              <a:t>U+1F600</a:t>
            </a:r>
            <a:r>
              <a:rPr lang="en-BR" sz="2800" dirty="0"/>
              <a:t> → UTF-8: </a:t>
            </a:r>
            <a:r>
              <a:rPr lang="en-BR" sz="2800" b="1" dirty="0"/>
              <a:t>F0 9F 98 80</a:t>
            </a:r>
            <a:endParaRPr lang="en-BR" sz="2800" dirty="0"/>
          </a:p>
        </p:txBody>
      </p:sp>
    </p:spTree>
    <p:extLst>
      <p:ext uri="{BB962C8B-B14F-4D97-AF65-F5344CB8AC3E}">
        <p14:creationId xmlns:p14="http://schemas.microsoft.com/office/powerpoint/2010/main" val="72712884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BR" sz="2800" dirty="0"/>
              <a:t>Representando imagens em arquivos-texto</a:t>
            </a:r>
            <a:endParaRPr lang="pt-BR" sz="2800" dirty="0"/>
          </a:p>
        </p:txBody>
      </p:sp>
      <p:sp>
        <p:nvSpPr>
          <p:cNvPr id="11" name="Content Placeholder 10"/>
          <p:cNvSpPr>
            <a:spLocks noGrp="1"/>
          </p:cNvSpPr>
          <p:nvPr>
            <p:ph idx="1"/>
          </p:nvPr>
        </p:nvSpPr>
        <p:spPr/>
        <p:txBody>
          <a:bodyPr/>
          <a:lstStyle/>
          <a:p>
            <a:r>
              <a:rPr lang="pt-BR" dirty="0" err="1"/>
              <a:t>Netpbm</a:t>
            </a:r>
            <a:r>
              <a:rPr lang="pt-BR" dirty="0"/>
              <a:t> é um formato aberto para descrever imagens em texto.</a:t>
            </a:r>
          </a:p>
        </p:txBody>
      </p:sp>
      <p:sp>
        <p:nvSpPr>
          <p:cNvPr id="12" name="Text Placeholder 11"/>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25</a:t>
            </a:fld>
            <a:endParaRPr lang="pt-BR" dirty="0"/>
          </a:p>
        </p:txBody>
      </p:sp>
      <p:sp>
        <p:nvSpPr>
          <p:cNvPr id="7" name="Rectangle 6"/>
          <p:cNvSpPr/>
          <p:nvPr/>
        </p:nvSpPr>
        <p:spPr>
          <a:xfrm>
            <a:off x="4871715" y="2431856"/>
            <a:ext cx="1481221" cy="3970318"/>
          </a:xfrm>
          <a:prstGeom prst="rect">
            <a:avLst/>
          </a:prstGeom>
          <a:ln>
            <a:solidFill>
              <a:schemeClr val="tx1"/>
            </a:solidFill>
            <a:prstDash val="dot"/>
          </a:ln>
        </p:spPr>
        <p:txBody>
          <a:bodyPr wrap="square">
            <a:spAutoFit/>
          </a:bodyPr>
          <a:lstStyle/>
          <a:p>
            <a:r>
              <a:rPr lang="cs-CZ" sz="1400" dirty="0">
                <a:latin typeface="Courier"/>
                <a:cs typeface="Courier"/>
              </a:rPr>
              <a:t>P1</a:t>
            </a:r>
          </a:p>
          <a:p>
            <a:r>
              <a:rPr lang="cs-CZ" sz="1400" dirty="0">
                <a:latin typeface="Courier"/>
                <a:cs typeface="Courier"/>
              </a:rPr>
              <a:t>12 16</a:t>
            </a:r>
          </a:p>
          <a:p>
            <a:r>
              <a:rPr lang="cs-CZ" sz="1400" dirty="0">
                <a:latin typeface="Courier"/>
                <a:cs typeface="Courier"/>
              </a:rPr>
              <a:t>000111110000</a:t>
            </a:r>
          </a:p>
          <a:p>
            <a:r>
              <a:rPr lang="cs-CZ" sz="1400" dirty="0">
                <a:latin typeface="Courier"/>
                <a:cs typeface="Courier"/>
              </a:rPr>
              <a:t>001111111110</a:t>
            </a:r>
          </a:p>
          <a:p>
            <a:r>
              <a:rPr lang="cs-CZ" sz="1400" dirty="0">
                <a:latin typeface="Courier"/>
                <a:cs typeface="Courier"/>
              </a:rPr>
              <a:t>001110010000</a:t>
            </a:r>
          </a:p>
          <a:p>
            <a:r>
              <a:rPr lang="cs-CZ" sz="1400" dirty="0">
                <a:latin typeface="Courier"/>
                <a:cs typeface="Courier"/>
              </a:rPr>
              <a:t>010100010000</a:t>
            </a:r>
          </a:p>
          <a:p>
            <a:r>
              <a:rPr lang="cs-CZ" sz="1400" dirty="0">
                <a:latin typeface="Courier"/>
                <a:cs typeface="Courier"/>
              </a:rPr>
              <a:t>010110001000</a:t>
            </a:r>
          </a:p>
          <a:p>
            <a:r>
              <a:rPr lang="cs-CZ" sz="1400" dirty="0">
                <a:latin typeface="Courier"/>
                <a:cs typeface="Courier"/>
              </a:rPr>
              <a:t>011000011110</a:t>
            </a:r>
          </a:p>
          <a:p>
            <a:r>
              <a:rPr lang="cs-CZ" sz="1400" dirty="0">
                <a:latin typeface="Courier"/>
                <a:cs typeface="Courier"/>
              </a:rPr>
              <a:t>000000000000</a:t>
            </a:r>
          </a:p>
          <a:p>
            <a:r>
              <a:rPr lang="cs-CZ" sz="1400" dirty="0">
                <a:latin typeface="Courier"/>
                <a:cs typeface="Courier"/>
              </a:rPr>
              <a:t>001111110000</a:t>
            </a:r>
          </a:p>
          <a:p>
            <a:r>
              <a:rPr lang="cs-CZ" sz="1400" dirty="0">
                <a:latin typeface="Courier"/>
                <a:cs typeface="Courier"/>
              </a:rPr>
              <a:t>011111111110</a:t>
            </a:r>
          </a:p>
          <a:p>
            <a:r>
              <a:rPr lang="cs-CZ" sz="1400" dirty="0">
                <a:latin typeface="Courier"/>
                <a:cs typeface="Courier"/>
              </a:rPr>
              <a:t>111111111111</a:t>
            </a:r>
          </a:p>
          <a:p>
            <a:r>
              <a:rPr lang="cs-CZ" sz="1400" dirty="0">
                <a:latin typeface="Courier"/>
                <a:cs typeface="Courier"/>
              </a:rPr>
              <a:t>001101101100</a:t>
            </a:r>
          </a:p>
          <a:p>
            <a:r>
              <a:rPr lang="cs-CZ" sz="1400" dirty="0">
                <a:latin typeface="Courier"/>
                <a:cs typeface="Courier"/>
              </a:rPr>
              <a:t>000111111000</a:t>
            </a:r>
          </a:p>
          <a:p>
            <a:r>
              <a:rPr lang="cs-CZ" sz="1400" dirty="0">
                <a:latin typeface="Courier"/>
                <a:cs typeface="Courier"/>
              </a:rPr>
              <a:t>001111111100</a:t>
            </a:r>
          </a:p>
          <a:p>
            <a:r>
              <a:rPr lang="cs-CZ" sz="1400" dirty="0">
                <a:latin typeface="Courier"/>
                <a:cs typeface="Courier"/>
              </a:rPr>
              <a:t>001110011100</a:t>
            </a:r>
          </a:p>
          <a:p>
            <a:r>
              <a:rPr lang="cs-CZ" sz="1400" dirty="0">
                <a:latin typeface="Courier"/>
                <a:cs typeface="Courier"/>
              </a:rPr>
              <a:t>011100001110</a:t>
            </a:r>
          </a:p>
          <a:p>
            <a:r>
              <a:rPr lang="cs-CZ" sz="1400" dirty="0">
                <a:latin typeface="Courier"/>
                <a:cs typeface="Courier"/>
              </a:rPr>
              <a:t>111100001111</a:t>
            </a:r>
            <a:endParaRPr lang="pt-BR" sz="1400" dirty="0">
              <a:latin typeface="Courier"/>
              <a:cs typeface="Courier"/>
            </a:endParaRPr>
          </a:p>
        </p:txBody>
      </p:sp>
      <p:sp>
        <p:nvSpPr>
          <p:cNvPr id="9" name="Rectangle 8"/>
          <p:cNvSpPr/>
          <p:nvPr/>
        </p:nvSpPr>
        <p:spPr>
          <a:xfrm>
            <a:off x="5127970" y="2140246"/>
            <a:ext cx="989949" cy="307777"/>
          </a:xfrm>
          <a:prstGeom prst="rect">
            <a:avLst/>
          </a:prstGeom>
        </p:spPr>
        <p:txBody>
          <a:bodyPr wrap="none">
            <a:spAutoFit/>
          </a:bodyPr>
          <a:lstStyle/>
          <a:p>
            <a:r>
              <a:rPr lang="pt-BR" sz="1400" dirty="0" err="1"/>
              <a:t>mario.pbm</a:t>
            </a:r>
            <a:endParaRPr lang="pt-BR" sz="1400" dirty="0"/>
          </a:p>
        </p:txBody>
      </p:sp>
      <p:pic>
        <p:nvPicPr>
          <p:cNvPr id="13" name="Picture 12" descr="543fd935c9e12.png"/>
          <p:cNvPicPr>
            <a:picLocks noChangeAspect="1"/>
          </p:cNvPicPr>
          <p:nvPr/>
        </p:nvPicPr>
        <p:blipFill>
          <a:blip r:embed="rId3">
            <a:biLevel thresh="50000"/>
            <a:extLst>
              <a:ext uri="{28A0092B-C50C-407E-A947-70E740481C1C}">
                <a14:useLocalDpi xmlns:a14="http://schemas.microsoft.com/office/drawing/2010/main" val="0"/>
              </a:ext>
            </a:extLst>
          </a:blip>
          <a:stretch>
            <a:fillRect/>
          </a:stretch>
        </p:blipFill>
        <p:spPr>
          <a:xfrm>
            <a:off x="1463260" y="2826183"/>
            <a:ext cx="1524000" cy="2032000"/>
          </a:xfrm>
          <a:prstGeom prst="rect">
            <a:avLst/>
          </a:prstGeom>
          <a:ln>
            <a:solidFill>
              <a:schemeClr val="tx1"/>
            </a:solidFill>
          </a:ln>
        </p:spPr>
      </p:pic>
      <p:sp>
        <p:nvSpPr>
          <p:cNvPr id="14" name="Rectangle 13"/>
          <p:cNvSpPr/>
          <p:nvPr/>
        </p:nvSpPr>
        <p:spPr>
          <a:xfrm>
            <a:off x="1463260" y="4917728"/>
            <a:ext cx="2098612" cy="646331"/>
          </a:xfrm>
          <a:prstGeom prst="rect">
            <a:avLst/>
          </a:prstGeom>
        </p:spPr>
        <p:txBody>
          <a:bodyPr wrap="square">
            <a:spAutoFit/>
          </a:bodyPr>
          <a:lstStyle/>
          <a:p>
            <a:r>
              <a:rPr lang="pt-BR" dirty="0"/>
              <a:t>Preto: 1</a:t>
            </a:r>
          </a:p>
          <a:p>
            <a:r>
              <a:rPr lang="pt-BR" dirty="0"/>
              <a:t>Branco: 0</a:t>
            </a:r>
          </a:p>
        </p:txBody>
      </p:sp>
    </p:spTree>
    <p:extLst>
      <p:ext uri="{BB962C8B-B14F-4D97-AF65-F5344CB8AC3E}">
        <p14:creationId xmlns:p14="http://schemas.microsoft.com/office/powerpoint/2010/main" val="80934691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BR" sz="2800" dirty="0"/>
              <a:t>Representando imagens em arquivos-texto</a:t>
            </a:r>
            <a:endParaRPr lang="pt-BR" sz="2800" dirty="0"/>
          </a:p>
        </p:txBody>
      </p:sp>
      <p:sp>
        <p:nvSpPr>
          <p:cNvPr id="12" name="Text Placeholder 11"/>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26</a:t>
            </a:fld>
            <a:endParaRPr lang="pt-BR" dirty="0"/>
          </a:p>
        </p:txBody>
      </p:sp>
      <p:sp>
        <p:nvSpPr>
          <p:cNvPr id="6" name="Rectangle 5"/>
          <p:cNvSpPr/>
          <p:nvPr/>
        </p:nvSpPr>
        <p:spPr>
          <a:xfrm>
            <a:off x="3018576" y="2207948"/>
            <a:ext cx="5208192" cy="4185761"/>
          </a:xfrm>
          <a:prstGeom prst="rect">
            <a:avLst/>
          </a:prstGeom>
          <a:ln>
            <a:solidFill>
              <a:schemeClr val="tx1"/>
            </a:solidFill>
            <a:prstDash val="dot"/>
          </a:ln>
        </p:spPr>
        <p:txBody>
          <a:bodyPr wrap="square">
            <a:spAutoFit/>
          </a:bodyPr>
          <a:lstStyle/>
          <a:p>
            <a:r>
              <a:rPr lang="cs-CZ" sz="1400" dirty="0">
                <a:latin typeface="Courier"/>
                <a:cs typeface="Courier"/>
              </a:rPr>
              <a:t>P2</a:t>
            </a:r>
          </a:p>
          <a:p>
            <a:r>
              <a:rPr lang="cs-CZ" sz="1400" dirty="0">
                <a:latin typeface="Courier"/>
                <a:cs typeface="Courier"/>
              </a:rPr>
              <a:t>12 16</a:t>
            </a:r>
          </a:p>
          <a:p>
            <a:r>
              <a:rPr lang="cs-CZ" sz="1400" dirty="0">
                <a:latin typeface="Courier"/>
                <a:cs typeface="Courier"/>
              </a:rPr>
              <a:t>255</a:t>
            </a:r>
          </a:p>
          <a:p>
            <a:r>
              <a:rPr lang="cs-CZ" sz="1400" dirty="0">
                <a:latin typeface="Courier"/>
                <a:cs typeface="Courier"/>
              </a:rPr>
              <a:t>181 181 181 111 111 111 111 111 181 181 181 181</a:t>
            </a:r>
          </a:p>
          <a:p>
            <a:r>
              <a:rPr lang="cs-CZ" sz="1400" dirty="0">
                <a:latin typeface="Courier"/>
                <a:cs typeface="Courier"/>
              </a:rPr>
              <a:t>181 181 111 111 111 111 111 111 111 111 111 181</a:t>
            </a:r>
          </a:p>
          <a:p>
            <a:r>
              <a:rPr lang="cs-CZ" sz="1400" dirty="0">
                <a:latin typeface="Courier"/>
                <a:cs typeface="Courier"/>
              </a:rPr>
              <a:t>181 181 089 089 089 164 164 089 164 181 181 181</a:t>
            </a:r>
          </a:p>
          <a:p>
            <a:r>
              <a:rPr lang="cs-CZ" sz="1400" dirty="0">
                <a:latin typeface="Courier"/>
                <a:cs typeface="Courier"/>
              </a:rPr>
              <a:t>181 089 164 089 164 164 164 089 164 164 164 181</a:t>
            </a:r>
          </a:p>
          <a:p>
            <a:r>
              <a:rPr lang="cs-CZ" sz="1400" dirty="0">
                <a:latin typeface="Courier"/>
                <a:cs typeface="Courier"/>
              </a:rPr>
              <a:t>181 089 164 089 089 164 164 164 089 164 164 164</a:t>
            </a:r>
          </a:p>
          <a:p>
            <a:r>
              <a:rPr lang="cs-CZ" sz="1400" dirty="0">
                <a:latin typeface="Courier"/>
                <a:cs typeface="Courier"/>
              </a:rPr>
              <a:t>181 089 089 164 164 164 164 089 089 089 089 181</a:t>
            </a:r>
          </a:p>
          <a:p>
            <a:r>
              <a:rPr lang="cs-CZ" sz="1400" dirty="0">
                <a:latin typeface="Courier"/>
                <a:cs typeface="Courier"/>
              </a:rPr>
              <a:t>181 181 181 164 164 164 164 164 164 164 181 181</a:t>
            </a:r>
          </a:p>
          <a:p>
            <a:r>
              <a:rPr lang="cs-CZ" sz="1400" dirty="0">
                <a:latin typeface="Courier"/>
                <a:cs typeface="Courier"/>
              </a:rPr>
              <a:t>181 181 089 089 111 089 089 089 181 181 181 181</a:t>
            </a:r>
          </a:p>
          <a:p>
            <a:r>
              <a:rPr lang="cs-CZ" sz="1400" dirty="0">
                <a:latin typeface="Courier"/>
                <a:cs typeface="Courier"/>
              </a:rPr>
              <a:t>181 089 089 089 111 089 089 111 089 089 089 181</a:t>
            </a:r>
          </a:p>
          <a:p>
            <a:r>
              <a:rPr lang="cs-CZ" sz="1400" dirty="0">
                <a:latin typeface="Courier"/>
                <a:cs typeface="Courier"/>
              </a:rPr>
              <a:t>089 089 089 089 111 111 111 111 089 089 089 089</a:t>
            </a:r>
          </a:p>
          <a:p>
            <a:r>
              <a:rPr lang="cs-CZ" sz="1400" dirty="0">
                <a:latin typeface="Courier"/>
                <a:cs typeface="Courier"/>
              </a:rPr>
              <a:t>164 164 089 111 164 111 111 164 111 089 164 164</a:t>
            </a:r>
          </a:p>
          <a:p>
            <a:r>
              <a:rPr lang="cs-CZ" sz="1400" dirty="0">
                <a:latin typeface="Courier"/>
                <a:cs typeface="Courier"/>
              </a:rPr>
              <a:t>164 164 164 111 111 111 111 111 111 164 164 164</a:t>
            </a:r>
          </a:p>
          <a:p>
            <a:r>
              <a:rPr lang="cs-CZ" sz="1400" dirty="0">
                <a:latin typeface="Courier"/>
                <a:cs typeface="Courier"/>
              </a:rPr>
              <a:t>164 164 111 111 111 111 111 111 111 111 164 164</a:t>
            </a:r>
          </a:p>
          <a:p>
            <a:r>
              <a:rPr lang="cs-CZ" sz="1400" dirty="0">
                <a:latin typeface="Courier"/>
                <a:cs typeface="Courier"/>
              </a:rPr>
              <a:t>181 181 111 111 111 181 181 111 111 111 181 181</a:t>
            </a:r>
          </a:p>
          <a:p>
            <a:r>
              <a:rPr lang="cs-CZ" sz="1400" dirty="0">
                <a:latin typeface="Courier"/>
                <a:cs typeface="Courier"/>
              </a:rPr>
              <a:t>181 089 089 089 181 181 181 181 089 089 089 181</a:t>
            </a:r>
          </a:p>
          <a:p>
            <a:r>
              <a:rPr lang="cs-CZ" sz="1400" dirty="0">
                <a:latin typeface="Courier"/>
                <a:cs typeface="Courier"/>
              </a:rPr>
              <a:t>089 089 089 089 181 181 181 181 089 089 089 089 </a:t>
            </a:r>
            <a:endParaRPr lang="pt-BR" sz="1400" dirty="0">
              <a:latin typeface="Courier"/>
              <a:cs typeface="Courier"/>
            </a:endParaRPr>
          </a:p>
        </p:txBody>
      </p:sp>
      <p:sp>
        <p:nvSpPr>
          <p:cNvPr id="10" name="Rectangle 9"/>
          <p:cNvSpPr/>
          <p:nvPr/>
        </p:nvSpPr>
        <p:spPr>
          <a:xfrm>
            <a:off x="5117000" y="1958614"/>
            <a:ext cx="980131" cy="307777"/>
          </a:xfrm>
          <a:prstGeom prst="rect">
            <a:avLst/>
          </a:prstGeom>
        </p:spPr>
        <p:txBody>
          <a:bodyPr wrap="none">
            <a:spAutoFit/>
          </a:bodyPr>
          <a:lstStyle/>
          <a:p>
            <a:r>
              <a:rPr lang="pt-BR" sz="1400" dirty="0" err="1"/>
              <a:t>mario.pgm</a:t>
            </a:r>
            <a:endParaRPr lang="pt-BR" sz="1400" dirty="0"/>
          </a:p>
        </p:txBody>
      </p:sp>
      <p:pic>
        <p:nvPicPr>
          <p:cNvPr id="13" name="Picture 12" descr="543fd935c9e12.png"/>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643203" y="2501302"/>
            <a:ext cx="1524000" cy="2032000"/>
          </a:xfrm>
          <a:prstGeom prst="rect">
            <a:avLst/>
          </a:prstGeom>
        </p:spPr>
      </p:pic>
      <p:sp>
        <p:nvSpPr>
          <p:cNvPr id="14" name="Rectangle 13"/>
          <p:cNvSpPr/>
          <p:nvPr/>
        </p:nvSpPr>
        <p:spPr>
          <a:xfrm>
            <a:off x="643203" y="4592847"/>
            <a:ext cx="2098612" cy="1477328"/>
          </a:xfrm>
          <a:prstGeom prst="rect">
            <a:avLst/>
          </a:prstGeom>
        </p:spPr>
        <p:txBody>
          <a:bodyPr wrap="square">
            <a:spAutoFit/>
          </a:bodyPr>
          <a:lstStyle/>
          <a:p>
            <a:r>
              <a:rPr lang="cs-CZ" dirty="0" err="1"/>
              <a:t>Tons</a:t>
            </a:r>
            <a:r>
              <a:rPr lang="cs-CZ" dirty="0"/>
              <a:t> de </a:t>
            </a:r>
            <a:r>
              <a:rPr lang="cs-CZ" dirty="0" err="1"/>
              <a:t>Cinza</a:t>
            </a:r>
            <a:r>
              <a:rPr lang="cs-CZ" dirty="0"/>
              <a:t>:</a:t>
            </a:r>
          </a:p>
          <a:p>
            <a:r>
              <a:rPr lang="is-IS" dirty="0"/>
              <a:t>089</a:t>
            </a:r>
          </a:p>
          <a:p>
            <a:r>
              <a:rPr lang="cs-CZ" dirty="0"/>
              <a:t>111</a:t>
            </a:r>
          </a:p>
          <a:p>
            <a:r>
              <a:rPr lang="is-IS" dirty="0"/>
              <a:t>164</a:t>
            </a:r>
            <a:endParaRPr lang="pt-BR" dirty="0"/>
          </a:p>
          <a:p>
            <a:r>
              <a:rPr lang="cs-CZ" dirty="0"/>
              <a:t>181 </a:t>
            </a:r>
            <a:endParaRPr lang="pt-BR" dirty="0"/>
          </a:p>
        </p:txBody>
      </p:sp>
      <mc:AlternateContent xmlns:mc="http://schemas.openxmlformats.org/markup-compatibility/2006" xmlns:p14="http://schemas.microsoft.com/office/powerpoint/2010/main" xmlns:iact="http://schemas.microsoft.com/office/powerpoint/2014/inkAction">
        <mc:Choice Requires="p14 iact">
          <p:contentPart p14:bwMode="auto" r:id="rId6">
            <p14:nvContentPartPr>
              <p14:cNvPr id="7" name="Tinta 6"/>
              <p14:cNvContentPartPr/>
              <p14:nvPr>
                <p:custDataLst>
                  <p:tags r:id="rId1"/>
                </p:custDataLst>
                <p:extLst>
                  <p:ext uri="{42D2F446-02D8-4167-A562-619A0277C38B}">
                    <p15:isNarration xmlns:p15="http://schemas.microsoft.com/office/powerpoint/2012/main" val="1"/>
                  </p:ext>
                </p:extLst>
              </p14:nvPr>
            </p14:nvContentPartPr>
            <p14:xfrm>
              <a:off x="3408218" y="2357438"/>
              <a:ext cx="3438845" cy="664806"/>
            </p14:xfrm>
          </p:contentPart>
        </mc:Choice>
        <mc:Fallback xmlns="">
          <p:pic>
            <p:nvPicPr>
              <p:cNvPr id="7" name="Tinta 6"/>
              <p:cNvPicPr>
                <a:picLocks noGrp="1" noRot="1" noChangeAspect="1" noMove="1" noResize="1" noEditPoints="1" noAdjustHandles="1" noChangeArrowheads="1" noChangeShapeType="1"/>
              </p:cNvPicPr>
              <p:nvPr/>
            </p:nvPicPr>
            <p:blipFill>
              <a:blip r:embed="rId12"/>
              <a:stretch>
                <a:fillRect/>
              </a:stretch>
            </p:blipFill>
            <p:spPr>
              <a:xfrm>
                <a:off x="3363784" y="2313118"/>
                <a:ext cx="3527712" cy="753447"/>
              </a:xfrm>
              <a:prstGeom prst="rect">
                <a:avLst/>
              </a:prstGeom>
            </p:spPr>
          </p:pic>
        </mc:Fallback>
      </mc:AlternateContent>
    </p:spTree>
    <p:extLst>
      <p:ext uri="{BB962C8B-B14F-4D97-AF65-F5344CB8AC3E}">
        <p14:creationId xmlns:p14="http://schemas.microsoft.com/office/powerpoint/2010/main" val="64925096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md type="call" cmd="playFrom(0.0)">
                                      <p:cBhvr>
                                        <p:cTn id="7"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BR" sz="2800" dirty="0"/>
              <a:t>Representando imagens em arquivos-texto</a:t>
            </a:r>
            <a:endParaRPr lang="pt-BR" sz="2800" dirty="0"/>
          </a:p>
        </p:txBody>
      </p:sp>
      <p:sp>
        <p:nvSpPr>
          <p:cNvPr id="4" name="Text Placeholder 3"/>
          <p:cNvSpPr>
            <a:spLocks noGrp="1"/>
          </p:cNvSpPr>
          <p:nvPr>
            <p:ph type="body" sz="quarter" idx="13"/>
          </p:nvPr>
        </p:nvSpPr>
        <p:spPr/>
        <p:txBody>
          <a:bodyPr/>
          <a:lstStyle/>
          <a:p>
            <a:endParaRPr lang="pt-BR"/>
          </a:p>
        </p:txBody>
      </p:sp>
      <p:sp>
        <p:nvSpPr>
          <p:cNvPr id="5" name="Slide Number Placeholder 4"/>
          <p:cNvSpPr>
            <a:spLocks noGrp="1"/>
          </p:cNvSpPr>
          <p:nvPr>
            <p:ph type="sldNum" sz="quarter" idx="4"/>
          </p:nvPr>
        </p:nvSpPr>
        <p:spPr/>
        <p:txBody>
          <a:bodyPr/>
          <a:lstStyle/>
          <a:p>
            <a:fld id="{7FFE5E5C-C80A-4D8D-A711-3102A7BA9258}" type="slidenum">
              <a:rPr lang="pt-BR" smtClean="0"/>
              <a:pPr/>
              <a:t>27</a:t>
            </a:fld>
            <a:endParaRPr lang="pt-BR" dirty="0"/>
          </a:p>
        </p:txBody>
      </p:sp>
      <p:sp>
        <p:nvSpPr>
          <p:cNvPr id="6" name="Rectangle 5"/>
          <p:cNvSpPr/>
          <p:nvPr/>
        </p:nvSpPr>
        <p:spPr>
          <a:xfrm>
            <a:off x="457200" y="3802673"/>
            <a:ext cx="8459538" cy="2578654"/>
          </a:xfrm>
          <a:prstGeom prst="rect">
            <a:avLst/>
          </a:prstGeom>
          <a:ln>
            <a:solidFill>
              <a:schemeClr val="tx1"/>
            </a:solidFill>
            <a:prstDash val="dot"/>
          </a:ln>
        </p:spPr>
        <p:txBody>
          <a:bodyPr wrap="square" lIns="0" tIns="0" rIns="0" bIns="0">
            <a:spAutoFit/>
          </a:bodyPr>
          <a:lstStyle/>
          <a:p>
            <a:pPr>
              <a:lnSpc>
                <a:spcPct val="80000"/>
              </a:lnSpc>
            </a:pPr>
            <a:r>
              <a:rPr lang="cs-CZ" sz="1100" kern="0" spc="-200" dirty="0">
                <a:latin typeface="Courier"/>
                <a:cs typeface="Courier"/>
              </a:rPr>
              <a:t>P3</a:t>
            </a:r>
          </a:p>
          <a:p>
            <a:pPr>
              <a:lnSpc>
                <a:spcPct val="80000"/>
              </a:lnSpc>
            </a:pPr>
            <a:r>
              <a:rPr lang="cs-CZ" sz="1100" kern="0" spc="-200" dirty="0">
                <a:latin typeface="Courier"/>
                <a:cs typeface="Courier"/>
              </a:rPr>
              <a:t>12 16</a:t>
            </a:r>
          </a:p>
          <a:p>
            <a:pPr>
              <a:lnSpc>
                <a:spcPct val="80000"/>
              </a:lnSpc>
            </a:pPr>
            <a:r>
              <a:rPr lang="cs-CZ" sz="1100" kern="0" spc="-200" dirty="0">
                <a:latin typeface="Courier"/>
                <a:cs typeface="Courier"/>
              </a:rPr>
              <a:t>255</a:t>
            </a:r>
          </a:p>
          <a:p>
            <a:pPr>
              <a:lnSpc>
                <a:spcPct val="80000"/>
              </a:lnSpc>
            </a:pPr>
            <a:r>
              <a:rPr lang="cs-CZ" sz="1100" kern="0" spc="-200" dirty="0">
                <a:latin typeface="Courier"/>
                <a:cs typeface="Courier"/>
              </a:rPr>
              <a:t>107 140 255 107 140 255 107 140 255 177 052 037 177 052 037 177 052 037 177 052 037 177 052 037 107 140 255 107 140 255 107 140 255 107 140 255</a:t>
            </a:r>
          </a:p>
          <a:p>
            <a:pPr>
              <a:lnSpc>
                <a:spcPct val="80000"/>
              </a:lnSpc>
            </a:pPr>
            <a:r>
              <a:rPr lang="cs-CZ" sz="1100" kern="0" spc="-200" dirty="0">
                <a:latin typeface="Courier"/>
                <a:cs typeface="Courier"/>
              </a:rPr>
              <a:t>107 140 255 107 140 255 177 052 037 177 052 037 177 052 037 177 052 037 177 052 037 177 052 037 177 052 037 177 052 037 177 052 037 107 140 255</a:t>
            </a:r>
          </a:p>
          <a:p>
            <a:pPr>
              <a:lnSpc>
                <a:spcPct val="80000"/>
              </a:lnSpc>
            </a:pPr>
            <a:r>
              <a:rPr lang="cs-CZ" sz="1100" kern="0" spc="-200" dirty="0">
                <a:latin typeface="Courier"/>
                <a:cs typeface="Courier"/>
              </a:rPr>
              <a:t>107 140 255 107 140 255 106 107 004 106 107 004 106 107 004 227 157 037 227 157 037 106 107 004 227 157 037 107 140 255 107 140 255 107 140 255</a:t>
            </a:r>
          </a:p>
          <a:p>
            <a:pPr>
              <a:lnSpc>
                <a:spcPct val="80000"/>
              </a:lnSpc>
            </a:pPr>
            <a:r>
              <a:rPr lang="cs-CZ" sz="1100" kern="0" spc="-200" dirty="0">
                <a:latin typeface="Courier"/>
                <a:cs typeface="Courier"/>
              </a:rPr>
              <a:t>107 140 255 106 107 004 227 157 037 106 107 004 227 157 037 227 157 037 227 157 037 106 107 004 227 157 037 227 157 037 227 157 037 107 140 255</a:t>
            </a:r>
          </a:p>
          <a:p>
            <a:pPr>
              <a:lnSpc>
                <a:spcPct val="80000"/>
              </a:lnSpc>
            </a:pPr>
            <a:r>
              <a:rPr lang="cs-CZ" sz="1100" kern="0" spc="-200" dirty="0">
                <a:latin typeface="Courier"/>
                <a:cs typeface="Courier"/>
              </a:rPr>
              <a:t>107 140 255 106 107 004 227 157 037 106 107 004 106 107 004 227 157 037 227 157 037 227 157 037 106 107 004 227 157 037 227 157 037 227 157 037</a:t>
            </a:r>
          </a:p>
          <a:p>
            <a:pPr>
              <a:lnSpc>
                <a:spcPct val="80000"/>
              </a:lnSpc>
            </a:pPr>
            <a:r>
              <a:rPr lang="cs-CZ" sz="1100" kern="0" spc="-200" dirty="0">
                <a:latin typeface="Courier"/>
                <a:cs typeface="Courier"/>
              </a:rPr>
              <a:t>107 140 255 106 107 004 106 107 004 227 157 037 227 157 037 227 157 037 227 157 037 106 107 004 106 107 004 106 107 004 106 107 004 107 140 255</a:t>
            </a:r>
          </a:p>
          <a:p>
            <a:pPr>
              <a:lnSpc>
                <a:spcPct val="80000"/>
              </a:lnSpc>
            </a:pPr>
            <a:r>
              <a:rPr lang="cs-CZ" sz="1100" kern="0" spc="-200" dirty="0">
                <a:latin typeface="Courier"/>
                <a:cs typeface="Courier"/>
              </a:rPr>
              <a:t>107 140 255 107 140 255 107 140 255 227 157 037 227 157 037 227 157 037 227 157 037 227 157 037 227 157 037 227 157 037 107 140 255 107 140 255</a:t>
            </a:r>
          </a:p>
          <a:p>
            <a:pPr>
              <a:lnSpc>
                <a:spcPct val="80000"/>
              </a:lnSpc>
            </a:pPr>
            <a:r>
              <a:rPr lang="cs-CZ" sz="1100" kern="0" spc="-200" dirty="0">
                <a:latin typeface="Courier"/>
                <a:cs typeface="Courier"/>
              </a:rPr>
              <a:t>107 140 255 107 140 255 106 107 004 106 107 004 177 052 037 106 107 004 106 107 004 106 107 004 107 140 255 107 140 255 107 140 255 107 140 255</a:t>
            </a:r>
          </a:p>
          <a:p>
            <a:pPr>
              <a:lnSpc>
                <a:spcPct val="80000"/>
              </a:lnSpc>
            </a:pPr>
            <a:r>
              <a:rPr lang="cs-CZ" sz="1100" kern="0" spc="-200" dirty="0">
                <a:latin typeface="Courier"/>
                <a:cs typeface="Courier"/>
              </a:rPr>
              <a:t>107 140 255 106 107 004 106 107 004 106 107 004 177 052 037 106 107 004 106 107 004 177 052 037 106 107 004 106 107 004 106 107 004 107 140 255</a:t>
            </a:r>
          </a:p>
          <a:p>
            <a:pPr>
              <a:lnSpc>
                <a:spcPct val="80000"/>
              </a:lnSpc>
            </a:pPr>
            <a:r>
              <a:rPr lang="cs-CZ" sz="1100" kern="0" spc="-200" dirty="0">
                <a:latin typeface="Courier"/>
                <a:cs typeface="Courier"/>
              </a:rPr>
              <a:t>106 107 004 106 107 004 106 107 004 106 107 004 177 052 037 177 052 037 177 052 037 177 052 037 106 107 004 106 107 004 106 107 004 106 107 004</a:t>
            </a:r>
          </a:p>
          <a:p>
            <a:pPr>
              <a:lnSpc>
                <a:spcPct val="80000"/>
              </a:lnSpc>
            </a:pPr>
            <a:r>
              <a:rPr lang="cs-CZ" sz="1100" kern="0" spc="-200" dirty="0">
                <a:latin typeface="Courier"/>
                <a:cs typeface="Courier"/>
              </a:rPr>
              <a:t>227 157 037 227 157 037 106 107 004 177 052 037 227 157 037 177 052 037 177 052 037 227 157 037 177 052 037 106 107 004 227 157 037 227 157 037</a:t>
            </a:r>
          </a:p>
          <a:p>
            <a:pPr>
              <a:lnSpc>
                <a:spcPct val="80000"/>
              </a:lnSpc>
            </a:pPr>
            <a:r>
              <a:rPr lang="cs-CZ" sz="1100" kern="0" spc="-200" dirty="0">
                <a:latin typeface="Courier"/>
                <a:cs typeface="Courier"/>
              </a:rPr>
              <a:t>227 157 037 227 157 037 227 157 037 177 052 037 177 052 037 177 052 037 177 052 037 177 052 037 177 052 037 227 157 037 227 157 037 227 157 037</a:t>
            </a:r>
          </a:p>
          <a:p>
            <a:pPr>
              <a:lnSpc>
                <a:spcPct val="80000"/>
              </a:lnSpc>
            </a:pPr>
            <a:r>
              <a:rPr lang="cs-CZ" sz="1100" kern="0" spc="-200" dirty="0">
                <a:latin typeface="Courier"/>
                <a:cs typeface="Courier"/>
              </a:rPr>
              <a:t>227 157 037 227 157 037 177 052 037 177 052 037 177 052 037 177 052 037 177 052 037 177 052 037 177 052 037 177 052 037 227 157 037 227 157 037</a:t>
            </a:r>
          </a:p>
          <a:p>
            <a:pPr>
              <a:lnSpc>
                <a:spcPct val="80000"/>
              </a:lnSpc>
            </a:pPr>
            <a:r>
              <a:rPr lang="cs-CZ" sz="1100" kern="0" spc="-200" dirty="0">
                <a:latin typeface="Courier"/>
                <a:cs typeface="Courier"/>
              </a:rPr>
              <a:t>107 140 255 107 140 255 177 052 037 177 052 037 177 052 037 107 140 255 107 140 255 177 052 037 177 052 037 177 052 037 107 140 255 107 140 255</a:t>
            </a:r>
          </a:p>
          <a:p>
            <a:pPr>
              <a:lnSpc>
                <a:spcPct val="80000"/>
              </a:lnSpc>
            </a:pPr>
            <a:r>
              <a:rPr lang="cs-CZ" sz="1100" kern="0" spc="-200" dirty="0">
                <a:latin typeface="Courier"/>
                <a:cs typeface="Courier"/>
              </a:rPr>
              <a:t>107 140 255 106 107 004 106 107 004 106 107 004 107 140 255 107 140 255 107 140 255 107 140 255 106 107 004 106 107 004 106 107 004 107 140 255</a:t>
            </a:r>
          </a:p>
          <a:p>
            <a:pPr>
              <a:lnSpc>
                <a:spcPct val="80000"/>
              </a:lnSpc>
            </a:pPr>
            <a:r>
              <a:rPr lang="cs-CZ" sz="1100" kern="0" spc="-200" dirty="0">
                <a:latin typeface="Courier"/>
                <a:cs typeface="Courier"/>
              </a:rPr>
              <a:t>106 107 004 106 107 004 106 107 004 106 107 004 107 140 255 107 140 255 107 140 255 107 140 255 106 107 004 106 107 004 106 107 004 106 107 004 </a:t>
            </a:r>
            <a:endParaRPr lang="pt-BR" sz="1100" kern="0" spc="-200" dirty="0">
              <a:latin typeface="Courier"/>
              <a:cs typeface="Courier"/>
            </a:endParaRPr>
          </a:p>
        </p:txBody>
      </p:sp>
      <p:sp>
        <p:nvSpPr>
          <p:cNvPr id="7" name="Rectangle 6"/>
          <p:cNvSpPr/>
          <p:nvPr/>
        </p:nvSpPr>
        <p:spPr>
          <a:xfrm>
            <a:off x="4082298" y="3504525"/>
            <a:ext cx="989949" cy="307777"/>
          </a:xfrm>
          <a:prstGeom prst="rect">
            <a:avLst/>
          </a:prstGeom>
        </p:spPr>
        <p:txBody>
          <a:bodyPr wrap="none">
            <a:spAutoFit/>
          </a:bodyPr>
          <a:lstStyle/>
          <a:p>
            <a:r>
              <a:rPr lang="pt-BR" sz="1400" dirty="0" err="1"/>
              <a:t>mario.ppm</a:t>
            </a:r>
            <a:endParaRPr lang="pt-BR" sz="1400" dirty="0"/>
          </a:p>
        </p:txBody>
      </p:sp>
      <p:sp>
        <p:nvSpPr>
          <p:cNvPr id="8" name="Rectangle 7"/>
          <p:cNvSpPr/>
          <p:nvPr/>
        </p:nvSpPr>
        <p:spPr>
          <a:xfrm>
            <a:off x="3629675" y="1936458"/>
            <a:ext cx="2098612" cy="1200329"/>
          </a:xfrm>
          <a:prstGeom prst="rect">
            <a:avLst/>
          </a:prstGeom>
        </p:spPr>
        <p:txBody>
          <a:bodyPr wrap="square">
            <a:spAutoFit/>
          </a:bodyPr>
          <a:lstStyle/>
          <a:p>
            <a:r>
              <a:rPr lang="pt-BR" dirty="0"/>
              <a:t>azul: #6B8CFF</a:t>
            </a:r>
          </a:p>
          <a:p>
            <a:r>
              <a:rPr lang="pt-BR" dirty="0"/>
              <a:t>vermelho: #B13425</a:t>
            </a:r>
          </a:p>
          <a:p>
            <a:r>
              <a:rPr lang="pt-BR" dirty="0"/>
              <a:t>verde: #6A6B04</a:t>
            </a:r>
          </a:p>
          <a:p>
            <a:r>
              <a:rPr lang="pt-BR" dirty="0"/>
              <a:t>laranja: #E39D25</a:t>
            </a:r>
          </a:p>
        </p:txBody>
      </p:sp>
      <p:pic>
        <p:nvPicPr>
          <p:cNvPr id="9" name="Picture 8" descr="543fd935c9e1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1796" y="1511136"/>
            <a:ext cx="1524000" cy="2032000"/>
          </a:xfrm>
          <a:prstGeom prst="rect">
            <a:avLst/>
          </a:prstGeom>
        </p:spPr>
      </p:pic>
    </p:spTree>
    <p:extLst>
      <p:ext uri="{BB962C8B-B14F-4D97-AF65-F5344CB8AC3E}">
        <p14:creationId xmlns:p14="http://schemas.microsoft.com/office/powerpoint/2010/main" val="15274045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BA0E24"/>
        </a:solidFill>
        <a:effectLst/>
      </p:bgPr>
    </p:bg>
    <p:spTree>
      <p:nvGrpSpPr>
        <p:cNvPr id="1" name=""/>
        <p:cNvGrpSpPr/>
        <p:nvPr/>
      </p:nvGrpSpPr>
      <p:grpSpPr>
        <a:xfrm>
          <a:off x="0" y="0"/>
          <a:ext cx="0" cy="0"/>
          <a:chOff x="0" y="0"/>
          <a:chExt cx="0" cy="0"/>
        </a:xfrm>
      </p:grpSpPr>
      <p:sp useBgFill="1">
        <p:nvSpPr>
          <p:cNvPr id="2" name="Rectangle 1"/>
          <p:cNvSpPr>
            <a:spLocks/>
          </p:cNvSpPr>
          <p:nvPr/>
        </p:nvSpPr>
        <p:spPr>
          <a:xfrm>
            <a:off x="0" y="0"/>
            <a:ext cx="9144000"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p:cNvSpPr/>
          <p:nvPr/>
        </p:nvSpPr>
        <p:spPr>
          <a:xfrm>
            <a:off x="3039534" y="3636044"/>
            <a:ext cx="3061054" cy="461665"/>
          </a:xfrm>
          <a:prstGeom prst="rect">
            <a:avLst/>
          </a:prstGeom>
        </p:spPr>
        <p:txBody>
          <a:bodyPr wrap="none">
            <a:spAutoFit/>
          </a:bodyPr>
          <a:lstStyle/>
          <a:p>
            <a:pPr lvl="0" algn="ctr">
              <a:spcBef>
                <a:spcPct val="0"/>
              </a:spcBef>
              <a:defRPr/>
            </a:pPr>
            <a:r>
              <a:rPr lang="en-US" sz="2400" dirty="0">
                <a:solidFill>
                  <a:schemeClr val="bg1"/>
                </a:solidFill>
                <a:latin typeface="Verdana"/>
                <a:cs typeface="Verdana"/>
              </a:rPr>
              <a:t>www.insper.edu.br</a:t>
            </a:r>
            <a:endParaRPr lang="en-US" dirty="0">
              <a:solidFill>
                <a:schemeClr val="bg1"/>
              </a:solidFill>
              <a:latin typeface="Verdana"/>
              <a:cs typeface="Verdana"/>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703298" y="2844822"/>
            <a:ext cx="1732955" cy="6125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721|10.749|5.071001|20.482"/>
</p:tagLst>
</file>

<file path=ppt/tags/tag2.xml><?xml version="1.0" encoding="utf-8"?>
<p:tagLst xmlns:a="http://schemas.openxmlformats.org/drawingml/2006/main" xmlns:r="http://schemas.openxmlformats.org/officeDocument/2006/relationships" xmlns:p="http://schemas.openxmlformats.org/presentationml/2006/main">
  <p:tag name="TIMING" val="|9.641|18.719|4.757|5.902|3.006001|12.689|7.256001"/>
</p:tagLst>
</file>

<file path=ppt/tags/tag3.xml><?xml version="1.0" encoding="utf-8"?>
<p:tagLst xmlns:a="http://schemas.openxmlformats.org/drawingml/2006/main" xmlns:r="http://schemas.openxmlformats.org/officeDocument/2006/relationships" xmlns:p="http://schemas.openxmlformats.org/presentationml/2006/main">
  <p:tag name="TIMING" val="|9.641|18.719|4.757|5.902|3.006001|12.689|7.256001"/>
</p:tagLst>
</file>

<file path=ppt/tags/tag4.xml><?xml version="1.0" encoding="utf-8"?>
<p:tagLst xmlns:a="http://schemas.openxmlformats.org/drawingml/2006/main" xmlns:r="http://schemas.openxmlformats.org/officeDocument/2006/relationships" xmlns:p="http://schemas.openxmlformats.org/presentationml/2006/main">
  <p:tag name="TIMING" val="|23.15|4.818001|2.413|1.035|6.744999|4.553001|4.791|7.578999|13.073|1.368004|6.891998|1.051003|8.410995|2.069|22.95|3.291|6.792|5.611"/>
</p:tagLst>
</file>

<file path=ppt/tags/tag5.xml><?xml version="1.0" encoding="utf-8"?>
<p:tagLst xmlns:a="http://schemas.openxmlformats.org/drawingml/2006/main" xmlns:r="http://schemas.openxmlformats.org/officeDocument/2006/relationships" xmlns:p="http://schemas.openxmlformats.org/presentationml/2006/main">
  <p:tag name="TIMING" val="|183.57"/>
</p:tagLst>
</file>

<file path=ppt/tags/tag6.xml><?xml version="1.0" encoding="utf-8"?>
<p:tagLst xmlns:a="http://schemas.openxmlformats.org/drawingml/2006/main" xmlns:r="http://schemas.openxmlformats.org/officeDocument/2006/relationships" xmlns:p="http://schemas.openxmlformats.org/presentationml/2006/main">
  <p:tag name="TIMING" val="|9.647|12.239|6.853001|9.101999|9.351002|5.514|5.600998|15.544"/>
</p:tagLst>
</file>

<file path=ppt/tags/tag7.xml><?xml version="1.0" encoding="utf-8"?>
<p:tagLst xmlns:a="http://schemas.openxmlformats.org/drawingml/2006/main" xmlns:r="http://schemas.openxmlformats.org/officeDocument/2006/relationships" xmlns:p="http://schemas.openxmlformats.org/presentationml/2006/main">
  <p:tag name="TIMING" val="|33.788|24.445"/>
</p:tagLst>
</file>

<file path=ppt/tags/tag8.xml><?xml version="1.0" encoding="utf-8"?>
<p:tagLst xmlns:a="http://schemas.openxmlformats.org/drawingml/2006/main" xmlns:r="http://schemas.openxmlformats.org/officeDocument/2006/relationships" xmlns:p="http://schemas.openxmlformats.org/presentationml/2006/main">
  <p:tag name="TIMING" val="|41.72"/>
</p:tagLst>
</file>

<file path=ppt/tags/tag9.xml><?xml version="1.0" encoding="utf-8"?>
<p:tagLst xmlns:a="http://schemas.openxmlformats.org/drawingml/2006/main" xmlns:r="http://schemas.openxmlformats.org/officeDocument/2006/relationships" xmlns:p="http://schemas.openxmlformats.org/presentationml/2006/main">
  <p:tag name="ATHENA.MIXSHAPE" val="AAEAAAD/////AQAAAAAAAAAMAgAAAE9BdXRob3JQUFQsIFZlcnNpb249MC4xLjU3MjAuMCwgQ3VsdHVyZT1uZXV0cmFsLCBQdWJsaWNLZXlUb2tlbj0zMWJmMzg1NmFkMzY0ZTM1BQEAAAALSW5rTWF0dGVyVjEEAAAABVNjYWxlDUxpc3RgMStfaXRlbXMMTGlzdGAxK19zaXplD0xpc3RgMStfdmVyc2lvbgAEAAALF1NoYXJlZC5JbmtpbmcuSW5rQXRvbVtdAgAAAAgIAgAAAP5hMD8JAwAAAAYAAAAMAAAABwMAAAAAAQAAAAgAAAAECUlua0F0b21WMQIAAAAJBAAAAAkFAAAACQYAAAAJBwAAAAkIAAAACQkAAAANAgUEAAAAC1BlblN0cm9rZVYxBAAAAApBdHRyaWJ1dGVzBVRyYWNlCVN0YXJ0VGltZQRUeXBlBAQABA9QZW5BdHRyaWJ1dGVzVjECAAAACklua1RyYWNlVjECAAAAEAxBY3Rpb25UeXBlVjECAAAAAgAAAAkKAAAACQsAAAC2LAAAAAAAAAX0////DEFjdGlvblR5cGVWMQEAAAAHdmFsdWVfXwAIAgAAAAAAAAABBQAAAAQAAAAJDQAAAAkOAAAAATMAAAAAAAAB8f////T///8AAAAAAQYAAAAEAAAACRAAAAAJEQAAAEE4AAAAAAAAAe7////0////AAAAAAEHAAAABAAAAAkTAAAACRQAAACwYwAAAAAAAAHr////9P///wAAAAABCAAAAAQAAAAJFgAAAAkXAAAA83QAAAAAAAAB6P////T///8AAAAAAQkAAAAEAAAACRkAAAAJGgAAAN+CAAAAAAAAAeX////0////AAAAAAUKAAAAD1BlbkF0dHJpYnV0ZXNWMQoAAAAHX2NvbG9yQQdfY29sb3JSB19jb2xvckcHX2NvbG9yQgpGaXRUb0N1cnZlBkhlaWdodA5JZ25vcmVQcmVzc3VyZQ1Jc0hpZ2hsaWdodGVyBVNoYXBlBVdpZHRoAAAAAAAAAAAEAAICAgIBBgEBDEJydXNoU2hhcGVWMQIAAAAGAgAAAP//AAAAAAAAAAAACEAAAAXk////DEJydXNoU2hhcGVWMQEAAAAHdmFsdWVfXwAIAgAAAAEAAAAAAAAAAAAIQAULAAAACklua1RyYWNlVjEDAAAADUxpc3RgMStfaXRlbXMMTGlzdGAxK19zaXplD0xpc3RgMStfdmVyc2lvbgQAABhTaGFyZWQuSW5raW5nLklua1BvaW50W10CAAAACAgCAAAACR0AAAABAAAAAQAAAAENAAAACgAAAP//AAAAAAAAAAAACEAAAAHi////5P///wEAAAAAAAAAAAAIQAEOAAAACwAAAAkfAAAAAQAAAAEAAAABEAAAAAoAAAD//wAAAAAAAAAAAAhAAAAB4P///+T///8BAAAAAAAAAAAACEABEQAAAAsAAAAJIQAAAAEAAAABAAAAARMAAAAKAAAA//8AAAAAAAAAAAAIQAAAAd7////k////AQAAAAAAAAAAAAhAARQAAAALAAAACSMAAAABAAAAAQAAAAEWAAAACgAAAP//AAAAAAAAAAAACEAAAAHc////5P///wEAAAAAAAAAAAAIQAEXAAAACwAAAAklAAAAAQAAAAEAAAABGQAAAAoAAAD//wAAAAAAAAAAAAhAAAAB2v///+T///8BAAAAAAAAAAAACEABGgAAAAsAAAAJJwAAAAEAAAABAAAABx0AAAAAAQAAAAQAAAAECklua1BvaW50VjECAAAACSgAAAANAwcfAAAAAAEAAAAEAAAABApJbmtQb2ludFYxAgAAAAkpAAAADQMHIQAAAAABAAAABAAAAAQKSW5rUG9pbnRWMQIAAAAJKgAAAA0DByMAAAAAAQAAAAQAAAAECklua1BvaW50VjECAAAACSsAAAANAwclAAAAAAEAAAAEAAAABApJbmtQb2ludFYxAgAAAAksAAAADQMHJwAAAAABAAAABAAAAAQKSW5rUG9pbnRWMQIAAAAJLQAAAA0DBSgAAAAKSW5rUG9pbnRWMQQAAAABWAFZDlByZXNzdXJlRmFjdG9yCVRpbWVTdGFtcAAAAAAGBgsQAgAAAABBSp5lRG8/AEN5DeU1lD8AAAA/AAAAAAAAAAABKQAAACgAAADwA6pjb224P4jyGsprKNc/AAAAPwAAAAAAAAAAASoAAAAoAAAAYMUJKXmWoT8EAAAAAADkPwAAAD8AAAAAAAAAAAErAAAAKAAAAABBSp5lRG8/7DWU11Be7z8AAAA/AAAAAAAAAAABLAAAACgAAABkb22Y5i7YPyyvobyG8u4/AAAAPwAAAAAAAAAAAS0AAAAoAAAAvLVhmrvg7z/0GsprKK/tPwAAAD8AAAAAAAAAAAs="/>
</p:tagLst>
</file>

<file path=ppt/theme/theme1.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24494</TotalTime>
  <Words>3756</Words>
  <Application>Microsoft Office PowerPoint</Application>
  <PresentationFormat>On-screen Show (4:3)</PresentationFormat>
  <Paragraphs>796</Paragraphs>
  <Slides>28</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Calibri</vt:lpstr>
      <vt:lpstr>Cambria</vt:lpstr>
      <vt:lpstr>Courier</vt:lpstr>
      <vt:lpstr>Courier New</vt:lpstr>
      <vt:lpstr>Lucida Sans</vt:lpstr>
      <vt:lpstr>Symbol</vt:lpstr>
      <vt:lpstr>Verdana</vt:lpstr>
      <vt:lpstr>Wingdings 2</vt:lpstr>
      <vt:lpstr>Personalizar design</vt:lpstr>
      <vt:lpstr>PowerPoint Presentation</vt:lpstr>
      <vt:lpstr>Primeiras Máquinas de Calcular</vt:lpstr>
      <vt:lpstr>Primeiras Máquinas de Calcular</vt:lpstr>
      <vt:lpstr>Sistema Binário de Numeração</vt:lpstr>
      <vt:lpstr>Números</vt:lpstr>
      <vt:lpstr>Como os algarismos chegaram a nós</vt:lpstr>
      <vt:lpstr>Base e Posicionamento dos Números</vt:lpstr>
      <vt:lpstr>Base e Posicionamento dos Números</vt:lpstr>
      <vt:lpstr>Dados Binários (e Hexadecimais)</vt:lpstr>
      <vt:lpstr>Exemplo em base 10 </vt:lpstr>
      <vt:lpstr>Exemplo em base 2</vt:lpstr>
      <vt:lpstr>Conversão para Números Binários</vt:lpstr>
      <vt:lpstr>Conversão para Números Binários</vt:lpstr>
      <vt:lpstr>Conversão para Base 10</vt:lpstr>
      <vt:lpstr>Adição Binária</vt:lpstr>
      <vt:lpstr>Inteiros Positivos e Negativos</vt:lpstr>
      <vt:lpstr>Complemento de 2 (dois)</vt:lpstr>
      <vt:lpstr>Complemento de Dois no Byte</vt:lpstr>
      <vt:lpstr>Inteiros de vários bits</vt:lpstr>
      <vt:lpstr>BCD (Binary Coded Decimal)</vt:lpstr>
      <vt:lpstr>Ponto Flutuante</vt:lpstr>
      <vt:lpstr>Arquivos de Texto</vt:lpstr>
      <vt:lpstr>Tabela ASCII (American Standard Code for Information Interchange)</vt:lpstr>
      <vt:lpstr>Unicode e codificações de caracteres</vt:lpstr>
      <vt:lpstr>Representando imagens em arquivos-texto</vt:lpstr>
      <vt:lpstr>Representando imagens em arquivos-texto</vt:lpstr>
      <vt:lpstr>Representando imagens em arquivos-texto</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2 - Python</dc:title>
  <dc:subject/>
  <dc:creator>Luciano Pereira Soares</dc:creator>
  <cp:keywords/>
  <dc:description/>
  <cp:lastModifiedBy>Luciano Soares</cp:lastModifiedBy>
  <cp:revision>734</cp:revision>
  <cp:lastPrinted>2015-05-25T01:17:28Z</cp:lastPrinted>
  <dcterms:created xsi:type="dcterms:W3CDTF">2014-04-17T20:05:08Z</dcterms:created>
  <dcterms:modified xsi:type="dcterms:W3CDTF">2026-08-28T16:39:32Z</dcterms:modified>
  <cp:category/>
</cp:coreProperties>
</file>