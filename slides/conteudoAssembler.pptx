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20"/>
  </p:notesMasterIdLst>
  <p:handoutMasterIdLst>
    <p:handoutMasterId r:id="rId21"/>
  </p:handoutMasterIdLst>
  <p:sldIdLst>
    <p:sldId id="500" r:id="rId2"/>
    <p:sldId id="458" r:id="rId3"/>
    <p:sldId id="459" r:id="rId4"/>
    <p:sldId id="482" r:id="rId5"/>
    <p:sldId id="483" r:id="rId6"/>
    <p:sldId id="484" r:id="rId7"/>
    <p:sldId id="488" r:id="rId8"/>
    <p:sldId id="486" r:id="rId9"/>
    <p:sldId id="487" r:id="rId10"/>
    <p:sldId id="489" r:id="rId11"/>
    <p:sldId id="490" r:id="rId12"/>
    <p:sldId id="491" r:id="rId13"/>
    <p:sldId id="494" r:id="rId14"/>
    <p:sldId id="495" r:id="rId15"/>
    <p:sldId id="496" r:id="rId16"/>
    <p:sldId id="501" r:id="rId17"/>
    <p:sldId id="476" r:id="rId18"/>
    <p:sldId id="262"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BEC0"/>
    <a:srgbClr val="C00026"/>
    <a:srgbClr val="BA0E2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45F0AD-FB10-4D03-9D60-F3309110B1B2}" v="2" dt="2026-04-22T14:39:18.1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99"/>
    <p:restoredTop sz="87967" autoAdjust="0"/>
  </p:normalViewPr>
  <p:slideViewPr>
    <p:cSldViewPr snapToGrid="0" snapToObjects="1" showGuides="1">
      <p:cViewPr varScale="1">
        <p:scale>
          <a:sx n="105" d="100"/>
          <a:sy n="105" d="100"/>
        </p:scale>
        <p:origin x="2272" y="200"/>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83" d="100"/>
          <a:sy n="83" d="100"/>
        </p:scale>
        <p:origin x="-1980"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iano Pereira Soares" userId="16c53e34-c952-423e-8700-c0525d23304f" providerId="ADAL" clId="{1D55A5D4-1FC1-4934-A025-59DDC391468D}"/>
    <pc:docChg chg="custSel modSld">
      <pc:chgData name="Luciano Pereira Soares" userId="16c53e34-c952-423e-8700-c0525d23304f" providerId="ADAL" clId="{1D55A5D4-1FC1-4934-A025-59DDC391468D}" dt="2026-04-22T14:40:16.624" v="26" actId="478"/>
      <pc:docMkLst>
        <pc:docMk/>
      </pc:docMkLst>
      <pc:sldChg chg="delSp mod modTransition delAnim">
        <pc:chgData name="Luciano Pereira Soares" userId="16c53e34-c952-423e-8700-c0525d23304f" providerId="ADAL" clId="{1D55A5D4-1FC1-4934-A025-59DDC391468D}" dt="2026-04-22T14:40:13.993" v="25" actId="478"/>
        <pc:sldMkLst>
          <pc:docMk/>
          <pc:sldMk cId="0" sldId="262"/>
        </pc:sldMkLst>
        <pc:picChg chg="del">
          <ac:chgData name="Luciano Pereira Soares" userId="16c53e34-c952-423e-8700-c0525d23304f" providerId="ADAL" clId="{1D55A5D4-1FC1-4934-A025-59DDC391468D}" dt="2026-04-22T14:40:13.993" v="25" actId="478"/>
          <ac:picMkLst>
            <pc:docMk/>
            <pc:sldMk cId="0" sldId="262"/>
            <ac:picMk id="6" creationId="{00000000-0000-0000-0000-000000000000}"/>
          </ac:picMkLst>
        </pc:picChg>
      </pc:sldChg>
      <pc:sldChg chg="delSp mod modTransition delAnim">
        <pc:chgData name="Luciano Pereira Soares" userId="16c53e34-c952-423e-8700-c0525d23304f" providerId="ADAL" clId="{1D55A5D4-1FC1-4934-A025-59DDC391468D}" dt="2026-04-22T14:39:43.951" v="18" actId="478"/>
        <pc:sldMkLst>
          <pc:docMk/>
          <pc:sldMk cId="559574236" sldId="458"/>
        </pc:sldMkLst>
        <pc:picChg chg="del">
          <ac:chgData name="Luciano Pereira Soares" userId="16c53e34-c952-423e-8700-c0525d23304f" providerId="ADAL" clId="{1D55A5D4-1FC1-4934-A025-59DDC391468D}" dt="2026-04-22T14:39:43.951" v="18" actId="478"/>
          <ac:picMkLst>
            <pc:docMk/>
            <pc:sldMk cId="559574236" sldId="458"/>
            <ac:picMk id="6" creationId="{00000000-0000-0000-0000-000000000000}"/>
          </ac:picMkLst>
        </pc:picChg>
      </pc:sldChg>
      <pc:sldChg chg="delSp mod modTransition delAnim">
        <pc:chgData name="Luciano Pereira Soares" userId="16c53e34-c952-423e-8700-c0525d23304f" providerId="ADAL" clId="{1D55A5D4-1FC1-4934-A025-59DDC391468D}" dt="2026-04-22T14:39:46.619" v="19" actId="478"/>
        <pc:sldMkLst>
          <pc:docMk/>
          <pc:sldMk cId="81276654" sldId="459"/>
        </pc:sldMkLst>
        <pc:picChg chg="del">
          <ac:chgData name="Luciano Pereira Soares" userId="16c53e34-c952-423e-8700-c0525d23304f" providerId="ADAL" clId="{1D55A5D4-1FC1-4934-A025-59DDC391468D}" dt="2026-04-22T14:39:46.619" v="19" actId="478"/>
          <ac:picMkLst>
            <pc:docMk/>
            <pc:sldMk cId="81276654" sldId="459"/>
            <ac:picMk id="10" creationId="{00000000-0000-0000-0000-000000000000}"/>
          </ac:picMkLst>
        </pc:picChg>
      </pc:sldChg>
      <pc:sldChg chg="delSp mod modTransition delAnim">
        <pc:chgData name="Luciano Pereira Soares" userId="16c53e34-c952-423e-8700-c0525d23304f" providerId="ADAL" clId="{1D55A5D4-1FC1-4934-A025-59DDC391468D}" dt="2026-04-22T14:40:16.624" v="26" actId="478"/>
        <pc:sldMkLst>
          <pc:docMk/>
          <pc:sldMk cId="1090420256" sldId="476"/>
        </pc:sldMkLst>
        <pc:picChg chg="del">
          <ac:chgData name="Luciano Pereira Soares" userId="16c53e34-c952-423e-8700-c0525d23304f" providerId="ADAL" clId="{1D55A5D4-1FC1-4934-A025-59DDC391468D}" dt="2026-04-22T14:40:16.624" v="26" actId="478"/>
          <ac:picMkLst>
            <pc:docMk/>
            <pc:sldMk cId="1090420256" sldId="476"/>
            <ac:picMk id="6" creationId="{00000000-0000-0000-0000-000000000000}"/>
          </ac:picMkLst>
        </pc:picChg>
      </pc:sldChg>
      <pc:sldChg chg="delSp mod modTransition delAnim">
        <pc:chgData name="Luciano Pereira Soares" userId="16c53e34-c952-423e-8700-c0525d23304f" providerId="ADAL" clId="{1D55A5D4-1FC1-4934-A025-59DDC391468D}" dt="2026-04-22T14:39:49.046" v="20" actId="478"/>
        <pc:sldMkLst>
          <pc:docMk/>
          <pc:sldMk cId="176261600" sldId="482"/>
        </pc:sldMkLst>
        <pc:picChg chg="del">
          <ac:chgData name="Luciano Pereira Soares" userId="16c53e34-c952-423e-8700-c0525d23304f" providerId="ADAL" clId="{1D55A5D4-1FC1-4934-A025-59DDC391468D}" dt="2026-04-22T14:39:49.046" v="20" actId="478"/>
          <ac:picMkLst>
            <pc:docMk/>
            <pc:sldMk cId="176261600" sldId="482"/>
            <ac:picMk id="13" creationId="{00000000-0000-0000-0000-000000000000}"/>
          </ac:picMkLst>
        </pc:picChg>
      </pc:sldChg>
      <pc:sldChg chg="delSp mod modTransition delAnim">
        <pc:chgData name="Luciano Pereira Soares" userId="16c53e34-c952-423e-8700-c0525d23304f" providerId="ADAL" clId="{1D55A5D4-1FC1-4934-A025-59DDC391468D}" dt="2026-04-22T14:39:51.951" v="21" actId="478"/>
        <pc:sldMkLst>
          <pc:docMk/>
          <pc:sldMk cId="2144424580" sldId="483"/>
        </pc:sldMkLst>
        <pc:picChg chg="del">
          <ac:chgData name="Luciano Pereira Soares" userId="16c53e34-c952-423e-8700-c0525d23304f" providerId="ADAL" clId="{1D55A5D4-1FC1-4934-A025-59DDC391468D}" dt="2026-04-22T14:39:51.951" v="21" actId="478"/>
          <ac:picMkLst>
            <pc:docMk/>
            <pc:sldMk cId="2144424580" sldId="483"/>
            <ac:picMk id="13" creationId="{00000000-0000-0000-0000-000000000000}"/>
          </ac:picMkLst>
        </pc:picChg>
      </pc:sldChg>
      <pc:sldChg chg="delSp mod modTransition delAnim">
        <pc:chgData name="Luciano Pereira Soares" userId="16c53e34-c952-423e-8700-c0525d23304f" providerId="ADAL" clId="{1D55A5D4-1FC1-4934-A025-59DDC391468D}" dt="2026-04-22T14:39:55.623" v="22" actId="478"/>
        <pc:sldMkLst>
          <pc:docMk/>
          <pc:sldMk cId="199798118" sldId="484"/>
        </pc:sldMkLst>
        <pc:picChg chg="del">
          <ac:chgData name="Luciano Pereira Soares" userId="16c53e34-c952-423e-8700-c0525d23304f" providerId="ADAL" clId="{1D55A5D4-1FC1-4934-A025-59DDC391468D}" dt="2026-04-22T14:39:55.623" v="22" actId="478"/>
          <ac:picMkLst>
            <pc:docMk/>
            <pc:sldMk cId="199798118" sldId="484"/>
            <ac:picMk id="6" creationId="{00000000-0000-0000-0000-000000000000}"/>
          </ac:picMkLst>
        </pc:picChg>
      </pc:sldChg>
      <pc:sldChg chg="delSp mod modTransition delAnim">
        <pc:chgData name="Luciano Pereira Soares" userId="16c53e34-c952-423e-8700-c0525d23304f" providerId="ADAL" clId="{1D55A5D4-1FC1-4934-A025-59DDC391468D}" dt="2026-04-22T14:40:01.907" v="24" actId="478"/>
        <pc:sldMkLst>
          <pc:docMk/>
          <pc:sldMk cId="698686527" sldId="486"/>
        </pc:sldMkLst>
        <pc:picChg chg="del">
          <ac:chgData name="Luciano Pereira Soares" userId="16c53e34-c952-423e-8700-c0525d23304f" providerId="ADAL" clId="{1D55A5D4-1FC1-4934-A025-59DDC391468D}" dt="2026-04-22T14:40:01.907" v="24" actId="478"/>
          <ac:picMkLst>
            <pc:docMk/>
            <pc:sldMk cId="698686527" sldId="486"/>
            <ac:picMk id="8" creationId="{00000000-0000-0000-0000-000000000000}"/>
          </ac:picMkLst>
        </pc:picChg>
        <pc:inkChg chg="del">
          <ac:chgData name="Luciano Pereira Soares" userId="16c53e34-c952-423e-8700-c0525d23304f" providerId="ADAL" clId="{1D55A5D4-1FC1-4934-A025-59DDC391468D}" dt="2026-04-22T14:37:53.946" v="9" actId="478"/>
          <ac:inkMkLst>
            <pc:docMk/>
            <pc:sldMk cId="698686527" sldId="486"/>
            <ac:inkMk id="9" creationId="{00000000-0000-0000-0000-000000000000}"/>
          </ac:inkMkLst>
        </pc:inkChg>
      </pc:sldChg>
      <pc:sldChg chg="delSp mod modTransition delAnim">
        <pc:chgData name="Luciano Pereira Soares" userId="16c53e34-c952-423e-8700-c0525d23304f" providerId="ADAL" clId="{1D55A5D4-1FC1-4934-A025-59DDC391468D}" dt="2026-04-22T14:39:18.156" v="16"/>
        <pc:sldMkLst>
          <pc:docMk/>
          <pc:sldMk cId="788149263" sldId="487"/>
        </pc:sldMkLst>
        <pc:picChg chg="del">
          <ac:chgData name="Luciano Pereira Soares" userId="16c53e34-c952-423e-8700-c0525d23304f" providerId="ADAL" clId="{1D55A5D4-1FC1-4934-A025-59DDC391468D}" dt="2026-04-22T14:37:10.566" v="1" actId="478"/>
          <ac:picMkLst>
            <pc:docMk/>
            <pc:sldMk cId="788149263" sldId="487"/>
            <ac:picMk id="10" creationId="{00000000-0000-0000-0000-000000000000}"/>
          </ac:picMkLst>
        </pc:picChg>
        <pc:inkChg chg="del">
          <ac:chgData name="Luciano Pereira Soares" userId="16c53e34-c952-423e-8700-c0525d23304f" providerId="ADAL" clId="{1D55A5D4-1FC1-4934-A025-59DDC391468D}" dt="2026-04-22T14:38:00.516" v="10" actId="478"/>
          <ac:inkMkLst>
            <pc:docMk/>
            <pc:sldMk cId="788149263" sldId="487"/>
            <ac:inkMk id="11" creationId="{00000000-0000-0000-0000-000000000000}"/>
          </ac:inkMkLst>
        </pc:inkChg>
      </pc:sldChg>
      <pc:sldChg chg="delSp mod modTransition delAnim">
        <pc:chgData name="Luciano Pereira Soares" userId="16c53e34-c952-423e-8700-c0525d23304f" providerId="ADAL" clId="{1D55A5D4-1FC1-4934-A025-59DDC391468D}" dt="2026-04-22T14:39:59.299" v="23" actId="478"/>
        <pc:sldMkLst>
          <pc:docMk/>
          <pc:sldMk cId="745528545" sldId="488"/>
        </pc:sldMkLst>
        <pc:picChg chg="del">
          <ac:chgData name="Luciano Pereira Soares" userId="16c53e34-c952-423e-8700-c0525d23304f" providerId="ADAL" clId="{1D55A5D4-1FC1-4934-A025-59DDC391468D}" dt="2026-04-22T14:39:59.299" v="23" actId="478"/>
          <ac:picMkLst>
            <pc:docMk/>
            <pc:sldMk cId="745528545" sldId="488"/>
            <ac:picMk id="10" creationId="{00000000-0000-0000-0000-000000000000}"/>
          </ac:picMkLst>
        </pc:picChg>
        <pc:inkChg chg="del">
          <ac:chgData name="Luciano Pereira Soares" userId="16c53e34-c952-423e-8700-c0525d23304f" providerId="ADAL" clId="{1D55A5D4-1FC1-4934-A025-59DDC391468D}" dt="2026-04-22T14:37:50.247" v="8" actId="478"/>
          <ac:inkMkLst>
            <pc:docMk/>
            <pc:sldMk cId="745528545" sldId="488"/>
            <ac:inkMk id="11" creationId="{00000000-0000-0000-0000-000000000000}"/>
          </ac:inkMkLst>
        </pc:inkChg>
      </pc:sldChg>
      <pc:sldChg chg="delSp mod modTransition delAnim">
        <pc:chgData name="Luciano Pereira Soares" userId="16c53e34-c952-423e-8700-c0525d23304f" providerId="ADAL" clId="{1D55A5D4-1FC1-4934-A025-59DDC391468D}" dt="2026-04-22T14:39:18.156" v="16"/>
        <pc:sldMkLst>
          <pc:docMk/>
          <pc:sldMk cId="1678659217" sldId="489"/>
        </pc:sldMkLst>
        <pc:picChg chg="del">
          <ac:chgData name="Luciano Pereira Soares" userId="16c53e34-c952-423e-8700-c0525d23304f" providerId="ADAL" clId="{1D55A5D4-1FC1-4934-A025-59DDC391468D}" dt="2026-04-22T14:37:08.028" v="0" actId="478"/>
          <ac:picMkLst>
            <pc:docMk/>
            <pc:sldMk cId="1678659217" sldId="489"/>
            <ac:picMk id="10" creationId="{00000000-0000-0000-0000-000000000000}"/>
          </ac:picMkLst>
        </pc:picChg>
        <pc:inkChg chg="del">
          <ac:chgData name="Luciano Pereira Soares" userId="16c53e34-c952-423e-8700-c0525d23304f" providerId="ADAL" clId="{1D55A5D4-1FC1-4934-A025-59DDC391468D}" dt="2026-04-22T14:38:06.612" v="11" actId="478"/>
          <ac:inkMkLst>
            <pc:docMk/>
            <pc:sldMk cId="1678659217" sldId="489"/>
            <ac:inkMk id="15" creationId="{00000000-0000-0000-0000-000000000000}"/>
          </ac:inkMkLst>
        </pc:inkChg>
      </pc:sldChg>
      <pc:sldChg chg="delSp mod modTransition delAnim">
        <pc:chgData name="Luciano Pereira Soares" userId="16c53e34-c952-423e-8700-c0525d23304f" providerId="ADAL" clId="{1D55A5D4-1FC1-4934-A025-59DDC391468D}" dt="2026-04-22T14:39:18.156" v="16"/>
        <pc:sldMkLst>
          <pc:docMk/>
          <pc:sldMk cId="1732789480" sldId="490"/>
        </pc:sldMkLst>
        <pc:picChg chg="del">
          <ac:chgData name="Luciano Pereira Soares" userId="16c53e34-c952-423e-8700-c0525d23304f" providerId="ADAL" clId="{1D55A5D4-1FC1-4934-A025-59DDC391468D}" dt="2026-04-22T14:37:18.161" v="2" actId="478"/>
          <ac:picMkLst>
            <pc:docMk/>
            <pc:sldMk cId="1732789480" sldId="490"/>
            <ac:picMk id="6" creationId="{00000000-0000-0000-0000-000000000000}"/>
          </ac:picMkLst>
        </pc:picChg>
        <pc:inkChg chg="del">
          <ac:chgData name="Luciano Pereira Soares" userId="16c53e34-c952-423e-8700-c0525d23304f" providerId="ADAL" clId="{1D55A5D4-1FC1-4934-A025-59DDC391468D}" dt="2026-04-22T14:38:09.816" v="12" actId="478"/>
          <ac:inkMkLst>
            <pc:docMk/>
            <pc:sldMk cId="1732789480" sldId="490"/>
            <ac:inkMk id="7" creationId="{00000000-0000-0000-0000-000000000000}"/>
          </ac:inkMkLst>
        </pc:inkChg>
      </pc:sldChg>
      <pc:sldChg chg="delSp mod modTransition delAnim">
        <pc:chgData name="Luciano Pereira Soares" userId="16c53e34-c952-423e-8700-c0525d23304f" providerId="ADAL" clId="{1D55A5D4-1FC1-4934-A025-59DDC391468D}" dt="2026-04-22T14:39:18.156" v="16"/>
        <pc:sldMkLst>
          <pc:docMk/>
          <pc:sldMk cId="967053393" sldId="491"/>
        </pc:sldMkLst>
        <pc:picChg chg="del">
          <ac:chgData name="Luciano Pereira Soares" userId="16c53e34-c952-423e-8700-c0525d23304f" providerId="ADAL" clId="{1D55A5D4-1FC1-4934-A025-59DDC391468D}" dt="2026-04-22T14:37:20.743" v="3" actId="478"/>
          <ac:picMkLst>
            <pc:docMk/>
            <pc:sldMk cId="967053393" sldId="491"/>
            <ac:picMk id="14" creationId="{00000000-0000-0000-0000-000000000000}"/>
          </ac:picMkLst>
        </pc:picChg>
        <pc:inkChg chg="del">
          <ac:chgData name="Luciano Pereira Soares" userId="16c53e34-c952-423e-8700-c0525d23304f" providerId="ADAL" clId="{1D55A5D4-1FC1-4934-A025-59DDC391468D}" dt="2026-04-22T14:38:13.010" v="13" actId="478"/>
          <ac:inkMkLst>
            <pc:docMk/>
            <pc:sldMk cId="967053393" sldId="491"/>
            <ac:inkMk id="15" creationId="{00000000-0000-0000-0000-000000000000}"/>
          </ac:inkMkLst>
        </pc:inkChg>
      </pc:sldChg>
      <pc:sldChg chg="delSp mod modTransition delAnim">
        <pc:chgData name="Luciano Pereira Soares" userId="16c53e34-c952-423e-8700-c0525d23304f" providerId="ADAL" clId="{1D55A5D4-1FC1-4934-A025-59DDC391468D}" dt="2026-04-22T14:39:18.156" v="16"/>
        <pc:sldMkLst>
          <pc:docMk/>
          <pc:sldMk cId="1328593982" sldId="494"/>
        </pc:sldMkLst>
        <pc:picChg chg="del">
          <ac:chgData name="Luciano Pereira Soares" userId="16c53e34-c952-423e-8700-c0525d23304f" providerId="ADAL" clId="{1D55A5D4-1FC1-4934-A025-59DDC391468D}" dt="2026-04-22T14:37:23.576" v="4" actId="478"/>
          <ac:picMkLst>
            <pc:docMk/>
            <pc:sldMk cId="1328593982" sldId="494"/>
            <ac:picMk id="8" creationId="{00000000-0000-0000-0000-000000000000}"/>
          </ac:picMkLst>
        </pc:picChg>
      </pc:sldChg>
      <pc:sldChg chg="delSp mod modTransition delAnim">
        <pc:chgData name="Luciano Pereira Soares" userId="16c53e34-c952-423e-8700-c0525d23304f" providerId="ADAL" clId="{1D55A5D4-1FC1-4934-A025-59DDC391468D}" dt="2026-04-22T14:39:18.156" v="16"/>
        <pc:sldMkLst>
          <pc:docMk/>
          <pc:sldMk cId="1573250007" sldId="495"/>
        </pc:sldMkLst>
        <pc:picChg chg="del">
          <ac:chgData name="Luciano Pereira Soares" userId="16c53e34-c952-423e-8700-c0525d23304f" providerId="ADAL" clId="{1D55A5D4-1FC1-4934-A025-59DDC391468D}" dt="2026-04-22T14:37:26.051" v="5" actId="478"/>
          <ac:picMkLst>
            <pc:docMk/>
            <pc:sldMk cId="1573250007" sldId="495"/>
            <ac:picMk id="9" creationId="{00000000-0000-0000-0000-000000000000}"/>
          </ac:picMkLst>
        </pc:picChg>
      </pc:sldChg>
      <pc:sldChg chg="delSp mod modTransition delAnim">
        <pc:chgData name="Luciano Pereira Soares" userId="16c53e34-c952-423e-8700-c0525d23304f" providerId="ADAL" clId="{1D55A5D4-1FC1-4934-A025-59DDC391468D}" dt="2026-04-22T14:39:18.156" v="16"/>
        <pc:sldMkLst>
          <pc:docMk/>
          <pc:sldMk cId="1794205785" sldId="496"/>
        </pc:sldMkLst>
        <pc:picChg chg="del">
          <ac:chgData name="Luciano Pereira Soares" userId="16c53e34-c952-423e-8700-c0525d23304f" providerId="ADAL" clId="{1D55A5D4-1FC1-4934-A025-59DDC391468D}" dt="2026-04-22T14:37:28.570" v="6" actId="478"/>
          <ac:picMkLst>
            <pc:docMk/>
            <pc:sldMk cId="1794205785" sldId="496"/>
            <ac:picMk id="9" creationId="{00000000-0000-0000-0000-000000000000}"/>
          </ac:picMkLst>
        </pc:picChg>
        <pc:inkChg chg="del">
          <ac:chgData name="Luciano Pereira Soares" userId="16c53e34-c952-423e-8700-c0525d23304f" providerId="ADAL" clId="{1D55A5D4-1FC1-4934-A025-59DDC391468D}" dt="2026-04-22T14:38:20.416" v="14" actId="478"/>
          <ac:inkMkLst>
            <pc:docMk/>
            <pc:sldMk cId="1794205785" sldId="496"/>
            <ac:inkMk id="10" creationId="{00000000-0000-0000-0000-000000000000}"/>
          </ac:inkMkLst>
        </pc:inkChg>
      </pc:sldChg>
      <pc:sldChg chg="delSp mod modTransition delAnim">
        <pc:chgData name="Luciano Pereira Soares" userId="16c53e34-c952-423e-8700-c0525d23304f" providerId="ADAL" clId="{1D55A5D4-1FC1-4934-A025-59DDC391468D}" dt="2026-04-22T14:39:40.919" v="17" actId="478"/>
        <pc:sldMkLst>
          <pc:docMk/>
          <pc:sldMk cId="178358535" sldId="500"/>
        </pc:sldMkLst>
        <pc:picChg chg="del">
          <ac:chgData name="Luciano Pereira Soares" userId="16c53e34-c952-423e-8700-c0525d23304f" providerId="ADAL" clId="{1D55A5D4-1FC1-4934-A025-59DDC391468D}" dt="2026-04-22T14:39:40.919" v="17" actId="478"/>
          <ac:picMkLst>
            <pc:docMk/>
            <pc:sldMk cId="178358535" sldId="500"/>
            <ac:picMk id="6" creationId="{00000000-0000-0000-0000-000000000000}"/>
          </ac:picMkLst>
        </pc:picChg>
      </pc:sldChg>
      <pc:sldChg chg="delSp mod modTransition delAnim">
        <pc:chgData name="Luciano Pereira Soares" userId="16c53e34-c952-423e-8700-c0525d23304f" providerId="ADAL" clId="{1D55A5D4-1FC1-4934-A025-59DDC391468D}" dt="2026-04-22T14:39:18.156" v="16"/>
        <pc:sldMkLst>
          <pc:docMk/>
          <pc:sldMk cId="1157824258" sldId="501"/>
        </pc:sldMkLst>
        <pc:picChg chg="del">
          <ac:chgData name="Luciano Pereira Soares" userId="16c53e34-c952-423e-8700-c0525d23304f" providerId="ADAL" clId="{1D55A5D4-1FC1-4934-A025-59DDC391468D}" dt="2026-04-22T14:37:32.481" v="7" actId="478"/>
          <ac:picMkLst>
            <pc:docMk/>
            <pc:sldMk cId="1157824258" sldId="501"/>
            <ac:picMk id="7"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7B2933F-D0FD-7240-A363-4A10A64C6792}" type="datetimeFigureOut">
              <a:rPr lang="en-US" smtClean="0"/>
              <a:t>10/5/26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225F2C9-07E4-FF4F-8189-CD4ED964D9B5}" type="slidenum">
              <a:rPr lang="en-US" smtClean="0"/>
              <a:t>‹#›</a:t>
            </a:fld>
            <a:endParaRPr lang="en-US"/>
          </a:p>
        </p:txBody>
      </p:sp>
    </p:spTree>
    <p:extLst>
      <p:ext uri="{BB962C8B-B14F-4D97-AF65-F5344CB8AC3E}">
        <p14:creationId xmlns:p14="http://schemas.microsoft.com/office/powerpoint/2010/main" val="32630128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E9F3387-6852-4167-A065-1B417E5289FE}" type="datetimeFigureOut">
              <a:rPr lang="pt-BR" smtClean="0"/>
              <a:t>05/10/2026</a:t>
            </a:fld>
            <a:endParaRPr lang="pt-BR"/>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3FB91E-A0DC-4A5F-B463-D7B8E79502D1}" type="slidenum">
              <a:rPr lang="pt-BR" smtClean="0"/>
              <a:t>‹#›</a:t>
            </a:fld>
            <a:endParaRPr lang="pt-BR"/>
          </a:p>
        </p:txBody>
      </p:sp>
    </p:spTree>
    <p:extLst>
      <p:ext uri="{BB962C8B-B14F-4D97-AF65-F5344CB8AC3E}">
        <p14:creationId xmlns:p14="http://schemas.microsoft.com/office/powerpoint/2010/main" val="25812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a:t>
            </a:r>
            <a:r>
              <a:rPr lang="pt-BR" dirty="0"/>
              <a:t>://</a:t>
            </a:r>
            <a:r>
              <a:rPr lang="pt-BR" dirty="0" err="1"/>
              <a:t>englishlive.ef.com</a:t>
            </a:r>
            <a:r>
              <a:rPr lang="pt-BR" dirty="0"/>
              <a:t>/</a:t>
            </a:r>
            <a:r>
              <a:rPr lang="pt-BR" dirty="0" err="1"/>
              <a:t>pt-br</a:t>
            </a:r>
            <a:r>
              <a:rPr lang="pt-BR" dirty="0"/>
              <a:t>/blog/as-14-flores-mais-populares-em-ingles/</a:t>
            </a:r>
          </a:p>
        </p:txBody>
      </p:sp>
      <p:sp>
        <p:nvSpPr>
          <p:cNvPr id="4" name="Slide Number Placeholder 3"/>
          <p:cNvSpPr>
            <a:spLocks noGrp="1"/>
          </p:cNvSpPr>
          <p:nvPr>
            <p:ph type="sldNum" sz="quarter" idx="10"/>
          </p:nvPr>
        </p:nvSpPr>
        <p:spPr/>
        <p:txBody>
          <a:bodyPr/>
          <a:lstStyle/>
          <a:p>
            <a:fld id="{F23FB91E-A0DC-4A5F-B463-D7B8E79502D1}" type="slidenum">
              <a:rPr lang="pt-BR" smtClean="0"/>
              <a:t>1</a:t>
            </a:fld>
            <a:endParaRPr lang="pt-BR"/>
          </a:p>
        </p:txBody>
      </p:sp>
    </p:spTree>
    <p:extLst>
      <p:ext uri="{BB962C8B-B14F-4D97-AF65-F5344CB8AC3E}">
        <p14:creationId xmlns:p14="http://schemas.microsoft.com/office/powerpoint/2010/main" val="1932210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O EDSAC (</a:t>
            </a:r>
            <a:r>
              <a:rPr lang="pt-BR" dirty="0" err="1"/>
              <a:t>Electronic</a:t>
            </a:r>
            <a:r>
              <a:rPr lang="pt-BR" dirty="0"/>
              <a:t> </a:t>
            </a:r>
            <a:r>
              <a:rPr lang="pt-BR" dirty="0" err="1"/>
              <a:t>Delay</a:t>
            </a:r>
            <a:r>
              <a:rPr lang="pt-BR" dirty="0"/>
              <a:t> </a:t>
            </a:r>
            <a:r>
              <a:rPr lang="pt-BR" dirty="0" err="1"/>
              <a:t>Storage</a:t>
            </a:r>
            <a:r>
              <a:rPr lang="pt-BR" dirty="0"/>
              <a:t> </a:t>
            </a:r>
            <a:r>
              <a:rPr lang="pt-BR" dirty="0" err="1"/>
              <a:t>Automatic</a:t>
            </a:r>
            <a:r>
              <a:rPr lang="pt-BR" dirty="0"/>
              <a:t> </a:t>
            </a:r>
            <a:r>
              <a:rPr lang="pt-BR" dirty="0" err="1"/>
              <a:t>Calculator</a:t>
            </a:r>
            <a:r>
              <a:rPr lang="pt-BR" dirty="0"/>
              <a:t>) foi desenvolvido na </a:t>
            </a:r>
            <a:r>
              <a:rPr lang="pt-BR" dirty="0" err="1"/>
              <a:t>University</a:t>
            </a:r>
            <a:r>
              <a:rPr lang="pt-BR" dirty="0"/>
              <a:t> </a:t>
            </a:r>
            <a:r>
              <a:rPr lang="pt-BR" dirty="0" err="1"/>
              <a:t>of</a:t>
            </a:r>
            <a:r>
              <a:rPr lang="pt-BR" dirty="0"/>
              <a:t> Cambridge na Inglaterra e começou a funcionar em 1949. Ele continha 3.000 válvulas. Programas eram carregados com fita de papel e os resultados de saiam por um teletipo.  </a:t>
            </a:r>
            <a:r>
              <a:rPr lang="pt-BR" sz="1200" dirty="0"/>
              <a:t>O EDSAC é creditado como um dos primeiros computadores a utilizar um Assembler, que lhe permitia ser programado simbolicamente em vez de usar código de máquina.</a:t>
            </a:r>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p>
            <a:r>
              <a:rPr lang="en-US" sz="1200" b="0" i="0" kern="1200" dirty="0">
                <a:solidFill>
                  <a:schemeClr val="tx1"/>
                </a:solidFill>
                <a:effectLst/>
                <a:latin typeface="+mn-lt"/>
                <a:ea typeface="+mn-ea"/>
                <a:cs typeface="+mn-cs"/>
              </a:rPr>
              <a:t>called </a:t>
            </a:r>
            <a:r>
              <a:rPr lang="en-US" sz="1200" b="0" i="1" kern="1200" dirty="0">
                <a:solidFill>
                  <a:schemeClr val="tx1"/>
                </a:solidFill>
                <a:effectLst/>
                <a:latin typeface="+mn-lt"/>
                <a:ea typeface="+mn-ea"/>
                <a:cs typeface="+mn-cs"/>
              </a:rPr>
              <a:t>initial orders</a:t>
            </a:r>
            <a:r>
              <a:rPr lang="en-US" sz="1200" b="0" i="0" kern="1200" dirty="0">
                <a:solidFill>
                  <a:schemeClr val="tx1"/>
                </a:solidFill>
                <a:effectLst/>
                <a:latin typeface="+mn-lt"/>
                <a:ea typeface="+mn-ea"/>
                <a:cs typeface="+mn-cs"/>
              </a:rPr>
              <a:t> featuring one-letter mnemonics in 1949</a:t>
            </a:r>
            <a:endParaRPr lang="pt-BR" dirty="0"/>
          </a:p>
          <a:p>
            <a:endParaRPr lang="pt-BR" dirty="0"/>
          </a:p>
          <a:p>
            <a:r>
              <a:rPr lang="pt-BR" dirty="0" err="1"/>
              <a:t>https</a:t>
            </a:r>
            <a:r>
              <a:rPr lang="pt-BR" dirty="0"/>
              <a:t>://</a:t>
            </a:r>
            <a:r>
              <a:rPr lang="pt-BR" dirty="0" err="1"/>
              <a:t>people.cs.clemson.edu</a:t>
            </a:r>
            <a:r>
              <a:rPr lang="pt-BR" dirty="0"/>
              <a:t>/~</a:t>
            </a:r>
            <a:r>
              <a:rPr lang="pt-BR" dirty="0" err="1"/>
              <a:t>mark</a:t>
            </a:r>
            <a:r>
              <a:rPr lang="pt-BR" dirty="0"/>
              <a:t>/</a:t>
            </a:r>
            <a:r>
              <a:rPr lang="pt-BR" dirty="0" err="1"/>
              <a:t>edsac.html</a:t>
            </a:r>
            <a:endParaRPr lang="pt-BR" dirty="0"/>
          </a:p>
          <a:p>
            <a:r>
              <a:rPr lang="pt-BR" dirty="0" err="1"/>
              <a:t>http</a:t>
            </a:r>
            <a:r>
              <a:rPr lang="pt-BR" dirty="0"/>
              <a:t>://</a:t>
            </a:r>
            <a:r>
              <a:rPr lang="pt-BR" dirty="0" err="1"/>
              <a:t>www.i-programmer.info</a:t>
            </a:r>
            <a:r>
              <a:rPr lang="pt-BR" dirty="0"/>
              <a:t>/</a:t>
            </a:r>
            <a:r>
              <a:rPr lang="pt-BR" dirty="0" err="1"/>
              <a:t>history</a:t>
            </a:r>
            <a:r>
              <a:rPr lang="pt-BR" dirty="0"/>
              <a:t>/</a:t>
            </a:r>
            <a:r>
              <a:rPr lang="pt-BR" dirty="0" err="1"/>
              <a:t>people</a:t>
            </a:r>
            <a:r>
              <a:rPr lang="pt-BR" dirty="0"/>
              <a:t>/738-maurice-wilkes.html?start=1</a:t>
            </a:r>
          </a:p>
          <a:p>
            <a:r>
              <a:rPr lang="pt-BR" dirty="0" err="1"/>
              <a:t>https</a:t>
            </a:r>
            <a:r>
              <a:rPr lang="pt-BR" dirty="0"/>
              <a:t>://</a:t>
            </a:r>
            <a:r>
              <a:rPr lang="pt-BR" dirty="0" err="1"/>
              <a:t>www.computer.org</a:t>
            </a:r>
            <a:r>
              <a:rPr lang="pt-BR" dirty="0"/>
              <a:t>/web/</a:t>
            </a:r>
            <a:r>
              <a:rPr lang="pt-BR" dirty="0" err="1"/>
              <a:t>awards</a:t>
            </a:r>
            <a:r>
              <a:rPr lang="pt-BR" dirty="0"/>
              <a:t>/</a:t>
            </a:r>
            <a:r>
              <a:rPr lang="pt-BR" dirty="0" err="1"/>
              <a:t>pioneer-david-wheeler</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2</a:t>
            </a:fld>
            <a:endParaRPr lang="pt-BR"/>
          </a:p>
        </p:txBody>
      </p:sp>
    </p:spTree>
    <p:extLst>
      <p:ext uri="{BB962C8B-B14F-4D97-AF65-F5344CB8AC3E}">
        <p14:creationId xmlns:p14="http://schemas.microsoft.com/office/powerpoint/2010/main" val="933294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dirty="0"/>
              <a:t>Grace Hopper foi uma das primeiras pessoas a programas os computadores Mark </a:t>
            </a:r>
            <a:r>
              <a:rPr lang="pt-BR" sz="1200" dirty="0" err="1"/>
              <a:t>I</a:t>
            </a:r>
            <a:r>
              <a:rPr lang="pt-BR" sz="1200" dirty="0"/>
              <a:t>, Mark II, Mark III, UNIVAC </a:t>
            </a:r>
            <a:r>
              <a:rPr lang="pt-BR" sz="1200" dirty="0" err="1"/>
              <a:t>I</a:t>
            </a:r>
            <a:r>
              <a:rPr lang="pt-BR" sz="1200" dirty="0"/>
              <a:t> e UNIVAC II o que tornou ela uma das grandes pioneiras da computação e seus trabalhas influenciaram gerações. Ela desenvolveu compiladores como o A-O e B-O que levaram ao desenvolvimento do COBOL,</a:t>
            </a:r>
            <a:r>
              <a:rPr lang="pt-BR" sz="1200" baseline="0" dirty="0"/>
              <a:t> </a:t>
            </a:r>
            <a:r>
              <a:rPr lang="pt-BR" sz="1200" dirty="0"/>
              <a:t>que foi usada durante muito tempo em diversos sistemas computacionais. Também um fato curioso, é que o primeiro</a:t>
            </a:r>
            <a:r>
              <a:rPr lang="pt-BR" sz="1200" baseline="0" dirty="0"/>
              <a:t> bug de computadores se atribui a ela, no caso ela encontrou uma mariposa preso a um </a:t>
            </a:r>
            <a:r>
              <a:rPr lang="pt-BR" sz="1200" baseline="0" dirty="0" err="1"/>
              <a:t>reley</a:t>
            </a:r>
            <a:r>
              <a:rPr lang="pt-BR" sz="1200" baseline="0" dirty="0"/>
              <a:t> do Mark II que interrompeu uma execução de um programa dela.</a:t>
            </a:r>
            <a:endParaRPr lang="pt-BR" sz="1200" dirty="0"/>
          </a:p>
          <a:p>
            <a:endParaRPr lang="pt-BR" dirty="0"/>
          </a:p>
          <a:p>
            <a:endParaRPr lang="pt-BR" dirty="0"/>
          </a:p>
          <a:p>
            <a:r>
              <a:rPr lang="pt-BR" dirty="0" err="1"/>
              <a:t>http</a:t>
            </a:r>
            <a:r>
              <a:rPr lang="pt-BR" dirty="0"/>
              <a:t>://</a:t>
            </a:r>
            <a:r>
              <a:rPr lang="pt-BR" dirty="0" err="1"/>
              <a:t>www.cs.yale.edu</a:t>
            </a:r>
            <a:r>
              <a:rPr lang="pt-BR" dirty="0"/>
              <a:t>/homes/</a:t>
            </a:r>
            <a:r>
              <a:rPr lang="pt-BR" dirty="0" err="1"/>
              <a:t>tap</a:t>
            </a:r>
            <a:r>
              <a:rPr lang="pt-BR" dirty="0"/>
              <a:t>/Files/</a:t>
            </a:r>
            <a:r>
              <a:rPr lang="pt-BR" dirty="0" err="1"/>
              <a:t>hopper-story.html</a:t>
            </a:r>
            <a:endParaRPr lang="pt-BR" dirty="0"/>
          </a:p>
          <a:p>
            <a:r>
              <a:rPr lang="pt-BR" dirty="0" err="1"/>
              <a:t>https</a:t>
            </a:r>
            <a:r>
              <a:rPr lang="pt-BR" dirty="0"/>
              <a:t>://</a:t>
            </a:r>
            <a:r>
              <a:rPr lang="pt-BR" dirty="0" err="1"/>
              <a:t>en.wikipedia.org</a:t>
            </a:r>
            <a:r>
              <a:rPr lang="pt-BR" dirty="0"/>
              <a:t>/</a:t>
            </a:r>
            <a:r>
              <a:rPr lang="pt-BR" dirty="0" err="1"/>
              <a:t>wiki</a:t>
            </a:r>
            <a:r>
              <a:rPr lang="pt-BR" dirty="0"/>
              <a:t>/</a:t>
            </a:r>
            <a:r>
              <a:rPr lang="pt-BR" dirty="0" err="1"/>
              <a:t>Grace_Hopper</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3</a:t>
            </a:fld>
            <a:endParaRPr lang="pt-BR"/>
          </a:p>
        </p:txBody>
      </p:sp>
    </p:spTree>
    <p:extLst>
      <p:ext uri="{BB962C8B-B14F-4D97-AF65-F5344CB8AC3E}">
        <p14:creationId xmlns:p14="http://schemas.microsoft.com/office/powerpoint/2010/main" val="217124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dirty="0"/>
              <a:t>Linguagens Assembly são a representação simbólica dos comandos binários do computador (linguagem de máquina), facilitando o desenvolvimento de programas. Essa é uma linguagem que chamamos de baixo nível, ou seja, ela não é tão sofisticada como uma linguagem C onde as instruções são mais </a:t>
            </a:r>
            <a:r>
              <a:rPr lang="pt-BR" sz="1200" dirty="0" err="1"/>
              <a:t>podersas</a:t>
            </a:r>
            <a:r>
              <a:rPr lang="pt-BR" sz="1200" dirty="0"/>
              <a:t>, mas não tem uma mapeamento direto para o hardware.</a:t>
            </a:r>
            <a:r>
              <a:rPr lang="pt-BR" sz="1200" baseline="0" dirty="0"/>
              <a:t> ou seja, em geral instruções Assembly são convertidas diretamente para uma instrução de linguagem de máquina. Podemos dizer que é um mapeamento um para um, assim cada instrução Assembly vira uma instrução de máquina.</a:t>
            </a:r>
            <a:endParaRPr lang="pt-BR" sz="1200" dirty="0"/>
          </a:p>
          <a:p>
            <a:endParaRPr lang="pt-BR" dirty="0"/>
          </a:p>
          <a:p>
            <a:r>
              <a:rPr lang="pt-BR" dirty="0" err="1"/>
              <a:t>https</a:t>
            </a:r>
            <a:r>
              <a:rPr lang="pt-BR" dirty="0"/>
              <a:t>://</a:t>
            </a:r>
            <a:r>
              <a:rPr lang="pt-BR" dirty="0" err="1"/>
              <a:t>courses.cs.washington.edu</a:t>
            </a:r>
            <a:r>
              <a:rPr lang="pt-BR" dirty="0"/>
              <a:t>/</a:t>
            </a:r>
            <a:r>
              <a:rPr lang="pt-BR" dirty="0" err="1"/>
              <a:t>courses</a:t>
            </a:r>
            <a:r>
              <a:rPr lang="pt-BR" dirty="0"/>
              <a:t>/cse378/04wi/</a:t>
            </a:r>
            <a:r>
              <a:rPr lang="pt-BR" dirty="0" err="1"/>
              <a:t>lectures</a:t>
            </a:r>
            <a:r>
              <a:rPr lang="pt-BR" dirty="0"/>
              <a:t>/</a:t>
            </a:r>
            <a:r>
              <a:rPr lang="pt-BR" dirty="0" err="1"/>
              <a:t>mips-asm-examples.html</a:t>
            </a:r>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4</a:t>
            </a:fld>
            <a:endParaRPr lang="pt-BR"/>
          </a:p>
        </p:txBody>
      </p:sp>
    </p:spTree>
    <p:extLst>
      <p:ext uri="{BB962C8B-B14F-4D97-AF65-F5344CB8AC3E}">
        <p14:creationId xmlns:p14="http://schemas.microsoft.com/office/powerpoint/2010/main" val="10487619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As </a:t>
            </a:r>
            <a:r>
              <a:rPr lang="pt-BR" dirty="0" err="1"/>
              <a:t>CPUs</a:t>
            </a:r>
            <a:r>
              <a:rPr lang="pt-BR" dirty="0"/>
              <a:t> tem suas linguagens máquinas, que são descritas pelas sequencias de bits, ou seja,</a:t>
            </a:r>
            <a:r>
              <a:rPr lang="pt-BR" baseline="0" dirty="0"/>
              <a:t> seus </a:t>
            </a:r>
            <a:r>
              <a:rPr lang="pt-BR" dirty="0"/>
              <a:t>0s e 1s. O </a:t>
            </a:r>
            <a:r>
              <a:rPr lang="pt-BR" dirty="0" err="1"/>
              <a:t>assembly</a:t>
            </a:r>
            <a:r>
              <a:rPr lang="pt-BR" dirty="0"/>
              <a:t> é um formalismo que permite a criação dos programas em uma linguagem mais humanamente tratável,</a:t>
            </a:r>
            <a:r>
              <a:rPr lang="pt-BR" baseline="0" dirty="0"/>
              <a:t> porém os computadores não conseguem executar diretamente esse tipo de instrução, uma série de tratamentos e conversões são necessárias e o que o </a:t>
            </a:r>
            <a:r>
              <a:rPr lang="pt-BR" dirty="0"/>
              <a:t>Assembler faz é justamente</a:t>
            </a:r>
            <a:r>
              <a:rPr lang="pt-BR" baseline="0" dirty="0"/>
              <a:t> traduzir essa linguagem de mnemônicos para os códigos binários da arquitetura em questão, ou seja, os 0s e 1s que o computador consegue diretamente executar.</a:t>
            </a:r>
            <a:endParaRPr lang="pt-BR" dirty="0"/>
          </a:p>
          <a:p>
            <a:endParaRPr lang="pt-BR" dirty="0"/>
          </a:p>
          <a:p>
            <a:endParaRPr lang="pt-BR" dirty="0"/>
          </a:p>
          <a:p>
            <a:r>
              <a:rPr lang="pt-BR" dirty="0" err="1"/>
              <a:t>https</a:t>
            </a:r>
            <a:r>
              <a:rPr lang="pt-BR" dirty="0"/>
              <a:t>://</a:t>
            </a:r>
            <a:r>
              <a:rPr lang="pt-BR" dirty="0" err="1"/>
              <a:t>gist.github.com</a:t>
            </a:r>
            <a:r>
              <a:rPr lang="pt-BR" dirty="0"/>
              <a:t>/</a:t>
            </a:r>
            <a:r>
              <a:rPr lang="pt-BR" dirty="0" err="1"/>
              <a:t>mr-fool</a:t>
            </a:r>
            <a:r>
              <a:rPr lang="pt-BR" dirty="0"/>
              <a:t>/53c4199a15273e554e0a</a:t>
            </a:r>
          </a:p>
          <a:p>
            <a:r>
              <a:rPr lang="pt-BR" dirty="0" err="1"/>
              <a:t>https</a:t>
            </a:r>
            <a:r>
              <a:rPr lang="pt-BR" dirty="0"/>
              <a:t>://</a:t>
            </a:r>
            <a:r>
              <a:rPr lang="pt-BR" dirty="0" err="1"/>
              <a:t>gist.github.com</a:t>
            </a:r>
            <a:r>
              <a:rPr lang="pt-BR" dirty="0"/>
              <a:t>/</a:t>
            </a:r>
            <a:r>
              <a:rPr lang="pt-BR" dirty="0" err="1"/>
              <a:t>TheFox</a:t>
            </a:r>
            <a:r>
              <a:rPr lang="pt-BR" dirty="0"/>
              <a:t>/f40523816e08e9f8fe88</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5</a:t>
            </a:fld>
            <a:endParaRPr lang="pt-BR"/>
          </a:p>
        </p:txBody>
      </p:sp>
    </p:spTree>
    <p:extLst>
      <p:ext uri="{BB962C8B-B14F-4D97-AF65-F5344CB8AC3E}">
        <p14:creationId xmlns:p14="http://schemas.microsoft.com/office/powerpoint/2010/main" val="1258684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dirty="0" err="1"/>
              <a:t>Assemblers</a:t>
            </a:r>
            <a:r>
              <a:rPr lang="pt-BR" sz="1200" dirty="0"/>
              <a:t>, que também podem ser </a:t>
            </a:r>
            <a:r>
              <a:rPr lang="pt-BR" sz="1200" dirty="0" err="1"/>
              <a:t>chaamdos</a:t>
            </a:r>
            <a:r>
              <a:rPr lang="pt-BR" sz="1200" dirty="0"/>
              <a:t> de Montadores em </a:t>
            </a:r>
            <a:r>
              <a:rPr lang="pt-BR" sz="1200" dirty="0" err="1"/>
              <a:t>portugues</a:t>
            </a:r>
            <a:r>
              <a:rPr lang="pt-BR" sz="1200" dirty="0"/>
              <a:t>,</a:t>
            </a:r>
            <a:r>
              <a:rPr lang="pt-BR" sz="1200" baseline="0" dirty="0"/>
              <a:t> </a:t>
            </a:r>
            <a:r>
              <a:rPr lang="pt-BR" sz="1200" dirty="0"/>
              <a:t>estão disponíveis desde a década de 1950. Eles existem para os vários conjuntos de sintaxe de um determinado CPU e conjunto de instruções da arquitetura. A</a:t>
            </a:r>
            <a:r>
              <a:rPr lang="pt-BR" sz="1200" baseline="0" dirty="0"/>
              <a:t> sintaxe </a:t>
            </a:r>
            <a:r>
              <a:rPr lang="pt-BR" sz="1200" baseline="0" dirty="0" err="1"/>
              <a:t>intel</a:t>
            </a:r>
            <a:r>
              <a:rPr lang="pt-BR" sz="1200" baseline="0" dirty="0"/>
              <a:t> tem grande popularidade, porem ela pode ser confusa, principalmente para os iniciantes. Já a sintaxe AT&amp;T </a:t>
            </a:r>
            <a:r>
              <a:rPr lang="pt-BR" sz="1200" baseline="0" dirty="0" err="1"/>
              <a:t>possue</a:t>
            </a:r>
            <a:r>
              <a:rPr lang="pt-BR" sz="1200" baseline="0" dirty="0"/>
              <a:t> uma notação mais pesada, ou seja, para um mesmo código possui mais símbolos, porém sua leitura acaba se tornando mais clara após compreender a sintaxe. Em sistemas </a:t>
            </a:r>
            <a:r>
              <a:rPr lang="pt-BR" sz="1200" baseline="0" dirty="0" err="1"/>
              <a:t>linux</a:t>
            </a:r>
            <a:r>
              <a:rPr lang="pt-BR" sz="1200" baseline="0" dirty="0"/>
              <a:t> por exemplo a notação AT&amp;T é mais frequente, porém para códigos mais gerais a notação Intel é mais facilmente encontrada. Os </a:t>
            </a:r>
            <a:r>
              <a:rPr lang="pt-BR" sz="1200" baseline="0" dirty="0" err="1"/>
              <a:t>Assemblers</a:t>
            </a:r>
            <a:r>
              <a:rPr lang="pt-BR" sz="1200" baseline="0" dirty="0"/>
              <a:t> presentes nos sistemas operacionais são normalmente o NASM para a sintaxe </a:t>
            </a:r>
            <a:r>
              <a:rPr lang="pt-BR" sz="1200" baseline="0" dirty="0" err="1"/>
              <a:t>intel</a:t>
            </a:r>
            <a:r>
              <a:rPr lang="pt-BR" sz="1200" baseline="0" dirty="0"/>
              <a:t> e o GAS para a sintaxe AT&amp;T, mas podem haver variações.</a:t>
            </a:r>
            <a:endParaRPr lang="pt-BR" sz="1200" dirty="0"/>
          </a:p>
          <a:p>
            <a:endParaRPr lang="pt-BR" dirty="0"/>
          </a:p>
          <a:p>
            <a:r>
              <a:rPr lang="pt-BR" dirty="0" err="1"/>
              <a:t>http</a:t>
            </a:r>
            <a:r>
              <a:rPr lang="pt-BR" dirty="0"/>
              <a:t>://</a:t>
            </a:r>
            <a:r>
              <a:rPr lang="pt-BR" dirty="0" err="1"/>
              <a:t>www.ibm.com</a:t>
            </a:r>
            <a:r>
              <a:rPr lang="pt-BR" dirty="0"/>
              <a:t>/</a:t>
            </a:r>
            <a:r>
              <a:rPr lang="pt-BR" dirty="0" err="1"/>
              <a:t>developerworks</a:t>
            </a:r>
            <a:r>
              <a:rPr lang="pt-BR" dirty="0"/>
              <a:t>/</a:t>
            </a:r>
            <a:r>
              <a:rPr lang="pt-BR" dirty="0" err="1"/>
              <a:t>library</a:t>
            </a:r>
            <a:r>
              <a:rPr lang="pt-BR" dirty="0"/>
              <a:t>/l-</a:t>
            </a:r>
            <a:r>
              <a:rPr lang="pt-BR" dirty="0" err="1"/>
              <a:t>gas</a:t>
            </a:r>
            <a:r>
              <a:rPr lang="pt-BR" dirty="0"/>
              <a:t>-</a:t>
            </a:r>
            <a:r>
              <a:rPr lang="pt-BR" dirty="0" err="1"/>
              <a:t>nasm</a:t>
            </a:r>
            <a:r>
              <a:rPr lang="pt-BR" dirty="0"/>
              <a:t>/</a:t>
            </a:r>
          </a:p>
        </p:txBody>
      </p:sp>
      <p:sp>
        <p:nvSpPr>
          <p:cNvPr id="4" name="Slide Number Placeholder 3"/>
          <p:cNvSpPr>
            <a:spLocks noGrp="1"/>
          </p:cNvSpPr>
          <p:nvPr>
            <p:ph type="sldNum" sz="quarter" idx="10"/>
          </p:nvPr>
        </p:nvSpPr>
        <p:spPr/>
        <p:txBody>
          <a:bodyPr/>
          <a:lstStyle/>
          <a:p>
            <a:fld id="{F23FB91E-A0DC-4A5F-B463-D7B8E79502D1}" type="slidenum">
              <a:rPr lang="pt-BR" smtClean="0"/>
              <a:t>6</a:t>
            </a:fld>
            <a:endParaRPr lang="pt-BR"/>
          </a:p>
        </p:txBody>
      </p:sp>
    </p:spTree>
    <p:extLst>
      <p:ext uri="{BB962C8B-B14F-4D97-AF65-F5344CB8AC3E}">
        <p14:creationId xmlns:p14="http://schemas.microsoft.com/office/powerpoint/2010/main" val="1490028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O assemble faz a análise sintática (</a:t>
            </a:r>
            <a:r>
              <a:rPr lang="pt-BR" sz="1200" dirty="0" err="1"/>
              <a:t>parsing</a:t>
            </a:r>
            <a:r>
              <a:rPr lang="pt-BR" sz="1200" dirty="0"/>
              <a:t>) dos arquivos, identificando cada sequencia de caracteres, e posteriormente gerando os códigos binários para uma determinada arquitetura.</a:t>
            </a:r>
            <a:r>
              <a:rPr lang="pt-BR" sz="1200" baseline="0" dirty="0"/>
              <a:t> </a:t>
            </a:r>
            <a:r>
              <a:rPr lang="pt-BR" sz="1200" dirty="0"/>
              <a:t>Fazer o </a:t>
            </a:r>
            <a:r>
              <a:rPr lang="pt-BR" sz="1200" dirty="0" err="1"/>
              <a:t>Parsing</a:t>
            </a:r>
            <a:r>
              <a:rPr lang="pt-BR" sz="1200" dirty="0"/>
              <a:t> significa detectar cada símbolo para determinar a estrutura sintática de uma expressão, que é escrita de acordo com as regras de uma determinada gramática.</a:t>
            </a:r>
            <a:r>
              <a:rPr lang="pt-BR" sz="1200" baseline="0" dirty="0"/>
              <a:t> </a:t>
            </a:r>
            <a:r>
              <a:rPr lang="pt-BR" sz="1200" dirty="0"/>
              <a:t>Para analisar essa expressão, você tem que dividi-la no que chamamos de </a:t>
            </a:r>
            <a:r>
              <a:rPr lang="pt-BR" sz="1200" dirty="0" err="1"/>
              <a:t>tokens</a:t>
            </a:r>
            <a:endParaRPr lang="pt-BR" sz="1200"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7</a:t>
            </a:fld>
            <a:endParaRPr lang="pt-BR"/>
          </a:p>
        </p:txBody>
      </p:sp>
    </p:spTree>
    <p:extLst>
      <p:ext uri="{BB962C8B-B14F-4D97-AF65-F5344CB8AC3E}">
        <p14:creationId xmlns:p14="http://schemas.microsoft.com/office/powerpoint/2010/main" val="1251191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dirty="0"/>
              <a:t>Instruções em linguagem Assembly normalmente consistem de um mnemônico de instrução, como os apresentados aqui em vermelho, seguido por uma lista de dados, argumentos ou parâmetros. Estes são traduzidos de texto para instruções em linguagem de máquina que podem ser carregadas na memória do computador e executados. Normalmente o </a:t>
            </a:r>
            <a:r>
              <a:rPr lang="pt-BR" sz="1200" dirty="0" err="1"/>
              <a:t>assembler</a:t>
            </a:r>
            <a:r>
              <a:rPr lang="pt-BR" sz="1200" baseline="0" dirty="0"/>
              <a:t> olha primeiro que instrução estamos lidando para saber como fazer a conversão para a linguagem de máquina. Perceba algo curioso aqui, que o processo reverso também pode acontecer, que é o que chamamos de </a:t>
            </a:r>
            <a:r>
              <a:rPr lang="pt-BR" sz="1200" baseline="0" dirty="0" err="1"/>
              <a:t>desabler</a:t>
            </a:r>
            <a:r>
              <a:rPr lang="pt-BR" sz="1200" baseline="0" dirty="0"/>
              <a:t>, que consiste em converter uma linguagem de máquina para os mnemônicos do Assembly.</a:t>
            </a:r>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8</a:t>
            </a:fld>
            <a:endParaRPr lang="pt-BR"/>
          </a:p>
        </p:txBody>
      </p:sp>
    </p:spTree>
    <p:extLst>
      <p:ext uri="{BB962C8B-B14F-4D97-AF65-F5344CB8AC3E}">
        <p14:creationId xmlns:p14="http://schemas.microsoft.com/office/powerpoint/2010/main" val="3838774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dirty="0"/>
              <a:t>Uma das dificuldade em se programar em Assembly está relacionada ao gerenciamento de memória, ou seja, como</a:t>
            </a:r>
            <a:r>
              <a:rPr lang="pt-BR" sz="1200" baseline="0" dirty="0"/>
              <a:t> saber em que endereço de memória devemos armazenar um valor ou para qual endereço realizar um salto, ou seja, um JUMP, ou </a:t>
            </a:r>
            <a:r>
              <a:rPr lang="pt-BR" sz="1200" baseline="0" dirty="0" err="1"/>
              <a:t>Branching</a:t>
            </a:r>
            <a:r>
              <a:rPr lang="pt-BR" sz="1200" baseline="0" dirty="0"/>
              <a:t>. </a:t>
            </a:r>
            <a:r>
              <a:rPr lang="pt-BR" sz="1200" dirty="0"/>
              <a:t>Para isso podemos usar referências simbólicas nos programas para endereçar memórias físicas no computador. Usamos uma variável como em linguagens de alto nível e esses</a:t>
            </a:r>
            <a:r>
              <a:rPr lang="pt-BR" sz="1200" baseline="0" dirty="0"/>
              <a:t> símbolos são posteriormente convertidos em números pelo Assembler. Para as variáveis de valores podemos escolher endereços seguindo alguma regra, que posteriormente podem ser recuperados se armazenados num tabela que relaciona o nome ao valor. Já para os saltos, como </a:t>
            </a:r>
            <a:r>
              <a:rPr lang="pt-BR" sz="1200" dirty="0"/>
              <a:t>a tradução do Assembly é direta, ou seja, as instruções em Assembly se mapeiam em instruções em linguagem de máquina como uma função bijetora,</a:t>
            </a:r>
            <a:r>
              <a:rPr lang="pt-BR" sz="1200" baseline="0" dirty="0"/>
              <a:t> </a:t>
            </a:r>
            <a:r>
              <a:rPr lang="pt-BR" sz="1200" dirty="0"/>
              <a:t>A tabela de símbolos pode ser usada para localizar onde estão marcados os marcadores</a:t>
            </a:r>
            <a:r>
              <a:rPr lang="pt-BR" sz="1200" baseline="0" dirty="0"/>
              <a:t> que vamos chamar aqui de </a:t>
            </a:r>
            <a:r>
              <a:rPr lang="pt-BR" sz="1200" dirty="0" err="1"/>
              <a:t>Labels</a:t>
            </a:r>
            <a:r>
              <a:rPr lang="pt-BR" sz="1200" dirty="0"/>
              <a:t> e também armazenar na memória. Finalmente vale ressaltar que a tabela de símbolos</a:t>
            </a:r>
            <a:r>
              <a:rPr lang="pt-BR" sz="1200" baseline="0" dirty="0"/>
              <a:t> muitas vezes vem com uma série de símbolos </a:t>
            </a:r>
            <a:r>
              <a:rPr lang="pt-BR" sz="1200" baseline="0" dirty="0" err="1"/>
              <a:t>pré</a:t>
            </a:r>
            <a:r>
              <a:rPr lang="pt-BR" sz="1200" baseline="0" dirty="0"/>
              <a:t> definidos, que podem acessar posições de memória padronizadas para algo específico da arquitetura.</a:t>
            </a:r>
            <a:endParaRPr lang="pt-BR" sz="1200"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9</a:t>
            </a:fld>
            <a:endParaRPr lang="pt-BR"/>
          </a:p>
        </p:txBody>
      </p:sp>
    </p:spTree>
    <p:extLst>
      <p:ext uri="{BB962C8B-B14F-4D97-AF65-F5344CB8AC3E}">
        <p14:creationId xmlns:p14="http://schemas.microsoft.com/office/powerpoint/2010/main" val="3441018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Percebam que estamos usando símbolos para endereços tanto</a:t>
            </a:r>
            <a:r>
              <a:rPr lang="pt-BR" baseline="0" dirty="0"/>
              <a:t> na memória de dados, quanto na memória de instruções. </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10</a:t>
            </a:fld>
            <a:endParaRPr lang="pt-BR"/>
          </a:p>
        </p:txBody>
      </p:sp>
    </p:spTree>
    <p:extLst>
      <p:ext uri="{BB962C8B-B14F-4D97-AF65-F5344CB8AC3E}">
        <p14:creationId xmlns:p14="http://schemas.microsoft.com/office/powerpoint/2010/main" val="15784744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Da mesma forma que se programa em linguagens de mais alto nível, o Assembler permite o uso de símbolos para criar variáveis que armazenam valores em memória.</a:t>
            </a:r>
            <a:r>
              <a:rPr lang="pt-BR" baseline="0" dirty="0"/>
              <a:t> </a:t>
            </a:r>
            <a:r>
              <a:rPr lang="pt-BR" dirty="0"/>
              <a:t>Em certas linguagens de alto nível também é possível usar instruções de goto, quer redirecionam o fluxo de execução de um programa* para um certo marcador (</a:t>
            </a:r>
            <a:r>
              <a:rPr lang="pt-BR" dirty="0" err="1"/>
              <a:t>Label</a:t>
            </a:r>
            <a:r>
              <a:rPr lang="pt-BR" dirty="0"/>
              <a:t>)</a:t>
            </a:r>
          </a:p>
        </p:txBody>
      </p:sp>
      <p:sp>
        <p:nvSpPr>
          <p:cNvPr id="4" name="Slide Number Placeholder 3"/>
          <p:cNvSpPr>
            <a:spLocks noGrp="1"/>
          </p:cNvSpPr>
          <p:nvPr>
            <p:ph type="sldNum" sz="quarter" idx="10"/>
          </p:nvPr>
        </p:nvSpPr>
        <p:spPr/>
        <p:txBody>
          <a:bodyPr/>
          <a:lstStyle/>
          <a:p>
            <a:fld id="{F23FB91E-A0DC-4A5F-B463-D7B8E79502D1}" type="slidenum">
              <a:rPr lang="pt-BR" smtClean="0"/>
              <a:t>12</a:t>
            </a:fld>
            <a:endParaRPr lang="pt-BR"/>
          </a:p>
        </p:txBody>
      </p:sp>
    </p:spTree>
    <p:extLst>
      <p:ext uri="{BB962C8B-B14F-4D97-AF65-F5344CB8AC3E}">
        <p14:creationId xmlns:p14="http://schemas.microsoft.com/office/powerpoint/2010/main" val="11101356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Existem dois tipos de Assembler: </a:t>
            </a:r>
          </a:p>
          <a:p>
            <a:pPr marL="285750" indent="-285750">
              <a:buFont typeface="Arial"/>
              <a:buChar char="•"/>
            </a:pPr>
            <a:r>
              <a:rPr lang="pt-BR" sz="1200" dirty="0"/>
              <a:t>Assembler de </a:t>
            </a:r>
            <a:r>
              <a:rPr lang="pt-BR" sz="1200" b="1" dirty="0"/>
              <a:t>um passo: </a:t>
            </a:r>
            <a:r>
              <a:rPr lang="pt-BR" sz="1200" dirty="0"/>
              <a:t>percorrer o código-fonte uma vez. Qualquer símbolo usado antes de ser definido exigirá o Assembler voltar e substituir o símbolo com o espaço de memória reservado.</a:t>
            </a:r>
          </a:p>
          <a:p>
            <a:pPr marL="285750" indent="-285750">
              <a:buFont typeface="Arial"/>
              <a:buChar char="•"/>
            </a:pPr>
            <a:r>
              <a:rPr lang="pt-BR" sz="1200" dirty="0"/>
              <a:t>Assembler de </a:t>
            </a:r>
            <a:r>
              <a:rPr lang="pt-BR" sz="1200" b="1" dirty="0"/>
              <a:t>múltiplos passos: </a:t>
            </a:r>
            <a:r>
              <a:rPr lang="pt-BR" sz="1200" dirty="0"/>
              <a:t>em uma primeira passagem criar uma tabela com todos os símbolos e seus valores, em seguida, usa essa tabela para gerar o código.</a:t>
            </a:r>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a:t>A razão original para o uso de montadores de uma passagem era velocidade de montagem - muitas vezes uma segunda passagem exigiria rebobinar e voltar a ler uma fita ou relendo um baralho de cartas. Com computadores modernos, esta deixou de ser um problema</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13</a:t>
            </a:fld>
            <a:endParaRPr lang="pt-BR"/>
          </a:p>
        </p:txBody>
      </p:sp>
    </p:spTree>
    <p:extLst>
      <p:ext uri="{BB962C8B-B14F-4D97-AF65-F5344CB8AC3E}">
        <p14:creationId xmlns:p14="http://schemas.microsoft.com/office/powerpoint/2010/main" val="1440939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dirty="0"/>
              <a:t>Como vimos, podemos criar algumas tabelas para auxiliar no desenvolvimento do nosso </a:t>
            </a:r>
            <a:r>
              <a:rPr lang="pt-BR" sz="1200" dirty="0" err="1"/>
              <a:t>assembler</a:t>
            </a:r>
            <a:r>
              <a:rPr lang="pt-BR" sz="1200" dirty="0"/>
              <a:t>.</a:t>
            </a:r>
            <a:r>
              <a:rPr lang="pt-BR" sz="1200" baseline="0" dirty="0"/>
              <a:t> </a:t>
            </a:r>
            <a:r>
              <a:rPr lang="pt-BR" sz="1200" dirty="0"/>
              <a:t>Para a implementação do Assembler podem ser criados dois tipos de tabelas:</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14</a:t>
            </a:fld>
            <a:endParaRPr lang="pt-BR"/>
          </a:p>
        </p:txBody>
      </p:sp>
    </p:spTree>
    <p:extLst>
      <p:ext uri="{BB962C8B-B14F-4D97-AF65-F5344CB8AC3E}">
        <p14:creationId xmlns:p14="http://schemas.microsoft.com/office/powerpoint/2010/main" val="10811271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a:buChar char="•"/>
            </a:pPr>
            <a:r>
              <a:rPr lang="pt-BR" sz="1200" dirty="0"/>
              <a:t>Controle melhor do loop de execução;</a:t>
            </a:r>
          </a:p>
          <a:p>
            <a:pPr marL="342900" indent="-342900">
              <a:buFont typeface="Arial"/>
              <a:buChar char="•"/>
            </a:pPr>
            <a:r>
              <a:rPr lang="pt-BR" sz="1200" dirty="0"/>
              <a:t>Controle do tempo de execução;</a:t>
            </a:r>
          </a:p>
          <a:p>
            <a:pPr marL="342900" indent="-342900">
              <a:buFont typeface="Arial"/>
              <a:buChar char="•"/>
            </a:pPr>
            <a:r>
              <a:rPr lang="pt-BR" sz="1200" dirty="0"/>
              <a:t>Otimização de </a:t>
            </a:r>
            <a:r>
              <a:rPr lang="pt-BR" sz="1200" dirty="0" err="1"/>
              <a:t>hotspots</a:t>
            </a:r>
            <a:r>
              <a:rPr lang="pt-BR" sz="1200" dirty="0"/>
              <a:t> (</a:t>
            </a:r>
            <a:r>
              <a:rPr lang="pt-BR" sz="1200" dirty="0" err="1"/>
              <a:t>profiling</a:t>
            </a:r>
            <a:r>
              <a:rPr lang="pt-BR" sz="1200" dirty="0"/>
              <a:t>);</a:t>
            </a:r>
          </a:p>
          <a:p>
            <a:pPr marL="342900" indent="-342900">
              <a:buFont typeface="Arial"/>
              <a:buChar char="•"/>
            </a:pPr>
            <a:r>
              <a:rPr lang="pt-BR" sz="1200" dirty="0"/>
              <a:t>Redução do tamanho do programa.</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kern="1200" dirty="0">
              <a:solidFill>
                <a:schemeClr val="tx1"/>
              </a:solidFill>
              <a:effectLst/>
              <a:latin typeface="+mn-lt"/>
              <a:ea typeface="+mn-ea"/>
              <a:cs typeface="+mn-cs"/>
            </a:endParaRPr>
          </a:p>
          <a:p>
            <a:r>
              <a:rPr lang="en-US" dirty="0"/>
              <a:t>Simple machine language, simple assembler</a:t>
            </a:r>
          </a:p>
          <a:p>
            <a:r>
              <a:rPr lang="en-US" dirty="0"/>
              <a:t>Most assemblers are not stand-alone, but rather encapsulated in a translator of a higher order</a:t>
            </a:r>
          </a:p>
          <a:p>
            <a:r>
              <a:rPr lang="en-US" dirty="0"/>
              <a:t>C programmers that understand the code generated by a C compiler can improve their code considerably</a:t>
            </a:r>
          </a:p>
          <a:p>
            <a:r>
              <a:rPr lang="en-US" dirty="0"/>
              <a:t>C programming (e.g. for real-time systems) may involve re-writing critical segments in assembly, for optimization</a:t>
            </a:r>
          </a:p>
          <a:p>
            <a:r>
              <a:rPr lang="en-US" dirty="0"/>
              <a:t>Writing an assembler is an excellent practice for writing more challenging translators, e.g. a VM Translator and a compiler, as we will do in the next lectures.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dirty="0">
                <a:solidFill>
                  <a:schemeClr val="tx1"/>
                </a:solidFill>
                <a:effectLst/>
                <a:latin typeface="+mn-lt"/>
                <a:ea typeface="+mn-ea"/>
                <a:cs typeface="+mn-cs"/>
              </a:rPr>
              <a:t>Compare and Exchange (</a:t>
            </a:r>
            <a:r>
              <a:rPr lang="en-US" sz="1200" b="1" i="0" u="none" strike="noStrike" kern="1200" dirty="0" err="1">
                <a:solidFill>
                  <a:schemeClr val="tx1"/>
                </a:solidFill>
                <a:effectLst/>
                <a:latin typeface="+mn-lt"/>
                <a:ea typeface="+mn-ea"/>
                <a:cs typeface="+mn-cs"/>
              </a:rPr>
              <a:t>cmpxchg</a:t>
            </a:r>
            <a:r>
              <a:rPr lang="en-US" sz="1200" b="1" i="0" u="none" strike="noStrike" kern="1200" dirty="0">
                <a:solidFill>
                  <a:schemeClr val="tx1"/>
                </a:solidFill>
                <a:effectLst/>
                <a:latin typeface="+mn-lt"/>
                <a:ea typeface="+mn-ea"/>
                <a:cs typeface="+mn-cs"/>
              </a:rPr>
              <a:t>)[486]</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15</a:t>
            </a:fld>
            <a:endParaRPr lang="pt-BR"/>
          </a:p>
        </p:txBody>
      </p:sp>
    </p:spTree>
    <p:extLst>
      <p:ext uri="{BB962C8B-B14F-4D97-AF65-F5344CB8AC3E}">
        <p14:creationId xmlns:p14="http://schemas.microsoft.com/office/powerpoint/2010/main" val="9351949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Resumindo então o que um Assembler faz. Ele então traduz códigos de mnemônicos para linguagem</a:t>
            </a:r>
            <a:r>
              <a:rPr lang="pt-BR" baseline="0" dirty="0"/>
              <a:t> de máquina de uma arquitetura específica de forma sistemática. E gerencia possível símbolos que aparecem durante a execução do para endereços de memória. Lembrando que existem diferentes linguagens de máquinas para arquiteturas de computadores diferentes.</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16</a:t>
            </a:fld>
            <a:endParaRPr lang="pt-BR"/>
          </a:p>
        </p:txBody>
      </p:sp>
    </p:spTree>
    <p:extLst>
      <p:ext uri="{BB962C8B-B14F-4D97-AF65-F5344CB8AC3E}">
        <p14:creationId xmlns:p14="http://schemas.microsoft.com/office/powerpoint/2010/main" val="12029787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sp>
        <p:nvSpPr>
          <p:cNvPr id="4" name="Espaço Reservado para Data 3"/>
          <p:cNvSpPr>
            <a:spLocks noGrp="1"/>
          </p:cNvSpPr>
          <p:nvPr>
            <p:ph type="dt" sz="half" idx="10"/>
          </p:nvPr>
        </p:nvSpPr>
        <p:spPr/>
        <p:txBody>
          <a:bodyPr/>
          <a:lstStyle>
            <a:lvl1pPr>
              <a:defRPr>
                <a:solidFill>
                  <a:srgbClr val="BCBEC0"/>
                </a:solidFill>
              </a:defRPr>
            </a:lvl1pPr>
          </a:lstStyle>
          <a:p>
            <a:fld id="{CC8788FA-9D8F-3C45-9A7B-393163C83DF0}" type="datetime1">
              <a:rPr lang="en-US" smtClean="0"/>
              <a:t>10/5/26</a:t>
            </a:fld>
            <a:endParaRPr lang="pt-BR" dirty="0"/>
          </a:p>
        </p:txBody>
      </p:sp>
      <p:sp>
        <p:nvSpPr>
          <p:cNvPr id="5" name="Espaço Reservado para Rodapé 4"/>
          <p:cNvSpPr>
            <a:spLocks noGrp="1"/>
          </p:cNvSpPr>
          <p:nvPr>
            <p:ph type="ftr" sz="quarter" idx="11"/>
          </p:nvPr>
        </p:nvSpPr>
        <p:spPr/>
        <p:txBody>
          <a:bodyPr/>
          <a:lstStyle>
            <a:lvl1pPr>
              <a:defRPr>
                <a:solidFill>
                  <a:srgbClr val="BCBEC0"/>
                </a:solidFill>
              </a:defRPr>
            </a:lvl1pPr>
          </a:lstStyle>
          <a:p>
            <a:endParaRPr lang="pt-BR" dirty="0"/>
          </a:p>
        </p:txBody>
      </p:sp>
      <p:sp>
        <p:nvSpPr>
          <p:cNvPr id="6" name="Espaço Reservado para Número de Slide 5"/>
          <p:cNvSpPr>
            <a:spLocks noGrp="1"/>
          </p:cNvSpPr>
          <p:nvPr>
            <p:ph type="sldNum" sz="quarter" idx="12"/>
          </p:nvPr>
        </p:nvSpPr>
        <p:spPr/>
        <p:txBody>
          <a:bodyPr/>
          <a:lstStyle>
            <a:lvl1pPr>
              <a:defRPr>
                <a:solidFill>
                  <a:srgbClr val="BCBEC0"/>
                </a:solidFill>
              </a:defRPr>
            </a:lvl1pPr>
          </a:lstStyle>
          <a:p>
            <a:fld id="{7FFE5E5C-C80A-4D8D-A711-3102A7BA9258}" type="slidenum">
              <a:rPr lang="pt-BR" smtClean="0"/>
              <a:pPr/>
              <a:t>‹#›</a:t>
            </a:fld>
            <a:endParaRPr lang="pt-BR" dirty="0"/>
          </a:p>
        </p:txBody>
      </p:sp>
      <p:pic>
        <p:nvPicPr>
          <p:cNvPr id="7" name="Imagem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857" y="0"/>
            <a:ext cx="9138285" cy="6858000"/>
          </a:xfrm>
          <a:prstGeom prst="rect">
            <a:avLst/>
          </a:prstGeom>
        </p:spPr>
      </p:pic>
      <p:sp>
        <p:nvSpPr>
          <p:cNvPr id="9" name="Espaço Reservado para Conteúdo 2"/>
          <p:cNvSpPr>
            <a:spLocks noGrp="1"/>
          </p:cNvSpPr>
          <p:nvPr>
            <p:ph idx="1" hasCustomPrompt="1"/>
          </p:nvPr>
        </p:nvSpPr>
        <p:spPr>
          <a:xfrm>
            <a:off x="966786" y="2714625"/>
            <a:ext cx="7343775" cy="714375"/>
          </a:xfrm>
          <a:prstGeom prst="rect">
            <a:avLst/>
          </a:prstGeom>
        </p:spPr>
        <p:txBody>
          <a:bodyPr>
            <a:normAutofit/>
          </a:bodyPr>
          <a:lstStyle>
            <a:lvl1pPr marL="0" indent="0" algn="ctr">
              <a:buFontTx/>
              <a:buNone/>
              <a:defRPr sz="3600" b="1">
                <a:solidFill>
                  <a:schemeClr val="bg1"/>
                </a:solidFill>
              </a:defRPr>
            </a:lvl1pPr>
            <a:lvl2pPr>
              <a:defRPr sz="1800"/>
            </a:lvl2pPr>
            <a:lvl3pPr>
              <a:defRPr sz="1800"/>
            </a:lvl3pPr>
            <a:lvl4pPr>
              <a:defRPr sz="1800"/>
            </a:lvl4pPr>
            <a:lvl5pPr>
              <a:defRPr sz="1800"/>
            </a:lvl5pPr>
          </a:lstStyle>
          <a:p>
            <a:pPr lvl="0"/>
            <a:r>
              <a:rPr lang="pt-BR" dirty="0"/>
              <a:t>Clique para editar o título</a:t>
            </a:r>
          </a:p>
        </p:txBody>
      </p:sp>
      <p:sp>
        <p:nvSpPr>
          <p:cNvPr id="10" name="Espaço Reservado para Conteúdo 2"/>
          <p:cNvSpPr>
            <a:spLocks noGrp="1"/>
          </p:cNvSpPr>
          <p:nvPr>
            <p:ph idx="13" hasCustomPrompt="1"/>
          </p:nvPr>
        </p:nvSpPr>
        <p:spPr>
          <a:xfrm>
            <a:off x="966786" y="3429001"/>
            <a:ext cx="7343775" cy="476250"/>
          </a:xfrm>
          <a:prstGeom prst="rect">
            <a:avLst/>
          </a:prstGeom>
        </p:spPr>
        <p:txBody>
          <a:bodyPr>
            <a:normAutofit/>
          </a:bodyPr>
          <a:lstStyle>
            <a:lvl1pPr marL="0" indent="0" algn="ctr">
              <a:buFontTx/>
              <a:buNone/>
              <a:defRPr sz="2000" b="0">
                <a:solidFill>
                  <a:schemeClr val="bg1"/>
                </a:solidFill>
              </a:defRPr>
            </a:lvl1pPr>
            <a:lvl2pPr>
              <a:defRPr sz="1800"/>
            </a:lvl2pPr>
            <a:lvl3pPr>
              <a:defRPr sz="1800"/>
            </a:lvl3pPr>
            <a:lvl4pPr>
              <a:defRPr sz="1800"/>
            </a:lvl4pPr>
            <a:lvl5pPr>
              <a:defRPr sz="1800"/>
            </a:lvl5pPr>
          </a:lstStyle>
          <a:p>
            <a:pPr lvl="0"/>
            <a:r>
              <a:rPr lang="pt-BR" dirty="0"/>
              <a:t>Clique para editar o subtítulo</a:t>
            </a:r>
          </a:p>
        </p:txBody>
      </p:sp>
      <p:sp>
        <p:nvSpPr>
          <p:cNvPr id="11" name="Espaço Reservado para Conteúdo 2"/>
          <p:cNvSpPr>
            <a:spLocks noGrp="1"/>
          </p:cNvSpPr>
          <p:nvPr>
            <p:ph idx="14" hasCustomPrompt="1"/>
          </p:nvPr>
        </p:nvSpPr>
        <p:spPr>
          <a:xfrm>
            <a:off x="900111" y="6356349"/>
            <a:ext cx="7343775" cy="238125"/>
          </a:xfrm>
          <a:prstGeom prst="rect">
            <a:avLst/>
          </a:prstGeom>
        </p:spPr>
        <p:txBody>
          <a:bodyPr>
            <a:normAutofit/>
          </a:bodyPr>
          <a:lstStyle>
            <a:lvl1pPr marL="0" indent="0" algn="ctr">
              <a:buFontTx/>
              <a:buNone/>
              <a:defRPr sz="1400" b="0" baseline="0">
                <a:solidFill>
                  <a:schemeClr val="bg1"/>
                </a:solidFill>
              </a:defRPr>
            </a:lvl1pPr>
            <a:lvl2pPr>
              <a:defRPr sz="1800"/>
            </a:lvl2pPr>
            <a:lvl3pPr>
              <a:defRPr sz="1800"/>
            </a:lvl3pPr>
            <a:lvl4pPr>
              <a:defRPr sz="1800"/>
            </a:lvl4pPr>
            <a:lvl5pPr>
              <a:defRPr sz="1800"/>
            </a:lvl5pPr>
          </a:lstStyle>
          <a:p>
            <a:pPr lvl="0"/>
            <a:r>
              <a:rPr lang="pt-BR" dirty="0"/>
              <a:t>Clique para editar a data e o nome da área ou disciplina</a:t>
            </a:r>
          </a:p>
        </p:txBody>
      </p:sp>
    </p:spTree>
    <p:extLst>
      <p:ext uri="{BB962C8B-B14F-4D97-AF65-F5344CB8AC3E}">
        <p14:creationId xmlns:p14="http://schemas.microsoft.com/office/powerpoint/2010/main" val="2529634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0"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1" name="Espaço Reservado para Conteúdo 2"/>
          <p:cNvSpPr>
            <a:spLocks noGrp="1"/>
          </p:cNvSpPr>
          <p:nvPr>
            <p:ph idx="1"/>
          </p:nvPr>
        </p:nvSpPr>
        <p:spPr>
          <a:xfrm>
            <a:off x="657225" y="1485900"/>
            <a:ext cx="8029575"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2"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5" name="Espaço Reservado para Número de Slide 5"/>
          <p:cNvSpPr>
            <a:spLocks noGrp="1"/>
          </p:cNvSpPr>
          <p:nvPr>
            <p:ph type="sldNum" sz="quarter" idx="4"/>
          </p:nvPr>
        </p:nvSpPr>
        <p:spPr>
          <a:xfrm>
            <a:off x="84172" y="6402174"/>
            <a:ext cx="641516" cy="365125"/>
          </a:xfrm>
          <a:prstGeom prst="rect">
            <a:avLst/>
          </a:prstGeom>
        </p:spPr>
        <p:txBody>
          <a:bodyPr vert="horz" lIns="91440" tIns="45720" rIns="91440" bIns="45720" rtlCol="0" anchor="ctr"/>
          <a:lstStyle>
            <a:lvl1pPr algn="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7FFE5E5C-C80A-4D8D-A711-3102A7BA9258}" type="slidenum">
              <a:rPr lang="pt-BR" smtClean="0"/>
              <a:pPr/>
              <a:t>‹#›</a:t>
            </a:fld>
            <a:endParaRPr lang="pt-BR" dirty="0"/>
          </a:p>
        </p:txBody>
      </p:sp>
    </p:spTree>
    <p:extLst>
      <p:ext uri="{BB962C8B-B14F-4D97-AF65-F5344CB8AC3E}">
        <p14:creationId xmlns:p14="http://schemas.microsoft.com/office/powerpoint/2010/main" val="848132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AB1C2149-89A1-2143-B6CB-10E4BD2D3370}" type="datetime1">
              <a:rPr lang="en-US" smtClean="0"/>
              <a:t>10/5/26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a:xfrm>
            <a:off x="6553200" y="6356350"/>
            <a:ext cx="1635760" cy="365125"/>
          </a:xfrm>
        </p:spPr>
        <p:txBody>
          <a:bodyPr/>
          <a:lstStyle/>
          <a:p>
            <a:fld id="{7FFE5E5C-C80A-4D8D-A711-3102A7BA9258}" type="slidenum">
              <a:rPr lang="pt-BR" smtClean="0"/>
              <a:t>‹#›</a:t>
            </a:fld>
            <a:endParaRPr lang="pt-BR"/>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18" name="Espaço Reservado para Texto 4"/>
          <p:cNvSpPr>
            <a:spLocks noGrp="1"/>
          </p:cNvSpPr>
          <p:nvPr>
            <p:ph type="body" sz="quarter" idx="15" hasCustomPrompt="1"/>
          </p:nvPr>
        </p:nvSpPr>
        <p:spPr>
          <a:xfrm>
            <a:off x="4714875" y="1484313"/>
            <a:ext cx="3971925" cy="639762"/>
          </a:xfrm>
          <a:prstGeom prst="rect">
            <a:avLst/>
          </a:prstGeo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dirty="0"/>
              <a:t>Clique para editar subtítulo mestre</a:t>
            </a:r>
          </a:p>
        </p:txBody>
      </p:sp>
      <p:sp>
        <p:nvSpPr>
          <p:cNvPr id="20" name="Espaço Reservado para Texto 4"/>
          <p:cNvSpPr>
            <a:spLocks noGrp="1"/>
          </p:cNvSpPr>
          <p:nvPr>
            <p:ph type="body" sz="quarter" idx="16" hasCustomPrompt="1"/>
          </p:nvPr>
        </p:nvSpPr>
        <p:spPr>
          <a:xfrm>
            <a:off x="657225" y="1487488"/>
            <a:ext cx="3971925" cy="639762"/>
          </a:xfrm>
          <a:prstGeom prst="rect">
            <a:avLst/>
          </a:prstGeo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dirty="0"/>
              <a:t>Clique para editar subtítulo mestre</a:t>
            </a:r>
          </a:p>
        </p:txBody>
      </p:sp>
      <p:sp>
        <p:nvSpPr>
          <p:cNvPr id="21" name="Espaço Reservado para Conteúdo 2"/>
          <p:cNvSpPr>
            <a:spLocks noGrp="1"/>
          </p:cNvSpPr>
          <p:nvPr>
            <p:ph idx="1"/>
          </p:nvPr>
        </p:nvSpPr>
        <p:spPr>
          <a:xfrm>
            <a:off x="657225" y="2181225"/>
            <a:ext cx="3971925" cy="3962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2190750"/>
            <a:ext cx="3971925" cy="3962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 name="TextBox 1"/>
          <p:cNvSpPr txBox="1"/>
          <p:nvPr userDrawn="1"/>
        </p:nvSpPr>
        <p:spPr>
          <a:xfrm>
            <a:off x="7640320" y="6482080"/>
            <a:ext cx="184731" cy="369332"/>
          </a:xfrm>
          <a:prstGeom prst="rect">
            <a:avLst/>
          </a:prstGeom>
          <a:noFill/>
        </p:spPr>
        <p:txBody>
          <a:bodyPr wrap="none" rtlCol="0">
            <a:spAutoFit/>
          </a:bodyPr>
          <a:lstStyle/>
          <a:p>
            <a:endParaRPr lang="en-US"/>
          </a:p>
        </p:txBody>
      </p:sp>
      <p:sp>
        <p:nvSpPr>
          <p:cNvPr id="3" name="TextBox 2"/>
          <p:cNvSpPr txBox="1"/>
          <p:nvPr userDrawn="1"/>
        </p:nvSpPr>
        <p:spPr>
          <a:xfrm>
            <a:off x="7112000" y="6563360"/>
            <a:ext cx="396240" cy="369332"/>
          </a:xfrm>
          <a:prstGeom prst="rect">
            <a:avLst/>
          </a:prstGeom>
          <a:noFill/>
        </p:spPr>
        <p:txBody>
          <a:bodyPr wrap="square" rtlCol="0">
            <a:spAutoFit/>
          </a:bodyPr>
          <a:lstStyle/>
          <a:p>
            <a:endParaRPr lang="en-US"/>
          </a:p>
        </p:txBody>
      </p:sp>
      <p:sp>
        <p:nvSpPr>
          <p:cNvPr id="13" name="TextBox 12"/>
          <p:cNvSpPr txBox="1"/>
          <p:nvPr userDrawn="1"/>
        </p:nvSpPr>
        <p:spPr>
          <a:xfrm>
            <a:off x="7106920" y="6356350"/>
            <a:ext cx="396240"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3099308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372D7956-45FE-0B43-9FB1-4BE9D905D684}" type="datetime1">
              <a:rPr lang="en-US" smtClean="0"/>
              <a:t>10/5/26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7FFE5E5C-C80A-4D8D-A711-3102A7BA9258}" type="slidenum">
              <a:rPr lang="pt-BR" smtClean="0"/>
              <a:t>‹#›</a:t>
            </a:fld>
            <a:endParaRPr lang="pt-BR"/>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21" name="Espaço Reservado para Conteúdo 2"/>
          <p:cNvSpPr>
            <a:spLocks noGrp="1"/>
          </p:cNvSpPr>
          <p:nvPr>
            <p:ph idx="1"/>
          </p:nvPr>
        </p:nvSpPr>
        <p:spPr>
          <a:xfrm>
            <a:off x="657225" y="1476375"/>
            <a:ext cx="3971925" cy="466725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1476375"/>
            <a:ext cx="3971925" cy="46767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3900368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2316C89B-46A1-944B-8294-819B08567B54}" type="datetime1">
              <a:rPr lang="en-US" smtClean="0"/>
              <a:t>10/5/26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a:xfrm>
            <a:off x="6553200" y="6356350"/>
            <a:ext cx="1503680" cy="365125"/>
          </a:xfrm>
        </p:spPr>
        <p:txBody>
          <a:bodyPr/>
          <a:lstStyle/>
          <a:p>
            <a:fld id="{7FFE5E5C-C80A-4D8D-A711-3102A7BA9258}" type="slidenum">
              <a:rPr lang="pt-BR" smtClean="0"/>
              <a:t>‹#›</a:t>
            </a:fld>
            <a:endParaRPr lang="pt-BR" dirty="0"/>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21" name="Espaço Reservado para Conteúdo 2"/>
          <p:cNvSpPr>
            <a:spLocks noGrp="1"/>
          </p:cNvSpPr>
          <p:nvPr>
            <p:ph idx="1"/>
          </p:nvPr>
        </p:nvSpPr>
        <p:spPr>
          <a:xfrm>
            <a:off x="657225" y="1476374"/>
            <a:ext cx="3971925" cy="24288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1476375"/>
            <a:ext cx="3971925" cy="46767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0" name="Espaço Reservado para Imagem 2"/>
          <p:cNvSpPr>
            <a:spLocks noGrp="1"/>
          </p:cNvSpPr>
          <p:nvPr>
            <p:ph type="pic" idx="15"/>
          </p:nvPr>
        </p:nvSpPr>
        <p:spPr>
          <a:xfrm>
            <a:off x="657224" y="4086225"/>
            <a:ext cx="3971925" cy="170497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11" name="Espaço Reservado para Texto 7"/>
          <p:cNvSpPr>
            <a:spLocks noGrp="1"/>
          </p:cNvSpPr>
          <p:nvPr>
            <p:ph type="body" sz="quarter" idx="16" hasCustomPrompt="1"/>
          </p:nvPr>
        </p:nvSpPr>
        <p:spPr>
          <a:xfrm>
            <a:off x="657225" y="5791200"/>
            <a:ext cx="3971924" cy="352425"/>
          </a:xfrm>
          <a:prstGeom prst="rect">
            <a:avLst/>
          </a:prstGeom>
        </p:spPr>
        <p:txBody>
          <a:bodyPr>
            <a:normAutofit/>
          </a:bodyPr>
          <a:lstStyle>
            <a:lvl1pPr marL="0" indent="0">
              <a:buNone/>
              <a:defRPr sz="1100" b="0" i="1" baseline="0">
                <a:solidFill>
                  <a:srgbClr val="BCBEC0"/>
                </a:solidFill>
              </a:defRPr>
            </a:lvl1pPr>
          </a:lstStyle>
          <a:p>
            <a:pPr lvl="0"/>
            <a:r>
              <a:rPr lang="pt-BR" dirty="0"/>
              <a:t>Clique para editar a legenda mestre</a:t>
            </a:r>
          </a:p>
        </p:txBody>
      </p:sp>
      <p:sp>
        <p:nvSpPr>
          <p:cNvPr id="12" name="TextBox 11"/>
          <p:cNvSpPr txBox="1"/>
          <p:nvPr userDrawn="1"/>
        </p:nvSpPr>
        <p:spPr>
          <a:xfrm>
            <a:off x="7386320" y="6356350"/>
            <a:ext cx="467360"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1874775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m com Legenda">
    <p:spTree>
      <p:nvGrpSpPr>
        <p:cNvPr id="1" name=""/>
        <p:cNvGrpSpPr/>
        <p:nvPr/>
      </p:nvGrpSpPr>
      <p:grpSpPr>
        <a:xfrm>
          <a:off x="0" y="0"/>
          <a:ext cx="0" cy="0"/>
          <a:chOff x="0" y="0"/>
          <a:chExt cx="0" cy="0"/>
        </a:xfrm>
      </p:grpSpPr>
      <p:sp>
        <p:nvSpPr>
          <p:cNvPr id="3" name="Espaço Reservado para Imagem 2"/>
          <p:cNvSpPr>
            <a:spLocks noGrp="1"/>
          </p:cNvSpPr>
          <p:nvPr>
            <p:ph type="pic" idx="1"/>
          </p:nvPr>
        </p:nvSpPr>
        <p:spPr>
          <a:xfrm>
            <a:off x="4924424" y="0"/>
            <a:ext cx="4219575" cy="6858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5" name="Espaço Reservado para Data 4"/>
          <p:cNvSpPr>
            <a:spLocks noGrp="1"/>
          </p:cNvSpPr>
          <p:nvPr>
            <p:ph type="dt" sz="half" idx="10"/>
          </p:nvPr>
        </p:nvSpPr>
        <p:spPr/>
        <p:txBody>
          <a:bodyPr/>
          <a:lstStyle/>
          <a:p>
            <a:fld id="{02FE0B43-6A8C-D94C-A4F4-9A1865BE9A40}" type="datetime1">
              <a:rPr lang="en-US" smtClean="0"/>
              <a:t>10/5/26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FFE5E5C-C80A-4D8D-A711-3102A7BA9258}" type="slidenum">
              <a:rPr lang="pt-BR" smtClean="0"/>
              <a:t>‹#›</a:t>
            </a:fld>
            <a:endParaRPr lang="pt-BR"/>
          </a:p>
        </p:txBody>
      </p:sp>
      <p:sp>
        <p:nvSpPr>
          <p:cNvPr id="8" name="Título 1"/>
          <p:cNvSpPr>
            <a:spLocks noGrp="1"/>
          </p:cNvSpPr>
          <p:nvPr>
            <p:ph type="title" hasCustomPrompt="1"/>
          </p:nvPr>
        </p:nvSpPr>
        <p:spPr>
          <a:xfrm>
            <a:off x="457200" y="781050"/>
            <a:ext cx="4363508" cy="619125"/>
          </a:xfrm>
          <a:prstGeom prst="rect">
            <a:avLst/>
          </a:prstGeom>
        </p:spPr>
        <p:txBody>
          <a:bodyPr/>
          <a:lstStyle>
            <a:lvl1pPr>
              <a:defRPr baseline="0"/>
            </a:lvl1pPr>
          </a:lstStyle>
          <a:p>
            <a:r>
              <a:rPr lang="pt-BR" dirty="0"/>
              <a:t>Edite o título mestre</a:t>
            </a:r>
          </a:p>
        </p:txBody>
      </p:sp>
      <p:sp>
        <p:nvSpPr>
          <p:cNvPr id="9" name="Espaço Reservado para Conteúdo 2"/>
          <p:cNvSpPr>
            <a:spLocks noGrp="1"/>
          </p:cNvSpPr>
          <p:nvPr>
            <p:ph idx="13"/>
          </p:nvPr>
        </p:nvSpPr>
        <p:spPr>
          <a:xfrm>
            <a:off x="657225" y="1485900"/>
            <a:ext cx="4163483"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3451088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2" name="Picture 1" descr="fundo_ppt1.jpg"/>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10"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1" name="Espaço Reservado para Conteúdo 2"/>
          <p:cNvSpPr>
            <a:spLocks noGrp="1"/>
          </p:cNvSpPr>
          <p:nvPr>
            <p:ph idx="1"/>
          </p:nvPr>
        </p:nvSpPr>
        <p:spPr>
          <a:xfrm>
            <a:off x="657225" y="1485900"/>
            <a:ext cx="8029575"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2"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2" descr="fundo_ppt1_ok.jpg"/>
          <p:cNvPicPr>
            <a:picLocks noChangeAspect="1"/>
          </p:cNvPicPr>
          <p:nvPr userDrawn="1"/>
        </p:nvPicPr>
        <p:blipFill>
          <a:blip r:embed="rId9">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A8EA56D1-9008-324A-AE78-6F3716B85DF9}" type="datetime1">
              <a:rPr lang="en-US" smtClean="0"/>
              <a:t>10/5/26</a:t>
            </a:fld>
            <a:endParaRPr lang="pt-BR" dirty="0"/>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endParaRPr lang="pt-BR" dirty="0"/>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7FFE5E5C-C80A-4D8D-A711-3102A7BA9258}" type="slidenum">
              <a:rPr lang="pt-BR" smtClean="0"/>
              <a:pPr/>
              <a:t>‹#›</a:t>
            </a:fld>
            <a:endParaRPr lang="pt-BR" dirty="0"/>
          </a:p>
        </p:txBody>
      </p:sp>
    </p:spTree>
    <p:extLst>
      <p:ext uri="{BB962C8B-B14F-4D97-AF65-F5344CB8AC3E}">
        <p14:creationId xmlns:p14="http://schemas.microsoft.com/office/powerpoint/2010/main" val="695403014"/>
      </p:ext>
    </p:extLst>
  </p:cSld>
  <p:clrMap bg1="lt1" tx1="dk1" bg2="lt2" tx2="dk2" accent1="accent1" accent2="accent2" accent3="accent3" accent4="accent4" accent5="accent5" accent6="accent6" hlink="hlink" folHlink="folHlink"/>
  <p:sldLayoutIdLst>
    <p:sldLayoutId id="2147483653" r:id="rId1"/>
    <p:sldLayoutId id="2147483668" r:id="rId2"/>
    <p:sldLayoutId id="2147483656" r:id="rId3"/>
    <p:sldLayoutId id="2147483666" r:id="rId4"/>
    <p:sldLayoutId id="2147483667" r:id="rId5"/>
    <p:sldLayoutId id="2147483660" r:id="rId6"/>
    <p:sldLayoutId id="2147483662" r:id="rId7"/>
  </p:sldLayoutIdLst>
  <p:hf hdr="0" ftr="0" dt="0"/>
  <p:txStyles>
    <p:titleStyle>
      <a:lvl1pPr algn="l" defTabSz="914400" rtl="0" eaLnBrk="1" latinLnBrk="0" hangingPunct="1">
        <a:spcBef>
          <a:spcPct val="0"/>
        </a:spcBef>
        <a:buNone/>
        <a:defRPr sz="3200" kern="1200">
          <a:solidFill>
            <a:srgbClr val="C00026"/>
          </a:solidFill>
          <a:latin typeface="Verdana" panose="020B0604030504040204" pitchFamily="34" charset="0"/>
          <a:ea typeface="Verdana" panose="020B0604030504040204" pitchFamily="34" charset="0"/>
          <a:cs typeface="Verdana" panose="020B060403050404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1800" b="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psoares@insper.edu.br?subject=e-mail%20professor%20Luciano%20Soare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966786" y="2384425"/>
            <a:ext cx="7343775" cy="714375"/>
          </a:xfrm>
        </p:spPr>
        <p:txBody>
          <a:bodyPr>
            <a:normAutofit fontScale="32500" lnSpcReduction="20000"/>
          </a:bodyPr>
          <a:lstStyle/>
          <a:p>
            <a:pPr lvl="0" defTabSz="457200">
              <a:spcBef>
                <a:spcPct val="0"/>
              </a:spcBef>
              <a:spcAft>
                <a:spcPts val="600"/>
              </a:spcAft>
              <a:defRPr/>
            </a:pPr>
            <a:r>
              <a:rPr lang="pt-BR" sz="14400" dirty="0">
                <a:latin typeface="Verdana"/>
                <a:cs typeface="Verdana"/>
              </a:rPr>
              <a:t>Bits e Processadores</a:t>
            </a:r>
          </a:p>
        </p:txBody>
      </p:sp>
      <p:sp>
        <p:nvSpPr>
          <p:cNvPr id="3" name="Espaço Reservado para Conteúdo 2"/>
          <p:cNvSpPr>
            <a:spLocks noGrp="1"/>
          </p:cNvSpPr>
          <p:nvPr>
            <p:ph idx="13"/>
          </p:nvPr>
        </p:nvSpPr>
        <p:spPr/>
        <p:txBody>
          <a:bodyPr/>
          <a:lstStyle/>
          <a:p>
            <a:r>
              <a:rPr lang="pt-BR" dirty="0">
                <a:latin typeface="Verdana"/>
                <a:cs typeface="Verdana"/>
              </a:rPr>
              <a:t>Assembler</a:t>
            </a:r>
          </a:p>
          <a:p>
            <a:endParaRPr lang="pt-BR" dirty="0"/>
          </a:p>
        </p:txBody>
      </p:sp>
      <p:sp>
        <p:nvSpPr>
          <p:cNvPr id="5" name="Rectangle 4"/>
          <p:cNvSpPr/>
          <p:nvPr/>
        </p:nvSpPr>
        <p:spPr>
          <a:xfrm>
            <a:off x="50800" y="4539921"/>
            <a:ext cx="9093200" cy="1131079"/>
          </a:xfrm>
          <a:prstGeom prst="rect">
            <a:avLst/>
          </a:prstGeom>
        </p:spPr>
        <p:txBody>
          <a:bodyPr wrap="square">
            <a:spAutoFit/>
          </a:bodyPr>
          <a:lstStyle/>
          <a:p>
            <a:r>
              <a:rPr lang="pt-BR" sz="1650" dirty="0">
                <a:solidFill>
                  <a:schemeClr val="bg1"/>
                </a:solidFill>
              </a:rPr>
              <a:t>"O que há num nome? O que chamamos de rosa com qualquer outro nome teria o mesmo aroma doce"</a:t>
            </a:r>
          </a:p>
          <a:p>
            <a:r>
              <a:rPr lang="pt-BR" sz="1650" dirty="0">
                <a:solidFill>
                  <a:schemeClr val="bg1"/>
                </a:solidFill>
              </a:rPr>
              <a:t>"</a:t>
            </a:r>
            <a:r>
              <a:rPr lang="en-US" sz="1650" dirty="0">
                <a:solidFill>
                  <a:schemeClr val="bg1"/>
                </a:solidFill>
              </a:rPr>
              <a:t>What’s in a name? That which we call a rose by any other name would smell as sweet."</a:t>
            </a:r>
          </a:p>
          <a:p>
            <a:r>
              <a:rPr lang="en-US" sz="1650" b="1" dirty="0">
                <a:solidFill>
                  <a:schemeClr val="bg1"/>
                </a:solidFill>
              </a:rPr>
              <a:t>William Shakespeare </a:t>
            </a:r>
            <a:r>
              <a:rPr lang="en-US" sz="1650" dirty="0">
                <a:solidFill>
                  <a:schemeClr val="bg1"/>
                </a:solidFill>
              </a:rPr>
              <a:t>(1564–1616),</a:t>
            </a:r>
            <a:r>
              <a:rPr lang="pt-BR" sz="1650" dirty="0">
                <a:solidFill>
                  <a:schemeClr val="bg1"/>
                </a:solidFill>
              </a:rPr>
              <a:t> Poeta Inglês</a:t>
            </a:r>
          </a:p>
          <a:p>
            <a:r>
              <a:rPr lang="pt-BR" sz="1650" b="1" dirty="0">
                <a:solidFill>
                  <a:schemeClr val="bg1"/>
                </a:solidFill>
              </a:rPr>
              <a:t>apud </a:t>
            </a:r>
            <a:r>
              <a:rPr lang="pt-BR" sz="1650" b="1" dirty="0" err="1">
                <a:solidFill>
                  <a:schemeClr val="bg1"/>
                </a:solidFill>
              </a:rPr>
              <a:t>Nisan</a:t>
            </a:r>
            <a:r>
              <a:rPr lang="pt-BR" sz="1650" b="1" dirty="0">
                <a:solidFill>
                  <a:schemeClr val="bg1"/>
                </a:solidFill>
              </a:rPr>
              <a:t>, N. &amp; </a:t>
            </a:r>
            <a:r>
              <a:rPr lang="pt-BR" sz="1650" b="1" dirty="0" err="1">
                <a:solidFill>
                  <a:schemeClr val="bg1"/>
                </a:solidFill>
              </a:rPr>
              <a:t>Schocken</a:t>
            </a:r>
            <a:r>
              <a:rPr lang="pt-BR" sz="1650" b="1" dirty="0">
                <a:solidFill>
                  <a:schemeClr val="bg1"/>
                </a:solidFill>
              </a:rPr>
              <a:t>, S. 2005. </a:t>
            </a:r>
            <a:r>
              <a:rPr lang="en-US" sz="1650" b="1" dirty="0">
                <a:solidFill>
                  <a:schemeClr val="bg1"/>
                </a:solidFill>
              </a:rPr>
              <a:t>Elements of Computing Systems</a:t>
            </a:r>
          </a:p>
        </p:txBody>
      </p:sp>
      <p:sp>
        <p:nvSpPr>
          <p:cNvPr id="8" name="Espaço Reservado para Conteúdo 3"/>
          <p:cNvSpPr>
            <a:spLocks noGrp="1"/>
          </p:cNvSpPr>
          <p:nvPr>
            <p:ph idx="14"/>
          </p:nvPr>
        </p:nvSpPr>
        <p:spPr>
          <a:xfrm>
            <a:off x="900111" y="6233375"/>
            <a:ext cx="7343775" cy="361099"/>
          </a:xfrm>
        </p:spPr>
        <p:txBody>
          <a:bodyPr>
            <a:normAutofit/>
          </a:bodyPr>
          <a:lstStyle/>
          <a:p>
            <a:pPr algn="r"/>
            <a:r>
              <a:rPr lang="pt-BR" dirty="0"/>
              <a:t>Ciência da Computação - Luciano Soares </a:t>
            </a:r>
            <a:r>
              <a:rPr lang="pt-BR" dirty="0">
                <a:solidFill>
                  <a:schemeClr val="tx2">
                    <a:lumMod val="40000"/>
                    <a:lumOff val="60000"/>
                  </a:schemeClr>
                </a:solidFill>
                <a:hlinkClick r:id="rId3" invalidUrl="mailto:lpsoares@insper.edu.br?subject=e-mail professor Luciano Soares"/>
              </a:rPr>
              <a:t>&lt;lpsoares@insper.edu.br&gt;</a:t>
            </a:r>
            <a:endParaRPr lang="pt-BR" dirty="0">
              <a:solidFill>
                <a:schemeClr val="tx2">
                  <a:lumMod val="40000"/>
                  <a:lumOff val="60000"/>
                </a:schemeClr>
              </a:solidFill>
            </a:endParaRPr>
          </a:p>
          <a:p>
            <a:pPr algn="r"/>
            <a:endParaRPr lang="pt-BR" dirty="0"/>
          </a:p>
          <a:p>
            <a:pPr algn="r"/>
            <a:endParaRPr lang="pt-BR" dirty="0"/>
          </a:p>
        </p:txBody>
      </p:sp>
    </p:spTree>
    <p:extLst>
      <p:ext uri="{BB962C8B-B14F-4D97-AF65-F5344CB8AC3E}">
        <p14:creationId xmlns:p14="http://schemas.microsoft.com/office/powerpoint/2010/main" val="178358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EDSAC</a:t>
            </a:r>
          </a:p>
        </p:txBody>
      </p:sp>
      <p:sp>
        <p:nvSpPr>
          <p:cNvPr id="3" name="Content Placeholder 2"/>
          <p:cNvSpPr>
            <a:spLocks noGrp="1"/>
          </p:cNvSpPr>
          <p:nvPr>
            <p:ph idx="1"/>
          </p:nvPr>
        </p:nvSpPr>
        <p:spPr>
          <a:xfrm>
            <a:off x="657225" y="1485900"/>
            <a:ext cx="8029575" cy="1126671"/>
          </a:xfrm>
        </p:spPr>
        <p:txBody>
          <a:bodyPr>
            <a:normAutofit/>
          </a:bodyPr>
          <a:lstStyle/>
          <a:p>
            <a:r>
              <a:rPr lang="pt-BR" sz="2000" dirty="0"/>
              <a:t>O EDSAC (</a:t>
            </a:r>
            <a:r>
              <a:rPr lang="en-US" sz="2000" noProof="0" dirty="0"/>
              <a:t>Electronic Delay Storage Automatic Calculator</a:t>
            </a:r>
            <a:r>
              <a:rPr lang="pt-BR" sz="2000" dirty="0"/>
              <a:t>)  é creditado como um dos primeiros computadores a utilizar um Assembler.</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a:t>
            </a:fld>
            <a:endParaRPr lang="pt-BR" dirty="0"/>
          </a:p>
        </p:txBody>
      </p:sp>
      <p:pic>
        <p:nvPicPr>
          <p:cNvPr id="7" name="Picture 6" descr="edsac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5105" y="2826629"/>
            <a:ext cx="3819076" cy="2436571"/>
          </a:xfrm>
          <a:prstGeom prst="rect">
            <a:avLst/>
          </a:prstGeom>
        </p:spPr>
      </p:pic>
      <p:pic>
        <p:nvPicPr>
          <p:cNvPr id="8" name="Picture 7" descr="edsac.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97942" y="2829558"/>
            <a:ext cx="3057339" cy="2433642"/>
          </a:xfrm>
          <a:prstGeom prst="rect">
            <a:avLst/>
          </a:prstGeom>
        </p:spPr>
      </p:pic>
      <p:sp>
        <p:nvSpPr>
          <p:cNvPr id="9" name="Rectangle 8"/>
          <p:cNvSpPr/>
          <p:nvPr/>
        </p:nvSpPr>
        <p:spPr>
          <a:xfrm>
            <a:off x="1922868" y="5263200"/>
            <a:ext cx="1773178" cy="369332"/>
          </a:xfrm>
          <a:prstGeom prst="rect">
            <a:avLst/>
          </a:prstGeom>
        </p:spPr>
        <p:txBody>
          <a:bodyPr wrap="none">
            <a:spAutoFit/>
          </a:bodyPr>
          <a:lstStyle/>
          <a:p>
            <a:r>
              <a:rPr lang="pt-BR" dirty="0"/>
              <a:t>Painel do EDSAC.</a:t>
            </a:r>
          </a:p>
        </p:txBody>
      </p:sp>
      <p:sp>
        <p:nvSpPr>
          <p:cNvPr id="10" name="Rectangle 9"/>
          <p:cNvSpPr/>
          <p:nvPr/>
        </p:nvSpPr>
        <p:spPr>
          <a:xfrm>
            <a:off x="4986117" y="5263200"/>
            <a:ext cx="3480990" cy="369332"/>
          </a:xfrm>
          <a:prstGeom prst="rect">
            <a:avLst/>
          </a:prstGeom>
        </p:spPr>
        <p:txBody>
          <a:bodyPr wrap="square">
            <a:spAutoFit/>
          </a:bodyPr>
          <a:lstStyle/>
          <a:p>
            <a:pPr algn="ctr"/>
            <a:r>
              <a:rPr lang="pt-BR" dirty="0"/>
              <a:t>Equipe trabalhando no EDSAC.</a:t>
            </a:r>
          </a:p>
        </p:txBody>
      </p:sp>
    </p:spTree>
    <p:extLst>
      <p:ext uri="{BB962C8B-B14F-4D97-AF65-F5344CB8AC3E}">
        <p14:creationId xmlns:p14="http://schemas.microsoft.com/office/powerpoint/2010/main" val="559574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Grace Hopper</a:t>
            </a:r>
          </a:p>
        </p:txBody>
      </p:sp>
      <p:sp>
        <p:nvSpPr>
          <p:cNvPr id="3" name="Content Placeholder 2"/>
          <p:cNvSpPr>
            <a:spLocks noGrp="1"/>
          </p:cNvSpPr>
          <p:nvPr>
            <p:ph idx="1"/>
          </p:nvPr>
        </p:nvSpPr>
        <p:spPr>
          <a:xfrm>
            <a:off x="457201" y="1485900"/>
            <a:ext cx="8385034" cy="1647444"/>
          </a:xfrm>
        </p:spPr>
        <p:txBody>
          <a:bodyPr>
            <a:normAutofit/>
          </a:bodyPr>
          <a:lstStyle/>
          <a:p>
            <a:r>
              <a:rPr lang="pt-BR" sz="2400" dirty="0"/>
              <a:t>Grace Hopper foi uma pioneira na Informática, contribuindo para o desenvolvimento da linguagem </a:t>
            </a:r>
            <a:r>
              <a:rPr lang="en-US" sz="2400" dirty="0"/>
              <a:t>COBOL (</a:t>
            </a:r>
            <a:r>
              <a:rPr lang="en-US" sz="2400" dirty="0" err="1"/>
              <a:t>COmmon</a:t>
            </a:r>
            <a:r>
              <a:rPr lang="en-US" sz="2400" dirty="0"/>
              <a:t> Business-Oriented Language).</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3</a:t>
            </a:fld>
            <a:endParaRPr lang="pt-BR" dirty="0"/>
          </a:p>
        </p:txBody>
      </p:sp>
      <p:pic>
        <p:nvPicPr>
          <p:cNvPr id="6" name="Picture 5" descr="GraceHopper.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5864" y="2989086"/>
            <a:ext cx="1898810" cy="2857708"/>
          </a:xfrm>
          <a:prstGeom prst="rect">
            <a:avLst/>
          </a:prstGeom>
        </p:spPr>
      </p:pic>
      <p:sp>
        <p:nvSpPr>
          <p:cNvPr id="7" name="Rectangle 6"/>
          <p:cNvSpPr/>
          <p:nvPr/>
        </p:nvSpPr>
        <p:spPr>
          <a:xfrm>
            <a:off x="6835864" y="5817398"/>
            <a:ext cx="2006371" cy="584776"/>
          </a:xfrm>
          <a:prstGeom prst="rect">
            <a:avLst/>
          </a:prstGeom>
        </p:spPr>
        <p:txBody>
          <a:bodyPr wrap="square">
            <a:spAutoFit/>
          </a:bodyPr>
          <a:lstStyle/>
          <a:p>
            <a:pPr algn="ctr"/>
            <a:r>
              <a:rPr lang="pt-BR" sz="1600" dirty="0"/>
              <a:t>Grace Murray Hopper</a:t>
            </a:r>
          </a:p>
          <a:p>
            <a:pPr algn="ctr"/>
            <a:r>
              <a:rPr lang="pt-BR" sz="1600" dirty="0"/>
              <a:t>(1906 – 1992)</a:t>
            </a:r>
          </a:p>
        </p:txBody>
      </p:sp>
      <p:pic>
        <p:nvPicPr>
          <p:cNvPr id="8" name="Picture 7"/>
          <p:cNvPicPr>
            <a:picLocks noChangeAspect="1"/>
          </p:cNvPicPr>
          <p:nvPr/>
        </p:nvPicPr>
        <p:blipFill rotWithShape="1">
          <a:blip r:embed="rId4"/>
          <a:srcRect t="10865" b="16538"/>
          <a:stretch/>
        </p:blipFill>
        <p:spPr>
          <a:xfrm>
            <a:off x="2051782" y="3278670"/>
            <a:ext cx="3524408" cy="2126427"/>
          </a:xfrm>
          <a:prstGeom prst="rect">
            <a:avLst/>
          </a:prstGeom>
        </p:spPr>
      </p:pic>
      <p:sp>
        <p:nvSpPr>
          <p:cNvPr id="9" name="Rectangle 8"/>
          <p:cNvSpPr/>
          <p:nvPr/>
        </p:nvSpPr>
        <p:spPr>
          <a:xfrm>
            <a:off x="1117927" y="5405097"/>
            <a:ext cx="5419060" cy="1015663"/>
          </a:xfrm>
          <a:prstGeom prst="rect">
            <a:avLst/>
          </a:prstGeom>
        </p:spPr>
        <p:txBody>
          <a:bodyPr wrap="square">
            <a:spAutoFit/>
          </a:bodyPr>
          <a:lstStyle/>
          <a:p>
            <a:pPr algn="ctr"/>
            <a:r>
              <a:rPr lang="pt-BR" sz="2000" dirty="0"/>
              <a:t>Primeiro caso de um bug (mariposa) sendo encontrado no Mark II em 1947 e documentado no diário de operação.</a:t>
            </a:r>
          </a:p>
        </p:txBody>
      </p:sp>
    </p:spTree>
    <p:extLst>
      <p:ext uri="{BB962C8B-B14F-4D97-AF65-F5344CB8AC3E}">
        <p14:creationId xmlns:p14="http://schemas.microsoft.com/office/powerpoint/2010/main" val="812766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Assembly</a:t>
            </a:r>
          </a:p>
        </p:txBody>
      </p:sp>
      <p:sp>
        <p:nvSpPr>
          <p:cNvPr id="3" name="Content Placeholder 2"/>
          <p:cNvSpPr>
            <a:spLocks noGrp="1"/>
          </p:cNvSpPr>
          <p:nvPr>
            <p:ph idx="1"/>
          </p:nvPr>
        </p:nvSpPr>
        <p:spPr>
          <a:xfrm>
            <a:off x="657225" y="1485900"/>
            <a:ext cx="8029575" cy="444774"/>
          </a:xfrm>
        </p:spPr>
        <p:txBody>
          <a:bodyPr>
            <a:normAutofit/>
          </a:bodyPr>
          <a:lstStyle/>
          <a:p>
            <a:r>
              <a:rPr lang="pt-BR" sz="2000" dirty="0"/>
              <a:t>Exemplo de linguagem Assembly para a arquitetura MIPS.</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4</a:t>
            </a:fld>
            <a:endParaRPr lang="pt-BR" dirty="0"/>
          </a:p>
        </p:txBody>
      </p:sp>
      <p:grpSp>
        <p:nvGrpSpPr>
          <p:cNvPr id="11" name="Group 10"/>
          <p:cNvGrpSpPr/>
          <p:nvPr/>
        </p:nvGrpSpPr>
        <p:grpSpPr>
          <a:xfrm>
            <a:off x="362570" y="2125779"/>
            <a:ext cx="8416163" cy="3247133"/>
            <a:chOff x="362570" y="2624542"/>
            <a:chExt cx="8416163" cy="3247133"/>
          </a:xfrm>
        </p:grpSpPr>
        <p:sp>
          <p:nvSpPr>
            <p:cNvPr id="6" name="Rectangle 5"/>
            <p:cNvSpPr/>
            <p:nvPr/>
          </p:nvSpPr>
          <p:spPr>
            <a:xfrm>
              <a:off x="362570" y="2824687"/>
              <a:ext cx="8416163" cy="3046988"/>
            </a:xfrm>
            <a:prstGeom prst="rect">
              <a:avLst/>
            </a:prstGeom>
            <a:ln>
              <a:solidFill>
                <a:srgbClr val="000000"/>
              </a:solidFill>
              <a:prstDash val="dash"/>
            </a:ln>
          </p:spPr>
          <p:txBody>
            <a:bodyPr wrap="square">
              <a:spAutoFit/>
            </a:bodyPr>
            <a:lstStyle/>
            <a:p>
              <a:r>
                <a:rPr lang="en-US" sz="1600" dirty="0">
                  <a:latin typeface="Courier New"/>
                  <a:cs typeface="Courier New"/>
                </a:rPr>
                <a:t>    add    $t0, $</a:t>
              </a:r>
              <a:r>
                <a:rPr lang="en-US" sz="1600" dirty="0" err="1">
                  <a:latin typeface="Courier New"/>
                  <a:cs typeface="Courier New"/>
                </a:rPr>
                <a:t>gp</a:t>
              </a:r>
              <a:r>
                <a:rPr lang="en-US" sz="1600" dirty="0">
                  <a:latin typeface="Courier New"/>
                  <a:cs typeface="Courier New"/>
                </a:rPr>
                <a:t>, $zero   # &amp;A[0] - 28</a:t>
              </a:r>
            </a:p>
            <a:p>
              <a:r>
                <a:rPr lang="en-US" sz="1600" dirty="0">
                  <a:latin typeface="Courier New"/>
                  <a:cs typeface="Courier New"/>
                </a:rPr>
                <a:t>    </a:t>
              </a:r>
              <a:r>
                <a:rPr lang="en-US" sz="1600" dirty="0" err="1">
                  <a:latin typeface="Courier New"/>
                  <a:cs typeface="Courier New"/>
                </a:rPr>
                <a:t>lw</a:t>
              </a:r>
              <a:r>
                <a:rPr lang="en-US" sz="1600" dirty="0">
                  <a:latin typeface="Courier New"/>
                  <a:cs typeface="Courier New"/>
                </a:rPr>
                <a:t>     $t1, 4($</a:t>
              </a:r>
              <a:r>
                <a:rPr lang="en-US" sz="1600" dirty="0" err="1">
                  <a:latin typeface="Courier New"/>
                  <a:cs typeface="Courier New"/>
                </a:rPr>
                <a:t>gp</a:t>
              </a:r>
              <a:r>
                <a:rPr lang="en-US" sz="1600" dirty="0">
                  <a:latin typeface="Courier New"/>
                  <a:cs typeface="Courier New"/>
                </a:rPr>
                <a:t>)       # fetch N</a:t>
              </a:r>
            </a:p>
            <a:p>
              <a:r>
                <a:rPr lang="en-US" sz="1600" dirty="0">
                  <a:latin typeface="Courier New"/>
                  <a:cs typeface="Courier New"/>
                </a:rPr>
                <a:t>    </a:t>
              </a:r>
              <a:r>
                <a:rPr lang="en-US" sz="1600" dirty="0" err="1">
                  <a:latin typeface="Courier New"/>
                  <a:cs typeface="Courier New"/>
                </a:rPr>
                <a:t>sll</a:t>
              </a:r>
              <a:r>
                <a:rPr lang="en-US" sz="1600" dirty="0">
                  <a:latin typeface="Courier New"/>
                  <a:cs typeface="Courier New"/>
                </a:rPr>
                <a:t>    $t1, $t1, 2       # N as byte offset</a:t>
              </a:r>
            </a:p>
            <a:p>
              <a:r>
                <a:rPr lang="en-US" sz="1600" dirty="0">
                  <a:latin typeface="Courier New"/>
                  <a:cs typeface="Courier New"/>
                </a:rPr>
                <a:t>    add    $t1, $t1, $</a:t>
              </a:r>
              <a:r>
                <a:rPr lang="en-US" sz="1600" dirty="0" err="1">
                  <a:latin typeface="Courier New"/>
                  <a:cs typeface="Courier New"/>
                </a:rPr>
                <a:t>gp</a:t>
              </a:r>
              <a:r>
                <a:rPr lang="en-US" sz="1600" dirty="0">
                  <a:latin typeface="Courier New"/>
                  <a:cs typeface="Courier New"/>
                </a:rPr>
                <a:t>     # &amp;A[N] - 28</a:t>
              </a:r>
            </a:p>
            <a:p>
              <a:r>
                <a:rPr lang="en-US" sz="1600" dirty="0">
                  <a:latin typeface="Courier New"/>
                  <a:cs typeface="Courier New"/>
                </a:rPr>
                <a:t>    </a:t>
              </a:r>
              <a:r>
                <a:rPr lang="en-US" sz="1600" dirty="0" err="1">
                  <a:latin typeface="Courier New"/>
                  <a:cs typeface="Courier New"/>
                </a:rPr>
                <a:t>ori</a:t>
              </a:r>
              <a:r>
                <a:rPr lang="en-US" sz="1600" dirty="0">
                  <a:latin typeface="Courier New"/>
                  <a:cs typeface="Courier New"/>
                </a:rPr>
                <a:t>    $t2, $zero, 256   # MAX_SIZE</a:t>
              </a:r>
            </a:p>
            <a:p>
              <a:r>
                <a:rPr lang="en-US" sz="1600" dirty="0">
                  <a:latin typeface="Courier New"/>
                  <a:cs typeface="Courier New"/>
                </a:rPr>
                <a:t>top:</a:t>
              </a:r>
            </a:p>
            <a:p>
              <a:r>
                <a:rPr lang="en-US" sz="1600" dirty="0">
                  <a:latin typeface="Courier New"/>
                  <a:cs typeface="Courier New"/>
                </a:rPr>
                <a:t>    </a:t>
              </a:r>
              <a:r>
                <a:rPr lang="en-US" sz="1600" dirty="0" err="1">
                  <a:latin typeface="Courier New"/>
                  <a:cs typeface="Courier New"/>
                </a:rPr>
                <a:t>sltu</a:t>
              </a:r>
              <a:r>
                <a:rPr lang="en-US" sz="1600" dirty="0">
                  <a:latin typeface="Courier New"/>
                  <a:cs typeface="Courier New"/>
                </a:rPr>
                <a:t>   $t3, $t0, $t1     # have we reached the final address?</a:t>
              </a:r>
            </a:p>
            <a:p>
              <a:r>
                <a:rPr lang="en-US" sz="1600" dirty="0">
                  <a:latin typeface="Courier New"/>
                  <a:cs typeface="Courier New"/>
                </a:rPr>
                <a:t>    </a:t>
              </a:r>
              <a:r>
                <a:rPr lang="en-US" sz="1600" dirty="0" err="1">
                  <a:latin typeface="Courier New"/>
                  <a:cs typeface="Courier New"/>
                </a:rPr>
                <a:t>beq</a:t>
              </a:r>
              <a:r>
                <a:rPr lang="en-US" sz="1600" dirty="0">
                  <a:latin typeface="Courier New"/>
                  <a:cs typeface="Courier New"/>
                </a:rPr>
                <a:t>    $t3, $zero, done  # yes, we're done</a:t>
              </a:r>
            </a:p>
            <a:p>
              <a:r>
                <a:rPr lang="en-US" sz="1600" dirty="0">
                  <a:latin typeface="Courier New"/>
                  <a:cs typeface="Courier New"/>
                </a:rPr>
                <a:t>    </a:t>
              </a:r>
              <a:r>
                <a:rPr lang="en-US" sz="1600" dirty="0" err="1">
                  <a:latin typeface="Courier New"/>
                  <a:cs typeface="Courier New"/>
                </a:rPr>
                <a:t>sw</a:t>
              </a:r>
              <a:r>
                <a:rPr lang="en-US" sz="1600" dirty="0">
                  <a:latin typeface="Courier New"/>
                  <a:cs typeface="Courier New"/>
                </a:rPr>
                <a:t>     $t2, 28($t0)      # A[</a:t>
              </a:r>
              <a:r>
                <a:rPr lang="en-US" sz="1600" dirty="0" err="1">
                  <a:latin typeface="Courier New"/>
                  <a:cs typeface="Courier New"/>
                </a:rPr>
                <a:t>i</a:t>
              </a:r>
              <a:r>
                <a:rPr lang="en-US" sz="1600" dirty="0">
                  <a:latin typeface="Courier New"/>
                  <a:cs typeface="Courier New"/>
                </a:rPr>
                <a:t>] = MAX_SIZE</a:t>
              </a:r>
            </a:p>
            <a:p>
              <a:r>
                <a:rPr lang="en-US" sz="1600" dirty="0">
                  <a:latin typeface="Courier New"/>
                  <a:cs typeface="Courier New"/>
                </a:rPr>
                <a:t>    </a:t>
              </a:r>
              <a:r>
                <a:rPr lang="en-US" sz="1600" dirty="0" err="1">
                  <a:latin typeface="Courier New"/>
                  <a:cs typeface="Courier New"/>
                </a:rPr>
                <a:t>addi</a:t>
              </a:r>
              <a:r>
                <a:rPr lang="en-US" sz="1600" dirty="0">
                  <a:latin typeface="Courier New"/>
                  <a:cs typeface="Courier New"/>
                </a:rPr>
                <a:t>   $t0, $t0, 4       # update $t0 to point to next element</a:t>
              </a:r>
            </a:p>
            <a:p>
              <a:r>
                <a:rPr lang="en-US" sz="1600" dirty="0">
                  <a:latin typeface="Courier New"/>
                  <a:cs typeface="Courier New"/>
                </a:rPr>
                <a:t>    j      top               # go to top of loop</a:t>
              </a:r>
            </a:p>
            <a:p>
              <a:r>
                <a:rPr lang="en-US" sz="1600" dirty="0">
                  <a:latin typeface="Courier New"/>
                  <a:cs typeface="Courier New"/>
                </a:rPr>
                <a:t>done:</a:t>
              </a:r>
              <a:endParaRPr lang="pt-BR" sz="1600" dirty="0">
                <a:latin typeface="Courier New"/>
                <a:cs typeface="Courier New"/>
              </a:endParaRPr>
            </a:p>
          </p:txBody>
        </p:sp>
        <p:sp>
          <p:nvSpPr>
            <p:cNvPr id="7" name="Rectangle 6"/>
            <p:cNvSpPr/>
            <p:nvPr/>
          </p:nvSpPr>
          <p:spPr>
            <a:xfrm>
              <a:off x="3367941" y="2624542"/>
              <a:ext cx="2568687" cy="276999"/>
            </a:xfrm>
            <a:prstGeom prst="rect">
              <a:avLst/>
            </a:prstGeom>
            <a:solidFill>
              <a:schemeClr val="bg1"/>
            </a:solidFill>
          </p:spPr>
          <p:txBody>
            <a:bodyPr wrap="none" lIns="0" tIns="0" rIns="0" bIns="0">
              <a:spAutoFit/>
            </a:bodyPr>
            <a:lstStyle/>
            <a:p>
              <a:pPr algn="ctr"/>
              <a:r>
                <a:rPr lang="pt-BR" dirty="0"/>
                <a:t>Assembly Arquitetura MIPS</a:t>
              </a:r>
            </a:p>
          </p:txBody>
        </p:sp>
      </p:grpSp>
      <p:grpSp>
        <p:nvGrpSpPr>
          <p:cNvPr id="10" name="Group 9"/>
          <p:cNvGrpSpPr/>
          <p:nvPr/>
        </p:nvGrpSpPr>
        <p:grpSpPr>
          <a:xfrm>
            <a:off x="2668220" y="5517212"/>
            <a:ext cx="3823244" cy="561056"/>
            <a:chOff x="2668220" y="6015975"/>
            <a:chExt cx="3823244" cy="561056"/>
          </a:xfrm>
        </p:grpSpPr>
        <p:sp>
          <p:nvSpPr>
            <p:cNvPr id="8" name="Rectangle 7"/>
            <p:cNvSpPr/>
            <p:nvPr/>
          </p:nvSpPr>
          <p:spPr>
            <a:xfrm>
              <a:off x="2668220" y="6207699"/>
              <a:ext cx="3823244" cy="369332"/>
            </a:xfrm>
            <a:prstGeom prst="rect">
              <a:avLst/>
            </a:prstGeom>
            <a:ln>
              <a:solidFill>
                <a:srgbClr val="000000"/>
              </a:solidFill>
              <a:prstDash val="dash"/>
            </a:ln>
          </p:spPr>
          <p:txBody>
            <a:bodyPr wrap="square">
              <a:spAutoFit/>
            </a:bodyPr>
            <a:lstStyle/>
            <a:p>
              <a:r>
                <a:rPr lang="de-DE" dirty="0"/>
                <a:t> </a:t>
              </a:r>
              <a:r>
                <a:rPr lang="de-DE" dirty="0" err="1"/>
                <a:t>for</a:t>
              </a:r>
              <a:r>
                <a:rPr lang="de-DE" dirty="0"/>
                <a:t> (i=0; i&lt;N; i++) {A[i] = MAX_SIZE;}</a:t>
              </a:r>
              <a:endParaRPr lang="pt-BR" dirty="0"/>
            </a:p>
          </p:txBody>
        </p:sp>
        <p:sp>
          <p:nvSpPr>
            <p:cNvPr id="9" name="Rectangle 8"/>
            <p:cNvSpPr/>
            <p:nvPr/>
          </p:nvSpPr>
          <p:spPr>
            <a:xfrm>
              <a:off x="4178795" y="6015975"/>
              <a:ext cx="807913" cy="276999"/>
            </a:xfrm>
            <a:prstGeom prst="rect">
              <a:avLst/>
            </a:prstGeom>
            <a:solidFill>
              <a:schemeClr val="bg1"/>
            </a:solidFill>
          </p:spPr>
          <p:txBody>
            <a:bodyPr wrap="none" lIns="0" tIns="0" rIns="0" bIns="0">
              <a:spAutoFit/>
            </a:bodyPr>
            <a:lstStyle/>
            <a:p>
              <a:pPr algn="ctr"/>
              <a:r>
                <a:rPr lang="pt-BR" dirty="0"/>
                <a:t>código C</a:t>
              </a:r>
            </a:p>
          </p:txBody>
        </p:sp>
      </p:grpSp>
    </p:spTree>
    <p:extLst>
      <p:ext uri="{BB962C8B-B14F-4D97-AF65-F5344CB8AC3E}">
        <p14:creationId xmlns:p14="http://schemas.microsoft.com/office/powerpoint/2010/main" val="176261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O que um Assembler faz?</a:t>
            </a:r>
          </a:p>
        </p:txBody>
      </p:sp>
      <p:sp>
        <p:nvSpPr>
          <p:cNvPr id="3" name="Content Placeholder 2"/>
          <p:cNvSpPr>
            <a:spLocks noGrp="1"/>
          </p:cNvSpPr>
          <p:nvPr>
            <p:ph idx="1"/>
          </p:nvPr>
        </p:nvSpPr>
        <p:spPr>
          <a:xfrm>
            <a:off x="657225" y="1485900"/>
            <a:ext cx="8029575" cy="1037055"/>
          </a:xfrm>
        </p:spPr>
        <p:txBody>
          <a:bodyPr>
            <a:normAutofit fontScale="92500" lnSpcReduction="10000"/>
          </a:bodyPr>
          <a:lstStyle/>
          <a:p>
            <a:r>
              <a:rPr lang="pt-BR" sz="2400" dirty="0" err="1"/>
              <a:t>Assemblers</a:t>
            </a:r>
            <a:r>
              <a:rPr lang="pt-BR" sz="2400" dirty="0"/>
              <a:t> são o primeiro nível da hierarquia de software. Eles </a:t>
            </a:r>
            <a:r>
              <a:rPr lang="pt-BR" sz="2300" dirty="0"/>
              <a:t>convertem um arquivo com operações de mnemônicos (Assembly) para Código de Máquina.</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5</a:t>
            </a:fld>
            <a:endParaRPr lang="pt-BR" dirty="0"/>
          </a:p>
        </p:txBody>
      </p:sp>
      <p:sp>
        <p:nvSpPr>
          <p:cNvPr id="6" name="Rectangle 5"/>
          <p:cNvSpPr/>
          <p:nvPr/>
        </p:nvSpPr>
        <p:spPr>
          <a:xfrm>
            <a:off x="4323424" y="2621587"/>
            <a:ext cx="4194503" cy="3477875"/>
          </a:xfrm>
          <a:prstGeom prst="rect">
            <a:avLst/>
          </a:prstGeom>
          <a:ln>
            <a:solidFill>
              <a:schemeClr val="tx1"/>
            </a:solidFill>
            <a:prstDash val="dash"/>
          </a:ln>
        </p:spPr>
        <p:txBody>
          <a:bodyPr wrap="square">
            <a:spAutoFit/>
          </a:bodyPr>
          <a:lstStyle/>
          <a:p>
            <a:r>
              <a:rPr lang="en-US" sz="1100" noProof="1">
                <a:latin typeface="Courier"/>
                <a:cs typeface="Courier"/>
              </a:rPr>
              <a:t>ce fa ed fe 07 00 00 00 03 00 00 00 01 00 00 00</a:t>
            </a:r>
          </a:p>
          <a:p>
            <a:r>
              <a:rPr lang="en-US" sz="1100" noProof="1">
                <a:latin typeface="Courier"/>
                <a:cs typeface="Courier"/>
              </a:rPr>
              <a:t>04 00 00 00 38 01 00 00 00 00 00 00 01 00 00 00</a:t>
            </a:r>
          </a:p>
          <a:p>
            <a:r>
              <a:rPr lang="en-US" sz="1100" noProof="1">
                <a:latin typeface="Courier"/>
                <a:cs typeface="Courier"/>
              </a:rPr>
              <a:t>c0 00 00 00 00 00 00 00 00 00 00 00 00 00 00 00</a:t>
            </a:r>
          </a:p>
          <a:p>
            <a:r>
              <a:rPr lang="en-US" sz="1100" noProof="1">
                <a:latin typeface="Courier"/>
                <a:cs typeface="Courier"/>
              </a:rPr>
              <a:t>00 00 00 00 00 00 00 00 28 00 00 00 54 01 00 00</a:t>
            </a:r>
          </a:p>
          <a:p>
            <a:r>
              <a:rPr lang="en-US" sz="1100" noProof="1">
                <a:latin typeface="Courier"/>
                <a:cs typeface="Courier"/>
              </a:rPr>
              <a:t>28 00 00 00 07 00 00 00 07 00 00 00 02 00 00 00</a:t>
            </a:r>
          </a:p>
          <a:p>
            <a:r>
              <a:rPr lang="en-US" sz="1100" noProof="1">
                <a:latin typeface="Courier"/>
                <a:cs typeface="Courier"/>
              </a:rPr>
              <a:t>00 00 00 00 5f 5f 74 65 78 74 00 00 00 00 00 00</a:t>
            </a:r>
          </a:p>
          <a:p>
            <a:r>
              <a:rPr lang="en-US" sz="1100" noProof="1">
                <a:latin typeface="Courier"/>
                <a:cs typeface="Courier"/>
              </a:rPr>
              <a:t>00 00 00 00 5f 5f 54 45 58 54 00 00 00 00 00 00</a:t>
            </a:r>
          </a:p>
          <a:p>
            <a:r>
              <a:rPr lang="en-US" sz="1100" noProof="1">
                <a:latin typeface="Courier"/>
                <a:cs typeface="Courier"/>
              </a:rPr>
              <a:t>00 00 00 00 00 00 00 00 1b 00 00 00 54 01 00 00</a:t>
            </a:r>
          </a:p>
          <a:p>
            <a:r>
              <a:rPr lang="en-US" sz="1100" noProof="1">
                <a:latin typeface="Courier"/>
                <a:cs typeface="Courier"/>
              </a:rPr>
              <a:t>00 00 00 00 7c 01 00 00 02 00 00 00 00 04 00 80</a:t>
            </a:r>
          </a:p>
          <a:p>
            <a:r>
              <a:rPr lang="en-US" sz="1100" noProof="1">
                <a:latin typeface="Courier"/>
                <a:cs typeface="Courier"/>
              </a:rPr>
              <a:t>00 00 00 00 00 00 00 00 5f 5f 64 61 74 61 00 00</a:t>
            </a:r>
          </a:p>
          <a:p>
            <a:r>
              <a:rPr lang="en-US" sz="1100" noProof="1">
                <a:latin typeface="Courier"/>
                <a:cs typeface="Courier"/>
              </a:rPr>
              <a:t>00 00 00 00 00 00 00 00 5f 5f 44 41 54 41 00 00</a:t>
            </a:r>
          </a:p>
          <a:p>
            <a:r>
              <a:rPr lang="en-US" sz="1100" noProof="1">
                <a:latin typeface="Courier"/>
                <a:cs typeface="Courier"/>
              </a:rPr>
              <a:t>00 00 00 00 00 00 00 00 1b 00 00 00 0d 00 00 00</a:t>
            </a:r>
          </a:p>
          <a:p>
            <a:r>
              <a:rPr lang="en-US" sz="1100" noProof="1">
                <a:latin typeface="Courier"/>
                <a:cs typeface="Courier"/>
              </a:rPr>
              <a:t>6f 01 00 00 00 00 00 00 00 00 00 00 00 00 00 00</a:t>
            </a:r>
          </a:p>
          <a:p>
            <a:r>
              <a:rPr lang="en-US" sz="1100" noProof="1">
                <a:latin typeface="Courier"/>
                <a:cs typeface="Courier"/>
              </a:rPr>
              <a:t>00 00 00 00 00 00 00 00 00 00 00 00 24 00 00 00</a:t>
            </a:r>
          </a:p>
          <a:p>
            <a:r>
              <a:rPr lang="en-US" sz="1100" noProof="1">
                <a:latin typeface="Courier"/>
                <a:cs typeface="Courier"/>
              </a:rPr>
              <a:t>10 00 00 00 00 0a 0a 00 00 00 00 00 02 00 00 00</a:t>
            </a:r>
          </a:p>
          <a:p>
            <a:r>
              <a:rPr lang="en-US" sz="1100" noProof="1">
                <a:latin typeface="Courier"/>
                <a:cs typeface="Courier"/>
              </a:rPr>
              <a:t>18 00 00 00 8c 01 00 00 04 00 00 00 bc 01 00 00</a:t>
            </a:r>
          </a:p>
          <a:p>
            <a:r>
              <a:rPr lang="en-US" sz="1100" noProof="1">
                <a:latin typeface="Courier"/>
                <a:cs typeface="Courier"/>
              </a:rPr>
              <a:t>18 00 00 00 0b 00 00 00 50 00 00 00 00 00 00 00</a:t>
            </a:r>
          </a:p>
          <a:p>
            <a:r>
              <a:rPr lang="en-US" sz="1100" noProof="1">
                <a:latin typeface="Courier"/>
                <a:cs typeface="Courier"/>
              </a:rPr>
              <a:t>02 00 00 00 02 00 00 00 01 00 00 00 03 00 00 00</a:t>
            </a:r>
          </a:p>
          <a:p>
            <a:r>
              <a:rPr lang="en-US" sz="1100" noProof="1">
                <a:latin typeface="Courier"/>
                <a:cs typeface="Courier"/>
              </a:rPr>
              <a:t>01 00 00 00 00 00 00 00 00 00 00 00 00 00 00 00</a:t>
            </a:r>
          </a:p>
          <a:p>
            <a:r>
              <a:rPr lang="en-US" sz="1100" noProof="1">
                <a:latin typeface="Courier"/>
                <a:cs typeface="Courier"/>
              </a:rPr>
              <a:t>00 00 00 00 00 00 00 00 00 00 00 00 00 00 00 00</a:t>
            </a:r>
          </a:p>
        </p:txBody>
      </p:sp>
      <p:sp>
        <p:nvSpPr>
          <p:cNvPr id="7" name="Rectangle 6"/>
          <p:cNvSpPr/>
          <p:nvPr/>
        </p:nvSpPr>
        <p:spPr>
          <a:xfrm>
            <a:off x="725688" y="3030286"/>
            <a:ext cx="2289849" cy="2554545"/>
          </a:xfrm>
          <a:prstGeom prst="rect">
            <a:avLst/>
          </a:prstGeom>
          <a:ln>
            <a:solidFill>
              <a:schemeClr val="tx1"/>
            </a:solidFill>
            <a:prstDash val="dash"/>
          </a:ln>
        </p:spPr>
        <p:txBody>
          <a:bodyPr wrap="square">
            <a:spAutoFit/>
          </a:bodyPr>
          <a:lstStyle/>
          <a:p>
            <a:r>
              <a:rPr lang="en-US" sz="2000" b="1" noProof="1">
                <a:latin typeface="Courier New"/>
                <a:cs typeface="Courier New"/>
              </a:rPr>
              <a:t>mov	edx,2	</a:t>
            </a:r>
          </a:p>
          <a:p>
            <a:r>
              <a:rPr lang="en-US" sz="2000" b="1" noProof="1">
                <a:latin typeface="Courier New"/>
                <a:cs typeface="Courier New"/>
              </a:rPr>
              <a:t>mov	esi,4	</a:t>
            </a:r>
          </a:p>
          <a:p>
            <a:r>
              <a:rPr lang="en-US" sz="2000" b="1" noProof="1">
                <a:latin typeface="Courier New"/>
                <a:cs typeface="Courier New"/>
              </a:rPr>
              <a:t>add	eax,ebx</a:t>
            </a:r>
          </a:p>
          <a:p>
            <a:r>
              <a:rPr lang="en-US" sz="2000" b="1" noProof="1">
                <a:latin typeface="Courier New"/>
                <a:cs typeface="Courier New"/>
              </a:rPr>
              <a:t>sub	eax,ecx</a:t>
            </a:r>
          </a:p>
          <a:p>
            <a:r>
              <a:rPr lang="en-US" sz="2000" b="1" noProof="1">
                <a:latin typeface="Courier New"/>
                <a:cs typeface="Courier New"/>
              </a:rPr>
              <a:t>imul  edx,eax</a:t>
            </a:r>
          </a:p>
          <a:p>
            <a:r>
              <a:rPr lang="en-US" sz="2000" b="1" noProof="1">
                <a:latin typeface="Courier New"/>
                <a:cs typeface="Courier New"/>
              </a:rPr>
              <a:t>mov	eax,edx</a:t>
            </a:r>
          </a:p>
          <a:p>
            <a:r>
              <a:rPr lang="en-US" sz="2000" b="1" noProof="1">
                <a:latin typeface="Courier New"/>
                <a:cs typeface="Courier New"/>
              </a:rPr>
              <a:t>mov	edx,0	</a:t>
            </a:r>
          </a:p>
          <a:p>
            <a:r>
              <a:rPr lang="en-US" sz="2000" b="1" noProof="1">
                <a:latin typeface="Courier New"/>
                <a:cs typeface="Courier New"/>
              </a:rPr>
              <a:t>cmp   esi,0</a:t>
            </a:r>
          </a:p>
        </p:txBody>
      </p:sp>
      <p:sp>
        <p:nvSpPr>
          <p:cNvPr id="9" name="Right Arrow 8"/>
          <p:cNvSpPr/>
          <p:nvPr/>
        </p:nvSpPr>
        <p:spPr>
          <a:xfrm>
            <a:off x="3318705" y="4049749"/>
            <a:ext cx="767524" cy="488487"/>
          </a:xfrm>
          <a:prstGeom prst="rightArrow">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0" name="Rectangle 9"/>
          <p:cNvSpPr/>
          <p:nvPr/>
        </p:nvSpPr>
        <p:spPr>
          <a:xfrm>
            <a:off x="1000832" y="6058772"/>
            <a:ext cx="1640944" cy="523220"/>
          </a:xfrm>
          <a:prstGeom prst="rect">
            <a:avLst/>
          </a:prstGeom>
        </p:spPr>
        <p:txBody>
          <a:bodyPr wrap="none">
            <a:spAutoFit/>
          </a:bodyPr>
          <a:lstStyle/>
          <a:p>
            <a:r>
              <a:rPr lang="pt-BR" sz="2800" b="1" dirty="0">
                <a:solidFill>
                  <a:srgbClr val="FF0000"/>
                </a:solidFill>
              </a:rPr>
              <a:t>Programa</a:t>
            </a:r>
          </a:p>
        </p:txBody>
      </p:sp>
      <p:sp>
        <p:nvSpPr>
          <p:cNvPr id="11" name="Rectangle 10"/>
          <p:cNvSpPr/>
          <p:nvPr/>
        </p:nvSpPr>
        <p:spPr>
          <a:xfrm>
            <a:off x="5220324" y="6058772"/>
            <a:ext cx="2408801" cy="523220"/>
          </a:xfrm>
          <a:prstGeom prst="rect">
            <a:avLst/>
          </a:prstGeom>
        </p:spPr>
        <p:txBody>
          <a:bodyPr wrap="none">
            <a:spAutoFit/>
          </a:bodyPr>
          <a:lstStyle/>
          <a:p>
            <a:pPr algn="ctr"/>
            <a:r>
              <a:rPr lang="pt-BR" sz="2800" b="1" dirty="0">
                <a:solidFill>
                  <a:srgbClr val="FF0000"/>
                </a:solidFill>
              </a:rPr>
              <a:t>Arquivo objeto</a:t>
            </a:r>
          </a:p>
        </p:txBody>
      </p:sp>
    </p:spTree>
    <p:extLst>
      <p:ext uri="{BB962C8B-B14F-4D97-AF65-F5344CB8AC3E}">
        <p14:creationId xmlns:p14="http://schemas.microsoft.com/office/powerpoint/2010/main" val="2144424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Sintaxes de Assembly: exemplos x86</a:t>
            </a:r>
          </a:p>
        </p:txBody>
      </p:sp>
      <p:sp>
        <p:nvSpPr>
          <p:cNvPr id="3" name="Content Placeholder 2"/>
          <p:cNvSpPr>
            <a:spLocks noGrp="1"/>
          </p:cNvSpPr>
          <p:nvPr>
            <p:ph idx="1"/>
          </p:nvPr>
        </p:nvSpPr>
        <p:spPr>
          <a:xfrm>
            <a:off x="657225" y="1485900"/>
            <a:ext cx="8146168" cy="1029214"/>
          </a:xfrm>
        </p:spPr>
        <p:txBody>
          <a:bodyPr>
            <a:noAutofit/>
          </a:bodyPr>
          <a:lstStyle/>
          <a:p>
            <a:r>
              <a:rPr lang="pt-BR" sz="2000" dirty="0"/>
              <a:t>Conjuntos de sintaxe mais populares.</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6</a:t>
            </a:fld>
            <a:endParaRPr lang="pt-BR" dirty="0"/>
          </a:p>
        </p:txBody>
      </p:sp>
      <p:graphicFrame>
        <p:nvGraphicFramePr>
          <p:cNvPr id="9" name="Table 8"/>
          <p:cNvGraphicFramePr>
            <a:graphicFrameLocks noGrp="1"/>
          </p:cNvGraphicFramePr>
          <p:nvPr>
            <p:extLst>
              <p:ext uri="{D42A27DB-BD31-4B8C-83A1-F6EECF244321}">
                <p14:modId xmlns:p14="http://schemas.microsoft.com/office/powerpoint/2010/main" val="1912556920"/>
              </p:ext>
            </p:extLst>
          </p:nvPr>
        </p:nvGraphicFramePr>
        <p:xfrm>
          <a:off x="457201" y="2972762"/>
          <a:ext cx="8346192" cy="2593570"/>
        </p:xfrm>
        <a:graphic>
          <a:graphicData uri="http://schemas.openxmlformats.org/drawingml/2006/table">
            <a:tbl>
              <a:tblPr>
                <a:tableStyleId>{5C22544A-7EE6-4342-B048-85BDC9FD1C3A}</a:tableStyleId>
              </a:tblPr>
              <a:tblGrid>
                <a:gridCol w="439300">
                  <a:extLst>
                    <a:ext uri="{9D8B030D-6E8A-4147-A177-3AD203B41FA5}">
                      <a16:colId xmlns:a16="http://schemas.microsoft.com/office/drawing/2014/main" val="20000"/>
                    </a:ext>
                  </a:extLst>
                </a:gridCol>
                <a:gridCol w="3947095">
                  <a:extLst>
                    <a:ext uri="{9D8B030D-6E8A-4147-A177-3AD203B41FA5}">
                      <a16:colId xmlns:a16="http://schemas.microsoft.com/office/drawing/2014/main" val="20001"/>
                    </a:ext>
                  </a:extLst>
                </a:gridCol>
                <a:gridCol w="3959797">
                  <a:extLst>
                    <a:ext uri="{9D8B030D-6E8A-4147-A177-3AD203B41FA5}">
                      <a16:colId xmlns:a16="http://schemas.microsoft.com/office/drawing/2014/main" val="20002"/>
                    </a:ext>
                  </a:extLst>
                </a:gridCol>
              </a:tblGrid>
              <a:tr h="2593570">
                <a:tc>
                  <a:txBody>
                    <a:bodyPr/>
                    <a:lstStyle/>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001</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002</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003</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004</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005</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006</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007</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008</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009</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010</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011</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012</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013</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014</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015</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016</a:t>
                      </a:r>
                      <a:endParaRPr lang="en-US" sz="1300" b="1" noProof="1">
                        <a:effectLst/>
                        <a:latin typeface="Courier New"/>
                        <a:ea typeface="ＭＳ 明朝"/>
                        <a:cs typeface="Courier New"/>
                      </a:endParaRPr>
                    </a:p>
                  </a:txBody>
                  <a:tcPr marL="72000" marR="0" marT="10800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 Text segment begins</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 section .text</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300" b="1" noProof="1">
                        <a:solidFill>
                          <a:srgbClr val="000000"/>
                        </a:solidFill>
                        <a:effectLst/>
                        <a:latin typeface="Courier New"/>
                        <a:ea typeface="ＭＳ 明朝"/>
                        <a:cs typeface="Courier New"/>
                      </a:endParaRP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     global _start</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300" b="1" noProof="1">
                        <a:solidFill>
                          <a:srgbClr val="000000"/>
                        </a:solidFill>
                        <a:effectLst/>
                        <a:latin typeface="Courier New"/>
                        <a:ea typeface="ＭＳ 明朝"/>
                        <a:cs typeface="Courier New"/>
                      </a:endParaRP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 Program entry point</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    _start:</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300" b="1" noProof="1">
                        <a:solidFill>
                          <a:srgbClr val="000000"/>
                        </a:solidFill>
                        <a:effectLst/>
                        <a:latin typeface="Courier New"/>
                        <a:ea typeface="ＭＳ 明朝"/>
                        <a:cs typeface="Courier New"/>
                      </a:endParaRP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 Put the code number for system call</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       mov   eax, 1   </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300" b="1" noProof="1">
                        <a:solidFill>
                          <a:srgbClr val="000000"/>
                        </a:solidFill>
                        <a:effectLst/>
                        <a:latin typeface="Courier New"/>
                        <a:ea typeface="ＭＳ 明朝"/>
                        <a:cs typeface="Courier New"/>
                      </a:endParaRP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 Return value</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        mov   ebx, 2  </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300" b="1" noProof="1">
                        <a:solidFill>
                          <a:srgbClr val="000000"/>
                        </a:solidFill>
                        <a:effectLst/>
                        <a:latin typeface="Courier New"/>
                        <a:ea typeface="ＭＳ 明朝"/>
                        <a:cs typeface="Courier New"/>
                      </a:endParaRP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 Call the OS</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       int   80h</a:t>
                      </a:r>
                      <a:endParaRPr lang="en-US" sz="1300" b="1" noProof="1">
                        <a:effectLst/>
                        <a:latin typeface="Courier New"/>
                        <a:ea typeface="ＭＳ 明朝"/>
                        <a:cs typeface="Courier New"/>
                      </a:endParaRPr>
                    </a:p>
                  </a:txBody>
                  <a:tcPr marL="72000" marR="0" marT="10800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 Text segment begins</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.section .text</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300" b="1" noProof="1">
                        <a:solidFill>
                          <a:srgbClr val="000000"/>
                        </a:solidFill>
                        <a:effectLst/>
                        <a:latin typeface="Courier New"/>
                        <a:ea typeface="ＭＳ 明朝"/>
                        <a:cs typeface="Courier New"/>
                      </a:endParaRP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     .globl _start</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300" b="1" noProof="1">
                        <a:solidFill>
                          <a:srgbClr val="000000"/>
                        </a:solidFill>
                        <a:effectLst/>
                        <a:latin typeface="Courier New"/>
                        <a:ea typeface="ＭＳ 明朝"/>
                        <a:cs typeface="Courier New"/>
                      </a:endParaRP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 Program entry point</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    _start:  </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300" b="1" noProof="1">
                        <a:solidFill>
                          <a:srgbClr val="000000"/>
                        </a:solidFill>
                        <a:effectLst/>
                        <a:latin typeface="Courier New"/>
                        <a:ea typeface="ＭＳ 明朝"/>
                        <a:cs typeface="Courier New"/>
                      </a:endParaRP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 Put the code number for system call</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       movl  $1, %eax  </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300" b="1" noProof="1">
                        <a:solidFill>
                          <a:srgbClr val="000000"/>
                        </a:solidFill>
                        <a:effectLst/>
                        <a:latin typeface="Courier New"/>
                        <a:ea typeface="ＭＳ 明朝"/>
                        <a:cs typeface="Courier New"/>
                      </a:endParaRP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 Return value */</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       movl  $2, %ebx  </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300" b="1" noProof="1">
                        <a:solidFill>
                          <a:srgbClr val="000000"/>
                        </a:solidFill>
                        <a:effectLst/>
                        <a:latin typeface="Courier New"/>
                        <a:ea typeface="ＭＳ 明朝"/>
                        <a:cs typeface="Courier New"/>
                      </a:endParaRP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 Call the OS</a:t>
                      </a:r>
                    </a:p>
                    <a:p>
                      <a:pPr fontAlgn="base">
                        <a:lnSpc>
                          <a:spcPts val="11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300" b="1" noProof="1">
                          <a:solidFill>
                            <a:srgbClr val="000000"/>
                          </a:solidFill>
                          <a:effectLst/>
                          <a:latin typeface="Courier New"/>
                          <a:ea typeface="ＭＳ 明朝"/>
                          <a:cs typeface="Courier New"/>
                        </a:rPr>
                        <a:t>       int   $0x80</a:t>
                      </a:r>
                      <a:endParaRPr lang="en-US" sz="1300" b="1" noProof="1">
                        <a:effectLst/>
                        <a:latin typeface="Courier New"/>
                        <a:ea typeface="ＭＳ 明朝"/>
                        <a:cs typeface="Courier New"/>
                      </a:endParaRPr>
                    </a:p>
                  </a:txBody>
                  <a:tcPr marL="72000" marR="0" marT="10800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
        <p:nvSpPr>
          <p:cNvPr id="10" name="Rectangle 9"/>
          <p:cNvSpPr/>
          <p:nvPr/>
        </p:nvSpPr>
        <p:spPr>
          <a:xfrm>
            <a:off x="1476299" y="2501784"/>
            <a:ext cx="1937955" cy="276999"/>
          </a:xfrm>
          <a:prstGeom prst="rect">
            <a:avLst/>
          </a:prstGeom>
          <a:solidFill>
            <a:schemeClr val="bg1"/>
          </a:solidFill>
        </p:spPr>
        <p:txBody>
          <a:bodyPr wrap="none" lIns="0" tIns="0" rIns="0" bIns="0">
            <a:spAutoFit/>
          </a:bodyPr>
          <a:lstStyle/>
          <a:p>
            <a:pPr algn="ctr"/>
            <a:r>
              <a:rPr lang="pt-BR" dirty="0">
                <a:solidFill>
                  <a:srgbClr val="0000FF"/>
                </a:solidFill>
              </a:rPr>
              <a:t>NASM (Sintaxe Intel)</a:t>
            </a:r>
          </a:p>
        </p:txBody>
      </p:sp>
      <p:sp>
        <p:nvSpPr>
          <p:cNvPr id="11" name="Rectangle 10"/>
          <p:cNvSpPr/>
          <p:nvPr/>
        </p:nvSpPr>
        <p:spPr>
          <a:xfrm>
            <a:off x="5875456" y="2501784"/>
            <a:ext cx="1828626" cy="276999"/>
          </a:xfrm>
          <a:prstGeom prst="rect">
            <a:avLst/>
          </a:prstGeom>
          <a:solidFill>
            <a:schemeClr val="bg1"/>
          </a:solidFill>
        </p:spPr>
        <p:txBody>
          <a:bodyPr wrap="none" lIns="0" tIns="0" rIns="0" bIns="0">
            <a:spAutoFit/>
          </a:bodyPr>
          <a:lstStyle/>
          <a:p>
            <a:pPr algn="ctr"/>
            <a:r>
              <a:rPr lang="pt-BR" dirty="0">
                <a:solidFill>
                  <a:srgbClr val="0000FF"/>
                </a:solidFill>
              </a:rPr>
              <a:t>GAS (Sintaxe AT&amp;T)</a:t>
            </a:r>
          </a:p>
        </p:txBody>
      </p:sp>
      <p:sp>
        <p:nvSpPr>
          <p:cNvPr id="8" name="TextBox 7">
            <a:extLst>
              <a:ext uri="{FF2B5EF4-FFF2-40B4-BE49-F238E27FC236}">
                <a16:creationId xmlns:a16="http://schemas.microsoft.com/office/drawing/2014/main" id="{0552E8E2-BEED-B2DE-15EE-DA4AB849599B}"/>
              </a:ext>
            </a:extLst>
          </p:cNvPr>
          <p:cNvSpPr txBox="1"/>
          <p:nvPr/>
        </p:nvSpPr>
        <p:spPr>
          <a:xfrm>
            <a:off x="404930" y="5892284"/>
            <a:ext cx="6129982" cy="369332"/>
          </a:xfrm>
          <a:prstGeom prst="rect">
            <a:avLst/>
          </a:prstGeom>
          <a:noFill/>
        </p:spPr>
        <p:txBody>
          <a:bodyPr wrap="square">
            <a:spAutoFit/>
          </a:bodyPr>
          <a:lstStyle/>
          <a:p>
            <a:r>
              <a:rPr lang="en-BR" b="1" dirty="0"/>
              <a:t>Código para Linux, interface de chamadas de sistema i386.</a:t>
            </a:r>
            <a:endParaRPr lang="en-US" dirty="0"/>
          </a:p>
        </p:txBody>
      </p:sp>
    </p:spTree>
    <p:extLst>
      <p:ext uri="{BB962C8B-B14F-4D97-AF65-F5344CB8AC3E}">
        <p14:creationId xmlns:p14="http://schemas.microsoft.com/office/powerpoint/2010/main" val="199798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Análise </a:t>
            </a:r>
            <a:r>
              <a:rPr lang="en-BR" dirty="0"/>
              <a:t>léxica - tokenização</a:t>
            </a:r>
            <a:endParaRPr lang="en-US" noProof="1"/>
          </a:p>
        </p:txBody>
      </p:sp>
      <p:sp>
        <p:nvSpPr>
          <p:cNvPr id="3" name="Content Placeholder 2"/>
          <p:cNvSpPr>
            <a:spLocks noGrp="1"/>
          </p:cNvSpPr>
          <p:nvPr>
            <p:ph idx="1"/>
          </p:nvPr>
        </p:nvSpPr>
        <p:spPr/>
        <p:txBody>
          <a:bodyPr>
            <a:noAutofit/>
          </a:bodyPr>
          <a:lstStyle/>
          <a:p>
            <a:r>
              <a:rPr lang="en-US" sz="2400" noProof="1"/>
              <a:t>Separar cada termo para à análise:</a:t>
            </a:r>
          </a:p>
        </p:txBody>
      </p:sp>
      <p:sp>
        <p:nvSpPr>
          <p:cNvPr id="4" name="Text Placeholder 3"/>
          <p:cNvSpPr>
            <a:spLocks noGrp="1"/>
          </p:cNvSpPr>
          <p:nvPr>
            <p:ph type="body" sz="quarter" idx="13"/>
          </p:nvPr>
        </p:nvSpPr>
        <p:spPr/>
        <p:txBody>
          <a:bodyPr/>
          <a:lstStyle/>
          <a:p>
            <a:endParaRPr lang="en-US" noProof="1"/>
          </a:p>
        </p:txBody>
      </p:sp>
      <p:sp>
        <p:nvSpPr>
          <p:cNvPr id="5" name="Slide Number Placeholder 4"/>
          <p:cNvSpPr>
            <a:spLocks noGrp="1"/>
          </p:cNvSpPr>
          <p:nvPr>
            <p:ph type="sldNum" sz="quarter" idx="4"/>
          </p:nvPr>
        </p:nvSpPr>
        <p:spPr/>
        <p:txBody>
          <a:bodyPr/>
          <a:lstStyle/>
          <a:p>
            <a:fld id="{7FFE5E5C-C80A-4D8D-A711-3102A7BA9258}" type="slidenum">
              <a:rPr lang="en-US" noProof="1" smtClean="0"/>
              <a:pPr/>
              <a:t>7</a:t>
            </a:fld>
            <a:endParaRPr lang="en-US" noProof="1"/>
          </a:p>
        </p:txBody>
      </p:sp>
      <p:graphicFrame>
        <p:nvGraphicFramePr>
          <p:cNvPr id="6" name="Table 5"/>
          <p:cNvGraphicFramePr>
            <a:graphicFrameLocks noGrp="1"/>
          </p:cNvGraphicFramePr>
          <p:nvPr>
            <p:extLst>
              <p:ext uri="{D42A27DB-BD31-4B8C-83A1-F6EECF244321}">
                <p14:modId xmlns:p14="http://schemas.microsoft.com/office/powerpoint/2010/main" val="3027398897"/>
              </p:ext>
            </p:extLst>
          </p:nvPr>
        </p:nvGraphicFramePr>
        <p:xfrm>
          <a:off x="555140" y="2583612"/>
          <a:ext cx="2806994" cy="3108960"/>
        </p:xfrm>
        <a:graphic>
          <a:graphicData uri="http://schemas.openxmlformats.org/drawingml/2006/table">
            <a:tbl>
              <a:tblPr>
                <a:tableStyleId>{5C22544A-7EE6-4342-B048-85BDC9FD1C3A}</a:tableStyleId>
              </a:tblPr>
              <a:tblGrid>
                <a:gridCol w="2806994">
                  <a:extLst>
                    <a:ext uri="{9D8B030D-6E8A-4147-A177-3AD203B41FA5}">
                      <a16:colId xmlns:a16="http://schemas.microsoft.com/office/drawing/2014/main" val="20000"/>
                    </a:ext>
                  </a:extLst>
                </a:gridCol>
              </a:tblGrid>
              <a:tr h="370840">
                <a:tc>
                  <a:txBody>
                    <a:bodyPr/>
                    <a:lstStyle/>
                    <a:p>
                      <a:r>
                        <a:rPr lang="en-US" b="1" noProof="1">
                          <a:solidFill>
                            <a:schemeClr val="tx1"/>
                          </a:solidFill>
                          <a:latin typeface="Courier New"/>
                          <a:cs typeface="Courier New"/>
                        </a:rPr>
                        <a:t>    leaw</a:t>
                      </a:r>
                      <a:r>
                        <a:rPr lang="en-US" b="1" baseline="0" noProof="1">
                          <a:solidFill>
                            <a:schemeClr val="tx1"/>
                          </a:solidFill>
                          <a:latin typeface="Courier New"/>
                          <a:cs typeface="Courier New"/>
                        </a:rPr>
                        <a:t> $</a:t>
                      </a:r>
                      <a:r>
                        <a:rPr lang="en-US" b="1" noProof="1">
                          <a:solidFill>
                            <a:schemeClr val="tx1"/>
                          </a:solidFill>
                          <a:latin typeface="Courier New"/>
                          <a:cs typeface="Courier New"/>
                        </a:rPr>
                        <a:t>i,%A</a:t>
                      </a:r>
                    </a:p>
                    <a:p>
                      <a:r>
                        <a:rPr lang="en-US" b="1" noProof="1">
                          <a:solidFill>
                            <a:schemeClr val="tx1"/>
                          </a:solidFill>
                          <a:latin typeface="Courier New"/>
                          <a:cs typeface="Courier New"/>
                        </a:rPr>
                        <a:t>    movw $1,(%A)</a:t>
                      </a:r>
                    </a:p>
                    <a:p>
                      <a:pPr marL="0" marR="0" indent="0" algn="l" defTabSz="914400" rtl="0" eaLnBrk="1" fontAlgn="auto" latinLnBrk="0" hangingPunct="1">
                        <a:lnSpc>
                          <a:spcPct val="100000"/>
                        </a:lnSpc>
                        <a:spcBef>
                          <a:spcPts val="0"/>
                        </a:spcBef>
                        <a:spcAft>
                          <a:spcPts val="0"/>
                        </a:spcAft>
                        <a:buClrTx/>
                        <a:buSzTx/>
                        <a:buFontTx/>
                        <a:buNone/>
                        <a:tabLst/>
                        <a:defRPr/>
                      </a:pPr>
                      <a:r>
                        <a:rPr lang="en-US" b="1" noProof="1">
                          <a:solidFill>
                            <a:schemeClr val="tx1"/>
                          </a:solidFill>
                          <a:latin typeface="Courier New"/>
                          <a:cs typeface="Courier New"/>
                        </a:rPr>
                        <a:t>    leaw</a:t>
                      </a:r>
                      <a:r>
                        <a:rPr lang="en-US" b="1" baseline="0" noProof="1">
                          <a:solidFill>
                            <a:schemeClr val="tx1"/>
                          </a:solidFill>
                          <a:latin typeface="Courier New"/>
                          <a:cs typeface="Courier New"/>
                        </a:rPr>
                        <a:t> $sum</a:t>
                      </a:r>
                      <a:r>
                        <a:rPr lang="en-US" b="1" noProof="1">
                          <a:solidFill>
                            <a:schemeClr val="tx1"/>
                          </a:solidFill>
                          <a:latin typeface="Courier New"/>
                          <a:cs typeface="Courier New"/>
                        </a:rPr>
                        <a:t>,%A</a:t>
                      </a:r>
                    </a:p>
                    <a:p>
                      <a:r>
                        <a:rPr lang="en-US" b="1" noProof="1">
                          <a:solidFill>
                            <a:schemeClr val="tx1"/>
                          </a:solidFill>
                          <a:latin typeface="Courier New"/>
                          <a:cs typeface="Courier New"/>
                        </a:rPr>
                        <a:t>    movw $0,(%A)</a:t>
                      </a:r>
                    </a:p>
                    <a:p>
                      <a:r>
                        <a:rPr lang="en-US" b="1" noProof="1">
                          <a:solidFill>
                            <a:schemeClr val="tx1"/>
                          </a:solidFill>
                          <a:latin typeface="Courier New"/>
                          <a:cs typeface="Courier New"/>
                        </a:rPr>
                        <a:t>LOOP:</a:t>
                      </a:r>
                    </a:p>
                    <a:p>
                      <a:r>
                        <a:rPr lang="en-US" b="1" noProof="1">
                          <a:solidFill>
                            <a:schemeClr val="tx1"/>
                          </a:solidFill>
                          <a:latin typeface="Courier New"/>
                          <a:cs typeface="Courier New"/>
                        </a:rPr>
                        <a:t>    leaw</a:t>
                      </a:r>
                      <a:r>
                        <a:rPr lang="en-US" b="1" baseline="0" noProof="1">
                          <a:solidFill>
                            <a:schemeClr val="tx1"/>
                          </a:solidFill>
                          <a:latin typeface="Courier New"/>
                          <a:cs typeface="Courier New"/>
                        </a:rPr>
                        <a:t> $</a:t>
                      </a:r>
                      <a:r>
                        <a:rPr lang="en-US" b="1" noProof="1">
                          <a:solidFill>
                            <a:schemeClr val="tx1"/>
                          </a:solidFill>
                          <a:latin typeface="Courier New"/>
                          <a:cs typeface="Courier New"/>
                        </a:rPr>
                        <a:t>i,%A</a:t>
                      </a:r>
                    </a:p>
                    <a:p>
                      <a:r>
                        <a:rPr lang="en-US" b="1" noProof="1">
                          <a:solidFill>
                            <a:schemeClr val="tx1"/>
                          </a:solidFill>
                          <a:latin typeface="Courier New"/>
                          <a:cs typeface="Courier New"/>
                        </a:rPr>
                        <a:t>    movw (%A),%D</a:t>
                      </a:r>
                    </a:p>
                    <a:p>
                      <a:pPr marL="0" marR="0" indent="0" algn="l" defTabSz="914400" rtl="0" eaLnBrk="1" fontAlgn="auto" latinLnBrk="0" hangingPunct="1">
                        <a:lnSpc>
                          <a:spcPct val="100000"/>
                        </a:lnSpc>
                        <a:spcBef>
                          <a:spcPts val="0"/>
                        </a:spcBef>
                        <a:spcAft>
                          <a:spcPts val="0"/>
                        </a:spcAft>
                        <a:buClrTx/>
                        <a:buSzTx/>
                        <a:buFontTx/>
                        <a:buNone/>
                        <a:tabLst/>
                        <a:defRPr/>
                      </a:pPr>
                      <a:r>
                        <a:rPr lang="en-US" b="1" noProof="1">
                          <a:solidFill>
                            <a:schemeClr val="tx1"/>
                          </a:solidFill>
                          <a:latin typeface="Courier New"/>
                          <a:cs typeface="Courier New"/>
                        </a:rPr>
                        <a:t>    leaw</a:t>
                      </a:r>
                      <a:r>
                        <a:rPr lang="en-US" b="1" baseline="0" noProof="1">
                          <a:solidFill>
                            <a:schemeClr val="tx1"/>
                          </a:solidFill>
                          <a:latin typeface="Courier New"/>
                          <a:cs typeface="Courier New"/>
                        </a:rPr>
                        <a:t> $</a:t>
                      </a:r>
                      <a:r>
                        <a:rPr lang="en-US" b="1" noProof="1">
                          <a:solidFill>
                            <a:schemeClr val="tx1"/>
                          </a:solidFill>
                          <a:latin typeface="Courier New"/>
                          <a:cs typeface="Courier New"/>
                        </a:rPr>
                        <a:t>R0,%A</a:t>
                      </a:r>
                    </a:p>
                    <a:p>
                      <a:pPr marL="0" marR="0" indent="0" algn="l" defTabSz="914400" rtl="0" eaLnBrk="1" fontAlgn="auto" latinLnBrk="0" hangingPunct="1">
                        <a:lnSpc>
                          <a:spcPct val="100000"/>
                        </a:lnSpc>
                        <a:spcBef>
                          <a:spcPts val="0"/>
                        </a:spcBef>
                        <a:spcAft>
                          <a:spcPts val="0"/>
                        </a:spcAft>
                        <a:buClrTx/>
                        <a:buSzTx/>
                        <a:buFontTx/>
                        <a:buNone/>
                        <a:tabLst/>
                        <a:defRPr/>
                      </a:pPr>
                      <a:r>
                        <a:rPr lang="en-US" b="1" noProof="1">
                          <a:solidFill>
                            <a:schemeClr val="tx1"/>
                          </a:solidFill>
                          <a:latin typeface="Courier New"/>
                          <a:cs typeface="Courier New"/>
                        </a:rPr>
                        <a:t>    subw</a:t>
                      </a:r>
                      <a:r>
                        <a:rPr lang="en-US" b="1" baseline="0" noProof="1">
                          <a:solidFill>
                            <a:schemeClr val="tx1"/>
                          </a:solidFill>
                          <a:latin typeface="Courier New"/>
                          <a:cs typeface="Courier New"/>
                        </a:rPr>
                        <a:t> %D,(%A),%D</a:t>
                      </a: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noProof="1">
                          <a:solidFill>
                            <a:schemeClr val="tx1"/>
                          </a:solidFill>
                          <a:latin typeface="Courier New"/>
                          <a:cs typeface="Courier New"/>
                        </a:rPr>
                        <a:t>    leaw $LOOP,%A</a:t>
                      </a:r>
                      <a:endParaRPr lang="en-US" b="1" noProof="1">
                        <a:solidFill>
                          <a:schemeClr val="tx1"/>
                        </a:solidFill>
                        <a:latin typeface="Courier New"/>
                        <a:cs typeface="Courier New"/>
                      </a:endParaRPr>
                    </a:p>
                    <a:p>
                      <a:r>
                        <a:rPr lang="en-US" b="1" noProof="1">
                          <a:solidFill>
                            <a:schemeClr val="tx1"/>
                          </a:solidFill>
                          <a:latin typeface="Courier New"/>
                          <a:cs typeface="Courier New"/>
                        </a:rPr>
                        <a:t>    jg %D</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020532823"/>
              </p:ext>
            </p:extLst>
          </p:nvPr>
        </p:nvGraphicFramePr>
        <p:xfrm>
          <a:off x="5271774" y="2583612"/>
          <a:ext cx="3562596" cy="3108960"/>
        </p:xfrm>
        <a:graphic>
          <a:graphicData uri="http://schemas.openxmlformats.org/drawingml/2006/table">
            <a:tbl>
              <a:tblPr>
                <a:tableStyleId>{5C22544A-7EE6-4342-B048-85BDC9FD1C3A}</a:tableStyleId>
              </a:tblPr>
              <a:tblGrid>
                <a:gridCol w="3562596">
                  <a:extLst>
                    <a:ext uri="{9D8B030D-6E8A-4147-A177-3AD203B41FA5}">
                      <a16:colId xmlns:a16="http://schemas.microsoft.com/office/drawing/2014/main" val="20000"/>
                    </a:ext>
                  </a:extLst>
                </a:gridCol>
              </a:tblGrid>
              <a:tr h="370840">
                <a:tc>
                  <a:txBody>
                    <a:bodyPr/>
                    <a:lstStyle/>
                    <a:p>
                      <a:r>
                        <a:rPr lang="en-US" b="1" noProof="1">
                          <a:solidFill>
                            <a:schemeClr val="tx1"/>
                          </a:solidFill>
                          <a:latin typeface="Courier New"/>
                          <a:cs typeface="Courier New"/>
                        </a:rPr>
                        <a:t>{</a:t>
                      </a:r>
                      <a:r>
                        <a:rPr lang="en-US" b="1" baseline="0" noProof="1">
                          <a:solidFill>
                            <a:schemeClr val="tx1"/>
                          </a:solidFill>
                          <a:latin typeface="Courier New"/>
                          <a:cs typeface="Courier New"/>
                        </a:rPr>
                        <a:t>"</a:t>
                      </a:r>
                      <a:r>
                        <a:rPr lang="en-US" b="1" noProof="1">
                          <a:solidFill>
                            <a:schemeClr val="tx1"/>
                          </a:solidFill>
                          <a:latin typeface="Courier New"/>
                          <a:cs typeface="Courier New"/>
                        </a:rPr>
                        <a:t>leaw","</a:t>
                      </a:r>
                      <a:r>
                        <a:rPr lang="en-US" b="1" baseline="0" noProof="1">
                          <a:solidFill>
                            <a:schemeClr val="tx1"/>
                          </a:solidFill>
                          <a:latin typeface="Courier New"/>
                          <a:cs typeface="Courier New"/>
                        </a:rPr>
                        <a:t>$</a:t>
                      </a:r>
                      <a:r>
                        <a:rPr lang="en-US" b="1" noProof="1">
                          <a:solidFill>
                            <a:schemeClr val="tx1"/>
                          </a:solidFill>
                          <a:latin typeface="Courier New"/>
                          <a:cs typeface="Courier New"/>
                        </a:rPr>
                        <a:t>i","%A",</a:t>
                      </a:r>
                    </a:p>
                    <a:p>
                      <a:r>
                        <a:rPr lang="en-US" b="1" noProof="1">
                          <a:solidFill>
                            <a:schemeClr val="tx1"/>
                          </a:solidFill>
                          <a:latin typeface="Courier New"/>
                          <a:cs typeface="Courier New"/>
                        </a:rPr>
                        <a:t>"movw","$1","(%A)",</a:t>
                      </a:r>
                    </a:p>
                    <a:p>
                      <a:pPr marL="0" marR="0" indent="0" algn="l" defTabSz="914400" rtl="0" eaLnBrk="1" fontAlgn="auto" latinLnBrk="0" hangingPunct="1">
                        <a:lnSpc>
                          <a:spcPct val="100000"/>
                        </a:lnSpc>
                        <a:spcBef>
                          <a:spcPts val="0"/>
                        </a:spcBef>
                        <a:spcAft>
                          <a:spcPts val="0"/>
                        </a:spcAft>
                        <a:buClrTx/>
                        <a:buSzTx/>
                        <a:buFontTx/>
                        <a:buNone/>
                        <a:tabLst/>
                        <a:defRPr/>
                      </a:pPr>
                      <a:r>
                        <a:rPr lang="en-US" b="1" noProof="1">
                          <a:solidFill>
                            <a:schemeClr val="tx1"/>
                          </a:solidFill>
                          <a:latin typeface="Courier New"/>
                          <a:cs typeface="Courier New"/>
                        </a:rPr>
                        <a:t>"leaw"</a:t>
                      </a:r>
                      <a:r>
                        <a:rPr lang="en-US" b="1" baseline="0" noProof="1">
                          <a:solidFill>
                            <a:schemeClr val="tx1"/>
                          </a:solidFill>
                          <a:latin typeface="Courier New"/>
                          <a:cs typeface="Courier New"/>
                        </a:rPr>
                        <a:t>,"$sum"</a:t>
                      </a:r>
                      <a:r>
                        <a:rPr lang="en-US" b="1" noProof="1">
                          <a:solidFill>
                            <a:schemeClr val="tx1"/>
                          </a:solidFill>
                          <a:latin typeface="Courier New"/>
                          <a:cs typeface="Courier New"/>
                        </a:rPr>
                        <a:t>,"%A",</a:t>
                      </a:r>
                    </a:p>
                    <a:p>
                      <a:r>
                        <a:rPr lang="en-US" b="1" noProof="1">
                          <a:solidFill>
                            <a:schemeClr val="tx1"/>
                          </a:solidFill>
                          <a:latin typeface="Courier New"/>
                          <a:cs typeface="Courier New"/>
                        </a:rPr>
                        <a:t>"movw","$0","(%A)”,</a:t>
                      </a:r>
                    </a:p>
                    <a:p>
                      <a:r>
                        <a:rPr lang="en-US" b="1" noProof="1">
                          <a:solidFill>
                            <a:schemeClr val="tx1"/>
                          </a:solidFill>
                          <a:latin typeface="Courier New"/>
                          <a:cs typeface="Courier New"/>
                        </a:rPr>
                        <a:t>"LOOP:",</a:t>
                      </a:r>
                    </a:p>
                    <a:p>
                      <a:r>
                        <a:rPr lang="en-US" b="1" noProof="1">
                          <a:solidFill>
                            <a:schemeClr val="tx1"/>
                          </a:solidFill>
                          <a:latin typeface="Courier New"/>
                          <a:cs typeface="Courier New"/>
                        </a:rPr>
                        <a:t>"leaw"</a:t>
                      </a:r>
                      <a:r>
                        <a:rPr lang="en-US" b="1" baseline="0" noProof="1">
                          <a:solidFill>
                            <a:schemeClr val="tx1"/>
                          </a:solidFill>
                          <a:latin typeface="Courier New"/>
                          <a:cs typeface="Courier New"/>
                        </a:rPr>
                        <a:t>,"$</a:t>
                      </a:r>
                      <a:r>
                        <a:rPr lang="en-US" b="1" noProof="1">
                          <a:solidFill>
                            <a:schemeClr val="tx1"/>
                          </a:solidFill>
                          <a:latin typeface="Courier New"/>
                          <a:cs typeface="Courier New"/>
                        </a:rPr>
                        <a:t>i","%A",</a:t>
                      </a:r>
                    </a:p>
                    <a:p>
                      <a:r>
                        <a:rPr lang="en-US" b="1" noProof="1">
                          <a:solidFill>
                            <a:schemeClr val="tx1"/>
                          </a:solidFill>
                          <a:latin typeface="Courier New"/>
                          <a:cs typeface="Courier New"/>
                        </a:rPr>
                        <a:t>"movw","(%A)","%D",</a:t>
                      </a:r>
                    </a:p>
                    <a:p>
                      <a:pPr marL="0" marR="0" indent="0" algn="l" defTabSz="914400" rtl="0" eaLnBrk="1" fontAlgn="auto" latinLnBrk="0" hangingPunct="1">
                        <a:lnSpc>
                          <a:spcPct val="100000"/>
                        </a:lnSpc>
                        <a:spcBef>
                          <a:spcPts val="0"/>
                        </a:spcBef>
                        <a:spcAft>
                          <a:spcPts val="0"/>
                        </a:spcAft>
                        <a:buClrTx/>
                        <a:buSzTx/>
                        <a:buFontTx/>
                        <a:buNone/>
                        <a:tabLst/>
                        <a:defRPr/>
                      </a:pPr>
                      <a:r>
                        <a:rPr lang="en-US" b="1" noProof="1">
                          <a:solidFill>
                            <a:schemeClr val="tx1"/>
                          </a:solidFill>
                          <a:latin typeface="Courier New"/>
                          <a:cs typeface="Courier New"/>
                        </a:rPr>
                        <a:t>"leaw"</a:t>
                      </a:r>
                      <a:r>
                        <a:rPr lang="en-US" b="1" baseline="0" noProof="1">
                          <a:solidFill>
                            <a:schemeClr val="tx1"/>
                          </a:solidFill>
                          <a:latin typeface="Courier New"/>
                          <a:cs typeface="Courier New"/>
                        </a:rPr>
                        <a:t>,"$</a:t>
                      </a:r>
                      <a:r>
                        <a:rPr lang="en-US" b="1" noProof="1">
                          <a:solidFill>
                            <a:schemeClr val="tx1"/>
                          </a:solidFill>
                          <a:latin typeface="Courier New"/>
                          <a:cs typeface="Courier New"/>
                        </a:rPr>
                        <a:t>R0","%A",</a:t>
                      </a:r>
                    </a:p>
                    <a:p>
                      <a:pPr marL="0" marR="0" indent="0" algn="l" defTabSz="914400" rtl="0" eaLnBrk="1" fontAlgn="auto" latinLnBrk="0" hangingPunct="1">
                        <a:lnSpc>
                          <a:spcPct val="100000"/>
                        </a:lnSpc>
                        <a:spcBef>
                          <a:spcPts val="0"/>
                        </a:spcBef>
                        <a:spcAft>
                          <a:spcPts val="0"/>
                        </a:spcAft>
                        <a:buClrTx/>
                        <a:buSzTx/>
                        <a:buFontTx/>
                        <a:buNone/>
                        <a:tabLst/>
                        <a:defRPr/>
                      </a:pPr>
                      <a:r>
                        <a:rPr lang="en-US" b="1" noProof="1">
                          <a:solidFill>
                            <a:schemeClr val="tx1"/>
                          </a:solidFill>
                          <a:latin typeface="Courier New"/>
                          <a:cs typeface="Courier New"/>
                        </a:rPr>
                        <a:t>"subw",</a:t>
                      </a:r>
                      <a:r>
                        <a:rPr lang="en-US" b="1" baseline="0" noProof="1">
                          <a:solidFill>
                            <a:schemeClr val="tx1"/>
                          </a:solidFill>
                          <a:latin typeface="Courier New"/>
                          <a:cs typeface="Courier New"/>
                        </a:rPr>
                        <a:t>"%D","(%A)","%D",</a:t>
                      </a: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noProof="1">
                          <a:solidFill>
                            <a:schemeClr val="tx1"/>
                          </a:solidFill>
                          <a:latin typeface="Courier New"/>
                          <a:cs typeface="Courier New"/>
                        </a:rPr>
                        <a:t>"leaw","$LOOP","%A",</a:t>
                      </a:r>
                      <a:endParaRPr lang="en-US" b="1" noProof="1">
                        <a:solidFill>
                          <a:schemeClr val="tx1"/>
                        </a:solidFill>
                        <a:latin typeface="Courier New"/>
                        <a:cs typeface="Courier New"/>
                      </a:endParaRPr>
                    </a:p>
                    <a:p>
                      <a:r>
                        <a:rPr lang="en-US" b="1" noProof="1">
                          <a:solidFill>
                            <a:schemeClr val="tx1"/>
                          </a:solidFill>
                          <a:latin typeface="Courier New"/>
                          <a:cs typeface="Courier New"/>
                        </a:rPr>
                        <a:t>"jg", "%D"}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bl>
          </a:graphicData>
        </a:graphic>
      </p:graphicFrame>
      <p:sp>
        <p:nvSpPr>
          <p:cNvPr id="9" name="Right Arrow 8"/>
          <p:cNvSpPr/>
          <p:nvPr/>
        </p:nvSpPr>
        <p:spPr>
          <a:xfrm>
            <a:off x="3584448" y="3893848"/>
            <a:ext cx="1521942" cy="488487"/>
          </a:xfrm>
          <a:prstGeom prst="rightArrow">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noProof="1">
                <a:ln w="0"/>
                <a:solidFill>
                  <a:schemeClr val="accent1"/>
                </a:solidFill>
                <a:effectLst>
                  <a:outerShdw blurRad="38100" dist="25400" dir="5400000" algn="ctr" rotWithShape="0">
                    <a:srgbClr val="6E747A">
                      <a:alpha val="43000"/>
                    </a:srgbClr>
                  </a:outerShdw>
                </a:effectLst>
              </a:rPr>
              <a:t>tokenização</a:t>
            </a:r>
          </a:p>
        </p:txBody>
      </p:sp>
      <p:sp>
        <p:nvSpPr>
          <p:cNvPr id="7" name="TextBox 6">
            <a:extLst>
              <a:ext uri="{FF2B5EF4-FFF2-40B4-BE49-F238E27FC236}">
                <a16:creationId xmlns:a16="http://schemas.microsoft.com/office/drawing/2014/main" id="{BBB8DFEB-60F4-F706-0560-7FC8E16605C7}"/>
              </a:ext>
            </a:extLst>
          </p:cNvPr>
          <p:cNvSpPr txBox="1"/>
          <p:nvPr/>
        </p:nvSpPr>
        <p:spPr>
          <a:xfrm>
            <a:off x="6400800" y="6338063"/>
            <a:ext cx="1645920" cy="369332"/>
          </a:xfrm>
          <a:prstGeom prst="rect">
            <a:avLst/>
          </a:prstGeom>
          <a:noFill/>
        </p:spPr>
        <p:txBody>
          <a:bodyPr wrap="square">
            <a:spAutoFit/>
          </a:bodyPr>
          <a:lstStyle/>
          <a:p>
            <a:r>
              <a:rPr lang="en-BR" b="1" dirty="0"/>
              <a:t>Arquitetura Z0</a:t>
            </a:r>
            <a:endParaRPr lang="en-US" b="1" dirty="0"/>
          </a:p>
        </p:txBody>
      </p:sp>
    </p:spTree>
    <p:extLst>
      <p:ext uri="{BB962C8B-B14F-4D97-AF65-F5344CB8AC3E}">
        <p14:creationId xmlns:p14="http://schemas.microsoft.com/office/powerpoint/2010/main" val="745528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Funcionamento Básico</a:t>
            </a:r>
          </a:p>
        </p:txBody>
      </p:sp>
      <p:sp>
        <p:nvSpPr>
          <p:cNvPr id="3" name="Content Placeholder 2"/>
          <p:cNvSpPr>
            <a:spLocks noGrp="1"/>
          </p:cNvSpPr>
          <p:nvPr>
            <p:ph idx="1"/>
          </p:nvPr>
        </p:nvSpPr>
        <p:spPr/>
        <p:txBody>
          <a:bodyPr>
            <a:normAutofit/>
          </a:bodyPr>
          <a:lstStyle/>
          <a:p>
            <a:r>
              <a:rPr lang="pt-BR" sz="2400" dirty="0"/>
              <a:t>Mnemônico da instrução é a principal referência para se detectar o </a:t>
            </a:r>
            <a:r>
              <a:rPr lang="pt-BR" sz="2400" dirty="0" err="1"/>
              <a:t>opcode</a:t>
            </a:r>
            <a:r>
              <a:rPr lang="pt-BR" sz="2400" dirty="0"/>
              <a:t> (código de instrução em linguagem de máquina).</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8</a:t>
            </a:fld>
            <a:endParaRPr lang="pt-BR" dirty="0"/>
          </a:p>
        </p:txBody>
      </p:sp>
      <p:graphicFrame>
        <p:nvGraphicFramePr>
          <p:cNvPr id="7" name="Table 6"/>
          <p:cNvGraphicFramePr>
            <a:graphicFrameLocks noGrp="1"/>
          </p:cNvGraphicFramePr>
          <p:nvPr>
            <p:extLst>
              <p:ext uri="{D42A27DB-BD31-4B8C-83A1-F6EECF244321}">
                <p14:modId xmlns:p14="http://schemas.microsoft.com/office/powerpoint/2010/main" val="2203726322"/>
              </p:ext>
            </p:extLst>
          </p:nvPr>
        </p:nvGraphicFramePr>
        <p:xfrm>
          <a:off x="1648496" y="2987373"/>
          <a:ext cx="5613988" cy="3108960"/>
        </p:xfrm>
        <a:graphic>
          <a:graphicData uri="http://schemas.openxmlformats.org/drawingml/2006/table">
            <a:tbl>
              <a:tblPr>
                <a:tableStyleId>{5C22544A-7EE6-4342-B048-85BDC9FD1C3A}</a:tableStyleId>
              </a:tblPr>
              <a:tblGrid>
                <a:gridCol w="2806994">
                  <a:extLst>
                    <a:ext uri="{9D8B030D-6E8A-4147-A177-3AD203B41FA5}">
                      <a16:colId xmlns:a16="http://schemas.microsoft.com/office/drawing/2014/main" val="20000"/>
                    </a:ext>
                  </a:extLst>
                </a:gridCol>
                <a:gridCol w="2806994">
                  <a:extLst>
                    <a:ext uri="{9D8B030D-6E8A-4147-A177-3AD203B41FA5}">
                      <a16:colId xmlns:a16="http://schemas.microsoft.com/office/drawing/2014/main" val="20001"/>
                    </a:ext>
                  </a:extLst>
                </a:gridCol>
              </a:tblGrid>
              <a:tr h="370840">
                <a:tc>
                  <a:txBody>
                    <a:bodyPr/>
                    <a:lstStyle/>
                    <a:p>
                      <a:r>
                        <a:rPr lang="en-US" b="1" noProof="1">
                          <a:latin typeface="Courier New"/>
                          <a:cs typeface="Courier New"/>
                        </a:rPr>
                        <a:t>    </a:t>
                      </a:r>
                      <a:r>
                        <a:rPr lang="en-US" b="1" noProof="1">
                          <a:solidFill>
                            <a:srgbClr val="FF0000"/>
                          </a:solidFill>
                          <a:latin typeface="Courier New"/>
                          <a:cs typeface="Courier New"/>
                        </a:rPr>
                        <a:t>leaw</a:t>
                      </a:r>
                      <a:r>
                        <a:rPr lang="en-US" b="1" baseline="0" noProof="1">
                          <a:solidFill>
                            <a:srgbClr val="FF0000"/>
                          </a:solidFill>
                          <a:latin typeface="Courier New"/>
                          <a:cs typeface="Courier New"/>
                        </a:rPr>
                        <a:t> </a:t>
                      </a:r>
                      <a:r>
                        <a:rPr lang="en-US" b="1" baseline="0" noProof="1">
                          <a:latin typeface="Courier New"/>
                          <a:cs typeface="Courier New"/>
                        </a:rPr>
                        <a:t>$</a:t>
                      </a:r>
                      <a:r>
                        <a:rPr lang="en-US" b="1" noProof="1">
                          <a:latin typeface="Courier New"/>
                          <a:cs typeface="Courier New"/>
                        </a:rPr>
                        <a:t>i,%A</a:t>
                      </a:r>
                    </a:p>
                    <a:p>
                      <a:r>
                        <a:rPr lang="en-US" b="1" noProof="1">
                          <a:latin typeface="Courier New"/>
                          <a:cs typeface="Courier New"/>
                        </a:rPr>
                        <a:t>    </a:t>
                      </a:r>
                      <a:r>
                        <a:rPr lang="en-US" b="1" noProof="1">
                          <a:solidFill>
                            <a:srgbClr val="FF0000"/>
                          </a:solidFill>
                          <a:latin typeface="Courier New"/>
                          <a:cs typeface="Courier New"/>
                        </a:rPr>
                        <a:t>movw </a:t>
                      </a:r>
                      <a:r>
                        <a:rPr lang="en-US" b="1" noProof="1">
                          <a:latin typeface="Courier New"/>
                          <a:cs typeface="Courier New"/>
                        </a:rPr>
                        <a:t>$1,(%A)</a:t>
                      </a:r>
                    </a:p>
                    <a:p>
                      <a:pPr marL="0" marR="0" indent="0" algn="l" defTabSz="914400" rtl="0" eaLnBrk="1" fontAlgn="auto" latinLnBrk="0" hangingPunct="1">
                        <a:lnSpc>
                          <a:spcPct val="100000"/>
                        </a:lnSpc>
                        <a:spcBef>
                          <a:spcPts val="0"/>
                        </a:spcBef>
                        <a:spcAft>
                          <a:spcPts val="0"/>
                        </a:spcAft>
                        <a:buClrTx/>
                        <a:buSzTx/>
                        <a:buFontTx/>
                        <a:buNone/>
                        <a:tabLst/>
                        <a:defRPr/>
                      </a:pPr>
                      <a:r>
                        <a:rPr lang="en-US" b="1" noProof="1">
                          <a:latin typeface="Courier New"/>
                          <a:cs typeface="Courier New"/>
                        </a:rPr>
                        <a:t>    </a:t>
                      </a:r>
                      <a:r>
                        <a:rPr lang="en-US" b="1" noProof="1">
                          <a:solidFill>
                            <a:srgbClr val="FF0000"/>
                          </a:solidFill>
                          <a:latin typeface="Courier New"/>
                          <a:cs typeface="Courier New"/>
                        </a:rPr>
                        <a:t>leaw</a:t>
                      </a:r>
                      <a:r>
                        <a:rPr lang="en-US" b="1" baseline="0" noProof="1">
                          <a:solidFill>
                            <a:srgbClr val="FF0000"/>
                          </a:solidFill>
                          <a:latin typeface="Courier New"/>
                          <a:cs typeface="Courier New"/>
                        </a:rPr>
                        <a:t> </a:t>
                      </a:r>
                      <a:r>
                        <a:rPr lang="en-US" b="1" baseline="0" noProof="1">
                          <a:latin typeface="Courier New"/>
                          <a:cs typeface="Courier New"/>
                        </a:rPr>
                        <a:t>$sum</a:t>
                      </a:r>
                      <a:r>
                        <a:rPr lang="en-US" b="1" noProof="1">
                          <a:latin typeface="Courier New"/>
                          <a:cs typeface="Courier New"/>
                        </a:rPr>
                        <a:t>,%A</a:t>
                      </a:r>
                    </a:p>
                    <a:p>
                      <a:r>
                        <a:rPr lang="en-US" b="1" noProof="1">
                          <a:latin typeface="Courier New"/>
                          <a:cs typeface="Courier New"/>
                        </a:rPr>
                        <a:t>    </a:t>
                      </a:r>
                      <a:r>
                        <a:rPr lang="en-US" b="1" noProof="1">
                          <a:solidFill>
                            <a:srgbClr val="FF0000"/>
                          </a:solidFill>
                          <a:latin typeface="Courier New"/>
                          <a:cs typeface="Courier New"/>
                        </a:rPr>
                        <a:t>movw </a:t>
                      </a:r>
                      <a:r>
                        <a:rPr lang="en-US" b="1" noProof="1">
                          <a:latin typeface="Courier New"/>
                          <a:cs typeface="Courier New"/>
                        </a:rPr>
                        <a:t>$0,(%A)</a:t>
                      </a:r>
                    </a:p>
                    <a:p>
                      <a:r>
                        <a:rPr lang="en-US" b="1" noProof="1">
                          <a:latin typeface="Courier New"/>
                          <a:cs typeface="Courier New"/>
                        </a:rPr>
                        <a:t>LOOP:</a:t>
                      </a:r>
                    </a:p>
                    <a:p>
                      <a:r>
                        <a:rPr lang="en-US" b="1" noProof="1">
                          <a:latin typeface="Courier New"/>
                          <a:cs typeface="Courier New"/>
                        </a:rPr>
                        <a:t>    </a:t>
                      </a:r>
                      <a:r>
                        <a:rPr lang="en-US" b="1" noProof="1">
                          <a:solidFill>
                            <a:srgbClr val="FF0000"/>
                          </a:solidFill>
                          <a:latin typeface="Courier New"/>
                          <a:cs typeface="Courier New"/>
                        </a:rPr>
                        <a:t>leaw</a:t>
                      </a:r>
                      <a:r>
                        <a:rPr lang="en-US" b="1" baseline="0" noProof="1">
                          <a:solidFill>
                            <a:srgbClr val="FF0000"/>
                          </a:solidFill>
                          <a:latin typeface="Courier New"/>
                          <a:cs typeface="Courier New"/>
                        </a:rPr>
                        <a:t> </a:t>
                      </a:r>
                      <a:r>
                        <a:rPr lang="en-US" b="1" baseline="0" noProof="1">
                          <a:latin typeface="Courier New"/>
                          <a:cs typeface="Courier New"/>
                        </a:rPr>
                        <a:t>$</a:t>
                      </a:r>
                      <a:r>
                        <a:rPr lang="en-US" b="1" noProof="1">
                          <a:latin typeface="Courier New"/>
                          <a:cs typeface="Courier New"/>
                        </a:rPr>
                        <a:t>i,%A</a:t>
                      </a:r>
                    </a:p>
                    <a:p>
                      <a:r>
                        <a:rPr lang="en-US" b="1" noProof="1">
                          <a:latin typeface="Courier New"/>
                          <a:cs typeface="Courier New"/>
                        </a:rPr>
                        <a:t>    </a:t>
                      </a:r>
                      <a:r>
                        <a:rPr lang="en-US" b="1" noProof="1">
                          <a:solidFill>
                            <a:srgbClr val="FF0000"/>
                          </a:solidFill>
                          <a:latin typeface="Courier New"/>
                          <a:cs typeface="Courier New"/>
                        </a:rPr>
                        <a:t>movw </a:t>
                      </a:r>
                      <a:r>
                        <a:rPr lang="en-US" b="1" noProof="1">
                          <a:latin typeface="Courier New"/>
                          <a:cs typeface="Courier New"/>
                        </a:rPr>
                        <a:t>(%A),%D</a:t>
                      </a:r>
                    </a:p>
                    <a:p>
                      <a:pPr marL="0" marR="0" indent="0" algn="l" defTabSz="914400" rtl="0" eaLnBrk="1" fontAlgn="auto" latinLnBrk="0" hangingPunct="1">
                        <a:lnSpc>
                          <a:spcPct val="100000"/>
                        </a:lnSpc>
                        <a:spcBef>
                          <a:spcPts val="0"/>
                        </a:spcBef>
                        <a:spcAft>
                          <a:spcPts val="0"/>
                        </a:spcAft>
                        <a:buClrTx/>
                        <a:buSzTx/>
                        <a:buFontTx/>
                        <a:buNone/>
                        <a:tabLst/>
                        <a:defRPr/>
                      </a:pPr>
                      <a:r>
                        <a:rPr lang="en-US" b="1" noProof="1">
                          <a:latin typeface="Courier New"/>
                          <a:cs typeface="Courier New"/>
                        </a:rPr>
                        <a:t>    </a:t>
                      </a:r>
                      <a:r>
                        <a:rPr lang="en-US" b="1" noProof="1">
                          <a:solidFill>
                            <a:srgbClr val="FF0000"/>
                          </a:solidFill>
                          <a:latin typeface="Courier New"/>
                          <a:cs typeface="Courier New"/>
                        </a:rPr>
                        <a:t>leaw</a:t>
                      </a:r>
                      <a:r>
                        <a:rPr lang="en-US" b="1" baseline="0" noProof="1">
                          <a:solidFill>
                            <a:srgbClr val="FF0000"/>
                          </a:solidFill>
                          <a:latin typeface="Courier New"/>
                          <a:cs typeface="Courier New"/>
                        </a:rPr>
                        <a:t> </a:t>
                      </a:r>
                      <a:r>
                        <a:rPr lang="en-US" b="1" baseline="0" noProof="1">
                          <a:latin typeface="Courier New"/>
                          <a:cs typeface="Courier New"/>
                        </a:rPr>
                        <a:t>$</a:t>
                      </a:r>
                      <a:r>
                        <a:rPr lang="en-US" b="1" noProof="1">
                          <a:latin typeface="Courier New"/>
                          <a:cs typeface="Courier New"/>
                        </a:rPr>
                        <a:t>R0,%A</a:t>
                      </a:r>
                    </a:p>
                    <a:p>
                      <a:pPr marL="0" marR="0" indent="0" algn="l" defTabSz="914400" rtl="0" eaLnBrk="1" fontAlgn="auto" latinLnBrk="0" hangingPunct="1">
                        <a:lnSpc>
                          <a:spcPct val="100000"/>
                        </a:lnSpc>
                        <a:spcBef>
                          <a:spcPts val="0"/>
                        </a:spcBef>
                        <a:spcAft>
                          <a:spcPts val="0"/>
                        </a:spcAft>
                        <a:buClrTx/>
                        <a:buSzTx/>
                        <a:buFontTx/>
                        <a:buNone/>
                        <a:tabLst/>
                        <a:defRPr/>
                      </a:pPr>
                      <a:r>
                        <a:rPr lang="en-US" b="1" noProof="1">
                          <a:latin typeface="Courier New"/>
                          <a:cs typeface="Courier New"/>
                        </a:rPr>
                        <a:t>    </a:t>
                      </a:r>
                      <a:r>
                        <a:rPr lang="en-US" b="1" noProof="1">
                          <a:solidFill>
                            <a:srgbClr val="FF0000"/>
                          </a:solidFill>
                          <a:latin typeface="Courier New"/>
                          <a:cs typeface="Courier New"/>
                        </a:rPr>
                        <a:t>subw</a:t>
                      </a:r>
                      <a:r>
                        <a:rPr lang="en-US" b="1" baseline="0" noProof="1">
                          <a:solidFill>
                            <a:srgbClr val="FF0000"/>
                          </a:solidFill>
                          <a:latin typeface="Courier New"/>
                          <a:cs typeface="Courier New"/>
                        </a:rPr>
                        <a:t> </a:t>
                      </a:r>
                      <a:r>
                        <a:rPr lang="en-US" b="1" baseline="0" noProof="1">
                          <a:latin typeface="Courier New"/>
                          <a:cs typeface="Courier New"/>
                        </a:rPr>
                        <a:t>%D,(%A),%D</a:t>
                      </a: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noProof="1">
                          <a:latin typeface="Courier New"/>
                          <a:cs typeface="Courier New"/>
                        </a:rPr>
                        <a:t>    </a:t>
                      </a:r>
                      <a:r>
                        <a:rPr lang="en-US" b="1" baseline="0" noProof="1">
                          <a:solidFill>
                            <a:srgbClr val="FF0000"/>
                          </a:solidFill>
                          <a:latin typeface="Courier New"/>
                          <a:cs typeface="Courier New"/>
                        </a:rPr>
                        <a:t>leaw </a:t>
                      </a:r>
                      <a:r>
                        <a:rPr lang="en-US" b="1" baseline="0" noProof="1">
                          <a:latin typeface="Courier New"/>
                          <a:cs typeface="Courier New"/>
                        </a:rPr>
                        <a:t>$LOOP,%A</a:t>
                      </a:r>
                      <a:endParaRPr lang="en-US" b="1" noProof="1">
                        <a:latin typeface="Courier New"/>
                        <a:cs typeface="Courier New"/>
                      </a:endParaRPr>
                    </a:p>
                    <a:p>
                      <a:r>
                        <a:rPr lang="en-US" b="1" noProof="1">
                          <a:latin typeface="Courier New"/>
                          <a:cs typeface="Courier New"/>
                        </a:rPr>
                        <a:t>    </a:t>
                      </a:r>
                      <a:r>
                        <a:rPr lang="en-US" b="1" noProof="1">
                          <a:solidFill>
                            <a:srgbClr val="FF0000"/>
                          </a:solidFill>
                          <a:latin typeface="Courier New"/>
                          <a:cs typeface="Courier New"/>
                        </a:rPr>
                        <a:t>jg</a:t>
                      </a:r>
                      <a:r>
                        <a:rPr lang="en-US" b="1" baseline="0" noProof="1">
                          <a:solidFill>
                            <a:srgbClr val="FF0000"/>
                          </a:solidFill>
                          <a:latin typeface="Courier New"/>
                          <a:cs typeface="Courier New"/>
                        </a:rPr>
                        <a:t>   </a:t>
                      </a:r>
                      <a:r>
                        <a:rPr lang="en-US" b="1" baseline="0" noProof="1">
                          <a:latin typeface="Courier New"/>
                          <a:cs typeface="Courier New"/>
                        </a:rPr>
                        <a:t>%D</a:t>
                      </a:r>
                      <a:endParaRPr lang="en-US" b="1" noProof="1">
                        <a:solidFill>
                          <a:srgbClr val="FF0000"/>
                        </a:solidFill>
                        <a:latin typeface="Courier New"/>
                        <a:cs typeface="Courier New"/>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b="1" noProof="1">
                          <a:latin typeface="Courier New"/>
                          <a:cs typeface="Courier New"/>
                        </a:rPr>
                        <a:t>0000000000010000</a:t>
                      </a:r>
                    </a:p>
                    <a:p>
                      <a:pPr algn="ctr"/>
                      <a:r>
                        <a:rPr lang="en-US" b="1" noProof="1">
                          <a:latin typeface="Courier New"/>
                          <a:cs typeface="Courier New"/>
                        </a:rPr>
                        <a:t>1110111111001000</a:t>
                      </a:r>
                    </a:p>
                    <a:p>
                      <a:pPr algn="ctr"/>
                      <a:r>
                        <a:rPr lang="en-US" b="1" noProof="1">
                          <a:latin typeface="Courier New"/>
                          <a:cs typeface="Courier New"/>
                        </a:rPr>
                        <a:t>0000000000010001</a:t>
                      </a:r>
                    </a:p>
                    <a:p>
                      <a:pPr algn="ctr"/>
                      <a:r>
                        <a:rPr lang="en-US" b="1" noProof="1">
                          <a:latin typeface="Courier New"/>
                          <a:cs typeface="Courier New"/>
                        </a:rPr>
                        <a:t>1110101010001000</a:t>
                      </a:r>
                    </a:p>
                    <a:p>
                      <a:pPr algn="ctr"/>
                      <a:endParaRPr lang="en-US" sz="800" b="1" noProof="1">
                        <a:latin typeface="Courier New"/>
                        <a:cs typeface="Courier New"/>
                      </a:endParaRPr>
                    </a:p>
                    <a:p>
                      <a:pPr algn="ctr"/>
                      <a:r>
                        <a:rPr lang="en-US" b="1" noProof="1">
                          <a:latin typeface="Courier New"/>
                          <a:cs typeface="Courier New"/>
                        </a:rPr>
                        <a:t>0000000000010000</a:t>
                      </a:r>
                    </a:p>
                    <a:p>
                      <a:pPr algn="ctr"/>
                      <a:r>
                        <a:rPr lang="en-US" b="1" noProof="1">
                          <a:latin typeface="Courier New"/>
                          <a:cs typeface="Courier New"/>
                        </a:rPr>
                        <a:t>1111110000010000</a:t>
                      </a:r>
                    </a:p>
                    <a:p>
                      <a:pPr algn="ctr"/>
                      <a:r>
                        <a:rPr lang="en-US" b="1" noProof="1">
                          <a:latin typeface="Courier New"/>
                          <a:cs typeface="Courier New"/>
                        </a:rPr>
                        <a:t>0000000000000000</a:t>
                      </a:r>
                    </a:p>
                    <a:p>
                      <a:pPr algn="ctr"/>
                      <a:r>
                        <a:rPr lang="en-US" b="1" noProof="1">
                          <a:latin typeface="Courier New"/>
                          <a:cs typeface="Courier New"/>
                        </a:rPr>
                        <a:t>1111010011010000</a:t>
                      </a:r>
                    </a:p>
                    <a:p>
                      <a:pPr algn="ctr"/>
                      <a:r>
                        <a:rPr lang="en-US" b="1" noProof="1">
                          <a:latin typeface="Courier New"/>
                          <a:cs typeface="Courier New"/>
                        </a:rPr>
                        <a:t>0000000000000100</a:t>
                      </a:r>
                    </a:p>
                    <a:p>
                      <a:pPr algn="ctr"/>
                      <a:r>
                        <a:rPr lang="en-US" b="1" noProof="1">
                          <a:latin typeface="Courier New"/>
                          <a:cs typeface="Courier New"/>
                        </a:rPr>
                        <a:t>1110001100000001</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8" name="TextBox 7">
            <a:extLst>
              <a:ext uri="{FF2B5EF4-FFF2-40B4-BE49-F238E27FC236}">
                <a16:creationId xmlns:a16="http://schemas.microsoft.com/office/drawing/2014/main" id="{B6627997-5DA0-E129-BA28-271D683B96A6}"/>
              </a:ext>
            </a:extLst>
          </p:cNvPr>
          <p:cNvSpPr txBox="1"/>
          <p:nvPr/>
        </p:nvSpPr>
        <p:spPr>
          <a:xfrm>
            <a:off x="6400800" y="6338063"/>
            <a:ext cx="1645920" cy="369332"/>
          </a:xfrm>
          <a:prstGeom prst="rect">
            <a:avLst/>
          </a:prstGeom>
          <a:noFill/>
        </p:spPr>
        <p:txBody>
          <a:bodyPr wrap="square">
            <a:spAutoFit/>
          </a:bodyPr>
          <a:lstStyle/>
          <a:p>
            <a:r>
              <a:rPr lang="en-BR" b="1" dirty="0"/>
              <a:t>Arquitetura Z0</a:t>
            </a:r>
            <a:endParaRPr lang="en-US" b="1" dirty="0"/>
          </a:p>
        </p:txBody>
      </p:sp>
    </p:spTree>
    <p:extLst>
      <p:ext uri="{BB962C8B-B14F-4D97-AF65-F5344CB8AC3E}">
        <p14:creationId xmlns:p14="http://schemas.microsoft.com/office/powerpoint/2010/main" val="698686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Assembler (Símbolos)</a:t>
            </a:r>
          </a:p>
        </p:txBody>
      </p:sp>
      <p:sp>
        <p:nvSpPr>
          <p:cNvPr id="3" name="Content Placeholder 2"/>
          <p:cNvSpPr>
            <a:spLocks noGrp="1"/>
          </p:cNvSpPr>
          <p:nvPr>
            <p:ph idx="1"/>
          </p:nvPr>
        </p:nvSpPr>
        <p:spPr/>
        <p:txBody>
          <a:bodyPr>
            <a:normAutofit/>
          </a:bodyPr>
          <a:lstStyle/>
          <a:p>
            <a:r>
              <a:rPr lang="pt-BR" sz="2400" dirty="0"/>
              <a:t>Uma tabela de símbolos (</a:t>
            </a:r>
            <a:r>
              <a:rPr lang="pt-BR" sz="2400" dirty="0" err="1"/>
              <a:t>Symbol</a:t>
            </a:r>
            <a:r>
              <a:rPr lang="pt-BR" sz="2400" dirty="0"/>
              <a:t> </a:t>
            </a:r>
            <a:r>
              <a:rPr lang="pt-BR" sz="2400" dirty="0" err="1"/>
              <a:t>Table</a:t>
            </a:r>
            <a:r>
              <a:rPr lang="pt-BR" sz="2400" dirty="0"/>
              <a:t>) é usada para esta gestão de memória.</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9</a:t>
            </a:fld>
            <a:endParaRPr lang="pt-BR" dirty="0"/>
          </a:p>
        </p:txBody>
      </p:sp>
      <p:graphicFrame>
        <p:nvGraphicFramePr>
          <p:cNvPr id="6" name="Table 5"/>
          <p:cNvGraphicFramePr>
            <a:graphicFrameLocks noGrp="1"/>
          </p:cNvGraphicFramePr>
          <p:nvPr>
            <p:extLst>
              <p:ext uri="{D42A27DB-BD31-4B8C-83A1-F6EECF244321}">
                <p14:modId xmlns:p14="http://schemas.microsoft.com/office/powerpoint/2010/main" val="1597148228"/>
              </p:ext>
            </p:extLst>
          </p:nvPr>
        </p:nvGraphicFramePr>
        <p:xfrm>
          <a:off x="5082638" y="2594993"/>
          <a:ext cx="3016332" cy="3657600"/>
        </p:xfrm>
        <a:graphic>
          <a:graphicData uri="http://schemas.openxmlformats.org/drawingml/2006/table">
            <a:tbl>
              <a:tblPr firstRow="1">
                <a:tableStyleId>{7DF18680-E054-41AD-8BC1-D1AEF772440D}</a:tableStyleId>
              </a:tblPr>
              <a:tblGrid>
                <a:gridCol w="1516257">
                  <a:extLst>
                    <a:ext uri="{9D8B030D-6E8A-4147-A177-3AD203B41FA5}">
                      <a16:colId xmlns:a16="http://schemas.microsoft.com/office/drawing/2014/main" val="20000"/>
                    </a:ext>
                  </a:extLst>
                </a:gridCol>
                <a:gridCol w="1500075">
                  <a:extLst>
                    <a:ext uri="{9D8B030D-6E8A-4147-A177-3AD203B41FA5}">
                      <a16:colId xmlns:a16="http://schemas.microsoft.com/office/drawing/2014/main" val="20001"/>
                    </a:ext>
                  </a:extLst>
                </a:gridCol>
              </a:tblGrid>
              <a:tr h="243107">
                <a:tc>
                  <a:txBody>
                    <a:bodyPr/>
                    <a:lstStyle/>
                    <a:p>
                      <a:pPr algn="ctr"/>
                      <a:r>
                        <a:rPr lang="pt-BR" sz="2400" b="1" kern="1200" dirty="0">
                          <a:solidFill>
                            <a:schemeClr val="lt1"/>
                          </a:solidFill>
                          <a:latin typeface="+mn-lt"/>
                          <a:ea typeface="+mn-ea"/>
                          <a:cs typeface="+mn-cs"/>
                        </a:rPr>
                        <a:t>Símbolo</a:t>
                      </a:r>
                    </a:p>
                  </a:txBody>
                  <a:tcPr marL="85742" marR="85742" marT="0" marB="0"/>
                </a:tc>
                <a:tc>
                  <a:txBody>
                    <a:bodyPr/>
                    <a:lstStyle/>
                    <a:p>
                      <a:pPr algn="ctr"/>
                      <a:r>
                        <a:rPr lang="pt-BR" sz="2400" b="1" kern="1200" dirty="0">
                          <a:solidFill>
                            <a:schemeClr val="lt1"/>
                          </a:solidFill>
                          <a:latin typeface="+mn-lt"/>
                          <a:ea typeface="+mn-ea"/>
                          <a:cs typeface="+mn-cs"/>
                        </a:rPr>
                        <a:t>Endereço</a:t>
                      </a:r>
                    </a:p>
                  </a:txBody>
                  <a:tcPr marL="85742" marR="85742" marT="0" marB="0"/>
                </a:tc>
                <a:extLst>
                  <a:ext uri="{0D108BD9-81ED-4DB2-BD59-A6C34878D82A}">
                    <a16:rowId xmlns:a16="http://schemas.microsoft.com/office/drawing/2014/main" val="10000"/>
                  </a:ext>
                </a:extLst>
              </a:tr>
              <a:tr h="243107">
                <a:tc>
                  <a:txBody>
                    <a:bodyPr/>
                    <a:lstStyle/>
                    <a:p>
                      <a:pPr marL="0" algn="r" defTabSz="914400" rtl="0" eaLnBrk="1" latinLnBrk="0" hangingPunct="1"/>
                      <a:r>
                        <a:rPr lang="pt-BR" sz="2400" b="1" kern="1200" dirty="0">
                          <a:solidFill>
                            <a:schemeClr val="dk1"/>
                          </a:solidFill>
                          <a:latin typeface="+mn-lt"/>
                          <a:ea typeface="+mn-ea"/>
                          <a:cs typeface="+mn-cs"/>
                        </a:rPr>
                        <a:t>R0</a:t>
                      </a:r>
                    </a:p>
                  </a:txBody>
                  <a:tcPr marL="85742" marR="85742" marT="0" marB="0"/>
                </a:tc>
                <a:tc>
                  <a:txBody>
                    <a:bodyPr/>
                    <a:lstStyle/>
                    <a:p>
                      <a:pPr marL="0" algn="r" defTabSz="914400" rtl="0" eaLnBrk="1" latinLnBrk="0" hangingPunct="1"/>
                      <a:r>
                        <a:rPr lang="pt-BR" sz="2400" b="1" kern="1200" dirty="0">
                          <a:solidFill>
                            <a:schemeClr val="dk1"/>
                          </a:solidFill>
                          <a:latin typeface="+mn-lt"/>
                          <a:ea typeface="+mn-ea"/>
                          <a:cs typeface="+mn-cs"/>
                        </a:rPr>
                        <a:t>0</a:t>
                      </a:r>
                    </a:p>
                  </a:txBody>
                  <a:tcPr marL="85742" marR="85742" marT="0" marB="0"/>
                </a:tc>
                <a:extLst>
                  <a:ext uri="{0D108BD9-81ED-4DB2-BD59-A6C34878D82A}">
                    <a16:rowId xmlns:a16="http://schemas.microsoft.com/office/drawing/2014/main" val="10001"/>
                  </a:ext>
                </a:extLst>
              </a:tr>
              <a:tr h="243107">
                <a:tc>
                  <a:txBody>
                    <a:bodyPr/>
                    <a:lstStyle/>
                    <a:p>
                      <a:pPr marL="0" algn="r" defTabSz="914400" rtl="0" eaLnBrk="1" latinLnBrk="0" hangingPunct="1"/>
                      <a:r>
                        <a:rPr lang="pt-BR" sz="2400" b="1" kern="1200" dirty="0">
                          <a:solidFill>
                            <a:schemeClr val="dk1"/>
                          </a:solidFill>
                          <a:latin typeface="+mn-lt"/>
                          <a:ea typeface="+mn-ea"/>
                          <a:cs typeface="+mn-cs"/>
                        </a:rPr>
                        <a:t>R1</a:t>
                      </a:r>
                    </a:p>
                  </a:txBody>
                  <a:tcPr marL="85742" marR="85742" marT="0" marB="0"/>
                </a:tc>
                <a:tc>
                  <a:txBody>
                    <a:bodyPr/>
                    <a:lstStyle/>
                    <a:p>
                      <a:pPr marL="0" algn="r" defTabSz="914400" rtl="0" eaLnBrk="1" latinLnBrk="0" hangingPunct="1"/>
                      <a:r>
                        <a:rPr lang="pt-BR" sz="2400" b="1" kern="1200" dirty="0">
                          <a:solidFill>
                            <a:schemeClr val="dk1"/>
                          </a:solidFill>
                          <a:latin typeface="+mn-lt"/>
                          <a:ea typeface="+mn-ea"/>
                          <a:cs typeface="+mn-cs"/>
                        </a:rPr>
                        <a:t>1</a:t>
                      </a:r>
                    </a:p>
                  </a:txBody>
                  <a:tcPr marL="85742" marR="85742" marT="0" marB="0"/>
                </a:tc>
                <a:extLst>
                  <a:ext uri="{0D108BD9-81ED-4DB2-BD59-A6C34878D82A}">
                    <a16:rowId xmlns:a16="http://schemas.microsoft.com/office/drawing/2014/main" val="10002"/>
                  </a:ext>
                </a:extLst>
              </a:tr>
              <a:tr h="243107">
                <a:tc>
                  <a:txBody>
                    <a:bodyPr/>
                    <a:lstStyle/>
                    <a:p>
                      <a:pPr marL="0" algn="r" defTabSz="914400" rtl="0" eaLnBrk="1" latinLnBrk="0" hangingPunct="1"/>
                      <a:r>
                        <a:rPr lang="pt-BR" sz="2400" b="1" kern="1200" dirty="0">
                          <a:solidFill>
                            <a:schemeClr val="dk1"/>
                          </a:solidFill>
                          <a:latin typeface="+mn-lt"/>
                          <a:ea typeface="+mn-ea"/>
                          <a:cs typeface="+mn-cs"/>
                        </a:rPr>
                        <a:t>R2</a:t>
                      </a:r>
                    </a:p>
                  </a:txBody>
                  <a:tcPr marL="85742" marR="85742" marT="0" marB="0"/>
                </a:tc>
                <a:tc>
                  <a:txBody>
                    <a:bodyPr/>
                    <a:lstStyle/>
                    <a:p>
                      <a:pPr marL="0" algn="r" defTabSz="914400" rtl="0" eaLnBrk="1" latinLnBrk="0" hangingPunct="1"/>
                      <a:r>
                        <a:rPr lang="pt-BR" sz="2400" b="1" kern="1200" dirty="0">
                          <a:solidFill>
                            <a:schemeClr val="dk1"/>
                          </a:solidFill>
                          <a:latin typeface="+mn-lt"/>
                          <a:ea typeface="+mn-ea"/>
                          <a:cs typeface="+mn-cs"/>
                        </a:rPr>
                        <a:t>2</a:t>
                      </a:r>
                    </a:p>
                  </a:txBody>
                  <a:tcPr marL="85742" marR="85742" marT="0" marB="0"/>
                </a:tc>
                <a:extLst>
                  <a:ext uri="{0D108BD9-81ED-4DB2-BD59-A6C34878D82A}">
                    <a16:rowId xmlns:a16="http://schemas.microsoft.com/office/drawing/2014/main" val="10003"/>
                  </a:ext>
                </a:extLst>
              </a:tr>
              <a:tr h="243107">
                <a:tc>
                  <a:txBody>
                    <a:bodyPr/>
                    <a:lstStyle/>
                    <a:p>
                      <a:pPr marL="0" algn="r" defTabSz="914400" rtl="0" eaLnBrk="1" latinLnBrk="0" hangingPunct="1"/>
                      <a:r>
                        <a:rPr lang="pt-BR" sz="2400" b="1" kern="1200" dirty="0">
                          <a:solidFill>
                            <a:schemeClr val="dk1"/>
                          </a:solidFill>
                          <a:latin typeface="+mn-lt"/>
                          <a:ea typeface="+mn-ea"/>
                          <a:cs typeface="+mn-cs"/>
                        </a:rPr>
                        <a:t>R3</a:t>
                      </a:r>
                    </a:p>
                  </a:txBody>
                  <a:tcPr marL="85742" marR="85742" marT="0" marB="0"/>
                </a:tc>
                <a:tc>
                  <a:txBody>
                    <a:bodyPr/>
                    <a:lstStyle/>
                    <a:p>
                      <a:pPr marL="0" algn="r" defTabSz="914400" rtl="0" eaLnBrk="1" latinLnBrk="0" hangingPunct="1"/>
                      <a:r>
                        <a:rPr lang="pt-BR" sz="2400" b="1" kern="1200" dirty="0">
                          <a:solidFill>
                            <a:schemeClr val="dk1"/>
                          </a:solidFill>
                          <a:latin typeface="+mn-lt"/>
                          <a:ea typeface="+mn-ea"/>
                          <a:cs typeface="+mn-cs"/>
                        </a:rPr>
                        <a:t>3</a:t>
                      </a:r>
                    </a:p>
                  </a:txBody>
                  <a:tcPr marL="85742" marR="85742" marT="0" marB="0"/>
                </a:tc>
                <a:extLst>
                  <a:ext uri="{0D108BD9-81ED-4DB2-BD59-A6C34878D82A}">
                    <a16:rowId xmlns:a16="http://schemas.microsoft.com/office/drawing/2014/main" val="10004"/>
                  </a:ext>
                </a:extLst>
              </a:tr>
              <a:tr h="243107">
                <a:tc>
                  <a:txBody>
                    <a:bodyPr/>
                    <a:lstStyle/>
                    <a:p>
                      <a:pPr marL="0" algn="r" defTabSz="914400" rtl="0" eaLnBrk="1" latinLnBrk="0" hangingPunct="1"/>
                      <a:r>
                        <a:rPr lang="pt-BR" sz="2400" b="1" kern="1200" dirty="0">
                          <a:solidFill>
                            <a:schemeClr val="dk1"/>
                          </a:solidFill>
                          <a:latin typeface="+mn-lt"/>
                          <a:ea typeface="+mn-ea"/>
                          <a:cs typeface="+mn-cs"/>
                        </a:rPr>
                        <a:t>...</a:t>
                      </a:r>
                    </a:p>
                  </a:txBody>
                  <a:tcPr marL="85742" marR="85742" marT="0" marB="0"/>
                </a:tc>
                <a:tc>
                  <a:txBody>
                    <a:bodyPr/>
                    <a:lstStyle/>
                    <a:p>
                      <a:pPr marL="0" algn="r" defTabSz="914400" rtl="0" eaLnBrk="1" latinLnBrk="0" hangingPunct="1"/>
                      <a:r>
                        <a:rPr lang="pt-BR" sz="2400" b="1" kern="1200" dirty="0">
                          <a:solidFill>
                            <a:schemeClr val="dk1"/>
                          </a:solidFill>
                          <a:latin typeface="+mn-lt"/>
                          <a:ea typeface="+mn-ea"/>
                          <a:cs typeface="+mn-cs"/>
                        </a:rPr>
                        <a:t>...</a:t>
                      </a:r>
                    </a:p>
                  </a:txBody>
                  <a:tcPr marL="85742" marR="85742" marT="0" marB="0"/>
                </a:tc>
                <a:extLst>
                  <a:ext uri="{0D108BD9-81ED-4DB2-BD59-A6C34878D82A}">
                    <a16:rowId xmlns:a16="http://schemas.microsoft.com/office/drawing/2014/main" val="10005"/>
                  </a:ext>
                </a:extLst>
              </a:tr>
              <a:tr h="243107">
                <a:tc>
                  <a:txBody>
                    <a:bodyPr/>
                    <a:lstStyle/>
                    <a:p>
                      <a:pPr marL="0" algn="r" defTabSz="914400" rtl="0" eaLnBrk="1" latinLnBrk="0" hangingPunct="1"/>
                      <a:r>
                        <a:rPr lang="pt-BR" sz="2400" b="1" kern="1200" dirty="0" err="1">
                          <a:solidFill>
                            <a:schemeClr val="dk1"/>
                          </a:solidFill>
                          <a:latin typeface="+mn-lt"/>
                          <a:ea typeface="+mn-ea"/>
                          <a:cs typeface="+mn-cs"/>
                        </a:rPr>
                        <a:t>i</a:t>
                      </a:r>
                      <a:endParaRPr lang="pt-BR" sz="2400" b="1" kern="1200" dirty="0">
                        <a:solidFill>
                          <a:schemeClr val="dk1"/>
                        </a:solidFill>
                        <a:latin typeface="+mn-lt"/>
                        <a:ea typeface="+mn-ea"/>
                        <a:cs typeface="+mn-cs"/>
                      </a:endParaRPr>
                    </a:p>
                  </a:txBody>
                  <a:tcPr marL="85742" marR="85742" marT="0" marB="0"/>
                </a:tc>
                <a:tc>
                  <a:txBody>
                    <a:bodyPr/>
                    <a:lstStyle/>
                    <a:p>
                      <a:pPr marL="0" algn="r" defTabSz="914400" rtl="0" eaLnBrk="1" latinLnBrk="0" hangingPunct="1"/>
                      <a:r>
                        <a:rPr lang="pt-BR" sz="2400" b="1" kern="1200" dirty="0">
                          <a:solidFill>
                            <a:schemeClr val="dk1"/>
                          </a:solidFill>
                          <a:latin typeface="+mn-lt"/>
                          <a:ea typeface="+mn-ea"/>
                          <a:cs typeface="+mn-cs"/>
                        </a:rPr>
                        <a:t>16</a:t>
                      </a:r>
                    </a:p>
                  </a:txBody>
                  <a:tcPr marL="85742" marR="85742" marT="0" marB="0"/>
                </a:tc>
                <a:extLst>
                  <a:ext uri="{0D108BD9-81ED-4DB2-BD59-A6C34878D82A}">
                    <a16:rowId xmlns:a16="http://schemas.microsoft.com/office/drawing/2014/main" val="10006"/>
                  </a:ext>
                </a:extLst>
              </a:tr>
              <a:tr h="243107">
                <a:tc>
                  <a:txBody>
                    <a:bodyPr/>
                    <a:lstStyle/>
                    <a:p>
                      <a:pPr marL="0" algn="r" defTabSz="914400" rtl="0" eaLnBrk="1" latinLnBrk="0" hangingPunct="1"/>
                      <a:r>
                        <a:rPr lang="pt-BR" sz="2400" b="1" kern="1200" dirty="0">
                          <a:solidFill>
                            <a:schemeClr val="dk1"/>
                          </a:solidFill>
                          <a:latin typeface="+mn-lt"/>
                          <a:ea typeface="+mn-ea"/>
                          <a:cs typeface="+mn-cs"/>
                        </a:rPr>
                        <a:t>sum</a:t>
                      </a:r>
                    </a:p>
                  </a:txBody>
                  <a:tcPr marL="85742" marR="85742" marT="0" marB="0"/>
                </a:tc>
                <a:tc>
                  <a:txBody>
                    <a:bodyPr/>
                    <a:lstStyle/>
                    <a:p>
                      <a:pPr marL="0" algn="r" defTabSz="914400" rtl="0" eaLnBrk="1" latinLnBrk="0" hangingPunct="1"/>
                      <a:r>
                        <a:rPr lang="pt-BR" sz="2400" b="1" kern="1200" dirty="0">
                          <a:solidFill>
                            <a:schemeClr val="dk1"/>
                          </a:solidFill>
                          <a:latin typeface="+mn-lt"/>
                          <a:ea typeface="+mn-ea"/>
                          <a:cs typeface="+mn-cs"/>
                        </a:rPr>
                        <a:t>17</a:t>
                      </a:r>
                    </a:p>
                  </a:txBody>
                  <a:tcPr marL="85742" marR="85742" marT="0" marB="0"/>
                </a:tc>
                <a:extLst>
                  <a:ext uri="{0D108BD9-81ED-4DB2-BD59-A6C34878D82A}">
                    <a16:rowId xmlns:a16="http://schemas.microsoft.com/office/drawing/2014/main" val="10007"/>
                  </a:ext>
                </a:extLst>
              </a:tr>
              <a:tr h="243107">
                <a:tc>
                  <a:txBody>
                    <a:bodyPr/>
                    <a:lstStyle/>
                    <a:p>
                      <a:pPr marL="0" algn="r" defTabSz="914400" rtl="0" eaLnBrk="1" latinLnBrk="0" hangingPunct="1"/>
                      <a:r>
                        <a:rPr lang="pt-BR" sz="2400" b="1" kern="1200" dirty="0">
                          <a:solidFill>
                            <a:schemeClr val="dk1"/>
                          </a:solidFill>
                          <a:latin typeface="+mn-lt"/>
                          <a:ea typeface="+mn-ea"/>
                          <a:cs typeface="+mn-cs"/>
                        </a:rPr>
                        <a:t>LOOP</a:t>
                      </a:r>
                    </a:p>
                  </a:txBody>
                  <a:tcPr marL="85742" marR="85742" marT="0" marB="0"/>
                </a:tc>
                <a:tc>
                  <a:txBody>
                    <a:bodyPr/>
                    <a:lstStyle/>
                    <a:p>
                      <a:pPr marL="0" algn="r" defTabSz="914400" rtl="0" eaLnBrk="1" latinLnBrk="0" hangingPunct="1"/>
                      <a:r>
                        <a:rPr lang="pt-BR" sz="2400" b="1" kern="1200" dirty="0">
                          <a:solidFill>
                            <a:schemeClr val="dk1"/>
                          </a:solidFill>
                          <a:latin typeface="+mn-lt"/>
                          <a:ea typeface="+mn-ea"/>
                          <a:cs typeface="+mn-cs"/>
                        </a:rPr>
                        <a:t>4</a:t>
                      </a:r>
                    </a:p>
                  </a:txBody>
                  <a:tcPr marL="85742" marR="85742" marT="0" marB="0"/>
                </a:tc>
                <a:extLst>
                  <a:ext uri="{0D108BD9-81ED-4DB2-BD59-A6C34878D82A}">
                    <a16:rowId xmlns:a16="http://schemas.microsoft.com/office/drawing/2014/main" val="10008"/>
                  </a:ext>
                </a:extLst>
              </a:tr>
              <a:tr h="243107">
                <a:tc>
                  <a:txBody>
                    <a:bodyPr/>
                    <a:lstStyle/>
                    <a:p>
                      <a:pPr marL="0" algn="r" defTabSz="914400" rtl="0" eaLnBrk="1" latinLnBrk="0" hangingPunct="1"/>
                      <a:endParaRPr lang="pt-BR" sz="2400" b="1" kern="1200" dirty="0">
                        <a:solidFill>
                          <a:schemeClr val="dk1"/>
                        </a:solidFill>
                        <a:latin typeface="+mn-lt"/>
                        <a:ea typeface="+mn-ea"/>
                        <a:cs typeface="+mn-cs"/>
                      </a:endParaRPr>
                    </a:p>
                  </a:txBody>
                  <a:tcPr marL="85742" marR="85742" marT="0" marB="0"/>
                </a:tc>
                <a:tc>
                  <a:txBody>
                    <a:bodyPr/>
                    <a:lstStyle/>
                    <a:p>
                      <a:pPr marL="0" algn="r" defTabSz="914400" rtl="0" eaLnBrk="1" latinLnBrk="0" hangingPunct="1"/>
                      <a:endParaRPr lang="pt-BR" sz="2400" b="1" kern="1200" dirty="0">
                        <a:solidFill>
                          <a:schemeClr val="dk1"/>
                        </a:solidFill>
                        <a:latin typeface="+mn-lt"/>
                        <a:ea typeface="+mn-ea"/>
                        <a:cs typeface="+mn-cs"/>
                      </a:endParaRPr>
                    </a:p>
                  </a:txBody>
                  <a:tcPr marL="85742" marR="85742" marT="0" marB="0"/>
                </a:tc>
                <a:extLst>
                  <a:ext uri="{0D108BD9-81ED-4DB2-BD59-A6C34878D82A}">
                    <a16:rowId xmlns:a16="http://schemas.microsoft.com/office/drawing/2014/main" val="10009"/>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674439709"/>
              </p:ext>
            </p:extLst>
          </p:nvPr>
        </p:nvGraphicFramePr>
        <p:xfrm>
          <a:off x="1076546" y="2594993"/>
          <a:ext cx="2806994" cy="3108960"/>
        </p:xfrm>
        <a:graphic>
          <a:graphicData uri="http://schemas.openxmlformats.org/drawingml/2006/table">
            <a:tbl>
              <a:tblPr>
                <a:tableStyleId>{5C22544A-7EE6-4342-B048-85BDC9FD1C3A}</a:tableStyleId>
              </a:tblPr>
              <a:tblGrid>
                <a:gridCol w="2806994">
                  <a:extLst>
                    <a:ext uri="{9D8B030D-6E8A-4147-A177-3AD203B41FA5}">
                      <a16:colId xmlns:a16="http://schemas.microsoft.com/office/drawing/2014/main" val="20000"/>
                    </a:ext>
                  </a:extLst>
                </a:gridCol>
              </a:tblGrid>
              <a:tr h="370840">
                <a:tc>
                  <a:txBody>
                    <a:bodyPr/>
                    <a:lstStyle/>
                    <a:p>
                      <a:r>
                        <a:rPr lang="en-US" b="1" noProof="1">
                          <a:solidFill>
                            <a:schemeClr val="tx1"/>
                          </a:solidFill>
                          <a:latin typeface="Courier New"/>
                          <a:cs typeface="Courier New"/>
                        </a:rPr>
                        <a:t>    leaw</a:t>
                      </a:r>
                      <a:r>
                        <a:rPr lang="en-US" b="1" baseline="0" noProof="1">
                          <a:solidFill>
                            <a:schemeClr val="tx1"/>
                          </a:solidFill>
                          <a:latin typeface="Courier New"/>
                          <a:cs typeface="Courier New"/>
                        </a:rPr>
                        <a:t> $</a:t>
                      </a:r>
                      <a:r>
                        <a:rPr lang="en-US" b="1" noProof="1">
                          <a:solidFill>
                            <a:srgbClr val="FF0000"/>
                          </a:solidFill>
                          <a:latin typeface="Courier New"/>
                          <a:cs typeface="Courier New"/>
                        </a:rPr>
                        <a:t>i</a:t>
                      </a:r>
                      <a:r>
                        <a:rPr lang="en-US" b="1" noProof="1">
                          <a:solidFill>
                            <a:schemeClr val="tx1"/>
                          </a:solidFill>
                          <a:latin typeface="Courier New"/>
                          <a:cs typeface="Courier New"/>
                        </a:rPr>
                        <a:t>,%A</a:t>
                      </a:r>
                    </a:p>
                    <a:p>
                      <a:r>
                        <a:rPr lang="en-US" b="1" noProof="1">
                          <a:solidFill>
                            <a:schemeClr val="tx1"/>
                          </a:solidFill>
                          <a:latin typeface="Courier New"/>
                          <a:cs typeface="Courier New"/>
                        </a:rPr>
                        <a:t>    movw $1,(%A)</a:t>
                      </a:r>
                    </a:p>
                    <a:p>
                      <a:pPr marL="0" marR="0" indent="0" algn="l" defTabSz="914400" rtl="0" eaLnBrk="1" fontAlgn="auto" latinLnBrk="0" hangingPunct="1">
                        <a:lnSpc>
                          <a:spcPct val="100000"/>
                        </a:lnSpc>
                        <a:spcBef>
                          <a:spcPts val="0"/>
                        </a:spcBef>
                        <a:spcAft>
                          <a:spcPts val="0"/>
                        </a:spcAft>
                        <a:buClrTx/>
                        <a:buSzTx/>
                        <a:buFontTx/>
                        <a:buNone/>
                        <a:tabLst/>
                        <a:defRPr/>
                      </a:pPr>
                      <a:r>
                        <a:rPr lang="en-US" b="1" noProof="1">
                          <a:solidFill>
                            <a:schemeClr val="tx1"/>
                          </a:solidFill>
                          <a:latin typeface="Courier New"/>
                          <a:cs typeface="Courier New"/>
                        </a:rPr>
                        <a:t>    leaw</a:t>
                      </a:r>
                      <a:r>
                        <a:rPr lang="en-US" b="1" baseline="0" noProof="1">
                          <a:solidFill>
                            <a:schemeClr val="tx1"/>
                          </a:solidFill>
                          <a:latin typeface="Courier New"/>
                          <a:cs typeface="Courier New"/>
                        </a:rPr>
                        <a:t> $</a:t>
                      </a:r>
                      <a:r>
                        <a:rPr lang="en-US" b="1" baseline="0" noProof="1">
                          <a:solidFill>
                            <a:srgbClr val="FF0000"/>
                          </a:solidFill>
                          <a:latin typeface="Courier New"/>
                          <a:cs typeface="Courier New"/>
                        </a:rPr>
                        <a:t>sum</a:t>
                      </a:r>
                      <a:r>
                        <a:rPr lang="en-US" b="1" noProof="1">
                          <a:solidFill>
                            <a:schemeClr val="tx1"/>
                          </a:solidFill>
                          <a:latin typeface="Courier New"/>
                          <a:cs typeface="Courier New"/>
                        </a:rPr>
                        <a:t>,%A</a:t>
                      </a:r>
                    </a:p>
                    <a:p>
                      <a:r>
                        <a:rPr lang="en-US" b="1" noProof="1">
                          <a:solidFill>
                            <a:schemeClr val="tx1"/>
                          </a:solidFill>
                          <a:latin typeface="Courier New"/>
                          <a:cs typeface="Courier New"/>
                        </a:rPr>
                        <a:t>    movw $0,(%A)</a:t>
                      </a:r>
                    </a:p>
                    <a:p>
                      <a:r>
                        <a:rPr lang="en-US" b="1" noProof="1">
                          <a:solidFill>
                            <a:srgbClr val="FF0000"/>
                          </a:solidFill>
                          <a:latin typeface="Courier New"/>
                          <a:cs typeface="Courier New"/>
                        </a:rPr>
                        <a:t>LOOP</a:t>
                      </a:r>
                      <a:r>
                        <a:rPr lang="en-US" b="1" noProof="1">
                          <a:solidFill>
                            <a:schemeClr val="tx1"/>
                          </a:solidFill>
                          <a:latin typeface="Courier New"/>
                          <a:cs typeface="Courier New"/>
                        </a:rPr>
                        <a:t>:</a:t>
                      </a:r>
                    </a:p>
                    <a:p>
                      <a:r>
                        <a:rPr lang="en-US" b="1" noProof="1">
                          <a:solidFill>
                            <a:schemeClr val="tx1"/>
                          </a:solidFill>
                          <a:latin typeface="Courier New"/>
                          <a:cs typeface="Courier New"/>
                        </a:rPr>
                        <a:t>    leaw</a:t>
                      </a:r>
                      <a:r>
                        <a:rPr lang="en-US" b="1" baseline="0" noProof="1">
                          <a:solidFill>
                            <a:schemeClr val="tx1"/>
                          </a:solidFill>
                          <a:latin typeface="Courier New"/>
                          <a:cs typeface="Courier New"/>
                        </a:rPr>
                        <a:t> $</a:t>
                      </a:r>
                      <a:r>
                        <a:rPr lang="en-US" b="1" noProof="1">
                          <a:solidFill>
                            <a:srgbClr val="FF0000"/>
                          </a:solidFill>
                          <a:latin typeface="Courier New"/>
                          <a:cs typeface="Courier New"/>
                        </a:rPr>
                        <a:t>i</a:t>
                      </a:r>
                      <a:r>
                        <a:rPr lang="en-US" b="1" noProof="1">
                          <a:solidFill>
                            <a:schemeClr val="tx1"/>
                          </a:solidFill>
                          <a:latin typeface="Courier New"/>
                          <a:cs typeface="Courier New"/>
                        </a:rPr>
                        <a:t>,%A</a:t>
                      </a:r>
                    </a:p>
                    <a:p>
                      <a:r>
                        <a:rPr lang="en-US" b="1" noProof="1">
                          <a:solidFill>
                            <a:schemeClr val="tx1"/>
                          </a:solidFill>
                          <a:latin typeface="Courier New"/>
                          <a:cs typeface="Courier New"/>
                        </a:rPr>
                        <a:t>    movw (%A),%D</a:t>
                      </a:r>
                    </a:p>
                    <a:p>
                      <a:pPr marL="0" marR="0" indent="0" algn="l" defTabSz="914400" rtl="0" eaLnBrk="1" fontAlgn="auto" latinLnBrk="0" hangingPunct="1">
                        <a:lnSpc>
                          <a:spcPct val="100000"/>
                        </a:lnSpc>
                        <a:spcBef>
                          <a:spcPts val="0"/>
                        </a:spcBef>
                        <a:spcAft>
                          <a:spcPts val="0"/>
                        </a:spcAft>
                        <a:buClrTx/>
                        <a:buSzTx/>
                        <a:buFontTx/>
                        <a:buNone/>
                        <a:tabLst/>
                        <a:defRPr/>
                      </a:pPr>
                      <a:r>
                        <a:rPr lang="en-US" b="1" noProof="1">
                          <a:solidFill>
                            <a:schemeClr val="tx1"/>
                          </a:solidFill>
                          <a:latin typeface="Courier New"/>
                          <a:cs typeface="Courier New"/>
                        </a:rPr>
                        <a:t>    leaw</a:t>
                      </a:r>
                      <a:r>
                        <a:rPr lang="en-US" b="1" baseline="0" noProof="1">
                          <a:solidFill>
                            <a:schemeClr val="tx1"/>
                          </a:solidFill>
                          <a:latin typeface="Courier New"/>
                          <a:cs typeface="Courier New"/>
                        </a:rPr>
                        <a:t> $</a:t>
                      </a:r>
                      <a:r>
                        <a:rPr lang="en-US" b="1" noProof="1">
                          <a:solidFill>
                            <a:srgbClr val="FF0000"/>
                          </a:solidFill>
                          <a:latin typeface="Courier New"/>
                          <a:cs typeface="Courier New"/>
                        </a:rPr>
                        <a:t>R0</a:t>
                      </a:r>
                      <a:r>
                        <a:rPr lang="en-US" b="1" noProof="1">
                          <a:solidFill>
                            <a:schemeClr val="tx1"/>
                          </a:solidFill>
                          <a:latin typeface="Courier New"/>
                          <a:cs typeface="Courier New"/>
                        </a:rPr>
                        <a:t>,%A</a:t>
                      </a:r>
                    </a:p>
                    <a:p>
                      <a:pPr marL="0" marR="0" indent="0" algn="l" defTabSz="914400" rtl="0" eaLnBrk="1" fontAlgn="auto" latinLnBrk="0" hangingPunct="1">
                        <a:lnSpc>
                          <a:spcPct val="100000"/>
                        </a:lnSpc>
                        <a:spcBef>
                          <a:spcPts val="0"/>
                        </a:spcBef>
                        <a:spcAft>
                          <a:spcPts val="0"/>
                        </a:spcAft>
                        <a:buClrTx/>
                        <a:buSzTx/>
                        <a:buFontTx/>
                        <a:buNone/>
                        <a:tabLst/>
                        <a:defRPr/>
                      </a:pPr>
                      <a:r>
                        <a:rPr lang="en-US" b="1" noProof="1">
                          <a:solidFill>
                            <a:schemeClr val="tx1"/>
                          </a:solidFill>
                          <a:latin typeface="Courier New"/>
                          <a:cs typeface="Courier New"/>
                        </a:rPr>
                        <a:t>    subw</a:t>
                      </a:r>
                      <a:r>
                        <a:rPr lang="en-US" b="1" baseline="0" noProof="1">
                          <a:solidFill>
                            <a:schemeClr val="tx1"/>
                          </a:solidFill>
                          <a:latin typeface="Courier New"/>
                          <a:cs typeface="Courier New"/>
                        </a:rPr>
                        <a:t> %D,(%A),%D</a:t>
                      </a: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noProof="1">
                          <a:solidFill>
                            <a:schemeClr val="tx1"/>
                          </a:solidFill>
                          <a:latin typeface="Courier New"/>
                          <a:cs typeface="Courier New"/>
                        </a:rPr>
                        <a:t>    leaw $</a:t>
                      </a:r>
                      <a:r>
                        <a:rPr lang="en-US" b="1" baseline="0" noProof="1">
                          <a:solidFill>
                            <a:srgbClr val="FF0000"/>
                          </a:solidFill>
                          <a:latin typeface="Courier New"/>
                          <a:cs typeface="Courier New"/>
                        </a:rPr>
                        <a:t>LOOP</a:t>
                      </a:r>
                      <a:r>
                        <a:rPr lang="en-US" b="1" baseline="0" noProof="1">
                          <a:solidFill>
                            <a:schemeClr val="tx1"/>
                          </a:solidFill>
                          <a:latin typeface="Courier New"/>
                          <a:cs typeface="Courier New"/>
                        </a:rPr>
                        <a:t>,%A</a:t>
                      </a:r>
                      <a:endParaRPr lang="en-US" b="1" noProof="1">
                        <a:solidFill>
                          <a:schemeClr val="tx1"/>
                        </a:solidFill>
                        <a:latin typeface="Courier New"/>
                        <a:cs typeface="Courier New"/>
                      </a:endParaRPr>
                    </a:p>
                    <a:p>
                      <a:r>
                        <a:rPr lang="en-US" b="1" noProof="1">
                          <a:solidFill>
                            <a:schemeClr val="tx1"/>
                          </a:solidFill>
                          <a:latin typeface="Courier New"/>
                          <a:cs typeface="Courier New"/>
                        </a:rPr>
                        <a:t>    jg %D</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
        <p:nvSpPr>
          <p:cNvPr id="8" name="TextBox 7">
            <a:extLst>
              <a:ext uri="{FF2B5EF4-FFF2-40B4-BE49-F238E27FC236}">
                <a16:creationId xmlns:a16="http://schemas.microsoft.com/office/drawing/2014/main" id="{B13F8744-89BE-87B4-4996-1472EE2BF190}"/>
              </a:ext>
            </a:extLst>
          </p:cNvPr>
          <p:cNvSpPr txBox="1"/>
          <p:nvPr/>
        </p:nvSpPr>
        <p:spPr>
          <a:xfrm>
            <a:off x="6400800" y="6338063"/>
            <a:ext cx="1645920" cy="369332"/>
          </a:xfrm>
          <a:prstGeom prst="rect">
            <a:avLst/>
          </a:prstGeom>
          <a:noFill/>
        </p:spPr>
        <p:txBody>
          <a:bodyPr wrap="square">
            <a:spAutoFit/>
          </a:bodyPr>
          <a:lstStyle/>
          <a:p>
            <a:r>
              <a:rPr lang="en-BR" b="1" dirty="0"/>
              <a:t>Arquitetura Z0</a:t>
            </a:r>
            <a:endParaRPr lang="en-US" b="1" dirty="0"/>
          </a:p>
        </p:txBody>
      </p:sp>
    </p:spTree>
    <p:extLst>
      <p:ext uri="{BB962C8B-B14F-4D97-AF65-F5344CB8AC3E}">
        <p14:creationId xmlns:p14="http://schemas.microsoft.com/office/powerpoint/2010/main" val="788149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Símbolos</a:t>
            </a:r>
          </a:p>
        </p:txBody>
      </p:sp>
      <p:sp>
        <p:nvSpPr>
          <p:cNvPr id="3" name="Content Placeholder 2"/>
          <p:cNvSpPr>
            <a:spLocks noGrp="1"/>
          </p:cNvSpPr>
          <p:nvPr>
            <p:ph idx="1"/>
          </p:nvPr>
        </p:nvSpPr>
        <p:spPr>
          <a:xfrm>
            <a:off x="657225" y="1461516"/>
            <a:ext cx="8029575" cy="1260229"/>
          </a:xfrm>
        </p:spPr>
        <p:txBody>
          <a:bodyPr>
            <a:normAutofit/>
          </a:bodyPr>
          <a:lstStyle/>
          <a:p>
            <a:r>
              <a:rPr lang="pt-BR" sz="2000" dirty="0"/>
              <a:t>No desenvolvimento em linguagem de máquina, endereços de dados ou de instruções na memória são descritos diretamente. Por exemplo:</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10</a:t>
            </a:fld>
            <a:endParaRPr lang="pt-BR" dirty="0"/>
          </a:p>
        </p:txBody>
      </p:sp>
      <p:graphicFrame>
        <p:nvGraphicFramePr>
          <p:cNvPr id="6" name="Table 5"/>
          <p:cNvGraphicFramePr>
            <a:graphicFrameLocks noGrp="1"/>
          </p:cNvGraphicFramePr>
          <p:nvPr>
            <p:extLst>
              <p:ext uri="{D42A27DB-BD31-4B8C-83A1-F6EECF244321}">
                <p14:modId xmlns:p14="http://schemas.microsoft.com/office/powerpoint/2010/main" val="1194128182"/>
              </p:ext>
            </p:extLst>
          </p:nvPr>
        </p:nvGraphicFramePr>
        <p:xfrm>
          <a:off x="5923947" y="2644649"/>
          <a:ext cx="1738983" cy="3889712"/>
        </p:xfrm>
        <a:graphic>
          <a:graphicData uri="http://schemas.openxmlformats.org/drawingml/2006/table">
            <a:tbl>
              <a:tblPr>
                <a:tableStyleId>{5C22544A-7EE6-4342-B048-85BDC9FD1C3A}</a:tableStyleId>
              </a:tblPr>
              <a:tblGrid>
                <a:gridCol w="404734">
                  <a:extLst>
                    <a:ext uri="{9D8B030D-6E8A-4147-A177-3AD203B41FA5}">
                      <a16:colId xmlns:a16="http://schemas.microsoft.com/office/drawing/2014/main" val="20000"/>
                    </a:ext>
                  </a:extLst>
                </a:gridCol>
                <a:gridCol w="1334249">
                  <a:extLst>
                    <a:ext uri="{9D8B030D-6E8A-4147-A177-3AD203B41FA5}">
                      <a16:colId xmlns:a16="http://schemas.microsoft.com/office/drawing/2014/main" val="20001"/>
                    </a:ext>
                  </a:extLst>
                </a:gridCol>
              </a:tblGrid>
              <a:tr h="243107">
                <a:tc>
                  <a:txBody>
                    <a:bodyPr/>
                    <a:lstStyle/>
                    <a:p>
                      <a:pPr algn="r"/>
                      <a:r>
                        <a:rPr lang="pt-BR" sz="1400" b="1" dirty="0"/>
                        <a:t>0</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243107">
                <a:tc>
                  <a:txBody>
                    <a:bodyPr/>
                    <a:lstStyle/>
                    <a:p>
                      <a:pPr algn="r"/>
                      <a:r>
                        <a:rPr lang="pt-BR" sz="1400" b="1" dirty="0"/>
                        <a:t>1</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243107">
                <a:tc>
                  <a:txBody>
                    <a:bodyPr/>
                    <a:lstStyle/>
                    <a:p>
                      <a:pPr algn="r"/>
                      <a:r>
                        <a:rPr lang="pt-BR" sz="1400" b="1" dirty="0"/>
                        <a:t>2</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243107">
                <a:tc>
                  <a:txBody>
                    <a:bodyPr/>
                    <a:lstStyle/>
                    <a:p>
                      <a:pPr algn="r"/>
                      <a:r>
                        <a:rPr lang="pt-BR" sz="1400" b="1" dirty="0"/>
                        <a:t>3</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r h="243107">
                <a:tc>
                  <a:txBody>
                    <a:bodyPr/>
                    <a:lstStyle/>
                    <a:p>
                      <a:pPr algn="r"/>
                      <a:r>
                        <a:rPr lang="pt-BR" sz="1400" b="1" dirty="0"/>
                        <a:t>4</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4"/>
                  </a:ext>
                </a:extLst>
              </a:tr>
              <a:tr h="243107">
                <a:tc>
                  <a:txBody>
                    <a:bodyPr/>
                    <a:lstStyle/>
                    <a:p>
                      <a:pPr algn="r"/>
                      <a:r>
                        <a:rPr lang="pt-BR" sz="1400" b="1" dirty="0"/>
                        <a:t>5</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5"/>
                  </a:ext>
                </a:extLst>
              </a:tr>
              <a:tr h="243107">
                <a:tc>
                  <a:txBody>
                    <a:bodyPr/>
                    <a:lstStyle/>
                    <a:p>
                      <a:pPr algn="r"/>
                      <a:r>
                        <a:rPr lang="pt-BR" sz="1400" b="1" dirty="0"/>
                        <a:t>6</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6"/>
                  </a:ext>
                </a:extLst>
              </a:tr>
              <a:tr h="243107">
                <a:tc>
                  <a:txBody>
                    <a:bodyPr/>
                    <a:lstStyle/>
                    <a:p>
                      <a:pPr algn="r"/>
                      <a:r>
                        <a:rPr lang="pt-BR" sz="1400" b="1" dirty="0"/>
                        <a:t>7</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7"/>
                  </a:ext>
                </a:extLst>
              </a:tr>
              <a:tr h="243107">
                <a:tc>
                  <a:txBody>
                    <a:bodyPr/>
                    <a:lstStyle/>
                    <a:p>
                      <a:pPr algn="r"/>
                      <a:r>
                        <a:rPr lang="pt-BR" sz="1400" b="1" dirty="0"/>
                        <a:t>8</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8"/>
                  </a:ext>
                </a:extLst>
              </a:tr>
              <a:tr h="243107">
                <a:tc>
                  <a:txBody>
                    <a:bodyPr/>
                    <a:lstStyle/>
                    <a:p>
                      <a:pPr algn="r"/>
                      <a:r>
                        <a:rPr lang="pt-BR" sz="1400" b="1" dirty="0"/>
                        <a:t>9</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9"/>
                  </a:ext>
                </a:extLst>
              </a:tr>
              <a:tr h="243107">
                <a:tc>
                  <a:txBody>
                    <a:bodyPr/>
                    <a:lstStyle/>
                    <a:p>
                      <a:pPr algn="r"/>
                      <a:r>
                        <a:rPr lang="pt-BR" sz="1400" b="1" dirty="0"/>
                        <a:t>10</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0"/>
                  </a:ext>
                </a:extLst>
              </a:tr>
              <a:tr h="243107">
                <a:tc>
                  <a:txBody>
                    <a:bodyPr/>
                    <a:lstStyle/>
                    <a:p>
                      <a:pPr algn="r"/>
                      <a:r>
                        <a:rPr lang="pt-BR" sz="1400" b="1" dirty="0"/>
                        <a:t>11</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1"/>
                  </a:ext>
                </a:extLst>
              </a:tr>
              <a:tr h="243107">
                <a:tc>
                  <a:txBody>
                    <a:bodyPr/>
                    <a:lstStyle/>
                    <a:p>
                      <a:pPr algn="r"/>
                      <a:r>
                        <a:rPr lang="pt-BR" sz="1400" b="1" dirty="0"/>
                        <a:t>12</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2"/>
                  </a:ext>
                </a:extLst>
              </a:tr>
              <a:tr h="243107">
                <a:tc>
                  <a:txBody>
                    <a:bodyPr/>
                    <a:lstStyle/>
                    <a:p>
                      <a:pPr algn="r"/>
                      <a:r>
                        <a:rPr lang="pt-BR" sz="1400" b="1" dirty="0"/>
                        <a:t>13</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3"/>
                  </a:ext>
                </a:extLst>
              </a:tr>
              <a:tr h="243107">
                <a:tc>
                  <a:txBody>
                    <a:bodyPr/>
                    <a:lstStyle/>
                    <a:p>
                      <a:pPr algn="r"/>
                      <a:r>
                        <a:rPr lang="pt-BR" sz="1400" b="1" dirty="0"/>
                        <a:t>14</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4"/>
                  </a:ext>
                </a:extLst>
              </a:tr>
              <a:tr h="243107">
                <a:tc>
                  <a:txBody>
                    <a:bodyPr/>
                    <a:lstStyle/>
                    <a:p>
                      <a:pPr algn="r"/>
                      <a:r>
                        <a:rPr lang="pt-BR" sz="1400" b="1" dirty="0"/>
                        <a:t>15</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sp>
        <p:nvSpPr>
          <p:cNvPr id="7" name="Rectangle 6"/>
          <p:cNvSpPr/>
          <p:nvPr/>
        </p:nvSpPr>
        <p:spPr>
          <a:xfrm>
            <a:off x="4520485" y="2644649"/>
            <a:ext cx="1442434" cy="1077218"/>
          </a:xfrm>
          <a:prstGeom prst="rect">
            <a:avLst/>
          </a:prstGeom>
          <a:ln w="28575" cmpd="sng">
            <a:solidFill>
              <a:srgbClr val="FF0000"/>
            </a:solidFill>
          </a:ln>
        </p:spPr>
        <p:txBody>
          <a:bodyPr wrap="square">
            <a:spAutoFit/>
          </a:bodyPr>
          <a:lstStyle/>
          <a:p>
            <a:r>
              <a:rPr lang="en-US" sz="1600" noProof="1"/>
              <a:t>leaw $10,%A</a:t>
            </a:r>
          </a:p>
          <a:p>
            <a:r>
              <a:rPr lang="en-US" sz="1600" noProof="1"/>
              <a:t>movw %A,%D</a:t>
            </a:r>
          </a:p>
          <a:p>
            <a:r>
              <a:rPr lang="en-US" sz="1600" noProof="1"/>
              <a:t>leaw $8,%A</a:t>
            </a:r>
          </a:p>
          <a:p>
            <a:r>
              <a:rPr lang="en-US" sz="1600" noProof="1"/>
              <a:t>movw %D,(%A)</a:t>
            </a:r>
          </a:p>
        </p:txBody>
      </p:sp>
      <p:cxnSp>
        <p:nvCxnSpPr>
          <p:cNvPr id="9" name="Curved Connector 8"/>
          <p:cNvCxnSpPr>
            <a:stCxn id="7" idx="2"/>
          </p:cNvCxnSpPr>
          <p:nvPr/>
        </p:nvCxnSpPr>
        <p:spPr>
          <a:xfrm rot="16200000" flipH="1">
            <a:off x="5326528" y="3637041"/>
            <a:ext cx="1000121" cy="1169772"/>
          </a:xfrm>
          <a:prstGeom prst="curvedConnector2">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6647557" y="4536950"/>
            <a:ext cx="393056" cy="338554"/>
          </a:xfrm>
          <a:prstGeom prst="rect">
            <a:avLst/>
          </a:prstGeom>
        </p:spPr>
        <p:txBody>
          <a:bodyPr wrap="none">
            <a:spAutoFit/>
          </a:bodyPr>
          <a:lstStyle/>
          <a:p>
            <a:r>
              <a:rPr lang="pt-BR" sz="1600" dirty="0"/>
              <a:t>10</a:t>
            </a:r>
          </a:p>
        </p:txBody>
      </p:sp>
      <p:graphicFrame>
        <p:nvGraphicFramePr>
          <p:cNvPr id="12" name="Table 11"/>
          <p:cNvGraphicFramePr>
            <a:graphicFrameLocks noGrp="1"/>
          </p:cNvGraphicFramePr>
          <p:nvPr>
            <p:extLst>
              <p:ext uri="{D42A27DB-BD31-4B8C-83A1-F6EECF244321}">
                <p14:modId xmlns:p14="http://schemas.microsoft.com/office/powerpoint/2010/main" val="2973855420"/>
              </p:ext>
            </p:extLst>
          </p:nvPr>
        </p:nvGraphicFramePr>
        <p:xfrm>
          <a:off x="1958802" y="2644649"/>
          <a:ext cx="1738983" cy="3889712"/>
        </p:xfrm>
        <a:graphic>
          <a:graphicData uri="http://schemas.openxmlformats.org/drawingml/2006/table">
            <a:tbl>
              <a:tblPr>
                <a:tableStyleId>{5C22544A-7EE6-4342-B048-85BDC9FD1C3A}</a:tableStyleId>
              </a:tblPr>
              <a:tblGrid>
                <a:gridCol w="404734">
                  <a:extLst>
                    <a:ext uri="{9D8B030D-6E8A-4147-A177-3AD203B41FA5}">
                      <a16:colId xmlns:a16="http://schemas.microsoft.com/office/drawing/2014/main" val="20000"/>
                    </a:ext>
                  </a:extLst>
                </a:gridCol>
                <a:gridCol w="1334249">
                  <a:extLst>
                    <a:ext uri="{9D8B030D-6E8A-4147-A177-3AD203B41FA5}">
                      <a16:colId xmlns:a16="http://schemas.microsoft.com/office/drawing/2014/main" val="20001"/>
                    </a:ext>
                  </a:extLst>
                </a:gridCol>
              </a:tblGrid>
              <a:tr h="243107">
                <a:tc>
                  <a:txBody>
                    <a:bodyPr/>
                    <a:lstStyle/>
                    <a:p>
                      <a:pPr algn="r"/>
                      <a:r>
                        <a:rPr lang="pt-BR" sz="1400" b="1" dirty="0"/>
                        <a:t>0</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243107">
                <a:tc>
                  <a:txBody>
                    <a:bodyPr/>
                    <a:lstStyle/>
                    <a:p>
                      <a:pPr algn="r"/>
                      <a:r>
                        <a:rPr lang="pt-BR" sz="1400" b="1" dirty="0"/>
                        <a:t>1</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243107">
                <a:tc>
                  <a:txBody>
                    <a:bodyPr/>
                    <a:lstStyle/>
                    <a:p>
                      <a:pPr algn="r"/>
                      <a:r>
                        <a:rPr lang="pt-BR" sz="1400" b="1" dirty="0"/>
                        <a:t>2</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243107">
                <a:tc>
                  <a:txBody>
                    <a:bodyPr/>
                    <a:lstStyle/>
                    <a:p>
                      <a:pPr algn="r"/>
                      <a:r>
                        <a:rPr lang="pt-BR" sz="1400" b="1" dirty="0"/>
                        <a:t>3</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r h="243107">
                <a:tc>
                  <a:txBody>
                    <a:bodyPr/>
                    <a:lstStyle/>
                    <a:p>
                      <a:pPr algn="r"/>
                      <a:r>
                        <a:rPr lang="pt-BR" sz="1400" b="1" dirty="0"/>
                        <a:t>4</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4"/>
                  </a:ext>
                </a:extLst>
              </a:tr>
              <a:tr h="243107">
                <a:tc>
                  <a:txBody>
                    <a:bodyPr/>
                    <a:lstStyle/>
                    <a:p>
                      <a:pPr algn="r"/>
                      <a:r>
                        <a:rPr lang="pt-BR" sz="1400" b="1" dirty="0"/>
                        <a:t>5</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5"/>
                  </a:ext>
                </a:extLst>
              </a:tr>
              <a:tr h="243107">
                <a:tc>
                  <a:txBody>
                    <a:bodyPr/>
                    <a:lstStyle/>
                    <a:p>
                      <a:pPr algn="r"/>
                      <a:r>
                        <a:rPr lang="pt-BR" sz="1400" b="1" dirty="0"/>
                        <a:t>6</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6"/>
                  </a:ext>
                </a:extLst>
              </a:tr>
              <a:tr h="243107">
                <a:tc>
                  <a:txBody>
                    <a:bodyPr/>
                    <a:lstStyle/>
                    <a:p>
                      <a:pPr algn="r"/>
                      <a:r>
                        <a:rPr lang="pt-BR" sz="1400" b="1" dirty="0"/>
                        <a:t>7</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7"/>
                  </a:ext>
                </a:extLst>
              </a:tr>
              <a:tr h="243107">
                <a:tc>
                  <a:txBody>
                    <a:bodyPr/>
                    <a:lstStyle/>
                    <a:p>
                      <a:pPr algn="r"/>
                      <a:r>
                        <a:rPr lang="pt-BR" sz="1400" b="1" dirty="0"/>
                        <a:t>8</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8"/>
                  </a:ext>
                </a:extLst>
              </a:tr>
              <a:tr h="243107">
                <a:tc>
                  <a:txBody>
                    <a:bodyPr/>
                    <a:lstStyle/>
                    <a:p>
                      <a:pPr algn="r"/>
                      <a:r>
                        <a:rPr lang="pt-BR" sz="1400" b="1" dirty="0"/>
                        <a:t>9</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9"/>
                  </a:ext>
                </a:extLst>
              </a:tr>
              <a:tr h="243107">
                <a:tc>
                  <a:txBody>
                    <a:bodyPr/>
                    <a:lstStyle/>
                    <a:p>
                      <a:pPr algn="r"/>
                      <a:r>
                        <a:rPr lang="pt-BR" sz="1400" b="1" dirty="0"/>
                        <a:t>10</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0"/>
                  </a:ext>
                </a:extLst>
              </a:tr>
              <a:tr h="243107">
                <a:tc>
                  <a:txBody>
                    <a:bodyPr/>
                    <a:lstStyle/>
                    <a:p>
                      <a:pPr algn="r"/>
                      <a:r>
                        <a:rPr lang="pt-BR" sz="1400" b="1" dirty="0"/>
                        <a:t>11</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1"/>
                  </a:ext>
                </a:extLst>
              </a:tr>
              <a:tr h="243107">
                <a:tc>
                  <a:txBody>
                    <a:bodyPr/>
                    <a:lstStyle/>
                    <a:p>
                      <a:pPr algn="r"/>
                      <a:r>
                        <a:rPr lang="pt-BR" sz="1400" b="1" dirty="0"/>
                        <a:t>12</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2"/>
                  </a:ext>
                </a:extLst>
              </a:tr>
              <a:tr h="243107">
                <a:tc>
                  <a:txBody>
                    <a:bodyPr/>
                    <a:lstStyle/>
                    <a:p>
                      <a:pPr algn="r"/>
                      <a:r>
                        <a:rPr lang="pt-BR" sz="1400" b="1" dirty="0"/>
                        <a:t>13</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3"/>
                  </a:ext>
                </a:extLst>
              </a:tr>
              <a:tr h="243107">
                <a:tc>
                  <a:txBody>
                    <a:bodyPr/>
                    <a:lstStyle/>
                    <a:p>
                      <a:pPr algn="r"/>
                      <a:r>
                        <a:rPr lang="pt-BR" sz="1400" b="1" dirty="0"/>
                        <a:t>14</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4"/>
                  </a:ext>
                </a:extLst>
              </a:tr>
              <a:tr h="243107">
                <a:tc>
                  <a:txBody>
                    <a:bodyPr/>
                    <a:lstStyle/>
                    <a:p>
                      <a:pPr algn="r"/>
                      <a:r>
                        <a:rPr lang="pt-BR" sz="1400" b="1" dirty="0"/>
                        <a:t>15</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sp>
        <p:nvSpPr>
          <p:cNvPr id="13" name="Rectangle 12"/>
          <p:cNvSpPr/>
          <p:nvPr/>
        </p:nvSpPr>
        <p:spPr>
          <a:xfrm>
            <a:off x="2395471" y="3069949"/>
            <a:ext cx="1262129" cy="584775"/>
          </a:xfrm>
          <a:prstGeom prst="rect">
            <a:avLst/>
          </a:prstGeom>
          <a:ln w="28575" cmpd="sng">
            <a:solidFill>
              <a:srgbClr val="FF0000"/>
            </a:solidFill>
          </a:ln>
        </p:spPr>
        <p:txBody>
          <a:bodyPr wrap="square">
            <a:spAutoFit/>
          </a:bodyPr>
          <a:lstStyle/>
          <a:p>
            <a:r>
              <a:rPr lang="en-US" sz="1600" noProof="1"/>
              <a:t>leaw $9,%A</a:t>
            </a:r>
          </a:p>
          <a:p>
            <a:r>
              <a:rPr lang="en-US" sz="1600" noProof="1"/>
              <a:t>jmp</a:t>
            </a:r>
          </a:p>
        </p:txBody>
      </p:sp>
      <p:cxnSp>
        <p:nvCxnSpPr>
          <p:cNvPr id="14" name="Curved Connector 13"/>
          <p:cNvCxnSpPr>
            <a:stCxn id="13" idx="1"/>
            <a:endCxn id="27" idx="1"/>
          </p:cNvCxnSpPr>
          <p:nvPr/>
        </p:nvCxnSpPr>
        <p:spPr>
          <a:xfrm rot="10800000" flipH="1" flipV="1">
            <a:off x="2395471" y="3362337"/>
            <a:ext cx="65822" cy="1590318"/>
          </a:xfrm>
          <a:prstGeom prst="curvedConnector3">
            <a:avLst>
              <a:gd name="adj1" fmla="val -1266912"/>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2461293" y="4767989"/>
            <a:ext cx="743083" cy="369332"/>
          </a:xfrm>
          <a:prstGeom prst="rect">
            <a:avLst/>
          </a:prstGeom>
          <a:ln w="28575" cmpd="sng">
            <a:solidFill>
              <a:srgbClr val="FF0000"/>
            </a:solidFill>
          </a:ln>
        </p:spPr>
        <p:txBody>
          <a:bodyPr wrap="square">
            <a:spAutoFit/>
          </a:bodyPr>
          <a:lstStyle/>
          <a:p>
            <a:r>
              <a:rPr lang="pt-BR" dirty="0"/>
              <a:t>         </a:t>
            </a:r>
          </a:p>
        </p:txBody>
      </p:sp>
      <p:sp>
        <p:nvSpPr>
          <p:cNvPr id="10" name="TextBox 9">
            <a:extLst>
              <a:ext uri="{FF2B5EF4-FFF2-40B4-BE49-F238E27FC236}">
                <a16:creationId xmlns:a16="http://schemas.microsoft.com/office/drawing/2014/main" id="{2AF4310F-12EA-4645-1348-0C9F454CCEB5}"/>
              </a:ext>
            </a:extLst>
          </p:cNvPr>
          <p:cNvSpPr txBox="1"/>
          <p:nvPr/>
        </p:nvSpPr>
        <p:spPr>
          <a:xfrm>
            <a:off x="2157043" y="6549750"/>
            <a:ext cx="1738983" cy="276999"/>
          </a:xfrm>
          <a:prstGeom prst="rect">
            <a:avLst/>
          </a:prstGeom>
          <a:noFill/>
        </p:spPr>
        <p:txBody>
          <a:bodyPr wrap="square">
            <a:spAutoFit/>
          </a:bodyPr>
          <a:lstStyle/>
          <a:p>
            <a:pPr algn="ctr"/>
            <a:r>
              <a:rPr lang="pt-BR" sz="1200" baseline="0" dirty="0"/>
              <a:t>Memória de instruções</a:t>
            </a:r>
            <a:endParaRPr lang="en-US" dirty="0"/>
          </a:p>
        </p:txBody>
      </p:sp>
      <p:sp>
        <p:nvSpPr>
          <p:cNvPr id="15" name="TextBox 14">
            <a:extLst>
              <a:ext uri="{FF2B5EF4-FFF2-40B4-BE49-F238E27FC236}">
                <a16:creationId xmlns:a16="http://schemas.microsoft.com/office/drawing/2014/main" id="{F771D1D7-6AE5-80BB-DCE5-6483455E2BD2}"/>
              </a:ext>
            </a:extLst>
          </p:cNvPr>
          <p:cNvSpPr txBox="1"/>
          <p:nvPr/>
        </p:nvSpPr>
        <p:spPr>
          <a:xfrm>
            <a:off x="6134545" y="6549749"/>
            <a:ext cx="1738983" cy="276999"/>
          </a:xfrm>
          <a:prstGeom prst="rect">
            <a:avLst/>
          </a:prstGeom>
          <a:noFill/>
        </p:spPr>
        <p:txBody>
          <a:bodyPr wrap="square">
            <a:spAutoFit/>
          </a:bodyPr>
          <a:lstStyle/>
          <a:p>
            <a:pPr algn="ctr"/>
            <a:r>
              <a:rPr lang="pt-BR" sz="1200" baseline="0" dirty="0"/>
              <a:t>Memória de dados</a:t>
            </a:r>
            <a:endParaRPr lang="en-US" dirty="0"/>
          </a:p>
        </p:txBody>
      </p:sp>
    </p:spTree>
    <p:extLst>
      <p:ext uri="{BB962C8B-B14F-4D97-AF65-F5344CB8AC3E}">
        <p14:creationId xmlns:p14="http://schemas.microsoft.com/office/powerpoint/2010/main" val="1678659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Símbolos</a:t>
            </a:r>
          </a:p>
        </p:txBody>
      </p:sp>
      <p:sp>
        <p:nvSpPr>
          <p:cNvPr id="3" name="Content Placeholder 2"/>
          <p:cNvSpPr>
            <a:spLocks noGrp="1"/>
          </p:cNvSpPr>
          <p:nvPr>
            <p:ph idx="1"/>
          </p:nvPr>
        </p:nvSpPr>
        <p:spPr>
          <a:xfrm>
            <a:off x="657225" y="1461516"/>
            <a:ext cx="8029575" cy="992227"/>
          </a:xfrm>
        </p:spPr>
        <p:txBody>
          <a:bodyPr>
            <a:noAutofit/>
          </a:bodyPr>
          <a:lstStyle/>
          <a:p>
            <a:r>
              <a:rPr lang="pt-BR" sz="2000" dirty="0"/>
              <a:t>Para simplificar o desenvolvimento, os </a:t>
            </a:r>
            <a:r>
              <a:rPr lang="pt-BR" sz="2000" dirty="0" err="1"/>
              <a:t>Assemblers</a:t>
            </a:r>
            <a:r>
              <a:rPr lang="pt-BR" sz="2000" dirty="0"/>
              <a:t> podem gerenciar posições de memória usando símbolos para isso. Por exemplo:</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11</a:t>
            </a:fld>
            <a:endParaRPr lang="pt-BR" dirty="0"/>
          </a:p>
        </p:txBody>
      </p:sp>
      <p:graphicFrame>
        <p:nvGraphicFramePr>
          <p:cNvPr id="17" name="Table 16"/>
          <p:cNvGraphicFramePr>
            <a:graphicFrameLocks noGrp="1"/>
          </p:cNvGraphicFramePr>
          <p:nvPr>
            <p:extLst>
              <p:ext uri="{D42A27DB-BD31-4B8C-83A1-F6EECF244321}">
                <p14:modId xmlns:p14="http://schemas.microsoft.com/office/powerpoint/2010/main" val="2644528863"/>
              </p:ext>
            </p:extLst>
          </p:nvPr>
        </p:nvGraphicFramePr>
        <p:xfrm>
          <a:off x="5923947" y="2644649"/>
          <a:ext cx="1738983" cy="3889712"/>
        </p:xfrm>
        <a:graphic>
          <a:graphicData uri="http://schemas.openxmlformats.org/drawingml/2006/table">
            <a:tbl>
              <a:tblPr>
                <a:tableStyleId>{5C22544A-7EE6-4342-B048-85BDC9FD1C3A}</a:tableStyleId>
              </a:tblPr>
              <a:tblGrid>
                <a:gridCol w="404734">
                  <a:extLst>
                    <a:ext uri="{9D8B030D-6E8A-4147-A177-3AD203B41FA5}">
                      <a16:colId xmlns:a16="http://schemas.microsoft.com/office/drawing/2014/main" val="20000"/>
                    </a:ext>
                  </a:extLst>
                </a:gridCol>
                <a:gridCol w="1334249">
                  <a:extLst>
                    <a:ext uri="{9D8B030D-6E8A-4147-A177-3AD203B41FA5}">
                      <a16:colId xmlns:a16="http://schemas.microsoft.com/office/drawing/2014/main" val="20001"/>
                    </a:ext>
                  </a:extLst>
                </a:gridCol>
              </a:tblGrid>
              <a:tr h="243107">
                <a:tc>
                  <a:txBody>
                    <a:bodyPr/>
                    <a:lstStyle/>
                    <a:p>
                      <a:pPr algn="r"/>
                      <a:r>
                        <a:rPr lang="pt-BR" sz="1400" b="1" dirty="0"/>
                        <a:t>0</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243107">
                <a:tc>
                  <a:txBody>
                    <a:bodyPr/>
                    <a:lstStyle/>
                    <a:p>
                      <a:pPr algn="r"/>
                      <a:r>
                        <a:rPr lang="pt-BR" sz="1400" b="1" dirty="0"/>
                        <a:t>1</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243107">
                <a:tc>
                  <a:txBody>
                    <a:bodyPr/>
                    <a:lstStyle/>
                    <a:p>
                      <a:pPr algn="r"/>
                      <a:r>
                        <a:rPr lang="pt-BR" sz="1400" b="1" dirty="0"/>
                        <a:t>2</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243107">
                <a:tc>
                  <a:txBody>
                    <a:bodyPr/>
                    <a:lstStyle/>
                    <a:p>
                      <a:pPr algn="r"/>
                      <a:r>
                        <a:rPr lang="pt-BR" sz="1400" b="1" dirty="0"/>
                        <a:t>3</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r h="243107">
                <a:tc>
                  <a:txBody>
                    <a:bodyPr/>
                    <a:lstStyle/>
                    <a:p>
                      <a:pPr algn="r"/>
                      <a:r>
                        <a:rPr lang="pt-BR" sz="1400" b="1" dirty="0"/>
                        <a:t>4</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4"/>
                  </a:ext>
                </a:extLst>
              </a:tr>
              <a:tr h="243107">
                <a:tc>
                  <a:txBody>
                    <a:bodyPr/>
                    <a:lstStyle/>
                    <a:p>
                      <a:pPr algn="r"/>
                      <a:r>
                        <a:rPr lang="pt-BR" sz="1400" b="1" dirty="0"/>
                        <a:t>5</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5"/>
                  </a:ext>
                </a:extLst>
              </a:tr>
              <a:tr h="243107">
                <a:tc>
                  <a:txBody>
                    <a:bodyPr/>
                    <a:lstStyle/>
                    <a:p>
                      <a:pPr algn="r"/>
                      <a:r>
                        <a:rPr lang="pt-BR" sz="1400" b="1" dirty="0"/>
                        <a:t>6</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6"/>
                  </a:ext>
                </a:extLst>
              </a:tr>
              <a:tr h="243107">
                <a:tc>
                  <a:txBody>
                    <a:bodyPr/>
                    <a:lstStyle/>
                    <a:p>
                      <a:pPr algn="r"/>
                      <a:r>
                        <a:rPr lang="pt-BR" sz="1400" b="1" dirty="0"/>
                        <a:t>7</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7"/>
                  </a:ext>
                </a:extLst>
              </a:tr>
              <a:tr h="243107">
                <a:tc>
                  <a:txBody>
                    <a:bodyPr/>
                    <a:lstStyle/>
                    <a:p>
                      <a:pPr algn="r"/>
                      <a:r>
                        <a:rPr lang="pt-BR" sz="1400" b="1" dirty="0"/>
                        <a:t>8</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8"/>
                  </a:ext>
                </a:extLst>
              </a:tr>
              <a:tr h="243107">
                <a:tc>
                  <a:txBody>
                    <a:bodyPr/>
                    <a:lstStyle/>
                    <a:p>
                      <a:pPr algn="r"/>
                      <a:r>
                        <a:rPr lang="pt-BR" sz="1400" b="1" dirty="0"/>
                        <a:t>9</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9"/>
                  </a:ext>
                </a:extLst>
              </a:tr>
              <a:tr h="243107">
                <a:tc>
                  <a:txBody>
                    <a:bodyPr/>
                    <a:lstStyle/>
                    <a:p>
                      <a:pPr algn="r"/>
                      <a:r>
                        <a:rPr lang="pt-BR" sz="1400" b="1" dirty="0"/>
                        <a:t>10</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0"/>
                  </a:ext>
                </a:extLst>
              </a:tr>
              <a:tr h="243107">
                <a:tc>
                  <a:txBody>
                    <a:bodyPr/>
                    <a:lstStyle/>
                    <a:p>
                      <a:pPr algn="r"/>
                      <a:r>
                        <a:rPr lang="pt-BR" sz="1400" b="1" dirty="0"/>
                        <a:t>11</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1"/>
                  </a:ext>
                </a:extLst>
              </a:tr>
              <a:tr h="243107">
                <a:tc>
                  <a:txBody>
                    <a:bodyPr/>
                    <a:lstStyle/>
                    <a:p>
                      <a:pPr algn="r"/>
                      <a:r>
                        <a:rPr lang="pt-BR" sz="1400" b="1" dirty="0"/>
                        <a:t>12</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2"/>
                  </a:ext>
                </a:extLst>
              </a:tr>
              <a:tr h="243107">
                <a:tc>
                  <a:txBody>
                    <a:bodyPr/>
                    <a:lstStyle/>
                    <a:p>
                      <a:pPr algn="r"/>
                      <a:r>
                        <a:rPr lang="pt-BR" sz="1400" b="1" dirty="0"/>
                        <a:t>13</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3"/>
                  </a:ext>
                </a:extLst>
              </a:tr>
              <a:tr h="243107">
                <a:tc>
                  <a:txBody>
                    <a:bodyPr/>
                    <a:lstStyle/>
                    <a:p>
                      <a:pPr algn="r"/>
                      <a:r>
                        <a:rPr lang="pt-BR" sz="1400" b="1" dirty="0"/>
                        <a:t>14</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4"/>
                  </a:ext>
                </a:extLst>
              </a:tr>
              <a:tr h="243107">
                <a:tc>
                  <a:txBody>
                    <a:bodyPr/>
                    <a:lstStyle/>
                    <a:p>
                      <a:pPr algn="r"/>
                      <a:r>
                        <a:rPr lang="pt-BR" sz="1400" b="1" dirty="0"/>
                        <a:t>15</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sp>
        <p:nvSpPr>
          <p:cNvPr id="18" name="Rectangle 17"/>
          <p:cNvSpPr/>
          <p:nvPr/>
        </p:nvSpPr>
        <p:spPr>
          <a:xfrm>
            <a:off x="4520485" y="2644649"/>
            <a:ext cx="1442434" cy="1077218"/>
          </a:xfrm>
          <a:prstGeom prst="rect">
            <a:avLst/>
          </a:prstGeom>
          <a:ln w="28575" cmpd="sng">
            <a:solidFill>
              <a:srgbClr val="FF0000"/>
            </a:solidFill>
          </a:ln>
        </p:spPr>
        <p:txBody>
          <a:bodyPr wrap="square">
            <a:spAutoFit/>
          </a:bodyPr>
          <a:lstStyle/>
          <a:p>
            <a:r>
              <a:rPr lang="en-US" sz="1600" noProof="1"/>
              <a:t>leaw $10,%A</a:t>
            </a:r>
          </a:p>
          <a:p>
            <a:r>
              <a:rPr lang="en-US" sz="1600" noProof="1"/>
              <a:t>movw %A,%D</a:t>
            </a:r>
          </a:p>
          <a:p>
            <a:r>
              <a:rPr lang="en-US" sz="1600" noProof="1"/>
              <a:t>leaw $xy,%A</a:t>
            </a:r>
          </a:p>
          <a:p>
            <a:r>
              <a:rPr lang="en-US" sz="1600" noProof="1"/>
              <a:t>movw %D,(%A)</a:t>
            </a:r>
          </a:p>
        </p:txBody>
      </p:sp>
      <p:cxnSp>
        <p:nvCxnSpPr>
          <p:cNvPr id="19" name="Curved Connector 18"/>
          <p:cNvCxnSpPr>
            <a:stCxn id="22" idx="2"/>
          </p:cNvCxnSpPr>
          <p:nvPr/>
        </p:nvCxnSpPr>
        <p:spPr>
          <a:xfrm rot="16200000" flipH="1">
            <a:off x="5326528" y="3637041"/>
            <a:ext cx="1000121" cy="1169772"/>
          </a:xfrm>
          <a:prstGeom prst="curvedConnector2">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647557" y="4536950"/>
            <a:ext cx="393056" cy="338554"/>
          </a:xfrm>
          <a:prstGeom prst="rect">
            <a:avLst/>
          </a:prstGeom>
        </p:spPr>
        <p:txBody>
          <a:bodyPr wrap="none">
            <a:spAutoFit/>
          </a:bodyPr>
          <a:lstStyle/>
          <a:p>
            <a:r>
              <a:rPr lang="pt-BR" sz="1600" dirty="0"/>
              <a:t>10</a:t>
            </a:r>
          </a:p>
        </p:txBody>
      </p:sp>
      <p:graphicFrame>
        <p:nvGraphicFramePr>
          <p:cNvPr id="21" name="Table 20"/>
          <p:cNvGraphicFramePr>
            <a:graphicFrameLocks noGrp="1"/>
          </p:cNvGraphicFramePr>
          <p:nvPr>
            <p:extLst>
              <p:ext uri="{D42A27DB-BD31-4B8C-83A1-F6EECF244321}">
                <p14:modId xmlns:p14="http://schemas.microsoft.com/office/powerpoint/2010/main" val="2849528993"/>
              </p:ext>
            </p:extLst>
          </p:nvPr>
        </p:nvGraphicFramePr>
        <p:xfrm>
          <a:off x="1958802" y="2644649"/>
          <a:ext cx="1738983" cy="3889712"/>
        </p:xfrm>
        <a:graphic>
          <a:graphicData uri="http://schemas.openxmlformats.org/drawingml/2006/table">
            <a:tbl>
              <a:tblPr>
                <a:tableStyleId>{5C22544A-7EE6-4342-B048-85BDC9FD1C3A}</a:tableStyleId>
              </a:tblPr>
              <a:tblGrid>
                <a:gridCol w="404734">
                  <a:extLst>
                    <a:ext uri="{9D8B030D-6E8A-4147-A177-3AD203B41FA5}">
                      <a16:colId xmlns:a16="http://schemas.microsoft.com/office/drawing/2014/main" val="20000"/>
                    </a:ext>
                  </a:extLst>
                </a:gridCol>
                <a:gridCol w="1334249">
                  <a:extLst>
                    <a:ext uri="{9D8B030D-6E8A-4147-A177-3AD203B41FA5}">
                      <a16:colId xmlns:a16="http://schemas.microsoft.com/office/drawing/2014/main" val="20001"/>
                    </a:ext>
                  </a:extLst>
                </a:gridCol>
              </a:tblGrid>
              <a:tr h="243107">
                <a:tc>
                  <a:txBody>
                    <a:bodyPr/>
                    <a:lstStyle/>
                    <a:p>
                      <a:pPr algn="r"/>
                      <a:r>
                        <a:rPr lang="pt-BR" sz="1400" b="1" dirty="0"/>
                        <a:t>0</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243107">
                <a:tc>
                  <a:txBody>
                    <a:bodyPr/>
                    <a:lstStyle/>
                    <a:p>
                      <a:pPr algn="r"/>
                      <a:r>
                        <a:rPr lang="pt-BR" sz="1400" b="1" dirty="0"/>
                        <a:t>1</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243107">
                <a:tc>
                  <a:txBody>
                    <a:bodyPr/>
                    <a:lstStyle/>
                    <a:p>
                      <a:pPr algn="r"/>
                      <a:r>
                        <a:rPr lang="pt-BR" sz="1400" b="1" dirty="0"/>
                        <a:t>2</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243107">
                <a:tc>
                  <a:txBody>
                    <a:bodyPr/>
                    <a:lstStyle/>
                    <a:p>
                      <a:pPr algn="r"/>
                      <a:r>
                        <a:rPr lang="pt-BR" sz="1400" b="1" dirty="0"/>
                        <a:t>3</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r h="243107">
                <a:tc>
                  <a:txBody>
                    <a:bodyPr/>
                    <a:lstStyle/>
                    <a:p>
                      <a:pPr algn="r"/>
                      <a:r>
                        <a:rPr lang="pt-BR" sz="1400" b="1" dirty="0"/>
                        <a:t>4</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4"/>
                  </a:ext>
                </a:extLst>
              </a:tr>
              <a:tr h="243107">
                <a:tc>
                  <a:txBody>
                    <a:bodyPr/>
                    <a:lstStyle/>
                    <a:p>
                      <a:pPr algn="r"/>
                      <a:r>
                        <a:rPr lang="pt-BR" sz="1400" b="1" dirty="0"/>
                        <a:t>5</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5"/>
                  </a:ext>
                </a:extLst>
              </a:tr>
              <a:tr h="243107">
                <a:tc>
                  <a:txBody>
                    <a:bodyPr/>
                    <a:lstStyle/>
                    <a:p>
                      <a:pPr algn="r"/>
                      <a:r>
                        <a:rPr lang="pt-BR" sz="1400" b="1" dirty="0"/>
                        <a:t>6</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6"/>
                  </a:ext>
                </a:extLst>
              </a:tr>
              <a:tr h="243107">
                <a:tc>
                  <a:txBody>
                    <a:bodyPr/>
                    <a:lstStyle/>
                    <a:p>
                      <a:pPr algn="r"/>
                      <a:r>
                        <a:rPr lang="pt-BR" sz="1400" b="1" dirty="0"/>
                        <a:t>7</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7"/>
                  </a:ext>
                </a:extLst>
              </a:tr>
              <a:tr h="243107">
                <a:tc>
                  <a:txBody>
                    <a:bodyPr/>
                    <a:lstStyle/>
                    <a:p>
                      <a:pPr algn="r"/>
                      <a:r>
                        <a:rPr lang="pt-BR" sz="1400" b="1" dirty="0"/>
                        <a:t>8</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8"/>
                  </a:ext>
                </a:extLst>
              </a:tr>
              <a:tr h="243107">
                <a:tc>
                  <a:txBody>
                    <a:bodyPr/>
                    <a:lstStyle/>
                    <a:p>
                      <a:pPr algn="r"/>
                      <a:r>
                        <a:rPr lang="pt-BR" sz="1400" b="1" dirty="0"/>
                        <a:t>9</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9"/>
                  </a:ext>
                </a:extLst>
              </a:tr>
              <a:tr h="243107">
                <a:tc>
                  <a:txBody>
                    <a:bodyPr/>
                    <a:lstStyle/>
                    <a:p>
                      <a:pPr algn="r"/>
                      <a:r>
                        <a:rPr lang="pt-BR" sz="1400" b="1" dirty="0"/>
                        <a:t>10</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0"/>
                  </a:ext>
                </a:extLst>
              </a:tr>
              <a:tr h="243107">
                <a:tc>
                  <a:txBody>
                    <a:bodyPr/>
                    <a:lstStyle/>
                    <a:p>
                      <a:pPr algn="r"/>
                      <a:r>
                        <a:rPr lang="pt-BR" sz="1400" b="1" dirty="0"/>
                        <a:t>11</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1"/>
                  </a:ext>
                </a:extLst>
              </a:tr>
              <a:tr h="243107">
                <a:tc>
                  <a:txBody>
                    <a:bodyPr/>
                    <a:lstStyle/>
                    <a:p>
                      <a:pPr algn="r"/>
                      <a:r>
                        <a:rPr lang="pt-BR" sz="1400" b="1" dirty="0"/>
                        <a:t>12</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2"/>
                  </a:ext>
                </a:extLst>
              </a:tr>
              <a:tr h="243107">
                <a:tc>
                  <a:txBody>
                    <a:bodyPr/>
                    <a:lstStyle/>
                    <a:p>
                      <a:pPr algn="r"/>
                      <a:r>
                        <a:rPr lang="pt-BR" sz="1400" b="1" dirty="0"/>
                        <a:t>13</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3"/>
                  </a:ext>
                </a:extLst>
              </a:tr>
              <a:tr h="243107">
                <a:tc>
                  <a:txBody>
                    <a:bodyPr/>
                    <a:lstStyle/>
                    <a:p>
                      <a:pPr algn="r"/>
                      <a:r>
                        <a:rPr lang="pt-BR" sz="1400" b="1" dirty="0"/>
                        <a:t>14</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4"/>
                  </a:ext>
                </a:extLst>
              </a:tr>
              <a:tr h="243107">
                <a:tc>
                  <a:txBody>
                    <a:bodyPr/>
                    <a:lstStyle/>
                    <a:p>
                      <a:pPr algn="r"/>
                      <a:r>
                        <a:rPr lang="pt-BR" sz="1400" b="1" dirty="0"/>
                        <a:t>15</a:t>
                      </a:r>
                    </a:p>
                  </a:txBody>
                  <a:tcPr marL="85742" marR="85742" marT="0" marB="0">
                    <a:lnR w="12700" cap="flat" cmpd="sng" algn="ctr">
                      <a:solidFill>
                        <a:scrgbClr r="0" g="0" b="0"/>
                      </a:solidFill>
                      <a:prstDash val="solid"/>
                      <a:round/>
                      <a:headEnd type="none" w="med" len="med"/>
                      <a:tailEnd type="none" w="med" len="med"/>
                    </a:lnR>
                    <a:noFill/>
                  </a:tcPr>
                </a:tc>
                <a:tc>
                  <a:txBody>
                    <a:bodyPr/>
                    <a:lstStyle/>
                    <a:p>
                      <a:endParaRPr lang="pt-BR" sz="1100" b="1" dirty="0"/>
                    </a:p>
                  </a:txBody>
                  <a:tcPr marL="85742" marR="85742" marT="0" marB="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sp>
        <p:nvSpPr>
          <p:cNvPr id="22" name="Rectangle 21"/>
          <p:cNvSpPr/>
          <p:nvPr/>
        </p:nvSpPr>
        <p:spPr>
          <a:xfrm>
            <a:off x="2395471" y="3069949"/>
            <a:ext cx="1262129" cy="584775"/>
          </a:xfrm>
          <a:prstGeom prst="rect">
            <a:avLst/>
          </a:prstGeom>
          <a:ln w="28575" cmpd="sng">
            <a:solidFill>
              <a:srgbClr val="FF0000"/>
            </a:solidFill>
          </a:ln>
        </p:spPr>
        <p:txBody>
          <a:bodyPr wrap="square">
            <a:spAutoFit/>
          </a:bodyPr>
          <a:lstStyle/>
          <a:p>
            <a:r>
              <a:rPr lang="en-US" sz="1600" noProof="1"/>
              <a:t>leaw $w,%A</a:t>
            </a:r>
          </a:p>
          <a:p>
            <a:r>
              <a:rPr lang="en-US" sz="1600" noProof="1"/>
              <a:t>jmp</a:t>
            </a:r>
          </a:p>
        </p:txBody>
      </p:sp>
      <p:cxnSp>
        <p:nvCxnSpPr>
          <p:cNvPr id="23" name="Curved Connector 22"/>
          <p:cNvCxnSpPr/>
          <p:nvPr/>
        </p:nvCxnSpPr>
        <p:spPr>
          <a:xfrm rot="10800000" flipH="1" flipV="1">
            <a:off x="2395471" y="3362337"/>
            <a:ext cx="65822" cy="1590318"/>
          </a:xfrm>
          <a:prstGeom prst="curvedConnector3">
            <a:avLst>
              <a:gd name="adj1" fmla="val -1266912"/>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2461293" y="4767989"/>
            <a:ext cx="743083" cy="369332"/>
          </a:xfrm>
          <a:prstGeom prst="rect">
            <a:avLst/>
          </a:prstGeom>
          <a:ln w="28575" cmpd="sng">
            <a:solidFill>
              <a:srgbClr val="FF0000"/>
            </a:solidFill>
          </a:ln>
        </p:spPr>
        <p:txBody>
          <a:bodyPr wrap="square">
            <a:spAutoFit/>
          </a:bodyPr>
          <a:lstStyle/>
          <a:p>
            <a:r>
              <a:rPr lang="pt-BR" dirty="0"/>
              <a:t>         </a:t>
            </a:r>
          </a:p>
        </p:txBody>
      </p:sp>
      <p:sp>
        <p:nvSpPr>
          <p:cNvPr id="25" name="Rectangle 24"/>
          <p:cNvSpPr/>
          <p:nvPr/>
        </p:nvSpPr>
        <p:spPr>
          <a:xfrm>
            <a:off x="7619094" y="4500895"/>
            <a:ext cx="389850" cy="369332"/>
          </a:xfrm>
          <a:prstGeom prst="rect">
            <a:avLst/>
          </a:prstGeom>
        </p:spPr>
        <p:txBody>
          <a:bodyPr wrap="none">
            <a:spAutoFit/>
          </a:bodyPr>
          <a:lstStyle/>
          <a:p>
            <a:r>
              <a:rPr lang="pt-BR" u="sng" dirty="0"/>
              <a:t>xy</a:t>
            </a:r>
          </a:p>
        </p:txBody>
      </p:sp>
      <p:sp>
        <p:nvSpPr>
          <p:cNvPr id="26" name="Rectangle 25"/>
          <p:cNvSpPr/>
          <p:nvPr/>
        </p:nvSpPr>
        <p:spPr>
          <a:xfrm>
            <a:off x="3677255" y="4732459"/>
            <a:ext cx="349776" cy="369332"/>
          </a:xfrm>
          <a:prstGeom prst="rect">
            <a:avLst/>
          </a:prstGeom>
        </p:spPr>
        <p:txBody>
          <a:bodyPr wrap="none">
            <a:spAutoFit/>
          </a:bodyPr>
          <a:lstStyle/>
          <a:p>
            <a:r>
              <a:rPr lang="pt-BR" u="sng" dirty="0" err="1"/>
              <a:t>w</a:t>
            </a:r>
            <a:endParaRPr lang="pt-BR" u="sng" dirty="0"/>
          </a:p>
        </p:txBody>
      </p:sp>
      <p:sp>
        <p:nvSpPr>
          <p:cNvPr id="6" name="TextBox 5">
            <a:extLst>
              <a:ext uri="{FF2B5EF4-FFF2-40B4-BE49-F238E27FC236}">
                <a16:creationId xmlns:a16="http://schemas.microsoft.com/office/drawing/2014/main" id="{C40919F7-EDAD-4D12-0AD9-ABF6333F47DD}"/>
              </a:ext>
            </a:extLst>
          </p:cNvPr>
          <p:cNvSpPr txBox="1"/>
          <p:nvPr/>
        </p:nvSpPr>
        <p:spPr>
          <a:xfrm>
            <a:off x="2157043" y="6549750"/>
            <a:ext cx="1738983" cy="276999"/>
          </a:xfrm>
          <a:prstGeom prst="rect">
            <a:avLst/>
          </a:prstGeom>
          <a:noFill/>
        </p:spPr>
        <p:txBody>
          <a:bodyPr wrap="square">
            <a:spAutoFit/>
          </a:bodyPr>
          <a:lstStyle/>
          <a:p>
            <a:pPr algn="ctr"/>
            <a:r>
              <a:rPr lang="pt-BR" sz="1200" baseline="0" dirty="0"/>
              <a:t>Memória de instruções</a:t>
            </a:r>
            <a:endParaRPr lang="en-US" dirty="0"/>
          </a:p>
        </p:txBody>
      </p:sp>
      <p:sp>
        <p:nvSpPr>
          <p:cNvPr id="7" name="TextBox 6">
            <a:extLst>
              <a:ext uri="{FF2B5EF4-FFF2-40B4-BE49-F238E27FC236}">
                <a16:creationId xmlns:a16="http://schemas.microsoft.com/office/drawing/2014/main" id="{2B34232E-0DE2-CA3F-5F6D-D5E813038059}"/>
              </a:ext>
            </a:extLst>
          </p:cNvPr>
          <p:cNvSpPr txBox="1"/>
          <p:nvPr/>
        </p:nvSpPr>
        <p:spPr>
          <a:xfrm>
            <a:off x="6134545" y="6549749"/>
            <a:ext cx="1738983" cy="276999"/>
          </a:xfrm>
          <a:prstGeom prst="rect">
            <a:avLst/>
          </a:prstGeom>
          <a:noFill/>
        </p:spPr>
        <p:txBody>
          <a:bodyPr wrap="square">
            <a:spAutoFit/>
          </a:bodyPr>
          <a:lstStyle/>
          <a:p>
            <a:pPr algn="ctr"/>
            <a:r>
              <a:rPr lang="pt-BR" sz="1200" baseline="0" dirty="0"/>
              <a:t>Memória de dados</a:t>
            </a:r>
            <a:endParaRPr lang="en-US" dirty="0"/>
          </a:p>
        </p:txBody>
      </p:sp>
    </p:spTree>
    <p:extLst>
      <p:ext uri="{BB962C8B-B14F-4D97-AF65-F5344CB8AC3E}">
        <p14:creationId xmlns:p14="http://schemas.microsoft.com/office/powerpoint/2010/main" val="1732789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Símbolos</a:t>
            </a:r>
          </a:p>
        </p:txBody>
      </p:sp>
      <p:sp>
        <p:nvSpPr>
          <p:cNvPr id="3" name="Content Placeholder 2"/>
          <p:cNvSpPr>
            <a:spLocks noGrp="1"/>
          </p:cNvSpPr>
          <p:nvPr>
            <p:ph idx="1"/>
          </p:nvPr>
        </p:nvSpPr>
        <p:spPr>
          <a:xfrm>
            <a:off x="268225" y="1485900"/>
            <a:ext cx="8875776" cy="4724400"/>
          </a:xfrm>
        </p:spPr>
        <p:txBody>
          <a:bodyPr/>
          <a:lstStyle/>
          <a:p>
            <a:r>
              <a:rPr lang="en-BR" dirty="0"/>
              <a:t>Símbolos de dados (</a:t>
            </a:r>
            <a:r>
              <a:rPr lang="pt-BR" b="1" dirty="0"/>
              <a:t>variáveis</a:t>
            </a:r>
            <a:r>
              <a:rPr lang="en-BR" dirty="0"/>
              <a:t>): identificam posições de armazenamento</a:t>
            </a:r>
            <a:endParaRPr lang="pt-BR" dirty="0"/>
          </a:p>
          <a:p>
            <a:endParaRPr lang="pt-BR" dirty="0"/>
          </a:p>
          <a:p>
            <a:endParaRPr lang="pt-BR" dirty="0"/>
          </a:p>
          <a:p>
            <a:endParaRPr lang="pt-BR" dirty="0"/>
          </a:p>
          <a:p>
            <a:endParaRPr lang="pt-BR" dirty="0"/>
          </a:p>
          <a:p>
            <a:endParaRPr lang="pt-BR" dirty="0"/>
          </a:p>
          <a:p>
            <a:endParaRPr lang="pt-BR" dirty="0"/>
          </a:p>
          <a:p>
            <a:r>
              <a:rPr lang="en-BR" dirty="0"/>
              <a:t>Rótulos de código (</a:t>
            </a:r>
            <a:r>
              <a:rPr lang="pt-BR" b="1" i="1" dirty="0" err="1"/>
              <a:t>labels</a:t>
            </a:r>
            <a:r>
              <a:rPr lang="en-BR" dirty="0"/>
              <a:t>): identificam posições no programa, que podem ser usadas como destinos de saltos.</a:t>
            </a:r>
            <a:endParaRPr lang="pt-BR"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12</a:t>
            </a:fld>
            <a:endParaRPr lang="pt-BR" dirty="0"/>
          </a:p>
        </p:txBody>
      </p:sp>
      <p:grpSp>
        <p:nvGrpSpPr>
          <p:cNvPr id="8" name="Group 7"/>
          <p:cNvGrpSpPr/>
          <p:nvPr/>
        </p:nvGrpSpPr>
        <p:grpSpPr>
          <a:xfrm>
            <a:off x="3111108" y="2088138"/>
            <a:ext cx="2581156" cy="1124885"/>
            <a:chOff x="3672768" y="2950446"/>
            <a:chExt cx="2581156" cy="1124885"/>
          </a:xfrm>
        </p:grpSpPr>
        <p:sp>
          <p:nvSpPr>
            <p:cNvPr id="6" name="Rectangle 5"/>
            <p:cNvSpPr/>
            <p:nvPr/>
          </p:nvSpPr>
          <p:spPr>
            <a:xfrm>
              <a:off x="3672768" y="3244334"/>
              <a:ext cx="2581156" cy="830997"/>
            </a:xfrm>
            <a:prstGeom prst="rect">
              <a:avLst/>
            </a:prstGeom>
            <a:ln>
              <a:solidFill>
                <a:schemeClr val="tx1"/>
              </a:solidFill>
              <a:prstDash val="dash"/>
            </a:ln>
          </p:spPr>
          <p:txBody>
            <a:bodyPr wrap="none">
              <a:spAutoFit/>
            </a:bodyPr>
            <a:lstStyle/>
            <a:p>
              <a:r>
                <a:rPr lang="en-US" sz="2400" noProof="1">
                  <a:latin typeface="Courier New"/>
                  <a:cs typeface="Courier New"/>
                </a:rPr>
                <a:t>int dez = 10;</a:t>
              </a:r>
            </a:p>
            <a:p>
              <a:r>
                <a:rPr lang="en-US" sz="2400" noProof="1">
                  <a:latin typeface="Courier New"/>
                  <a:cs typeface="Courier New"/>
                </a:rPr>
                <a:t>char a = 'a';</a:t>
              </a:r>
            </a:p>
          </p:txBody>
        </p:sp>
        <p:sp>
          <p:nvSpPr>
            <p:cNvPr id="7" name="Rectangle 6"/>
            <p:cNvSpPr/>
            <p:nvPr/>
          </p:nvSpPr>
          <p:spPr>
            <a:xfrm>
              <a:off x="4685140" y="2950446"/>
              <a:ext cx="553037" cy="369332"/>
            </a:xfrm>
            <a:prstGeom prst="rect">
              <a:avLst/>
            </a:prstGeom>
            <a:solidFill>
              <a:schemeClr val="bg1"/>
            </a:solidFill>
          </p:spPr>
          <p:txBody>
            <a:bodyPr wrap="none" lIns="0" tIns="0" rIns="0" bIns="0">
              <a:spAutoFit/>
            </a:bodyPr>
            <a:lstStyle/>
            <a:p>
              <a:pPr algn="ctr"/>
              <a:r>
                <a:rPr lang="pt-BR" sz="2400" i="1" dirty="0"/>
                <a:t>Java</a:t>
              </a:r>
            </a:p>
          </p:txBody>
        </p:sp>
      </p:grpSp>
      <p:sp>
        <p:nvSpPr>
          <p:cNvPr id="9" name="Rectangle 8"/>
          <p:cNvSpPr/>
          <p:nvPr/>
        </p:nvSpPr>
        <p:spPr>
          <a:xfrm>
            <a:off x="942064" y="6428745"/>
            <a:ext cx="6998250" cy="338554"/>
          </a:xfrm>
          <a:prstGeom prst="rect">
            <a:avLst/>
          </a:prstGeom>
        </p:spPr>
        <p:txBody>
          <a:bodyPr wrap="square">
            <a:spAutoFit/>
          </a:bodyPr>
          <a:lstStyle/>
          <a:p>
            <a:r>
              <a:rPr lang="pt-BR" sz="1600" dirty="0"/>
              <a:t>* Instruções de goto não são recomendadas em geral em linguagens de alto nível.</a:t>
            </a:r>
          </a:p>
        </p:txBody>
      </p:sp>
      <p:grpSp>
        <p:nvGrpSpPr>
          <p:cNvPr id="10" name="Group 9"/>
          <p:cNvGrpSpPr/>
          <p:nvPr/>
        </p:nvGrpSpPr>
        <p:grpSpPr>
          <a:xfrm>
            <a:off x="2418498" y="4575526"/>
            <a:ext cx="4424609" cy="1107293"/>
            <a:chOff x="3672768" y="2968038"/>
            <a:chExt cx="4424609" cy="1107293"/>
          </a:xfrm>
        </p:grpSpPr>
        <p:sp>
          <p:nvSpPr>
            <p:cNvPr id="11" name="Rectangle 10"/>
            <p:cNvSpPr/>
            <p:nvPr/>
          </p:nvSpPr>
          <p:spPr>
            <a:xfrm>
              <a:off x="3672768" y="3244334"/>
              <a:ext cx="4424609" cy="830997"/>
            </a:xfrm>
            <a:prstGeom prst="rect">
              <a:avLst/>
            </a:prstGeom>
            <a:ln>
              <a:solidFill>
                <a:schemeClr val="tx1"/>
              </a:solidFill>
              <a:prstDash val="dash"/>
            </a:ln>
          </p:spPr>
          <p:txBody>
            <a:bodyPr wrap="none">
              <a:spAutoFit/>
            </a:bodyPr>
            <a:lstStyle/>
            <a:p>
              <a:r>
                <a:rPr lang="en-US" sz="2400" dirty="0">
                  <a:latin typeface="Courier New"/>
                  <a:cs typeface="Courier New"/>
                </a:rPr>
                <a:t>10 PRINT "Hello World!"</a:t>
              </a:r>
            </a:p>
            <a:p>
              <a:r>
                <a:rPr lang="en-US" sz="2400" dirty="0">
                  <a:latin typeface="Courier New"/>
                  <a:cs typeface="Courier New"/>
                </a:rPr>
                <a:t>20 GOTO 10</a:t>
              </a:r>
            </a:p>
          </p:txBody>
        </p:sp>
        <p:sp>
          <p:nvSpPr>
            <p:cNvPr id="12" name="Rectangle 11"/>
            <p:cNvSpPr/>
            <p:nvPr/>
          </p:nvSpPr>
          <p:spPr>
            <a:xfrm>
              <a:off x="5504066" y="2968038"/>
              <a:ext cx="644407" cy="369332"/>
            </a:xfrm>
            <a:prstGeom prst="rect">
              <a:avLst/>
            </a:prstGeom>
            <a:solidFill>
              <a:schemeClr val="bg1"/>
            </a:solidFill>
          </p:spPr>
          <p:txBody>
            <a:bodyPr wrap="none" lIns="0" tIns="0" rIns="0" bIns="0">
              <a:spAutoFit/>
            </a:bodyPr>
            <a:lstStyle/>
            <a:p>
              <a:pPr algn="ctr"/>
              <a:r>
                <a:rPr lang="pt-BR" sz="2400" i="1" dirty="0"/>
                <a:t>Basic</a:t>
              </a:r>
            </a:p>
          </p:txBody>
        </p:sp>
      </p:grpSp>
    </p:spTree>
    <p:extLst>
      <p:ext uri="{BB962C8B-B14F-4D97-AF65-F5344CB8AC3E}">
        <p14:creationId xmlns:p14="http://schemas.microsoft.com/office/powerpoint/2010/main" val="967053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Passos do Assembler</a:t>
            </a:r>
          </a:p>
        </p:txBody>
      </p:sp>
      <p:sp>
        <p:nvSpPr>
          <p:cNvPr id="3" name="Content Placeholder 2"/>
          <p:cNvSpPr>
            <a:spLocks noGrp="1"/>
          </p:cNvSpPr>
          <p:nvPr>
            <p:ph idx="1"/>
          </p:nvPr>
        </p:nvSpPr>
        <p:spPr>
          <a:xfrm>
            <a:off x="84172" y="1485900"/>
            <a:ext cx="9059827" cy="4724400"/>
          </a:xfrm>
        </p:spPr>
        <p:txBody>
          <a:bodyPr>
            <a:normAutofit/>
          </a:bodyPr>
          <a:lstStyle/>
          <a:p>
            <a:pPr marL="285750" indent="-285750">
              <a:buFont typeface="Arial"/>
              <a:buChar char="•"/>
            </a:pPr>
            <a:r>
              <a:rPr lang="en-US" sz="1900" noProof="1"/>
              <a:t>Assembler de </a:t>
            </a:r>
            <a:r>
              <a:rPr lang="en-US" sz="1900" b="1" noProof="1"/>
              <a:t>um passo: </a:t>
            </a:r>
            <a:r>
              <a:rPr lang="en-US" sz="1900" noProof="1"/>
              <a:t>percorrer o código-fonte uma vez. </a:t>
            </a:r>
          </a:p>
          <a:p>
            <a:pPr marL="285750" indent="-285750">
              <a:buFont typeface="Arial"/>
              <a:buChar char="•"/>
            </a:pPr>
            <a:endParaRPr lang="en-US" sz="1900" noProof="1"/>
          </a:p>
          <a:p>
            <a:pPr marL="285750" indent="-285750">
              <a:buFont typeface="Arial"/>
              <a:buChar char="•"/>
            </a:pPr>
            <a:endParaRPr lang="en-US" sz="1900" noProof="1"/>
          </a:p>
          <a:p>
            <a:pPr marL="285750" indent="-285750">
              <a:buFont typeface="Arial"/>
              <a:buChar char="•"/>
            </a:pPr>
            <a:endParaRPr lang="en-US" sz="1900" noProof="1"/>
          </a:p>
          <a:p>
            <a:pPr marL="285750" indent="-285750">
              <a:buFont typeface="Arial"/>
              <a:buChar char="•"/>
            </a:pPr>
            <a:endParaRPr lang="en-US" sz="1900" noProof="1"/>
          </a:p>
          <a:p>
            <a:pPr marL="285750" indent="-285750">
              <a:buFont typeface="Arial"/>
              <a:buChar char="•"/>
            </a:pPr>
            <a:endParaRPr lang="en-US" sz="1900" noProof="1"/>
          </a:p>
          <a:p>
            <a:pPr marL="285750" indent="-285750">
              <a:buFont typeface="Arial"/>
              <a:buChar char="•"/>
            </a:pPr>
            <a:endParaRPr lang="en-US" sz="1900" noProof="1"/>
          </a:p>
          <a:p>
            <a:pPr marL="285750" indent="-285750">
              <a:buFont typeface="Arial"/>
              <a:buChar char="•"/>
            </a:pPr>
            <a:r>
              <a:rPr lang="en-US" sz="1900" noProof="1"/>
              <a:t>Assembler de </a:t>
            </a:r>
            <a:r>
              <a:rPr lang="en-US" sz="1900" b="1" noProof="1"/>
              <a:t>múltiplos passos: </a:t>
            </a:r>
            <a:r>
              <a:rPr lang="en-US" sz="1900" noProof="1"/>
              <a:t>em uma primeira passagem criar a </a:t>
            </a:r>
            <a:r>
              <a:rPr lang="en-BR" sz="1900" dirty="0"/>
              <a:t>tabela de símbolos e, na passagem seguinte, utiliza essa tabela</a:t>
            </a:r>
            <a:r>
              <a:rPr lang="en-US" sz="1900" noProof="1"/>
              <a:t>.</a:t>
            </a:r>
          </a:p>
        </p:txBody>
      </p:sp>
      <p:sp>
        <p:nvSpPr>
          <p:cNvPr id="4" name="Text Placeholder 3"/>
          <p:cNvSpPr>
            <a:spLocks noGrp="1"/>
          </p:cNvSpPr>
          <p:nvPr>
            <p:ph type="body" sz="quarter" idx="13"/>
          </p:nvPr>
        </p:nvSpPr>
        <p:spPr/>
        <p:txBody>
          <a:bodyPr/>
          <a:lstStyle/>
          <a:p>
            <a:endParaRPr lang="en-US" noProof="1"/>
          </a:p>
        </p:txBody>
      </p:sp>
      <p:sp>
        <p:nvSpPr>
          <p:cNvPr id="5" name="Slide Number Placeholder 4"/>
          <p:cNvSpPr>
            <a:spLocks noGrp="1"/>
          </p:cNvSpPr>
          <p:nvPr>
            <p:ph type="sldNum" sz="quarter" idx="4"/>
          </p:nvPr>
        </p:nvSpPr>
        <p:spPr/>
        <p:txBody>
          <a:bodyPr/>
          <a:lstStyle/>
          <a:p>
            <a:fld id="{7FFE5E5C-C80A-4D8D-A711-3102A7BA9258}" type="slidenum">
              <a:rPr lang="en-US" noProof="1" smtClean="0"/>
              <a:pPr/>
              <a:t>13</a:t>
            </a:fld>
            <a:endParaRPr lang="en-US" noProof="1"/>
          </a:p>
        </p:txBody>
      </p:sp>
      <p:graphicFrame>
        <p:nvGraphicFramePr>
          <p:cNvPr id="6" name="Table 5"/>
          <p:cNvGraphicFramePr>
            <a:graphicFrameLocks noGrp="1"/>
          </p:cNvGraphicFramePr>
          <p:nvPr>
            <p:extLst>
              <p:ext uri="{D42A27DB-BD31-4B8C-83A1-F6EECF244321}">
                <p14:modId xmlns:p14="http://schemas.microsoft.com/office/powerpoint/2010/main" val="1342682102"/>
              </p:ext>
            </p:extLst>
          </p:nvPr>
        </p:nvGraphicFramePr>
        <p:xfrm>
          <a:off x="3249731" y="1926677"/>
          <a:ext cx="1892285" cy="1935480"/>
        </p:xfrm>
        <a:graphic>
          <a:graphicData uri="http://schemas.openxmlformats.org/drawingml/2006/table">
            <a:tbl>
              <a:tblPr>
                <a:tableStyleId>{5C22544A-7EE6-4342-B048-85BDC9FD1C3A}</a:tableStyleId>
              </a:tblPr>
              <a:tblGrid>
                <a:gridCol w="1892285">
                  <a:extLst>
                    <a:ext uri="{9D8B030D-6E8A-4147-A177-3AD203B41FA5}">
                      <a16:colId xmlns:a16="http://schemas.microsoft.com/office/drawing/2014/main" val="20000"/>
                    </a:ext>
                  </a:extLst>
                </a:gridCol>
              </a:tblGrid>
              <a:tr h="370840">
                <a:tc>
                  <a:txBody>
                    <a:bodyPr/>
                    <a:lstStyle/>
                    <a:p>
                      <a:r>
                        <a:rPr lang="en-US" sz="1100" b="1" noProof="1">
                          <a:solidFill>
                            <a:schemeClr val="tx1"/>
                          </a:solidFill>
                          <a:latin typeface="Courier New"/>
                          <a:cs typeface="Courier New"/>
                        </a:rPr>
                        <a:t>    leaw</a:t>
                      </a:r>
                      <a:r>
                        <a:rPr lang="en-US" sz="1100" b="1" baseline="0" noProof="1">
                          <a:solidFill>
                            <a:schemeClr val="tx1"/>
                          </a:solidFill>
                          <a:latin typeface="Courier New"/>
                          <a:cs typeface="Courier New"/>
                        </a:rPr>
                        <a:t> $</a:t>
                      </a:r>
                      <a:r>
                        <a:rPr lang="en-US" sz="1100" b="1" noProof="1">
                          <a:solidFill>
                            <a:srgbClr val="FF0000"/>
                          </a:solidFill>
                          <a:latin typeface="Courier New"/>
                          <a:cs typeface="Courier New"/>
                        </a:rPr>
                        <a:t>i</a:t>
                      </a:r>
                      <a:r>
                        <a:rPr lang="en-US" sz="1100" b="1" noProof="1">
                          <a:solidFill>
                            <a:schemeClr val="tx1"/>
                          </a:solidFill>
                          <a:latin typeface="Courier New"/>
                          <a:cs typeface="Courier New"/>
                        </a:rPr>
                        <a:t>,%A</a:t>
                      </a:r>
                    </a:p>
                    <a:p>
                      <a:r>
                        <a:rPr lang="en-US" sz="1100" b="1" noProof="1">
                          <a:solidFill>
                            <a:schemeClr val="tx1"/>
                          </a:solidFill>
                          <a:latin typeface="Courier New"/>
                          <a:cs typeface="Courier New"/>
                        </a:rPr>
                        <a:t>    movw $1,(%A)</a:t>
                      </a: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noProof="1">
                          <a:solidFill>
                            <a:schemeClr val="tx1"/>
                          </a:solidFill>
                          <a:latin typeface="Courier New"/>
                          <a:cs typeface="Courier New"/>
                        </a:rPr>
                        <a:t>    leaw</a:t>
                      </a:r>
                      <a:r>
                        <a:rPr lang="en-US" sz="1100" b="1" baseline="0" noProof="1">
                          <a:solidFill>
                            <a:schemeClr val="tx1"/>
                          </a:solidFill>
                          <a:latin typeface="Courier New"/>
                          <a:cs typeface="Courier New"/>
                        </a:rPr>
                        <a:t> $</a:t>
                      </a:r>
                      <a:r>
                        <a:rPr lang="en-US" sz="1100" b="1" baseline="0" noProof="1">
                          <a:solidFill>
                            <a:srgbClr val="FF0000"/>
                          </a:solidFill>
                          <a:latin typeface="Courier New"/>
                          <a:cs typeface="Courier New"/>
                        </a:rPr>
                        <a:t>sum</a:t>
                      </a:r>
                      <a:r>
                        <a:rPr lang="en-US" sz="1100" b="1" noProof="1">
                          <a:solidFill>
                            <a:schemeClr val="tx1"/>
                          </a:solidFill>
                          <a:latin typeface="Courier New"/>
                          <a:cs typeface="Courier New"/>
                        </a:rPr>
                        <a:t>,%A</a:t>
                      </a:r>
                    </a:p>
                    <a:p>
                      <a:r>
                        <a:rPr lang="en-US" sz="1100" b="1" noProof="1">
                          <a:solidFill>
                            <a:schemeClr val="tx1"/>
                          </a:solidFill>
                          <a:latin typeface="Courier New"/>
                          <a:cs typeface="Courier New"/>
                        </a:rPr>
                        <a:t>    movw $0,(%A)</a:t>
                      </a:r>
                    </a:p>
                    <a:p>
                      <a:r>
                        <a:rPr lang="en-US" sz="1100" b="1" noProof="1">
                          <a:solidFill>
                            <a:srgbClr val="FF0000"/>
                          </a:solidFill>
                          <a:latin typeface="Courier New"/>
                          <a:cs typeface="Courier New"/>
                        </a:rPr>
                        <a:t>LOOP</a:t>
                      </a:r>
                      <a:r>
                        <a:rPr lang="en-US" sz="1100" b="1" noProof="1">
                          <a:solidFill>
                            <a:schemeClr val="tx1"/>
                          </a:solidFill>
                          <a:latin typeface="Courier New"/>
                          <a:cs typeface="Courier New"/>
                        </a:rPr>
                        <a:t>:</a:t>
                      </a:r>
                    </a:p>
                    <a:p>
                      <a:r>
                        <a:rPr lang="en-US" sz="1100" b="1" noProof="1">
                          <a:solidFill>
                            <a:schemeClr val="tx1"/>
                          </a:solidFill>
                          <a:latin typeface="Courier New"/>
                          <a:cs typeface="Courier New"/>
                        </a:rPr>
                        <a:t>    leaw</a:t>
                      </a:r>
                      <a:r>
                        <a:rPr lang="en-US" sz="1100" b="1" baseline="0" noProof="1">
                          <a:solidFill>
                            <a:schemeClr val="tx1"/>
                          </a:solidFill>
                          <a:latin typeface="Courier New"/>
                          <a:cs typeface="Courier New"/>
                        </a:rPr>
                        <a:t> $</a:t>
                      </a:r>
                      <a:r>
                        <a:rPr lang="en-US" sz="1100" b="1" noProof="1">
                          <a:solidFill>
                            <a:srgbClr val="FF0000"/>
                          </a:solidFill>
                          <a:latin typeface="Courier New"/>
                          <a:cs typeface="Courier New"/>
                        </a:rPr>
                        <a:t>i</a:t>
                      </a:r>
                      <a:r>
                        <a:rPr lang="en-US" sz="1100" b="1" noProof="1">
                          <a:solidFill>
                            <a:schemeClr val="tx1"/>
                          </a:solidFill>
                          <a:latin typeface="Courier New"/>
                          <a:cs typeface="Courier New"/>
                        </a:rPr>
                        <a:t>,%A</a:t>
                      </a:r>
                    </a:p>
                    <a:p>
                      <a:r>
                        <a:rPr lang="en-US" sz="1100" b="1" noProof="1">
                          <a:solidFill>
                            <a:schemeClr val="tx1"/>
                          </a:solidFill>
                          <a:latin typeface="Courier New"/>
                          <a:cs typeface="Courier New"/>
                        </a:rPr>
                        <a:t>    movw (%A),%D</a:t>
                      </a: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noProof="1">
                          <a:solidFill>
                            <a:schemeClr val="tx1"/>
                          </a:solidFill>
                          <a:latin typeface="Courier New"/>
                          <a:cs typeface="Courier New"/>
                        </a:rPr>
                        <a:t>    leaw</a:t>
                      </a:r>
                      <a:r>
                        <a:rPr lang="en-US" sz="1100" b="1" baseline="0" noProof="1">
                          <a:solidFill>
                            <a:schemeClr val="tx1"/>
                          </a:solidFill>
                          <a:latin typeface="Courier New"/>
                          <a:cs typeface="Courier New"/>
                        </a:rPr>
                        <a:t> $</a:t>
                      </a:r>
                      <a:r>
                        <a:rPr lang="en-US" sz="1100" b="1" noProof="1">
                          <a:solidFill>
                            <a:srgbClr val="FF0000"/>
                          </a:solidFill>
                          <a:latin typeface="Courier New"/>
                          <a:cs typeface="Courier New"/>
                        </a:rPr>
                        <a:t>R0</a:t>
                      </a:r>
                      <a:r>
                        <a:rPr lang="en-US" sz="1100" b="1" noProof="1">
                          <a:solidFill>
                            <a:schemeClr val="tx1"/>
                          </a:solidFill>
                          <a:latin typeface="Courier New"/>
                          <a:cs typeface="Courier New"/>
                        </a:rPr>
                        <a:t>,%A</a:t>
                      </a: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noProof="1">
                          <a:solidFill>
                            <a:schemeClr val="tx1"/>
                          </a:solidFill>
                          <a:latin typeface="Courier New"/>
                          <a:cs typeface="Courier New"/>
                        </a:rPr>
                        <a:t>    subw</a:t>
                      </a:r>
                      <a:r>
                        <a:rPr lang="en-US" sz="1100" b="1" baseline="0" noProof="1">
                          <a:solidFill>
                            <a:schemeClr val="tx1"/>
                          </a:solidFill>
                          <a:latin typeface="Courier New"/>
                          <a:cs typeface="Courier New"/>
                        </a:rPr>
                        <a:t> %D,(%A),%D</a:t>
                      </a: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noProof="1">
                          <a:solidFill>
                            <a:schemeClr val="tx1"/>
                          </a:solidFill>
                          <a:latin typeface="Courier New"/>
                          <a:cs typeface="Courier New"/>
                        </a:rPr>
                        <a:t>    leaw $</a:t>
                      </a:r>
                      <a:r>
                        <a:rPr lang="en-US" sz="1100" b="1" baseline="0" noProof="1">
                          <a:solidFill>
                            <a:srgbClr val="FF0000"/>
                          </a:solidFill>
                          <a:latin typeface="Courier New"/>
                          <a:cs typeface="Courier New"/>
                        </a:rPr>
                        <a:t>LOOP</a:t>
                      </a:r>
                      <a:r>
                        <a:rPr lang="en-US" sz="1100" b="1" baseline="0" noProof="1">
                          <a:solidFill>
                            <a:schemeClr val="tx1"/>
                          </a:solidFill>
                          <a:latin typeface="Courier New"/>
                          <a:cs typeface="Courier New"/>
                        </a:rPr>
                        <a:t>,%A</a:t>
                      </a:r>
                      <a:endParaRPr lang="en-US" sz="1100" b="1" noProof="1">
                        <a:solidFill>
                          <a:schemeClr val="tx1"/>
                        </a:solidFill>
                        <a:latin typeface="Courier New"/>
                        <a:cs typeface="Courier New"/>
                      </a:endParaRPr>
                    </a:p>
                    <a:p>
                      <a:r>
                        <a:rPr lang="en-US" sz="1100" b="1" noProof="1">
                          <a:solidFill>
                            <a:schemeClr val="tx1"/>
                          </a:solidFill>
                          <a:latin typeface="Courier New"/>
                          <a:cs typeface="Courier New"/>
                        </a:rPr>
                        <a:t>    jg   %D</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760812945"/>
              </p:ext>
            </p:extLst>
          </p:nvPr>
        </p:nvGraphicFramePr>
        <p:xfrm>
          <a:off x="1478329" y="4654019"/>
          <a:ext cx="1892285" cy="1935480"/>
        </p:xfrm>
        <a:graphic>
          <a:graphicData uri="http://schemas.openxmlformats.org/drawingml/2006/table">
            <a:tbl>
              <a:tblPr>
                <a:tableStyleId>{5C22544A-7EE6-4342-B048-85BDC9FD1C3A}</a:tableStyleId>
              </a:tblPr>
              <a:tblGrid>
                <a:gridCol w="1892285">
                  <a:extLst>
                    <a:ext uri="{9D8B030D-6E8A-4147-A177-3AD203B41FA5}">
                      <a16:colId xmlns:a16="http://schemas.microsoft.com/office/drawing/2014/main" val="20000"/>
                    </a:ext>
                  </a:extLst>
                </a:gridCol>
              </a:tblGrid>
              <a:tr h="370840">
                <a:tc>
                  <a:txBody>
                    <a:bodyPr/>
                    <a:lstStyle/>
                    <a:p>
                      <a:r>
                        <a:rPr lang="en-US" sz="1100" b="1" noProof="1">
                          <a:solidFill>
                            <a:schemeClr val="tx1"/>
                          </a:solidFill>
                          <a:latin typeface="Courier New"/>
                          <a:cs typeface="Courier New"/>
                        </a:rPr>
                        <a:t>    leaw</a:t>
                      </a:r>
                      <a:r>
                        <a:rPr lang="en-US" sz="1100" b="1" baseline="0" noProof="1">
                          <a:solidFill>
                            <a:schemeClr val="tx1"/>
                          </a:solidFill>
                          <a:latin typeface="Courier New"/>
                          <a:cs typeface="Courier New"/>
                        </a:rPr>
                        <a:t> $</a:t>
                      </a:r>
                      <a:r>
                        <a:rPr lang="en-US" sz="1100" b="1" noProof="1">
                          <a:solidFill>
                            <a:schemeClr val="tx1"/>
                          </a:solidFill>
                          <a:latin typeface="Courier New"/>
                          <a:cs typeface="Courier New"/>
                        </a:rPr>
                        <a:t>i,%A</a:t>
                      </a:r>
                    </a:p>
                    <a:p>
                      <a:r>
                        <a:rPr lang="en-US" sz="1100" b="1" noProof="1">
                          <a:solidFill>
                            <a:schemeClr val="tx1"/>
                          </a:solidFill>
                          <a:latin typeface="Courier New"/>
                          <a:cs typeface="Courier New"/>
                        </a:rPr>
                        <a:t>    movw $1,(%A)</a:t>
                      </a: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noProof="1">
                          <a:solidFill>
                            <a:schemeClr val="tx1"/>
                          </a:solidFill>
                          <a:latin typeface="Courier New"/>
                          <a:cs typeface="Courier New"/>
                        </a:rPr>
                        <a:t>    leaw</a:t>
                      </a:r>
                      <a:r>
                        <a:rPr lang="en-US" sz="1100" b="1" baseline="0" noProof="1">
                          <a:solidFill>
                            <a:schemeClr val="tx1"/>
                          </a:solidFill>
                          <a:latin typeface="Courier New"/>
                          <a:cs typeface="Courier New"/>
                        </a:rPr>
                        <a:t> $sum</a:t>
                      </a:r>
                      <a:r>
                        <a:rPr lang="en-US" sz="1100" b="1" noProof="1">
                          <a:solidFill>
                            <a:schemeClr val="tx1"/>
                          </a:solidFill>
                          <a:latin typeface="Courier New"/>
                          <a:cs typeface="Courier New"/>
                        </a:rPr>
                        <a:t>,%A</a:t>
                      </a:r>
                    </a:p>
                    <a:p>
                      <a:r>
                        <a:rPr lang="en-US" sz="1100" b="1" noProof="1">
                          <a:solidFill>
                            <a:schemeClr val="tx1"/>
                          </a:solidFill>
                          <a:latin typeface="Courier New"/>
                          <a:cs typeface="Courier New"/>
                        </a:rPr>
                        <a:t>    movw $0,(%A)</a:t>
                      </a:r>
                    </a:p>
                    <a:p>
                      <a:r>
                        <a:rPr lang="en-US" sz="1100" b="1" noProof="1">
                          <a:solidFill>
                            <a:srgbClr val="FF0000"/>
                          </a:solidFill>
                          <a:latin typeface="Courier New"/>
                          <a:cs typeface="Courier New"/>
                        </a:rPr>
                        <a:t>LOOP</a:t>
                      </a:r>
                      <a:r>
                        <a:rPr lang="en-US" sz="1100" b="1" noProof="1">
                          <a:solidFill>
                            <a:schemeClr val="tx1"/>
                          </a:solidFill>
                          <a:latin typeface="Courier New"/>
                          <a:cs typeface="Courier New"/>
                        </a:rPr>
                        <a:t>:</a:t>
                      </a:r>
                    </a:p>
                    <a:p>
                      <a:r>
                        <a:rPr lang="en-US" sz="1100" b="1" noProof="1">
                          <a:solidFill>
                            <a:schemeClr val="tx1"/>
                          </a:solidFill>
                          <a:latin typeface="Courier New"/>
                          <a:cs typeface="Courier New"/>
                        </a:rPr>
                        <a:t>    leaw</a:t>
                      </a:r>
                      <a:r>
                        <a:rPr lang="en-US" sz="1100" b="1" baseline="0" noProof="1">
                          <a:solidFill>
                            <a:schemeClr val="tx1"/>
                          </a:solidFill>
                          <a:latin typeface="Courier New"/>
                          <a:cs typeface="Courier New"/>
                        </a:rPr>
                        <a:t> $</a:t>
                      </a:r>
                      <a:r>
                        <a:rPr lang="en-US" sz="1100" b="1" noProof="1">
                          <a:solidFill>
                            <a:schemeClr val="tx1"/>
                          </a:solidFill>
                          <a:latin typeface="Courier New"/>
                          <a:cs typeface="Courier New"/>
                        </a:rPr>
                        <a:t>i,%A</a:t>
                      </a:r>
                    </a:p>
                    <a:p>
                      <a:r>
                        <a:rPr lang="en-US" sz="1100" b="1" noProof="1">
                          <a:solidFill>
                            <a:schemeClr val="tx1"/>
                          </a:solidFill>
                          <a:latin typeface="Courier New"/>
                          <a:cs typeface="Courier New"/>
                        </a:rPr>
                        <a:t>    movw (%A),%D</a:t>
                      </a: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noProof="1">
                          <a:solidFill>
                            <a:schemeClr val="tx1"/>
                          </a:solidFill>
                          <a:latin typeface="Courier New"/>
                          <a:cs typeface="Courier New"/>
                        </a:rPr>
                        <a:t>    leaw</a:t>
                      </a:r>
                      <a:r>
                        <a:rPr lang="en-US" sz="1100" b="1" baseline="0" noProof="1">
                          <a:solidFill>
                            <a:schemeClr val="tx1"/>
                          </a:solidFill>
                          <a:latin typeface="Courier New"/>
                          <a:cs typeface="Courier New"/>
                        </a:rPr>
                        <a:t> $</a:t>
                      </a:r>
                      <a:r>
                        <a:rPr lang="en-US" sz="1100" b="1" noProof="1">
                          <a:solidFill>
                            <a:schemeClr val="tx1"/>
                          </a:solidFill>
                          <a:latin typeface="Courier New"/>
                          <a:cs typeface="Courier New"/>
                        </a:rPr>
                        <a:t>R0,%A</a:t>
                      </a: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noProof="1">
                          <a:solidFill>
                            <a:schemeClr val="tx1"/>
                          </a:solidFill>
                          <a:latin typeface="Courier New"/>
                          <a:cs typeface="Courier New"/>
                        </a:rPr>
                        <a:t>    subw</a:t>
                      </a:r>
                      <a:r>
                        <a:rPr lang="en-US" sz="1100" b="1" baseline="0" noProof="1">
                          <a:solidFill>
                            <a:schemeClr val="tx1"/>
                          </a:solidFill>
                          <a:latin typeface="Courier New"/>
                          <a:cs typeface="Courier New"/>
                        </a:rPr>
                        <a:t> %D,(%A),%D</a:t>
                      </a: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noProof="1">
                          <a:solidFill>
                            <a:schemeClr val="tx1"/>
                          </a:solidFill>
                          <a:latin typeface="Courier New"/>
                          <a:cs typeface="Courier New"/>
                        </a:rPr>
                        <a:t>    leaw $LOOP,%A</a:t>
                      </a:r>
                      <a:endParaRPr lang="en-US" sz="1100" b="1" noProof="1">
                        <a:solidFill>
                          <a:schemeClr val="tx1"/>
                        </a:solidFill>
                        <a:latin typeface="Courier New"/>
                        <a:cs typeface="Courier New"/>
                      </a:endParaRPr>
                    </a:p>
                    <a:p>
                      <a:r>
                        <a:rPr lang="en-US" sz="1100" b="1" noProof="1">
                          <a:solidFill>
                            <a:schemeClr val="tx1"/>
                          </a:solidFill>
                          <a:latin typeface="Courier New"/>
                          <a:cs typeface="Courier New"/>
                        </a:rPr>
                        <a:t>    jg   %D</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863076519"/>
              </p:ext>
            </p:extLst>
          </p:nvPr>
        </p:nvGraphicFramePr>
        <p:xfrm>
          <a:off x="4817485" y="4654019"/>
          <a:ext cx="1892285" cy="1935480"/>
        </p:xfrm>
        <a:graphic>
          <a:graphicData uri="http://schemas.openxmlformats.org/drawingml/2006/table">
            <a:tbl>
              <a:tblPr>
                <a:tableStyleId>{5C22544A-7EE6-4342-B048-85BDC9FD1C3A}</a:tableStyleId>
              </a:tblPr>
              <a:tblGrid>
                <a:gridCol w="1892285">
                  <a:extLst>
                    <a:ext uri="{9D8B030D-6E8A-4147-A177-3AD203B41FA5}">
                      <a16:colId xmlns:a16="http://schemas.microsoft.com/office/drawing/2014/main" val="20000"/>
                    </a:ext>
                  </a:extLst>
                </a:gridCol>
              </a:tblGrid>
              <a:tr h="370840">
                <a:tc>
                  <a:txBody>
                    <a:bodyPr/>
                    <a:lstStyle/>
                    <a:p>
                      <a:r>
                        <a:rPr lang="en-US" sz="1100" b="1" noProof="1">
                          <a:solidFill>
                            <a:schemeClr val="tx1"/>
                          </a:solidFill>
                          <a:latin typeface="Courier New"/>
                          <a:cs typeface="Courier New"/>
                        </a:rPr>
                        <a:t>    leaw</a:t>
                      </a:r>
                      <a:r>
                        <a:rPr lang="en-US" sz="1100" b="1" baseline="0" noProof="1">
                          <a:solidFill>
                            <a:schemeClr val="tx1"/>
                          </a:solidFill>
                          <a:latin typeface="Courier New"/>
                          <a:cs typeface="Courier New"/>
                        </a:rPr>
                        <a:t> $</a:t>
                      </a:r>
                      <a:r>
                        <a:rPr lang="en-US" sz="1100" b="1" noProof="1">
                          <a:solidFill>
                            <a:srgbClr val="00B050"/>
                          </a:solidFill>
                          <a:latin typeface="Courier New"/>
                          <a:cs typeface="Courier New"/>
                        </a:rPr>
                        <a:t>i</a:t>
                      </a:r>
                      <a:r>
                        <a:rPr lang="en-US" sz="1100" b="1" noProof="1">
                          <a:solidFill>
                            <a:schemeClr val="tx1"/>
                          </a:solidFill>
                          <a:latin typeface="Courier New"/>
                          <a:cs typeface="Courier New"/>
                        </a:rPr>
                        <a:t>,%A</a:t>
                      </a:r>
                    </a:p>
                    <a:p>
                      <a:r>
                        <a:rPr lang="en-US" sz="1100" b="1" noProof="1">
                          <a:solidFill>
                            <a:schemeClr val="tx1"/>
                          </a:solidFill>
                          <a:latin typeface="Courier New"/>
                          <a:cs typeface="Courier New"/>
                        </a:rPr>
                        <a:t>    movw $1,(%A)</a:t>
                      </a: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noProof="1">
                          <a:solidFill>
                            <a:schemeClr val="tx1"/>
                          </a:solidFill>
                          <a:latin typeface="Courier New"/>
                          <a:cs typeface="Courier New"/>
                        </a:rPr>
                        <a:t>    leaw</a:t>
                      </a:r>
                      <a:r>
                        <a:rPr lang="en-US" sz="1100" b="1" baseline="0" noProof="1">
                          <a:solidFill>
                            <a:schemeClr val="tx1"/>
                          </a:solidFill>
                          <a:latin typeface="Courier New"/>
                          <a:cs typeface="Courier New"/>
                        </a:rPr>
                        <a:t> $</a:t>
                      </a:r>
                      <a:r>
                        <a:rPr lang="en-US" sz="1100" b="1" baseline="0" noProof="1">
                          <a:solidFill>
                            <a:srgbClr val="00B050"/>
                          </a:solidFill>
                          <a:latin typeface="Courier New"/>
                          <a:cs typeface="Courier New"/>
                        </a:rPr>
                        <a:t>sum</a:t>
                      </a:r>
                      <a:r>
                        <a:rPr lang="en-US" sz="1100" b="1" noProof="1">
                          <a:solidFill>
                            <a:schemeClr val="tx1"/>
                          </a:solidFill>
                          <a:latin typeface="Courier New"/>
                          <a:cs typeface="Courier New"/>
                        </a:rPr>
                        <a:t>,%A</a:t>
                      </a:r>
                    </a:p>
                    <a:p>
                      <a:r>
                        <a:rPr lang="en-US" sz="1100" b="1" noProof="1">
                          <a:solidFill>
                            <a:schemeClr val="tx1"/>
                          </a:solidFill>
                          <a:latin typeface="Courier New"/>
                          <a:cs typeface="Courier New"/>
                        </a:rPr>
                        <a:t>    movw $0,(%A)</a:t>
                      </a:r>
                    </a:p>
                    <a:p>
                      <a:r>
                        <a:rPr lang="en-US" sz="1100" b="1" noProof="1">
                          <a:solidFill>
                            <a:srgbClr val="FF0000"/>
                          </a:solidFill>
                          <a:latin typeface="Courier New"/>
                          <a:cs typeface="Courier New"/>
                        </a:rPr>
                        <a:t>LOOP</a:t>
                      </a:r>
                      <a:r>
                        <a:rPr lang="en-US" sz="1100" b="1" noProof="1">
                          <a:solidFill>
                            <a:schemeClr val="tx1"/>
                          </a:solidFill>
                          <a:latin typeface="Courier New"/>
                          <a:cs typeface="Courier New"/>
                        </a:rPr>
                        <a:t>:</a:t>
                      </a:r>
                    </a:p>
                    <a:p>
                      <a:r>
                        <a:rPr lang="en-US" sz="1100" b="1" noProof="1">
                          <a:solidFill>
                            <a:schemeClr val="tx1"/>
                          </a:solidFill>
                          <a:latin typeface="Courier New"/>
                          <a:cs typeface="Courier New"/>
                        </a:rPr>
                        <a:t>    leaw</a:t>
                      </a:r>
                      <a:r>
                        <a:rPr lang="en-US" sz="1100" b="1" baseline="0" noProof="1">
                          <a:solidFill>
                            <a:schemeClr val="tx1"/>
                          </a:solidFill>
                          <a:latin typeface="Courier New"/>
                          <a:cs typeface="Courier New"/>
                        </a:rPr>
                        <a:t> $</a:t>
                      </a:r>
                      <a:r>
                        <a:rPr lang="en-US" sz="1100" b="1" noProof="1">
                          <a:solidFill>
                            <a:srgbClr val="00B050"/>
                          </a:solidFill>
                          <a:latin typeface="Courier New"/>
                          <a:cs typeface="Courier New"/>
                        </a:rPr>
                        <a:t>i</a:t>
                      </a:r>
                      <a:r>
                        <a:rPr lang="en-US" sz="1100" b="1" noProof="1">
                          <a:solidFill>
                            <a:schemeClr val="tx1"/>
                          </a:solidFill>
                          <a:latin typeface="Courier New"/>
                          <a:cs typeface="Courier New"/>
                        </a:rPr>
                        <a:t>,%A</a:t>
                      </a:r>
                    </a:p>
                    <a:p>
                      <a:r>
                        <a:rPr lang="en-US" sz="1100" b="1" noProof="1">
                          <a:solidFill>
                            <a:schemeClr val="tx1"/>
                          </a:solidFill>
                          <a:latin typeface="Courier New"/>
                          <a:cs typeface="Courier New"/>
                        </a:rPr>
                        <a:t>    movw (%A),%D</a:t>
                      </a: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noProof="1">
                          <a:solidFill>
                            <a:schemeClr val="tx1"/>
                          </a:solidFill>
                          <a:latin typeface="Courier New"/>
                          <a:cs typeface="Courier New"/>
                        </a:rPr>
                        <a:t>    leaw</a:t>
                      </a:r>
                      <a:r>
                        <a:rPr lang="en-US" sz="1100" b="1" baseline="0" noProof="1">
                          <a:solidFill>
                            <a:schemeClr val="tx1"/>
                          </a:solidFill>
                          <a:latin typeface="Courier New"/>
                          <a:cs typeface="Courier New"/>
                        </a:rPr>
                        <a:t> $</a:t>
                      </a:r>
                      <a:r>
                        <a:rPr lang="en-US" sz="1100" b="1" noProof="1">
                          <a:solidFill>
                            <a:srgbClr val="00B050"/>
                          </a:solidFill>
                          <a:latin typeface="Courier New"/>
                          <a:cs typeface="Courier New"/>
                        </a:rPr>
                        <a:t>R0</a:t>
                      </a:r>
                      <a:r>
                        <a:rPr lang="en-US" sz="1100" b="1" noProof="1">
                          <a:solidFill>
                            <a:schemeClr val="tx1"/>
                          </a:solidFill>
                          <a:latin typeface="Courier New"/>
                          <a:cs typeface="Courier New"/>
                        </a:rPr>
                        <a:t>,%A</a:t>
                      </a: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noProof="1">
                          <a:solidFill>
                            <a:schemeClr val="tx1"/>
                          </a:solidFill>
                          <a:latin typeface="Courier New"/>
                          <a:cs typeface="Courier New"/>
                        </a:rPr>
                        <a:t>    subw</a:t>
                      </a:r>
                      <a:r>
                        <a:rPr lang="en-US" sz="1100" b="1" baseline="0" noProof="1">
                          <a:solidFill>
                            <a:schemeClr val="tx1"/>
                          </a:solidFill>
                          <a:latin typeface="Courier New"/>
                          <a:cs typeface="Courier New"/>
                        </a:rPr>
                        <a:t> %D,(%A),%D</a:t>
                      </a: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noProof="1">
                          <a:solidFill>
                            <a:schemeClr val="tx1"/>
                          </a:solidFill>
                          <a:latin typeface="Courier New"/>
                          <a:cs typeface="Courier New"/>
                        </a:rPr>
                        <a:t>    leaw $</a:t>
                      </a:r>
                      <a:r>
                        <a:rPr lang="en-US" sz="1100" b="1" baseline="0" noProof="1">
                          <a:solidFill>
                            <a:srgbClr val="00B050"/>
                          </a:solidFill>
                          <a:latin typeface="Courier New"/>
                          <a:cs typeface="Courier New"/>
                        </a:rPr>
                        <a:t>LOOP</a:t>
                      </a:r>
                      <a:r>
                        <a:rPr lang="en-US" sz="1100" b="1" baseline="0" noProof="1">
                          <a:solidFill>
                            <a:schemeClr val="tx1"/>
                          </a:solidFill>
                          <a:latin typeface="Courier New"/>
                          <a:cs typeface="Courier New"/>
                        </a:rPr>
                        <a:t>,%A</a:t>
                      </a:r>
                      <a:endParaRPr lang="en-US" sz="1100" b="1" noProof="1">
                        <a:solidFill>
                          <a:schemeClr val="tx1"/>
                        </a:solidFill>
                        <a:latin typeface="Courier New"/>
                        <a:cs typeface="Courier New"/>
                      </a:endParaRPr>
                    </a:p>
                    <a:p>
                      <a:r>
                        <a:rPr lang="en-US" sz="1100" b="1" noProof="1">
                          <a:solidFill>
                            <a:schemeClr val="tx1"/>
                          </a:solidFill>
                          <a:latin typeface="Courier New"/>
                          <a:cs typeface="Courier New"/>
                        </a:rPr>
                        <a:t>    jg   %D</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
        <p:nvSpPr>
          <p:cNvPr id="10" name="Rectangle 9"/>
          <p:cNvSpPr/>
          <p:nvPr/>
        </p:nvSpPr>
        <p:spPr>
          <a:xfrm>
            <a:off x="1087050" y="4603504"/>
            <a:ext cx="452368" cy="369332"/>
          </a:xfrm>
          <a:prstGeom prst="rect">
            <a:avLst/>
          </a:prstGeom>
        </p:spPr>
        <p:txBody>
          <a:bodyPr wrap="none">
            <a:spAutoFit/>
          </a:bodyPr>
          <a:lstStyle/>
          <a:p>
            <a:r>
              <a:rPr lang="en-US" noProof="1"/>
              <a:t>1º </a:t>
            </a:r>
          </a:p>
        </p:txBody>
      </p:sp>
      <p:sp>
        <p:nvSpPr>
          <p:cNvPr id="11" name="Rectangle 10"/>
          <p:cNvSpPr/>
          <p:nvPr/>
        </p:nvSpPr>
        <p:spPr>
          <a:xfrm>
            <a:off x="4439850" y="4654019"/>
            <a:ext cx="452368" cy="369332"/>
          </a:xfrm>
          <a:prstGeom prst="rect">
            <a:avLst/>
          </a:prstGeom>
        </p:spPr>
        <p:txBody>
          <a:bodyPr wrap="none">
            <a:spAutoFit/>
          </a:bodyPr>
          <a:lstStyle/>
          <a:p>
            <a:r>
              <a:rPr lang="en-US" noProof="1"/>
              <a:t>2º </a:t>
            </a:r>
          </a:p>
        </p:txBody>
      </p:sp>
    </p:spTree>
    <p:extLst>
      <p:ext uri="{BB962C8B-B14F-4D97-AF65-F5344CB8AC3E}">
        <p14:creationId xmlns:p14="http://schemas.microsoft.com/office/powerpoint/2010/main" val="1328593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Tabelas Auxiliares</a:t>
            </a:r>
          </a:p>
        </p:txBody>
      </p:sp>
      <p:sp>
        <p:nvSpPr>
          <p:cNvPr id="3" name="Content Placeholder 2"/>
          <p:cNvSpPr>
            <a:spLocks noGrp="1"/>
          </p:cNvSpPr>
          <p:nvPr>
            <p:ph idx="1"/>
          </p:nvPr>
        </p:nvSpPr>
        <p:spPr/>
        <p:txBody>
          <a:bodyPr>
            <a:normAutofit/>
          </a:bodyPr>
          <a:lstStyle/>
          <a:p>
            <a:endParaRPr lang="pt-BR" sz="2000" dirty="0"/>
          </a:p>
          <a:p>
            <a:pPr marL="285750" indent="-285750">
              <a:buFont typeface="Arial"/>
              <a:buChar char="•"/>
            </a:pPr>
            <a:r>
              <a:rPr lang="pt-BR" sz="2000" b="1" dirty="0" err="1"/>
              <a:t>Operation</a:t>
            </a:r>
            <a:r>
              <a:rPr lang="pt-BR" sz="2000" b="1" dirty="0"/>
              <a:t> </a:t>
            </a:r>
            <a:r>
              <a:rPr lang="pt-BR" sz="2000" b="1" dirty="0" err="1"/>
              <a:t>Code</a:t>
            </a:r>
            <a:r>
              <a:rPr lang="pt-BR" sz="2000" b="1" dirty="0"/>
              <a:t> </a:t>
            </a:r>
            <a:r>
              <a:rPr lang="pt-BR" sz="2000" b="1" dirty="0" err="1"/>
              <a:t>Table</a:t>
            </a:r>
            <a:r>
              <a:rPr lang="pt-BR" sz="2000" b="1" dirty="0"/>
              <a:t> (OPTAB)</a:t>
            </a:r>
          </a:p>
          <a:p>
            <a:r>
              <a:rPr lang="pt-BR" sz="2000" dirty="0"/>
              <a:t>	Com os </a:t>
            </a:r>
            <a:r>
              <a:rPr lang="pt-BR" sz="2000" dirty="0" err="1"/>
              <a:t>opcodes</a:t>
            </a:r>
            <a:r>
              <a:rPr lang="pt-BR" sz="2000" dirty="0"/>
              <a:t> e formato de instruções</a:t>
            </a:r>
          </a:p>
          <a:p>
            <a:r>
              <a:rPr lang="pt-BR" sz="2000" dirty="0"/>
              <a:t>	Eficiente para recuperar dados</a:t>
            </a:r>
          </a:p>
          <a:p>
            <a:r>
              <a:rPr lang="pt-BR" sz="2000" dirty="0"/>
              <a:t>	Estática</a:t>
            </a:r>
          </a:p>
          <a:p>
            <a:endParaRPr lang="pt-BR" sz="2000" dirty="0"/>
          </a:p>
          <a:p>
            <a:pPr marL="285750" indent="-285750">
              <a:buFont typeface="Arial"/>
              <a:buChar char="•"/>
            </a:pPr>
            <a:r>
              <a:rPr lang="pt-BR" sz="2000" b="1" dirty="0" err="1"/>
              <a:t>Symbol</a:t>
            </a:r>
            <a:r>
              <a:rPr lang="pt-BR" sz="2000" b="1" dirty="0"/>
              <a:t> </a:t>
            </a:r>
            <a:r>
              <a:rPr lang="pt-BR" sz="2000" b="1" dirty="0" err="1"/>
              <a:t>Table</a:t>
            </a:r>
            <a:r>
              <a:rPr lang="pt-BR" sz="2000" b="1" dirty="0"/>
              <a:t> (SYMTAB)</a:t>
            </a:r>
          </a:p>
          <a:p>
            <a:r>
              <a:rPr lang="pt-BR" sz="2000" dirty="0"/>
              <a:t>	Com os símbolos (variáveis e </a:t>
            </a:r>
            <a:r>
              <a:rPr lang="pt-BR" sz="2000" dirty="0" err="1"/>
              <a:t>labels</a:t>
            </a:r>
            <a:r>
              <a:rPr lang="pt-BR" sz="2000" dirty="0"/>
              <a:t>)</a:t>
            </a:r>
          </a:p>
          <a:p>
            <a:r>
              <a:rPr lang="pt-BR" sz="2000" dirty="0"/>
              <a:t>	Eficiente para inserir e recuperar dados</a:t>
            </a:r>
          </a:p>
          <a:p>
            <a:r>
              <a:rPr lang="pt-BR" sz="2000" dirty="0"/>
              <a:t>	Dinâmica</a:t>
            </a:r>
          </a:p>
          <a:p>
            <a:endParaRPr lang="pt-BR" sz="20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14</a:t>
            </a:fld>
            <a:endParaRPr lang="pt-BR" dirty="0"/>
          </a:p>
        </p:txBody>
      </p:sp>
    </p:spTree>
    <p:extLst>
      <p:ext uri="{BB962C8B-B14F-4D97-AF65-F5344CB8AC3E}">
        <p14:creationId xmlns:p14="http://schemas.microsoft.com/office/powerpoint/2010/main" val="1573250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Por que aprender Assembly?</a:t>
            </a:r>
          </a:p>
        </p:txBody>
      </p:sp>
      <p:sp>
        <p:nvSpPr>
          <p:cNvPr id="3" name="Content Placeholder 2"/>
          <p:cNvSpPr>
            <a:spLocks noGrp="1"/>
          </p:cNvSpPr>
          <p:nvPr>
            <p:ph idx="1"/>
          </p:nvPr>
        </p:nvSpPr>
        <p:spPr/>
        <p:txBody>
          <a:bodyPr>
            <a:normAutofit/>
          </a:bodyPr>
          <a:lstStyle/>
          <a:p>
            <a:r>
              <a:rPr lang="pt-BR" sz="2000" dirty="0"/>
              <a:t>Por exemplo para melhor controle de instruções otimizadas:</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15</a:t>
            </a:fld>
            <a:endParaRPr lang="pt-BR" dirty="0"/>
          </a:p>
        </p:txBody>
      </p:sp>
      <p:sp>
        <p:nvSpPr>
          <p:cNvPr id="6" name="Rectangle 5"/>
          <p:cNvSpPr/>
          <p:nvPr/>
        </p:nvSpPr>
        <p:spPr>
          <a:xfrm>
            <a:off x="269776" y="2060466"/>
            <a:ext cx="8604448" cy="4278094"/>
          </a:xfrm>
          <a:prstGeom prst="rect">
            <a:avLst/>
          </a:prstGeom>
          <a:ln>
            <a:solidFill>
              <a:schemeClr val="tx1"/>
            </a:solidFill>
            <a:prstDash val="dash"/>
          </a:ln>
        </p:spPr>
        <p:txBody>
          <a:bodyPr wrap="square">
            <a:spAutoFit/>
          </a:bodyPr>
          <a:lstStyle/>
          <a:p>
            <a:r>
              <a:rPr lang="en-US" sz="1600" b="1" noProof="1">
                <a:latin typeface="Courier New"/>
                <a:cs typeface="Courier New"/>
              </a:rPr>
              <a:t>#ifdef CONFIG_SMP</a:t>
            </a:r>
          </a:p>
          <a:p>
            <a:r>
              <a:rPr lang="en-US" sz="1600" b="1" noProof="1">
                <a:latin typeface="Courier New"/>
                <a:cs typeface="Courier New"/>
              </a:rPr>
              <a:t>#define LOCK_PREFIX "lock ; "</a:t>
            </a:r>
          </a:p>
          <a:p>
            <a:r>
              <a:rPr lang="en-US" sz="1600" b="1" noProof="1">
                <a:latin typeface="Courier New"/>
                <a:cs typeface="Courier New"/>
              </a:rPr>
              <a:t>#else</a:t>
            </a:r>
          </a:p>
          <a:p>
            <a:r>
              <a:rPr lang="en-US" sz="1600" b="1" noProof="1">
                <a:latin typeface="Courier New"/>
                <a:cs typeface="Courier New"/>
              </a:rPr>
              <a:t>#define LOCK_PREFIX ""</a:t>
            </a:r>
          </a:p>
          <a:p>
            <a:r>
              <a:rPr lang="en-US" sz="1600" b="1" noProof="1">
                <a:latin typeface="Courier New"/>
                <a:cs typeface="Courier New"/>
              </a:rPr>
              <a:t>#endif</a:t>
            </a:r>
          </a:p>
          <a:p>
            <a:endParaRPr lang="en-US" sz="1600" b="1" noProof="1">
              <a:latin typeface="Courier New"/>
              <a:cs typeface="Courier New"/>
            </a:endParaRPr>
          </a:p>
          <a:p>
            <a:r>
              <a:rPr lang="en-US" sz="1600" b="1" noProof="1">
                <a:latin typeface="Courier New"/>
                <a:cs typeface="Courier New"/>
              </a:rPr>
              <a:t>#define __xg(x) ((volatile long *)(x))</a:t>
            </a:r>
          </a:p>
          <a:p>
            <a:endParaRPr lang="en-US" sz="1600" b="1" noProof="1">
              <a:latin typeface="Courier New"/>
              <a:cs typeface="Courier New"/>
            </a:endParaRPr>
          </a:p>
          <a:p>
            <a:r>
              <a:rPr lang="en-US" sz="1600" b="1" noProof="1">
                <a:latin typeface="Courier New"/>
                <a:cs typeface="Courier New"/>
              </a:rPr>
              <a:t>static inline unsigned long </a:t>
            </a:r>
            <a:br>
              <a:rPr lang="en-US" sz="1600" b="1" noProof="1">
                <a:latin typeface="Courier New"/>
                <a:cs typeface="Courier New"/>
              </a:rPr>
            </a:br>
            <a:r>
              <a:rPr lang="en-US" sz="1600" b="1" noProof="1">
                <a:latin typeface="Courier New"/>
                <a:cs typeface="Courier New"/>
              </a:rPr>
              <a:t>  __cmpxchg(volatile void *ptr, uint32_t old, uint32_t newv) {</a:t>
            </a:r>
          </a:p>
          <a:p>
            <a:r>
              <a:rPr lang="en-US" sz="1600" b="1" noProof="1">
                <a:latin typeface="Courier New"/>
                <a:cs typeface="Courier New"/>
              </a:rPr>
              <a:t>	unsigned long prev;</a:t>
            </a:r>
          </a:p>
          <a:p>
            <a:r>
              <a:rPr lang="en-US" sz="1600" b="1" noProof="1">
                <a:latin typeface="Courier New"/>
                <a:cs typeface="Courier New"/>
              </a:rPr>
              <a:t>	__asm__ __volatile__(LOCK_PREFIX "</a:t>
            </a:r>
            <a:r>
              <a:rPr lang="en-US" sz="1600" b="1" noProof="1">
                <a:solidFill>
                  <a:srgbClr val="FF0000"/>
                </a:solidFill>
                <a:latin typeface="Courier New"/>
                <a:cs typeface="Courier New"/>
              </a:rPr>
              <a:t>cmpxchgl %2,%1</a:t>
            </a:r>
            <a:r>
              <a:rPr lang="en-US" sz="1600" b="1" noProof="1">
                <a:latin typeface="Courier New"/>
                <a:cs typeface="Courier New"/>
              </a:rPr>
              <a:t>"</a:t>
            </a:r>
          </a:p>
          <a:p>
            <a:r>
              <a:rPr lang="en-US" sz="1600" b="1" noProof="1">
                <a:latin typeface="Courier New"/>
                <a:cs typeface="Courier New"/>
              </a:rPr>
              <a:t>							: "=a"(prev)</a:t>
            </a:r>
          </a:p>
          <a:p>
            <a:r>
              <a:rPr lang="en-US" sz="1600" b="1" noProof="1">
                <a:latin typeface="Courier New"/>
                <a:cs typeface="Courier New"/>
              </a:rPr>
              <a:t>							: "q"(newv), "m"(*__xg(ptr)), "0"(old)</a:t>
            </a:r>
          </a:p>
          <a:p>
            <a:r>
              <a:rPr lang="en-US" sz="1600" b="1" noProof="1">
                <a:latin typeface="Courier New"/>
                <a:cs typeface="Courier New"/>
              </a:rPr>
              <a:t>							: "memory");</a:t>
            </a:r>
          </a:p>
          <a:p>
            <a:r>
              <a:rPr lang="en-US" sz="1600" b="1" noProof="1">
                <a:latin typeface="Courier New"/>
                <a:cs typeface="Courier New"/>
              </a:rPr>
              <a:t>	return prev;</a:t>
            </a:r>
          </a:p>
          <a:p>
            <a:r>
              <a:rPr lang="en-US" sz="1600" b="1" noProof="1">
                <a:latin typeface="Courier New"/>
                <a:cs typeface="Courier New"/>
              </a:rPr>
              <a:t>}</a:t>
            </a:r>
          </a:p>
        </p:txBody>
      </p:sp>
    </p:spTree>
    <p:extLst>
      <p:ext uri="{BB962C8B-B14F-4D97-AF65-F5344CB8AC3E}">
        <p14:creationId xmlns:p14="http://schemas.microsoft.com/office/powerpoint/2010/main" val="17942057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Resumo do Assembler</a:t>
            </a:r>
          </a:p>
        </p:txBody>
      </p:sp>
      <p:sp>
        <p:nvSpPr>
          <p:cNvPr id="3" name="Content Placeholder 2"/>
          <p:cNvSpPr>
            <a:spLocks noGrp="1"/>
          </p:cNvSpPr>
          <p:nvPr>
            <p:ph idx="1"/>
          </p:nvPr>
        </p:nvSpPr>
        <p:spPr/>
        <p:txBody>
          <a:bodyPr>
            <a:normAutofit/>
          </a:bodyPr>
          <a:lstStyle/>
          <a:p>
            <a:r>
              <a:rPr lang="pt-BR" sz="2000" b="1" dirty="0"/>
              <a:t>Repete até o fim do arquivo </a:t>
            </a:r>
            <a:r>
              <a:rPr lang="pt-BR" sz="2000" b="1" dirty="0" err="1"/>
              <a:t>assembly</a:t>
            </a:r>
            <a:endParaRPr lang="pt-BR" sz="2000" b="1" dirty="0"/>
          </a:p>
          <a:p>
            <a:pPr marL="285750" indent="-285750">
              <a:buFont typeface="Arial"/>
              <a:buChar char="•"/>
            </a:pPr>
            <a:r>
              <a:rPr lang="pt-BR" sz="2000" dirty="0"/>
              <a:t>Lê a próxima instrução Assembly;</a:t>
            </a:r>
          </a:p>
          <a:p>
            <a:pPr marL="285750" indent="-285750">
              <a:buFont typeface="Arial"/>
              <a:buChar char="•"/>
            </a:pPr>
            <a:r>
              <a:rPr lang="pt-BR" sz="2000" dirty="0"/>
              <a:t>Separa a instrução nos seus campos;</a:t>
            </a:r>
          </a:p>
          <a:p>
            <a:pPr marL="285750" indent="-285750">
              <a:buFont typeface="Arial"/>
              <a:buChar char="•"/>
            </a:pPr>
            <a:r>
              <a:rPr lang="pt-BR" sz="2000" dirty="0"/>
              <a:t>Busca o código binário para cada campo da instrução;</a:t>
            </a:r>
          </a:p>
          <a:p>
            <a:pPr marL="285750" indent="-285750">
              <a:buFont typeface="Arial"/>
              <a:buChar char="•"/>
            </a:pPr>
            <a:r>
              <a:rPr lang="pt-BR" sz="2000" dirty="0"/>
              <a:t>Combina os códigos binários numa instrução de máquina;</a:t>
            </a:r>
          </a:p>
          <a:p>
            <a:pPr marL="285750" indent="-285750">
              <a:buFont typeface="Arial"/>
              <a:buChar char="•"/>
            </a:pPr>
            <a:r>
              <a:rPr lang="en-BR" sz="2000" dirty="0"/>
              <a:t>Grava a instrução de máquina no arquivo de saída</a:t>
            </a:r>
            <a:r>
              <a:rPr lang="pt-BR" sz="2000" dirty="0"/>
              <a:t>;</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16</a:t>
            </a:fld>
            <a:endParaRPr lang="pt-BR" dirty="0"/>
          </a:p>
        </p:txBody>
      </p:sp>
    </p:spTree>
    <p:extLst>
      <p:ext uri="{BB962C8B-B14F-4D97-AF65-F5344CB8AC3E}">
        <p14:creationId xmlns:p14="http://schemas.microsoft.com/office/powerpoint/2010/main" val="1157824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Boas práticas para programação</a:t>
            </a:r>
          </a:p>
        </p:txBody>
      </p:sp>
      <p:sp>
        <p:nvSpPr>
          <p:cNvPr id="3" name="Content Placeholder 2"/>
          <p:cNvSpPr>
            <a:spLocks noGrp="1"/>
          </p:cNvSpPr>
          <p:nvPr>
            <p:ph idx="1"/>
          </p:nvPr>
        </p:nvSpPr>
        <p:spPr/>
        <p:txBody>
          <a:bodyPr>
            <a:normAutofit/>
          </a:bodyPr>
          <a:lstStyle/>
          <a:p>
            <a:r>
              <a:rPr lang="pt-BR" sz="2400" dirty="0"/>
              <a:t>Códigos devem ser:</a:t>
            </a:r>
          </a:p>
          <a:p>
            <a:pPr marL="285750" indent="-285750">
              <a:buFont typeface="Arial" charset="0"/>
              <a:buChar char="•"/>
            </a:pPr>
            <a:r>
              <a:rPr lang="pt-BR" sz="2400" dirty="0"/>
              <a:t>curtos</a:t>
            </a:r>
          </a:p>
          <a:p>
            <a:pPr marL="285750" indent="-285750">
              <a:buFont typeface="Arial" charset="0"/>
              <a:buChar char="•"/>
            </a:pPr>
            <a:r>
              <a:rPr lang="pt-BR" sz="2400" dirty="0"/>
              <a:t>eficientes</a:t>
            </a:r>
          </a:p>
          <a:p>
            <a:pPr marL="285750" indent="-285750">
              <a:buFont typeface="Arial" charset="0"/>
              <a:buChar char="•"/>
            </a:pPr>
            <a:r>
              <a:rPr lang="pt-BR" sz="2400" dirty="0"/>
              <a:t>elegantes</a:t>
            </a:r>
          </a:p>
          <a:p>
            <a:pPr marL="285750" indent="-285750">
              <a:buFont typeface="Arial" charset="0"/>
              <a:buChar char="•"/>
            </a:pPr>
            <a:r>
              <a:rPr lang="pt-BR" sz="2400" dirty="0" err="1"/>
              <a:t>autodescritivos</a:t>
            </a:r>
            <a:endParaRPr lang="pt-BR" sz="24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17</a:t>
            </a:fld>
            <a:endParaRPr lang="pt-BR" dirty="0"/>
          </a:p>
        </p:txBody>
      </p:sp>
    </p:spTree>
    <p:extLst>
      <p:ext uri="{BB962C8B-B14F-4D97-AF65-F5344CB8AC3E}">
        <p14:creationId xmlns:p14="http://schemas.microsoft.com/office/powerpoint/2010/main" val="1090420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BA0E24"/>
        </a:solidFill>
        <a:effectLst/>
      </p:bgPr>
    </p:bg>
    <p:spTree>
      <p:nvGrpSpPr>
        <p:cNvPr id="1" name=""/>
        <p:cNvGrpSpPr/>
        <p:nvPr/>
      </p:nvGrpSpPr>
      <p:grpSpPr>
        <a:xfrm>
          <a:off x="0" y="0"/>
          <a:ext cx="0" cy="0"/>
          <a:chOff x="0" y="0"/>
          <a:chExt cx="0" cy="0"/>
        </a:xfrm>
      </p:grpSpPr>
      <p:sp useBgFill="1">
        <p:nvSpPr>
          <p:cNvPr id="2" name="Rectangle 1"/>
          <p:cNvSpPr>
            <a:spLocks/>
          </p:cNvSpPr>
          <p:nvPr/>
        </p:nvSpPr>
        <p:spPr>
          <a:xfrm>
            <a:off x="0" y="0"/>
            <a:ext cx="9144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p:cNvSpPr/>
          <p:nvPr/>
        </p:nvSpPr>
        <p:spPr>
          <a:xfrm>
            <a:off x="3039534" y="3636044"/>
            <a:ext cx="3061054" cy="461665"/>
          </a:xfrm>
          <a:prstGeom prst="rect">
            <a:avLst/>
          </a:prstGeom>
        </p:spPr>
        <p:txBody>
          <a:bodyPr wrap="none">
            <a:spAutoFit/>
          </a:bodyPr>
          <a:lstStyle/>
          <a:p>
            <a:pPr lvl="0" algn="ctr">
              <a:spcBef>
                <a:spcPct val="0"/>
              </a:spcBef>
              <a:defRPr/>
            </a:pPr>
            <a:r>
              <a:rPr lang="en-US" sz="2400" dirty="0">
                <a:solidFill>
                  <a:schemeClr val="bg1"/>
                </a:solidFill>
                <a:latin typeface="Verdana"/>
                <a:cs typeface="Verdana"/>
              </a:rPr>
              <a:t>www.insper.edu.br</a:t>
            </a:r>
            <a:endParaRPr lang="en-US" dirty="0">
              <a:solidFill>
                <a:schemeClr val="bg1"/>
              </a:solidFill>
              <a:latin typeface="Verdana"/>
              <a:cs typeface="Verdana"/>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703298" y="2844822"/>
            <a:ext cx="1732955" cy="612532"/>
          </a:xfrm>
          <a:prstGeom prst="rect">
            <a:avLst/>
          </a:prstGeom>
        </p:spPr>
      </p:pic>
    </p:spTree>
  </p:cSld>
  <p:clrMapOvr>
    <a:masterClrMapping/>
  </p:clrMapOvr>
</p:sld>
</file>

<file path=ppt/theme/theme1.xml><?xml version="1.0" encoding="utf-8"?>
<a:theme xmlns:a="http://schemas.openxmlformats.org/drawingml/2006/main" name="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22355</TotalTime>
  <Words>3508</Words>
  <Application>Microsoft Macintosh PowerPoint</Application>
  <PresentationFormat>On-screen Show (4:3)</PresentationFormat>
  <Paragraphs>474</Paragraphs>
  <Slides>18</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Courier</vt:lpstr>
      <vt:lpstr>Courier New</vt:lpstr>
      <vt:lpstr>Verdana</vt:lpstr>
      <vt:lpstr>Personalizar design</vt:lpstr>
      <vt:lpstr>PowerPoint Presentation</vt:lpstr>
      <vt:lpstr>EDSAC</vt:lpstr>
      <vt:lpstr>Grace Hopper</vt:lpstr>
      <vt:lpstr>Assembly</vt:lpstr>
      <vt:lpstr>O que um Assembler faz?</vt:lpstr>
      <vt:lpstr>Sintaxes de Assembly: exemplos x86</vt:lpstr>
      <vt:lpstr>Análise léxica - tokenização</vt:lpstr>
      <vt:lpstr>Funcionamento Básico</vt:lpstr>
      <vt:lpstr>Assembler (Símbolos)</vt:lpstr>
      <vt:lpstr>Símbolos</vt:lpstr>
      <vt:lpstr>Símbolos</vt:lpstr>
      <vt:lpstr>Símbolos</vt:lpstr>
      <vt:lpstr>Passos do Assembler</vt:lpstr>
      <vt:lpstr>Tabelas Auxiliares</vt:lpstr>
      <vt:lpstr>Por que aprender Assembly?</vt:lpstr>
      <vt:lpstr>Resumo do Assembler</vt:lpstr>
      <vt:lpstr>Boas práticas para programação</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Aula 2 - Python</dc:title>
  <dc:subject/>
  <dc:creator>Luciano Pereira Soares</dc:creator>
  <cp:keywords/>
  <dc:description/>
  <cp:lastModifiedBy>Luciano Pereira Soares</cp:lastModifiedBy>
  <cp:revision>737</cp:revision>
  <cp:lastPrinted>2015-05-25T01:17:28Z</cp:lastPrinted>
  <dcterms:created xsi:type="dcterms:W3CDTF">2014-04-17T20:05:08Z</dcterms:created>
  <dcterms:modified xsi:type="dcterms:W3CDTF">2026-10-06T01:55:13Z</dcterms:modified>
  <cp:category/>
</cp:coreProperties>
</file>