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ink/inkAction1.xml" ContentType="application/vnd.ms-office.inkAction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ink/inkAction2.xml" ContentType="application/vnd.ms-office.inkAction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1"/>
  </p:notesMasterIdLst>
  <p:handoutMasterIdLst>
    <p:handoutMasterId r:id="rId22"/>
  </p:handoutMasterIdLst>
  <p:sldIdLst>
    <p:sldId id="383" r:id="rId2"/>
    <p:sldId id="361" r:id="rId3"/>
    <p:sldId id="376" r:id="rId4"/>
    <p:sldId id="377" r:id="rId5"/>
    <p:sldId id="347" r:id="rId6"/>
    <p:sldId id="343" r:id="rId7"/>
    <p:sldId id="362" r:id="rId8"/>
    <p:sldId id="344" r:id="rId9"/>
    <p:sldId id="324" r:id="rId10"/>
    <p:sldId id="325" r:id="rId11"/>
    <p:sldId id="381" r:id="rId12"/>
    <p:sldId id="351" r:id="rId13"/>
    <p:sldId id="346" r:id="rId14"/>
    <p:sldId id="363" r:id="rId15"/>
    <p:sldId id="354" r:id="rId16"/>
    <p:sldId id="364" r:id="rId17"/>
    <p:sldId id="368" r:id="rId18"/>
    <p:sldId id="369" r:id="rId19"/>
    <p:sldId id="26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2E2"/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/>
    <p:restoredTop sz="83264" autoAdjust="0"/>
  </p:normalViewPr>
  <p:slideViewPr>
    <p:cSldViewPr snapToGrid="0" snapToObjects="1" showGuides="1">
      <p:cViewPr varScale="1">
        <p:scale>
          <a:sx n="99" d="100"/>
          <a:sy n="99" d="100"/>
        </p:scale>
        <p:origin x="24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.14748E9" units="dev"/>
        </inkml:traceFormat>
        <inkml:channelProperties>
          <inkml:channelProperty channel="X" name="resolution" value="0.28222" units="1/cm"/>
          <inkml:channelProperty channel="Y" name="resolution" value="0.28222" units="1/cm"/>
          <inkml:channelProperty channel="T" name="resolution" value="1" units="1/dev"/>
        </inkml:channelProperties>
      </inkml:inkSource>
      <inkml:timestamp xml:id="ts0" timeString="2017-05-08T21:32:07.989Z"/>
    </inkml:context>
    <inkml:brush xml:id="br0">
      <inkml:brushProperty name="width" value="0.07689" units="cm"/>
      <inkml:brushProperty name="height" value="0.07689" units="cm"/>
      <inkml:brushProperty name="color" value="#FF0000"/>
    </inkml:brush>
    <inkml:brush xml:id="brinv">
      <inkml:brushProperty name="width" value="0.05" units="cm"/>
      <inkml:brushProperty name="height" value="0.05" units="cm"/>
      <inkml:brushProperty name="color" value="#000000"/>
      <inkml:brushProperty name="transparency" value="255"/>
    </inkml:brush>
  </inkml:definitions>
  <iact:action type="add" startTime="33317">
    <iact:property name="dataType"/>
    <iact:actionData xml:id="d0">
      <inkml:trace xmlns:inkml="http://www.w3.org/2003/InkML" xml:id="stk0" contextRef="#ctx0" brushRef="#br0">9 9 0,'11'0'203,"-6"0"-188,6 0 -15,-5 0 16,5 0 -16,-6 0 16,6 0 -16,0 0 15,-5 0 -15,5 0 16,-6 0 0,1 0 -1,-1 0 -15,1 0 16,-1 0 124</inkml:trace>
    </iact:actionData>
  </iact:action>
  <iact:action type="add" startTime="33318">
    <iact:property name="dataType"/>
    <iact:actionData xml:id="d1">
      <inkml:trace xmlns:inkml="http://www.w3.org/2003/InkML" xml:id="stk1" contextRef="#ctx0" brushRef="#brinv">0 0 0</inkml:trace>
    </iact:actionData>
  </iact:action>
  <iact:action type="add" startTime="33319">
    <iact:property name="dataType"/>
    <iact:actionData xml:id="d2">
      <inkml:trace xmlns:inkml="http://www.w3.org/2003/InkML" xml:id="stk2" contextRef="#ctx0" brushRef="#brinv">133 17 0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.14748E9" units="dev"/>
        </inkml:traceFormat>
        <inkml:channelProperties>
          <inkml:channelProperty channel="X" name="resolution" value="0.28222" units="1/cm"/>
          <inkml:channelProperty channel="Y" name="resolution" value="0.28222" units="1/cm"/>
          <inkml:channelProperty channel="T" name="resolution" value="1" units="1/dev"/>
        </inkml:channelProperties>
      </inkml:inkSource>
      <inkml:timestamp xml:id="ts0" timeString="2017-05-08T21:40:08.483Z"/>
    </inkml:context>
    <inkml:brush xml:id="br0">
      <inkml:brushProperty name="width" value="0.07292" units="cm"/>
      <inkml:brushProperty name="height" value="0.07292" units="cm"/>
      <inkml:brushProperty name="color" value="#FF0000"/>
    </inkml:brush>
    <inkml:brush xml:id="brinv">
      <inkml:brushProperty name="width" value="0.05" units="cm"/>
      <inkml:brushProperty name="height" value="0.05" units="cm"/>
      <inkml:brushProperty name="color" value="#000000"/>
      <inkml:brushProperty name="transparency" value="255"/>
    </inkml:brush>
  </inkml:definitions>
  <iact:action type="add" startTime="16026">
    <iact:property name="dataType"/>
    <iact:actionData xml:id="d0">
      <inkml:trace xmlns:inkml="http://www.w3.org/2003/InkML" xml:id="stk0" contextRef="#ctx0" brushRef="#br0">8 212 0,'11'0'99,"-5"0"-83,-1 0 -16,6 0 15,-5 0 -15,5 0 16,-6 0 0,1 0 -1</inkml:trace>
    </iact:actionData>
  </iact:action>
  <iact:action type="add" startTime="17232">
    <iact:property name="dataType"/>
    <iact:actionData xml:id="d1">
      <inkml:trace xmlns:inkml="http://www.w3.org/2003/InkML" xml:id="stk1" contextRef="#ctx0" brushRef="#br0">19 372 0,'11'0'78,"-5"0"-78,-1 0 16,1 0 -16,-1 0 15,1 0 -15,-1 0 16,1 0 -1,-1 0 17</inkml:trace>
    </iact:actionData>
  </iact:action>
  <iact:action type="add" startTime="18359">
    <iact:property name="dataType"/>
    <iact:actionData xml:id="d2">
      <inkml:trace xmlns:inkml="http://www.w3.org/2003/InkML" xml:id="stk2" contextRef="#ctx0" brushRef="#br0">36 515 0,'5'0'109,"1"0"-93</inkml:trace>
    </iact:actionData>
  </iact:action>
  <iact:action type="add" startTime="36260">
    <iact:property name="dataType"/>
    <iact:actionData xml:id="d3">
      <inkml:trace xmlns:inkml="http://www.w3.org/2003/InkML" xml:id="stk3" contextRef="#ctx0" brushRef="#br0">796 185 0,'6'0'203,"0"0"-187,-1 0 -1,1 0 1,-1 0 15,1 0 -31,-1 0 16,1 0 0,-1 0 -1,1 0 1,-1 0 30,1 0 -31,-1 0 17</inkml:trace>
    </iact:actionData>
  </iact:action>
  <iact:action type="add" startTime="46422">
    <iact:property name="dataType"/>
    <iact:actionData xml:id="d4">
      <inkml:trace xmlns:inkml="http://www.w3.org/2003/InkML" xml:id="stk4" contextRef="#ctx0" brushRef="#br0">796 361 0,'6'0'233,"0"0"-218,5 0 -15,0 0 16,-6 0 15,1 0 -15,-1 0 15,1 0 63,-1 0 -63,1 0 47</inkml:trace>
    </iact:actionData>
  </iact:action>
  <iact:action type="add" startTime="70009">
    <iact:property name="dataType"/>
    <iact:actionData xml:id="d5">
      <inkml:trace xmlns:inkml="http://www.w3.org/2003/InkML" xml:id="stk5" contextRef="#ctx0" brushRef="#br0">1855 174 0</inkml:trace>
    </iact:actionData>
  </iact:action>
  <iact:action type="add" startTime="72488">
    <iact:property name="dataType"/>
    <iact:actionData xml:id="d6">
      <inkml:trace xmlns:inkml="http://www.w3.org/2003/InkML" xml:id="stk6" contextRef="#ctx0" brushRef="#br0">1838 350 0</inkml:trace>
    </iact:actionData>
  </iact:action>
  <iact:action type="add" startTime="73564">
    <iact:property name="dataType"/>
    <iact:actionData xml:id="d7">
      <inkml:trace xmlns:inkml="http://www.w3.org/2003/InkML" xml:id="stk7" contextRef="#ctx0" brushRef="#br0">1822 521 0</inkml:trace>
    </iact:actionData>
  </iact:action>
  <iact:action type="add" startTime="76538">
    <iact:property name="dataType"/>
    <iact:actionData xml:id="d8">
      <inkml:trace xmlns:inkml="http://www.w3.org/2003/InkML" xml:id="stk8" contextRef="#ctx0" brushRef="#br0">1827 703 0</inkml:trace>
    </iact:actionData>
  </iact:action>
  <iact:action type="add" startTime="78419">
    <iact:property name="dataType"/>
    <iact:actionData xml:id="d9">
      <inkml:trace xmlns:inkml="http://www.w3.org/2003/InkML" xml:id="stk9" contextRef="#ctx0" brushRef="#br0">1783 857 0</inkml:trace>
    </iact:actionData>
  </iact:action>
  <iact:action type="add" startTime="79610">
    <iact:property name="dataType"/>
    <iact:actionData xml:id="d10">
      <inkml:trace xmlns:inkml="http://www.w3.org/2003/InkML" xml:id="stk10" contextRef="#ctx0" brushRef="#br0">1805 1028 0</inkml:trace>
    </iact:actionData>
  </iact:action>
  <iact:action type="add" startTime="80583">
    <iact:property name="dataType"/>
    <iact:actionData xml:id="d11">
      <inkml:trace xmlns:inkml="http://www.w3.org/2003/InkML" xml:id="stk11" contextRef="#ctx0" brushRef="#br0">1816 1187 0</inkml:trace>
    </iact:actionData>
  </iact:action>
  <iact:action type="add" startTime="93030">
    <iact:property name="dataType"/>
    <iact:actionData xml:id="d12">
      <inkml:trace xmlns:inkml="http://www.w3.org/2003/InkML" xml:id="stk12" contextRef="#ctx0" brushRef="#br0">2974 8 0</inkml:trace>
    </iact:actionData>
  </iact:action>
  <iact:action type="add" startTime="93653">
    <iact:property name="dataType"/>
    <iact:actionData xml:id="d13">
      <inkml:trace xmlns:inkml="http://www.w3.org/2003/InkML" xml:id="stk13" contextRef="#ctx0" brushRef="#br0">2985 152 0</inkml:trace>
    </iact:actionData>
  </iact:action>
  <iact:action type="add" startTime="94921">
    <iact:property name="dataType"/>
    <iact:actionData xml:id="d14">
      <inkml:trace xmlns:inkml="http://www.w3.org/2003/InkML" xml:id="stk14" contextRef="#ctx0" brushRef="#br0">2996 681 0,'-6'0'410,"1"0"-394,-1 0 -16,1 0 15,-1 0 -15,1 0 16,-1 5 -16,1 -5 16,-1 0 -16,6 6 31,-5 -6 -31,10 0 217,1 0 -186,-1 0 -31,1 0 16,-1 0 -16,1 0 16,-1 0 -16,1 0 15,-1 0 1,1 0 -1</inkml:trace>
    </iact:actionData>
  </iact:action>
  <iact:action type="add" startTime="101486">
    <iact:property name="dataType"/>
    <iact:actionData xml:id="d15">
      <inkml:trace xmlns:inkml="http://www.w3.org/2003/InkML" xml:id="stk15" contextRef="#ctx0" brushRef="#br0">2946 1017 0,'6'0'203,"5"0"-187,-6 0 -1,1 0 -15,-1 0 16,1 0 15,-1 0 192,1 0 -191,-1 0 46</inkml:trace>
    </iact:actionData>
  </iact:action>
  <iact:action type="add" startTime="103591">
    <iact:property name="dataType"/>
    <iact:actionData xml:id="d16">
      <inkml:trace xmlns:inkml="http://www.w3.org/2003/InkML" xml:id="stk16" contextRef="#ctx0" brushRef="#br0">2913 1187 0,'6'0'203,"-1"0"-187,1 0 0,-1 0 -1,1 0 -15,-1 0 31,1 0 -15,-1 0 0,1 0 62,-1 0 -31,1 0 -32,-1 0 -15,1 0 32,-1 0 -17</inkml:trace>
    </iact:actionData>
  </iact:action>
  <iact:action type="add" startTime="103592">
    <iact:property name="dataType"/>
    <iact:actionData xml:id="d17">
      <inkml:trace xmlns:inkml="http://www.w3.org/2003/InkML" xml:id="stk17" contextRef="#ctx0" brushRef="#brinv">0 0 0</inkml:trace>
    </iact:actionData>
  </iact:action>
  <iact:action type="add" startTime="103593">
    <iact:property name="dataType"/>
    <iact:actionData xml:id="d18">
      <inkml:trace xmlns:inkml="http://www.w3.org/2003/InkML" xml:id="stk18" contextRef="#ctx0" brushRef="#brinv">3010 1196 0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19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Donald </a:t>
            </a:r>
            <a:r>
              <a:rPr lang="pt-BR" sz="1200" dirty="0" err="1"/>
              <a:t>Knuth</a:t>
            </a:r>
            <a:r>
              <a:rPr lang="pt-BR" sz="1200" dirty="0"/>
              <a:t> é autor do livro “The </a:t>
            </a:r>
            <a:r>
              <a:rPr lang="pt-BR" sz="1200" dirty="0" err="1"/>
              <a:t>Art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Computer </a:t>
            </a:r>
            <a:r>
              <a:rPr lang="pt-BR" sz="1200" dirty="0" err="1"/>
              <a:t>Programming</a:t>
            </a:r>
            <a:r>
              <a:rPr lang="pt-BR" sz="1200" dirty="0"/>
              <a:t>”, sendo chamado de "pai da análise de algoritmos”, com contribuições para a análise da complexidade computacional de algoritmos, popularizando a notação assintótica, dentre outras contribuições nos vários ramos da computação teórica.</a:t>
            </a:r>
          </a:p>
          <a:p>
            <a:r>
              <a:rPr lang="pt-BR" sz="1200" dirty="0" err="1"/>
              <a:t>Knuth</a:t>
            </a:r>
            <a:r>
              <a:rPr lang="pt-BR" sz="1200" dirty="0"/>
              <a:t> é o criador do sistema TeX de composição de textos, a linguagem de definição de fonte METAFONT.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www-cs-faculty.stanford.edu</a:t>
            </a:r>
            <a:r>
              <a:rPr lang="pt-BR" dirty="0"/>
              <a:t>/~uno/</a:t>
            </a:r>
            <a:r>
              <a:rPr lang="pt-BR" dirty="0" err="1"/>
              <a:t>books.html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Donald_Knuth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/TeX#/media/</a:t>
            </a:r>
            <a:r>
              <a:rPr lang="pt-BR" dirty="0" err="1"/>
              <a:t>File:TeX_logo.svg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www.computerhistory.org</a:t>
            </a:r>
            <a:r>
              <a:rPr lang="pt-BR" dirty="0"/>
              <a:t>/</a:t>
            </a:r>
            <a:r>
              <a:rPr lang="pt-BR" dirty="0" err="1"/>
              <a:t>fellowawards</a:t>
            </a:r>
            <a:r>
              <a:rPr lang="pt-BR" dirty="0"/>
              <a:t>/hall/</a:t>
            </a:r>
            <a:r>
              <a:rPr lang="pt-BR" dirty="0" err="1"/>
              <a:t>bios</a:t>
            </a:r>
            <a:r>
              <a:rPr lang="pt-BR" dirty="0"/>
              <a:t>/</a:t>
            </a:r>
            <a:r>
              <a:rPr lang="pt-BR" dirty="0" err="1"/>
              <a:t>Donald,Knuth</a:t>
            </a:r>
            <a:r>
              <a:rPr lang="pt-BR" dirty="0"/>
              <a:t>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www.computerhistory.org</a:t>
            </a:r>
            <a:r>
              <a:rPr lang="pt-BR" dirty="0"/>
              <a:t>/</a:t>
            </a:r>
            <a:r>
              <a:rPr lang="pt-BR" dirty="0" err="1"/>
              <a:t>revolution</a:t>
            </a:r>
            <a:r>
              <a:rPr lang="pt-BR" dirty="0"/>
              <a:t>/</a:t>
            </a:r>
            <a:r>
              <a:rPr lang="pt-BR" dirty="0" err="1"/>
              <a:t>the-art-of-programming</a:t>
            </a:r>
            <a:r>
              <a:rPr lang="pt-BR" dirty="0"/>
              <a:t>/9/357/2277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www.computerhistory.org</a:t>
            </a:r>
            <a:r>
              <a:rPr lang="pt-BR" dirty="0"/>
              <a:t>/</a:t>
            </a:r>
            <a:r>
              <a:rPr lang="pt-BR" dirty="0" err="1"/>
              <a:t>revolution</a:t>
            </a:r>
            <a:r>
              <a:rPr lang="pt-BR" dirty="0"/>
              <a:t>/</a:t>
            </a:r>
            <a:r>
              <a:rPr lang="pt-BR" dirty="0" err="1"/>
              <a:t>the-art-of-programming</a:t>
            </a:r>
            <a:r>
              <a:rPr lang="pt-BR" dirty="0"/>
              <a:t>/9/357/2277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www.computerhistory.org</a:t>
            </a:r>
            <a:r>
              <a:rPr lang="pt-BR" dirty="0"/>
              <a:t>/</a:t>
            </a:r>
            <a:r>
              <a:rPr lang="pt-BR" dirty="0" err="1"/>
              <a:t>fellowawards</a:t>
            </a:r>
            <a:r>
              <a:rPr lang="pt-BR" dirty="0"/>
              <a:t>/hall/</a:t>
            </a:r>
            <a:r>
              <a:rPr lang="pt-BR" dirty="0" err="1"/>
              <a:t>bios</a:t>
            </a:r>
            <a:r>
              <a:rPr lang="pt-BR" dirty="0"/>
              <a:t>/</a:t>
            </a:r>
            <a:r>
              <a:rPr lang="pt-BR" dirty="0" err="1"/>
              <a:t>Donald,Knuth</a:t>
            </a:r>
            <a:r>
              <a:rPr lang="pt-BR" dirty="0"/>
              <a:t>/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26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lang="pt-BR" sz="1200" b="1" dirty="0"/>
              <a:t>Máquinas a Pilha </a:t>
            </a:r>
            <a:r>
              <a:rPr lang="pt-BR" sz="1200" dirty="0"/>
              <a:t>(</a:t>
            </a:r>
            <a:r>
              <a:rPr lang="pt-BR" sz="1200" dirty="0" err="1"/>
              <a:t>Stack</a:t>
            </a:r>
            <a:r>
              <a:rPr lang="pt-BR" sz="1200" dirty="0"/>
              <a:t> </a:t>
            </a:r>
            <a:r>
              <a:rPr lang="pt-BR" sz="1200" dirty="0" err="1"/>
              <a:t>Machines</a:t>
            </a:r>
            <a:r>
              <a:rPr lang="pt-BR" sz="1200" dirty="0"/>
              <a:t>) executam suas operações em estruturas de Pilhas (</a:t>
            </a:r>
            <a:r>
              <a:rPr lang="pt-BR" sz="1200" dirty="0" err="1"/>
              <a:t>Last</a:t>
            </a:r>
            <a:r>
              <a:rPr lang="pt-BR" sz="1200" dirty="0"/>
              <a:t> In </a:t>
            </a:r>
            <a:r>
              <a:rPr lang="pt-BR" sz="1200" dirty="0" err="1"/>
              <a:t>First</a:t>
            </a:r>
            <a:r>
              <a:rPr lang="pt-BR" sz="1200" dirty="0"/>
              <a:t> Out) enquanto </a:t>
            </a:r>
            <a:r>
              <a:rPr lang="pt-BR" sz="1200" b="1" dirty="0"/>
              <a:t>Máquinas a Registradores </a:t>
            </a:r>
            <a:r>
              <a:rPr lang="pt-BR" sz="1200" dirty="0"/>
              <a:t>(</a:t>
            </a:r>
            <a:r>
              <a:rPr lang="pt-BR" sz="1200" dirty="0" err="1"/>
              <a:t>Register</a:t>
            </a:r>
            <a:r>
              <a:rPr lang="pt-BR" sz="1200" dirty="0"/>
              <a:t> </a:t>
            </a:r>
            <a:r>
              <a:rPr lang="pt-BR" sz="1200" dirty="0" err="1"/>
              <a:t>Machines</a:t>
            </a:r>
            <a:r>
              <a:rPr lang="pt-BR" sz="1200" dirty="0"/>
              <a:t>) armazenam seus valores em múltiplos registradores unicamente endereçáveis.</a:t>
            </a:r>
          </a:p>
          <a:p>
            <a:pPr>
              <a:spcAft>
                <a:spcPts val="900"/>
              </a:spcAft>
            </a:pPr>
            <a:r>
              <a:rPr lang="pt-BR" sz="1200" dirty="0"/>
              <a:t>Arquiteturas baseadas em registadores usam menos instruções para executar um programa em relação a uma arquitetura a pilha, porém estas possuem uma lógica bastante simples, baixa complexidade, melhor resposta a interrupções e baixo custo nas mudanças de contexto,  simplificando a construção de compiladores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markfaction.wordpress.com</a:t>
            </a:r>
            <a:r>
              <a:rPr lang="pt-BR" dirty="0"/>
              <a:t>/2012/07/15/stack-based-vs-register-based-virtual-machine-architecture-and-the-dalvik-vm/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geekoutsw.files.wordpress.com</a:t>
            </a:r>
            <a:r>
              <a:rPr lang="pt-BR" dirty="0"/>
              <a:t>/2014/10/</a:t>
            </a:r>
            <a:r>
              <a:rPr lang="pt-BR" dirty="0" err="1"/>
              <a:t>java-logo.jpg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img.clubic.com</a:t>
            </a:r>
            <a:r>
              <a:rPr lang="pt-BR" dirty="0"/>
              <a:t>/05403751-photo-net-framework.jpg</a:t>
            </a:r>
          </a:p>
          <a:p>
            <a:endParaRPr lang="pt-BR" dirty="0"/>
          </a:p>
          <a:p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implementation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Lua 5.0: its </a:t>
            </a:r>
            <a:r>
              <a:rPr lang="pt-BR" dirty="0" err="1"/>
              <a:t>register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baseline="0" dirty="0"/>
              <a:t> </a:t>
            </a:r>
            <a:r>
              <a:rPr lang="pt-BR" dirty="0"/>
              <a:t>virtual </a:t>
            </a:r>
            <a:r>
              <a:rPr lang="pt-BR" dirty="0" err="1"/>
              <a:t>machine</a:t>
            </a:r>
            <a:r>
              <a:rPr lang="pt-BR" baseline="0" dirty="0"/>
              <a:t> (</a:t>
            </a:r>
            <a:r>
              <a:rPr lang="pt-BR" baseline="0" dirty="0" err="1"/>
              <a:t>https</a:t>
            </a:r>
            <a:r>
              <a:rPr lang="pt-BR" baseline="0" dirty="0"/>
              <a:t>://</a:t>
            </a:r>
            <a:r>
              <a:rPr lang="pt-BR" baseline="0" dirty="0" err="1"/>
              <a:t>www.lua.org</a:t>
            </a:r>
            <a:r>
              <a:rPr lang="pt-BR" baseline="0" dirty="0"/>
              <a:t>/</a:t>
            </a:r>
            <a:r>
              <a:rPr lang="pt-BR" baseline="0" dirty="0" err="1"/>
              <a:t>doc</a:t>
            </a:r>
            <a:r>
              <a:rPr lang="pt-BR" baseline="0" dirty="0"/>
              <a:t>/jucs05.pdf)</a:t>
            </a:r>
          </a:p>
          <a:p>
            <a:endParaRPr lang="pt-BR" baseline="0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markfaction.wordpress.com</a:t>
            </a:r>
            <a:r>
              <a:rPr lang="pt-BR" dirty="0"/>
              <a:t>/2012/07/15/stack-based-vs-register-based-virtual-machine-architecture-and-the-dalvik-vm/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www.usenix.org</a:t>
            </a:r>
            <a:r>
              <a:rPr lang="pt-BR" dirty="0"/>
              <a:t>/</a:t>
            </a:r>
            <a:r>
              <a:rPr lang="pt-BR" dirty="0" err="1"/>
              <a:t>legacy</a:t>
            </a:r>
            <a:r>
              <a:rPr lang="pt-BR" dirty="0"/>
              <a:t>/</a:t>
            </a:r>
            <a:r>
              <a:rPr lang="pt-BR" dirty="0" err="1"/>
              <a:t>events</a:t>
            </a:r>
            <a:r>
              <a:rPr lang="pt-BR" dirty="0"/>
              <a:t>/vee05/</a:t>
            </a:r>
            <a:r>
              <a:rPr lang="pt-BR" dirty="0" err="1"/>
              <a:t>full_papers</a:t>
            </a:r>
            <a:r>
              <a:rPr lang="pt-BR" dirty="0"/>
              <a:t>/p153-yunhe.pdf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www.dei.isep.ipp.pt</a:t>
            </a:r>
            <a:r>
              <a:rPr lang="pt-BR" dirty="0"/>
              <a:t>/~</a:t>
            </a:r>
            <a:r>
              <a:rPr lang="pt-BR" dirty="0" err="1"/>
              <a:t>luis</a:t>
            </a:r>
            <a:r>
              <a:rPr lang="pt-BR" dirty="0"/>
              <a:t>/</a:t>
            </a:r>
            <a:r>
              <a:rPr lang="pt-BR" dirty="0" err="1"/>
              <a:t>stack_machines</a:t>
            </a:r>
            <a:r>
              <a:rPr lang="pt-BR" dirty="0"/>
              <a:t>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Stack_machine</a:t>
            </a: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O </a:t>
            </a:r>
            <a:r>
              <a:rPr lang="pt-BR" sz="1200" dirty="0" err="1"/>
              <a:t>Forth</a:t>
            </a:r>
            <a:r>
              <a:rPr lang="pt-BR" sz="1200" dirty="0"/>
              <a:t> é uma linguagem de alto nível que permite a programação de códigos usando duas pilhas.</a:t>
            </a:r>
            <a:endParaRPr lang="pt-BR" dirty="0"/>
          </a:p>
          <a:p>
            <a:r>
              <a:rPr lang="pt-BR" dirty="0"/>
              <a:t>Não há aceitação clara quanto ao facto de pilha baseado máquinas virtuais são melhores do que registar implementações baseadas, ou vice-versa. Contudo a construção de compiladores de arquiteturas baseadas a pilha é simplificado.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077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Na compilação </a:t>
            </a:r>
            <a:r>
              <a:rPr lang="pt-BR" sz="1200" b="1" dirty="0"/>
              <a:t>JIT (Just in Time)</a:t>
            </a:r>
            <a:r>
              <a:rPr lang="pt-BR" sz="1200" dirty="0"/>
              <a:t>, a compilação para linguagem de máquina é feita quando o programa está sendo executado. Essa técnica é usada no </a:t>
            </a:r>
            <a:r>
              <a:rPr lang="pt-BR" sz="1200" dirty="0" err="1"/>
              <a:t>Dalvik</a:t>
            </a:r>
            <a:r>
              <a:rPr lang="pt-BR" sz="1200" dirty="0"/>
              <a:t>, JVM e .NET.</a:t>
            </a:r>
          </a:p>
          <a:p>
            <a:r>
              <a:rPr lang="pt-BR" sz="1200" dirty="0"/>
              <a:t>Já na compilação </a:t>
            </a:r>
            <a:r>
              <a:rPr lang="pt-BR" sz="1200" b="1" dirty="0"/>
              <a:t>AOT (</a:t>
            </a:r>
            <a:r>
              <a:rPr lang="pt-BR" sz="1200" b="1" dirty="0" err="1"/>
              <a:t>Ahead</a:t>
            </a:r>
            <a:r>
              <a:rPr lang="pt-BR" sz="1200" b="1" dirty="0"/>
              <a:t> </a:t>
            </a:r>
            <a:r>
              <a:rPr lang="pt-BR" sz="1200" b="1" dirty="0" err="1"/>
              <a:t>of</a:t>
            </a:r>
            <a:r>
              <a:rPr lang="pt-BR" sz="1200" b="1" dirty="0"/>
              <a:t> Time)</a:t>
            </a:r>
            <a:r>
              <a:rPr lang="pt-BR" sz="1200" dirty="0"/>
              <a:t>, o compilador irá transformar o </a:t>
            </a:r>
            <a:r>
              <a:rPr lang="pt-BR" sz="1200" dirty="0" err="1"/>
              <a:t>bytecode</a:t>
            </a:r>
            <a:r>
              <a:rPr lang="pt-BR" sz="1200" dirty="0"/>
              <a:t> existente (gerado pela Máquina Virtual) em código de máquina durante a instalação dos programas. O </a:t>
            </a:r>
            <a:r>
              <a:rPr lang="pt-BR" sz="1200" dirty="0" err="1"/>
              <a:t>Android</a:t>
            </a:r>
            <a:r>
              <a:rPr lang="pt-BR" sz="1200" dirty="0"/>
              <a:t> usa essa estratégia no ART por padrão desde o </a:t>
            </a:r>
            <a:r>
              <a:rPr lang="pt-BR" sz="1200" dirty="0" err="1"/>
              <a:t>Lollipop</a:t>
            </a:r>
            <a:r>
              <a:rPr lang="pt-BR" sz="1200" dirty="0"/>
              <a:t> (5.0).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www.techentice.com</a:t>
            </a:r>
            <a:r>
              <a:rPr lang="pt-BR" dirty="0"/>
              <a:t>/</a:t>
            </a:r>
            <a:r>
              <a:rPr lang="pt-BR" dirty="0" err="1"/>
              <a:t>dalvik-vs-art-android-drop-dalvik-efficient-art</a:t>
            </a:r>
            <a:r>
              <a:rPr lang="pt-BR" dirty="0"/>
              <a:t>/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perihelion.io</a:t>
            </a:r>
            <a:r>
              <a:rPr lang="pt-BR" dirty="0"/>
              <a:t>/2015/12/04/</a:t>
            </a:r>
            <a:r>
              <a:rPr lang="pt-BR" dirty="0" err="1"/>
              <a:t>art-and-dalvik-runtimes</a:t>
            </a:r>
            <a:r>
              <a:rPr lang="pt-BR" dirty="0"/>
              <a:t>/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829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479F0F2-CDB9-8643-A7C1-A85DFAD0FB7F}" type="slidenum">
              <a:rPr lang="he-IL" sz="1000">
                <a:latin typeface="Times New Roman" charset="0"/>
              </a:rPr>
              <a:pPr/>
              <a:t>5</a:t>
            </a:fld>
            <a:endParaRPr lang="en-US" sz="1000">
              <a:latin typeface="Times New Roman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654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89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A9815C0-389D-8143-969F-5B1F66F92F25}" type="slidenum">
              <a:rPr lang="he-IL" sz="1000">
                <a:latin typeface="Times New Roman" charset="0"/>
              </a:rPr>
              <a:pPr/>
              <a:t>12</a:t>
            </a:fld>
            <a:endParaRPr lang="en-US" sz="1000">
              <a:latin typeface="Times New Roman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347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B3190AA-2F2B-4643-80BD-C2F5A77275AF}" type="slidenum">
              <a:rPr lang="he-IL" sz="1000">
                <a:latin typeface="Times New Roman" charset="0"/>
              </a:rPr>
              <a:pPr/>
              <a:t>13</a:t>
            </a:fld>
            <a:endParaRPr lang="en-US" sz="1000">
              <a:latin typeface="Times New Roman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01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5F0CC20-E541-CB41-829B-5776DE5148A9}" type="slidenum">
              <a:rPr lang="he-IL" sz="1000">
                <a:latin typeface="Times New Roman" charset="0"/>
              </a:rPr>
              <a:pPr/>
              <a:t>15</a:t>
            </a:fld>
            <a:endParaRPr lang="en-US" sz="100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105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www.techopedia.com</a:t>
            </a:r>
            <a:r>
              <a:rPr lang="pt-BR" dirty="0"/>
              <a:t>/</a:t>
            </a:r>
            <a:r>
              <a:rPr lang="pt-BR" dirty="0" err="1"/>
              <a:t>definition</a:t>
            </a:r>
            <a:r>
              <a:rPr lang="pt-BR" dirty="0"/>
              <a:t>/3328/bootstrap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www.ethoberon.ethz.ch</a:t>
            </a:r>
            <a:r>
              <a:rPr lang="pt-BR" dirty="0"/>
              <a:t>/</a:t>
            </a:r>
            <a:r>
              <a:rPr lang="pt-BR" dirty="0" err="1"/>
              <a:t>bootstrap.html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foggymountaingear.com</a:t>
            </a:r>
            <a:r>
              <a:rPr lang="pt-BR" dirty="0"/>
              <a:t>/</a:t>
            </a:r>
            <a:r>
              <a:rPr lang="pt-BR" dirty="0" err="1"/>
              <a:t>images</a:t>
            </a:r>
            <a:r>
              <a:rPr lang="pt-BR" dirty="0"/>
              <a:t>/5075_big.jpg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305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www.tomshardware.com</a:t>
            </a:r>
            <a:r>
              <a:rPr lang="pt-BR" dirty="0"/>
              <a:t>/</a:t>
            </a:r>
            <a:r>
              <a:rPr lang="pt-BR" dirty="0" err="1"/>
              <a:t>reviews</a:t>
            </a:r>
            <a:r>
              <a:rPr lang="pt-BR" dirty="0"/>
              <a:t>/975x-enthusiast-motherboards-today-tomorrow,1257-21.html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04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10/26/26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tiff"/><Relationship Id="rId5" Type="http://schemas.openxmlformats.org/officeDocument/2006/relationships/image" Target="../media/image6.tiff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microsoft.com/office/2011/relationships/inkAction" Target="../ink/inkAction1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microsoft.com/office/2011/relationships/inkAction" Target="../ink/inkAction2.xml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Controle de Programa</a:t>
            </a:r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50800" y="4539921"/>
            <a:ext cx="9093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50" dirty="0">
                <a:solidFill>
                  <a:schemeClr val="bg1"/>
                </a:solidFill>
              </a:rPr>
              <a:t>"Se tudo parece sobre controle, você não está indo rápido o bastante."</a:t>
            </a:r>
            <a:br>
              <a:rPr lang="pt-BR" sz="1650" dirty="0">
                <a:solidFill>
                  <a:schemeClr val="bg1"/>
                </a:solidFill>
              </a:rPr>
            </a:br>
            <a:r>
              <a:rPr lang="en-US" sz="1650" dirty="0">
                <a:solidFill>
                  <a:schemeClr val="bg1"/>
                </a:solidFill>
              </a:rPr>
              <a:t>"If everything seems under control, you’re just not going fast enough."</a:t>
            </a:r>
          </a:p>
          <a:p>
            <a:r>
              <a:rPr lang="en-US" sz="1650" b="1" dirty="0">
                <a:solidFill>
                  <a:schemeClr val="bg1"/>
                </a:solidFill>
              </a:rPr>
              <a:t>Mario Andretti </a:t>
            </a:r>
            <a:r>
              <a:rPr lang="en-US" sz="1650" dirty="0">
                <a:solidFill>
                  <a:schemeClr val="bg1"/>
                </a:solidFill>
              </a:rPr>
              <a:t>(1940), </a:t>
            </a:r>
            <a:r>
              <a:rPr lang="en-US" sz="1650" dirty="0" err="1">
                <a:solidFill>
                  <a:schemeClr val="bg1"/>
                </a:solidFill>
              </a:rPr>
              <a:t>Piloto</a:t>
            </a:r>
            <a:r>
              <a:rPr lang="en-US" sz="1650" dirty="0">
                <a:solidFill>
                  <a:schemeClr val="bg1"/>
                </a:solidFill>
              </a:rPr>
              <a:t> de corridas </a:t>
            </a:r>
            <a:r>
              <a:rPr lang="en-US" sz="1650" dirty="0" err="1">
                <a:solidFill>
                  <a:schemeClr val="bg1"/>
                </a:solidFill>
              </a:rPr>
              <a:t>italiano</a:t>
            </a:r>
            <a:endParaRPr lang="pt-BR" sz="1650" dirty="0">
              <a:solidFill>
                <a:schemeClr val="bg1"/>
              </a:solidFill>
            </a:endParaRPr>
          </a:p>
          <a:p>
            <a:r>
              <a:rPr lang="pt-BR" sz="1650" b="1" dirty="0">
                <a:solidFill>
                  <a:schemeClr val="bg1"/>
                </a:solidFill>
              </a:rPr>
              <a:t>apud </a:t>
            </a:r>
            <a:r>
              <a:rPr lang="pt-BR" sz="1650" b="1" dirty="0" err="1">
                <a:solidFill>
                  <a:schemeClr val="bg1"/>
                </a:solidFill>
              </a:rPr>
              <a:t>Nisan</a:t>
            </a:r>
            <a:r>
              <a:rPr lang="pt-BR" sz="1650" b="1" dirty="0">
                <a:solidFill>
                  <a:schemeClr val="bg1"/>
                </a:solidFill>
              </a:rPr>
              <a:t>, N. &amp; </a:t>
            </a:r>
            <a:r>
              <a:rPr lang="pt-BR" sz="1650" b="1" dirty="0" err="1">
                <a:solidFill>
                  <a:schemeClr val="bg1"/>
                </a:solidFill>
              </a:rPr>
              <a:t>Schocken</a:t>
            </a:r>
            <a:r>
              <a:rPr lang="pt-BR" sz="1650" b="1" dirty="0">
                <a:solidFill>
                  <a:schemeClr val="bg1"/>
                </a:solidFill>
              </a:rPr>
              <a:t>, S. 2005. </a:t>
            </a:r>
            <a:r>
              <a:rPr lang="en-US" sz="1650" b="1" dirty="0">
                <a:solidFill>
                  <a:schemeClr val="bg1"/>
                </a:solidFill>
              </a:rPr>
              <a:t>Elements of Computing Systems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93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Donald </a:t>
            </a:r>
            <a:r>
              <a:rPr lang="pt-BR" dirty="0" err="1"/>
              <a:t>Knuth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85900"/>
            <a:ext cx="6275040" cy="4724400"/>
          </a:xfrm>
        </p:spPr>
        <p:txBody>
          <a:bodyPr>
            <a:noAutofit/>
          </a:bodyPr>
          <a:lstStyle/>
          <a:p>
            <a:r>
              <a:rPr lang="pt-BR" sz="2400" dirty="0"/>
              <a:t>Donald </a:t>
            </a:r>
            <a:r>
              <a:rPr lang="pt-BR" sz="2400" dirty="0" err="1"/>
              <a:t>Knuth</a:t>
            </a:r>
            <a:r>
              <a:rPr lang="pt-BR" sz="2400" dirty="0"/>
              <a:t> é chamado de "pai da análise de algoritmos”, com várias contribuições na teoria de computação.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7" name="Picture 6" descr="1998_donald_knuth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386" y="1386807"/>
            <a:ext cx="2007830" cy="2509788"/>
          </a:xfrm>
          <a:prstGeom prst="rect">
            <a:avLst/>
          </a:prstGeom>
        </p:spPr>
      </p:pic>
      <p:pic>
        <p:nvPicPr>
          <p:cNvPr id="8" name="Picture 7" descr="0201896834[1]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377" y="4352788"/>
            <a:ext cx="1336856" cy="19510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682" y="3482768"/>
            <a:ext cx="2305318" cy="13230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071" y="5343382"/>
            <a:ext cx="6570315" cy="86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6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6 -2.22222E-6 L -0.00573 0.00787 " pathEditMode="relative" ptsTypes="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1925" y="6356350"/>
            <a:ext cx="49530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Arquiteturas de Máquinas Virtuais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4443615" y="1484313"/>
            <a:ext cx="4076188" cy="639762"/>
          </a:xfrm>
        </p:spPr>
        <p:txBody>
          <a:bodyPr/>
          <a:lstStyle/>
          <a:p>
            <a:pPr algn="ctr"/>
            <a:r>
              <a:rPr lang="pt-BR" dirty="0"/>
              <a:t>Baseada em Registradores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85965" y="1487488"/>
            <a:ext cx="4076188" cy="639762"/>
          </a:xfrm>
        </p:spPr>
        <p:txBody>
          <a:bodyPr/>
          <a:lstStyle/>
          <a:p>
            <a:pPr algn="ctr"/>
            <a:r>
              <a:rPr lang="pt-BR" dirty="0"/>
              <a:t>Baseada em Pilha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4202" y="2181224"/>
            <a:ext cx="4719714" cy="4429918"/>
          </a:xfrm>
        </p:spPr>
        <p:txBody>
          <a:bodyPr>
            <a:normAutofit/>
          </a:bodyPr>
          <a:lstStyle/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Java Virtual </a:t>
            </a:r>
            <a:r>
              <a:rPr lang="pt-BR" sz="1600" dirty="0" err="1"/>
              <a:t>Machine</a:t>
            </a:r>
            <a:r>
              <a:rPr lang="pt-BR" sz="1600" dirty="0"/>
              <a:t> (JVM)</a:t>
            </a:r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r>
              <a:rPr lang="pt-BR" sz="1600" dirty="0" err="1"/>
              <a:t>.Net</a:t>
            </a:r>
            <a:r>
              <a:rPr lang="pt-BR" sz="1600" dirty="0"/>
              <a:t> Common </a:t>
            </a:r>
            <a:r>
              <a:rPr lang="pt-BR" sz="1600" dirty="0" err="1"/>
              <a:t>Language</a:t>
            </a:r>
            <a:r>
              <a:rPr lang="pt-BR" sz="1600" dirty="0"/>
              <a:t> </a:t>
            </a:r>
            <a:r>
              <a:rPr lang="pt-BR" sz="1600" dirty="0" err="1"/>
              <a:t>Runtime</a:t>
            </a:r>
            <a:r>
              <a:rPr lang="pt-BR" sz="1600" dirty="0"/>
              <a:t> (CLR)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7"/>
          </p:nvPr>
        </p:nvSpPr>
        <p:spPr>
          <a:xfrm>
            <a:off x="4061388" y="2190749"/>
            <a:ext cx="4840642" cy="4429918"/>
          </a:xfrm>
        </p:spPr>
        <p:txBody>
          <a:bodyPr>
            <a:normAutofit/>
          </a:bodyPr>
          <a:lstStyle/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r>
              <a:rPr lang="pt-BR" sz="1600" dirty="0" err="1"/>
              <a:t>Android</a:t>
            </a:r>
            <a:r>
              <a:rPr lang="pt-BR" sz="1600" dirty="0"/>
              <a:t> </a:t>
            </a:r>
            <a:r>
              <a:rPr lang="pt-BR" sz="1600" dirty="0" err="1"/>
              <a:t>Runtime</a:t>
            </a:r>
            <a:r>
              <a:rPr lang="pt-BR" sz="1600" dirty="0"/>
              <a:t> (ART)</a:t>
            </a:r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endParaRPr lang="pt-BR" sz="1600" dirty="0"/>
          </a:p>
          <a:p>
            <a:pPr algn="ctr"/>
            <a:r>
              <a:rPr lang="pt-BR" sz="1600" dirty="0"/>
              <a:t>Lua Virtual </a:t>
            </a:r>
            <a:r>
              <a:rPr lang="pt-BR" sz="1600" dirty="0" err="1"/>
              <a:t>Machine</a:t>
            </a:r>
            <a:endParaRPr lang="pt-BR" sz="1600" dirty="0"/>
          </a:p>
        </p:txBody>
      </p:sp>
      <p:pic>
        <p:nvPicPr>
          <p:cNvPr id="11" name="Picture 10" descr="java-log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55" y="2111742"/>
            <a:ext cx="2446594" cy="1834944"/>
          </a:xfrm>
          <a:prstGeom prst="rect">
            <a:avLst/>
          </a:prstGeom>
        </p:spPr>
      </p:pic>
      <p:pic>
        <p:nvPicPr>
          <p:cNvPr id="12" name="Picture 11" descr="05403751-photo-net-framework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52" y="4598713"/>
            <a:ext cx="1465315" cy="13983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79667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 </a:t>
            </a:r>
            <a:endParaRPr lang="pt-BR" dirty="0"/>
          </a:p>
        </p:txBody>
      </p:sp>
      <p:pic>
        <p:nvPicPr>
          <p:cNvPr id="18" name="Picture 17" descr="Android_Robot_outlined.ai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45" t="14463" r="29982" b="17292"/>
          <a:stretch/>
        </p:blipFill>
        <p:spPr>
          <a:xfrm>
            <a:off x="5745632" y="2190749"/>
            <a:ext cx="1430243" cy="1729869"/>
          </a:xfrm>
          <a:prstGeom prst="rect">
            <a:avLst/>
          </a:prstGeom>
        </p:spPr>
      </p:pic>
      <p:pic>
        <p:nvPicPr>
          <p:cNvPr id="19" name="Picture 18" descr="lua-logo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805" y="4309607"/>
            <a:ext cx="2407428" cy="180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2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JIT </a:t>
            </a:r>
            <a:r>
              <a:rPr lang="pt-BR" dirty="0" err="1"/>
              <a:t>x</a:t>
            </a:r>
            <a:r>
              <a:rPr lang="pt-BR" dirty="0"/>
              <a:t> AOT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400" b="1" dirty="0"/>
          </a:p>
          <a:p>
            <a:r>
              <a:rPr lang="pt-BR" sz="2400" b="1" dirty="0"/>
              <a:t>JIT (Just in Time)</a:t>
            </a:r>
            <a:r>
              <a:rPr lang="pt-BR" sz="2400" dirty="0"/>
              <a:t>, compilação para linguagem de máquina é feita durante execução.</a:t>
            </a:r>
          </a:p>
          <a:p>
            <a:endParaRPr lang="pt-BR" sz="2400" dirty="0"/>
          </a:p>
          <a:p>
            <a:r>
              <a:rPr lang="pt-BR" sz="2400" b="1" dirty="0"/>
              <a:t>AOT (</a:t>
            </a:r>
            <a:r>
              <a:rPr lang="pt-BR" sz="2400" b="1" dirty="0" err="1"/>
              <a:t>Ahead</a:t>
            </a:r>
            <a:r>
              <a:rPr lang="pt-BR" sz="2400" b="1" dirty="0"/>
              <a:t> </a:t>
            </a:r>
            <a:r>
              <a:rPr lang="pt-BR" sz="2400" b="1" dirty="0" err="1"/>
              <a:t>of</a:t>
            </a:r>
            <a:r>
              <a:rPr lang="pt-BR" sz="2400" b="1" dirty="0"/>
              <a:t> Time)</a:t>
            </a:r>
            <a:r>
              <a:rPr lang="pt-BR" sz="2400" dirty="0"/>
              <a:t>, o código é transformado  em código de máquina durante a instalação.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4</a:t>
            </a:fld>
            <a:endParaRPr lang="pt-BR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7" name="Tinta 6"/>
              <p14:cNvContentPartPr/>
              <p14:nvPr>
                <p:custDataLst>
                  <p:tags r:id="rId1"/>
                </p:custDataLst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79662" y="2181765"/>
              <a:ext cx="211316" cy="27690"/>
            </p14:xfrm>
          </p:contentPart>
        </mc:Choice>
        <mc:Fallback xmlns="">
          <p:pic>
            <p:nvPicPr>
              <p:cNvPr id="7" name="Tinta 6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929" y="2137153"/>
                <a:ext cx="302781" cy="1184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55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Motivação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7225" y="4064003"/>
            <a:ext cx="8139196" cy="2286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ct val="80000"/>
              </a:spcBef>
              <a:spcAft>
                <a:spcPts val="600"/>
              </a:spcAft>
            </a:pPr>
            <a:r>
              <a:rPr lang="pt-BR" sz="2400" dirty="0">
                <a:solidFill>
                  <a:srgbClr val="000000"/>
                </a:solidFill>
                <a:cs typeface="Arial Unicode MS" charset="0"/>
              </a:rPr>
              <a:t>Para traduzir esse código de alto nível para código de máquina virtual à pilha, temos de lidar com:</a:t>
            </a:r>
          </a:p>
          <a:p>
            <a:pPr marL="285750" indent="-285750">
              <a:spcBef>
                <a:spcPts val="528"/>
              </a:spcBef>
              <a:buFont typeface="Arial"/>
              <a:buChar char="•"/>
            </a:pPr>
            <a:r>
              <a:rPr lang="pt-BR" sz="2400" dirty="0">
                <a:solidFill>
                  <a:srgbClr val="000000"/>
                </a:solidFill>
                <a:cs typeface="Arial Unicode MS" charset="0"/>
              </a:rPr>
              <a:t>Operações aritméticas</a:t>
            </a:r>
          </a:p>
          <a:p>
            <a:pPr marL="285750" indent="-285750">
              <a:spcBef>
                <a:spcPts val="528"/>
              </a:spcBef>
              <a:buFont typeface="Arial"/>
              <a:buChar char="•"/>
            </a:pPr>
            <a:r>
              <a:rPr lang="pt-BR" sz="2400" dirty="0">
                <a:solidFill>
                  <a:srgbClr val="000000"/>
                </a:solidFill>
                <a:cs typeface="Arial Unicode MS" charset="0"/>
              </a:rPr>
              <a:t>Operações booleanas</a:t>
            </a:r>
          </a:p>
          <a:p>
            <a:pPr marL="285750" indent="-285750">
              <a:spcBef>
                <a:spcPts val="528"/>
              </a:spcBef>
              <a:buFont typeface="Arial"/>
              <a:buChar char="•"/>
            </a:pPr>
            <a:r>
              <a:rPr lang="pt-BR" sz="2400" dirty="0">
                <a:solidFill>
                  <a:srgbClr val="000000"/>
                </a:solidFill>
                <a:cs typeface="Arial Unicode MS" charset="0"/>
              </a:rPr>
              <a:t>Fluxo de programa</a:t>
            </a:r>
          </a:p>
          <a:p>
            <a:pPr marL="285750" indent="-285750">
              <a:spcBef>
                <a:spcPts val="528"/>
              </a:spcBef>
              <a:buFont typeface="Arial"/>
              <a:buChar char="•"/>
            </a:pPr>
            <a:r>
              <a:rPr lang="pt-BR" sz="2400" dirty="0">
                <a:solidFill>
                  <a:srgbClr val="000000"/>
                </a:solidFill>
                <a:cs typeface="Arial Unicode MS" charset="0"/>
              </a:rPr>
              <a:t>Subrotinas</a:t>
            </a:r>
            <a:endParaRPr lang="pt-BR" sz="2400" dirty="0"/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80000"/>
              </a:spcBef>
              <a:buFont typeface="Wingdings" charset="0"/>
              <a:buNone/>
            </a:pPr>
            <a:endParaRPr lang="en-US" sz="1800" dirty="0">
              <a:solidFill>
                <a:srgbClr val="000000"/>
              </a:solidFill>
              <a:cs typeface="Arial Unicode MS" charset="0"/>
            </a:endParaRPr>
          </a:p>
        </p:txBody>
      </p:sp>
      <p:graphicFrame>
        <p:nvGraphicFramePr>
          <p:cNvPr id="517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658487"/>
              </p:ext>
            </p:extLst>
          </p:nvPr>
        </p:nvGraphicFramePr>
        <p:xfrm>
          <a:off x="2771775" y="1553887"/>
          <a:ext cx="3225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367" imgH="266584" progId="Equation.3">
                  <p:embed/>
                </p:oleObj>
              </mc:Choice>
              <mc:Fallback>
                <p:oleObj name="Equation" r:id="rId4" imgW="1688367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553887"/>
                        <a:ext cx="3225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125" name="Text Box 5"/>
          <p:cNvSpPr txBox="1">
            <a:spLocks noChangeArrowheads="1"/>
          </p:cNvSpPr>
          <p:nvPr/>
        </p:nvSpPr>
        <p:spPr bwMode="auto">
          <a:xfrm>
            <a:off x="1042988" y="2346050"/>
            <a:ext cx="6775450" cy="1438275"/>
          </a:xfrm>
          <a:prstGeom prst="rect">
            <a:avLst/>
          </a:prstGeom>
          <a:solidFill>
            <a:srgbClr val="F3F3FF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blurRad="63500" dist="89803" dir="2700000" algn="ctr" rotWithShape="0">
              <a:srgbClr val="293973">
                <a:alpha val="74998"/>
              </a:srgbClr>
            </a:outerShdw>
          </a:effectLst>
        </p:spPr>
        <p:txBody>
          <a:bodyPr lIns="201600" tIns="190800" rIns="0" bIns="190800"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600" b="1">
                <a:latin typeface="Courier New" charset="0"/>
                <a:cs typeface="Times New Roman" charset="0"/>
              </a:rPr>
              <a:t>if ~(a == 0)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600" b="1">
                <a:latin typeface="Courier New" charset="0"/>
                <a:cs typeface="Times New Roman" charset="0"/>
              </a:rPr>
              <a:t>   x = (-b + sqrt(power(b,2) – 4 * a * c)) / (2 * a)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600" b="1">
                <a:latin typeface="Courier New" charset="0"/>
                <a:cs typeface="Times New Roman" charset="0"/>
              </a:rPr>
              <a:t>else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600" b="1">
                <a:latin typeface="Courier New" charset="0"/>
                <a:cs typeface="Times New Roman" charset="0"/>
              </a:rPr>
              <a:t>   x = - c / b</a:t>
            </a:r>
            <a:r>
              <a:rPr lang="en-US" sz="1600" b="1">
                <a:solidFill>
                  <a:srgbClr val="000099"/>
                </a:solidFill>
                <a:latin typeface="Courier New" charset="0"/>
                <a:cs typeface="Courier New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936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17123" grpId="0" build="allAtOnce" autoUpdateAnimBg="0"/>
      <p:bldP spid="51712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Subrotinas, Funções, Procedimentos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916274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pt-BR" sz="2300" dirty="0"/>
              <a:t>Subrotinas, Funções, Procedimentos ou ainda Métodos em linguagens orientadas a objetos são mais um mecanismo de abstração para encapsular operações simples em uma mais poderosa.</a:t>
            </a:r>
          </a:p>
          <a:p>
            <a:pPr>
              <a:spcAft>
                <a:spcPts val="900"/>
              </a:spcAft>
            </a:pPr>
            <a:r>
              <a:rPr lang="pt-BR" sz="2300" dirty="0"/>
              <a:t>São trechos de programas que podem ser invocados pelos programas, que executam algo e retornam no ponto que foram chamados quando finalizados.</a:t>
            </a:r>
          </a:p>
          <a:p>
            <a:pPr>
              <a:spcAft>
                <a:spcPts val="900"/>
              </a:spcAft>
            </a:pPr>
            <a:r>
              <a:rPr lang="pt-BR" sz="2300" dirty="0"/>
              <a:t>Linguagens de programação procedurais modernas, permitem o programador criar novas subrotinas livremente, sendo usadas da mesma forma que as instruções nativas da linguagem.</a:t>
            </a:r>
          </a:p>
          <a:p>
            <a:endParaRPr lang="pt-BR" sz="2300" dirty="0"/>
          </a:p>
          <a:p>
            <a:endParaRPr lang="pt-BR" sz="23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273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das sub-rotinas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400" dirty="0"/>
              <a:t>Criar sub-rotinas como </a:t>
            </a:r>
            <a:r>
              <a:rPr lang="pt-BR" sz="2400" dirty="0" err="1"/>
              <a:t>sqrt</a:t>
            </a:r>
            <a:r>
              <a:rPr lang="pt-BR" sz="2400" dirty="0"/>
              <a:t> e </a:t>
            </a:r>
            <a:r>
              <a:rPr lang="pt-BR" sz="2400" dirty="0" err="1"/>
              <a:t>power</a:t>
            </a:r>
            <a:r>
              <a:rPr lang="pt-BR" sz="2400" dirty="0"/>
              <a:t> conforme necessário;</a:t>
            </a:r>
          </a:p>
          <a:p>
            <a:pPr marL="285750" indent="-285750">
              <a:buFont typeface="Arial"/>
              <a:buChar char="•"/>
            </a:pPr>
            <a:r>
              <a:rPr lang="pt-BR" sz="2400" dirty="0"/>
              <a:t>Usar as sub-rotinas como se fossem operações elementares.</a:t>
            </a:r>
          </a:p>
          <a:p>
            <a:pPr marL="1028700" lvl="1">
              <a:buFont typeface="Arial"/>
              <a:buChar char="•"/>
            </a:pPr>
            <a:r>
              <a:rPr lang="pt-BR" sz="2400" dirty="0"/>
              <a:t>Umas chamando outras;</a:t>
            </a:r>
          </a:p>
          <a:p>
            <a:pPr marL="1028700" lvl="1">
              <a:buFont typeface="Arial"/>
              <a:buChar char="•"/>
            </a:pPr>
            <a:r>
              <a:rPr lang="pt-BR" sz="2400" dirty="0"/>
              <a:t>Uma chamando a si mesma (recursão).</a:t>
            </a:r>
          </a:p>
          <a:p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790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Funcionamento de Subrotinas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5900"/>
            <a:ext cx="8784976" cy="4724400"/>
          </a:xfrm>
        </p:spPr>
        <p:txBody>
          <a:bodyPr>
            <a:noAutofit/>
          </a:bodyPr>
          <a:lstStyle/>
          <a:p>
            <a:r>
              <a:rPr lang="pt-BR" sz="2200" dirty="0"/>
              <a:t>Para cada chamada de sub-rotina, os seguintes procedimentos devem ser feitos: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Passar os parâmetros para a sub-rotina chamada;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Salvar o estado da rotina que está chamando;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Alocar espaço das variáveis locais da sub-rotina chamada;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Saltar para executar o código da sub-rotina chamada;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Retornar os resultados da sub-rotina chamada;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Reciclar o espaço de memória ocupado pela sub-rotina;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Recuperar o estado da sub-rotina chamadora;</a:t>
            </a:r>
          </a:p>
          <a:p>
            <a:pPr marL="285750" indent="-285750">
              <a:lnSpc>
                <a:spcPct val="110000"/>
              </a:lnSpc>
              <a:buFont typeface="Arial"/>
              <a:buChar char="•"/>
            </a:pPr>
            <a:r>
              <a:rPr lang="pt-BR" sz="2200" dirty="0"/>
              <a:t>Continuar código da sub-rotina chamadora.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5960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Chamada de sub rotinas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5900"/>
            <a:ext cx="8712967" cy="472440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pt-BR" sz="2200" b="1" dirty="0"/>
              <a:t>call &lt;nome da sub-rotina&gt;</a:t>
            </a:r>
            <a:endParaRPr lang="pt-BR" sz="2200" dirty="0"/>
          </a:p>
          <a:p>
            <a:pPr>
              <a:spcAft>
                <a:spcPts val="900"/>
              </a:spcAft>
            </a:pPr>
            <a:r>
              <a:rPr lang="pt-BR" sz="2200" dirty="0"/>
              <a:t>Uma rotina coloca os argumentos a passar na pilha e chama a sub-rotina e espera para retornar na linha seguinte.</a:t>
            </a:r>
          </a:p>
          <a:p>
            <a:pPr>
              <a:spcAft>
                <a:spcPts val="900"/>
              </a:spcAft>
            </a:pPr>
            <a:r>
              <a:rPr lang="pt-BR" sz="2200" dirty="0"/>
              <a:t>Da mesma forma que um comando nativo (</a:t>
            </a:r>
            <a:r>
              <a:rPr lang="pt-BR" sz="2200" dirty="0" err="1"/>
              <a:t>built</a:t>
            </a:r>
            <a:r>
              <a:rPr lang="pt-BR" sz="2200" dirty="0"/>
              <a:t>-in), as chamadas de sub-rotinas podem remover ou colocar elementos do topo da pilha.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60" y="4105576"/>
            <a:ext cx="7389612" cy="26174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8" name="Tinta 7"/>
              <p14:cNvContentPartPr/>
              <p14:nvPr>
                <p:custDataLst>
                  <p:tags r:id="rId1"/>
                </p:custDataLst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43143" y="4308119"/>
              <a:ext cx="4777630" cy="1898196"/>
            </p14:xfrm>
          </p:contentPart>
        </mc:Choice>
        <mc:Fallback xmlns="">
          <p:pic>
            <p:nvPicPr>
              <p:cNvPr id="8" name="Tinta 7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8715" y="4263717"/>
                <a:ext cx="4864900" cy="198541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340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Mantendo estado das subrotinas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212" y="1485900"/>
            <a:ext cx="8662736" cy="1158109"/>
          </a:xfrm>
        </p:spPr>
        <p:txBody>
          <a:bodyPr>
            <a:noAutofit/>
          </a:bodyPr>
          <a:lstStyle/>
          <a:p>
            <a:r>
              <a:rPr lang="pt-BR" sz="2200" dirty="0"/>
              <a:t>Quando uma sub-rotina chama outras, esta deve salvar seu estado na pilha, para quando a rotina invocada terminar, seu estado ser recuperado puxando os dados da pilha.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548" y="2698765"/>
            <a:ext cx="6007768" cy="40095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91536" y="2613208"/>
            <a:ext cx="834108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pt-BR" dirty="0"/>
              <a:t>Código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8671" y="2631925"/>
            <a:ext cx="686681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pt-BR" dirty="0"/>
              <a:t>Fluxo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4755" y="2817793"/>
            <a:ext cx="1157561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/>
              <a:t>Pilha</a:t>
            </a:r>
          </a:p>
        </p:txBody>
      </p:sp>
    </p:spTree>
    <p:extLst>
      <p:ext uri="{BB962C8B-B14F-4D97-AF65-F5344CB8AC3E}">
        <p14:creationId xmlns:p14="http://schemas.microsoft.com/office/powerpoint/2010/main" val="85994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Espaço de Memória para Sub-rotinas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916274"/>
          </a:xfrm>
        </p:spPr>
        <p:txBody>
          <a:bodyPr>
            <a:noAutofit/>
          </a:bodyPr>
          <a:lstStyle/>
          <a:p>
            <a:r>
              <a:rPr lang="pt-BR" b="1" dirty="0" err="1"/>
              <a:t>argument</a:t>
            </a:r>
            <a:r>
              <a:rPr lang="pt-BR" b="1" dirty="0"/>
              <a:t>:</a:t>
            </a:r>
          </a:p>
          <a:p>
            <a:r>
              <a:rPr lang="pt-BR" dirty="0"/>
              <a:t>Espaço para recuperação de dados passados para a sub-rotina. Exemplo: </a:t>
            </a:r>
          </a:p>
          <a:p>
            <a:r>
              <a:rPr lang="pt-BR" dirty="0" err="1">
                <a:latin typeface="Courier"/>
                <a:cs typeface="Courier"/>
              </a:rPr>
              <a:t>push</a:t>
            </a:r>
            <a:r>
              <a:rPr lang="pt-BR" dirty="0">
                <a:latin typeface="Courier"/>
                <a:cs typeface="Courier"/>
              </a:rPr>
              <a:t> </a:t>
            </a:r>
            <a:r>
              <a:rPr lang="pt-BR" dirty="0" err="1">
                <a:latin typeface="Courier"/>
                <a:cs typeface="Courier"/>
              </a:rPr>
              <a:t>argument</a:t>
            </a:r>
            <a:r>
              <a:rPr lang="pt-BR" dirty="0">
                <a:latin typeface="Courier"/>
                <a:cs typeface="Courier"/>
              </a:rPr>
              <a:t> 0</a:t>
            </a:r>
          </a:p>
          <a:p>
            <a:endParaRPr lang="pt-BR" sz="1050" dirty="0"/>
          </a:p>
          <a:p>
            <a:r>
              <a:rPr lang="pt-BR" b="1" dirty="0"/>
              <a:t>local:</a:t>
            </a:r>
          </a:p>
          <a:p>
            <a:r>
              <a:rPr lang="pt-BR" dirty="0"/>
              <a:t>Espaço para uso de posições de memórias temporárias para operações da sub-rotina: </a:t>
            </a:r>
          </a:p>
          <a:p>
            <a:r>
              <a:rPr lang="pt-BR" dirty="0">
                <a:latin typeface="Courier"/>
                <a:cs typeface="Courier"/>
              </a:rPr>
              <a:t>pop local 0</a:t>
            </a:r>
          </a:p>
          <a:p>
            <a:r>
              <a:rPr lang="pt-BR" dirty="0" err="1">
                <a:latin typeface="Courier"/>
                <a:cs typeface="Courier"/>
              </a:rPr>
              <a:t>push</a:t>
            </a:r>
            <a:r>
              <a:rPr lang="pt-BR" dirty="0">
                <a:latin typeface="Courier"/>
                <a:cs typeface="Courier"/>
              </a:rPr>
              <a:t> local 1</a:t>
            </a:r>
          </a:p>
          <a:p>
            <a:endParaRPr lang="pt-BR" sz="1050" dirty="0"/>
          </a:p>
          <a:p>
            <a:r>
              <a:rPr lang="pt-BR" b="1" dirty="0" err="1"/>
              <a:t>this</a:t>
            </a:r>
            <a:r>
              <a:rPr lang="pt-BR" b="1" dirty="0"/>
              <a:t> e </a:t>
            </a:r>
            <a:r>
              <a:rPr lang="pt-BR" b="1" dirty="0" err="1"/>
              <a:t>that</a:t>
            </a:r>
            <a:r>
              <a:rPr lang="pt-BR" b="1" dirty="0"/>
              <a:t>:</a:t>
            </a:r>
          </a:p>
          <a:p>
            <a:r>
              <a:rPr lang="pt-BR" dirty="0"/>
              <a:t>Ponteiros para memórias alocadas no </a:t>
            </a:r>
            <a:r>
              <a:rPr lang="pt-BR" dirty="0" err="1"/>
              <a:t>heap</a:t>
            </a:r>
            <a:r>
              <a:rPr lang="pt-BR" dirty="0"/>
              <a:t>:</a:t>
            </a:r>
          </a:p>
          <a:p>
            <a:pPr>
              <a:lnSpc>
                <a:spcPct val="80000"/>
              </a:lnSpc>
            </a:pPr>
            <a:r>
              <a:rPr lang="pt-BR" noProof="1">
                <a:latin typeface="Courier"/>
                <a:cs typeface="Courier"/>
              </a:rPr>
              <a:t>push constant 30</a:t>
            </a:r>
          </a:p>
          <a:p>
            <a:pPr>
              <a:lnSpc>
                <a:spcPct val="80000"/>
              </a:lnSpc>
            </a:pPr>
            <a:r>
              <a:rPr lang="pt-BR" noProof="1">
                <a:latin typeface="Courier"/>
                <a:cs typeface="Courier"/>
              </a:rPr>
              <a:t>push constant 2048</a:t>
            </a:r>
          </a:p>
          <a:p>
            <a:pPr>
              <a:lnSpc>
                <a:spcPct val="80000"/>
              </a:lnSpc>
            </a:pPr>
            <a:r>
              <a:rPr lang="pt-BR" noProof="1">
                <a:latin typeface="Courier"/>
                <a:cs typeface="Courier"/>
              </a:rPr>
              <a:t>pop pointer 1</a:t>
            </a:r>
          </a:p>
          <a:p>
            <a:pPr>
              <a:lnSpc>
                <a:spcPct val="80000"/>
              </a:lnSpc>
            </a:pPr>
            <a:r>
              <a:rPr lang="pt-BR" noProof="1">
                <a:latin typeface="Courier"/>
                <a:cs typeface="Courier"/>
              </a:rPr>
              <a:t>pop that 0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950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Construção de sub-rotinas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7225" y="5729380"/>
            <a:ext cx="8331113" cy="480919"/>
          </a:xfrm>
        </p:spPr>
        <p:txBody>
          <a:bodyPr>
            <a:noAutofit/>
          </a:bodyPr>
          <a:lstStyle/>
          <a:p>
            <a:r>
              <a:rPr lang="pt-BR" sz="1900"/>
              <a:t>Esta sintaxe vai simplificar o posterior desenvolvimento do parser.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57225" y="2189857"/>
            <a:ext cx="7488238" cy="3308872"/>
          </a:xfrm>
          <a:prstGeom prst="rect">
            <a:avLst/>
          </a:prstGeom>
          <a:solidFill>
            <a:srgbClr val="FFE4C9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blurRad="63500" dist="89803" dir="2700000" algn="ctr" rotWithShape="0">
              <a:srgbClr val="293973">
                <a:alpha val="74998"/>
              </a:srgbClr>
            </a:outerShdw>
          </a:effectLst>
        </p:spPr>
        <p:txBody>
          <a:bodyPr lIns="201600" tIns="190800" rIns="0" bIns="190800" anchor="ctr"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spcBef>
                <a:spcPct val="100000"/>
              </a:spcBef>
              <a:buClr>
                <a:srgbClr val="006600"/>
              </a:buClr>
              <a:buSzPct val="100000"/>
              <a:buFont typeface="Wingdings" charset="0"/>
              <a:buChar char="n"/>
            </a:pPr>
            <a:r>
              <a:rPr lang="pt-BR" sz="2000" b="1" dirty="0">
                <a:solidFill>
                  <a:srgbClr val="663300"/>
                </a:solidFill>
                <a:latin typeface="Courier New" charset="0"/>
                <a:cs typeface="Courier New" charset="0"/>
              </a:rPr>
              <a:t>function</a:t>
            </a:r>
            <a:r>
              <a:rPr lang="pt-BR" sz="2000" b="1" dirty="0">
                <a:latin typeface="Courier New" charset="0"/>
                <a:cs typeface="Courier New" charset="0"/>
              </a:rPr>
              <a:t> </a:t>
            </a:r>
            <a:r>
              <a:rPr lang="pt-BR" sz="1800" b="1" i="1" dirty="0">
                <a:solidFill>
                  <a:srgbClr val="663300"/>
                </a:solidFill>
                <a:latin typeface="Times New Roman" charset="0"/>
                <a:cs typeface="Times New Roman" charset="0"/>
              </a:rPr>
              <a:t>&lt;função&gt;</a:t>
            </a:r>
            <a:r>
              <a:rPr lang="pt-BR" sz="1800" b="1" dirty="0">
                <a:solidFill>
                  <a:srgbClr val="663300"/>
                </a:solidFill>
                <a:latin typeface="Courier New" charset="0"/>
                <a:cs typeface="Courier New" charset="0"/>
              </a:rPr>
              <a:t> </a:t>
            </a:r>
            <a:r>
              <a:rPr lang="pt-BR" sz="1800" b="1" i="1" dirty="0">
                <a:solidFill>
                  <a:srgbClr val="663300"/>
                </a:solidFill>
                <a:latin typeface="Times New Roman" charset="0"/>
                <a:cs typeface="Times New Roman" charset="0"/>
              </a:rPr>
              <a:t>nVars</a:t>
            </a:r>
          </a:p>
          <a:p>
            <a:pPr algn="l">
              <a:spcBef>
                <a:spcPct val="60000"/>
              </a:spcBef>
              <a:buClr>
                <a:srgbClr val="006600"/>
              </a:buClr>
              <a:buSzPct val="100000"/>
              <a:buFont typeface="Wingdings" charset="0"/>
              <a:buNone/>
            </a:pPr>
            <a:r>
              <a:rPr lang="pt-BR" sz="1800" dirty="0">
                <a:latin typeface="Comic Sans MS" charset="0"/>
                <a:cs typeface="Arial" charset="0"/>
              </a:rPr>
              <a:t>     (definição de uma função que possui </a:t>
            </a:r>
            <a:r>
              <a:rPr lang="pt-BR" sz="1800" b="1" i="1" dirty="0">
                <a:solidFill>
                  <a:srgbClr val="663300"/>
                </a:solidFill>
                <a:latin typeface="Times New Roman" charset="0"/>
                <a:cs typeface="Times New Roman" charset="0"/>
              </a:rPr>
              <a:t>nVars</a:t>
            </a:r>
            <a:r>
              <a:rPr lang="pt-BR" sz="1800" dirty="0">
                <a:latin typeface="Comic Sans MS" charset="0"/>
                <a:cs typeface="Arial" charset="0"/>
              </a:rPr>
              <a:t> variáveis locais)</a:t>
            </a:r>
          </a:p>
          <a:p>
            <a:pPr>
              <a:spcBef>
                <a:spcPct val="100000"/>
              </a:spcBef>
              <a:buClr>
                <a:srgbClr val="006600"/>
              </a:buClr>
              <a:buSzPct val="100000"/>
              <a:buFont typeface="Wingdings" charset="0"/>
              <a:buChar char="n"/>
            </a:pPr>
            <a:r>
              <a:rPr lang="pt-BR" sz="2000" b="1" dirty="0">
                <a:solidFill>
                  <a:srgbClr val="663300"/>
                </a:solidFill>
                <a:latin typeface="Courier New" charset="0"/>
                <a:cs typeface="Courier New" charset="0"/>
              </a:rPr>
              <a:t>call </a:t>
            </a:r>
            <a:r>
              <a:rPr lang="pt-BR" sz="1800" b="1" i="1" dirty="0">
                <a:solidFill>
                  <a:srgbClr val="663300"/>
                </a:solidFill>
                <a:latin typeface="Times New Roman" charset="0"/>
                <a:cs typeface="Times New Roman" charset="0"/>
              </a:rPr>
              <a:t>&lt;função&gt;</a:t>
            </a:r>
            <a:r>
              <a:rPr lang="pt-BR" sz="1800" b="1" dirty="0">
                <a:solidFill>
                  <a:srgbClr val="663300"/>
                </a:solidFill>
                <a:latin typeface="Courier New" charset="0"/>
                <a:cs typeface="Courier New" charset="0"/>
              </a:rPr>
              <a:t> </a:t>
            </a:r>
            <a:r>
              <a:rPr lang="pt-BR" sz="1800" b="1" i="1" dirty="0">
                <a:solidFill>
                  <a:srgbClr val="663300"/>
                </a:solidFill>
                <a:latin typeface="Times New Roman" charset="0"/>
                <a:cs typeface="Times New Roman" charset="0"/>
              </a:rPr>
              <a:t>nArgs</a:t>
            </a:r>
          </a:p>
          <a:p>
            <a:pPr algn="l">
              <a:spcBef>
                <a:spcPct val="60000"/>
              </a:spcBef>
              <a:buClr>
                <a:srgbClr val="006600"/>
              </a:buClr>
              <a:buSzPct val="100000"/>
              <a:buFont typeface="Wingdings" charset="0"/>
              <a:buNone/>
            </a:pPr>
            <a:r>
              <a:rPr lang="pt-BR" sz="1800" dirty="0">
                <a:latin typeface="Comic Sans MS" charset="0"/>
                <a:cs typeface="Arial" charset="0"/>
              </a:rPr>
              <a:t>     (chamada da função com </a:t>
            </a:r>
            <a:r>
              <a:rPr lang="pt-BR" sz="1800" b="1" i="1" dirty="0">
                <a:solidFill>
                  <a:srgbClr val="663300"/>
                </a:solidFill>
                <a:latin typeface="Times New Roman" charset="0"/>
                <a:cs typeface="Times New Roman" charset="0"/>
              </a:rPr>
              <a:t>nArgs</a:t>
            </a:r>
            <a:r>
              <a:rPr lang="pt-BR" sz="1800" dirty="0">
                <a:latin typeface="Comic Sans MS" charset="0"/>
                <a:cs typeface="Arial" charset="0"/>
              </a:rPr>
              <a:t> argumentos já postos na pilha)</a:t>
            </a:r>
          </a:p>
          <a:p>
            <a:pPr algn="l">
              <a:spcBef>
                <a:spcPct val="100000"/>
              </a:spcBef>
              <a:buClr>
                <a:srgbClr val="006600"/>
              </a:buClr>
              <a:buSzPct val="100000"/>
              <a:buFont typeface="Wingdings" charset="0"/>
              <a:buChar char="n"/>
            </a:pPr>
            <a:r>
              <a:rPr lang="pt-BR" sz="2000" b="1" dirty="0">
                <a:solidFill>
                  <a:srgbClr val="663300"/>
                </a:solidFill>
                <a:latin typeface="Courier New" charset="0"/>
                <a:cs typeface="Courier New" charset="0"/>
              </a:rPr>
              <a:t>return</a:t>
            </a:r>
          </a:p>
          <a:p>
            <a:pPr algn="l">
              <a:spcBef>
                <a:spcPct val="60000"/>
              </a:spcBef>
              <a:buClr>
                <a:srgbClr val="006600"/>
              </a:buClr>
              <a:buSzPct val="100000"/>
              <a:buFont typeface="Wingdings" charset="0"/>
              <a:buNone/>
            </a:pPr>
            <a:r>
              <a:rPr lang="pt-BR" sz="1800" dirty="0">
                <a:latin typeface="Comic Sans MS" charset="0"/>
                <a:cs typeface="Arial" charset="0"/>
              </a:rPr>
              <a:t>     (termina a execução da sub-rotina e retorna o controle)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657225" y="1439611"/>
            <a:ext cx="8029575" cy="4809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Em linguagem da Máquina Virtual a Pilha:</a:t>
            </a:r>
          </a:p>
        </p:txBody>
      </p:sp>
    </p:spTree>
    <p:extLst>
      <p:ext uri="{BB962C8B-B14F-4D97-AF65-F5344CB8AC3E}">
        <p14:creationId xmlns:p14="http://schemas.microsoft.com/office/powerpoint/2010/main" val="303456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Programas em Alto-Nível</a:t>
            </a:r>
            <a:endParaRPr lang="pt-BR" sz="1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515079" name="Group 7"/>
          <p:cNvGrpSpPr>
            <a:grpSpLocks/>
          </p:cNvGrpSpPr>
          <p:nvPr/>
        </p:nvGrpSpPr>
        <p:grpSpPr bwMode="auto">
          <a:xfrm>
            <a:off x="228600" y="1296730"/>
            <a:ext cx="3809584" cy="5475708"/>
            <a:chOff x="158" y="469"/>
            <a:chExt cx="2455" cy="3549"/>
          </a:xfrm>
        </p:grpSpPr>
        <p:sp>
          <p:nvSpPr>
            <p:cNvPr id="6154" name="Text Box 8"/>
            <p:cNvSpPr txBox="1">
              <a:spLocks noChangeArrowheads="1"/>
            </p:cNvSpPr>
            <p:nvPr/>
          </p:nvSpPr>
          <p:spPr bwMode="auto">
            <a:xfrm>
              <a:off x="204" y="708"/>
              <a:ext cx="2041" cy="2118"/>
            </a:xfrm>
            <a:prstGeom prst="rect">
              <a:avLst/>
            </a:prstGeom>
            <a:solidFill>
              <a:srgbClr val="F3F3FF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63500" dist="89803" dir="2700000" algn="ctr" rotWithShape="0">
                <a:srgbClr val="293973">
                  <a:alpha val="74998"/>
                </a:srgbClr>
              </a:outerShdw>
            </a:effectLst>
          </p:spPr>
          <p:txBody>
            <a:bodyPr lIns="93600" tIns="190800" rIns="93600" bIns="1908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 err="1">
                  <a:latin typeface="Courier New" charset="0"/>
                  <a:cs typeface="Times New Roman" charset="0"/>
                </a:rPr>
                <a:t>class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Foo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{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static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int x1, x2, x3;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method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int f1(int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x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) {</a:t>
              </a:r>
              <a:endParaRPr lang="pt-BR" sz="1200" b="1" dirty="0">
                <a:solidFill>
                  <a:srgbClr val="000000"/>
                </a:solidFill>
                <a:latin typeface="Arial Unicode MS" charset="0"/>
                <a:cs typeface="Arial Unicode MS" charset="0"/>
              </a:endParaRP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  </a:t>
              </a:r>
              <a:r>
                <a:rPr lang="pt-BR" sz="1200" b="1" dirty="0">
                  <a:latin typeface="Courier New" charset="0"/>
                  <a:cs typeface="Courier New" charset="0"/>
                </a:rPr>
                <a:t>var int a, </a:t>
              </a:r>
              <a:r>
                <a:rPr lang="pt-BR" sz="1200" b="1" dirty="0" err="1">
                  <a:latin typeface="Courier New" charset="0"/>
                  <a:cs typeface="Courier New" charset="0"/>
                </a:rPr>
                <a:t>b</a:t>
              </a:r>
              <a:r>
                <a:rPr lang="pt-BR" sz="1200" b="1" dirty="0">
                  <a:latin typeface="Courier New" charset="0"/>
                  <a:cs typeface="Courier New" charset="0"/>
                </a:rPr>
                <a:t>;</a:t>
              </a:r>
            </a:p>
            <a:p>
              <a:pPr algn="l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Courier New" charset="0"/>
                </a:rPr>
                <a:t>    ...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}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method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void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f2(int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x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, 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y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) {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  var int a,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b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,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c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;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  ...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}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function int f3(int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u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) {</a:t>
              </a:r>
            </a:p>
            <a:p>
              <a:pPr algn="l"/>
              <a:r>
                <a:rPr lang="pt-BR" sz="1200" b="1" dirty="0">
                  <a:latin typeface="Courier New" charset="0"/>
                  <a:cs typeface="Times New Roman" charset="0"/>
                </a:rPr>
                <a:t>    var 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x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;</a:t>
              </a:r>
            </a:p>
            <a:p>
              <a:pPr algn="l"/>
              <a:r>
                <a:rPr lang="pt-BR" sz="1200" b="1" dirty="0">
                  <a:latin typeface="Courier New" charset="0"/>
                  <a:cs typeface="Times New Roman" charset="0"/>
                </a:rPr>
                <a:t>    ...</a:t>
              </a:r>
            </a:p>
            <a:p>
              <a:pPr algn="l"/>
              <a:r>
                <a:rPr lang="pt-BR" sz="1200" b="1" dirty="0">
                  <a:latin typeface="Courier New" charset="0"/>
                  <a:cs typeface="Times New Roman" charset="0"/>
                </a:rPr>
                <a:t>  }</a:t>
              </a:r>
              <a:endParaRPr lang="pt-BR" sz="1200" b="1" dirty="0">
                <a:latin typeface="Courier New" charset="0"/>
                <a:ea typeface="Arial Unicode MS" charset="0"/>
                <a:cs typeface="Times New Roman" charset="0"/>
              </a:endParaRP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}</a:t>
              </a:r>
            </a:p>
          </p:txBody>
        </p:sp>
        <p:sp>
          <p:nvSpPr>
            <p:cNvPr id="6155" name="Text Box 9"/>
            <p:cNvSpPr txBox="1">
              <a:spLocks noChangeArrowheads="1"/>
            </p:cNvSpPr>
            <p:nvPr/>
          </p:nvSpPr>
          <p:spPr bwMode="auto">
            <a:xfrm>
              <a:off x="481" y="2564"/>
              <a:ext cx="2132" cy="1454"/>
            </a:xfrm>
            <a:prstGeom prst="rect">
              <a:avLst/>
            </a:prstGeom>
            <a:solidFill>
              <a:srgbClr val="F3F3FF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63500" dist="89803" dir="2700000" algn="ctr" rotWithShape="0">
                <a:srgbClr val="293973">
                  <a:alpha val="74998"/>
                </a:srgbClr>
              </a:outerShdw>
            </a:effectLst>
          </p:spPr>
          <p:txBody>
            <a:bodyPr lIns="93600" tIns="190800" rIns="93600" bIns="1908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 err="1">
                  <a:latin typeface="Courier New" charset="0"/>
                  <a:cs typeface="Times New Roman" charset="0"/>
                </a:rPr>
                <a:t>class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Bar {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static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int y1, y2;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function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void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f1(int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u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, 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v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) {</a:t>
              </a:r>
              <a:endParaRPr lang="pt-BR" sz="1200" b="1" dirty="0">
                <a:latin typeface="Courier New" charset="0"/>
                <a:ea typeface="Arial Unicode MS" charset="0"/>
                <a:cs typeface="Times New Roman" charset="0"/>
              </a:endParaRP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  ...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}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method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void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 f2(int </a:t>
              </a:r>
              <a:r>
                <a:rPr lang="pt-BR" sz="1200" b="1" dirty="0" err="1">
                  <a:latin typeface="Courier New" charset="0"/>
                  <a:cs typeface="Times New Roman" charset="0"/>
                </a:rPr>
                <a:t>x</a:t>
              </a:r>
              <a:r>
                <a:rPr lang="pt-BR" sz="1200" b="1" dirty="0">
                  <a:latin typeface="Courier New" charset="0"/>
                  <a:cs typeface="Times New Roman" charset="0"/>
                </a:rPr>
                <a:t>) {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  var int a1, a2;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  ...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  }</a:t>
              </a:r>
            </a:p>
            <a:p>
              <a:pPr algn="just" eaLnBrk="1" hangingPunct="1">
                <a:lnSpc>
                  <a:spcPct val="50000"/>
                </a:lnSpc>
                <a:spcBef>
                  <a:spcPct val="65000"/>
                </a:spcBef>
              </a:pPr>
              <a:r>
                <a:rPr lang="pt-BR" sz="1200" b="1" dirty="0">
                  <a:latin typeface="Courier New" charset="0"/>
                  <a:cs typeface="Times New Roman" charset="0"/>
                </a:rPr>
                <a:t>}</a:t>
              </a:r>
            </a:p>
          </p:txBody>
        </p:sp>
        <p:sp>
          <p:nvSpPr>
            <p:cNvPr id="6156" name="Rectangle 10"/>
            <p:cNvSpPr>
              <a:spLocks noChangeArrowheads="1"/>
            </p:cNvSpPr>
            <p:nvPr/>
          </p:nvSpPr>
          <p:spPr bwMode="auto">
            <a:xfrm>
              <a:off x="158" y="469"/>
              <a:ext cx="190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pt-BR" sz="1600">
                  <a:solidFill>
                    <a:srgbClr val="000099"/>
                  </a:solidFill>
                  <a:latin typeface="Comic Sans MS" charset="0"/>
                  <a:cs typeface="Arial Unicode MS" charset="0"/>
                </a:rPr>
                <a:t>Programa em Jack:</a:t>
              </a:r>
            </a:p>
          </p:txBody>
        </p:sp>
      </p:grpSp>
      <p:grpSp>
        <p:nvGrpSpPr>
          <p:cNvPr id="515093" name="Group 21"/>
          <p:cNvGrpSpPr>
            <a:grpSpLocks/>
          </p:cNvGrpSpPr>
          <p:nvPr/>
        </p:nvGrpSpPr>
        <p:grpSpPr bwMode="auto">
          <a:xfrm>
            <a:off x="4038600" y="1296730"/>
            <a:ext cx="4540466" cy="5475708"/>
            <a:chOff x="2544" y="480"/>
            <a:chExt cx="2926" cy="3549"/>
          </a:xfrm>
        </p:grpSpPr>
        <p:grpSp>
          <p:nvGrpSpPr>
            <p:cNvPr id="6149" name="Group 3"/>
            <p:cNvGrpSpPr>
              <a:grpSpLocks/>
            </p:cNvGrpSpPr>
            <p:nvPr/>
          </p:nvGrpSpPr>
          <p:grpSpPr bwMode="auto">
            <a:xfrm>
              <a:off x="3477" y="480"/>
              <a:ext cx="1993" cy="3549"/>
              <a:chOff x="131" y="469"/>
              <a:chExt cx="1993" cy="3549"/>
            </a:xfrm>
          </p:grpSpPr>
          <p:sp>
            <p:nvSpPr>
              <p:cNvPr id="6151" name="Text Box 4"/>
              <p:cNvSpPr txBox="1">
                <a:spLocks noChangeArrowheads="1"/>
              </p:cNvSpPr>
              <p:nvPr/>
            </p:nvSpPr>
            <p:spPr bwMode="auto">
              <a:xfrm>
                <a:off x="204" y="708"/>
                <a:ext cx="1542" cy="2118"/>
              </a:xfrm>
              <a:prstGeom prst="rect">
                <a:avLst/>
              </a:prstGeom>
              <a:solidFill>
                <a:srgbClr val="F3F3FF"/>
              </a:solidFill>
              <a:ln w="9525">
                <a:solidFill>
                  <a:srgbClr val="293973"/>
                </a:solidFill>
                <a:miter lim="800000"/>
                <a:headEnd/>
                <a:tailEnd/>
              </a:ln>
              <a:effectLst>
                <a:outerShdw blurRad="63500" dist="89803" dir="2700000" algn="ctr" rotWithShape="0">
                  <a:srgbClr val="293973">
                    <a:alpha val="74998"/>
                  </a:srgbClr>
                </a:outerShdw>
              </a:effectLst>
            </p:spPr>
            <p:txBody>
              <a:bodyPr lIns="93600" tIns="190800" rIns="93600" bIns="190800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class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</a:t>
                </a: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Foo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{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</a:t>
                </a: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static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staticsList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;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</a:t>
                </a: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method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f1(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argsList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) {</a:t>
                </a:r>
                <a:endParaRPr lang="pt-BR" sz="1200" b="1" dirty="0">
                  <a:solidFill>
                    <a:srgbClr val="000000"/>
                  </a:solidFill>
                  <a:latin typeface="Arial Unicode MS" charset="0"/>
                  <a:cs typeface="Arial Unicode MS" charset="0"/>
                </a:endParaRP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  </a:t>
                </a:r>
                <a:r>
                  <a:rPr lang="pt-BR" sz="1200" b="1" dirty="0">
                    <a:latin typeface="Courier New" charset="0"/>
                    <a:cs typeface="Courier New" charset="0"/>
                  </a:rPr>
                  <a:t>var 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localsList</a:t>
                </a:r>
                <a:r>
                  <a:rPr lang="pt-BR" sz="1200" b="1" dirty="0">
                    <a:latin typeface="Courier New" charset="0"/>
                    <a:cs typeface="Courier New" charset="0"/>
                  </a:rPr>
                  <a:t>;</a:t>
                </a:r>
              </a:p>
              <a:p>
                <a:pPr algn="l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Courier New" charset="0"/>
                  </a:rPr>
                  <a:t>    ...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}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</a:t>
                </a: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method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f2(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argsList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) {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  var 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localsList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;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  ...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}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function f3(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argsList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) {</a:t>
                </a:r>
              </a:p>
              <a:p>
                <a:pPr algn="l"/>
                <a:r>
                  <a:rPr lang="pt-BR" sz="1200" b="1" dirty="0">
                    <a:latin typeface="Courier New" charset="0"/>
                    <a:cs typeface="Times New Roman" charset="0"/>
                  </a:rPr>
                  <a:t>    var 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localsList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;</a:t>
                </a:r>
              </a:p>
              <a:p>
                <a:pPr algn="l"/>
                <a:r>
                  <a:rPr lang="pt-BR" sz="1200" b="1" dirty="0">
                    <a:latin typeface="Courier New" charset="0"/>
                    <a:cs typeface="Times New Roman" charset="0"/>
                  </a:rPr>
                  <a:t>    ...</a:t>
                </a:r>
              </a:p>
              <a:p>
                <a:pPr algn="l"/>
                <a:r>
                  <a:rPr lang="pt-BR" sz="1200" b="1" dirty="0">
                    <a:latin typeface="Courier New" charset="0"/>
                    <a:cs typeface="Times New Roman" charset="0"/>
                  </a:rPr>
                  <a:t>  }</a:t>
                </a:r>
                <a:endParaRPr lang="pt-BR" sz="1200" b="1" dirty="0">
                  <a:latin typeface="Courier New" charset="0"/>
                  <a:ea typeface="Arial Unicode MS" charset="0"/>
                  <a:cs typeface="Times New Roman" charset="0"/>
                </a:endParaRP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}</a:t>
                </a:r>
              </a:p>
            </p:txBody>
          </p:sp>
          <p:sp>
            <p:nvSpPr>
              <p:cNvPr id="6152" name="Text Box 5"/>
              <p:cNvSpPr txBox="1">
                <a:spLocks noChangeArrowheads="1"/>
              </p:cNvSpPr>
              <p:nvPr/>
            </p:nvSpPr>
            <p:spPr bwMode="auto">
              <a:xfrm>
                <a:off x="491" y="2537"/>
                <a:ext cx="1633" cy="1481"/>
              </a:xfrm>
              <a:prstGeom prst="rect">
                <a:avLst/>
              </a:prstGeom>
              <a:solidFill>
                <a:srgbClr val="F3F3FF"/>
              </a:solidFill>
              <a:ln w="9525">
                <a:solidFill>
                  <a:srgbClr val="293973"/>
                </a:solidFill>
                <a:miter lim="800000"/>
                <a:headEnd/>
                <a:tailEnd/>
              </a:ln>
              <a:effectLst>
                <a:outerShdw blurRad="63500" dist="89803" dir="2700000" algn="ctr" rotWithShape="0">
                  <a:srgbClr val="293973">
                    <a:alpha val="74998"/>
                  </a:srgbClr>
                </a:outerShdw>
              </a:effectLst>
            </p:spPr>
            <p:txBody>
              <a:bodyPr lIns="93600" tIns="190800" rIns="93600" bIns="190800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class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Bar {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</a:t>
                </a: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static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staticsList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;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function f1(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argsList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){</a:t>
                </a:r>
                <a:endParaRPr lang="pt-BR" sz="1200" b="1" dirty="0">
                  <a:latin typeface="Courier New" charset="0"/>
                  <a:ea typeface="Arial Unicode MS" charset="0"/>
                  <a:cs typeface="Times New Roman" charset="0"/>
                </a:endParaRP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  ...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}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</a:t>
                </a:r>
                <a:r>
                  <a:rPr lang="pt-BR" sz="1200" b="1" dirty="0" err="1">
                    <a:latin typeface="Courier New" charset="0"/>
                    <a:cs typeface="Times New Roman" charset="0"/>
                  </a:rPr>
                  <a:t>method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 f2(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argsList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) {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  var </a:t>
                </a:r>
                <a:r>
                  <a:rPr lang="pt-BR" sz="1200" b="1" i="1" dirty="0" err="1">
                    <a:latin typeface="Times New Roman" charset="0"/>
                    <a:cs typeface="Times New Roman" charset="0"/>
                  </a:rPr>
                  <a:t>localsList</a:t>
                </a:r>
                <a:r>
                  <a:rPr lang="pt-BR" sz="1200" b="1" dirty="0">
                    <a:latin typeface="Courier New" charset="0"/>
                    <a:cs typeface="Times New Roman" charset="0"/>
                  </a:rPr>
                  <a:t>;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  ...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  }</a:t>
                </a:r>
              </a:p>
              <a:p>
                <a:pPr algn="just" eaLnBrk="1" hangingPunct="1">
                  <a:lnSpc>
                    <a:spcPct val="50000"/>
                  </a:lnSpc>
                  <a:spcBef>
                    <a:spcPct val="65000"/>
                  </a:spcBef>
                </a:pPr>
                <a:r>
                  <a:rPr lang="pt-BR" sz="1200" b="1" dirty="0">
                    <a:latin typeface="Courier New" charset="0"/>
                    <a:cs typeface="Times New Roman" charset="0"/>
                  </a:rPr>
                  <a:t>}</a:t>
                </a:r>
              </a:p>
            </p:txBody>
          </p:sp>
          <p:sp>
            <p:nvSpPr>
              <p:cNvPr id="6153" name="Rectangle 6"/>
              <p:cNvSpPr>
                <a:spLocks noChangeArrowheads="1"/>
              </p:cNvSpPr>
              <p:nvPr/>
            </p:nvSpPr>
            <p:spPr bwMode="auto">
              <a:xfrm>
                <a:off x="131" y="469"/>
                <a:ext cx="1770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pPr marL="342900" indent="-342900"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pt-BR" sz="1600" dirty="0">
                    <a:solidFill>
                      <a:srgbClr val="000099"/>
                    </a:solidFill>
                    <a:latin typeface="Comic Sans MS" charset="0"/>
                    <a:cs typeface="Arial Unicode MS" charset="0"/>
                  </a:rPr>
                  <a:t>Programa em </a:t>
                </a:r>
                <a:r>
                  <a:rPr lang="pt-BR" sz="1600" dirty="0" err="1">
                    <a:solidFill>
                      <a:srgbClr val="000099"/>
                    </a:solidFill>
                    <a:latin typeface="Comic Sans MS" charset="0"/>
                    <a:cs typeface="Arial Unicode MS" charset="0"/>
                  </a:rPr>
                  <a:t>pseudo</a:t>
                </a:r>
                <a:r>
                  <a:rPr lang="pt-BR" sz="1600" dirty="0">
                    <a:solidFill>
                      <a:srgbClr val="000099"/>
                    </a:solidFill>
                    <a:latin typeface="Comic Sans MS" charset="0"/>
                    <a:cs typeface="Arial Unicode MS" charset="0"/>
                  </a:rPr>
                  <a:t>-Jack:</a:t>
                </a:r>
              </a:p>
            </p:txBody>
          </p:sp>
        </p:grp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>
              <a:off x="2544" y="1056"/>
              <a:ext cx="781" cy="362"/>
            </a:xfrm>
            <a:prstGeom prst="rightArrow">
              <a:avLst>
                <a:gd name="adj1" fmla="val 50000"/>
                <a:gd name="adj2" fmla="val 53936"/>
              </a:avLst>
            </a:prstGeom>
            <a:solidFill>
              <a:srgbClr val="99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pt-BR" sz="1400" b="1">
                  <a:solidFill>
                    <a:schemeClr val="bg1"/>
                  </a:solidFill>
                </a:rPr>
                <a:t>Em geral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8558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das chamadas VM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4212" y="1485900"/>
            <a:ext cx="8809788" cy="4724400"/>
          </a:xfrm>
        </p:spPr>
        <p:txBody>
          <a:bodyPr>
            <a:normAutofit/>
          </a:bodyPr>
          <a:lstStyle/>
          <a:p>
            <a:r>
              <a:rPr lang="pt-BR" sz="2000" b="1" dirty="0"/>
              <a:t>Quando a função </a:t>
            </a:r>
            <a:r>
              <a:rPr lang="pt-BR" sz="2000" b="1" dirty="0" err="1"/>
              <a:t>f</a:t>
            </a:r>
            <a:r>
              <a:rPr lang="pt-BR" sz="2000" b="1" dirty="0"/>
              <a:t> chama a função </a:t>
            </a:r>
            <a:r>
              <a:rPr lang="pt-BR" sz="2000" b="1" dirty="0" err="1"/>
              <a:t>g</a:t>
            </a:r>
            <a:r>
              <a:rPr lang="pt-BR" sz="2000" b="1" dirty="0"/>
              <a:t>, a VM deve: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Guardar o endereço de retorno;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Salvar os segmentos virtuais de </a:t>
            </a:r>
            <a:r>
              <a:rPr lang="pt-BR" sz="2000" dirty="0" err="1"/>
              <a:t>f</a:t>
            </a:r>
            <a:r>
              <a:rPr lang="pt-BR" sz="2000" dirty="0"/>
              <a:t>;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Alocar e inicializar (zerar) variáveis locais necessárias para </a:t>
            </a:r>
            <a:r>
              <a:rPr lang="pt-BR" sz="2000" dirty="0" err="1"/>
              <a:t>g</a:t>
            </a:r>
            <a:r>
              <a:rPr lang="pt-BR" sz="2000" dirty="0"/>
              <a:t>;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Definir os indicadores de segmento locais e argumentos de </a:t>
            </a:r>
            <a:r>
              <a:rPr lang="pt-BR" sz="2000" dirty="0" err="1"/>
              <a:t>g</a:t>
            </a:r>
            <a:r>
              <a:rPr lang="pt-BR" sz="2000" dirty="0"/>
              <a:t>;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Transferir o controle para g.</a:t>
            </a:r>
          </a:p>
          <a:p>
            <a:pPr marL="285750" indent="-285750">
              <a:buFont typeface="Arial"/>
              <a:buChar char="•"/>
            </a:pPr>
            <a:endParaRPr lang="pt-BR" sz="2000" dirty="0"/>
          </a:p>
          <a:p>
            <a:r>
              <a:rPr lang="pt-BR" sz="2000" b="1" dirty="0"/>
              <a:t>Quando </a:t>
            </a:r>
            <a:r>
              <a:rPr lang="pt-BR" sz="2000" b="1" dirty="0" err="1"/>
              <a:t>g</a:t>
            </a:r>
            <a:r>
              <a:rPr lang="pt-BR" sz="2000" b="1" dirty="0"/>
              <a:t> termina </a:t>
            </a:r>
            <a:r>
              <a:rPr lang="pt-BR" sz="2000" b="1"/>
              <a:t>e o controle </a:t>
            </a:r>
            <a:r>
              <a:rPr lang="pt-BR" sz="2000" b="1" dirty="0"/>
              <a:t>retorna a </a:t>
            </a:r>
            <a:r>
              <a:rPr lang="pt-BR" sz="2000" b="1" dirty="0" err="1"/>
              <a:t>f</a:t>
            </a:r>
            <a:r>
              <a:rPr lang="pt-BR" sz="2000" b="1" dirty="0"/>
              <a:t>, a VM deve: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Limpara qualquer lixo de </a:t>
            </a:r>
            <a:r>
              <a:rPr lang="pt-BR" sz="2000" dirty="0" err="1"/>
              <a:t>g</a:t>
            </a:r>
            <a:r>
              <a:rPr lang="pt-BR" sz="2000" dirty="0"/>
              <a:t>;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Restaurar os segmentos virtuais de </a:t>
            </a:r>
            <a:r>
              <a:rPr lang="pt-BR" sz="2000" dirty="0" err="1"/>
              <a:t>f</a:t>
            </a:r>
            <a:r>
              <a:rPr lang="pt-BR" sz="2000" dirty="0"/>
              <a:t>;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Transferir controle de volta para </a:t>
            </a:r>
            <a:r>
              <a:rPr lang="pt-BR" sz="2000" dirty="0" err="1"/>
              <a:t>f</a:t>
            </a:r>
            <a:r>
              <a:rPr lang="pt-BR" sz="2000" dirty="0"/>
              <a:t> (saltar para endereço salvo).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26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2800" dirty="0"/>
              <a:t>Funcionamento da Pilha de Execução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533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699326"/>
              </p:ext>
            </p:extLst>
          </p:nvPr>
        </p:nvGraphicFramePr>
        <p:xfrm>
          <a:off x="534720" y="1106078"/>
          <a:ext cx="6189585" cy="5654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515100" imgH="5919216" progId="Visio.Drawing.6">
                  <p:embed/>
                </p:oleObj>
              </mc:Choice>
              <mc:Fallback>
                <p:oleObj r:id="rId3" imgW="6515100" imgH="591921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66" t="-383" r="-4620" b="12602"/>
                      <a:stretch>
                        <a:fillRect/>
                      </a:stretch>
                    </p:blipFill>
                    <p:spPr bwMode="auto">
                      <a:xfrm>
                        <a:off x="534720" y="1106078"/>
                        <a:ext cx="6189585" cy="5654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8715" y="2036585"/>
            <a:ext cx="3005221" cy="472440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pt-BR"/>
              <a:t>Argumentos postos na pilha para a sub-rotina atual.</a:t>
            </a:r>
          </a:p>
          <a:p>
            <a:endParaRPr lang="pt-BR" sz="900"/>
          </a:p>
          <a:p>
            <a:endParaRPr lang="pt-BR"/>
          </a:p>
          <a:p>
            <a:r>
              <a:rPr lang="pt-BR"/>
              <a:t>Estado salvo da sub-rotina que fez a chamada.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Variáveis locais da sub-rotina atual.</a:t>
            </a:r>
          </a:p>
          <a:p>
            <a:endParaRPr lang="pt-BR" sz="800"/>
          </a:p>
          <a:p>
            <a:endParaRPr lang="pt-BR"/>
          </a:p>
          <a:p>
            <a:r>
              <a:rPr lang="pt-BR"/>
              <a:t>Pilha de trabalho para a sub-rotina atual.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9851" y="1315774"/>
            <a:ext cx="2394034" cy="523220"/>
          </a:xfrm>
          <a:prstGeom prst="rect">
            <a:avLst/>
          </a:prstGeom>
          <a:solidFill>
            <a:srgbClr val="E2E2E2"/>
          </a:solidFill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charset="0"/>
              </a:rPr>
              <a:t>Frames de todas as sub-rotinas anteriores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6211" y="1235566"/>
            <a:ext cx="3326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frame = espaço das variáveis temporárias de uma sub-rotina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264526" y="1537368"/>
            <a:ext cx="641685" cy="0"/>
          </a:xfrm>
          <a:prstGeom prst="straightConnector1">
            <a:avLst/>
          </a:prstGeom>
          <a:ln w="635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103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3" y="1485900"/>
            <a:ext cx="8363816" cy="4724400"/>
          </a:xfrm>
        </p:spPr>
        <p:txBody>
          <a:bodyPr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400" dirty="0"/>
              <a:t>Só a função atual está sendo executado, as outras funções estão à espera;</a:t>
            </a:r>
          </a:p>
          <a:p>
            <a:pPr marL="285750" indent="-285750">
              <a:buFont typeface="Arial"/>
              <a:buChar char="•"/>
            </a:pPr>
            <a:r>
              <a:rPr lang="pt-BR" sz="2400" dirty="0"/>
              <a:t>A função atual só vê o topo da pilha, seus argumentos e variáveis locais, o restante da pilha mantém os estados congelados de todas as funções anteriores;</a:t>
            </a:r>
          </a:p>
          <a:p>
            <a:pPr marL="285750" indent="-285750">
              <a:buFont typeface="Arial"/>
              <a:buChar char="•"/>
            </a:pPr>
            <a:r>
              <a:rPr lang="pt-BR" sz="2400" dirty="0"/>
              <a:t>A implementação da Máquina Virtual é que controla a alocação e uso dos registradores de ponteiros.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687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96275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 </a:t>
            </a:r>
            <a:r>
              <a:rPr lang="pt-BR" sz="2000" i="1" dirty="0"/>
              <a:t>bootstrap</a:t>
            </a:r>
            <a:r>
              <a:rPr lang="pt-BR" sz="2000" dirty="0"/>
              <a:t> é o processo de inicializar um computador. O termo derivado da expressão em inglês “</a:t>
            </a:r>
            <a:r>
              <a:rPr lang="pt-BR" sz="2000" dirty="0" err="1"/>
              <a:t>pulling</a:t>
            </a:r>
            <a:r>
              <a:rPr lang="pt-BR" sz="2000" dirty="0"/>
              <a:t> </a:t>
            </a:r>
            <a:r>
              <a:rPr lang="pt-BR" sz="2000" dirty="0" err="1"/>
              <a:t>yourself</a:t>
            </a:r>
            <a:r>
              <a:rPr lang="pt-BR" sz="2000" dirty="0"/>
              <a:t> </a:t>
            </a:r>
            <a:r>
              <a:rPr lang="pt-BR" sz="2000" dirty="0" err="1"/>
              <a:t>up</a:t>
            </a:r>
            <a:r>
              <a:rPr lang="pt-BR" sz="2000" dirty="0"/>
              <a:t> </a:t>
            </a:r>
            <a:r>
              <a:rPr lang="pt-BR" sz="2000" dirty="0" err="1"/>
              <a:t>by</a:t>
            </a:r>
            <a:r>
              <a:rPr lang="pt-BR" sz="2000" dirty="0"/>
              <a:t> </a:t>
            </a:r>
            <a:r>
              <a:rPr lang="pt-BR" sz="2000" dirty="0" err="1"/>
              <a:t>your</a:t>
            </a:r>
            <a:r>
              <a:rPr lang="pt-BR" sz="2000" dirty="0"/>
              <a:t> </a:t>
            </a:r>
            <a:r>
              <a:rPr lang="pt-BR" sz="2000" dirty="0" err="1"/>
              <a:t>own</a:t>
            </a:r>
            <a:r>
              <a:rPr lang="pt-BR" sz="2000" dirty="0"/>
              <a:t> </a:t>
            </a:r>
            <a:r>
              <a:rPr lang="pt-BR" sz="2000" dirty="0" err="1"/>
              <a:t>bootstraps</a:t>
            </a:r>
            <a:r>
              <a:rPr lang="pt-BR" sz="2000" dirty="0"/>
              <a:t>”. </a:t>
            </a:r>
          </a:p>
          <a:p>
            <a:endParaRPr lang="pt-BR" sz="2000" dirty="0"/>
          </a:p>
          <a:p>
            <a:pPr marL="1512000"/>
            <a:r>
              <a:rPr lang="pt-BR" sz="2000" dirty="0"/>
              <a:t>Basicamente quando um computador é ligado pela primeira vez ou reiniciado, ele começa a carregar certos programas em uma certa ordem para deixar o computador operacional.</a:t>
            </a:r>
          </a:p>
          <a:p>
            <a:endParaRPr lang="pt-BR" sz="2000" dirty="0"/>
          </a:p>
          <a:p>
            <a:pPr marL="2772000">
              <a:spcBef>
                <a:spcPts val="480"/>
              </a:spcBef>
            </a:pPr>
            <a:r>
              <a:rPr lang="pt-BR" sz="2000" dirty="0"/>
              <a:t>Durante o processo de </a:t>
            </a:r>
            <a:r>
              <a:rPr lang="pt-BR" sz="2000" dirty="0" err="1"/>
              <a:t>start-up</a:t>
            </a:r>
            <a:r>
              <a:rPr lang="pt-BR" sz="2000" dirty="0"/>
              <a:t>, testes de diagnóstico são realizados, como POST (</a:t>
            </a:r>
            <a:r>
              <a:rPr lang="pt-BR" sz="2000" dirty="0" err="1"/>
              <a:t>power-on</a:t>
            </a:r>
            <a:r>
              <a:rPr lang="pt-BR" sz="2000" dirty="0"/>
              <a:t> self-</a:t>
            </a:r>
            <a:r>
              <a:rPr lang="pt-BR" sz="2000" dirty="0" err="1"/>
              <a:t>test</a:t>
            </a:r>
            <a:r>
              <a:rPr lang="pt-BR" sz="2000" dirty="0"/>
              <a:t>) normalmente carregando o sistema operacional como final do processo.</a:t>
            </a:r>
          </a:p>
          <a:p>
            <a:pPr marL="2772000">
              <a:spcBef>
                <a:spcPts val="480"/>
              </a:spcBef>
            </a:pPr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17</a:t>
            </a:fld>
            <a:endParaRPr lang="pt-BR" dirty="0"/>
          </a:p>
        </p:txBody>
      </p:sp>
      <p:pic>
        <p:nvPicPr>
          <p:cNvPr id="7" name="Picture 6" descr="5075_big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EFB"/>
              </a:clrFrom>
              <a:clrTo>
                <a:srgbClr val="FFFE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2827430"/>
            <a:ext cx="3379842" cy="369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91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Boot no PC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18</a:t>
            </a:fld>
            <a:endParaRPr lang="pt-B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95536" y="1485900"/>
            <a:ext cx="8475749" cy="4724400"/>
          </a:xfrm>
        </p:spPr>
        <p:txBody>
          <a:bodyPr>
            <a:normAutofit/>
          </a:bodyPr>
          <a:lstStyle/>
          <a:p>
            <a:r>
              <a:rPr lang="pt-BR" sz="2100" dirty="0"/>
              <a:t>Em </a:t>
            </a:r>
            <a:r>
              <a:rPr lang="pt-BR" sz="2100" dirty="0" err="1"/>
              <a:t>CPUs</a:t>
            </a:r>
            <a:r>
              <a:rPr lang="pt-BR" sz="2100" dirty="0"/>
              <a:t> x86 a primeira instrução executada é localizada no endereço de memória física FFFF0h em processadores de 16 bits e FFFFFFF0h em processadores de 32 e 64 bits. Esse endereço em geral aponta para o programa de BIOS da ROM.</a:t>
            </a:r>
          </a:p>
          <a:p>
            <a:endParaRPr lang="pt-BR" sz="1000" dirty="0"/>
          </a:p>
          <a:p>
            <a:r>
              <a:rPr lang="pt-BR" sz="2100" dirty="0"/>
              <a:t>A rotina de inicialização da BIOS gera uma interrupção INT 19 que lê o setor de inicialização do disco da posição de memória 0000:7C00.</a:t>
            </a:r>
          </a:p>
        </p:txBody>
      </p:sp>
      <p:pic>
        <p:nvPicPr>
          <p:cNvPr id="8" name="Picture 7" descr="DINO_PC_MAGMADON_GTX_750_TI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88" y="3916947"/>
            <a:ext cx="4597396" cy="2812074"/>
          </a:xfrm>
          <a:prstGeom prst="rect">
            <a:avLst/>
          </a:prstGeom>
        </p:spPr>
      </p:pic>
      <p:pic>
        <p:nvPicPr>
          <p:cNvPr id="3" name="Picture 2" descr="gigabyte_bios_chips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88" y="4273255"/>
            <a:ext cx="3548200" cy="21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5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AAEAAAD/////AQAAAAAAAAAMAgAAAE9BdXRob3JQUFQsIFZlcnNpb249MC4xLjU3MjAuMCwgQ3VsdHVyZT1uZXV0cmFsLCBQdWJsaWNLZXlUb2tlbj0zMWJmMzg1NmFkMzY0ZTM1BQEAAAALSW5rTWF0dGVyVjEEAAAABVNjYWxlDUxpc3RgMStfaXRlbXMMTGlzdGAxK19zaXplD0xpc3RgMStfdmVyc2lvbgAEAAALF1NoYXJlZC5JbmtpbmcuSW5rQXRvbVtdAgAAAAgIAgAAAHP+OT8JAwAAAAEAAAATAAAABwMAAAAAAQAAAAQAAAAECUlua0F0b21WMQIAAAAJBAAAAA0DBQQAAAALUGVuU3Ryb2tlVjEEAAAACkF0dHJpYnV0ZXMFVHJhY2UJU3RhcnRUaW1lBFR5cGUEBAAED1BlbkF0dHJpYnV0ZXNWMQIAAAAKSW5rVHJhY2VWMQIAAAAQDEFjdGlvblR5cGVWMQIAAAACAAAACQUAAAAJBgAAACWCAAAAAAAABfn///8MQWN0aW9uVHlwZVYxAQAAAAd2YWx1ZV9fAAgCAAAAAAAAAAUFAAAAD1BlbkF0dHJpYnV0ZXNWMQoAAAAHX2NvbG9yQQdfY29sb3JSB19jb2xvckcHX2NvbG9yQgpGaXRUb0N1cnZlBkhlaWdodA5JZ25vcmVQcmVzc3VyZQ1Jc0hpZ2hsaWdodGVyBVNoYXBlBVdpZHRoAAAAAAAAAAAEAAICAgIBBgEBDEJydXNoU2hhcGVWMQIAAAAGAgAAAP//AAAAAAAAAAAACEAAAAX4////DEJydXNoU2hhcGVWMQEAAAAHdmFsdWVfXwAIAgAAAAEAAAAAAAAAAAAIQAUGAAAACklua1RyYWNlVjEDAAAADUxpc3RgMStfaXRlbXMMTGlzdGAxK19zaXplD0xpc3RgMStfdmVyc2lvbgQAABhTaGFyZWQuSW5raW5nLklua1BvaW50W10CAAAACAgCAAAACQkAAAAQAAAAEAAAAAcJAAAAAAEAAAAQAAAABApJbmtQb2ludFYxAgAAAAkKAAAACQsAAAAJDAAAAAkNAAAACQ4AAAAJDwAAAAkQAAAACREAAAAJEgAAAAkTAAAACRQAAAAJFQAAAAkWAAAACRcAAAAJGAAAAAkZAAAABQoAAAAKSW5rUG9pbnRWMQQAAAABWAFZDlByZXNzdXJlRmFjdG9yCVRpbWVTdGFtcAAAAAAGBgsQAgAAAFAMgZdqxLA/AAAAAAAA4D8AAAA/AAAAAAAAAAABCwAAAAoAAACgL/EkK/rCPwAAAAAAAOA/AAAAP8sAAAAAAAAAAQwAAAAKAAAAYISJESZGyD8AAAAAAADgPwAAAD/aAAAAAAAAAAENAAAACgAAAPwWXfUNb9E/AAAAAAAA4D8AAAA/2gAAAAAAAAABDgAAAAoAAABcQalrCxXUPwAAAAAAAOA/AAAAP+oAAAAAAAAAAQ8AAAAKAAAAFJZBWAZh2T8AAAAAAADgPwAAAD/qAAAAAAAAAAEQAAAACgAAAHTAjc4DB9w/AAAAAAAA4D8AAAA/+gAAAAAAAAABEQAAAAoAAACaCpNdf6ngPwAAAAAAAOA/AAAAP/oAAAAAAAAAARIAAAAKAAAA9jTf03xP4z8AAAAAAADgPwAAAD8JAQAAAAAAAAETAAAACgAAACZKBY97ouQ/AAAAAAAA4D8AAAA/CQEAAAAAAAABFAAAAAoAAACGdFEFeUjnPwAAAAAAAOA/AAAAPxkBAAAAAAAAARUAAAAKAAAAvol3wHeb6D8AAAAAAADgPwAAAD8pAQAAAAAAAAEWAAAACgAAAO6enXt27uk/AAAAAAAA4D8AAAA/OAEAAAAAAAABFwAAAAoAAAAatMM2dUHrPwAAAAAAAOA/AAAAPzgBAAAAAAAAARgAAAAKAAAASsnp8XOU7D8AAAAAAADgPwAAAD9IAQAAAAAAAAEZAAAACgAAAHreD61y5+0/AAAAAAAA4D8AAAA/1AEAAAAAAAA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17|42.7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AAEAAAD/////AQAAAAAAAAAMAgAAAE9BdXRob3JQUFQsIFZlcnNpb249MC4xLjU3MjAuMCwgQ3VsdHVyZT1uZXV0cmFsLCBQdWJsaWNLZXlUb2tlbj0zMWJmMzg1NmFkMzY0ZTM1BQEAAAALSW5rTWF0dGVyVjEEAAAABVNjYWxlDUxpc3RgMStfaXRlbXMMTGlzdGAxK19zaXplD0xpc3RgMStfdmVyc2lvbgAEAAALF1NoYXJlZC5JbmtpbmcuSW5rQXRvbVtdAgAAAAgIAgAAAP5hMD8JAwAAABEAAAAZAAAABwMAAAAAAQAAACAAAAAECUlua0F0b21WMQIAAAAJBAAAAAkFAAAACQYAAAAJBwAAAAkIAAAACQkAAAAJCgAAAAkLAAAACQwAAAAJDQAAAAkOAAAACQ8AAAAJEAAAAAkRAAAACRIAAAAJEwAAAAkUAAAADQ8FBAAAAAtQZW5TdHJva2VWMQQAAAAKQXR0cmlidXRlcwVUcmFjZQlTdGFydFRpbWUEVHlwZQQEAAQPUGVuQXR0cmlidXRlc1YxAgAAAApJbmtUcmFjZVYxAgAAABAMQWN0aW9uVHlwZVYxAgAAAAIAAAAJFQAAAAkWAAAAmj4AAAAAAAAF6f///wxBY3Rpb25UeXBlVjEBAAAAB3ZhbHVlX18ACAIAAAAAAAAAAQUAAAAEAAAACRgAAAAJGQAAAFBDAAAAAAAAAeb////p////AAAAAAEGAAAABAAAAAkbAAAACRwAAAC3RwAAAAAAAAHj////6f///wAAAAABBwAAAAQAAAAJHgAAAAkfAAAApI0AAAAAAAAB4P///+n///8AAAAAAQgAAAAEAAAACSEAAAAJIgAAAFa1AAAAAAAAAd3////p////AAAAAAEJAAAABAAAAAkkAAAACSUAAAB5EQEAAAAAAAHa////6f///wAAAAABCgAAAAQAAAAJJwAAAAkoAAAAKBsBAAAAAAAB1////+n///8AAAAAAQsAAAAEAAAACSoAAAAJKwAAAFwfAQAAAAAAAdT////p////AAAAAAEMAAAABAAAAAktAAAACS4AAAD6KgEAAAAAAAHR////6f///wAAAAABDQAAAAQAAAAJMAAAAAkxAAAAUzIBAAAAAAABzv///+n///8AAAAAAQ4AAAAEAAAACTMAAAAJNAAAAPo2AQAAAAAAAcv////p////AAAAAAEPAAAABAAAAAk2AAAACTcAAADHOgEAAAAAAAHI////6f///wAAAAABEAAAAAQAAAAJOQAAAAk6AAAAZmsBAAAAAAABxf///+n///8AAAAAAREAAAAEAAAACTwAAAAJPQAAANVtAQAAAAAAAcL////p////AAAAAAESAAAABAAAAAk/AAAACUAAAADJcgEAAAAAAAG/////6f///wAAAAABEwAAAAQAAAAJQgAAAAlDAAAAbowBAAAAAAABvP///+n///8AAAAAARQAAAAEAAAACUUAAAAJRgAAAKeUAQAAAAAAAbn////p////AAAAAAUVAAAAD1BlbkF0dHJpYnV0ZXNWMQoAAAAHX2NvbG9yQQdfY29sb3JSB19jb2xvckcHX2NvbG9yQgpGaXRUb0N1cnZlBkhlaWdodA5JZ25vcmVQcmVzc3VyZQ1Jc0hpZ2hsaWdodGVyBVNoYXBlBVdpZHRoAAAAAAAAAAAEAAICAgIBBgEBDEJydXNoU2hhcGVWMQIAAAAGAgAAAP//AAAAAAAAAAAACEAAAAW4////DEJydXNoU2hhcGVWMQEAAAAHdmFsdWVfXwAIAgAAAAEAAAAAAAAAAAAIQAUWAAAACklua1RyYWNlVjEDAAAADUxpc3RgMStfaXRlbXMMTGlzdGAxK19zaXplD0xpc3RgMStfdmVyc2lvbgQAABhTaGFyZWQuSW5raW5nLklua1BvaW50W10CAAAACAgCAAAACUkAAAAJAAAACQAAAAEYAAAAFQAAAP//AAAAAAAAAAAACEAAAAG2////uP///wEAAAAAAAAAAAAIQAEZAAAAFgAAAAlLAAAACgAAAAoAAAABGwAAABUAAAD//wAAAAAAAAAAAAhAAAABtP///7j///8BAAAAAAAAAAAACEABHAAAABYAAAAJTQAAAAMAAAADAAAAAR4AAAAVAAAA//8AAAAAAAAAAAAIQAAAAbL///+4////AQAAAAAAAAAAAAhAAR8AAAAWAAAACU8AAAAOAAAADgAAAAEhAAAAFQAAAP//AAAAAAAAAAAACEAAAAGw////uP///wEAAAAAAAAAAAAIQAEiAAAAFgAAAAlRAAAACwAAAAsAAAABJAAAABUAAAD//wAAAAAAAAAAAAhAAAABrv///7j///8BAAAAAAAAAAAACEABJQAAABYAAAAJUwAAAAEAAAABAAAAAScAAAAVAAAA//8AAAAAAAAAAAAIQAAAAaz///+4////AQAAAAAAAAAAAAhAASgAAAAWAAAACVUAAAABAAAAAQAAAAEqAAAAFQAAAP//AAAAAAAAAAAACEAAAAGq////uP///wEAAAAAAAAAAAAIQAErAAAAFgAAAAlXAAAAAQAAAAEAAAABLQAAABUAAAD//wAAAAAAAAAAAAhAAAABqP///7j///8BAAAAAAAAAAAACEABLgAAABYAAAAJWQAAAAEAAAABAAAAATAAAAAVAAAA//8AAAAAAAAAAAAIQAAAAab///+4////AQAAAAAAAAAAAAhAATEAAAAWAAAACVsAAAABAAAAAQAAAAEzAAAAFQAAAP//AAAAAAAAAAAACEAAAAGk////uP///wEAAAAAAAAAAAAIQAE0AAAAFgAAAAldAAAAAQAAAAEAAAABNgAAABUAAAD//wAAAAAAAAAAAAhAAAABov///7j///8BAAAAAAAAAAAACEABNwAAABYAAAAJXwAAAAEAAAABAAAAATkAAAAVAAAA//8AAAAAAAAAAAAIQAAAAaD///+4////AQAAAAAAAAAAAAhAAToAAAAWAAAACWEAAAABAAAAAQAAAAE8AAAAFQAAAP//AAAAAAAAAAAACEAAAAGe////uP///wEAAAAAAAAAAAAIQAE9AAAAFgAAAAljAAAAAQAAAAEAAAABPwAAABUAAAD//wAAAAAAAAAAAAhAAAABnP///7j///8BAAAAAAAAAAAACEABQAAAABYAAAAJZQAAABYAAAAWAAAAAUIAAAAVAAAA//8AAAAAAAAAAAAIQAAAAZr///+4////AQAAAAAAAAAAAAhAAUMAAAAWAAAACWcAAAAKAAAACgAAAAFFAAAAFQAAAP//AAAAAAAAAAAACEAAAAGY////uP///wEAAAAAAAAAAAAIQAFGAAAAFgAAAAlpAAAADwAAAA8AAAAHSQAAAAABAAAAEAAAAAQKSW5rUG9pbnRWMQIAAAAJagAAAAlrAAAACWwAAAAJbQAAAAluAAAACW8AAAAJcAAAAAlxAAAACXIAAAANBwdLAAAAAAEAAAAQAAAABApJbmtQb2ludFYxAgAAAAlzAAAACXQAAAAJdQAAAAl2AAAACXcAAAAJeAAAAAl5AAAACXoAAAAJewAAAAl8AAAADQYHTQAAAAABAAAABAAAAAQKSW5rUG9pbnRWMQIAAAAJfQAAAAl+AAAACX8AAAAKB08AAAAAAQAAABAAAAAECklua1BvaW50VjECAAAACYAAAAAJgQAAAAmCAAAACYMAAAAJhAAAAAmFAAAACYYAAAAJhwAAAAmIAAAACYkAAAAJigAAAAmLAAAACYwAAAAJjQAAAA0CB1EAAAAAAQAAABAAAAAECklua1BvaW50VjECAAAACY4AAAAJjwAAAAmQAAAACZEAAAAJkgAAAAmTAAAACZQAAAAJlQAAAAmWAAAACZcAAAAJmAAAAA0FB1MAAAAAAQAAAAQAAAAECklua1BvaW50VjECAAAACZkAAAANAwdVAAAAAAEAAAAEAAAABApJbmtQb2ludFYxAgAAAAmaAAAADQMHVwAAAAABAAAABAAAAAQKSW5rUG9pbnRWMQIAAAAJmwAAAA0DB1kAAAAAAQAAAAQAAAAECklua1BvaW50VjECAAAACZwAAAANAwdbAAAAAAEAAAAEAAAABApJbmtQb2ludFYxAgAAAAmdAAAADQMHXQAAAAABAAAABAAAAAQKSW5rUG9pbnRWMQIAAAAJngAAAA0DB18AAAAAAQAAAAQAAAAECklua1BvaW50VjECAAAACZ8AAAANAwdhAAAAAAEAAAAEAAAABApJbmtQb2ludFYxAgAAAAmgAAAADQMHYwAAAAABAAAABAAAAAQKSW5rUG9pbnRWMQIAAAAJoQAAAA0DB2UAAAAAAQAAACAAAAAECklua1BvaW50VjECAAAACaIAAAAJowAAAAmkAAAACaUAAAAJpgAAAAmnAAAACagAAAAJqQAAAAmqAAAACasAAAAJrAAAAAmtAAAACa4AAAAJrwAAAAmwAAAACbEAAAAJsgAAAAmzAAAACbQAAAAJtQAAAAm2AAAACbcAAAANCgdnAAAAAAEAAAAQAAAABApJbmtQb2ludFYxAgAAAAm4AAAACbkAAAAJugAAAAm7AAAACbwAAAAJvQAAAAm+AAAACb8AAAAJwAAAAAnBAAAADQYHaQAAAAABAAAAEAAAAAQKSW5rUG9pbnRWMQIAAAAJwgAAAAnDAAAACcQAAAAJxQAAAAnGAAAACccAAAAJyAAAAAnJAAAACcoAAAAJywAAAAnMAAAACc0AAAAJzgAAAAnPAAAACdAAAAAKBWoAAAAKSW5rUG9pbnRWMQQAAAABWAFZDlByZXNzdXJlRmFjdG9yCVRpbWVTdGFtcAAAAAAGBgsQAgAAAABogRZogWY/sNZaa621xj8AAAA/AAAAAAAAAAABawAAAGoAAAAgpEEapEF6P7DWWmuttcY/AAAAP2MAAAAAAAAAAWwAAABqAAAAEA7hEA7hgD+w1lprrbXGPwAAAD9zAAAAAAAAAAFtAAAAagAAABBKoRRKoYQ/sNZaa621xj8AAAA/cwAAAAAAAAABbgAAAGoAAAAgwiEcwiGMP7DWWmuttcY/AAAAP4IAAAAAAAAAAW8AAABqAAAAIP7hH/7hjz+w1lprrbXGPwAAAD+CAAAAAAAAAAFwAAAAagAAABA7sRM7sZM/sNZaa621xj8AAAA/kgAAAAAAAAABcQAAAGoAAAAYWZEVWZGVP7DWWmuttcY/AAAAP6IAAAAAAAAAAXIAAABqAAAAGHdxF3dxlz+w1lprrbXGPwAAAD+xAAAAAAAAAAFzAAAAagAAACCkQRqkQXo/mKHP0Gfo0z8AAAA/AAAAAAAAAAABdAAAAGoAAAAQSqEUSqGEP5ihz9Bn6NM/AAAAP04AAAAAAAAAAXUAAABqAAAAEIZhGIZhiD+Yoc/QZ+jTPwAAAD9OAAAAAAAAAAF2AAAAagAAACDCIRzCIYw/mKHP0Gfo0z8AAAA/XgAAAAAAAAABdwAAAGoAAAAg/uEf/uGPP5ihz9Bn6NM/AAAAP14AAAAAAAAAAXgAAABqAAAAEB3RER3RkT+Yoc/QZ+jTPwAAAD9tAAAAAAAAAAF5AAAAagAAABA7sRM7sZM/mKHP0Gfo0z8AAAA/bQAAAAAAAAABegAAAGoAAAAYWZEVWZGVP5ihz9Bn6NM/AAAAP30AAAAAAAAAAXsAAABqAAAAGHdxF3dxlz+Yoc/QZ+jTPwAAAD+MAAAAAAAAAAF8AAAAagAAABiVURmVUZk/mKHP0Gfo0z8AAAA/rAAAAAAAAAABfQAAAGoAAAAQhmEYhmGIP9hN7iZ3k9s/AAAAPwAAAAAAAAAAAX4AAABqAAAAIMIhHMIhjD/YTe4md5PbPwAAAD9tAAAAAAAAAAF/AAAAagAAACD+4R/+4Y8/2E3uJneT2z8AAAA/fQAAAAAAAAABgAAAAGoAAAAAD/AAD/DQP6AKT4WnwsM/AAAAPwAAAAAAAAAAAYEAAABqAAAA4BAO4RAO0T+gCk+Fp8LDPwAAAD/LAAAAAAAAAAGCAAAAagAAAMISLMESLNE/oApPhafCwz8AAAA/2wAAAAAAAAABgwAAAGoAAACgFEqhFErRP6AKT4WnwsM/AAAAP+oAAAAAAAAAAYQAAABqAAAAghZogRZo0T+gCk+Fp8LDPwAAAD/6AAAAAAAAAAGFAAAAagAAAGIYhmEYhtE/oApPhafCwz8AAAA/GQEAAAAAAAABhgAAAGoAAABCGqRBGqTRP6AKT4WnwsM/AAAAPxkBAAAAAAAAAYcAAABqAAAAIhzCIRzC0T+gCk+Fp8LDPwAAAD8pAQAAAAAAAAGIAAAAagAAAAIe4AEe4NE/oApPhafCwz8AAAA/OQEAAAAAAAABiQAAAGoAAADiH/7hH/7RP6AKT4WnwsM/AAAAP0gBAAAAAAAAAYoAAABqAAAAwiEcwiEc0j+gCk+Fp8LDPwAAAD9YAQAAAAAAAAGLAAAAagAAAKIjOqIjOtI/oApPhafCwz8AAAA/hgEAAAAAAAABjAAAAGoAAACCJViCJVjSP6AKT4WnwsM/AAAAP5UBAAAAAAAAAY0AAABqAAAAYid2Yid20j+gCk+Fp8LDPwAAAD+1AQAAAAAAAAGOAAAAagAAAAAP8AAP8NA/mEXNomZR0z8AAAA/AAAAAAAAAAABjwAAAGoAAADgEA7hEA7RP5hFzaJmUdM/AAAAP+kAAAAAAAAAAZAAAABqAAAAwhIswRIs0T+YRc2iZlHTPwAAAD/4AAAAAAAAAAGRAAAAagAAAIIWaIEWaNE/mEXNomZR0z8AAAA/+AAAAAAAAAABkgAAAGoAAABCGqRBGqTRP5hFzaJmUdM/AAAAPwgBAAAAAAAAAZMAAABqAAAAIhzCIRzC0T+YRc2iZlHTPwAAAD8nAQAAAAAAAAGUAAAAagAAAAIe4AEe4NE/mEXNomZR0z8AAAA/NwEAAAAAAAABlQAAAGoAAADiH/7hH/7RP5hFzaJmUdM/AAAAP1YBAAAAAAAAAZYAAABqAAAAwiEcwiEc0j+YRc2iZlHTPwAAAD+0AQAAAAAAAAGXAAAAagAAAKIjOqIjOtI/mEXNomZR0z8AAAA/0wEAAAAAAAABmAAAAGoAAACCJViCJVjSP5hFzaJmUdM/AAAAPyECAAAAAAAAAZkAAABqAAAAi7u4i7u44z+QUkoppZTCPwAAAD8AAAAAAAAAAAGaAAAAagAAALu4i7u4i+M/kOnKdGW60j8AAAA/AAAAAAAAAAABmwAAAGoAAADrtV7rtV7jP+B777333ts/AAAAPwAAAAAAAAAAAZwAAABqAAAA3LZt27Zt4z8UNYuaRc3iPwAAAD8AAAAAAAAAAAGdAAAAagAAAFuv9Vqv9eI/NLmb3E3u5j8AAAA/AAAAAAAAAAABngAAAGoAAAAcszEbszHjP1gCLgGXgOs/AAAAPwAAAAAAAAAAAZ8AAABqAAAA+7RP+7RP4z98Hb+OX8fvPwAAAD8AAAAAAAAAAAGgAAAAagAAAOh5nud5nu8/AEBxoDhQfD8AAAA/AAAAAAAAAAABoQAAAGoAAADGe7zHe7zvP4DiQHGgOMA/AAAAPwAAAAAAAAAAAaIAAABqAAAAqH3ap33a7z8Q2YhsRDbiPwAAAD8AAAAAAAAAAAGjAAAAagAAALh8y7d8y+8/ENmIbEQ24j8AAAA/mgEAAAAAAAABpAAAAGoAAADGe7zHe7zvPxDZiGxENuI/AAAAP6oBAAAAAAAAAaUAAABqAAAA1nqt13qt7z8Q2YhsRDbiPwAAAD+qAQAAAAAAAAGmAAAAagAAAOh5nud5nu8/ENmIbEQ24j8AAAA/uQEAAAAAAAABpwAAAGoAAAD4eI/3eI/vPxDZiGxENuI/AAAAP7kBAAAAAAAAAagAAABqAAAACHiAB3iA7z8Q2YhsRDbiPwAAAD/JAQAAAAAAAAGpAAAAagAAABh3cRd3ce8/EHAJuARc4j8AAAA/yQEAAAAAAAABqgAAAGoAAAAodmIndmLvPxBwCbgEXOI/AAAAP9kBAAAAAAAAAasAAABqAAAANnVTN3VT7z8QcAm4BFziPwAAAD/ZAQAAAAAAAAGsAAAAagAAADZ1Uzd1U+8/FAeKA8WB4j8AAAA/+AEAAAAAAAABrQAAAGoAAABGdERHdETvPxQHigPFgeI/AAAAP/gBAAAAAAAAAa4AAABqAAAANnVTN3VT7z8UB4oDxYHiPwAAAD/RAgAAAAAAAAGvAAAAagAAACh2Yid2Yu8/FAeKA8WB4j8AAAA/8AIAAAAAAAABsAAAAGoAAAAYd3EXd3HvPxQHigPFgeI/AAAAP/ACAAAAAAAAAbEAAABqAAAACHiAB3iA7z8UB4oDxYHiPwAAAD8AAwAAAAAAAAGyAAAAagAAAPh4j/d4j+8/FAeKA8WB4j8AAAA/AAMAAAAAAAABswAAAGoAAADoeZ7neZ7vPxQHigPFgeI/AAAAPxADAAAAAAAAAbQAAABqAAAA1nqt13qt7z8UB4oDxYHiPwAAAD8QAwAAAAAAAAG1AAAAagAAAMZ7vMd7vO8/FAeKA8WB4j8AAAA/HwMAAAAAAAABtgAAAGoAAAC4fMu3fMvvPxQHigPFgeI/AAAAPy8DAAAAAAAAAbcAAABqAAAAqH3ap33a7z8UB4oDxYHiPwAAAD8+AwAAAAAAAAG4AAAAagAAADZ1Uzd1U+8/WNQsahY16z8AAAA/AAAAAAAAAAABuQAAAGoAAAAodmIndmLvP1jULGoWNes/AAAAP8sAAAAAAAAAAboAAABqAAAACHiAB3iA7z9Y1CxqFjXrPwAAAD/bAAAAAAAAAAG7AAAAagAAAPh4j/d4j+8/WNQsahY16z8AAAA/6gAAAAAAAAABvAAAAGoAAADoeZ7neZ7vP1jULGoWNes/AAAAP+oAAAAAAAAAAb0AAABqAAAA1nqt13qt7z9Y1CxqFjXrPwAAAD/6AAAAAAAAAAG+AAAAagAAAMZ7vMd7vO8/WNQsahY16z8AAAA/GQEAAAAAAAABvwAAAGoAAAC4fMu3fMvvP1jULGoWNes/AAAAP/gBAAAAAAAAAcAAAABqAAAAqH3ap33a7z9Y1CxqFjXrPwAAAD8YAgAAAAAAAAHBAAAAagAAAJh+6Zd+6e8/WNQsahY16z8AAAA/ZgIAAAAAAAABwgAAAGoAAACWb/mWb/nuP3wdv45fx+8/AAAAPwAAAAAAAAAAAcMAAABqAAAAiHAIh3AI7z98Hb+OX8fvPwAAAD/LAAAAAAAAAAHEAAAAagAAAHhxF3dxF+8/fB2/jl/H7z8AAAA/2wAAAAAAAAABxQAAAGoAAABociZncibvP3wdv45fx+8/AAAAP+sAAAAAAAAAAcYAAABqAAAAVnM1V3M17z98Hb+OX8fvPwAAAD/6AAAAAAAAAAHHAAAAagAAAEZ0REd0RO8/fB2/jl/H7z8AAAA/+gAAAAAAAAAByAAAAGoAAAA2dVM3dVPvP3wdv45fx+8/AAAAPxkBAAAAAAAAAckAAABqAAAAKHZiJ3Zi7z98Hb+OX8fvPwAAAD8pAQAAAAAAAAHKAAAAagAAABh3cRd3ce8/fB2/jl/H7z8AAAA/OQEAAAAAAAABywAAAGoAAAAIeIAHeIDvP3wdv45fx+8/AAAAP4cBAAAAAAAAAcwAAABqAAAA+HiP93iP7z98Hb+OX8fvPwAAAD+2AQAAAAAAAAHNAAAAagAAAOh5nud5nu8/fB2/jl/H7z8AAAA/xQEAAAAAAAABzgAAAGoAAADWeq3Xeq3vP3wdv45fx+8/AAAAP8UBAAAAAAAAAc8AAABqAAAAxnu8x3u87z98Hb+OX8fvPwAAAD/lAQAAAAAAAAHQAAAAagAAALh8y7d8y+8/fB2/jl/H7z8AAAA/9AEAAAAAAA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31|15.223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24217</TotalTime>
  <Words>1883</Words>
  <Application>Microsoft Macintosh PowerPoint</Application>
  <PresentationFormat>On-screen Show (4:3)</PresentationFormat>
  <Paragraphs>261</Paragraphs>
  <Slides>19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 Unicode MS</vt:lpstr>
      <vt:lpstr>Arial</vt:lpstr>
      <vt:lpstr>Calibri</vt:lpstr>
      <vt:lpstr>Comic Sans MS</vt:lpstr>
      <vt:lpstr>Courier</vt:lpstr>
      <vt:lpstr>Courier New</vt:lpstr>
      <vt:lpstr>Times New Roman</vt:lpstr>
      <vt:lpstr>Verdana</vt:lpstr>
      <vt:lpstr>Wingdings</vt:lpstr>
      <vt:lpstr>Personalizar design</vt:lpstr>
      <vt:lpstr>Equation</vt:lpstr>
      <vt:lpstr>Visio.Drawing.6</vt:lpstr>
      <vt:lpstr>PowerPoint Presentation</vt:lpstr>
      <vt:lpstr>Donald Knuth</vt:lpstr>
      <vt:lpstr>Arquiteturas de Máquinas Virtuais</vt:lpstr>
      <vt:lpstr>Compilação JIT x AOT</vt:lpstr>
      <vt:lpstr>Motivação</vt:lpstr>
      <vt:lpstr>Subrotinas, Funções, Procedimentos</vt:lpstr>
      <vt:lpstr>Razão das sub-rotinas</vt:lpstr>
      <vt:lpstr>Funcionamento de Subrotinas</vt:lpstr>
      <vt:lpstr>Chamada de sub rotinas</vt:lpstr>
      <vt:lpstr>Mantendo estado das subrotinas</vt:lpstr>
      <vt:lpstr>Espaço de Memória para Sub-rotinas</vt:lpstr>
      <vt:lpstr>Construção de sub-rotinas</vt:lpstr>
      <vt:lpstr>Estrutura de Programas em Alto-Nível</vt:lpstr>
      <vt:lpstr>Funcionamento das chamadas VM</vt:lpstr>
      <vt:lpstr>Funcionamento da Pilha de Execução</vt:lpstr>
      <vt:lpstr>Observações</vt:lpstr>
      <vt:lpstr>Bootstrap</vt:lpstr>
      <vt:lpstr>Boot no PC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creator>Luciano Pereira Soares</dc:creator>
  <cp:lastModifiedBy>Luciano Pereira Soares</cp:lastModifiedBy>
  <cp:revision>702</cp:revision>
  <cp:lastPrinted>2015-05-25T01:17:28Z</cp:lastPrinted>
  <dcterms:created xsi:type="dcterms:W3CDTF">2014-04-17T20:05:08Z</dcterms:created>
  <dcterms:modified xsi:type="dcterms:W3CDTF">2026-10-27T02:49:52Z</dcterms:modified>
</cp:coreProperties>
</file>