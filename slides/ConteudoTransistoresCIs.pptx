
<file path=[Content_Types].xml><?xml version="1.0" encoding="utf-8"?>
<Types xmlns="http://schemas.openxmlformats.org/package/2006/content-types">
  <Default Extension="fna&amp;_nc_gid=XIPHPVDCimhY1qFAo-eB-Q&amp;_nc_ss=7b2a8&amp;oh=00_AQFM3D6haVKDsgstXSyAknDoeyLCxmPdt9AvkKH6wztrRA&amp;oe=6A92BD88" ContentType="image/jpeg"/>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media/image19.jpg" ContentType="image/jpg"/>
  <Override PartName="/ppt/media/image22.jpg" ContentType="image/jpg"/>
  <Override PartName="/ppt/media/image23.jpg" ContentType="image/jpg"/>
  <Override PartName="/ppt/media/image25.jpg" ContentType="image/jpg"/>
  <Override PartName="/ppt/media/image29.jpg" ContentType="image/jpg"/>
  <Override PartName="/ppt/media/image32.jpg" ContentType="image/jpg"/>
  <Override PartName="/ppt/media/image36.jpg" ContentType="image/jpg"/>
  <Override PartName="/ppt/media/image38.jpg" ContentType="image/jpg"/>
  <Override PartName="/ppt/media/image39.jpg" ContentType="image/jpg"/>
  <Override PartName="/ppt/media/image40.jpg" ContentType="image/jpg"/>
  <Override PartName="/ppt/media/image42.jpg" ContentType="image/jpg"/>
  <Override PartName="/ppt/media/image45.jpg" ContentType="image/jpg"/>
  <Override PartName="/ppt/media/image46.jpg" ContentType="image/jpg"/>
  <Override PartName="/ppt/media/image47.jpg" ContentType="image/jpg"/>
  <Override PartName="/ppt/media/image48.jpg" ContentType="image/jpg"/>
  <Override PartName="/ppt/media/image49.jpg" ContentType="image/jpg"/>
  <Override PartName="/ppt/media/image51.jpg" ContentType="image/jpg"/>
  <Override PartName="/ppt/media/image52.jpg" ContentType="image/jpg"/>
  <Override PartName="/ppt/media/image53.jpg" ContentType="image/jpg"/>
  <Override PartName="/ppt/media/image54.jpg" ContentType="image/jpg"/>
  <Override PartName="/ppt/media/image57.jpg" ContentType="image/jpg"/>
  <Override PartName="/ppt/media/image59.jpg" ContentType="image/jpg"/>
  <Override PartName="/ppt/media/image60.jpg" ContentType="image/jpg"/>
  <Override PartName="/ppt/media/image61.jpg" ContentType="image/jpg"/>
  <Override PartName="/ppt/media/image62.jpg" ContentType="image/jpg"/>
  <Override PartName="/ppt/media/image63.jpg" ContentType="image/jpg"/>
  <Override PartName="/ppt/media/image64.jpg" ContentType="image/jpg"/>
  <Override PartName="/ppt/media/image65.jpg" ContentType="image/jpg"/>
  <Override PartName="/ppt/media/image66.jpg" ContentType="image/jpg"/>
  <Override PartName="/ppt/media/image67.jpg" ContentType="image/jpg"/>
  <Override PartName="/ppt/media/image68.jpg" ContentType="image/jpg"/>
  <Override PartName="/ppt/media/image69.jpg" ContentType="image/jpg"/>
  <Override PartName="/ppt/media/image77.jpg" ContentType="image/jpg"/>
  <Override PartName="/ppt/media/image78.jpg" ContentType="image/jpg"/>
  <Override PartName="/ppt/media/image79.jpg" ContentType="image/jpg"/>
  <Override PartName="/ppt/media/image80.jpg" ContentType="image/jp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88.jpg" ContentType="image/jpg"/>
  <Override PartName="/ppt/media/image90.jpg" ContentType="image/jpg"/>
  <Override PartName="/ppt/media/image92.jpg" ContentType="image/jp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ink/inkAction1.xml" ContentType="application/vnd.ms-office.inkAction+xml"/>
  <Override PartName="/ppt/tags/tag4.xml" ContentType="application/vnd.openxmlformats-officedocument.presentationml.tags+xml"/>
  <Override PartName="/ppt/notesSlides/notesSlide23.xml" ContentType="application/vnd.openxmlformats-officedocument.presentationml.notesSlide+xml"/>
  <Override PartName="/ppt/tags/tag5.xml" ContentType="application/vnd.openxmlformats-officedocument.presentationml.tags+xml"/>
  <Override PartName="/ppt/notesSlides/notesSlide24.xml" ContentType="application/vnd.openxmlformats-officedocument.presentationml.notesSlide+xml"/>
  <Override PartName="/ppt/tags/tag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7.xml" ContentType="application/vnd.openxmlformats-officedocument.presentationml.tags+xml"/>
  <Override PartName="/ppt/notesSlides/notesSlide27.xml" ContentType="application/vnd.openxmlformats-officedocument.presentationml.notesSlide+xml"/>
  <Override PartName="/ppt/tags/tag8.xml" ContentType="application/vnd.openxmlformats-officedocument.presentationml.tags+xml"/>
  <Override PartName="/ppt/notesSlides/notesSlide28.xml" ContentType="application/vnd.openxmlformats-officedocument.presentationml.notesSlide+xml"/>
  <Override PartName="/ppt/tags/tag9.xml" ContentType="application/vnd.openxmlformats-officedocument.presentationml.tags+xml"/>
  <Override PartName="/ppt/notesSlides/notesSlide29.xml" ContentType="application/vnd.openxmlformats-officedocument.presentationml.notesSlide+xml"/>
  <Override PartName="/ppt/tags/tag10.xml" ContentType="application/vnd.openxmlformats-officedocument.presentationml.tags+xml"/>
  <Override PartName="/ppt/notesSlides/notesSlide30.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31.xml" ContentType="application/vnd.openxmlformats-officedocument.presentationml.notesSlide+xml"/>
  <Override PartName="/ppt/ink/inkAction2.xml" ContentType="application/vnd.ms-office.inkAction+xml"/>
  <Override PartName="/ppt/tags/tag13.xml" ContentType="application/vnd.openxmlformats-officedocument.presentationml.tags+xml"/>
  <Override PartName="/ppt/ink/inkAction3.xml" ContentType="application/vnd.ms-office.inkAction+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4.xml" ContentType="application/vnd.openxmlformats-officedocument.presentationml.tags+xml"/>
  <Override PartName="/ppt/notesSlides/notesSlide35.xml" ContentType="application/vnd.openxmlformats-officedocument.presentationml.notesSlide+xml"/>
  <Override PartName="/ppt/ink/inkAction4.xml" ContentType="application/vnd.ms-office.inkAction+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5.xml" ContentType="application/vnd.openxmlformats-officedocument.presentationml.tags+xml"/>
  <Override PartName="/ppt/notesSlides/notesSlide39.xml" ContentType="application/vnd.openxmlformats-officedocument.presentationml.notesSlide+xml"/>
  <Override PartName="/ppt/tags/tag16.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84"/>
  </p:notesMasterIdLst>
  <p:handoutMasterIdLst>
    <p:handoutMasterId r:id="rId85"/>
  </p:handoutMasterIdLst>
  <p:sldIdLst>
    <p:sldId id="269" r:id="rId2"/>
    <p:sldId id="422" r:id="rId3"/>
    <p:sldId id="423" r:id="rId4"/>
    <p:sldId id="424" r:id="rId5"/>
    <p:sldId id="259" r:id="rId6"/>
    <p:sldId id="260" r:id="rId7"/>
    <p:sldId id="261" r:id="rId8"/>
    <p:sldId id="554" r:id="rId9"/>
    <p:sldId id="263" r:id="rId10"/>
    <p:sldId id="264" r:id="rId11"/>
    <p:sldId id="265" r:id="rId12"/>
    <p:sldId id="266" r:id="rId13"/>
    <p:sldId id="267" r:id="rId14"/>
    <p:sldId id="268" r:id="rId15"/>
    <p:sldId id="555"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431" r:id="rId30"/>
    <p:sldId id="421" r:id="rId31"/>
    <p:sldId id="444" r:id="rId32"/>
    <p:sldId id="435" r:id="rId33"/>
    <p:sldId id="284" r:id="rId34"/>
    <p:sldId id="285" r:id="rId35"/>
    <p:sldId id="556" r:id="rId36"/>
    <p:sldId id="286" r:id="rId37"/>
    <p:sldId id="287" r:id="rId38"/>
    <p:sldId id="443" r:id="rId39"/>
    <p:sldId id="440" r:id="rId40"/>
    <p:sldId id="426" r:id="rId41"/>
    <p:sldId id="446" r:id="rId42"/>
    <p:sldId id="447" r:id="rId43"/>
    <p:sldId id="436" r:id="rId44"/>
    <p:sldId id="427" r:id="rId45"/>
    <p:sldId id="428" r:id="rId46"/>
    <p:sldId id="434" r:id="rId47"/>
    <p:sldId id="429" r:id="rId48"/>
    <p:sldId id="430" r:id="rId49"/>
    <p:sldId id="432" r:id="rId50"/>
    <p:sldId id="376" r:id="rId51"/>
    <p:sldId id="375" r:id="rId52"/>
    <p:sldId id="438" r:id="rId53"/>
    <p:sldId id="379" r:id="rId54"/>
    <p:sldId id="380" r:id="rId55"/>
    <p:sldId id="439" r:id="rId56"/>
    <p:sldId id="389" r:id="rId57"/>
    <p:sldId id="442" r:id="rId58"/>
    <p:sldId id="471" r:id="rId59"/>
    <p:sldId id="514" r:id="rId60"/>
    <p:sldId id="473" r:id="rId61"/>
    <p:sldId id="537" r:id="rId62"/>
    <p:sldId id="538" r:id="rId63"/>
    <p:sldId id="540" r:id="rId64"/>
    <p:sldId id="541" r:id="rId65"/>
    <p:sldId id="425" r:id="rId66"/>
    <p:sldId id="549" r:id="rId67"/>
    <p:sldId id="516" r:id="rId68"/>
    <p:sldId id="533" r:id="rId69"/>
    <p:sldId id="456" r:id="rId70"/>
    <p:sldId id="462" r:id="rId71"/>
    <p:sldId id="457" r:id="rId72"/>
    <p:sldId id="461" r:id="rId73"/>
    <p:sldId id="460" r:id="rId74"/>
    <p:sldId id="459" r:id="rId75"/>
    <p:sldId id="551" r:id="rId76"/>
    <p:sldId id="453" r:id="rId77"/>
    <p:sldId id="452" r:id="rId78"/>
    <p:sldId id="455" r:id="rId79"/>
    <p:sldId id="530" r:id="rId80"/>
    <p:sldId id="553" r:id="rId81"/>
    <p:sldId id="531" r:id="rId82"/>
    <p:sldId id="262" r:id="rId8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54"/>
    <p:restoredTop sz="82988" autoAdjust="0"/>
  </p:normalViewPr>
  <p:slideViewPr>
    <p:cSldViewPr snapToGrid="0" snapToObjects="1" showGuides="1">
      <p:cViewPr varScale="1">
        <p:scale>
          <a:sx n="99" d="100"/>
          <a:sy n="99" d="100"/>
        </p:scale>
        <p:origin x="2312" y="176"/>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8/24/26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units="cm"/>
          <inkml:channel name="Y" type="integer" units="cm"/>
          <inkml:channel name="T" type="integer" max="2.14748E9" units="dev"/>
        </inkml:traceFormat>
        <inkml:channelProperties>
          <inkml:channelProperty channel="X" name="resolution" value="0.28222" units="1/cm"/>
          <inkml:channelProperty channel="Y" name="resolution" value="0.28222" units="1/cm"/>
          <inkml:channelProperty channel="T" name="resolution" value="1" units="1/dev"/>
        </inkml:channelProperties>
      </inkml:inkSource>
      <inkml:timestamp xml:id="ts0" timeString="2017-01-27T13:26:33.008Z"/>
    </inkml:context>
    <inkml:brush xml:id="br0">
      <inkml:brushProperty name="width" value="0.07288" units="cm"/>
      <inkml:brushProperty name="height" value="0.07288" units="cm"/>
      <inkml:brushProperty name="color" value="#FF0000"/>
    </inkml:brush>
    <inkml:brush xml:id="brinv">
      <inkml:brushProperty name="width" value="0.05" units="cm"/>
      <inkml:brushProperty name="height" value="0.05" units="cm"/>
      <inkml:brushProperty name="color" value="#000000"/>
      <inkml:brushProperty name="transparency" value="255"/>
    </inkml:brush>
  </inkml:definitions>
  <iact:action type="add" startTime="37998">
    <iact:property name="dataType"/>
    <iact:actionData xml:id="d0">
      <inkml:trace xmlns:inkml="http://www.w3.org/2003/InkML" xml:id="stk0" contextRef="#ctx0" brushRef="#br0">8 573 0,'3'0'0,"5"0"235,3 0 -235,-5 0 15,2 0 -15,3 0 16,0 0 -16,0 -3 15,-3 1 -15,1 2 16,2 -3 0,-6 3 -16,3 -3 0,1 3 15,-7 0 -15,7 0 16,-7 0 0,7 0 -16,-1 0 15,-5 0 -15,2 0 0,1 -3 16,-1 3 -16,1 0 15,-3 -2 1,2 2 -16,-2 0 0,2 0 16,1 0 -16,-3 0 15,2 0 1,-2 0 -16,2 0 3,1 0 -3,-1 0 15,1 0 -15,-6 -3 16,5 3 -16,1 0 15,-3 0 -15,2 -3 16,-2 3 -16,2 -3 16,-2 3 -16,0 0 15,2 0 -15,-2 0 16,3 0 -16,-4 0 16,1 0 -16,0 0 15,3 0 -15,-4 0 16,1 0 -1,0 0 1,0 0 -16,-1 0 63,-4 0 280,2 3 -281</inkml:trace>
    </iact:actionData>
  </iact:action>
  <iact:action type="add" startTime="61221">
    <iact:property name="dataType"/>
    <iact:actionData xml:id="d1">
      <inkml:trace xmlns:inkml="http://www.w3.org/2003/InkML" xml:id="stk1" contextRef="#ctx0" brushRef="#br0">2576 413 0,'2'0'0,"4"0"266,-3 0 -266,2 0 15,1 0 1,2 0 -16,0 0 15,-2 0 -15,-1 0 16,1 0 -16,-4 0 16,4 0 -16,-6 -2 15,3 2 -15,-1 0 16,1 0 -16,0 0 36,-3 -3 -36,3 3 15,-1 -3 17,7 3 -32,-6 0 15,5 0 -15,0 0 16,-5 -3 -16,2 3 16,-2 0 -16,0 0 15,0 0 -15,-1 -3 31,1 3 -31,0 0 94,-3 -2 -63,3 2 -15,-1 0 0,1 0 15,0 0 0,0 0 -15,-1 0 15,1 0 -15,0 0 -1,0 0 1,-1 0 0,-2 -3 -16,3 3 15,0 0 16,-3 -3 -16</inkml:trace>
    </iact:actionData>
  </iact:action>
  <iact:action type="add" startTime="64230">
    <iact:property name="dataType"/>
    <iact:actionData xml:id="d2">
      <inkml:trace xmlns:inkml="http://www.w3.org/2003/InkML" xml:id="stk2" contextRef="#ctx0" brushRef="#br0">3391 8 0,'0'11'203,"0"-2"-203,0 2 15,0 -3 -15,0 -3 16,0 6 -16,0 0 16,0 0 -16,0 3 15,0 0 -15,0 -3 16,0 3 -16,0 -3 15,0 0 -15,0 3 16,0 -9 -16,3 6 16,-3 -3 -16,2 -2 15,-2 -1 -15,3 4 16,-3 -7 -16,0 4 16,3 -3 -16,-3 2 15,3 1 -15,-3 -4 16,0 4 -16,0 -1 15,3 1 1,-3 2 -16,0 -2 0,2 5 16,-2 0 -1,3 0 -15,-3 3 16,0 -1 -16,0 1 16,0 0 -16,3 -3 15,-3 3 -15,0 2 15,0 -7 -15,0 2 15,0 0 -15,0 -3 16,0 -3 -16,0 4 16,0 -7 -1,0 7 -15,0 -4 0,0 -2 16,0 2 0,0 1 -16,0 -1 15,0 1 -15,0 -1 16,0 1 -16,0 -1 15,0 4 -15,0 -1 16,0 -3 -16,0 4 16,0 -1 -16,0 -2 15,0 5 -15,0 -3 16,0 -3 -16,0 1 16,0 2 -16,0 -2 15,0 -1 -15,0 1 16,0 -1 -16,0 1 15,0 -4 -15,0 4 16,0 -3 -16,0 2 16,0 -2 -16,0 2 15,0 1 -15,0 -3 16,0 2 -16,0 -2 16,0 2 -1,0 1 -15,0 0 16,0 -4 -16,0 1 15,0 0 1,0 0 47,0 -1 -17</inkml:trace>
    </iact:actionData>
  </iact:action>
  <iact:action type="add" startTime="64231">
    <iact:property name="dataType"/>
    <iact:actionData xml:id="d3">
      <inkml:trace xmlns:inkml="http://www.w3.org/2003/InkML" xml:id="stk3" contextRef="#ctx0" brushRef="#brinv">0 0 0</inkml:trace>
    </iact:actionData>
  </iact:action>
  <iact:action type="add" startTime="64232">
    <iact:property name="dataType"/>
    <iact:actionData xml:id="d4">
      <inkml:trace xmlns:inkml="http://www.w3.org/2003/InkML" xml:id="stk4" contextRef="#ctx0" brushRef="#brinv">3424 703 0</inkml:trace>
    </iact:actionData>
  </iact:action>
</iact:actions>
</file>

<file path=ppt/ink/inkAction2.xml><?xml version="1.0" encoding="utf-8"?>
<iact:actions xmlns:iact="http://schemas.microsoft.com/office/powerpoint/2014/inkAction" lengthUnit="cm" timeUnit="ms">
  <inkml:definitions xmlns:inkml="http://www.w3.org/2003/InkML">
    <inkml:context xml:id="ctx0">
      <inkml:inkSource xml:id="inkSrc0">
        <inkml:traceFormat>
          <inkml:channel name="X" type="integer" units="cm"/>
          <inkml:channel name="Y" type="integer" units="cm"/>
          <inkml:channel name="T" type="integer" max="2.14748E9" units="dev"/>
        </inkml:traceFormat>
        <inkml:channelProperties>
          <inkml:channelProperty channel="X" name="resolution" value="0.28222" units="1/cm"/>
          <inkml:channelProperty channel="Y" name="resolution" value="0.28222" units="1/cm"/>
          <inkml:channelProperty channel="T" name="resolution" value="1" units="1/dev"/>
        </inkml:channelProperties>
      </inkml:inkSource>
      <inkml:timestamp xml:id="ts0" timeString="2017-02-06T19:54:47.143Z"/>
    </inkml:context>
    <inkml:brush xml:id="br0">
      <inkml:brushProperty name="width" value="0.07292" units="cm"/>
      <inkml:brushProperty name="height" value="0.07292" units="cm"/>
      <inkml:brushProperty name="color" value="#FF0000"/>
    </inkml:brush>
    <inkml:brush xml:id="brinv">
      <inkml:brushProperty name="width" value="0.05" units="cm"/>
      <inkml:brushProperty name="height" value="0.05" units="cm"/>
      <inkml:brushProperty name="color" value="#000000"/>
      <inkml:brushProperty name="transparency" value="255"/>
    </inkml:brush>
  </inkml:definitions>
  <iact:action type="add" startTime="11165">
    <iact:property name="dataType"/>
    <iact:actionData xml:id="d0">
      <inkml:trace xmlns:inkml="http://www.w3.org/2003/InkML" xml:id="stk0" contextRef="#ctx0" brushRef="#br0">1917 391 0,'6'0'234,"5"0"-218,-3 0 0,-2 0 -16,2 0 0,0 0 15,-2 0 -15,-1 0 16,1 0 -16,-4 0 16,1 0 -1,0 0 1,0 0 -1,-1 0 17,1 0 -2,0 0 -14,0 0 77,-1 0 -46</inkml:trace>
    </iact:actionData>
  </iact:action>
  <iact:action type="add" startTime="12807">
    <iact:property name="dataType"/>
    <iact:actionData xml:id="d1">
      <inkml:trace xmlns:inkml="http://www.w3.org/2003/InkML" xml:id="stk1" contextRef="#ctx0" brushRef="#br0">1901 772 0,'5'0'218,"3"0"-218,1 0 16,-1 0 -16,3 0 16,-8 0 -16,5 0 0,0 0 15,-5 0 -15,3 2 16,-4 -2 0,-2 3 -1,3 -3 -15,0 0 0,0 0 20,-1 0 27,1 0 -15,0 0 -32,0 0 0,-1 0 15,4 0 -15,-3 0 16,2 0 -1,-2 0 -15,0 0 16,-1 0 -16,1 0 16,0 0 31,-3 3 15,0 0 -31,0 -1 -15</inkml:trace>
    </iact:actionData>
  </iact:action>
  <iact:action type="add" startTime="14735">
    <iact:property name="dataType"/>
    <iact:actionData xml:id="d2">
      <inkml:trace xmlns:inkml="http://www.w3.org/2003/InkML" xml:id="stk2" contextRef="#ctx0" brushRef="#br0">2587 1223 0,'5'0'219,"1"0"-203,2 0 -16,3 0 15,-8 0 1,5 0 -16,0 0 0,-2 0 15,2 0 -15,-3 0 16,1 0 0,0 0 -16,-4 0 0,4 0 15,-3 0 1,2 0 -16,1 0 16,-4 0 -16,4 0 15,-3 0 -15,2 0 16,1 0 -16,-4 -2 15,4 2 -15,-1 0 16,1 -3 -16,-1 3 16,-2 0 -16,3 -3 15,-4 3 1,1 0 -16,0 0 16,0 0 14</inkml:trace>
    </iact:actionData>
  </iact:action>
  <iact:action type="add" startTime="18478">
    <iact:property name="dataType"/>
    <iact:actionData xml:id="d3">
      <inkml:trace xmlns:inkml="http://www.w3.org/2003/InkML" xml:id="stk3" contextRef="#ctx0" brushRef="#br0">3476 601 0,'9'0'187,"-4"0"-187,6 0 16,0 0 -16,0 0 15,0 0 1,-2 0 -16,-1 0 16,3 0 -16,-6 0 15,1 0 -15,2 0 16,-2 0 -16,-1 0 15,-2 0 -15,0 0 16,-1 0 -16,1 0 16,0 0 -1,0 0 -15,2 0 16,-2 0 0,0 0 -16,2 0 15,-2 -3 -15,0 3 16,-1 0 -1,1 0 1,-3 -3 -11,3 3 26,0 0 -31,-1 0 31,1 0 -31,0 0 16,0 0 -1,-1 0 17</inkml:trace>
    </iact:actionData>
  </iact:action>
  <iact:action type="add" startTime="39061">
    <iact:property name="dataType"/>
    <iact:actionData xml:id="d4">
      <inkml:trace xmlns:inkml="http://www.w3.org/2003/InkML" xml:id="stk4" contextRef="#ctx0" brushRef="#br0">8 1347 0,'6'0'203,"2"0"-203,-2 0 0,2 0 15,3 0 1,0 0 -16,-3 0 16,9 0 -16,-12 0 15,9 0 -15,-3 0 16,3 0 -16,2 0 16,-10 0 -16,5 0 15,0 0 -15,0 0 16,-3 0 -16,0 0 15,3 0 -15,-2 0 6,-4 -2 -6,3 2 16,-2 0 -16,2 0 15,0 0 1,-2 0 -16,2 0 0,0 -3 16,-2 3 -16,2 -3 15,-5 3 1,5 0 -16,1 -3 0,-4 3 15,1 0 -15,-1 0 16,3 0 -16,1 0 16,-4 0 -16,3 0 15,3 0 -15,-5 0 16,5 -2 -16,-3 2 16,3 0 -1,-5 0 -15,5 0 0,-3 0 16,-3 0 -16,7 0 15,-4 0 1,3 0 -16,-6 0 16,4 0 -16,-1 0 15,-3 0 -15,4 0 16,-7 0 -16,4 0 16,-1 0 -16,-2 0 15,5 0 -15,-5 0 16,3 0 -16,2 0 15,-3 0 1,4 0 -16,-4 0 0,3 0 16,1 0 -16,-7 0 15,7 0 -15,-6 0 16,5 0 -16,-3 0 16,-2 0 -16,5 0 15,-5 0 -15,5 0 16,-2 0 -16,-1 0 15,1 0 -15,2 0 16,-2 0 0,2 0 -16,-3 0 14,4 0 -14,-1 0 16,0 0 -16,0 0 16,3 0 -16,-2 0 15,-1 0 -15,0 0 16,3 0 -16,0 0 15,-5 0 -15,5 0 16,0 0 -16,0 0 16,0 0 -1,-3 0 -15,3 0 0,0 0 16,0 0 -16,0 0 16,-3 0 -16,3 0 15,-2 0 1,2 0 -16,0 0 15,-6 -3 -15,4 3 16,-4 0 -16,3 -3 16,1 3 -16,-4 0 15,3 0 -15,1 0 16,-4 -3 -16,6 3 16,-3 0 -16,1 -2 15,-1 2 -15,3 0 16,0 0 -16,-5 -3 15,5 3 -15,0 0 16,-3 0 -16,0 0 16,0 0 -16,3 -3 15,0 3 -15,-2 0 16,2 0 -16,0 0 16,0 0 -16,-3 0 15,-3 0 -15,4 0 16,-7 0 -16,7 0 15,-4 0 -15,-2 0 16,3 0 -16,-4 0 16,4 0 -16,-1 -3 15,-2 3 1,5 0 -16,1 -2 14,-4 2 2,3 0 -1,-2 0 -15,2 0 16,3 -3 -16,-5 3 15,5 -3 -15,-3 0 16,3 3 -16,0 -2 16,-6 2 -16,7 -3 15,-1 3 -15,-6 -3 16,3 3 -16,3 0 16,-2 -3 -16,-4 3 15,3 0 -15,-5 0 16,5 -2 -16,3 2 15,-5 0 -15,2 0 16,0 0 -16,3 0 16,-5 0 -16,2 0 15,-2 0 1,5 0 -16,-6 0 0,1 0 16,2 0 -16,-2 0 15,-1 0 -15,1 0 16,-1 0 -16,1 0 15,2 0 -15,-5 0 16,2 0 0,-2 0 -16,5 0 15,-5 0 -15,2 0 16,1 0 0,-3 0 -1,-1 0 1,1 0 62</inkml:trace>
    </iact:actionData>
  </iact:action>
  <iact:action type="add" startTime="42540">
    <iact:property name="dataType"/>
    <iact:actionData xml:id="d5">
      <inkml:trace xmlns:inkml="http://www.w3.org/2003/InkML" xml:id="stk5" contextRef="#ctx0" brushRef="#br0">2377 8 0,'3'0'0,"0"0"186,5 0 -171,3 0 1,-3 0 -1,1 0 -15,2 0 16,0 0 -16,-6 0 16,6 0 -16,0 0 15,0 0 -15,0 0 16,-5 0 -16,5 0 16,-3 0 -16,-2 0 15,2 0 -15,3 0 16,-6 0 -16,4 0 15,-1 0 -15,-3 0 16,4 0 0,-4 0 -16,1 0 0,2 0 15,-5 0 -15,2 0 16,1 0 0,-1 0 -16,1 0 15,-1 0 -15,1 0 16,-1 0 -16,1 0 15,2 0 -15,-5 0 16,5 0 -16,-5 0 16,5 0 -16,-2 0 15,-4 0 -15,4 0 16,2 0 -16,-5 0 4,2 0 -4,-2 0 15,3 0 -15,-4 0 16,4 0 -16,-3 0 15,-1 0 1,1 0 -16,0 0 16,0 0 15,-1 0 0,1 0 -31,3 0 16,2 0 -16,-3 0 15,6 0 1,-2 0 -16,-1 0 16,3 0 -16,0 0 15,-3 0 -15,-2 0 16,2 3 -16,0 -3 16,-2 0 -16,5 0 15,-3 0 -15,-2 0 16,2 0 -16,-3 0 15,4 0 -15,-1 0 16,-3 0 -16,4 0 16,-1 0 -16,-3 0 15,4 0 -15,-4 0 16,3 0 -16,1 0 16,-4 0 -1,4 0 -15,-1 0 0,0 0 16,-2 3 -16,2 -3 15,-3 0 -15,4 0 16,-7 0 -16,7 0 16,-4 0 -16,1 0 15,2 0 -15,-3 0 16,1 0 -16,-1 0 16,1 0 -1,-3 0 16,-1 0 -31,-2 3 15,3 -3 1,0 2 15,0 -2 -31,2 0 16,1 0 -16,2 3 16,0 -3 -16,1 0 15,-1 0 -15,-3 0 16,-2 0 -16,3 0 15,-4 0 -15,1 0 16,0 0 -16,0 0 16,-3 3 -1,2 -3 1,4 0 -16,-1 0 16,4 0 -16,2 3 15,-6 -3 -15,6 0 16,3 0 -16,-3 2 15,0 -2 1,0 0 -16,-5 0 0,2 0 16,3 0 -16,-8 0 15,5 0 -15,0 0 16,-2 0 -16,2 0 16,-5 0 -1,2 0 -15,-2 0 16,0 0 -16,-1 0 15,1 0 -15,0 0 32,0 0 15,-1 0 -32,7 0 1,-1 0 -16,-3 0 15,6 0 1,-2 -2 -16,-1 2 0,3 -3 16,-5 3 -16,-4 0 15,4 -3 -15,-3 3 16,-1 0 0,1 0 -16,-6 0 234,-2 0 -187</inkml:trace>
    </iact:actionData>
  </iact:action>
  <iact:action type="add" startTime="42541">
    <iact:property name="dataType"/>
    <iact:actionData xml:id="d6">
      <inkml:trace xmlns:inkml="http://www.w3.org/2003/InkML" xml:id="stk6" contextRef="#ctx0" brushRef="#brinv">0 0 0</inkml:trace>
    </iact:actionData>
  </iact:action>
  <iact:action type="add" startTime="42542">
    <iact:property name="dataType"/>
    <iact:actionData xml:id="d7">
      <inkml:trace xmlns:inkml="http://www.w3.org/2003/InkML" xml:id="stk7" contextRef="#ctx0" brushRef="#brinv">3664 1356 0</inkml:trace>
    </iact:actionData>
  </iact:action>
</iact:actions>
</file>

<file path=ppt/ink/inkAction3.xml><?xml version="1.0" encoding="utf-8"?>
<iact:actions xmlns:iact="http://schemas.microsoft.com/office/powerpoint/2014/inkAction" lengthUnit="cm" timeUnit="ms">
  <inkml:definitions xmlns:inkml="http://www.w3.org/2003/InkML">
    <inkml:context xml:id="ctx0">
      <inkml:inkSource xml:id="inkSrc0">
        <inkml:traceFormat>
          <inkml:channel name="X" type="integer" units="cm"/>
          <inkml:channel name="Y" type="integer" units="cm"/>
          <inkml:channel name="T" type="integer" max="2.14748E9" units="dev"/>
        </inkml:traceFormat>
        <inkml:channelProperties>
          <inkml:channelProperty channel="X" name="resolution" value="0.28222" units="1/cm"/>
          <inkml:channelProperty channel="Y" name="resolution" value="0.28222" units="1/cm"/>
          <inkml:channelProperty channel="T" name="resolution" value="1" units="1/dev"/>
        </inkml:channelProperties>
      </inkml:inkSource>
      <inkml:timestamp xml:id="ts0" timeString="2017-02-06T19:56:32.840Z"/>
    </inkml:context>
    <inkml:brush xml:id="br0">
      <inkml:brushProperty name="width" value="0.07292" units="cm"/>
      <inkml:brushProperty name="height" value="0.07292" units="cm"/>
      <inkml:brushProperty name="color" value="#FF0000"/>
    </inkml:brush>
    <inkml:brush xml:id="brinv">
      <inkml:brushProperty name="width" value="0.05" units="cm"/>
      <inkml:brushProperty name="height" value="0.05" units="cm"/>
      <inkml:brushProperty name="color" value="#000000"/>
      <inkml:brushProperty name="transparency" value="255"/>
    </inkml:brush>
  </inkml:definitions>
  <iact:action type="add" startTime="9620">
    <iact:property name="dataType"/>
    <iact:actionData xml:id="d0">
      <inkml:trace xmlns:inkml="http://www.w3.org/2003/InkML" xml:id="stk0" contextRef="#ctx0" brushRef="#br0">8 364 0,'6'0'375,"-3"0"-375,2 0 20,1 0 -20,-4 0 16,7 0 -16,-7 0 16,1 0 -16,3 0 15,-4 -3 1,1 3 -16,0 0 15,2 0 1,-2 0 -16,5 0 16,1 0 -16,-4 0 15,3 0 -15,1 0 16,-4 0 -16,3 0 16,-5 0 -1,3 0 -15,-1 0 16,-2 0 -1,0 0 -15,-1 0 0,1 0 16,3 0 0,-1 0 -1,-2 0 -15,0 0 16,0 0 -16,-1 0 16,1 0 -1,0 0 -15,0 0 63</inkml:trace>
    </iact:actionData>
  </iact:action>
  <iact:action type="add" startTime="11844">
    <iact:property name="dataType"/>
    <iact:actionData xml:id="d1">
      <inkml:trace xmlns:inkml="http://www.w3.org/2003/InkML" xml:id="stk1" contextRef="#ctx0" brushRef="#br0">928 1083 0,'3'0'0,"8"0"157,-3 0 -157,-2 0 15,5 0 -15,16 0 16,-18 0 0,13 0 -16,-6 0 0,-2 0 15,0 0 1,5 0 -16,-5 0 15,-3 0 -15,3 0 16,-1 0 -16,1 0 16,-3 0 -16,0 0 15,0 0 -15,-2 0 16,2 0 -16,-3 0 16,-3 0 -16,4 0 15,-4 0 -15,-2 0 16,0 0 -1,-1 0 -15,1 0 16,0 0 -16,0 0 16,-1 0 46</inkml:trace>
    </iact:actionData>
  </iact:action>
  <iact:action type="add" startTime="17547">
    <iact:property name="dataType"/>
    <iact:actionData xml:id="d2">
      <inkml:trace xmlns:inkml="http://www.w3.org/2003/InkML" xml:id="stk2" contextRef="#ctx0" brushRef="#br0">2027 8 0,'6'0'187,"2"0"-171,9 0 -16,-9 0 15,14 0 -15,-14 0 16,6 0 -16,5 0 16,-8 0 -16,3 0 15,0 0 1,0 0 -16,-3 0 0,0 0 15,0 0 -15,0 0 16,-6 0 -16,4 0 16,-4 0 3,3 0 -19,-2 0 16,-3 0 -16,2 0 16,-2 0 -1,0 0 -15,-1 0 16,-2 3 109,0 0 -63,0 0 -46</inkml:trace>
    </iact:actionData>
  </iact:action>
  <iact:action type="add" startTime="22045">
    <iact:property name="dataType"/>
    <iact:actionData xml:id="d3">
      <inkml:trace xmlns:inkml="http://www.w3.org/2003/InkML" xml:id="stk3" contextRef="#ctx0" brushRef="#br0">2003 612 0,'2'0'0,"4"0"389,-3 0 -389,5 0 16,0 0 -16,-5 -3 15,5 3 -15,-2 0 16,5 0 0,-3 0 -16,-2 0 0,2 0 15,3 0 1,-3 0 -16,-2 0 16,-1 0 -16,1 0 15,-4 0 -15,4 0 16,-3 0 -1,-1 0 -15,1 0 46,0 0 -46,0 0 15,2 0 -15,3 0 16,-5 0 -16,5 0 16,1 0 -1,-4 0 -15,3 0 0,-2 0 16,2 0 -1,-2 0 -15,-1 0 0,1 0 16,-3 0 0,-1 0 -16,1 0 15,0 0 1</inkml:trace>
    </iact:actionData>
  </iact:action>
  <iact:action type="add" startTime="22046">
    <iact:property name="dataType"/>
    <iact:actionData xml:id="d4">
      <inkml:trace xmlns:inkml="http://www.w3.org/2003/InkML" xml:id="stk4" contextRef="#ctx0" brushRef="#brinv">0 0 0</inkml:trace>
    </iact:actionData>
  </iact:action>
  <iact:action type="add" startTime="22047">
    <iact:property name="dataType"/>
    <iact:actionData xml:id="d5">
      <inkml:trace xmlns:inkml="http://www.w3.org/2003/InkML" xml:id="stk5" contextRef="#ctx0" brushRef="#brinv">2284 1091 0</inkml:trace>
    </iact:actionData>
  </iact:action>
</iact:actions>
</file>

<file path=ppt/ink/inkAction4.xml><?xml version="1.0" encoding="utf-8"?>
<iact:actions xmlns:iact="http://schemas.microsoft.com/office/powerpoint/2014/inkAction" lengthUnit="cm" timeUnit="ms">
  <inkml:definitions xmlns:inkml="http://www.w3.org/2003/InkML">
    <inkml:context xml:id="ctx0">
      <inkml:inkSource xml:id="inkSrc0">
        <inkml:traceFormat>
          <inkml:channel name="X" type="integer" units="cm"/>
          <inkml:channel name="Y" type="integer" units="cm"/>
          <inkml:channel name="T" type="integer" max="2.14748E9" units="dev"/>
        </inkml:traceFormat>
        <inkml:channelProperties>
          <inkml:channelProperty channel="X" name="resolution" value="0.28222" units="1/cm"/>
          <inkml:channelProperty channel="Y" name="resolution" value="0.28222" units="1/cm"/>
          <inkml:channelProperty channel="T" name="resolution" value="1" units="1/dev"/>
        </inkml:channelProperties>
      </inkml:inkSource>
      <inkml:timestamp xml:id="ts0" timeString="2017-02-06T20:19:56.852Z"/>
    </inkml:context>
    <inkml:brush xml:id="br0">
      <inkml:brushProperty name="width" value="0.07292" units="cm"/>
      <inkml:brushProperty name="height" value="0.07292" units="cm"/>
      <inkml:brushProperty name="color" value="#000000"/>
    </inkml:brush>
    <inkml:brush xml:id="brinv">
      <inkml:brushProperty name="width" value="0.05" units="cm"/>
      <inkml:brushProperty name="height" value="0.05" units="cm"/>
      <inkml:brushProperty name="color" value="#000000"/>
      <inkml:brushProperty name="transparency" value="255"/>
    </inkml:brush>
  </inkml:definitions>
  <iact:action type="add" startTime="20383">
    <iact:property name="dataType"/>
    <iact:actionData xml:id="d0">
      <inkml:trace xmlns:inkml="http://www.w3.org/2003/InkML" xml:id="stk0" contextRef="#ctx0" brushRef="#br0">52 8 0,'0'6'306,"0"-1"-291,0 1 -15,0 -1 16,0 1 -16,0 -3 16,0 2 -1,0 -2 -15,0 2 16,0 -2 -16,0 3 15,0 -1 -15,0 1 16,0 -1 -16,0 -2 16,0 5 -16,0 -2 15,3 -4 1,-3 4 -16,0 -3 16,0 -1 -1,0 1 1,0 3 -1,0 -1 -15,0 1 16,0 -1 -16,3 1 16,-3 -1 -16,0 -2 15,0 3 -15,0 -4 16,3 -2 -16,-3 3 16,0 0 -16,0 0 14,0 -1 2</inkml:trace>
    </iact:actionData>
  </iact:action>
  <iact:action type="add" startTime="21859">
    <iact:property name="dataType"/>
    <iact:actionData xml:id="d1">
      <inkml:trace xmlns:inkml="http://www.w3.org/2003/InkML" xml:id="stk1" contextRef="#ctx0" brushRef="#br0">8 146 0,'3'0'0,"3"0"262,2 3 -246,0 2 -16,-2 1 15,2 -1 -15,-5 -2 16,10 5 15,-4 1 -15,-7 -9 0,-2 2 -1,0 1 1,0 0 46,0 0 -46,3 -3 15,0 0 32,0 0 15,-1 0 -30,-2 -3 -33,3 0 -15,-3 0 16,3 -2 0,-3 -1 -1,3 4 -15,-3 -1 16,2 0 -16,-2 -2 15,0 2 1,0 0 -16,0 0 16,3 3 -16,-3 -2 31,0 -1 -15,3 3 -1,-3 -3 1,0 0 -1,0 1 17</inkml:trace>
    </iact:actionData>
  </iact:action>
  <iact:action type="add" startTime="24426">
    <iact:property name="dataType"/>
    <iact:actionData xml:id="d2">
      <inkml:trace xmlns:inkml="http://www.w3.org/2003/InkML" xml:id="stk2" contextRef="#ctx0" brushRef="#br0">1664 1976 0,'0'5'203,"0"9"-188,0 3 -15,0 -4 16,0 -2 -7,0 6 7,0 2 -16,0 0 15,0 -10 -15,0 7 16,0 -7 -16,0 2 16,0 -3 -1,0 0 -15,0 -2 0,0 -1 16,0 -2 -1,0 2 -15,0 -2 16,0 0 0,0 0 -16,0 -1 31</inkml:trace>
    </iact:actionData>
  </iact:action>
  <iact:action type="add" startTime="25849">
    <iact:property name="dataType"/>
    <iact:actionData xml:id="d3">
      <inkml:trace xmlns:inkml="http://www.w3.org/2003/InkML" xml:id="stk3" contextRef="#ctx0" brushRef="#br0">1609 2039 0,'2'0'0,"7"-3"172,-1 1 -157,-5 -1 1,2 -5 -16,-2 5 16,3 0 -16,-1 3 15,-5 -5 -15,3 5 16,0 -3 -16,-1 3 31,1 0 -15,0 0 31,-3 -3 -16,3 3 0,-3 -3 -15,2 3 -1,1 -2 32,-3 -1 0,0 0 -31,0 0 46,3 3 -15,0 3 63,-3 0 -95,0 0 1,2 -1 -16,1 1 15,-3 0 1,3 -3 -16,-3 3 16,3 -1 -16,-1 -2 0,-2 3 15,3 0 1,0 0 -16,2 -1 16,-2 1 -16,3 3 15,-1 -4 1,-2 4 -16,0 -6 15,2 3 -15,-2 -1 4,-3 1 -4,3 -3 16,-1 3 -16,1 0 15,-3 -1 -15,3 -2 16,-3 3 -16,3 -3 16,-3 3 -16</inkml:trace>
    </iact:actionData>
  </iact:action>
  <iact:action type="add" startTime="25850">
    <iact:property name="dataType"/>
    <iact:actionData xml:id="d4">
      <inkml:trace xmlns:inkml="http://www.w3.org/2003/InkML" xml:id="stk4" contextRef="#ctx0" brushRef="#brinv">0 0 0</inkml:trace>
    </iact:actionData>
  </iact:action>
  <iact:action type="add" startTime="25851">
    <iact:property name="dataType"/>
    <iact:actionData xml:id="d5">
      <inkml:trace xmlns:inkml="http://www.w3.org/2003/InkML" xml:id="stk5" contextRef="#ctx0" brushRef="#brinv">1752 2191 0</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24/08/2026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pt.wikipedia.org/wiki/L%C3%ADngua_inglesa"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schoolphysics.co.uk/age16-19/Electronics/Logic%20gates/text/Logic_gates_applications/index.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en.wikipedia.org/wiki/Joseph_Henry" TargetMode="External"/><Relationship Id="rId2" Type="http://schemas.openxmlformats.org/officeDocument/2006/relationships/slide" Target="../slides/slide49.xml"/><Relationship Id="rId1" Type="http://schemas.openxmlformats.org/officeDocument/2006/relationships/notesMaster" Target="../notesMasters/notesMaster1.xml"/><Relationship Id="rId4" Type="http://schemas.openxmlformats.org/officeDocument/2006/relationships/hyperlink" Target="https://en.wikipedia.org/wiki/Electrical_telegraph"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Fairchild_Semiconductor" TargetMode="External"/><Relationship Id="rId7" Type="http://schemas.openxmlformats.org/officeDocument/2006/relationships/hyperlink" Target="https://en.wikipedia.org/wiki/Power_consumption" TargetMode="External"/><Relationship Id="rId2" Type="http://schemas.openxmlformats.org/officeDocument/2006/relationships/slide" Target="../slides/slide51.xml"/><Relationship Id="rId1" Type="http://schemas.openxmlformats.org/officeDocument/2006/relationships/notesMaster" Target="../notesMasters/notesMaster1.xml"/><Relationship Id="rId6" Type="http://schemas.openxmlformats.org/officeDocument/2006/relationships/hyperlink" Target="https://en.wikipedia.org/wiki/Electronic_noise" TargetMode="External"/><Relationship Id="rId5" Type="http://schemas.openxmlformats.org/officeDocument/2006/relationships/hyperlink" Target="https://en.wikisource.org/wiki/United_States_patent_3356858" TargetMode="External"/><Relationship Id="rId4" Type="http://schemas.openxmlformats.org/officeDocument/2006/relationships/hyperlink" Target="https://en.wikipedia.org/wiki/Frank_Wanlass"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Ola</a:t>
            </a:r>
            <a:r>
              <a:rPr lang="pt-BR" dirty="0"/>
              <a:t> a todos, nessa aula vamos dar continuidade no curso falando sobre transistores, o dispositivo mais usado para produzir</a:t>
            </a:r>
            <a:r>
              <a:rPr lang="pt-BR" baseline="0" dirty="0"/>
              <a:t> portas lógicas atualmente.</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3034910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www.pbs.org</a:t>
            </a:r>
            <a:r>
              <a:rPr lang="en-US" dirty="0"/>
              <a:t>/transistor/album1/</a:t>
            </a:r>
          </a:p>
          <a:p>
            <a:r>
              <a:rPr lang="en-US" dirty="0"/>
              <a:t>http://120years.net/the-audion-pianolee-de-forestusa1915/</a:t>
            </a:r>
          </a:p>
          <a:p>
            <a:r>
              <a:rPr lang="en-US" dirty="0"/>
              <a:t>http://</a:t>
            </a:r>
            <a:r>
              <a:rPr lang="en-US" dirty="0" err="1"/>
              <a:t>www.leedeforest.org</a:t>
            </a:r>
            <a:r>
              <a:rPr lang="en-US" dirty="0"/>
              <a:t>/</a:t>
            </a:r>
            <a:r>
              <a:rPr lang="en-US" dirty="0" err="1"/>
              <a:t>The_Audion.html</a:t>
            </a:r>
            <a:endParaRPr lang="en-US" dirty="0"/>
          </a:p>
          <a:p>
            <a:endParaRPr lang="en-US"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1893748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 </a:t>
            </a:r>
            <a:r>
              <a:rPr lang="en-US" dirty="0" err="1"/>
              <a:t>termo</a:t>
            </a:r>
            <a:r>
              <a:rPr lang="en-US" dirty="0"/>
              <a:t> </a:t>
            </a:r>
            <a:r>
              <a:rPr lang="en-US" dirty="0" err="1"/>
              <a:t>provém</a:t>
            </a:r>
            <a:r>
              <a:rPr lang="en-US" dirty="0"/>
              <a:t> do </a:t>
            </a:r>
            <a:r>
              <a:rPr lang="en-US" dirty="0">
                <a:hlinkClick r:id="rId3" tooltip="Língua inglesa"/>
              </a:rPr>
              <a:t>inglês</a:t>
            </a:r>
            <a:r>
              <a:rPr lang="en-US" dirty="0"/>
              <a:t> </a:t>
            </a:r>
            <a:r>
              <a:rPr lang="en-US" b="1" i="1" dirty="0"/>
              <a:t>trans</a:t>
            </a:r>
            <a:r>
              <a:rPr lang="en-US" i="1" dirty="0"/>
              <a:t>fer</a:t>
            </a:r>
            <a:r>
              <a:rPr lang="en-US" dirty="0"/>
              <a:t> </a:t>
            </a:r>
            <a:r>
              <a:rPr lang="en-US" i="1" dirty="0"/>
              <a:t>res</a:t>
            </a:r>
            <a:r>
              <a:rPr lang="en-US" b="1" i="1" dirty="0"/>
              <a:t>istor</a:t>
            </a:r>
            <a:r>
              <a:rPr lang="en-US" dirty="0"/>
              <a:t> (resistor/</a:t>
            </a:r>
            <a:r>
              <a:rPr lang="en-US" dirty="0" err="1"/>
              <a:t>resistência</a:t>
            </a:r>
            <a:r>
              <a:rPr lang="en-US" dirty="0"/>
              <a:t> de </a:t>
            </a:r>
            <a:r>
              <a:rPr lang="en-US" dirty="0" err="1"/>
              <a:t>transferência</a:t>
            </a:r>
            <a:r>
              <a:rPr lang="en-US" dirty="0"/>
              <a:t>), </a:t>
            </a:r>
            <a:r>
              <a:rPr lang="en-US" dirty="0" err="1"/>
              <a:t>como</a:t>
            </a:r>
            <a:r>
              <a:rPr lang="en-US" dirty="0"/>
              <a:t> era </a:t>
            </a:r>
            <a:r>
              <a:rPr lang="en-US" dirty="0" err="1"/>
              <a:t>conhecido</a:t>
            </a:r>
            <a:r>
              <a:rPr lang="en-US" dirty="0"/>
              <a:t> </a:t>
            </a:r>
            <a:r>
              <a:rPr lang="en-US" dirty="0" err="1"/>
              <a:t>pelos</a:t>
            </a:r>
            <a:r>
              <a:rPr lang="en-US" dirty="0"/>
              <a:t> </a:t>
            </a:r>
            <a:r>
              <a:rPr lang="en-US" dirty="0" err="1"/>
              <a:t>seus</a:t>
            </a:r>
            <a:r>
              <a:rPr lang="en-US" dirty="0"/>
              <a:t> </a:t>
            </a:r>
            <a:r>
              <a:rPr lang="en-US" dirty="0" err="1"/>
              <a:t>inventores</a:t>
            </a:r>
            <a:r>
              <a:rPr lang="en-US" dirty="0"/>
              <a:t>.</a:t>
            </a:r>
          </a:p>
          <a:p>
            <a:endParaRPr lang="en-US" dirty="0"/>
          </a:p>
          <a:p>
            <a:endParaRPr lang="en-US" dirty="0"/>
          </a:p>
          <a:p>
            <a:r>
              <a:rPr lang="en-US" dirty="0"/>
              <a:t>http://</a:t>
            </a:r>
            <a:r>
              <a:rPr lang="en-US" dirty="0" err="1"/>
              <a:t>www.juliantrubin.com</a:t>
            </a:r>
            <a:r>
              <a:rPr lang="en-US" dirty="0"/>
              <a:t>/</a:t>
            </a:r>
            <a:r>
              <a:rPr lang="en-US" dirty="0" err="1"/>
              <a:t>bigten</a:t>
            </a:r>
            <a:r>
              <a:rPr lang="en-US" dirty="0"/>
              <a:t>/</a:t>
            </a:r>
            <a:r>
              <a:rPr lang="en-US" dirty="0" err="1"/>
              <a:t>transistorexperiments.html</a:t>
            </a:r>
            <a:endParaRPr lang="en-US" dirty="0"/>
          </a:p>
          <a:p>
            <a:r>
              <a:rPr lang="en-US" dirty="0"/>
              <a:t>http://</a:t>
            </a:r>
            <a:r>
              <a:rPr lang="en-US" dirty="0" err="1"/>
              <a:t>www.brainstormmag.co.za</a:t>
            </a:r>
            <a:r>
              <a:rPr lang="en-US" dirty="0"/>
              <a:t>/</a:t>
            </a:r>
            <a:r>
              <a:rPr lang="en-US" dirty="0" err="1"/>
              <a:t>index.php?option</a:t>
            </a:r>
            <a:r>
              <a:rPr lang="en-US" dirty="0"/>
              <a:t>=</a:t>
            </a:r>
            <a:r>
              <a:rPr lang="en-US" dirty="0" err="1"/>
              <a:t>com_content&amp;view</a:t>
            </a:r>
            <a:r>
              <a:rPr lang="en-US" dirty="0"/>
              <a:t>=</a:t>
            </a:r>
            <a:r>
              <a:rPr lang="en-US" dirty="0" err="1"/>
              <a:t>article&amp;id</a:t>
            </a:r>
            <a:r>
              <a:rPr lang="en-US" dirty="0"/>
              <a:t>=1861%3Athe-importance-of-parc&amp;Itemid=124</a:t>
            </a:r>
          </a:p>
          <a:p>
            <a:r>
              <a:rPr lang="en-US" dirty="0"/>
              <a:t>http://</a:t>
            </a:r>
            <a:r>
              <a:rPr lang="en-US" dirty="0" err="1"/>
              <a:t>www.nobelprize.org</a:t>
            </a:r>
            <a:r>
              <a:rPr lang="en-US" dirty="0"/>
              <a:t>/educational/physics/transistor/history/</a:t>
            </a:r>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1337151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Eles basicamente não têm "elétrons livres", pois seus átomos estão estreitamente agrupados em sua estrutura cristalina. Porém a capacidade de semicondutores para conduzir eletricidade pode ser melhorada com a adição de certos átomos na estrutura cristalina. Essa dopagem cria assim elétrons livres (-) ou “buracos” (+).</a:t>
            </a:r>
          </a:p>
          <a:p>
            <a:endParaRPr lang="pt-BR" dirty="0"/>
          </a:p>
          <a:p>
            <a:r>
              <a:rPr lang="pt-BR" dirty="0" err="1"/>
              <a:t>http</a:t>
            </a:r>
            <a:r>
              <a:rPr lang="pt-BR" dirty="0"/>
              <a:t>://</a:t>
            </a:r>
            <a:r>
              <a:rPr lang="pt-BR" dirty="0" err="1"/>
              <a:t>www.electronics-tutorials.ws</a:t>
            </a:r>
            <a:r>
              <a:rPr lang="pt-BR" dirty="0"/>
              <a:t>/transistor/tran_1.html</a:t>
            </a:r>
          </a:p>
          <a:p>
            <a:r>
              <a:rPr lang="pt-BR" dirty="0" err="1"/>
              <a:t>http</a:t>
            </a:r>
            <a:r>
              <a:rPr lang="pt-BR" dirty="0"/>
              <a:t>://</a:t>
            </a:r>
            <a:r>
              <a:rPr lang="pt-BR" dirty="0" err="1"/>
              <a:t>www.electronics-tutorials.ws</a:t>
            </a:r>
            <a:r>
              <a:rPr lang="pt-BR" dirty="0"/>
              <a:t>/</a:t>
            </a:r>
            <a:r>
              <a:rPr lang="pt-BR" dirty="0" err="1"/>
              <a:t>diode</a:t>
            </a:r>
            <a:r>
              <a:rPr lang="pt-BR" dirty="0"/>
              <a:t>/diode_1.html</a:t>
            </a:r>
          </a:p>
          <a:p>
            <a:r>
              <a:rPr lang="pt-BR" dirty="0"/>
              <a:t>http://www.electronicsandyou.com/electronics-basics/silicon.html</a:t>
            </a:r>
          </a:p>
          <a:p>
            <a:r>
              <a:rPr lang="pt-BR" dirty="0"/>
              <a:t>http://upload4.smarteast.com/%7BE7133138-8FE6-4F1C-979D-91EB429A65D7%7D/images/mono-crystal%20silicon%20ingot(2).jpg</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3649634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hyperphysics.phy-astr.gsu.edu</a:t>
            </a:r>
            <a:r>
              <a:rPr lang="en-US" dirty="0"/>
              <a:t>/</a:t>
            </a:r>
            <a:r>
              <a:rPr lang="en-US" dirty="0" err="1"/>
              <a:t>hbase</a:t>
            </a:r>
            <a:r>
              <a:rPr lang="en-US" dirty="0"/>
              <a:t>/electronic/</a:t>
            </a:r>
            <a:r>
              <a:rPr lang="en-US" dirty="0" err="1"/>
              <a:t>nand.html</a:t>
            </a:r>
            <a:endParaRPr lang="en-US" dirty="0"/>
          </a:p>
          <a:p>
            <a:r>
              <a:rPr lang="en-US" dirty="0"/>
              <a:t>http://</a:t>
            </a:r>
            <a:r>
              <a:rPr lang="en-US" dirty="0" err="1"/>
              <a:t>electronics.stackexchange.com</a:t>
            </a:r>
            <a:r>
              <a:rPr lang="en-US" dirty="0"/>
              <a:t>/questions/110649/why-is-</a:t>
            </a:r>
            <a:r>
              <a:rPr lang="en-US" dirty="0" err="1"/>
              <a:t>nand</a:t>
            </a:r>
            <a:r>
              <a:rPr lang="en-US" dirty="0"/>
              <a:t>-gate-preferred-over-nor-gate-in-industry</a:t>
            </a:r>
          </a:p>
          <a:p>
            <a:r>
              <a:rPr lang="en-US" dirty="0"/>
              <a:t>http://www.electrical4u.com/universal-gate-</a:t>
            </a:r>
            <a:r>
              <a:rPr lang="en-US" dirty="0" err="1"/>
              <a:t>nand</a:t>
            </a:r>
            <a:r>
              <a:rPr lang="en-US" dirty="0"/>
              <a:t>-nor-gate-as-universal-gate/</a:t>
            </a:r>
          </a:p>
          <a:p>
            <a:r>
              <a:rPr lang="en-US" dirty="0"/>
              <a:t>https://</a:t>
            </a:r>
            <a:r>
              <a:rPr lang="en-US" dirty="0" err="1"/>
              <a:t>pt.wikipedia.org</a:t>
            </a:r>
            <a:r>
              <a:rPr lang="en-US" dirty="0"/>
              <a:t>/wiki/</a:t>
            </a:r>
            <a:r>
              <a:rPr lang="en-US" dirty="0" err="1"/>
              <a:t>Completude_funcional</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The NAND </a:t>
            </a:r>
            <a:r>
              <a:rPr lang="pt-BR" dirty="0" err="1"/>
              <a:t>gate</a:t>
            </a:r>
            <a:r>
              <a:rPr lang="pt-BR" dirty="0"/>
              <a:t> </a:t>
            </a:r>
            <a:r>
              <a:rPr lang="pt-BR" dirty="0" err="1"/>
              <a:t>and</a:t>
            </a:r>
            <a:r>
              <a:rPr lang="pt-BR" dirty="0"/>
              <a:t> </a:t>
            </a:r>
            <a:r>
              <a:rPr lang="pt-BR" dirty="0" err="1"/>
              <a:t>the</a:t>
            </a:r>
            <a:r>
              <a:rPr lang="pt-BR" dirty="0"/>
              <a:t> NOR </a:t>
            </a:r>
            <a:r>
              <a:rPr lang="pt-BR" dirty="0" err="1"/>
              <a:t>gate</a:t>
            </a:r>
            <a:r>
              <a:rPr lang="pt-BR" dirty="0"/>
              <a:t> </a:t>
            </a:r>
            <a:r>
              <a:rPr lang="pt-BR" dirty="0" err="1"/>
              <a:t>can</a:t>
            </a:r>
            <a:r>
              <a:rPr lang="pt-BR" dirty="0"/>
              <a:t> </a:t>
            </a:r>
            <a:r>
              <a:rPr lang="pt-BR" dirty="0" err="1"/>
              <a:t>be</a:t>
            </a:r>
            <a:r>
              <a:rPr lang="pt-BR" dirty="0"/>
              <a:t> </a:t>
            </a:r>
            <a:r>
              <a:rPr lang="pt-BR" dirty="0" err="1"/>
              <a:t>said</a:t>
            </a:r>
            <a:r>
              <a:rPr lang="pt-BR" dirty="0"/>
              <a:t> </a:t>
            </a:r>
            <a:r>
              <a:rPr lang="pt-BR" dirty="0" err="1"/>
              <a:t>to</a:t>
            </a:r>
            <a:r>
              <a:rPr lang="pt-BR" dirty="0"/>
              <a:t> </a:t>
            </a:r>
            <a:r>
              <a:rPr lang="pt-BR" dirty="0" err="1"/>
              <a:t>be</a:t>
            </a:r>
            <a:r>
              <a:rPr lang="pt-BR" dirty="0"/>
              <a:t> universal </a:t>
            </a:r>
            <a:r>
              <a:rPr lang="pt-BR" dirty="0" err="1"/>
              <a:t>gates</a:t>
            </a:r>
            <a:r>
              <a:rPr lang="pt-BR" dirty="0"/>
              <a:t> </a:t>
            </a:r>
            <a:r>
              <a:rPr lang="pt-BR" dirty="0" err="1"/>
              <a:t>since</a:t>
            </a:r>
            <a:r>
              <a:rPr lang="pt-BR" dirty="0"/>
              <a:t> </a:t>
            </a:r>
            <a:r>
              <a:rPr lang="pt-BR" dirty="0" err="1"/>
              <a:t>combinations</a:t>
            </a:r>
            <a:r>
              <a:rPr lang="pt-BR" dirty="0"/>
              <a:t> </a:t>
            </a:r>
            <a:r>
              <a:rPr lang="pt-BR" dirty="0" err="1"/>
              <a:t>of</a:t>
            </a:r>
            <a:r>
              <a:rPr lang="pt-BR" dirty="0"/>
              <a:t> </a:t>
            </a:r>
            <a:r>
              <a:rPr lang="pt-BR" dirty="0" err="1"/>
              <a:t>them</a:t>
            </a:r>
            <a:r>
              <a:rPr lang="pt-BR" dirty="0"/>
              <a:t> </a:t>
            </a:r>
            <a:r>
              <a:rPr lang="pt-BR" dirty="0" err="1"/>
              <a:t>can</a:t>
            </a:r>
            <a:r>
              <a:rPr lang="pt-BR" dirty="0"/>
              <a:t> </a:t>
            </a:r>
            <a:r>
              <a:rPr lang="pt-BR" dirty="0" err="1"/>
              <a:t>be</a:t>
            </a:r>
            <a:r>
              <a:rPr lang="pt-BR" dirty="0"/>
              <a:t> </a:t>
            </a:r>
            <a:r>
              <a:rPr lang="pt-BR" dirty="0" err="1"/>
              <a:t>used</a:t>
            </a:r>
            <a:r>
              <a:rPr lang="pt-BR" dirty="0"/>
              <a:t> </a:t>
            </a:r>
            <a:r>
              <a:rPr lang="pt-BR" dirty="0" err="1"/>
              <a:t>to</a:t>
            </a:r>
            <a:r>
              <a:rPr lang="pt-BR" dirty="0"/>
              <a:t> </a:t>
            </a:r>
            <a:r>
              <a:rPr lang="pt-BR" dirty="0" err="1"/>
              <a:t>accomplish</a:t>
            </a:r>
            <a:r>
              <a:rPr lang="pt-BR" dirty="0"/>
              <a:t> </a:t>
            </a:r>
            <a:r>
              <a:rPr lang="pt-BR" dirty="0" err="1"/>
              <a:t>any</a:t>
            </a:r>
            <a:r>
              <a:rPr lang="pt-BR" dirty="0"/>
              <a:t> </a:t>
            </a:r>
            <a:r>
              <a:rPr lang="pt-BR" dirty="0" err="1"/>
              <a:t>of</a:t>
            </a:r>
            <a:r>
              <a:rPr lang="pt-BR" dirty="0"/>
              <a:t> </a:t>
            </a:r>
            <a:r>
              <a:rPr lang="pt-BR" dirty="0" err="1"/>
              <a:t>the</a:t>
            </a:r>
            <a:r>
              <a:rPr lang="pt-BR" dirty="0"/>
              <a:t> </a:t>
            </a:r>
            <a:r>
              <a:rPr lang="pt-BR" dirty="0" err="1"/>
              <a:t>basic</a:t>
            </a:r>
            <a:r>
              <a:rPr lang="pt-BR" dirty="0"/>
              <a:t> </a:t>
            </a:r>
            <a:r>
              <a:rPr lang="pt-BR" dirty="0" err="1"/>
              <a:t>operations</a:t>
            </a:r>
            <a:r>
              <a:rPr lang="pt-BR" dirty="0"/>
              <a:t> </a:t>
            </a:r>
            <a:r>
              <a:rPr lang="pt-BR" dirty="0" err="1"/>
              <a:t>and</a:t>
            </a:r>
            <a:r>
              <a:rPr lang="pt-BR" dirty="0"/>
              <a:t> </a:t>
            </a:r>
            <a:r>
              <a:rPr lang="pt-BR" dirty="0" err="1"/>
              <a:t>can</a:t>
            </a:r>
            <a:r>
              <a:rPr lang="pt-BR" dirty="0"/>
              <a:t> </a:t>
            </a:r>
            <a:r>
              <a:rPr lang="pt-BR" dirty="0" err="1"/>
              <a:t>thus</a:t>
            </a:r>
            <a:r>
              <a:rPr lang="pt-BR" dirty="0"/>
              <a:t> </a:t>
            </a:r>
            <a:r>
              <a:rPr lang="pt-BR" dirty="0" err="1"/>
              <a:t>produce</a:t>
            </a:r>
            <a:r>
              <a:rPr lang="pt-BR" dirty="0"/>
              <a:t> </a:t>
            </a:r>
            <a:r>
              <a:rPr lang="pt-BR" dirty="0" err="1"/>
              <a:t>an</a:t>
            </a:r>
            <a:r>
              <a:rPr lang="pt-BR" dirty="0"/>
              <a:t> inverter, </a:t>
            </a:r>
            <a:r>
              <a:rPr lang="pt-BR" dirty="0" err="1"/>
              <a:t>an</a:t>
            </a:r>
            <a:r>
              <a:rPr lang="pt-BR" dirty="0"/>
              <a:t> OR </a:t>
            </a:r>
            <a:r>
              <a:rPr lang="pt-BR" dirty="0" err="1"/>
              <a:t>gate</a:t>
            </a:r>
            <a:r>
              <a:rPr lang="pt-BR" dirty="0"/>
              <a:t> </a:t>
            </a:r>
            <a:r>
              <a:rPr lang="pt-BR" dirty="0" err="1"/>
              <a:t>or</a:t>
            </a:r>
            <a:r>
              <a:rPr lang="pt-BR" dirty="0"/>
              <a:t> </a:t>
            </a:r>
            <a:r>
              <a:rPr lang="pt-BR" dirty="0" err="1"/>
              <a:t>an</a:t>
            </a:r>
            <a:r>
              <a:rPr lang="pt-BR" dirty="0"/>
              <a:t> AND </a:t>
            </a:r>
            <a:r>
              <a:rPr lang="pt-BR" dirty="0" err="1"/>
              <a:t>gate</a:t>
            </a:r>
            <a:r>
              <a:rPr lang="pt-BR" dirty="0"/>
              <a:t>. The non-</a:t>
            </a:r>
            <a:r>
              <a:rPr lang="pt-BR" dirty="0" err="1"/>
              <a:t>inverting</a:t>
            </a:r>
            <a:r>
              <a:rPr lang="pt-BR" dirty="0"/>
              <a:t> </a:t>
            </a:r>
            <a:r>
              <a:rPr lang="pt-BR" dirty="0" err="1"/>
              <a:t>gates</a:t>
            </a:r>
            <a:r>
              <a:rPr lang="pt-BR" dirty="0"/>
              <a:t> do </a:t>
            </a:r>
            <a:r>
              <a:rPr lang="pt-BR" dirty="0" err="1"/>
              <a:t>not</a:t>
            </a:r>
            <a:r>
              <a:rPr lang="pt-BR" dirty="0"/>
              <a:t> </a:t>
            </a:r>
            <a:r>
              <a:rPr lang="pt-BR" dirty="0" err="1"/>
              <a:t>have</a:t>
            </a:r>
            <a:r>
              <a:rPr lang="pt-BR" dirty="0"/>
              <a:t> </a:t>
            </a:r>
            <a:r>
              <a:rPr lang="pt-BR" dirty="0" err="1"/>
              <a:t>this</a:t>
            </a:r>
            <a:r>
              <a:rPr lang="pt-BR" dirty="0"/>
              <a:t> </a:t>
            </a:r>
            <a:r>
              <a:rPr lang="pt-BR" dirty="0" err="1"/>
              <a:t>versatility</a:t>
            </a:r>
            <a:r>
              <a:rPr lang="pt-BR" dirty="0"/>
              <a:t> </a:t>
            </a:r>
            <a:r>
              <a:rPr lang="pt-BR" dirty="0" err="1"/>
              <a:t>since</a:t>
            </a:r>
            <a:r>
              <a:rPr lang="pt-BR" dirty="0"/>
              <a:t> </a:t>
            </a:r>
            <a:r>
              <a:rPr lang="pt-BR" dirty="0" err="1"/>
              <a:t>they</a:t>
            </a:r>
            <a:r>
              <a:rPr lang="pt-BR" dirty="0"/>
              <a:t> </a:t>
            </a:r>
            <a:r>
              <a:rPr lang="pt-BR" dirty="0" err="1"/>
              <a:t>can't</a:t>
            </a:r>
            <a:r>
              <a:rPr lang="pt-BR" dirty="0"/>
              <a:t> </a:t>
            </a:r>
            <a:r>
              <a:rPr lang="pt-BR" dirty="0" err="1"/>
              <a:t>produce</a:t>
            </a:r>
            <a:r>
              <a:rPr lang="pt-BR" dirty="0"/>
              <a:t> </a:t>
            </a:r>
            <a:r>
              <a:rPr lang="pt-BR" dirty="0" err="1"/>
              <a:t>an</a:t>
            </a:r>
            <a:r>
              <a:rPr lang="pt-BR" dirty="0"/>
              <a:t> </a:t>
            </a:r>
            <a:r>
              <a:rPr lang="pt-BR" dirty="0" err="1"/>
              <a:t>invert</a:t>
            </a:r>
            <a:r>
              <a:rPr lang="pt-BR" dirty="0"/>
              <a:t>.</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Aplicações</a:t>
            </a:r>
            <a:r>
              <a:rPr lang="en-US" baseline="0" dirty="0"/>
              <a:t> de </a:t>
            </a:r>
            <a:r>
              <a:rPr lang="en-US" baseline="0" dirty="0" err="1"/>
              <a:t>portas</a:t>
            </a:r>
            <a:r>
              <a:rPr lang="en-US" baseline="0" dirty="0"/>
              <a:t> NAND: </a:t>
            </a:r>
            <a:r>
              <a:rPr lang="pt-BR" dirty="0">
                <a:hlinkClick r:id="rId3" invalidUrl="http://www.schoolphysics.co.uk/age16-19/Electronics/Logic gates/text/Logic_gates_applications/index.html"/>
              </a:rPr>
              <a:t>http://www.schoolphysics.co.uk/age16-19/Electronics/Logic%20gates/text/Logic_gates_applications/index.html</a:t>
            </a:r>
            <a:endParaRPr lang="pt-BR" dirty="0"/>
          </a:p>
          <a:p>
            <a:endParaRPr lang="en-US" baseline="0" dirty="0"/>
          </a:p>
        </p:txBody>
      </p:sp>
      <p:sp>
        <p:nvSpPr>
          <p:cNvPr id="4" name="Slide Number Placeholder 3"/>
          <p:cNvSpPr>
            <a:spLocks noGrp="1"/>
          </p:cNvSpPr>
          <p:nvPr>
            <p:ph type="sldNum" sz="quarter" idx="10"/>
          </p:nvPr>
        </p:nvSpPr>
        <p:spPr/>
        <p:txBody>
          <a:bodyPr/>
          <a:lstStyle/>
          <a:p>
            <a:fld id="{F23FB91E-A0DC-4A5F-B463-D7B8E79502D1}" type="slidenum">
              <a:rPr lang="pt-BR" smtClean="0"/>
              <a:t>29</a:t>
            </a:fld>
            <a:endParaRPr lang="pt-BR"/>
          </a:p>
        </p:txBody>
      </p:sp>
    </p:spTree>
    <p:extLst>
      <p:ext uri="{BB962C8B-B14F-4D97-AF65-F5344CB8AC3E}">
        <p14:creationId xmlns:p14="http://schemas.microsoft.com/office/powerpoint/2010/main" val="943710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30</a:t>
            </a:fld>
            <a:endParaRPr lang="pt-BR"/>
          </a:p>
        </p:txBody>
      </p:sp>
    </p:spTree>
    <p:extLst>
      <p:ext uri="{BB962C8B-B14F-4D97-AF65-F5344CB8AC3E}">
        <p14:creationId xmlns:p14="http://schemas.microsoft.com/office/powerpoint/2010/main" val="2644793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3FB91E-A0DC-4A5F-B463-D7B8E79502D1}" type="slidenum">
              <a:rPr lang="pt-BR" smtClean="0"/>
              <a:t>31</a:t>
            </a:fld>
            <a:endParaRPr lang="pt-BR"/>
          </a:p>
        </p:txBody>
      </p:sp>
    </p:spTree>
    <p:extLst>
      <p:ext uri="{BB962C8B-B14F-4D97-AF65-F5344CB8AC3E}">
        <p14:creationId xmlns:p14="http://schemas.microsoft.com/office/powerpoint/2010/main" val="2167263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labdegaragem.com</a:t>
            </a:r>
            <a:r>
              <a:rPr lang="pt-BR" dirty="0"/>
              <a:t>/profiles/blogs/para-que-serve-resistores-pull-up-pull-down-e-como-implement-los</a:t>
            </a:r>
          </a:p>
        </p:txBody>
      </p:sp>
      <p:sp>
        <p:nvSpPr>
          <p:cNvPr id="4" name="Slide Number Placeholder 3"/>
          <p:cNvSpPr>
            <a:spLocks noGrp="1"/>
          </p:cNvSpPr>
          <p:nvPr>
            <p:ph type="sldNum" sz="quarter" idx="10"/>
          </p:nvPr>
        </p:nvSpPr>
        <p:spPr/>
        <p:txBody>
          <a:bodyPr/>
          <a:lstStyle/>
          <a:p>
            <a:fld id="{F23FB91E-A0DC-4A5F-B463-D7B8E79502D1}" type="slidenum">
              <a:rPr lang="pt-BR" smtClean="0"/>
              <a:t>32</a:t>
            </a:fld>
            <a:endParaRPr lang="pt-BR"/>
          </a:p>
        </p:txBody>
      </p:sp>
    </p:spTree>
    <p:extLst>
      <p:ext uri="{BB962C8B-B14F-4D97-AF65-F5344CB8AC3E}">
        <p14:creationId xmlns:p14="http://schemas.microsoft.com/office/powerpoint/2010/main" val="33210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Link do </a:t>
            </a:r>
            <a:r>
              <a:rPr lang="pt-BR" dirty="0" err="1"/>
              <a:t>handout</a:t>
            </a:r>
            <a:r>
              <a:rPr lang="pt-BR" dirty="0"/>
              <a:t>: </a:t>
            </a:r>
            <a:r>
              <a:rPr lang="pt-BR" dirty="0" err="1"/>
              <a:t>https</a:t>
            </a:r>
            <a:r>
              <a:rPr lang="pt-BR" dirty="0"/>
              <a:t>://</a:t>
            </a:r>
            <a:r>
              <a:rPr lang="pt-BR" dirty="0" err="1"/>
              <a:t>www.dropbox.com</a:t>
            </a:r>
            <a:r>
              <a:rPr lang="pt-BR" dirty="0"/>
              <a:t>/</a:t>
            </a:r>
            <a:r>
              <a:rPr lang="pt-BR" dirty="0" err="1"/>
              <a:t>s</a:t>
            </a:r>
            <a:r>
              <a:rPr lang="pt-BR" dirty="0"/>
              <a:t>/9apx3jvbovf0ce3/</a:t>
            </a:r>
            <a:r>
              <a:rPr lang="pt-BR" dirty="0" err="1"/>
              <a:t>BellLabsAtividade.pdf?dl</a:t>
            </a:r>
            <a:r>
              <a:rPr lang="pt-BR" dirty="0"/>
              <a:t>=0</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r>
              <a:rPr lang="pt-BR" dirty="0" err="1"/>
              <a:t>http</a:t>
            </a:r>
            <a:r>
              <a:rPr lang="pt-BR" dirty="0"/>
              <a:t>://</a:t>
            </a:r>
            <a:r>
              <a:rPr lang="pt-BR" dirty="0" err="1"/>
              <a:t>www.newyorker.com</a:t>
            </a:r>
            <a:r>
              <a:rPr lang="pt-BR" dirty="0"/>
              <a:t>/</a:t>
            </a:r>
            <a:r>
              <a:rPr lang="pt-BR" dirty="0" err="1"/>
              <a:t>wp-content</a:t>
            </a:r>
            <a:r>
              <a:rPr lang="pt-BR" dirty="0"/>
              <a:t>/uploads/2016/04/Roberts-Claude-Shannon-782.jpg</a:t>
            </a:r>
          </a:p>
        </p:txBody>
      </p:sp>
      <p:sp>
        <p:nvSpPr>
          <p:cNvPr id="4" name="Slide Number Placeholder 3"/>
          <p:cNvSpPr>
            <a:spLocks noGrp="1"/>
          </p:cNvSpPr>
          <p:nvPr>
            <p:ph type="sldNum" sz="quarter" idx="10"/>
          </p:nvPr>
        </p:nvSpPr>
        <p:spPr/>
        <p:txBody>
          <a:bodyPr/>
          <a:lstStyle/>
          <a:p>
            <a:fld id="{F23FB91E-A0DC-4A5F-B463-D7B8E79502D1}" type="slidenum">
              <a:rPr lang="pt-BR" smtClean="0"/>
              <a:t>39</a:t>
            </a:fld>
            <a:endParaRPr lang="pt-BR"/>
          </a:p>
        </p:txBody>
      </p:sp>
    </p:spTree>
    <p:extLst>
      <p:ext uri="{BB962C8B-B14F-4D97-AF65-F5344CB8AC3E}">
        <p14:creationId xmlns:p14="http://schemas.microsoft.com/office/powerpoint/2010/main" val="547494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40</a:t>
            </a:fld>
            <a:endParaRPr lang="pt-BR"/>
          </a:p>
        </p:txBody>
      </p:sp>
    </p:spTree>
    <p:extLst>
      <p:ext uri="{BB962C8B-B14F-4D97-AF65-F5344CB8AC3E}">
        <p14:creationId xmlns:p14="http://schemas.microsoft.com/office/powerpoint/2010/main" val="1821352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42</a:t>
            </a:fld>
            <a:endParaRPr lang="pt-BR"/>
          </a:p>
        </p:txBody>
      </p:sp>
    </p:spTree>
    <p:extLst>
      <p:ext uri="{BB962C8B-B14F-4D97-AF65-F5344CB8AC3E}">
        <p14:creationId xmlns:p14="http://schemas.microsoft.com/office/powerpoint/2010/main" val="295471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://d2r5da613aq50s.cloudfront.net/</a:t>
            </a:r>
            <a:r>
              <a:rPr lang="pt-BR" dirty="0" err="1"/>
              <a:t>wp-content</a:t>
            </a:r>
            <a:r>
              <a:rPr lang="pt-BR" dirty="0"/>
              <a:t>/uploads/310622.image0.jpg</a:t>
            </a:r>
          </a:p>
        </p:txBody>
      </p:sp>
      <p:sp>
        <p:nvSpPr>
          <p:cNvPr id="4" name="Slide Number Placeholder 3"/>
          <p:cNvSpPr>
            <a:spLocks noGrp="1"/>
          </p:cNvSpPr>
          <p:nvPr>
            <p:ph type="sldNum" sz="quarter" idx="10"/>
          </p:nvPr>
        </p:nvSpPr>
        <p:spPr/>
        <p:txBody>
          <a:bodyPr/>
          <a:lstStyle/>
          <a:p>
            <a:fld id="{F23FB91E-A0DC-4A5F-B463-D7B8E79502D1}" type="slidenum">
              <a:rPr lang="pt-BR" smtClean="0"/>
              <a:t>43</a:t>
            </a:fld>
            <a:endParaRPr lang="pt-BR"/>
          </a:p>
        </p:txBody>
      </p:sp>
    </p:spTree>
    <p:extLst>
      <p:ext uri="{BB962C8B-B14F-4D97-AF65-F5344CB8AC3E}">
        <p14:creationId xmlns:p14="http://schemas.microsoft.com/office/powerpoint/2010/main" val="1710155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t>
            </a:r>
            <a:r>
              <a:rPr lang="en-US" dirty="0" err="1"/>
              <a:t>implementar</a:t>
            </a:r>
            <a:r>
              <a:rPr lang="en-US" dirty="0"/>
              <a:t> a </a:t>
            </a:r>
            <a:r>
              <a:rPr lang="en-US" dirty="0" err="1"/>
              <a:t>lógica</a:t>
            </a:r>
            <a:r>
              <a:rPr lang="en-US" dirty="0"/>
              <a:t> </a:t>
            </a:r>
            <a:r>
              <a:rPr lang="en-US" dirty="0" err="1"/>
              <a:t>boolena</a:t>
            </a:r>
            <a:r>
              <a:rPr lang="en-US" baseline="0" dirty="0"/>
              <a:t> </a:t>
            </a:r>
            <a:r>
              <a:rPr lang="en-US" baseline="0" dirty="0" err="1"/>
              <a:t>usamos</a:t>
            </a:r>
            <a:r>
              <a:rPr lang="en-US" baseline="0" dirty="0"/>
              <a:t> </a:t>
            </a:r>
            <a:r>
              <a:rPr lang="en-US" baseline="0" dirty="0" err="1"/>
              <a:t>portas</a:t>
            </a:r>
            <a:r>
              <a:rPr lang="en-US" baseline="0" dirty="0"/>
              <a:t> </a:t>
            </a:r>
            <a:r>
              <a:rPr lang="en-US" baseline="0" dirty="0" err="1"/>
              <a:t>lógicas</a:t>
            </a:r>
            <a:r>
              <a:rPr lang="en-US" baseline="0" dirty="0"/>
              <a:t>, que </a:t>
            </a:r>
            <a:r>
              <a:rPr lang="en-US" baseline="0" dirty="0" err="1"/>
              <a:t>são</a:t>
            </a:r>
            <a:r>
              <a:rPr lang="en-US" baseline="0" dirty="0"/>
              <a:t> </a:t>
            </a:r>
            <a:r>
              <a:rPr lang="en-US" baseline="0" dirty="0" err="1"/>
              <a:t>dispositivos</a:t>
            </a:r>
            <a:r>
              <a:rPr lang="en-US" baseline="0" dirty="0"/>
              <a:t> </a:t>
            </a:r>
            <a:r>
              <a:rPr lang="en-US" baseline="0" dirty="0" err="1"/>
              <a:t>eletrônicos</a:t>
            </a:r>
            <a:r>
              <a:rPr lang="en-US" baseline="0" dirty="0"/>
              <a:t> que </a:t>
            </a:r>
            <a:r>
              <a:rPr lang="en-US" baseline="0" dirty="0" err="1"/>
              <a:t>possuem</a:t>
            </a:r>
            <a:r>
              <a:rPr lang="en-US" baseline="0" dirty="0"/>
              <a:t> entradas e </a:t>
            </a:r>
            <a:r>
              <a:rPr lang="en-US" baseline="0" dirty="0" err="1"/>
              <a:t>saídas</a:t>
            </a:r>
            <a:r>
              <a:rPr lang="en-US" baseline="0" dirty="0"/>
              <a:t> e </a:t>
            </a:r>
            <a:r>
              <a:rPr lang="en-US" baseline="0" dirty="0" err="1"/>
              <a:t>respeitam</a:t>
            </a:r>
            <a:r>
              <a:rPr lang="en-US" baseline="0" dirty="0"/>
              <a:t> </a:t>
            </a:r>
            <a:r>
              <a:rPr lang="en-US" baseline="0" dirty="0" err="1"/>
              <a:t>uma</a:t>
            </a:r>
            <a:r>
              <a:rPr lang="en-US" baseline="0" dirty="0"/>
              <a:t> </a:t>
            </a:r>
            <a:r>
              <a:rPr lang="en-US" baseline="0" dirty="0" err="1"/>
              <a:t>ágebra</a:t>
            </a:r>
            <a:r>
              <a:rPr lang="en-US" baseline="0" dirty="0"/>
              <a:t> </a:t>
            </a:r>
            <a:r>
              <a:rPr lang="en-US" baseline="0" dirty="0" err="1"/>
              <a:t>booleana</a:t>
            </a:r>
            <a:r>
              <a:rPr lang="en-US" baseline="0" dirty="0"/>
              <a:t> </a:t>
            </a:r>
            <a:r>
              <a:rPr lang="en-US" baseline="0" dirty="0" err="1"/>
              <a:t>bem</a:t>
            </a:r>
            <a:r>
              <a:rPr lang="en-US" baseline="0" dirty="0"/>
              <a:t> </a:t>
            </a:r>
            <a:r>
              <a:rPr lang="en-US" baseline="0" dirty="0" err="1"/>
              <a:t>definida</a:t>
            </a:r>
            <a:r>
              <a:rPr lang="en-US" baseline="0" dirty="0"/>
              <a:t>. </a:t>
            </a:r>
            <a:r>
              <a:rPr lang="en-US" baseline="0" dirty="0" err="1"/>
              <a:t>Por</a:t>
            </a:r>
            <a:r>
              <a:rPr lang="en-US" baseline="0" dirty="0"/>
              <a:t> </a:t>
            </a:r>
            <a:r>
              <a:rPr lang="en-US" baseline="0" dirty="0" err="1"/>
              <a:t>exemplo</a:t>
            </a:r>
            <a:r>
              <a:rPr lang="en-US" baseline="0" dirty="0"/>
              <a:t> </a:t>
            </a:r>
            <a:r>
              <a:rPr lang="en-US" baseline="0" dirty="0" err="1"/>
              <a:t>aqui</a:t>
            </a:r>
            <a:r>
              <a:rPr lang="en-US" baseline="0" dirty="0"/>
              <a:t> </a:t>
            </a:r>
            <a:r>
              <a:rPr lang="en-US" baseline="0" dirty="0" err="1"/>
              <a:t>esta</a:t>
            </a:r>
            <a:r>
              <a:rPr lang="en-US" baseline="0" dirty="0"/>
              <a:t> a </a:t>
            </a:r>
            <a:r>
              <a:rPr lang="en-US" baseline="0" dirty="0" err="1"/>
              <a:t>tabela</a:t>
            </a:r>
            <a:r>
              <a:rPr lang="en-US" baseline="0" dirty="0"/>
              <a:t> </a:t>
            </a:r>
            <a:r>
              <a:rPr lang="en-US" baseline="0" dirty="0" err="1"/>
              <a:t>verdade</a:t>
            </a:r>
            <a:r>
              <a:rPr lang="en-US" baseline="0" dirty="0"/>
              <a:t> de </a:t>
            </a:r>
            <a:r>
              <a:rPr lang="en-US" baseline="0" dirty="0" err="1"/>
              <a:t>uma</a:t>
            </a:r>
            <a:r>
              <a:rPr lang="en-US" baseline="0" dirty="0"/>
              <a:t> porta AND, a </a:t>
            </a:r>
            <a:r>
              <a:rPr lang="en-US" baseline="0" dirty="0" err="1"/>
              <a:t>representação</a:t>
            </a:r>
            <a:r>
              <a:rPr lang="en-US" baseline="0" dirty="0"/>
              <a:t> </a:t>
            </a:r>
            <a:r>
              <a:rPr lang="en-US" baseline="0" dirty="0" err="1"/>
              <a:t>mais</a:t>
            </a:r>
            <a:r>
              <a:rPr lang="en-US" baseline="0" dirty="0"/>
              <a:t> </a:t>
            </a:r>
            <a:r>
              <a:rPr lang="en-US" baseline="0" dirty="0" err="1"/>
              <a:t>usada</a:t>
            </a:r>
            <a:r>
              <a:rPr lang="en-US" baseline="0" dirty="0"/>
              <a:t> da porta </a:t>
            </a:r>
            <a:r>
              <a:rPr lang="en-US" baseline="0" dirty="0" err="1"/>
              <a:t>lógica</a:t>
            </a:r>
            <a:r>
              <a:rPr lang="en-US" baseline="0" dirty="0"/>
              <a:t> AND é </a:t>
            </a:r>
            <a:r>
              <a:rPr lang="en-US" baseline="0" dirty="0" err="1"/>
              <a:t>esse</a:t>
            </a:r>
            <a:r>
              <a:rPr lang="en-US" baseline="0" dirty="0"/>
              <a:t> </a:t>
            </a:r>
            <a:r>
              <a:rPr lang="en-US" baseline="0" dirty="0" err="1"/>
              <a:t>símbolo</a:t>
            </a:r>
            <a:r>
              <a:rPr lang="en-US" baseline="0" dirty="0"/>
              <a:t> </a:t>
            </a:r>
            <a:r>
              <a:rPr lang="en-US" baseline="0" dirty="0" err="1"/>
              <a:t>onde</a:t>
            </a:r>
            <a:r>
              <a:rPr lang="en-US" baseline="0" dirty="0"/>
              <a:t> as entradas </a:t>
            </a:r>
            <a:r>
              <a:rPr lang="en-US" baseline="0" dirty="0" err="1"/>
              <a:t>nesse</a:t>
            </a:r>
            <a:r>
              <a:rPr lang="en-US" baseline="0" dirty="0"/>
              <a:t> </a:t>
            </a:r>
            <a:r>
              <a:rPr lang="en-US" baseline="0" dirty="0" err="1"/>
              <a:t>caso</a:t>
            </a:r>
            <a:r>
              <a:rPr lang="en-US" baseline="0" dirty="0"/>
              <a:t> </a:t>
            </a:r>
            <a:r>
              <a:rPr lang="en-US" baseline="0" dirty="0" err="1"/>
              <a:t>estão</a:t>
            </a:r>
            <a:r>
              <a:rPr lang="en-US" baseline="0" dirty="0"/>
              <a:t> a </a:t>
            </a:r>
            <a:r>
              <a:rPr lang="en-US" baseline="0" dirty="0" err="1"/>
              <a:t>esquerda</a:t>
            </a:r>
            <a:r>
              <a:rPr lang="en-US" baseline="0" dirty="0"/>
              <a:t> e a </a:t>
            </a:r>
            <a:r>
              <a:rPr lang="en-US" baseline="0" dirty="0" err="1"/>
              <a:t>saída</a:t>
            </a:r>
            <a:r>
              <a:rPr lang="en-US" baseline="0" dirty="0"/>
              <a:t> a </a:t>
            </a:r>
            <a:r>
              <a:rPr lang="en-US" baseline="0" dirty="0" err="1"/>
              <a:t>direita</a:t>
            </a:r>
            <a:r>
              <a:rPr lang="en-US" baseline="0" dirty="0"/>
              <a:t>.  </a:t>
            </a:r>
            <a:endParaRPr lang="en-US" dirty="0"/>
          </a:p>
        </p:txBody>
      </p:sp>
      <p:sp>
        <p:nvSpPr>
          <p:cNvPr id="4" name="Slide Number Placeholder 3"/>
          <p:cNvSpPr>
            <a:spLocks noGrp="1"/>
          </p:cNvSpPr>
          <p:nvPr>
            <p:ph type="sldNum" sz="quarter" idx="10"/>
          </p:nvPr>
        </p:nvSpPr>
        <p:spPr/>
        <p:txBody>
          <a:bodyPr/>
          <a:lstStyle/>
          <a:p>
            <a:fld id="{F23FB91E-A0DC-4A5F-B463-D7B8E79502D1}" type="slidenum">
              <a:rPr lang="pt-BR" smtClean="0"/>
              <a:t>44</a:t>
            </a:fld>
            <a:endParaRPr lang="pt-BR"/>
          </a:p>
        </p:txBody>
      </p:sp>
    </p:spTree>
    <p:extLst>
      <p:ext uri="{BB962C8B-B14F-4D97-AF65-F5344CB8AC3E}">
        <p14:creationId xmlns:p14="http://schemas.microsoft.com/office/powerpoint/2010/main" val="82531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Aqui</a:t>
            </a:r>
            <a:r>
              <a:rPr lang="en-US" dirty="0"/>
              <a:t> </a:t>
            </a:r>
            <a:r>
              <a:rPr lang="en-US" dirty="0" err="1"/>
              <a:t>estão</a:t>
            </a:r>
            <a:r>
              <a:rPr lang="en-US" baseline="0" dirty="0"/>
              <a:t> as </a:t>
            </a:r>
            <a:r>
              <a:rPr lang="en-US" baseline="0" dirty="0" err="1"/>
              <a:t>principais</a:t>
            </a:r>
            <a:r>
              <a:rPr lang="en-US" baseline="0" dirty="0"/>
              <a:t> </a:t>
            </a:r>
            <a:r>
              <a:rPr lang="en-US" baseline="0" dirty="0" err="1"/>
              <a:t>portas</a:t>
            </a:r>
            <a:r>
              <a:rPr lang="en-US" baseline="0" dirty="0"/>
              <a:t> </a:t>
            </a:r>
            <a:r>
              <a:rPr lang="en-US" baseline="0" dirty="0" err="1"/>
              <a:t>lógicas</a:t>
            </a:r>
            <a:r>
              <a:rPr lang="en-US" baseline="0" dirty="0"/>
              <a:t> </a:t>
            </a:r>
            <a:r>
              <a:rPr lang="en-US" baseline="0" dirty="0" err="1"/>
              <a:t>fundamentais</a:t>
            </a:r>
            <a:r>
              <a:rPr lang="en-US" baseline="0" dirty="0"/>
              <a:t>. </a:t>
            </a:r>
            <a:r>
              <a:rPr lang="en-US" baseline="0" dirty="0" err="1"/>
              <a:t>Temos</a:t>
            </a:r>
            <a:r>
              <a:rPr lang="en-US" baseline="0" dirty="0"/>
              <a:t> a AND, OR e NOT </a:t>
            </a:r>
            <a:r>
              <a:rPr lang="en-US" dirty="0"/>
              <a:t> e </a:t>
            </a:r>
            <a:r>
              <a:rPr lang="en-US" dirty="0" err="1"/>
              <a:t>suas</a:t>
            </a:r>
            <a:r>
              <a:rPr lang="en-US" dirty="0"/>
              <a:t> </a:t>
            </a:r>
            <a:r>
              <a:rPr lang="en-US" dirty="0" err="1"/>
              <a:t>respectivas</a:t>
            </a:r>
            <a:r>
              <a:rPr lang="en-US" baseline="0" dirty="0"/>
              <a:t> </a:t>
            </a:r>
            <a:r>
              <a:rPr lang="en-US" baseline="0" dirty="0" err="1"/>
              <a:t>lógicas</a:t>
            </a:r>
            <a:r>
              <a:rPr lang="en-US" baseline="0" dirty="0"/>
              <a:t> </a:t>
            </a:r>
            <a:r>
              <a:rPr lang="en-US" baseline="0" dirty="0" err="1"/>
              <a:t>negativas</a:t>
            </a:r>
            <a:r>
              <a:rPr lang="en-US" baseline="0" dirty="0"/>
              <a:t>, </a:t>
            </a:r>
            <a:r>
              <a:rPr lang="en-US" baseline="0" dirty="0" err="1"/>
              <a:t>como</a:t>
            </a:r>
            <a:r>
              <a:rPr lang="en-US" baseline="0" dirty="0"/>
              <a:t> </a:t>
            </a:r>
            <a:r>
              <a:rPr lang="en-US" baseline="0" dirty="0" err="1"/>
              <a:t>por</a:t>
            </a:r>
            <a:r>
              <a:rPr lang="en-US" baseline="0" dirty="0"/>
              <a:t> </a:t>
            </a:r>
            <a:r>
              <a:rPr lang="en-US" baseline="0" dirty="0" err="1"/>
              <a:t>exemplo</a:t>
            </a:r>
            <a:r>
              <a:rPr lang="en-US" baseline="0" dirty="0"/>
              <a:t> a NAND que </a:t>
            </a:r>
            <a:r>
              <a:rPr lang="en-US" baseline="0" dirty="0" err="1"/>
              <a:t>só</a:t>
            </a:r>
            <a:r>
              <a:rPr lang="en-US" baseline="0" dirty="0"/>
              <a:t> </a:t>
            </a:r>
            <a:r>
              <a:rPr lang="en-US" baseline="0" dirty="0" err="1"/>
              <a:t>retorna</a:t>
            </a:r>
            <a:r>
              <a:rPr lang="en-US" baseline="0" dirty="0"/>
              <a:t> 0 </a:t>
            </a:r>
            <a:r>
              <a:rPr lang="en-US" baseline="0" dirty="0" err="1"/>
              <a:t>caso</a:t>
            </a:r>
            <a:r>
              <a:rPr lang="en-US" baseline="0" dirty="0"/>
              <a:t> as </a:t>
            </a:r>
            <a:r>
              <a:rPr lang="en-US" baseline="0" dirty="0" err="1"/>
              <a:t>suas</a:t>
            </a:r>
            <a:r>
              <a:rPr lang="en-US" baseline="0" dirty="0"/>
              <a:t> entradas </a:t>
            </a:r>
            <a:r>
              <a:rPr lang="en-US" baseline="0" dirty="0" err="1"/>
              <a:t>sejam</a:t>
            </a:r>
            <a:r>
              <a:rPr lang="en-US" baseline="0" dirty="0"/>
              <a:t>, 1. </a:t>
            </a:r>
            <a:r>
              <a:rPr lang="en-US" baseline="0" dirty="0" err="1"/>
              <a:t>Ou</a:t>
            </a:r>
            <a:r>
              <a:rPr lang="en-US" baseline="0" dirty="0"/>
              <a:t> a NOR que </a:t>
            </a:r>
            <a:r>
              <a:rPr lang="en-US" baseline="0" dirty="0" err="1"/>
              <a:t>retorna</a:t>
            </a:r>
            <a:r>
              <a:rPr lang="en-US" baseline="0" dirty="0"/>
              <a:t> 0 casa </a:t>
            </a:r>
            <a:r>
              <a:rPr lang="en-US" baseline="0" dirty="0" err="1"/>
              <a:t>uma</a:t>
            </a:r>
            <a:r>
              <a:rPr lang="en-US" baseline="0" dirty="0"/>
              <a:t> das entradas </a:t>
            </a:r>
            <a:r>
              <a:rPr lang="en-US" baseline="0" dirty="0" err="1"/>
              <a:t>seja</a:t>
            </a:r>
            <a:r>
              <a:rPr lang="en-US" baseline="0" dirty="0"/>
              <a:t> 1. </a:t>
            </a:r>
            <a:r>
              <a:rPr lang="en-US" baseline="0" dirty="0" err="1"/>
              <a:t>Preceba</a:t>
            </a:r>
            <a:r>
              <a:rPr lang="en-US" baseline="0" dirty="0"/>
              <a:t> que a </a:t>
            </a:r>
            <a:r>
              <a:rPr lang="en-US" baseline="0" dirty="0" err="1"/>
              <a:t>diferença</a:t>
            </a:r>
            <a:r>
              <a:rPr lang="en-US" baseline="0" dirty="0"/>
              <a:t> </a:t>
            </a:r>
            <a:r>
              <a:rPr lang="en-US" baseline="0" dirty="0" err="1"/>
              <a:t>esta</a:t>
            </a:r>
            <a:r>
              <a:rPr lang="en-US" baseline="0" dirty="0"/>
              <a:t> no </a:t>
            </a:r>
            <a:r>
              <a:rPr lang="en-US" baseline="0" dirty="0" err="1"/>
              <a:t>círculo</a:t>
            </a:r>
            <a:r>
              <a:rPr lang="en-US" baseline="0" dirty="0"/>
              <a:t> </a:t>
            </a:r>
            <a:r>
              <a:rPr lang="en-US" baseline="0" dirty="0" err="1"/>
              <a:t>na</a:t>
            </a:r>
            <a:r>
              <a:rPr lang="en-US" baseline="0" dirty="0"/>
              <a:t> </a:t>
            </a:r>
            <a:r>
              <a:rPr lang="en-US" baseline="0" dirty="0" err="1"/>
              <a:t>saída</a:t>
            </a:r>
            <a:r>
              <a:rPr lang="en-US" baseline="0" dirty="0"/>
              <a:t>, </a:t>
            </a:r>
            <a:r>
              <a:rPr lang="en-US" baseline="0" dirty="0" err="1"/>
              <a:t>esse</a:t>
            </a:r>
            <a:r>
              <a:rPr lang="en-US" baseline="0" dirty="0"/>
              <a:t> </a:t>
            </a:r>
            <a:r>
              <a:rPr lang="en-US" baseline="0" dirty="0" err="1"/>
              <a:t>símbolo</a:t>
            </a:r>
            <a:r>
              <a:rPr lang="en-US" baseline="0" dirty="0"/>
              <a:t> </a:t>
            </a:r>
            <a:r>
              <a:rPr lang="en-US" baseline="0" dirty="0" err="1"/>
              <a:t>normalmente</a:t>
            </a:r>
            <a:r>
              <a:rPr lang="en-US" baseline="0" dirty="0"/>
              <a:t> </a:t>
            </a:r>
            <a:r>
              <a:rPr lang="en-US" baseline="0" dirty="0" err="1"/>
              <a:t>representa</a:t>
            </a:r>
            <a:r>
              <a:rPr lang="en-US" baseline="0" dirty="0"/>
              <a:t> </a:t>
            </a:r>
            <a:r>
              <a:rPr lang="en-US" baseline="0" dirty="0" err="1"/>
              <a:t>uma</a:t>
            </a:r>
            <a:r>
              <a:rPr lang="en-US" baseline="0" dirty="0"/>
              <a:t> </a:t>
            </a:r>
            <a:r>
              <a:rPr lang="en-US" baseline="0" dirty="0" err="1"/>
              <a:t>negação</a:t>
            </a:r>
            <a:r>
              <a:rPr lang="en-US" baseline="0" dirty="0"/>
              <a:t>. </a:t>
            </a:r>
            <a:r>
              <a:rPr lang="en-US" baseline="0" dirty="0" err="1"/>
              <a:t>Por</a:t>
            </a:r>
            <a:r>
              <a:rPr lang="en-US" baseline="0" dirty="0"/>
              <a:t> </a:t>
            </a:r>
            <a:r>
              <a:rPr lang="en-US" baseline="0" dirty="0" err="1"/>
              <a:t>exemplo</a:t>
            </a:r>
            <a:r>
              <a:rPr lang="en-US" baseline="0" dirty="0"/>
              <a:t> </a:t>
            </a:r>
            <a:r>
              <a:rPr lang="en-US" baseline="0" dirty="0" err="1"/>
              <a:t>veja</a:t>
            </a:r>
            <a:r>
              <a:rPr lang="en-US" baseline="0" dirty="0"/>
              <a:t> a </a:t>
            </a:r>
            <a:r>
              <a:rPr lang="en-US" baseline="0" dirty="0" err="1"/>
              <a:t>representação</a:t>
            </a:r>
            <a:r>
              <a:rPr lang="en-US" baseline="0" dirty="0"/>
              <a:t> da NOT com o </a:t>
            </a:r>
            <a:r>
              <a:rPr lang="en-US" baseline="0" dirty="0" err="1"/>
              <a:t>cículo</a:t>
            </a:r>
            <a:r>
              <a:rPr lang="en-US" baseline="0" dirty="0"/>
              <a:t> </a:t>
            </a:r>
            <a:r>
              <a:rPr lang="en-US" baseline="0" dirty="0" err="1"/>
              <a:t>na</a:t>
            </a:r>
            <a:r>
              <a:rPr lang="en-US" baseline="0" dirty="0"/>
              <a:t> entrada, </a:t>
            </a:r>
            <a:r>
              <a:rPr lang="en-US" baseline="0" dirty="0" err="1"/>
              <a:t>essa</a:t>
            </a:r>
            <a:r>
              <a:rPr lang="en-US" baseline="0" dirty="0"/>
              <a:t> é </a:t>
            </a:r>
            <a:r>
              <a:rPr lang="en-US" baseline="0" dirty="0" err="1"/>
              <a:t>uma</a:t>
            </a:r>
            <a:r>
              <a:rPr lang="en-US" baseline="0" dirty="0"/>
              <a:t> </a:t>
            </a:r>
            <a:r>
              <a:rPr lang="en-US" baseline="0" dirty="0" err="1"/>
              <a:t>representação</a:t>
            </a:r>
            <a:r>
              <a:rPr lang="en-US" baseline="0" dirty="0"/>
              <a:t> </a:t>
            </a:r>
            <a:r>
              <a:rPr lang="en-US" baseline="0" dirty="0" err="1"/>
              <a:t>não</a:t>
            </a:r>
            <a:r>
              <a:rPr lang="en-US" baseline="0" dirty="0"/>
              <a:t> </a:t>
            </a:r>
            <a:r>
              <a:rPr lang="en-US" baseline="0" dirty="0" err="1"/>
              <a:t>muito</a:t>
            </a:r>
            <a:r>
              <a:rPr lang="en-US" baseline="0" dirty="0"/>
              <a:t> </a:t>
            </a:r>
            <a:r>
              <a:rPr lang="en-US" baseline="0" dirty="0" err="1"/>
              <a:t>usada</a:t>
            </a:r>
            <a:r>
              <a:rPr lang="en-US" baseline="0" dirty="0"/>
              <a:t>, mas serve para </a:t>
            </a:r>
            <a:r>
              <a:rPr lang="en-US" baseline="0" dirty="0" err="1"/>
              <a:t>ilustrar</a:t>
            </a:r>
            <a:r>
              <a:rPr lang="en-US" baseline="0" dirty="0"/>
              <a:t> o </a:t>
            </a:r>
            <a:r>
              <a:rPr lang="en-US" baseline="0" dirty="0" err="1"/>
              <a:t>uso</a:t>
            </a:r>
            <a:r>
              <a:rPr lang="en-US" baseline="0" dirty="0"/>
              <a:t> do </a:t>
            </a:r>
            <a:r>
              <a:rPr lang="en-US" baseline="0" dirty="0" err="1"/>
              <a:t>círculo</a:t>
            </a:r>
            <a:r>
              <a:rPr lang="en-US" baseline="0" dirty="0"/>
              <a:t>. O XOR é </a:t>
            </a:r>
            <a:r>
              <a:rPr lang="en-US" baseline="0" dirty="0" err="1"/>
              <a:t>outra</a:t>
            </a:r>
            <a:r>
              <a:rPr lang="en-US" baseline="0" dirty="0"/>
              <a:t> porta </a:t>
            </a:r>
            <a:r>
              <a:rPr lang="en-US" baseline="0" dirty="0" err="1"/>
              <a:t>curioso</a:t>
            </a:r>
            <a:r>
              <a:rPr lang="en-US" baseline="0" dirty="0"/>
              <a:t>, </a:t>
            </a:r>
            <a:r>
              <a:rPr lang="en-US" baseline="0" dirty="0" err="1"/>
              <a:t>pois</a:t>
            </a:r>
            <a:r>
              <a:rPr lang="en-US" baseline="0" dirty="0"/>
              <a:t> </a:t>
            </a:r>
            <a:r>
              <a:rPr lang="en-US" baseline="0" dirty="0" err="1"/>
              <a:t>ele</a:t>
            </a:r>
            <a:r>
              <a:rPr lang="en-US" baseline="0" dirty="0"/>
              <a:t> </a:t>
            </a:r>
            <a:r>
              <a:rPr lang="en-US" baseline="0" dirty="0" err="1"/>
              <a:t>retorna</a:t>
            </a:r>
            <a:r>
              <a:rPr lang="en-US" baseline="0" dirty="0"/>
              <a:t> 1 se </a:t>
            </a:r>
            <a:r>
              <a:rPr lang="en-US" baseline="0" dirty="0" err="1"/>
              <a:t>somente</a:t>
            </a:r>
            <a:r>
              <a:rPr lang="en-US" baseline="0" dirty="0"/>
              <a:t> </a:t>
            </a:r>
            <a:r>
              <a:rPr lang="en-US" baseline="0" dirty="0" err="1"/>
              <a:t>uma</a:t>
            </a:r>
            <a:r>
              <a:rPr lang="en-US" baseline="0" dirty="0"/>
              <a:t> das entradas for 1, se as </a:t>
            </a:r>
            <a:r>
              <a:rPr lang="en-US" baseline="0" dirty="0" err="1"/>
              <a:t>duas</a:t>
            </a:r>
            <a:r>
              <a:rPr lang="en-US" baseline="0" dirty="0"/>
              <a:t> </a:t>
            </a:r>
            <a:r>
              <a:rPr lang="en-US" baseline="0" dirty="0" err="1"/>
              <a:t>forem</a:t>
            </a:r>
            <a:r>
              <a:rPr lang="en-US" baseline="0" dirty="0"/>
              <a:t> 0 </a:t>
            </a:r>
            <a:r>
              <a:rPr lang="en-US" baseline="0" dirty="0" err="1"/>
              <a:t>ou</a:t>
            </a:r>
            <a:r>
              <a:rPr lang="en-US" baseline="0" dirty="0"/>
              <a:t> as </a:t>
            </a:r>
            <a:r>
              <a:rPr lang="en-US" baseline="0" dirty="0" err="1"/>
              <a:t>duas</a:t>
            </a:r>
            <a:r>
              <a:rPr lang="en-US" baseline="0" dirty="0"/>
              <a:t> </a:t>
            </a:r>
            <a:r>
              <a:rPr lang="en-US" baseline="0" dirty="0" err="1"/>
              <a:t>forem</a:t>
            </a:r>
            <a:r>
              <a:rPr lang="en-US" baseline="0" dirty="0"/>
              <a:t> 1, a </a:t>
            </a:r>
            <a:r>
              <a:rPr lang="en-US" baseline="0" dirty="0" err="1"/>
              <a:t>saída</a:t>
            </a:r>
            <a:r>
              <a:rPr lang="en-US" baseline="0" dirty="0"/>
              <a:t> </a:t>
            </a:r>
            <a:r>
              <a:rPr lang="en-US" baseline="0" dirty="0" err="1"/>
              <a:t>será</a:t>
            </a:r>
            <a:r>
              <a:rPr lang="en-US" baseline="0" dirty="0"/>
              <a:t> 0, e </a:t>
            </a:r>
            <a:r>
              <a:rPr lang="en-US" baseline="0" dirty="0" err="1"/>
              <a:t>por</a:t>
            </a:r>
            <a:r>
              <a:rPr lang="en-US" baseline="0" dirty="0"/>
              <a:t> </a:t>
            </a:r>
            <a:r>
              <a:rPr lang="en-US" baseline="0" dirty="0" err="1"/>
              <a:t>consequencia</a:t>
            </a:r>
            <a:r>
              <a:rPr lang="en-US" baseline="0" dirty="0"/>
              <a:t> a XNOR é o </a:t>
            </a:r>
            <a:r>
              <a:rPr lang="en-US" baseline="0" dirty="0" err="1"/>
              <a:t>inverso</a:t>
            </a:r>
            <a:r>
              <a:rPr lang="en-US" baseline="0" dirty="0"/>
              <a:t> disso. </a:t>
            </a:r>
            <a:r>
              <a:rPr lang="en-US" dirty="0"/>
              <a:t> </a:t>
            </a:r>
            <a:r>
              <a:rPr lang="en-US" dirty="0" err="1"/>
              <a:t>Essas</a:t>
            </a:r>
            <a:r>
              <a:rPr lang="en-US" dirty="0"/>
              <a:t> </a:t>
            </a:r>
            <a:r>
              <a:rPr lang="en-US" dirty="0" err="1"/>
              <a:t>portas</a:t>
            </a:r>
            <a:r>
              <a:rPr lang="en-US" dirty="0"/>
              <a:t> </a:t>
            </a:r>
            <a:r>
              <a:rPr lang="en-US" dirty="0" err="1"/>
              <a:t>lógicas</a:t>
            </a:r>
            <a:r>
              <a:rPr lang="en-US" dirty="0"/>
              <a:t> </a:t>
            </a:r>
            <a:r>
              <a:rPr lang="en-US" dirty="0" err="1"/>
              <a:t>podem</a:t>
            </a:r>
            <a:r>
              <a:rPr lang="en-US" dirty="0"/>
              <a:t> </a:t>
            </a:r>
            <a:r>
              <a:rPr lang="en-US" dirty="0" err="1"/>
              <a:t>ser</a:t>
            </a:r>
            <a:r>
              <a:rPr lang="en-US" dirty="0"/>
              <a:t> </a:t>
            </a:r>
            <a:r>
              <a:rPr lang="en-US" dirty="0" err="1"/>
              <a:t>combinadas</a:t>
            </a:r>
            <a:r>
              <a:rPr lang="en-US" dirty="0"/>
              <a:t> para a </a:t>
            </a:r>
            <a:r>
              <a:rPr lang="en-US" dirty="0" err="1"/>
              <a:t>construção</a:t>
            </a:r>
            <a:r>
              <a:rPr lang="en-US" baseline="0" dirty="0"/>
              <a:t> de </a:t>
            </a:r>
            <a:r>
              <a:rPr lang="en-US" baseline="0" dirty="0" err="1"/>
              <a:t>álgebras</a:t>
            </a:r>
            <a:r>
              <a:rPr lang="en-US" baseline="0" dirty="0"/>
              <a:t> </a:t>
            </a:r>
            <a:r>
              <a:rPr lang="en-US" baseline="0" dirty="0" err="1"/>
              <a:t>boolenas</a:t>
            </a:r>
            <a:r>
              <a:rPr lang="en-US" baseline="0" dirty="0"/>
              <a:t> </a:t>
            </a:r>
            <a:r>
              <a:rPr lang="en-US" baseline="0" dirty="0" err="1"/>
              <a:t>mais</a:t>
            </a:r>
            <a:r>
              <a:rPr lang="en-US" baseline="0" dirty="0"/>
              <a:t> </a:t>
            </a:r>
            <a:r>
              <a:rPr lang="en-US" baseline="0" dirty="0" err="1"/>
              <a:t>comples</a:t>
            </a:r>
            <a:r>
              <a:rPr lang="en-US" baseline="0" dirty="0"/>
              <a:t>, que é o que </a:t>
            </a:r>
            <a:r>
              <a:rPr lang="en-US" baseline="0" dirty="0" err="1"/>
              <a:t>chamamos</a:t>
            </a:r>
            <a:r>
              <a:rPr lang="en-US" baseline="0" dirty="0"/>
              <a:t> de </a:t>
            </a:r>
            <a:r>
              <a:rPr lang="en-US" baseline="0" dirty="0" err="1"/>
              <a:t>lógica</a:t>
            </a:r>
            <a:r>
              <a:rPr lang="en-US" baseline="0" dirty="0"/>
              <a:t> </a:t>
            </a:r>
            <a:r>
              <a:rPr lang="en-US" baseline="0" dirty="0" err="1"/>
              <a:t>combinacional</a:t>
            </a:r>
            <a:r>
              <a:rPr lang="en-US" baseline="0" dirty="0"/>
              <a:t>, e </a:t>
            </a:r>
            <a:r>
              <a:rPr lang="en-US" baseline="0" dirty="0" err="1"/>
              <a:t>nos</a:t>
            </a:r>
            <a:r>
              <a:rPr lang="en-US" baseline="0" dirty="0"/>
              <a:t> </a:t>
            </a:r>
            <a:r>
              <a:rPr lang="en-US" baseline="0" dirty="0" err="1"/>
              <a:t>veremos</a:t>
            </a:r>
            <a:r>
              <a:rPr lang="en-US" baseline="0" dirty="0"/>
              <a:t> </a:t>
            </a:r>
            <a:r>
              <a:rPr lang="en-US" baseline="0" dirty="0" err="1"/>
              <a:t>isso</a:t>
            </a:r>
            <a:r>
              <a:rPr lang="en-US" baseline="0" dirty="0"/>
              <a:t> </a:t>
            </a:r>
            <a:r>
              <a:rPr lang="en-US" baseline="0" dirty="0" err="1"/>
              <a:t>mais</a:t>
            </a:r>
            <a:r>
              <a:rPr lang="en-US" baseline="0" dirty="0"/>
              <a:t> a </a:t>
            </a:r>
            <a:r>
              <a:rPr lang="en-US" baseline="0" dirty="0" err="1"/>
              <a:t>frente</a:t>
            </a:r>
            <a:endParaRPr lang="en-US" dirty="0"/>
          </a:p>
          <a:p>
            <a:endParaRPr lang="en-US" dirty="0"/>
          </a:p>
          <a:p>
            <a:r>
              <a:rPr lang="en-US" dirty="0"/>
              <a:t>http://www.tutorialspoint.com/computer_logical_organization/logic_gates.htm</a:t>
            </a:r>
          </a:p>
          <a:p>
            <a:r>
              <a:rPr lang="en-US" dirty="0"/>
              <a:t>https://</a:t>
            </a:r>
            <a:r>
              <a:rPr lang="en-US" dirty="0" err="1"/>
              <a:t>learn.sparkfun.com</a:t>
            </a:r>
            <a:r>
              <a:rPr lang="en-US" dirty="0"/>
              <a:t>/tutorials/digital-logic</a:t>
            </a:r>
          </a:p>
          <a:p>
            <a:endParaRPr lang="en-US" dirty="0"/>
          </a:p>
        </p:txBody>
      </p:sp>
      <p:sp>
        <p:nvSpPr>
          <p:cNvPr id="4" name="Slide Number Placeholder 3"/>
          <p:cNvSpPr>
            <a:spLocks noGrp="1"/>
          </p:cNvSpPr>
          <p:nvPr>
            <p:ph type="sldNum" sz="quarter" idx="10"/>
          </p:nvPr>
        </p:nvSpPr>
        <p:spPr/>
        <p:txBody>
          <a:bodyPr/>
          <a:lstStyle/>
          <a:p>
            <a:fld id="{F23FB91E-A0DC-4A5F-B463-D7B8E79502D1}" type="slidenum">
              <a:rPr lang="pt-BR" smtClean="0"/>
              <a:t>45</a:t>
            </a:fld>
            <a:endParaRPr lang="pt-BR"/>
          </a:p>
        </p:txBody>
      </p:sp>
    </p:spTree>
    <p:extLst>
      <p:ext uri="{BB962C8B-B14F-4D97-AF65-F5344CB8AC3E}">
        <p14:creationId xmlns:p14="http://schemas.microsoft.com/office/powerpoint/2010/main" val="361247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learn.sparkfun.com</a:t>
            </a:r>
            <a:r>
              <a:rPr lang="en-US" dirty="0"/>
              <a:t>/tutorials/digital-logic</a:t>
            </a:r>
          </a:p>
          <a:p>
            <a:endParaRPr lang="en-US" dirty="0"/>
          </a:p>
          <a:p>
            <a:r>
              <a:rPr lang="en-US" dirty="0" err="1"/>
              <a:t>Demonstrar</a:t>
            </a:r>
            <a:r>
              <a:rPr lang="en-US" dirty="0"/>
              <a:t> no</a:t>
            </a:r>
            <a:r>
              <a:rPr lang="en-US" baseline="0" dirty="0"/>
              <a:t> </a:t>
            </a:r>
            <a:r>
              <a:rPr lang="en-US" baseline="0" dirty="0" err="1"/>
              <a:t>quadro</a:t>
            </a:r>
            <a:r>
              <a:rPr lang="en-US" baseline="0" dirty="0"/>
              <a:t> </a:t>
            </a:r>
            <a:r>
              <a:rPr lang="en-US" baseline="0" dirty="0" err="1"/>
              <a:t>operações</a:t>
            </a:r>
            <a:r>
              <a:rPr lang="en-US" baseline="0" dirty="0"/>
              <a:t> </a:t>
            </a:r>
            <a:r>
              <a:rPr lang="en-US" baseline="0" dirty="0" err="1"/>
              <a:t>básicas</a:t>
            </a:r>
            <a:r>
              <a:rPr lang="en-US" baseline="0" dirty="0"/>
              <a:t>.</a:t>
            </a:r>
            <a:endParaRPr lang="en-US" dirty="0"/>
          </a:p>
        </p:txBody>
      </p:sp>
      <p:sp>
        <p:nvSpPr>
          <p:cNvPr id="4" name="Slide Number Placeholder 3"/>
          <p:cNvSpPr>
            <a:spLocks noGrp="1"/>
          </p:cNvSpPr>
          <p:nvPr>
            <p:ph type="sldNum" sz="quarter" idx="10"/>
          </p:nvPr>
        </p:nvSpPr>
        <p:spPr/>
        <p:txBody>
          <a:bodyPr/>
          <a:lstStyle/>
          <a:p>
            <a:fld id="{F23FB91E-A0DC-4A5F-B463-D7B8E79502D1}" type="slidenum">
              <a:rPr lang="pt-BR" smtClean="0"/>
              <a:t>46</a:t>
            </a:fld>
            <a:endParaRPr lang="pt-BR"/>
          </a:p>
        </p:txBody>
      </p:sp>
    </p:spTree>
    <p:extLst>
      <p:ext uri="{BB962C8B-B14F-4D97-AF65-F5344CB8AC3E}">
        <p14:creationId xmlns:p14="http://schemas.microsoft.com/office/powerpoint/2010/main" val="1311987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47</a:t>
            </a:fld>
            <a:endParaRPr lang="pt-BR"/>
          </a:p>
        </p:txBody>
      </p:sp>
    </p:spTree>
    <p:extLst>
      <p:ext uri="{BB962C8B-B14F-4D97-AF65-F5344CB8AC3E}">
        <p14:creationId xmlns:p14="http://schemas.microsoft.com/office/powerpoint/2010/main" val="4107791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Um teorema interessante diz que podemos construir qualquer usando somente AND e NOT, ou senão OR e NOT. Podemos ver </a:t>
            </a:r>
            <a:r>
              <a:rPr lang="pt-BR" dirty="0" err="1"/>
              <a:t>aque</a:t>
            </a:r>
            <a:r>
              <a:rPr lang="pt-BR" dirty="0"/>
              <a:t> pela prova que uma OR por exemplo pode ser construída a partir de uma</a:t>
            </a:r>
            <a:r>
              <a:rPr lang="pt-BR" baseline="0" dirty="0"/>
              <a:t> AND e 3 </a:t>
            </a:r>
            <a:r>
              <a:rPr lang="pt-BR" baseline="0" dirty="0" err="1"/>
              <a:t>NOTs</a:t>
            </a:r>
            <a:r>
              <a:rPr lang="pt-BR" baseline="0" dirty="0"/>
              <a:t>, por consequência podemos então construir qualquer porta com NAND ou NOR, essas portas são conhecidas como portas universais por permitir construir qualquer outra porta.</a:t>
            </a:r>
            <a:endParaRPr lang="pt-BR" dirty="0"/>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48</a:t>
            </a:fld>
            <a:endParaRPr lang="pt-BR"/>
          </a:p>
        </p:txBody>
      </p:sp>
    </p:spTree>
    <p:extLst>
      <p:ext uri="{BB962C8B-B14F-4D97-AF65-F5344CB8AC3E}">
        <p14:creationId xmlns:p14="http://schemas.microsoft.com/office/powerpoint/2010/main" val="2388052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a:p>
            <a:endParaRPr lang="pt-BR" dirty="0"/>
          </a:p>
          <a:p>
            <a:r>
              <a:rPr lang="pt-BR" dirty="0"/>
              <a:t>http://www.directindustry.com/prod/omron-electrical-components/product-121197-1335703.html</a:t>
            </a:r>
          </a:p>
          <a:p>
            <a:r>
              <a:rPr lang="pt-BR" dirty="0" err="1"/>
              <a:t>http</a:t>
            </a:r>
            <a:r>
              <a:rPr lang="pt-BR" dirty="0"/>
              <a:t>://</a:t>
            </a:r>
            <a:r>
              <a:rPr lang="pt-BR" dirty="0" err="1"/>
              <a:t>www.dtic.upf.edu</a:t>
            </a:r>
            <a:r>
              <a:rPr lang="pt-BR" dirty="0"/>
              <a:t>/~</a:t>
            </a:r>
            <a:r>
              <a:rPr lang="pt-BR" dirty="0" err="1"/>
              <a:t>jlozano</a:t>
            </a:r>
            <a:r>
              <a:rPr lang="pt-BR" dirty="0"/>
              <a:t>/interfaces/</a:t>
            </a:r>
            <a:r>
              <a:rPr lang="pt-BR" dirty="0" err="1"/>
              <a:t>rly_diag.gif</a:t>
            </a:r>
            <a:endParaRPr lang="pt-BR" dirty="0"/>
          </a:p>
          <a:p>
            <a:endParaRPr lang="pt-BR" dirty="0"/>
          </a:p>
          <a:p>
            <a:r>
              <a:rPr lang="pt-BR" sz="1200" b="0" i="0" kern="1200" dirty="0">
                <a:solidFill>
                  <a:schemeClr val="tx1"/>
                </a:solidFill>
                <a:effectLst/>
                <a:latin typeface="+mn-lt"/>
                <a:ea typeface="+mn-ea"/>
                <a:cs typeface="+mn-cs"/>
              </a:rPr>
              <a:t>American </a:t>
            </a:r>
            <a:r>
              <a:rPr lang="pt-BR" sz="1200" b="0" i="0" kern="1200" dirty="0" err="1">
                <a:solidFill>
                  <a:schemeClr val="tx1"/>
                </a:solidFill>
                <a:effectLst/>
                <a:latin typeface="+mn-lt"/>
                <a:ea typeface="+mn-ea"/>
                <a:cs typeface="+mn-cs"/>
              </a:rPr>
              <a:t>scientist</a:t>
            </a:r>
            <a:r>
              <a:rPr lang="pt-BR" sz="1200" b="0" i="0" kern="1200" dirty="0">
                <a:solidFill>
                  <a:schemeClr val="tx1"/>
                </a:solidFill>
                <a:effectLst/>
                <a:latin typeface="+mn-lt"/>
                <a:ea typeface="+mn-ea"/>
                <a:cs typeface="+mn-cs"/>
              </a:rPr>
              <a:t> </a:t>
            </a:r>
            <a:r>
              <a:rPr lang="pt-BR" sz="1200" b="0" i="0" u="none" strike="noStrike" kern="1200" dirty="0">
                <a:solidFill>
                  <a:schemeClr val="tx1"/>
                </a:solidFill>
                <a:effectLst/>
                <a:latin typeface="+mn-lt"/>
                <a:ea typeface="+mn-ea"/>
                <a:cs typeface="+mn-cs"/>
                <a:hlinkClick r:id="rId3" tooltip="Joseph Henry"/>
              </a:rPr>
              <a:t>Joseph Henry</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is</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often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claimed</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to</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have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invented</a:t>
            </a:r>
            <a:r>
              <a:rPr lang="pt-BR" sz="1200" b="0" i="0" kern="1200" dirty="0">
                <a:solidFill>
                  <a:schemeClr val="tx1"/>
                </a:solidFill>
                <a:effectLst/>
                <a:latin typeface="+mn-lt"/>
                <a:ea typeface="+mn-ea"/>
                <a:cs typeface="+mn-cs"/>
              </a:rPr>
              <a:t> a relay in 1835 in </a:t>
            </a:r>
            <a:r>
              <a:rPr lang="pt-BR" sz="1200" b="0" i="0" kern="1200" dirty="0" err="1">
                <a:solidFill>
                  <a:schemeClr val="tx1"/>
                </a:solidFill>
                <a:effectLst/>
                <a:latin typeface="+mn-lt"/>
                <a:ea typeface="+mn-ea"/>
                <a:cs typeface="+mn-cs"/>
              </a:rPr>
              <a:t>order</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to</a:t>
            </a:r>
            <a:r>
              <a:rPr lang="pt-BR" sz="1200" b="0" i="0" kern="1200" dirty="0">
                <a:solidFill>
                  <a:schemeClr val="tx1"/>
                </a:solidFill>
                <a:effectLst/>
                <a:latin typeface="+mn-lt"/>
                <a:ea typeface="+mn-ea"/>
                <a:cs typeface="+mn-cs"/>
              </a:rPr>
              <a:t> improve </a:t>
            </a:r>
            <a:r>
              <a:rPr lang="pt-BR" sz="1200" b="0" i="0" kern="1200" dirty="0" err="1">
                <a:solidFill>
                  <a:schemeClr val="tx1"/>
                </a:solidFill>
                <a:effectLst/>
                <a:latin typeface="+mn-lt"/>
                <a:ea typeface="+mn-ea"/>
                <a:cs typeface="+mn-cs"/>
              </a:rPr>
              <a:t>his</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version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of</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the</a:t>
            </a:r>
            <a:r>
              <a:rPr lang="pt-BR" sz="1200" b="0" i="0" kern="1200" dirty="0">
                <a:solidFill>
                  <a:schemeClr val="tx1"/>
                </a:solidFill>
                <a:effectLst/>
                <a:latin typeface="+mn-lt"/>
                <a:ea typeface="+mn-ea"/>
                <a:cs typeface="+mn-cs"/>
              </a:rPr>
              <a:t> </a:t>
            </a:r>
            <a:r>
              <a:rPr lang="pt-BR" sz="1200" b="0" i="0" u="none" strike="noStrike" kern="1200" dirty="0">
                <a:solidFill>
                  <a:schemeClr val="tx1"/>
                </a:solidFill>
                <a:effectLst/>
                <a:latin typeface="+mn-lt"/>
                <a:ea typeface="+mn-ea"/>
                <a:cs typeface="+mn-cs"/>
                <a:hlinkClick r:id="rId4" tooltip="Electrical telegraph"/>
              </a:rPr>
              <a:t>electrical telegraph</a:t>
            </a:r>
            <a:r>
              <a:rPr lang="pt-BR" sz="1200" b="0" i="0" kern="1200" dirty="0">
                <a:solidFill>
                  <a:schemeClr val="tx1"/>
                </a:solidFill>
                <a:effectLst/>
                <a:latin typeface="+mn-lt"/>
                <a:ea typeface="+mn-ea"/>
                <a:cs typeface="+mn-cs"/>
              </a:rPr>
              <a:t>,</a:t>
            </a:r>
            <a:endParaRPr lang="pt-BR" dirty="0"/>
          </a:p>
          <a:p>
            <a:r>
              <a:rPr lang="pt-BR" dirty="0" err="1"/>
              <a:t>https</a:t>
            </a:r>
            <a:r>
              <a:rPr lang="pt-BR" dirty="0"/>
              <a:t>://</a:t>
            </a:r>
            <a:r>
              <a:rPr lang="pt-BR" dirty="0" err="1"/>
              <a:t>en.wikipedia.org</a:t>
            </a:r>
            <a:r>
              <a:rPr lang="pt-BR" dirty="0"/>
              <a:t>/</a:t>
            </a:r>
            <a:r>
              <a:rPr lang="pt-BR" dirty="0" err="1"/>
              <a:t>wiki</a:t>
            </a:r>
            <a:r>
              <a:rPr lang="pt-BR" dirty="0"/>
              <a:t>/</a:t>
            </a:r>
            <a:r>
              <a:rPr lang="pt-BR" dirty="0" err="1"/>
              <a:t>Relay#History</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49</a:t>
            </a:fld>
            <a:endParaRPr lang="pt-BR"/>
          </a:p>
        </p:txBody>
      </p:sp>
    </p:spTree>
    <p:extLst>
      <p:ext uri="{BB962C8B-B14F-4D97-AF65-F5344CB8AC3E}">
        <p14:creationId xmlns:p14="http://schemas.microsoft.com/office/powerpoint/2010/main" val="1498099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O transistor é um dispositivo eletrônico que pode ser usado para amplificar ou chavear (switch) sinais, pois podemos controlar ele para atuar com um isolador ou condutor</a:t>
            </a:r>
          </a:p>
          <a:p>
            <a:endParaRPr lang="en-US" dirty="0"/>
          </a:p>
          <a:p>
            <a:r>
              <a:rPr lang="en-US" dirty="0"/>
              <a:t>As of 2012 germanium point-contact diodes continued to be available for use as radio-frequency detectors</a:t>
            </a:r>
          </a:p>
          <a:p>
            <a:r>
              <a:rPr lang="en-US" dirty="0"/>
              <a:t>http://</a:t>
            </a:r>
            <a:r>
              <a:rPr lang="en-US" dirty="0" err="1"/>
              <a:t>www.wylie.org.uk</a:t>
            </a:r>
            <a:r>
              <a:rPr lang="en-US" dirty="0"/>
              <a:t>/technology/</a:t>
            </a:r>
            <a:r>
              <a:rPr lang="en-US" dirty="0" err="1"/>
              <a:t>semics</a:t>
            </a:r>
            <a:r>
              <a:rPr lang="en-US" dirty="0"/>
              <a:t>/</a:t>
            </a:r>
            <a:r>
              <a:rPr lang="en-US" dirty="0" err="1"/>
              <a:t>history.htm</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a:t>
            </a:r>
            <a:r>
              <a:rPr lang="en-US" dirty="0" err="1"/>
              <a:t>daniel-joel.blogspot.com.br</a:t>
            </a:r>
            <a:r>
              <a:rPr lang="en-US" dirty="0"/>
              <a:t>/2013/06/</a:t>
            </a:r>
            <a:r>
              <a:rPr lang="en-US" dirty="0" err="1"/>
              <a:t>transistor.html</a:t>
            </a:r>
            <a:endParaRPr lang="en-US" dirty="0"/>
          </a:p>
          <a:p>
            <a:endParaRPr lang="pt-BR" dirty="0"/>
          </a:p>
          <a:p>
            <a:r>
              <a:rPr lang="pt-BR" dirty="0" err="1"/>
              <a:t>http</a:t>
            </a:r>
            <a:r>
              <a:rPr lang="pt-BR" dirty="0"/>
              <a:t>://</a:t>
            </a:r>
            <a:r>
              <a:rPr lang="pt-BR" dirty="0" err="1"/>
              <a:t>slideplayer.com</a:t>
            </a:r>
            <a:r>
              <a:rPr lang="pt-BR" dirty="0"/>
              <a:t>/slide/4784051/</a:t>
            </a:r>
          </a:p>
          <a:p>
            <a:r>
              <a:rPr lang="pt-BR" dirty="0" err="1"/>
              <a:t>https</a:t>
            </a:r>
            <a:r>
              <a:rPr lang="pt-BR" dirty="0"/>
              <a:t>://623f4c7f-a-62cb3a1a-s-sites.googlegroups.com/site/</a:t>
            </a:r>
            <a:r>
              <a:rPr lang="pt-BR" dirty="0" err="1"/>
              <a:t>transistorhistory</a:t>
            </a:r>
            <a:r>
              <a:rPr lang="pt-BR" dirty="0"/>
              <a:t>/Home/</a:t>
            </a:r>
            <a:r>
              <a:rPr lang="pt-BR" dirty="0" err="1"/>
              <a:t>european-semiconductor-manufacturers</a:t>
            </a:r>
            <a:r>
              <a:rPr lang="pt-BR" dirty="0"/>
              <a:t>/</a:t>
            </a:r>
            <a:r>
              <a:rPr lang="pt-BR" dirty="0" err="1"/>
              <a:t>philips</a:t>
            </a:r>
            <a:r>
              <a:rPr lang="pt-BR" dirty="0"/>
              <a:t>/OC50%20OC51.jpg?attachauth=ANoY7co6fwEneHjGOyRY3weEb_ThaeK8fRZn1mx3X89J5vJ8rvAfTomIQvkS8P5ZiXUVge-7ff39jQYCQKlN--LZ_5D4Q1XxTPJCDK8BoOsVE-cCkX86dnK_K1dng2qxJOUI_3zs5ksVvyad4mbhKn-uvsoUGF8dKO01r7IeWgSbvtQ6jdxoEu3zxKzm75FbmWw7zE_D4BTbTTYjQ3S6BTI4AtKTYPHcxZYcB-BSkZ77vVBZoSNfbCylbd6JldJvsQfsh7gOl7Q2-aQBBGfy5NeumVHEoVbgeTN2x09NLPhLh0rgFz80XXo%3D&amp;attredirects=0</a:t>
            </a:r>
          </a:p>
          <a:p>
            <a:r>
              <a:rPr lang="pt-BR" dirty="0" err="1"/>
              <a:t>http</a:t>
            </a:r>
            <a:r>
              <a:rPr lang="pt-BR" dirty="0"/>
              <a:t>://</a:t>
            </a:r>
            <a:r>
              <a:rPr lang="pt-BR" dirty="0" err="1"/>
              <a:t>www.geocities.jp</a:t>
            </a:r>
            <a:r>
              <a:rPr lang="pt-BR" dirty="0"/>
              <a:t>/craft_3/</a:t>
            </a:r>
            <a:r>
              <a:rPr lang="pt-BR" dirty="0" err="1"/>
              <a:t>Semiconductor</a:t>
            </a:r>
            <a:r>
              <a:rPr lang="pt-BR" dirty="0"/>
              <a:t>/</a:t>
            </a:r>
            <a:r>
              <a:rPr lang="pt-BR" dirty="0" err="1"/>
              <a:t>Western_Electric_Transistor</a:t>
            </a:r>
            <a:r>
              <a:rPr lang="pt-BR" dirty="0"/>
              <a:t>/Western_Electric_Tr_06.jpg</a:t>
            </a:r>
          </a:p>
        </p:txBody>
      </p:sp>
      <p:sp>
        <p:nvSpPr>
          <p:cNvPr id="4" name="Slide Number Placeholder 3"/>
          <p:cNvSpPr>
            <a:spLocks noGrp="1"/>
          </p:cNvSpPr>
          <p:nvPr>
            <p:ph type="sldNum" sz="quarter" idx="10"/>
          </p:nvPr>
        </p:nvSpPr>
        <p:spPr/>
        <p:txBody>
          <a:bodyPr/>
          <a:lstStyle/>
          <a:p>
            <a:fld id="{F23FB91E-A0DC-4A5F-B463-D7B8E79502D1}" type="slidenum">
              <a:rPr lang="pt-BR" smtClean="0"/>
              <a:t>50</a:t>
            </a:fld>
            <a:endParaRPr lang="pt-BR"/>
          </a:p>
        </p:txBody>
      </p:sp>
    </p:spTree>
    <p:extLst>
      <p:ext uri="{BB962C8B-B14F-4D97-AF65-F5344CB8AC3E}">
        <p14:creationId xmlns:p14="http://schemas.microsoft.com/office/powerpoint/2010/main" val="13201583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Em</a:t>
            </a:r>
            <a:r>
              <a:rPr lang="en-US" dirty="0"/>
              <a:t> 1959, Atalla e </a:t>
            </a:r>
            <a:r>
              <a:rPr lang="en-US" dirty="0" err="1"/>
              <a:t>Kahng</a:t>
            </a:r>
            <a:r>
              <a:rPr lang="en-US" dirty="0"/>
              <a:t>, da Bell Labs, </a:t>
            </a:r>
            <a:r>
              <a:rPr lang="en-US" dirty="0" err="1"/>
              <a:t>fabricaram</a:t>
            </a:r>
            <a:r>
              <a:rPr lang="en-US" dirty="0"/>
              <a:t> e </a:t>
            </a:r>
            <a:r>
              <a:rPr lang="en-US" dirty="0" err="1"/>
              <a:t>conseguiram</a:t>
            </a:r>
            <a:r>
              <a:rPr lang="en-US" dirty="0"/>
              <a:t> a </a:t>
            </a:r>
            <a:r>
              <a:rPr lang="en-US" dirty="0" err="1"/>
              <a:t>operação</a:t>
            </a:r>
            <a:r>
              <a:rPr lang="en-US" dirty="0"/>
              <a:t> de um transistor MOS. Nessa </a:t>
            </a:r>
            <a:r>
              <a:rPr lang="en-US" dirty="0" err="1"/>
              <a:t>época</a:t>
            </a:r>
            <a:r>
              <a:rPr lang="en-US" dirty="0"/>
              <a:t>, </a:t>
            </a:r>
            <a:r>
              <a:rPr lang="en-US" dirty="0" err="1"/>
              <a:t>os</a:t>
            </a:r>
            <a:r>
              <a:rPr lang="en-US" dirty="0"/>
              <a:t> </a:t>
            </a:r>
            <a:r>
              <a:rPr lang="en-US" dirty="0" err="1"/>
              <a:t>transistores</a:t>
            </a:r>
            <a:r>
              <a:rPr lang="en-US" dirty="0"/>
              <a:t> MOS </a:t>
            </a:r>
            <a:r>
              <a:rPr lang="en-US" dirty="0" err="1"/>
              <a:t>eram</a:t>
            </a:r>
            <a:r>
              <a:rPr lang="en-US" dirty="0"/>
              <a:t> </a:t>
            </a:r>
            <a:r>
              <a:rPr lang="en-US" dirty="0" err="1"/>
              <a:t>tidos</a:t>
            </a:r>
            <a:r>
              <a:rPr lang="en-US" dirty="0"/>
              <a:t> </a:t>
            </a:r>
            <a:r>
              <a:rPr lang="en-US" dirty="0" err="1"/>
              <a:t>como</a:t>
            </a:r>
            <a:r>
              <a:rPr lang="en-US" dirty="0"/>
              <a:t> </a:t>
            </a:r>
            <a:r>
              <a:rPr lang="en-US" dirty="0" err="1"/>
              <a:t>curiosidade</a:t>
            </a:r>
            <a:r>
              <a:rPr lang="en-US" dirty="0"/>
              <a:t>, </a:t>
            </a:r>
            <a:r>
              <a:rPr lang="en-US" dirty="0" err="1"/>
              <a:t>devido</a:t>
            </a:r>
            <a:r>
              <a:rPr lang="en-US" dirty="0"/>
              <a:t> </a:t>
            </a:r>
            <a:r>
              <a:rPr lang="en-US" dirty="0" err="1"/>
              <a:t>ao</a:t>
            </a:r>
            <a:r>
              <a:rPr lang="en-US" dirty="0"/>
              <a:t> </a:t>
            </a:r>
            <a:r>
              <a:rPr lang="en-US" dirty="0" err="1"/>
              <a:t>desempenho</a:t>
            </a:r>
            <a:r>
              <a:rPr lang="en-US" dirty="0"/>
              <a:t> </a:t>
            </a:r>
            <a:r>
              <a:rPr lang="en-US" dirty="0" err="1"/>
              <a:t>bastante</a:t>
            </a:r>
            <a:r>
              <a:rPr lang="en-US" dirty="0"/>
              <a:t> inferior </a:t>
            </a:r>
            <a:r>
              <a:rPr lang="en-US" dirty="0" err="1"/>
              <a:t>aos</a:t>
            </a:r>
            <a:r>
              <a:rPr lang="en-US" dirty="0"/>
              <a:t> </a:t>
            </a:r>
            <a:r>
              <a:rPr lang="en-US" dirty="0" err="1"/>
              <a:t>bipolares</a:t>
            </a:r>
            <a:r>
              <a:rPr lang="en-US" dirty="0"/>
              <a:t>. In 1963, while working for </a:t>
            </a:r>
            <a:r>
              <a:rPr lang="en-US" dirty="0">
                <a:hlinkClick r:id="rId3" tooltip="Fairchild Semiconductor"/>
              </a:rPr>
              <a:t>Fairchild Semiconductor</a:t>
            </a:r>
            <a:r>
              <a:rPr lang="en-US" dirty="0"/>
              <a:t>, </a:t>
            </a:r>
            <a:r>
              <a:rPr lang="en-US" dirty="0">
                <a:hlinkClick r:id="rId4" tooltip="Frank Wanlass"/>
              </a:rPr>
              <a:t>Frank Wanlass</a:t>
            </a:r>
            <a:r>
              <a:rPr lang="en-US" dirty="0"/>
              <a:t> patented CMOS (</a:t>
            </a:r>
            <a:r>
              <a:rPr lang="en-US" dirty="0">
                <a:hlinkClick r:id="rId5" tooltip="wikisource:United States patent 3356858"/>
              </a:rPr>
              <a:t>US patent 3,356,858</a:t>
            </a:r>
            <a:r>
              <a:rPr lang="en-US" dirty="0"/>
              <a:t>).Two important characteristics of CMOS devices are high </a:t>
            </a:r>
            <a:r>
              <a:rPr lang="en-US" dirty="0">
                <a:hlinkClick r:id="rId6" tooltip="Electronic noise"/>
              </a:rPr>
              <a:t>noise immunity</a:t>
            </a:r>
            <a:r>
              <a:rPr lang="en-US" dirty="0"/>
              <a:t> and low static </a:t>
            </a:r>
            <a:r>
              <a:rPr lang="en-US" dirty="0">
                <a:hlinkClick r:id="rId7" tooltip="Power consumption"/>
              </a:rPr>
              <a:t>power consumption</a:t>
            </a:r>
            <a:r>
              <a:rPr lang="en-US" dirty="0"/>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 cross section through an </a:t>
            </a:r>
            <a:r>
              <a:rPr lang="en-US" sz="1200" b="0" i="0" kern="1200" dirty="0" err="1">
                <a:solidFill>
                  <a:schemeClr val="tx1"/>
                </a:solidFill>
                <a:effectLst/>
                <a:latin typeface="+mn-lt"/>
                <a:ea typeface="+mn-ea"/>
                <a:cs typeface="+mn-cs"/>
              </a:rPr>
              <a:t>nMOSFET</a:t>
            </a:r>
            <a:r>
              <a:rPr lang="en-US" sz="1200" b="0" i="0" kern="1200" dirty="0">
                <a:solidFill>
                  <a:schemeClr val="tx1"/>
                </a:solidFill>
                <a:effectLst/>
                <a:latin typeface="+mn-lt"/>
                <a:ea typeface="+mn-ea"/>
                <a:cs typeface="+mn-cs"/>
              </a:rPr>
              <a:t> when the gate voltage </a:t>
            </a:r>
            <a:r>
              <a:rPr lang="en-US" sz="1200" b="0" i="0" kern="1200" dirty="0" err="1">
                <a:solidFill>
                  <a:schemeClr val="tx1"/>
                </a:solidFill>
                <a:effectLst/>
                <a:latin typeface="+mn-lt"/>
                <a:ea typeface="+mn-ea"/>
                <a:cs typeface="+mn-cs"/>
              </a:rPr>
              <a:t>V</a:t>
            </a:r>
            <a:r>
              <a:rPr lang="en-US" sz="1200" b="0" i="0" kern="1200" baseline="-25000" dirty="0" err="1">
                <a:solidFill>
                  <a:schemeClr val="tx1"/>
                </a:solidFill>
                <a:effectLst/>
                <a:latin typeface="+mn-lt"/>
                <a:ea typeface="+mn-ea"/>
                <a:cs typeface="+mn-cs"/>
              </a:rPr>
              <a:t>GS</a:t>
            </a:r>
            <a:r>
              <a:rPr lang="en-US" sz="1200" b="0" i="0" kern="1200" dirty="0" err="1">
                <a:solidFill>
                  <a:schemeClr val="tx1"/>
                </a:solidFill>
                <a:effectLst/>
                <a:latin typeface="+mn-lt"/>
                <a:ea typeface="+mn-ea"/>
                <a:cs typeface="+mn-cs"/>
              </a:rPr>
              <a:t>is</a:t>
            </a:r>
            <a:r>
              <a:rPr lang="en-US" sz="1200" b="0" i="0" kern="1200" dirty="0">
                <a:solidFill>
                  <a:schemeClr val="tx1"/>
                </a:solidFill>
                <a:effectLst/>
                <a:latin typeface="+mn-lt"/>
                <a:ea typeface="+mn-ea"/>
                <a:cs typeface="+mn-cs"/>
              </a:rPr>
              <a:t> below the threshold for making a conductive channel; there is little or no conduction between the terminals drain and source; the switch is off. When the gate is more positive, it attracts electrons, inducing an </a:t>
            </a:r>
            <a:r>
              <a:rPr lang="en-US" sz="1200" b="0" i="1" kern="1200" dirty="0">
                <a:solidFill>
                  <a:schemeClr val="tx1"/>
                </a:solidFill>
                <a:effectLst/>
                <a:latin typeface="+mn-lt"/>
                <a:ea typeface="+mn-ea"/>
                <a:cs typeface="+mn-cs"/>
              </a:rPr>
              <a:t>n</a:t>
            </a:r>
            <a:r>
              <a:rPr lang="en-US" sz="1200" b="0" i="0" kern="1200" dirty="0">
                <a:solidFill>
                  <a:schemeClr val="tx1"/>
                </a:solidFill>
                <a:effectLst/>
                <a:latin typeface="+mn-lt"/>
                <a:ea typeface="+mn-ea"/>
                <a:cs typeface="+mn-cs"/>
              </a:rPr>
              <a:t>-type conductive channel in the substrate below the oxide, which allows electrons to flow between the </a:t>
            </a:r>
            <a:r>
              <a:rPr lang="en-US" sz="1200" b="0" i="1" kern="1200" dirty="0">
                <a:solidFill>
                  <a:schemeClr val="tx1"/>
                </a:solidFill>
                <a:effectLst/>
                <a:latin typeface="+mn-lt"/>
                <a:ea typeface="+mn-ea"/>
                <a:cs typeface="+mn-cs"/>
              </a:rPr>
              <a:t>n</a:t>
            </a:r>
            <a:r>
              <a:rPr lang="en-US" sz="1200" b="0" i="0" kern="1200" dirty="0">
                <a:solidFill>
                  <a:schemeClr val="tx1"/>
                </a:solidFill>
                <a:effectLst/>
                <a:latin typeface="+mn-lt"/>
                <a:ea typeface="+mn-ea"/>
                <a:cs typeface="+mn-cs"/>
              </a:rPr>
              <a:t>-doped terminals; the switch is 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pt-BR" dirty="0" err="1"/>
              <a:t>https</a:t>
            </a:r>
            <a:r>
              <a:rPr lang="pt-BR" dirty="0"/>
              <a:t>://</a:t>
            </a:r>
            <a:r>
              <a:rPr lang="pt-BR" dirty="0" err="1"/>
              <a:t>pt.wikipedia.org</a:t>
            </a:r>
            <a:r>
              <a:rPr lang="pt-BR" dirty="0"/>
              <a:t>/</a:t>
            </a:r>
            <a:r>
              <a:rPr lang="pt-BR" dirty="0" err="1"/>
              <a:t>wiki</a:t>
            </a:r>
            <a:r>
              <a:rPr lang="pt-BR" dirty="0"/>
              <a:t>/Trans%C3%ADstor</a:t>
            </a:r>
          </a:p>
          <a:p>
            <a:r>
              <a:rPr lang="pt-BR" dirty="0" err="1"/>
              <a:t>https</a:t>
            </a:r>
            <a:r>
              <a:rPr lang="pt-BR" dirty="0"/>
              <a:t>://</a:t>
            </a:r>
            <a:r>
              <a:rPr lang="pt-BR" dirty="0" err="1"/>
              <a:t>en.wikipedia.org</a:t>
            </a:r>
            <a:r>
              <a:rPr lang="pt-BR" dirty="0"/>
              <a:t>/</a:t>
            </a:r>
            <a:r>
              <a:rPr lang="pt-BR" dirty="0" err="1"/>
              <a:t>wiki</a:t>
            </a:r>
            <a:r>
              <a:rPr lang="pt-BR" dirty="0"/>
              <a:t>/CMOS</a:t>
            </a:r>
          </a:p>
          <a:p>
            <a:r>
              <a:rPr lang="pt-BR" dirty="0" err="1"/>
              <a:t>https</a:t>
            </a:r>
            <a:r>
              <a:rPr lang="pt-BR" dirty="0"/>
              <a:t>://</a:t>
            </a:r>
            <a:r>
              <a:rPr lang="pt-BR" dirty="0" err="1"/>
              <a:t>en.wikipedia.org</a:t>
            </a:r>
            <a:r>
              <a:rPr lang="pt-BR" dirty="0"/>
              <a:t>/</a:t>
            </a:r>
            <a:r>
              <a:rPr lang="pt-BR" dirty="0" err="1"/>
              <a:t>wiki</a:t>
            </a:r>
            <a:r>
              <a:rPr lang="pt-BR" dirty="0"/>
              <a:t>/MOSFET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51</a:t>
            </a:fld>
            <a:endParaRPr lang="pt-BR"/>
          </a:p>
        </p:txBody>
      </p:sp>
    </p:spTree>
    <p:extLst>
      <p:ext uri="{BB962C8B-B14F-4D97-AF65-F5344CB8AC3E}">
        <p14:creationId xmlns:p14="http://schemas.microsoft.com/office/powerpoint/2010/main" val="1789473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dirty="0"/>
              <a:t>/MOSFET</a:t>
            </a:r>
          </a:p>
          <a:p>
            <a:endParaRPr lang="pt-BR" dirty="0"/>
          </a:p>
          <a:p>
            <a:r>
              <a:rPr lang="pt-BR" dirty="0"/>
              <a:t>bulk</a:t>
            </a:r>
          </a:p>
          <a:p>
            <a:endParaRPr lang="pt-BR" dirty="0"/>
          </a:p>
          <a:p>
            <a:r>
              <a:rPr lang="pt-BR" dirty="0" err="1"/>
              <a:t>http</a:t>
            </a:r>
            <a:r>
              <a:rPr lang="pt-BR" dirty="0"/>
              <a:t>://</a:t>
            </a:r>
            <a:r>
              <a:rPr lang="pt-BR" dirty="0" err="1"/>
              <a:t>electronics.stackexchange.com</a:t>
            </a:r>
            <a:r>
              <a:rPr lang="pt-BR" dirty="0"/>
              <a:t>/</a:t>
            </a:r>
            <a:r>
              <a:rPr lang="pt-BR" dirty="0" err="1"/>
              <a:t>questions</a:t>
            </a:r>
            <a:r>
              <a:rPr lang="pt-BR" dirty="0"/>
              <a:t>/141720/</a:t>
            </a:r>
            <a:r>
              <a:rPr lang="pt-BR" dirty="0" err="1"/>
              <a:t>what</a:t>
            </a:r>
            <a:r>
              <a:rPr lang="pt-BR" dirty="0"/>
              <a:t>-do-</a:t>
            </a:r>
            <a:r>
              <a:rPr lang="pt-BR" dirty="0" err="1"/>
              <a:t>the</a:t>
            </a:r>
            <a:r>
              <a:rPr lang="pt-BR" dirty="0"/>
              <a:t>-</a:t>
            </a:r>
            <a:r>
              <a:rPr lang="pt-BR" dirty="0" err="1"/>
              <a:t>arrows</a:t>
            </a:r>
            <a:r>
              <a:rPr lang="pt-BR" dirty="0"/>
              <a:t>-in-transistor-</a:t>
            </a:r>
            <a:r>
              <a:rPr lang="pt-BR" dirty="0" err="1"/>
              <a:t>symbols</a:t>
            </a:r>
            <a:r>
              <a:rPr lang="pt-BR" dirty="0"/>
              <a:t>-point-</a:t>
            </a:r>
            <a:r>
              <a:rPr lang="pt-BR" dirty="0" err="1"/>
              <a:t>to</a:t>
            </a:r>
            <a:r>
              <a:rPr lang="pt-BR" dirty="0"/>
              <a:t>-</a:t>
            </a:r>
            <a:r>
              <a:rPr lang="pt-BR" dirty="0" err="1"/>
              <a:t>and-from</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A corrente elétrica flui do emissor para o coletor, e esse fluxo é controlado pela corrente aplicada na base. Os tipos são: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52</a:t>
            </a:fld>
            <a:endParaRPr lang="pt-BR"/>
          </a:p>
        </p:txBody>
      </p:sp>
    </p:spTree>
    <p:extLst>
      <p:ext uri="{BB962C8B-B14F-4D97-AF65-F5344CB8AC3E}">
        <p14:creationId xmlns:p14="http://schemas.microsoft.com/office/powerpoint/2010/main" val="346218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computationstructures.org</a:t>
            </a:r>
            <a:r>
              <a:rPr lang="pt-BR" dirty="0"/>
              <a:t>/</a:t>
            </a:r>
            <a:r>
              <a:rPr lang="pt-BR" dirty="0" err="1"/>
              <a:t>lectures</a:t>
            </a:r>
            <a:r>
              <a:rPr lang="pt-BR" dirty="0"/>
              <a:t>/</a:t>
            </a:r>
            <a:r>
              <a:rPr lang="pt-BR" dirty="0" err="1"/>
              <a:t>cmos</a:t>
            </a:r>
            <a:r>
              <a:rPr lang="pt-BR" dirty="0"/>
              <a:t>/</a:t>
            </a:r>
            <a:r>
              <a:rPr lang="pt-BR" dirty="0" err="1"/>
              <a:t>lecture.html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53</a:t>
            </a:fld>
            <a:endParaRPr lang="pt-BR"/>
          </a:p>
        </p:txBody>
      </p:sp>
    </p:spTree>
    <p:extLst>
      <p:ext uri="{BB962C8B-B14F-4D97-AF65-F5344CB8AC3E}">
        <p14:creationId xmlns:p14="http://schemas.microsoft.com/office/powerpoint/2010/main" val="1643464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computationstructures.org</a:t>
            </a:r>
            <a:r>
              <a:rPr lang="pt-BR" dirty="0"/>
              <a:t>/</a:t>
            </a:r>
            <a:r>
              <a:rPr lang="pt-BR" dirty="0" err="1"/>
              <a:t>lectures</a:t>
            </a:r>
            <a:r>
              <a:rPr lang="pt-BR" dirty="0"/>
              <a:t>/</a:t>
            </a:r>
            <a:r>
              <a:rPr lang="pt-BR" dirty="0" err="1"/>
              <a:t>cmos</a:t>
            </a:r>
            <a:r>
              <a:rPr lang="pt-BR" dirty="0"/>
              <a:t>/</a:t>
            </a:r>
            <a:r>
              <a:rPr lang="pt-BR" dirty="0" err="1"/>
              <a:t>lecture.html</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54</a:t>
            </a:fld>
            <a:endParaRPr lang="pt-BR"/>
          </a:p>
        </p:txBody>
      </p:sp>
    </p:spTree>
    <p:extLst>
      <p:ext uri="{BB962C8B-B14F-4D97-AF65-F5344CB8AC3E}">
        <p14:creationId xmlns:p14="http://schemas.microsoft.com/office/powerpoint/2010/main" val="1376679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Nesse circuito</a:t>
            </a:r>
            <a:r>
              <a:rPr lang="pt-BR" baseline="0" dirty="0"/>
              <a:t> temos dois transistores, estamos mostrando um PMOS acima onde ligamos o </a:t>
            </a:r>
            <a:r>
              <a:rPr lang="pt-BR" baseline="0" dirty="0" err="1"/>
              <a:t>source</a:t>
            </a:r>
            <a:r>
              <a:rPr lang="pt-BR" baseline="0" dirty="0"/>
              <a:t> no </a:t>
            </a:r>
            <a:r>
              <a:rPr lang="pt-BR" baseline="0" dirty="0" err="1"/>
              <a:t>Vcc</a:t>
            </a:r>
            <a:r>
              <a:rPr lang="pt-BR" baseline="0" dirty="0"/>
              <a:t> e abaixo um NMOS que ligamos o </a:t>
            </a:r>
            <a:r>
              <a:rPr lang="pt-BR" baseline="0" dirty="0" err="1"/>
              <a:t>source</a:t>
            </a:r>
            <a:r>
              <a:rPr lang="pt-BR" baseline="0" dirty="0"/>
              <a:t> no terra. Juntamos agora os dois </a:t>
            </a:r>
            <a:r>
              <a:rPr lang="pt-BR" baseline="0" dirty="0" err="1"/>
              <a:t>gates</a:t>
            </a:r>
            <a:r>
              <a:rPr lang="pt-BR" baseline="0" dirty="0"/>
              <a:t> para fazer a entrada e os dois </a:t>
            </a:r>
            <a:r>
              <a:rPr lang="pt-BR" baseline="0" dirty="0" err="1"/>
              <a:t>drain</a:t>
            </a:r>
            <a:r>
              <a:rPr lang="pt-BR" baseline="0" dirty="0"/>
              <a:t> para a saída. Nesse circuito se colocarmos um estado lógico alto, ou seja, ligarmos ao </a:t>
            </a:r>
            <a:r>
              <a:rPr lang="pt-BR" baseline="0" dirty="0" err="1"/>
              <a:t>Vcc</a:t>
            </a:r>
            <a:r>
              <a:rPr lang="pt-BR" baseline="0" dirty="0"/>
              <a:t> a entrada, o transistor acima não conduz e o abaixo conduz logo a saída será 0 Volts, ou seja, estado lógico baixo. Já se ligarmos a entrada em zero volts o transistor acima conduz e abaixo não, assim a saída estará em estado lógico alto, ou seja, em </a:t>
            </a:r>
            <a:r>
              <a:rPr lang="pt-BR" baseline="0" dirty="0" err="1"/>
              <a:t>Vcc</a:t>
            </a:r>
            <a:r>
              <a:rPr lang="pt-BR" baseline="0" dirty="0"/>
              <a:t>. Podemos ver aqui uma representação do que seria as duas possíveis situações desse circuito, que na prática ele pega uma entrada A e sai com um A barra. Ou seja, essa é uma porta lógica NOT.</a:t>
            </a:r>
            <a:endParaRPr lang="pt-BR" dirty="0"/>
          </a:p>
          <a:p>
            <a:endParaRPr lang="pt-BR" dirty="0"/>
          </a:p>
          <a:p>
            <a:r>
              <a:rPr lang="pt-BR" dirty="0"/>
              <a:t>http://computationstructures.org/lectures/cmos/lecture.html  </a:t>
            </a:r>
          </a:p>
        </p:txBody>
      </p:sp>
      <p:sp>
        <p:nvSpPr>
          <p:cNvPr id="4" name="Slide Number Placeholder 3"/>
          <p:cNvSpPr>
            <a:spLocks noGrp="1"/>
          </p:cNvSpPr>
          <p:nvPr>
            <p:ph type="sldNum" sz="quarter" idx="10"/>
          </p:nvPr>
        </p:nvSpPr>
        <p:spPr/>
        <p:txBody>
          <a:bodyPr/>
          <a:lstStyle/>
          <a:p>
            <a:fld id="{F23FB91E-A0DC-4A5F-B463-D7B8E79502D1}" type="slidenum">
              <a:rPr lang="pt-BR" smtClean="0"/>
              <a:t>55</a:t>
            </a:fld>
            <a:endParaRPr lang="pt-BR"/>
          </a:p>
        </p:txBody>
      </p:sp>
    </p:spTree>
    <p:extLst>
      <p:ext uri="{BB962C8B-B14F-4D97-AF65-F5344CB8AC3E}">
        <p14:creationId xmlns:p14="http://schemas.microsoft.com/office/powerpoint/2010/main" val="2052920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56</a:t>
            </a:fld>
            <a:endParaRPr lang="pt-BR"/>
          </a:p>
        </p:txBody>
      </p:sp>
    </p:spTree>
    <p:extLst>
      <p:ext uri="{BB962C8B-B14F-4D97-AF65-F5344CB8AC3E}">
        <p14:creationId xmlns:p14="http://schemas.microsoft.com/office/powerpoint/2010/main" val="440588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Outro ponto que vamos só comentar</a:t>
            </a:r>
            <a:r>
              <a:rPr lang="pt-BR" baseline="0" dirty="0"/>
              <a:t> agora é o atraso de propagação. Qualquer circuito eletrônico tem um atraso de propagação, ou seja os sinais elétricos não chegam instantaneamente, e obviamente os transistores não são diferentes. Nesses gráficos é possível ver que quando mudamos a tensão de entrada do circuito essa só já demora um certo tempo para se efetivar, e posteriormente a comutação do estado dos transistores também demora. O tempo entre a chegada de um sinal válido e de uma saída estável é o que chamamos de </a:t>
            </a:r>
            <a:r>
              <a:rPr lang="pt-BR" baseline="0" dirty="0" err="1"/>
              <a:t>tpd</a:t>
            </a:r>
            <a:r>
              <a:rPr lang="pt-BR" baseline="0" dirty="0"/>
              <a:t>.</a:t>
            </a:r>
          </a:p>
          <a:p>
            <a:r>
              <a:rPr lang="pt-BR" dirty="0" err="1"/>
              <a:t>http</a:t>
            </a:r>
            <a:r>
              <a:rPr lang="pt-BR" dirty="0"/>
              <a:t>://</a:t>
            </a:r>
            <a:r>
              <a:rPr lang="pt-BR" dirty="0" err="1"/>
              <a:t>computationstructures.org</a:t>
            </a:r>
            <a:r>
              <a:rPr lang="pt-BR" dirty="0"/>
              <a:t>/</a:t>
            </a:r>
          </a:p>
        </p:txBody>
      </p:sp>
      <p:sp>
        <p:nvSpPr>
          <p:cNvPr id="4" name="Slide Number Placeholder 3"/>
          <p:cNvSpPr>
            <a:spLocks noGrp="1"/>
          </p:cNvSpPr>
          <p:nvPr>
            <p:ph type="sldNum" sz="quarter" idx="10"/>
          </p:nvPr>
        </p:nvSpPr>
        <p:spPr/>
        <p:txBody>
          <a:bodyPr/>
          <a:lstStyle/>
          <a:p>
            <a:fld id="{F23FB91E-A0DC-4A5F-B463-D7B8E79502D1}" type="slidenum">
              <a:rPr lang="pt-BR" smtClean="0"/>
              <a:t>57</a:t>
            </a:fld>
            <a:endParaRPr lang="pt-BR"/>
          </a:p>
        </p:txBody>
      </p:sp>
    </p:spTree>
    <p:extLst>
      <p:ext uri="{BB962C8B-B14F-4D97-AF65-F5344CB8AC3E}">
        <p14:creationId xmlns:p14="http://schemas.microsoft.com/office/powerpoint/2010/main" val="9872181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Voltando</a:t>
            </a:r>
            <a:r>
              <a:rPr lang="pt-BR" baseline="0" dirty="0"/>
              <a:t> para o conceito de abstração, vimos que existem diversas portas lógicas e elas podem ser implementadas de várias formas. Por exemplo, a XOR apresentada possui um comportamento muito bem definido pela tabela verdade descrita abaixo. Porém não sabemos muito como uma XOR funciona, ou seja, ela é um caixa preta. Algumas vezes podemos abrir essa caixa preta (NEXT) e verificar o que há dentro. Porém percebam a diferença entre a interface, que é o que algo faz, com a implementação, que é o como ela faz.</a:t>
            </a:r>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58</a:t>
            </a:fld>
            <a:endParaRPr lang="pt-BR"/>
          </a:p>
        </p:txBody>
      </p:sp>
    </p:spTree>
    <p:extLst>
      <p:ext uri="{BB962C8B-B14F-4D97-AF65-F5344CB8AC3E}">
        <p14:creationId xmlns:p14="http://schemas.microsoft.com/office/powerpoint/2010/main" val="2716971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noProof="0" dirty="0"/>
              <a:t>A XOR é uma porta bem curiosa</a:t>
            </a:r>
            <a:r>
              <a:rPr lang="pt-BR" baseline="0" noProof="0" dirty="0"/>
              <a:t> pois ela só retorna 1 quando apenas uma das entradas é um. O símbolo usado em álgebra booleana é esse mais com um círculo em volta. E o símbolo do circuito é esse parecido com um </a:t>
            </a:r>
            <a:r>
              <a:rPr lang="pt-BR" baseline="0" noProof="0" dirty="0" err="1"/>
              <a:t>or</a:t>
            </a:r>
            <a:r>
              <a:rPr lang="pt-BR" baseline="0" noProof="0" dirty="0"/>
              <a:t>, mas com um risco a mais na entrada. Por álgebra booleana, podemos desmembrar a equação em funções de OR, AND e NOT. Podendo assim implementar um circuito de XOR as portas fundamentais. Perceba que internamente usamos alguns sinais internos, que não fazem parte nem da entrada, nem da saída, mas que são usados para permitir que o circuito funcione.</a:t>
            </a:r>
          </a:p>
          <a:p>
            <a:endParaRPr lang="pt-BR" noProof="0" dirty="0"/>
          </a:p>
          <a:p>
            <a:r>
              <a:rPr lang="pt-BR" noProof="0" dirty="0"/>
              <a:t>http://math.stackexchange.com/questions/499863/boolean-algebra-simplifying-multiple-xor-and-xnor</a:t>
            </a:r>
          </a:p>
        </p:txBody>
      </p:sp>
      <p:sp>
        <p:nvSpPr>
          <p:cNvPr id="4" name="Slide Number Placeholder 3"/>
          <p:cNvSpPr>
            <a:spLocks noGrp="1"/>
          </p:cNvSpPr>
          <p:nvPr>
            <p:ph type="sldNum" sz="quarter" idx="10"/>
          </p:nvPr>
        </p:nvSpPr>
        <p:spPr/>
        <p:txBody>
          <a:bodyPr/>
          <a:lstStyle/>
          <a:p>
            <a:fld id="{F23FB91E-A0DC-4A5F-B463-D7B8E79502D1}" type="slidenum">
              <a:rPr lang="pt-BR" smtClean="0"/>
              <a:t>59</a:t>
            </a:fld>
            <a:endParaRPr lang="pt-BR"/>
          </a:p>
        </p:txBody>
      </p:sp>
    </p:spTree>
    <p:extLst>
      <p:ext uri="{BB962C8B-B14F-4D97-AF65-F5344CB8AC3E}">
        <p14:creationId xmlns:p14="http://schemas.microsoft.com/office/powerpoint/2010/main" val="1770113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Em geral se deseja usar o mínimo de portas lógicas o possível</a:t>
            </a:r>
          </a:p>
          <a:p>
            <a:endParaRPr lang="en-US" dirty="0"/>
          </a:p>
          <a:p>
            <a:endParaRPr lang="en-US" dirty="0"/>
          </a:p>
          <a:p>
            <a:r>
              <a:rPr lang="en-US" dirty="0"/>
              <a:t>http://</a:t>
            </a:r>
            <a:r>
              <a:rPr lang="en-US" dirty="0" err="1"/>
              <a:t>www.allaboutcircuits.com</a:t>
            </a:r>
            <a:r>
              <a:rPr lang="en-US" dirty="0"/>
              <a:t>/textbook/digital/chpt-3/multiple-input-gates/</a:t>
            </a:r>
          </a:p>
        </p:txBody>
      </p:sp>
      <p:sp>
        <p:nvSpPr>
          <p:cNvPr id="4" name="Slide Number Placeholder 3"/>
          <p:cNvSpPr>
            <a:spLocks noGrp="1"/>
          </p:cNvSpPr>
          <p:nvPr>
            <p:ph type="sldNum" sz="quarter" idx="10"/>
          </p:nvPr>
        </p:nvSpPr>
        <p:spPr/>
        <p:txBody>
          <a:bodyPr/>
          <a:lstStyle/>
          <a:p>
            <a:fld id="{F23FB91E-A0DC-4A5F-B463-D7B8E79502D1}" type="slidenum">
              <a:rPr lang="pt-BR" smtClean="0"/>
              <a:t>60</a:t>
            </a:fld>
            <a:endParaRPr lang="pt-BR"/>
          </a:p>
        </p:txBody>
      </p:sp>
    </p:spTree>
    <p:extLst>
      <p:ext uri="{BB962C8B-B14F-4D97-AF65-F5344CB8AC3E}">
        <p14:creationId xmlns:p14="http://schemas.microsoft.com/office/powerpoint/2010/main" val="845084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61</a:t>
            </a:fld>
            <a:endParaRPr lang="pt-BR"/>
          </a:p>
        </p:txBody>
      </p:sp>
    </p:spTree>
    <p:extLst>
      <p:ext uri="{BB962C8B-B14F-4D97-AF65-F5344CB8AC3E}">
        <p14:creationId xmlns:p14="http://schemas.microsoft.com/office/powerpoint/2010/main" val="7548395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Multiplexadores</a:t>
            </a:r>
            <a:r>
              <a:rPr lang="pt-BR" baseline="0" dirty="0"/>
              <a:t> podem ser soluções universais no futuro.</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62</a:t>
            </a:fld>
            <a:endParaRPr lang="pt-BR"/>
          </a:p>
        </p:txBody>
      </p:sp>
    </p:spTree>
    <p:extLst>
      <p:ext uri="{BB962C8B-B14F-4D97-AF65-F5344CB8AC3E}">
        <p14:creationId xmlns:p14="http://schemas.microsoft.com/office/powerpoint/2010/main" val="6331398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dirty="0"/>
              <a:t>/</a:t>
            </a:r>
            <a:r>
              <a:rPr lang="pt-BR" dirty="0" err="1"/>
              <a:t>Fairchild_Semiconductor</a:t>
            </a:r>
            <a:endParaRPr lang="pt-BR" dirty="0"/>
          </a:p>
          <a:p>
            <a:r>
              <a:rPr lang="pt-BR" dirty="0" err="1"/>
              <a:t>https</a:t>
            </a:r>
            <a:r>
              <a:rPr lang="pt-BR" dirty="0"/>
              <a:t>://</a:t>
            </a:r>
            <a:r>
              <a:rPr lang="pt-BR" dirty="0" err="1"/>
              <a:t>en.wikipedia.org</a:t>
            </a:r>
            <a:r>
              <a:rPr lang="pt-BR" dirty="0"/>
              <a:t>/</a:t>
            </a:r>
            <a:r>
              <a:rPr lang="pt-BR" dirty="0" err="1"/>
              <a:t>wiki</a:t>
            </a:r>
            <a:r>
              <a:rPr lang="pt-BR" dirty="0"/>
              <a:t>/</a:t>
            </a:r>
            <a:r>
              <a:rPr lang="pt-BR" dirty="0" err="1"/>
              <a:t>Traitorous_eight</a:t>
            </a:r>
            <a:endParaRPr lang="pt-BR" dirty="0"/>
          </a:p>
          <a:p>
            <a:r>
              <a:rPr lang="pt-BR" dirty="0" err="1"/>
              <a:t>http</a:t>
            </a:r>
            <a:r>
              <a:rPr lang="pt-BR" dirty="0"/>
              <a:t>://s7.computerhistory.org/</a:t>
            </a:r>
            <a:r>
              <a:rPr lang="pt-BR" dirty="0" err="1"/>
              <a:t>is</a:t>
            </a:r>
            <a:r>
              <a:rPr lang="pt-BR" dirty="0"/>
              <a:t>/</a:t>
            </a:r>
            <a:r>
              <a:rPr lang="pt-BR" dirty="0" err="1"/>
              <a:t>image</a:t>
            </a:r>
            <a:r>
              <a:rPr lang="pt-BR" dirty="0"/>
              <a:t>/CHM/500004829-05-01?$</a:t>
            </a:r>
            <a:r>
              <a:rPr lang="pt-BR" dirty="0" err="1"/>
              <a:t>re-medium</a:t>
            </a:r>
            <a:r>
              <a:rPr lang="pt-BR" dirty="0"/>
              <a:t>$</a:t>
            </a:r>
          </a:p>
          <a:p>
            <a:r>
              <a:rPr lang="pt-BR" dirty="0" err="1"/>
              <a:t>http</a:t>
            </a:r>
            <a:r>
              <a:rPr lang="pt-BR" dirty="0"/>
              <a:t>://</a:t>
            </a:r>
            <a:r>
              <a:rPr lang="pt-BR" dirty="0" err="1"/>
              <a:t>losgatossaratoga.com</a:t>
            </a:r>
            <a:r>
              <a:rPr lang="pt-BR" dirty="0"/>
              <a:t>/</a:t>
            </a:r>
            <a:r>
              <a:rPr lang="pt-BR" dirty="0" err="1"/>
              <a:t>community</a:t>
            </a:r>
            <a:r>
              <a:rPr lang="pt-BR" dirty="0"/>
              <a:t>/</a:t>
            </a:r>
          </a:p>
          <a:p>
            <a:r>
              <a:rPr lang="pt-BR" dirty="0" err="1"/>
              <a:t>http</a:t>
            </a:r>
            <a:r>
              <a:rPr lang="pt-BR" dirty="0"/>
              <a:t>://</a:t>
            </a:r>
            <a:r>
              <a:rPr lang="pt-BR" dirty="0" err="1"/>
              <a:t>logok.org</a:t>
            </a:r>
            <a:r>
              <a:rPr lang="pt-BR" dirty="0"/>
              <a:t>/</a:t>
            </a:r>
            <a:r>
              <a:rPr lang="pt-BR" dirty="0" err="1"/>
              <a:t>wp-content</a:t>
            </a:r>
            <a:r>
              <a:rPr lang="pt-BR" dirty="0"/>
              <a:t>/uploads/2014/09/</a:t>
            </a:r>
            <a:r>
              <a:rPr lang="pt-BR" dirty="0" err="1"/>
              <a:t>AMD_Logo-old.png</a:t>
            </a:r>
            <a:endParaRPr lang="pt-BR" dirty="0"/>
          </a:p>
          <a:p>
            <a:r>
              <a:rPr lang="pt-BR" dirty="0" err="1"/>
              <a:t>https</a:t>
            </a:r>
            <a:r>
              <a:rPr lang="pt-BR" dirty="0"/>
              <a:t>://</a:t>
            </a:r>
            <a:r>
              <a:rPr lang="pt-BR" dirty="0" err="1"/>
              <a:t>upload.wikimedia.org</a:t>
            </a:r>
            <a:r>
              <a:rPr lang="pt-BR" dirty="0"/>
              <a:t>/</a:t>
            </a:r>
            <a:r>
              <a:rPr lang="pt-BR" dirty="0" err="1"/>
              <a:t>wikipedia</a:t>
            </a:r>
            <a:r>
              <a:rPr lang="pt-BR" dirty="0"/>
              <a:t>/</a:t>
            </a:r>
            <a:r>
              <a:rPr lang="pt-BR" dirty="0" err="1"/>
              <a:t>en</a:t>
            </a:r>
            <a:r>
              <a:rPr lang="pt-BR" dirty="0"/>
              <a:t>/</a:t>
            </a:r>
            <a:r>
              <a:rPr lang="pt-BR" dirty="0" err="1"/>
              <a:t>thumb</a:t>
            </a:r>
            <a:r>
              <a:rPr lang="pt-BR" dirty="0"/>
              <a:t>/9/99/</a:t>
            </a:r>
            <a:r>
              <a:rPr lang="pt-BR" dirty="0" err="1"/>
              <a:t>Intel_old_logo.svg</a:t>
            </a:r>
            <a:r>
              <a:rPr lang="pt-BR" dirty="0"/>
              <a:t>/1280px-Intel_old_logo.svg.png</a:t>
            </a:r>
          </a:p>
        </p:txBody>
      </p:sp>
      <p:sp>
        <p:nvSpPr>
          <p:cNvPr id="4" name="Slide Number Placeholder 3"/>
          <p:cNvSpPr>
            <a:spLocks noGrp="1"/>
          </p:cNvSpPr>
          <p:nvPr>
            <p:ph type="sldNum" sz="quarter" idx="10"/>
          </p:nvPr>
        </p:nvSpPr>
        <p:spPr/>
        <p:txBody>
          <a:bodyPr/>
          <a:lstStyle/>
          <a:p>
            <a:fld id="{F23FB91E-A0DC-4A5F-B463-D7B8E79502D1}" type="slidenum">
              <a:rPr lang="pt-BR" smtClean="0"/>
              <a:t>65</a:t>
            </a:fld>
            <a:endParaRPr lang="pt-BR"/>
          </a:p>
        </p:txBody>
      </p:sp>
    </p:spTree>
    <p:extLst>
      <p:ext uri="{BB962C8B-B14F-4D97-AF65-F5344CB8AC3E}">
        <p14:creationId xmlns:p14="http://schemas.microsoft.com/office/powerpoint/2010/main" val="413448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history-computer.com</a:t>
            </a:r>
            <a:r>
              <a:rPr lang="pt-BR" dirty="0"/>
              <a:t>/</a:t>
            </a:r>
            <a:r>
              <a:rPr lang="pt-BR" dirty="0" err="1"/>
              <a:t>ModernComputer</a:t>
            </a:r>
            <a:r>
              <a:rPr lang="pt-BR" dirty="0"/>
              <a:t>/</a:t>
            </a:r>
            <a:r>
              <a:rPr lang="pt-BR" dirty="0" err="1"/>
              <a:t>Basis</a:t>
            </a:r>
            <a:r>
              <a:rPr lang="pt-BR" dirty="0"/>
              <a:t>/</a:t>
            </a:r>
            <a:r>
              <a:rPr lang="pt-BR" dirty="0" err="1"/>
              <a:t>IC.html</a:t>
            </a:r>
            <a:endParaRPr lang="pt-BR" dirty="0"/>
          </a:p>
          <a:p>
            <a:r>
              <a:rPr lang="pt-BR" dirty="0" err="1"/>
              <a:t>http</a:t>
            </a:r>
            <a:r>
              <a:rPr lang="pt-BR" dirty="0"/>
              <a:t>://</a:t>
            </a:r>
            <a:r>
              <a:rPr lang="pt-BR" dirty="0" err="1"/>
              <a:t>www.loc.gov</a:t>
            </a:r>
            <a:r>
              <a:rPr lang="pt-BR" dirty="0"/>
              <a:t>/</a:t>
            </a:r>
            <a:r>
              <a:rPr lang="pt-BR" dirty="0" err="1"/>
              <a:t>rr</a:t>
            </a:r>
            <a:r>
              <a:rPr lang="pt-BR" dirty="0"/>
              <a:t>/</a:t>
            </a:r>
            <a:r>
              <a:rPr lang="pt-BR" dirty="0" err="1"/>
              <a:t>mss</a:t>
            </a:r>
            <a:r>
              <a:rPr lang="pt-BR" dirty="0"/>
              <a:t>/</a:t>
            </a:r>
            <a:r>
              <a:rPr lang="pt-BR" dirty="0" err="1"/>
              <a:t>acquisitions-adds.html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66</a:t>
            </a:fld>
            <a:endParaRPr lang="pt-BR"/>
          </a:p>
        </p:txBody>
      </p:sp>
    </p:spTree>
    <p:extLst>
      <p:ext uri="{BB962C8B-B14F-4D97-AF65-F5344CB8AC3E}">
        <p14:creationId xmlns:p14="http://schemas.microsoft.com/office/powerpoint/2010/main" val="41344822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 a partir</a:t>
            </a:r>
            <a:r>
              <a:rPr lang="pt-BR" baseline="0" dirty="0"/>
              <a:t> da descoberta do transistor e posteriormente do circuito integrado, começamos a ver uma rápida evolução da informática. Gordon Moore previu </a:t>
            </a:r>
            <a:r>
              <a:rPr lang="pt-BR" sz="1200" b="0" i="0" kern="1200" dirty="0">
                <a:solidFill>
                  <a:schemeClr val="tx1"/>
                </a:solidFill>
                <a:effectLst/>
                <a:latin typeface="+mn-lt"/>
                <a:ea typeface="+mn-ea"/>
                <a:cs typeface="+mn-cs"/>
              </a:rPr>
              <a:t>em 1965 que o número de transistores por área de circuitos integrados iria dobrar a cada</a:t>
            </a:r>
            <a:r>
              <a:rPr lang="pt-BR" sz="1200" b="0" i="0" kern="1200" baseline="0" dirty="0">
                <a:solidFill>
                  <a:schemeClr val="tx1"/>
                </a:solidFill>
                <a:effectLst/>
                <a:latin typeface="+mn-lt"/>
                <a:ea typeface="+mn-ea"/>
                <a:cs typeface="+mn-cs"/>
              </a:rPr>
              <a:t> ano, depois a lei foi revista por ele indicando que a densidade dobraria a cada dois ano. Atualmente o tamanho dos transistores é tão pequeno que já esbarramos nos limites da física quântica.</a:t>
            </a:r>
          </a:p>
          <a:p>
            <a:endParaRPr lang="pt-BR" sz="1200" b="0" i="0" kern="1200" baseline="0" dirty="0">
              <a:solidFill>
                <a:schemeClr val="tx1"/>
              </a:solidFill>
              <a:effectLst/>
              <a:latin typeface="+mn-lt"/>
              <a:ea typeface="+mn-ea"/>
              <a:cs typeface="+mn-cs"/>
            </a:endParaRPr>
          </a:p>
          <a:p>
            <a:endParaRPr lang="pt-BR" dirty="0"/>
          </a:p>
          <a:p>
            <a:r>
              <a:rPr lang="pt-BR" dirty="0"/>
              <a:t>http://www.computerhistory.org/siliconengine/</a:t>
            </a:r>
          </a:p>
          <a:p>
            <a:r>
              <a:rPr lang="pt-BR" dirty="0" err="1"/>
              <a:t>https</a:t>
            </a:r>
            <a:r>
              <a:rPr lang="pt-BR" dirty="0"/>
              <a:t>://</a:t>
            </a:r>
            <a:r>
              <a:rPr lang="pt-BR" dirty="0" err="1"/>
              <a:t>devblogs.nvidia.com</a:t>
            </a:r>
            <a:r>
              <a:rPr lang="pt-BR" dirty="0"/>
              <a:t>/</a:t>
            </a:r>
            <a:r>
              <a:rPr lang="pt-BR" dirty="0" err="1"/>
              <a:t>parallelforall</a:t>
            </a:r>
            <a:r>
              <a:rPr lang="pt-BR" dirty="0"/>
              <a:t>/</a:t>
            </a:r>
            <a:r>
              <a:rPr lang="pt-BR" dirty="0" err="1"/>
              <a:t>inside</a:t>
            </a:r>
            <a:r>
              <a:rPr lang="pt-BR" dirty="0"/>
              <a:t>-pascal/</a:t>
            </a:r>
          </a:p>
          <a:p>
            <a:r>
              <a:rPr lang="pt-BR" dirty="0" err="1"/>
              <a:t>http</a:t>
            </a:r>
            <a:r>
              <a:rPr lang="pt-BR" dirty="0"/>
              <a:t>://</a:t>
            </a:r>
            <a:r>
              <a:rPr lang="pt-BR" dirty="0" err="1"/>
              <a:t>www.anandtech.com</a:t>
            </a:r>
            <a:r>
              <a:rPr lang="pt-BR" dirty="0"/>
              <a:t>/show/10588/hot-chips-2016-nvidia-gp100-die-shot-released</a:t>
            </a:r>
          </a:p>
        </p:txBody>
      </p:sp>
      <p:sp>
        <p:nvSpPr>
          <p:cNvPr id="4" name="Slide Number Placeholder 3"/>
          <p:cNvSpPr>
            <a:spLocks noGrp="1"/>
          </p:cNvSpPr>
          <p:nvPr>
            <p:ph type="sldNum" sz="quarter" idx="10"/>
          </p:nvPr>
        </p:nvSpPr>
        <p:spPr/>
        <p:txBody>
          <a:bodyPr/>
          <a:lstStyle/>
          <a:p>
            <a:fld id="{F23FB91E-A0DC-4A5F-B463-D7B8E79502D1}" type="slidenum">
              <a:rPr lang="pt-BR" smtClean="0"/>
              <a:t>67</a:t>
            </a:fld>
            <a:endParaRPr lang="pt-BR"/>
          </a:p>
        </p:txBody>
      </p:sp>
    </p:spTree>
    <p:extLst>
      <p:ext uri="{BB962C8B-B14F-4D97-AF65-F5344CB8AC3E}">
        <p14:creationId xmlns:p14="http://schemas.microsoft.com/office/powerpoint/2010/main" val="2156442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www.cheekytronics.com</a:t>
            </a:r>
            <a:r>
              <a:rPr lang="en-US" dirty="0"/>
              <a:t>/</a:t>
            </a:r>
            <a:r>
              <a:rPr lang="en-US" dirty="0" err="1"/>
              <a:t>logic_ics</a:t>
            </a:r>
            <a:r>
              <a:rPr lang="en-US" dirty="0"/>
              <a:t>/7400.html</a:t>
            </a:r>
          </a:p>
          <a:p>
            <a:r>
              <a:rPr lang="en-US" dirty="0"/>
              <a:t>https://</a:t>
            </a:r>
            <a:r>
              <a:rPr lang="en-US" dirty="0" err="1"/>
              <a:t>en.wikipedia.org</a:t>
            </a:r>
            <a:r>
              <a:rPr lang="en-US" dirty="0"/>
              <a:t>/wiki/7400_series</a:t>
            </a:r>
          </a:p>
          <a:p>
            <a:r>
              <a:rPr lang="en-US" dirty="0"/>
              <a:t>http://</a:t>
            </a:r>
            <a:r>
              <a:rPr lang="en-US" dirty="0" err="1"/>
              <a:t>sigma.octopart.com</a:t>
            </a:r>
            <a:r>
              <a:rPr lang="en-US" dirty="0"/>
              <a:t>/12148192/image/Conrad-SN-7400-N.jpg</a:t>
            </a:r>
          </a:p>
        </p:txBody>
      </p:sp>
      <p:sp>
        <p:nvSpPr>
          <p:cNvPr id="4" name="Slide Number Placeholder 3"/>
          <p:cNvSpPr>
            <a:spLocks noGrp="1"/>
          </p:cNvSpPr>
          <p:nvPr>
            <p:ph type="sldNum" sz="quarter" idx="10"/>
          </p:nvPr>
        </p:nvSpPr>
        <p:spPr/>
        <p:txBody>
          <a:bodyPr/>
          <a:lstStyle/>
          <a:p>
            <a:fld id="{F23FB91E-A0DC-4A5F-B463-D7B8E79502D1}" type="slidenum">
              <a:rPr lang="pt-BR" smtClean="0"/>
              <a:t>68</a:t>
            </a:fld>
            <a:endParaRPr lang="pt-BR"/>
          </a:p>
        </p:txBody>
      </p:sp>
    </p:spTree>
    <p:extLst>
      <p:ext uri="{BB962C8B-B14F-4D97-AF65-F5344CB8AC3E}">
        <p14:creationId xmlns:p14="http://schemas.microsoft.com/office/powerpoint/2010/main" val="16775281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slideplayer.com</a:t>
            </a:r>
            <a:r>
              <a:rPr lang="pt-BR" dirty="0"/>
              <a:t>/slide/6285890/</a:t>
            </a:r>
          </a:p>
          <a:p>
            <a:r>
              <a:rPr lang="pt-BR" dirty="0" err="1"/>
              <a:t>http</a:t>
            </a:r>
            <a:r>
              <a:rPr lang="pt-BR" dirty="0"/>
              <a:t>://</a:t>
            </a:r>
            <a:r>
              <a:rPr lang="pt-BR" dirty="0" err="1"/>
              <a:t>www.rfwireless-world.com</a:t>
            </a:r>
            <a:r>
              <a:rPr lang="pt-BR" dirty="0"/>
              <a:t>/</a:t>
            </a:r>
            <a:r>
              <a:rPr lang="pt-BR" dirty="0" err="1"/>
              <a:t>Terminology</a:t>
            </a:r>
            <a:r>
              <a:rPr lang="pt-BR" dirty="0"/>
              <a:t>/</a:t>
            </a:r>
            <a:r>
              <a:rPr lang="pt-BR" dirty="0" err="1"/>
              <a:t>Difference</a:t>
            </a:r>
            <a:r>
              <a:rPr lang="pt-BR" dirty="0"/>
              <a:t>-</a:t>
            </a:r>
            <a:r>
              <a:rPr lang="pt-BR" dirty="0" err="1"/>
              <a:t>between</a:t>
            </a:r>
            <a:r>
              <a:rPr lang="pt-BR" dirty="0"/>
              <a:t>-TTL-ECL-</a:t>
            </a:r>
            <a:r>
              <a:rPr lang="pt-BR" dirty="0" err="1"/>
              <a:t>CMOS.html</a:t>
            </a:r>
            <a:endParaRPr lang="pt-BR" dirty="0"/>
          </a:p>
          <a:p>
            <a:r>
              <a:rPr lang="pt-BR" dirty="0" err="1"/>
              <a:t>http</a:t>
            </a:r>
            <a:r>
              <a:rPr lang="pt-BR" dirty="0"/>
              <a:t>://</a:t>
            </a:r>
            <a:r>
              <a:rPr lang="pt-BR" dirty="0" err="1"/>
              <a:t>www.interfacebus.com</a:t>
            </a:r>
            <a:r>
              <a:rPr lang="pt-BR" dirty="0"/>
              <a:t>/</a:t>
            </a:r>
            <a:r>
              <a:rPr lang="pt-BR" dirty="0" err="1"/>
              <a:t>Design_Logic_Family_Selection.html</a:t>
            </a:r>
            <a:endParaRPr lang="pt-BR" dirty="0"/>
          </a:p>
          <a:p>
            <a:r>
              <a:rPr lang="pt-BR" dirty="0" err="1"/>
              <a:t>http</a:t>
            </a:r>
            <a:r>
              <a:rPr lang="pt-BR" dirty="0"/>
              <a:t>://</a:t>
            </a:r>
            <a:r>
              <a:rPr lang="pt-BR" dirty="0" err="1"/>
              <a:t>www.engin.brown.edu</a:t>
            </a:r>
            <a:r>
              <a:rPr lang="pt-BR" dirty="0"/>
              <a:t>/</a:t>
            </a:r>
            <a:r>
              <a:rPr lang="pt-BR" dirty="0" err="1"/>
              <a:t>faculty</a:t>
            </a:r>
            <a:r>
              <a:rPr lang="pt-BR" dirty="0"/>
              <a:t>/</a:t>
            </a:r>
            <a:r>
              <a:rPr lang="pt-BR" dirty="0" err="1"/>
              <a:t>daniels</a:t>
            </a:r>
            <a:r>
              <a:rPr lang="pt-BR" dirty="0"/>
              <a:t>/DDZO/</a:t>
            </a:r>
            <a:r>
              <a:rPr lang="pt-BR" dirty="0" err="1"/>
              <a:t>speed.html</a:t>
            </a:r>
            <a:endParaRPr lang="pt-BR" dirty="0"/>
          </a:p>
          <a:p>
            <a:r>
              <a:rPr lang="pt-BR" dirty="0" err="1"/>
              <a:t>https</a:t>
            </a:r>
            <a:r>
              <a:rPr lang="pt-BR" dirty="0"/>
              <a:t>://</a:t>
            </a:r>
            <a:r>
              <a:rPr lang="pt-BR" dirty="0" err="1"/>
              <a:t>books.google.com.br</a:t>
            </a:r>
            <a:r>
              <a:rPr lang="pt-BR" dirty="0"/>
              <a:t>/</a:t>
            </a:r>
            <a:r>
              <a:rPr lang="pt-BR" dirty="0" err="1"/>
              <a:t>books?id</a:t>
            </a:r>
            <a:r>
              <a:rPr lang="pt-BR" dirty="0"/>
              <a:t>=N6FDii6_nSEC&amp;pg=PA197&amp;lpg=PA197&amp;dq=</a:t>
            </a:r>
            <a:r>
              <a:rPr lang="pt-BR" dirty="0" err="1"/>
              <a:t>nmos</a:t>
            </a:r>
            <a:r>
              <a:rPr lang="pt-BR" dirty="0"/>
              <a:t>+%22power+dissipation+per+gate%22&amp;source=</a:t>
            </a:r>
            <a:r>
              <a:rPr lang="pt-BR" dirty="0" err="1"/>
              <a:t>bl&amp;ots</a:t>
            </a:r>
            <a:r>
              <a:rPr lang="pt-BR" dirty="0"/>
              <a:t>=hfz-RgwjR8&amp;sig=fch_n9Grye_Uepo72Cyt4EEkdSc&amp;hl=</a:t>
            </a:r>
            <a:r>
              <a:rPr lang="pt-BR" dirty="0" err="1"/>
              <a:t>en&amp;sa</a:t>
            </a:r>
            <a:r>
              <a:rPr lang="pt-BR" dirty="0"/>
              <a:t>=</a:t>
            </a:r>
            <a:r>
              <a:rPr lang="pt-BR" dirty="0" err="1"/>
              <a:t>X&amp;ved</a:t>
            </a:r>
            <a:r>
              <a:rPr lang="pt-BR" dirty="0"/>
              <a:t>=0ahUKEwjqwvCc_P7KAhVJC5AKHcAlAxgQ6AEIHDAA#v=</a:t>
            </a:r>
            <a:r>
              <a:rPr lang="pt-BR" dirty="0" err="1"/>
              <a:t>onepage&amp;q</a:t>
            </a:r>
            <a:r>
              <a:rPr lang="pt-BR" dirty="0"/>
              <a:t>=nmos%20%22power%20dissipation%20per%20gate%22&amp;f=false</a:t>
            </a:r>
          </a:p>
        </p:txBody>
      </p:sp>
      <p:sp>
        <p:nvSpPr>
          <p:cNvPr id="4" name="Slide Number Placeholder 3"/>
          <p:cNvSpPr>
            <a:spLocks noGrp="1"/>
          </p:cNvSpPr>
          <p:nvPr>
            <p:ph type="sldNum" sz="quarter" idx="10"/>
          </p:nvPr>
        </p:nvSpPr>
        <p:spPr/>
        <p:txBody>
          <a:bodyPr/>
          <a:lstStyle/>
          <a:p>
            <a:fld id="{F23FB91E-A0DC-4A5F-B463-D7B8E79502D1}" type="slidenum">
              <a:rPr lang="pt-BR" smtClean="0"/>
              <a:t>69</a:t>
            </a:fld>
            <a:endParaRPr lang="pt-BR"/>
          </a:p>
        </p:txBody>
      </p:sp>
    </p:spTree>
    <p:extLst>
      <p:ext uri="{BB962C8B-B14F-4D97-AF65-F5344CB8AC3E}">
        <p14:creationId xmlns:p14="http://schemas.microsoft.com/office/powerpoint/2010/main" val="33091948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www.interfacebus.com</a:t>
            </a:r>
            <a:r>
              <a:rPr lang="en-US" dirty="0"/>
              <a:t>/</a:t>
            </a:r>
            <a:r>
              <a:rPr lang="en-US" dirty="0" err="1"/>
              <a:t>logic_table.html</a:t>
            </a:r>
            <a:endParaRPr lang="en-US" dirty="0"/>
          </a:p>
          <a:p>
            <a:r>
              <a:rPr lang="en-US" dirty="0"/>
              <a:t>http://</a:t>
            </a:r>
            <a:r>
              <a:rPr lang="en-US" dirty="0" err="1"/>
              <a:t>endigital.orgfree.com</a:t>
            </a:r>
            <a:r>
              <a:rPr lang="en-US" dirty="0"/>
              <a:t>/cix/</a:t>
            </a:r>
            <a:r>
              <a:rPr lang="en-US" dirty="0" err="1"/>
              <a:t>Chart.htm</a:t>
            </a:r>
            <a:endParaRPr lang="en-US" dirty="0"/>
          </a:p>
          <a:p>
            <a:r>
              <a:rPr lang="en-US" dirty="0"/>
              <a:t>http://</a:t>
            </a:r>
            <a:r>
              <a:rPr lang="en-US" dirty="0" err="1"/>
              <a:t>pasnaco.com</a:t>
            </a:r>
            <a:r>
              <a:rPr lang="en-US" dirty="0"/>
              <a:t>/en/TTL--CMOS--</a:t>
            </a:r>
            <a:r>
              <a:rPr lang="en-US" dirty="0" err="1"/>
              <a:t>Regulator#prettyPhoto</a:t>
            </a:r>
            <a:endParaRPr lang="en-US" dirty="0"/>
          </a:p>
          <a:p>
            <a:endParaRPr lang="en-US" dirty="0"/>
          </a:p>
          <a:p>
            <a:r>
              <a:rPr lang="en-US" dirty="0"/>
              <a:t>TTL (74xx) True TTL</a:t>
            </a:r>
          </a:p>
          <a:p>
            <a:r>
              <a:rPr lang="en-US" dirty="0"/>
              <a:t>74L	Low power</a:t>
            </a:r>
          </a:p>
          <a:p>
            <a:r>
              <a:rPr lang="en-US" dirty="0"/>
              <a:t>74S	</a:t>
            </a:r>
            <a:r>
              <a:rPr lang="en-US" dirty="0" err="1"/>
              <a:t>Schottky</a:t>
            </a:r>
            <a:endParaRPr lang="en-US" dirty="0"/>
          </a:p>
          <a:p>
            <a:r>
              <a:rPr lang="en-US" dirty="0"/>
              <a:t>74H	High speed</a:t>
            </a:r>
          </a:p>
          <a:p>
            <a:r>
              <a:rPr lang="en-US" dirty="0"/>
              <a:t>74LS	Low power - </a:t>
            </a:r>
            <a:r>
              <a:rPr lang="en-US" dirty="0" err="1"/>
              <a:t>Schottky</a:t>
            </a:r>
            <a:endParaRPr lang="en-US" dirty="0"/>
          </a:p>
          <a:p>
            <a:r>
              <a:rPr lang="en-US" dirty="0"/>
              <a:t>74AS	Advanced - </a:t>
            </a:r>
            <a:r>
              <a:rPr lang="en-US" dirty="0" err="1"/>
              <a:t>Schottky</a:t>
            </a:r>
            <a:endParaRPr lang="en-US" dirty="0"/>
          </a:p>
          <a:p>
            <a:r>
              <a:rPr lang="en-US" dirty="0"/>
              <a:t>74ALS	Advanced - Low power - </a:t>
            </a:r>
            <a:r>
              <a:rPr lang="en-US" dirty="0" err="1"/>
              <a:t>Schottky</a:t>
            </a:r>
            <a:endParaRPr lang="en-US" dirty="0"/>
          </a:p>
          <a:p>
            <a:r>
              <a:rPr lang="en-US" dirty="0"/>
              <a:t>74F(AST)	Fast - (Advanced - </a:t>
            </a:r>
            <a:r>
              <a:rPr lang="en-US" dirty="0" err="1"/>
              <a:t>Schottky</a:t>
            </a:r>
            <a:r>
              <a:rPr lang="en-US" dirty="0"/>
              <a:t>)</a:t>
            </a:r>
          </a:p>
          <a:p>
            <a:r>
              <a:rPr lang="en-US" dirty="0"/>
              <a:t>74C	CMOS.......check </a:t>
            </a:r>
            <a:r>
              <a:rPr lang="en-US" dirty="0" err="1"/>
              <a:t>Vcc</a:t>
            </a:r>
            <a:r>
              <a:rPr lang="en-US" dirty="0"/>
              <a:t> level</a:t>
            </a:r>
          </a:p>
          <a:p>
            <a:r>
              <a:rPr lang="en-US" dirty="0"/>
              <a:t>74HC (U)	High speed - CMOS (</a:t>
            </a:r>
            <a:r>
              <a:rPr lang="en-US" dirty="0" err="1"/>
              <a:t>Unbuffered</a:t>
            </a:r>
            <a:r>
              <a:rPr lang="en-US" dirty="0"/>
              <a:t> output)</a:t>
            </a:r>
          </a:p>
          <a:p>
            <a:r>
              <a:rPr lang="en-US" dirty="0"/>
              <a:t>74HCS (U)	High speed - CMOS (SOS CMOS, Radiation hardened)</a:t>
            </a:r>
          </a:p>
          <a:p>
            <a:r>
              <a:rPr lang="en-US" dirty="0"/>
              <a:t>74HCT	High speed - CMOS - TTL inputs</a:t>
            </a:r>
          </a:p>
          <a:p>
            <a:r>
              <a:rPr lang="en-US" dirty="0"/>
              <a:t>74AHC	Advanced - High speed - CMOS</a:t>
            </a:r>
          </a:p>
          <a:p>
            <a:r>
              <a:rPr lang="en-US" dirty="0"/>
              <a:t>74AHCT	Advanced - High speed - CMOS - TTL inputs</a:t>
            </a:r>
          </a:p>
          <a:p>
            <a:r>
              <a:rPr lang="en-US" dirty="0"/>
              <a:t>74FCT (-A,T,AT)	Fast - CMOS - TTL inputs (speed variations)</a:t>
            </a:r>
          </a:p>
          <a:p>
            <a:r>
              <a:rPr lang="en-US" dirty="0"/>
              <a:t>74AC	Advanced - CMOS</a:t>
            </a:r>
          </a:p>
          <a:p>
            <a:r>
              <a:rPr lang="en-US" dirty="0"/>
              <a:t>74ACS (U)	High speed - CMOS (SOS CMOS, Radiation hardened)</a:t>
            </a:r>
          </a:p>
          <a:p>
            <a:r>
              <a:rPr lang="en-US" dirty="0"/>
              <a:t>74ACT	Advanced - CMOS - TTL inputs</a:t>
            </a:r>
          </a:p>
          <a:p>
            <a:r>
              <a:rPr lang="en-US" dirty="0"/>
              <a:t>74ACTS (U)	High speed - CMOS - TTL inputs (SOS CMOS, Radiation hardened)</a:t>
            </a:r>
          </a:p>
          <a:p>
            <a:r>
              <a:rPr lang="en-US" dirty="0"/>
              <a:t>74FACT	AC, ACT (Q) series</a:t>
            </a:r>
          </a:p>
          <a:p>
            <a:r>
              <a:rPr lang="en-US" dirty="0"/>
              <a:t>74ACQ	Advanced - CMOS - Quiet outputs</a:t>
            </a:r>
          </a:p>
          <a:p>
            <a:r>
              <a:rPr lang="en-US" dirty="0"/>
              <a:t>74ACTQ	Advanced - CMOS - TTL inputs - Quiet outputs</a:t>
            </a:r>
          </a:p>
          <a:p>
            <a:r>
              <a:rPr lang="en-US" dirty="0"/>
              <a:t>74AVC	Advanced very low voltage CMOS</a:t>
            </a:r>
          </a:p>
          <a:p>
            <a:r>
              <a:rPr lang="en-US" dirty="0"/>
              <a:t>74AUC	Advanced ultra-low voltage CMOS</a:t>
            </a:r>
          </a:p>
          <a:p>
            <a:r>
              <a:rPr lang="en-US" dirty="0"/>
              <a:t>74AUP	Advanced ultra-low power</a:t>
            </a:r>
          </a:p>
          <a:p>
            <a:r>
              <a:rPr lang="en-US" dirty="0"/>
              <a:t>74UHS	Ultra High Speed</a:t>
            </a:r>
          </a:p>
          <a:p>
            <a:r>
              <a:rPr lang="en-US" dirty="0"/>
              <a:t>74ULP	Ultra Low Power</a:t>
            </a:r>
          </a:p>
        </p:txBody>
      </p:sp>
      <p:sp>
        <p:nvSpPr>
          <p:cNvPr id="4" name="Slide Number Placeholder 3"/>
          <p:cNvSpPr>
            <a:spLocks noGrp="1"/>
          </p:cNvSpPr>
          <p:nvPr>
            <p:ph type="sldNum" sz="quarter" idx="10"/>
          </p:nvPr>
        </p:nvSpPr>
        <p:spPr/>
        <p:txBody>
          <a:bodyPr/>
          <a:lstStyle/>
          <a:p>
            <a:fld id="{F23FB91E-A0DC-4A5F-B463-D7B8E79502D1}" type="slidenum">
              <a:rPr lang="pt-BR" smtClean="0"/>
              <a:t>70</a:t>
            </a:fld>
            <a:endParaRPr lang="pt-BR"/>
          </a:p>
        </p:txBody>
      </p:sp>
    </p:spTree>
    <p:extLst>
      <p:ext uri="{BB962C8B-B14F-4D97-AF65-F5344CB8AC3E}">
        <p14:creationId xmlns:p14="http://schemas.microsoft.com/office/powerpoint/2010/main" val="38602678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Embora CMOS</a:t>
            </a:r>
            <a:r>
              <a:rPr lang="pt-BR" baseline="0" dirty="0"/>
              <a:t> seja a principal tecnologia para a produção de circuitos integrados, os transistores de junção bipolar são </a:t>
            </a:r>
            <a:r>
              <a:rPr lang="pt-BR" baseline="0" dirty="0" err="1"/>
              <a:t>parecedos</a:t>
            </a:r>
            <a:r>
              <a:rPr lang="pt-BR" baseline="0" dirty="0"/>
              <a:t> em alguns </a:t>
            </a:r>
            <a:r>
              <a:rPr lang="pt-BR" baseline="0" dirty="0" err="1"/>
              <a:t>aspctos</a:t>
            </a:r>
            <a:r>
              <a:rPr lang="pt-BR" baseline="0" dirty="0"/>
              <a:t>. Por exemplo aqui temos um corte lateral de um </a:t>
            </a:r>
            <a:r>
              <a:rPr lang="pt-BR" baseline="0" dirty="0" err="1"/>
              <a:t>um</a:t>
            </a:r>
            <a:r>
              <a:rPr lang="pt-BR" baseline="0" dirty="0"/>
              <a:t> circuito integrado usando tecnologia BJT. Perceba que também poderíamos usar essa tecnologia para a produção de portas lógicas, porém teríamos maiores problemas com dissipação de energia por exemplo.</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72</a:t>
            </a:fld>
            <a:endParaRPr lang="pt-BR"/>
          </a:p>
        </p:txBody>
      </p:sp>
    </p:spTree>
    <p:extLst>
      <p:ext uri="{BB962C8B-B14F-4D97-AF65-F5344CB8AC3E}">
        <p14:creationId xmlns:p14="http://schemas.microsoft.com/office/powerpoint/2010/main" val="15424385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quatro </a:t>
            </a:r>
            <a:r>
              <a:rPr lang="pt-BR" dirty="0" err="1"/>
              <a:t>Nands</a:t>
            </a:r>
            <a:r>
              <a:rPr lang="pt-BR" dirty="0"/>
              <a:t> de duas entradas</a:t>
            </a:r>
          </a:p>
          <a:p>
            <a:r>
              <a:rPr lang="pt-BR" dirty="0" err="1"/>
              <a:t>http</a:t>
            </a:r>
            <a:r>
              <a:rPr lang="pt-BR" dirty="0"/>
              <a:t>://</a:t>
            </a:r>
            <a:r>
              <a:rPr lang="pt-BR" dirty="0" err="1"/>
              <a:t>tubetime.us</a:t>
            </a:r>
            <a:r>
              <a:rPr lang="pt-BR" dirty="0"/>
              <a:t>/?</a:t>
            </a:r>
            <a:r>
              <a:rPr lang="pt-BR" dirty="0" err="1"/>
              <a:t>p</a:t>
            </a:r>
            <a:r>
              <a:rPr lang="pt-BR" dirty="0"/>
              <a:t>=228</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73</a:t>
            </a:fld>
            <a:endParaRPr lang="pt-BR"/>
          </a:p>
        </p:txBody>
      </p:sp>
    </p:spTree>
    <p:extLst>
      <p:ext uri="{BB962C8B-B14F-4D97-AF65-F5344CB8AC3E}">
        <p14:creationId xmlns:p14="http://schemas.microsoft.com/office/powerpoint/2010/main" val="35363545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zeptobars.ru</a:t>
            </a:r>
            <a:r>
              <a:rPr lang="en-US" dirty="0"/>
              <a:t>/en/read/NXP-74AHC00</a:t>
            </a:r>
          </a:p>
          <a:p>
            <a:r>
              <a:rPr lang="en-US" dirty="0"/>
              <a:t>http://</a:t>
            </a:r>
            <a:r>
              <a:rPr lang="en-US" dirty="0" err="1"/>
              <a:t>www.allaboutcircuits.com</a:t>
            </a:r>
            <a:r>
              <a:rPr lang="en-US" dirty="0"/>
              <a:t>/textbook/digital/chpt-3/</a:t>
            </a:r>
            <a:r>
              <a:rPr lang="en-US" dirty="0" err="1"/>
              <a:t>cmos</a:t>
            </a:r>
            <a:r>
              <a:rPr lang="en-US" dirty="0"/>
              <a:t>-gate-circuitry/</a:t>
            </a:r>
          </a:p>
        </p:txBody>
      </p:sp>
      <p:sp>
        <p:nvSpPr>
          <p:cNvPr id="4" name="Slide Number Placeholder 3"/>
          <p:cNvSpPr>
            <a:spLocks noGrp="1"/>
          </p:cNvSpPr>
          <p:nvPr>
            <p:ph type="sldNum" sz="quarter" idx="10"/>
          </p:nvPr>
        </p:nvSpPr>
        <p:spPr/>
        <p:txBody>
          <a:bodyPr/>
          <a:lstStyle/>
          <a:p>
            <a:fld id="{F23FB91E-A0DC-4A5F-B463-D7B8E79502D1}" type="slidenum">
              <a:rPr lang="pt-BR" smtClean="0"/>
              <a:t>74</a:t>
            </a:fld>
            <a:endParaRPr lang="pt-BR"/>
          </a:p>
        </p:txBody>
      </p:sp>
    </p:spTree>
    <p:extLst>
      <p:ext uri="{BB962C8B-B14F-4D97-AF65-F5344CB8AC3E}">
        <p14:creationId xmlns:p14="http://schemas.microsoft.com/office/powerpoint/2010/main" val="27846787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www.allaboutcircuits.com</a:t>
            </a:r>
            <a:r>
              <a:rPr lang="en-US" dirty="0"/>
              <a:t>/textbook/digital/chpt-3/logic-signal-voltage-levels/</a:t>
            </a:r>
          </a:p>
          <a:p>
            <a:r>
              <a:rPr lang="en-US" dirty="0"/>
              <a:t>https://</a:t>
            </a:r>
            <a:r>
              <a:rPr lang="en-US" dirty="0" err="1"/>
              <a:t>en.wikipedia.org</a:t>
            </a:r>
            <a:r>
              <a:rPr lang="en-US" dirty="0"/>
              <a:t>/wiki/</a:t>
            </a:r>
            <a:r>
              <a:rPr lang="en-US" dirty="0" err="1"/>
              <a:t>Logic_level</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23FB91E-A0DC-4A5F-B463-D7B8E79502D1}" type="slidenum">
              <a:rPr lang="pt-BR" smtClean="0"/>
              <a:t>75</a:t>
            </a:fld>
            <a:endParaRPr lang="pt-BR"/>
          </a:p>
        </p:txBody>
      </p:sp>
    </p:spTree>
    <p:extLst>
      <p:ext uri="{BB962C8B-B14F-4D97-AF65-F5344CB8AC3E}">
        <p14:creationId xmlns:p14="http://schemas.microsoft.com/office/powerpoint/2010/main" val="27846787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circuitos CMOS</a:t>
            </a:r>
            <a:r>
              <a:rPr lang="pt-BR" baseline="0" dirty="0"/>
              <a:t> definem uma faixa de operação mais balanceada, assim para a entrada, um nível alto válido fica entre 5 volts e 3,5 volts e um nível lógico baixo entre 0 volt e 1,5 volt. Podemos usara uma regra que o primeiro terço da faixa seria para o nível lógico alto, e o último terço para um nível lógico baixo. Já para a saída de circuitos CMOS, uma variação máxima de 0,05 volt é tolerado, assim a qualidade da saída de componentes CMOS deixa eles mais imunes a interferências externas.</a:t>
            </a:r>
            <a:endParaRPr lang="pt-BR" dirty="0"/>
          </a:p>
          <a:p>
            <a:endParaRPr lang="pt-BR" dirty="0"/>
          </a:p>
          <a:p>
            <a:r>
              <a:rPr lang="pt-BR" dirty="0"/>
              <a:t>http://www.slideshare.net/aMiERuLz/logic-families-1</a:t>
            </a:r>
          </a:p>
          <a:p>
            <a:r>
              <a:rPr lang="pt-BR" dirty="0" err="1"/>
              <a:t>https</a:t>
            </a:r>
            <a:r>
              <a:rPr lang="pt-BR" dirty="0"/>
              <a:t>://</a:t>
            </a:r>
            <a:r>
              <a:rPr lang="pt-BR" dirty="0" err="1"/>
              <a:t>en.wikipedia.org</a:t>
            </a:r>
            <a:r>
              <a:rPr lang="pt-BR" dirty="0"/>
              <a:t>/</a:t>
            </a:r>
            <a:r>
              <a:rPr lang="pt-BR" dirty="0" err="1"/>
              <a:t>wiki</a:t>
            </a:r>
            <a:r>
              <a:rPr lang="pt-BR" dirty="0"/>
              <a:t>/</a:t>
            </a:r>
            <a:r>
              <a:rPr lang="pt-BR" dirty="0" err="1"/>
              <a:t>Logic_level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76</a:t>
            </a:fld>
            <a:endParaRPr lang="pt-BR"/>
          </a:p>
        </p:txBody>
      </p:sp>
    </p:spTree>
    <p:extLst>
      <p:ext uri="{BB962C8B-B14F-4D97-AF65-F5344CB8AC3E}">
        <p14:creationId xmlns:p14="http://schemas.microsoft.com/office/powerpoint/2010/main" val="642388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electronics, </a:t>
            </a:r>
            <a:r>
              <a:rPr lang="en-US" sz="1200" b="1" i="0" kern="1200" dirty="0">
                <a:solidFill>
                  <a:schemeClr val="tx1"/>
                </a:solidFill>
                <a:effectLst/>
                <a:latin typeface="+mn-lt"/>
                <a:ea typeface="+mn-ea"/>
                <a:cs typeface="+mn-cs"/>
              </a:rPr>
              <a:t>emitter-coupled logic</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ECL</a:t>
            </a:r>
            <a:r>
              <a:rPr lang="en-US" sz="1200" b="0" i="0" kern="1200" dirty="0">
                <a:solidFill>
                  <a:schemeClr val="tx1"/>
                </a:solidFill>
                <a:effectLst/>
                <a:latin typeface="+mn-lt"/>
                <a:ea typeface="+mn-ea"/>
                <a:cs typeface="+mn-cs"/>
              </a:rPr>
              <a:t>) is a high-speed integrated circuit bipolar transistor </a:t>
            </a:r>
            <a:r>
              <a:rPr lang="en-US" sz="1200" b="1" i="0" kern="1200" dirty="0">
                <a:solidFill>
                  <a:schemeClr val="tx1"/>
                </a:solidFill>
                <a:effectLst/>
                <a:latin typeface="+mn-lt"/>
                <a:ea typeface="+mn-ea"/>
                <a:cs typeface="+mn-cs"/>
              </a:rPr>
              <a:t>logic</a:t>
            </a:r>
            <a:r>
              <a:rPr lang="en-US" sz="1200" b="0" i="0" kern="1200" dirty="0">
                <a:solidFill>
                  <a:schemeClr val="tx1"/>
                </a:solidFill>
                <a:effectLst/>
                <a:latin typeface="+mn-lt"/>
                <a:ea typeface="+mn-ea"/>
                <a:cs typeface="+mn-cs"/>
              </a:rPr>
              <a:t> family.</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ECL's major disadvantage is that each gate continuously draws current, which means it requires (and dissipates) significantly more power than those of other logic families, especially when quiescent.</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Lembrar</a:t>
            </a:r>
            <a:r>
              <a:rPr lang="en-US" dirty="0"/>
              <a:t>: And since this is a weak connection and this is a strong connection, our output is going to be negative or zero.</a:t>
            </a:r>
            <a:endParaRPr lang="pt-BR" dirty="0"/>
          </a:p>
          <a:p>
            <a:endParaRPr lang="pt-BR" dirty="0"/>
          </a:p>
          <a:p>
            <a:r>
              <a:rPr lang="pt-BR" dirty="0" err="1"/>
              <a:t>http</a:t>
            </a:r>
            <a:r>
              <a:rPr lang="pt-BR" dirty="0"/>
              <a:t>://</a:t>
            </a:r>
            <a:r>
              <a:rPr lang="pt-BR" dirty="0" err="1"/>
              <a:t>www.rfwireless-world.com</a:t>
            </a:r>
            <a:r>
              <a:rPr lang="pt-BR" dirty="0"/>
              <a:t>/</a:t>
            </a:r>
            <a:r>
              <a:rPr lang="pt-BR" dirty="0" err="1"/>
              <a:t>Terminology</a:t>
            </a:r>
            <a:r>
              <a:rPr lang="pt-BR" dirty="0"/>
              <a:t>/</a:t>
            </a:r>
            <a:r>
              <a:rPr lang="pt-BR" dirty="0" err="1"/>
              <a:t>Difference</a:t>
            </a:r>
            <a:r>
              <a:rPr lang="pt-BR" dirty="0"/>
              <a:t>-</a:t>
            </a:r>
            <a:r>
              <a:rPr lang="pt-BR" dirty="0" err="1"/>
              <a:t>between</a:t>
            </a:r>
            <a:r>
              <a:rPr lang="pt-BR" dirty="0"/>
              <a:t>-TTL-ECL-</a:t>
            </a:r>
            <a:r>
              <a:rPr lang="pt-BR" dirty="0" err="1"/>
              <a:t>CMOS.html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77</a:t>
            </a:fld>
            <a:endParaRPr lang="pt-BR"/>
          </a:p>
        </p:txBody>
      </p:sp>
    </p:spTree>
    <p:extLst>
      <p:ext uri="{BB962C8B-B14F-4D97-AF65-F5344CB8AC3E}">
        <p14:creationId xmlns:p14="http://schemas.microsoft.com/office/powerpoint/2010/main" val="6936230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www.slideshare.net</a:t>
            </a:r>
            <a:r>
              <a:rPr lang="pt-BR" dirty="0"/>
              <a:t>/</a:t>
            </a:r>
            <a:r>
              <a:rPr lang="pt-BR" dirty="0" err="1"/>
              <a:t>aMiERuLz</a:t>
            </a:r>
            <a:r>
              <a:rPr lang="pt-BR" dirty="0"/>
              <a:t>/logic-families-1</a:t>
            </a:r>
          </a:p>
          <a:p>
            <a:r>
              <a:rPr lang="pt-BR" dirty="0" err="1"/>
              <a:t>http</a:t>
            </a:r>
            <a:r>
              <a:rPr lang="pt-BR" dirty="0"/>
              <a:t>://</a:t>
            </a:r>
            <a:r>
              <a:rPr lang="pt-BR" dirty="0" err="1"/>
              <a:t>slideplayer.com</a:t>
            </a:r>
            <a:r>
              <a:rPr lang="pt-BR" dirty="0"/>
              <a:t>/slide/6285890/</a:t>
            </a:r>
          </a:p>
          <a:p>
            <a:r>
              <a:rPr lang="pt-BR" dirty="0" err="1"/>
              <a:t>http</a:t>
            </a:r>
            <a:r>
              <a:rPr lang="pt-BR" dirty="0"/>
              <a:t>://</a:t>
            </a:r>
            <a:r>
              <a:rPr lang="pt-BR" dirty="0" err="1"/>
              <a:t>www.eletrodex.com.br</a:t>
            </a:r>
            <a:r>
              <a:rPr lang="pt-BR" dirty="0"/>
              <a:t>/soquete-para-ci-estampado-6-40-pinos.html</a:t>
            </a:r>
          </a:p>
          <a:p>
            <a:r>
              <a:rPr lang="pt-BR" dirty="0" err="1"/>
              <a:t>https</a:t>
            </a:r>
            <a:r>
              <a:rPr lang="pt-BR" dirty="0"/>
              <a:t>://</a:t>
            </a:r>
            <a:r>
              <a:rPr lang="pt-BR" dirty="0" err="1"/>
              <a:t>image.freepik.com</a:t>
            </a:r>
            <a:r>
              <a:rPr lang="pt-BR" dirty="0"/>
              <a:t>/</a:t>
            </a:r>
            <a:r>
              <a:rPr lang="pt-BR" dirty="0" err="1"/>
              <a:t>free-photo</a:t>
            </a:r>
            <a:r>
              <a:rPr lang="pt-BR" dirty="0"/>
              <a:t>/intel-celeron-skt-lga-775-4_2456132.jpg</a:t>
            </a:r>
          </a:p>
          <a:p>
            <a:r>
              <a:rPr lang="pt-BR" dirty="0" err="1"/>
              <a:t>https</a:t>
            </a:r>
            <a:r>
              <a:rPr lang="pt-BR" dirty="0"/>
              <a:t>://</a:t>
            </a:r>
            <a:r>
              <a:rPr lang="pt-BR" dirty="0" err="1"/>
              <a:t>content.solarbotics.com</a:t>
            </a:r>
            <a:r>
              <a:rPr lang="pt-BR" dirty="0"/>
              <a:t>/</a:t>
            </a:r>
            <a:r>
              <a:rPr lang="pt-BR" dirty="0" err="1"/>
              <a:t>products</a:t>
            </a:r>
            <a:r>
              <a:rPr lang="pt-BR" dirty="0"/>
              <a:t>/</a:t>
            </a:r>
            <a:r>
              <a:rPr lang="pt-BR" dirty="0" err="1"/>
              <a:t>photos</a:t>
            </a:r>
            <a:r>
              <a:rPr lang="pt-BR" dirty="0"/>
              <a:t>/9542ce9fa43902dcf76a89f0cb91bc41/</a:t>
            </a:r>
            <a:r>
              <a:rPr lang="pt-BR" dirty="0" err="1"/>
              <a:t>lrg</a:t>
            </a:r>
            <a:r>
              <a:rPr lang="pt-BR" dirty="0"/>
              <a:t>/dc14.jpg</a:t>
            </a:r>
          </a:p>
          <a:p>
            <a:r>
              <a:rPr lang="pt-BR" dirty="0" err="1"/>
              <a:t>http</a:t>
            </a:r>
            <a:r>
              <a:rPr lang="pt-BR" dirty="0"/>
              <a:t>://</a:t>
            </a:r>
            <a:r>
              <a:rPr lang="pt-BR" dirty="0" err="1"/>
              <a:t>www.practicalcomponents.com</a:t>
            </a:r>
            <a:r>
              <a:rPr lang="pt-BR" dirty="0"/>
              <a:t>/media/</a:t>
            </a:r>
            <a:r>
              <a:rPr lang="pt-BR" dirty="0" err="1"/>
              <a:t>packages</a:t>
            </a:r>
            <a:r>
              <a:rPr lang="pt-BR" dirty="0"/>
              <a:t>/</a:t>
            </a:r>
            <a:r>
              <a:rPr lang="pt-BR" dirty="0" err="1"/>
              <a:t>photos</a:t>
            </a:r>
            <a:r>
              <a:rPr lang="pt-BR" dirty="0"/>
              <a:t>/9194.png</a:t>
            </a:r>
          </a:p>
        </p:txBody>
      </p:sp>
      <p:sp>
        <p:nvSpPr>
          <p:cNvPr id="4" name="Slide Number Placeholder 3"/>
          <p:cNvSpPr>
            <a:spLocks noGrp="1"/>
          </p:cNvSpPr>
          <p:nvPr>
            <p:ph type="sldNum" sz="quarter" idx="10"/>
          </p:nvPr>
        </p:nvSpPr>
        <p:spPr/>
        <p:txBody>
          <a:bodyPr/>
          <a:lstStyle/>
          <a:p>
            <a:fld id="{F23FB91E-A0DC-4A5F-B463-D7B8E79502D1}" type="slidenum">
              <a:rPr lang="pt-BR" smtClean="0"/>
              <a:t>78</a:t>
            </a:fld>
            <a:endParaRPr lang="pt-BR"/>
          </a:p>
        </p:txBody>
      </p:sp>
    </p:spTree>
    <p:extLst>
      <p:ext uri="{BB962C8B-B14F-4D97-AF65-F5344CB8AC3E}">
        <p14:creationId xmlns:p14="http://schemas.microsoft.com/office/powerpoint/2010/main" val="14807098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a:t>://nand2tetris-questions-and-answers-forum.32033.n3.nabble.com/Hello-everybody-and-thanks-for-the-help-td4028383.html</a:t>
            </a:r>
          </a:p>
        </p:txBody>
      </p:sp>
      <p:sp>
        <p:nvSpPr>
          <p:cNvPr id="4" name="Slide Number Placeholder 3"/>
          <p:cNvSpPr>
            <a:spLocks noGrp="1"/>
          </p:cNvSpPr>
          <p:nvPr>
            <p:ph type="sldNum" sz="quarter" idx="10"/>
          </p:nvPr>
        </p:nvSpPr>
        <p:spPr/>
        <p:txBody>
          <a:bodyPr/>
          <a:lstStyle/>
          <a:p>
            <a:fld id="{9006CB60-6287-6048-9C9A-CFA74C4CDA72}" type="slidenum">
              <a:rPr lang="en-US" smtClean="0"/>
              <a:t>79</a:t>
            </a:fld>
            <a:endParaRPr lang="en-US"/>
          </a:p>
        </p:txBody>
      </p:sp>
    </p:spTree>
    <p:extLst>
      <p:ext uri="{BB962C8B-B14F-4D97-AF65-F5344CB8AC3E}">
        <p14:creationId xmlns:p14="http://schemas.microsoft.com/office/powerpoint/2010/main" val="11360793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80</a:t>
            </a:fld>
            <a:endParaRPr lang="pt-BR"/>
          </a:p>
        </p:txBody>
      </p:sp>
    </p:spTree>
    <p:extLst>
      <p:ext uri="{BB962C8B-B14F-4D97-AF65-F5344CB8AC3E}">
        <p14:creationId xmlns:p14="http://schemas.microsoft.com/office/powerpoint/2010/main" val="8610678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publisher.brothersoft.com</a:t>
            </a:r>
            <a:r>
              <a:rPr lang="pt-BR" dirty="0"/>
              <a:t>/</a:t>
            </a:r>
            <a:r>
              <a:rPr lang="pt-BR" dirty="0" err="1"/>
              <a:t>labcenter-electronics.html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81</a:t>
            </a:fld>
            <a:endParaRPr lang="pt-BR"/>
          </a:p>
        </p:txBody>
      </p:sp>
    </p:spTree>
    <p:extLst>
      <p:ext uri="{BB962C8B-B14F-4D97-AF65-F5344CB8AC3E}">
        <p14:creationId xmlns:p14="http://schemas.microsoft.com/office/powerpoint/2010/main" val="7347070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82</a:t>
            </a:fld>
            <a:endParaRPr lang="pt-BR"/>
          </a:p>
        </p:txBody>
      </p:sp>
    </p:spTree>
    <p:extLst>
      <p:ext uri="{BB962C8B-B14F-4D97-AF65-F5344CB8AC3E}">
        <p14:creationId xmlns:p14="http://schemas.microsoft.com/office/powerpoint/2010/main" val="19618925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8/24/26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8/24/26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8/24/26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8/24/26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8/24/26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BF0000"/>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23848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51349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BF0000"/>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79979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13226" y="557542"/>
            <a:ext cx="1917547" cy="574040"/>
          </a:xfrm>
          <a:prstGeom prst="rect">
            <a:avLst/>
          </a:prstGeom>
        </p:spPr>
        <p:txBody>
          <a:bodyPr wrap="square" lIns="0" tIns="0" rIns="0" bIns="0">
            <a:spAutoFit/>
          </a:bodyPr>
          <a:lstStyle>
            <a:lvl1pPr>
              <a:defRPr sz="3600" b="0" i="0">
                <a:solidFill>
                  <a:srgbClr val="BF0000"/>
                </a:solidFill>
                <a:latin typeface="Arial MT"/>
                <a:cs typeface="Arial MT"/>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6740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twoObj" userDrawn="1">
  <p:cSld name="Title, 2 Content">
    <p:spTree>
      <p:nvGrpSpPr>
        <p:cNvPr id="1" name=""/>
        <p:cNvGrpSpPr/>
        <p:nvPr/>
      </p:nvGrpSpPr>
      <p:grpSpPr bwMode="auto">
        <a:xfrm>
          <a:off x="0" y="0"/>
          <a:ext cx="0" cy="0"/>
          <a:chOff x="0" y="0"/>
          <a:chExt cx="0" cy="0"/>
        </a:xfrm>
      </p:grpSpPr>
      <p:sp>
        <p:nvSpPr>
          <p:cNvPr id="399" name="PlaceHolder 1"/>
          <p:cNvSpPr>
            <a:spLocks noGrp="1"/>
          </p:cNvSpPr>
          <p:nvPr>
            <p:ph type="title"/>
          </p:nvPr>
        </p:nvSpPr>
        <p:spPr bwMode="auto">
          <a:xfrm>
            <a:off x="457200" y="273600"/>
            <a:ext cx="8229240" cy="1144800"/>
          </a:xfrm>
          <a:prstGeom prst="rect">
            <a:avLst/>
          </a:prstGeom>
        </p:spPr>
        <p:txBody>
          <a:bodyPr lIns="0" tIns="0" rIns="0" bIns="0" anchor="ctr">
            <a:noAutofit/>
          </a:bodyPr>
          <a:lstStyle/>
          <a:p>
            <a:pPr algn="ctr">
              <a:defRPr/>
            </a:pPr>
            <a:endParaRPr lang="pt-BR" sz="4400" b="0" strike="noStrike" spc="-1">
              <a:latin typeface="Arial"/>
            </a:endParaRPr>
          </a:p>
        </p:txBody>
      </p:sp>
      <p:sp>
        <p:nvSpPr>
          <p:cNvPr id="400" name="PlaceHolder 2"/>
          <p:cNvSpPr>
            <a:spLocks noGrp="1"/>
          </p:cNvSpPr>
          <p:nvPr>
            <p:ph type="body"/>
          </p:nvPr>
        </p:nvSpPr>
        <p:spPr bwMode="auto">
          <a:xfrm>
            <a:off x="457200" y="1604520"/>
            <a:ext cx="4015800" cy="3977280"/>
          </a:xfrm>
          <a:prstGeom prst="rect">
            <a:avLst/>
          </a:prstGeom>
        </p:spPr>
        <p:txBody>
          <a:bodyPr lIns="0" tIns="0" rIns="0" bIns="0">
            <a:normAutofit/>
          </a:bodyPr>
          <a:lstStyle/>
          <a:p>
            <a:pPr>
              <a:defRPr/>
            </a:pPr>
            <a:endParaRPr lang="pt-BR" sz="3200" b="0" strike="noStrike" spc="-1">
              <a:latin typeface="Arial"/>
            </a:endParaRPr>
          </a:p>
        </p:txBody>
      </p:sp>
      <p:sp>
        <p:nvSpPr>
          <p:cNvPr id="401" name="PlaceHolder 3"/>
          <p:cNvSpPr>
            <a:spLocks noGrp="1"/>
          </p:cNvSpPr>
          <p:nvPr>
            <p:ph type="body"/>
          </p:nvPr>
        </p:nvSpPr>
        <p:spPr bwMode="auto">
          <a:xfrm>
            <a:off x="4674240" y="1604520"/>
            <a:ext cx="4015800" cy="3977280"/>
          </a:xfrm>
          <a:prstGeom prst="rect">
            <a:avLst/>
          </a:prstGeom>
        </p:spPr>
        <p:txBody>
          <a:bodyPr lIns="0" tIns="0" rIns="0" bIns="0">
            <a:normAutofit/>
          </a:bodyPr>
          <a:lstStyle/>
          <a:p>
            <a:pPr>
              <a:defRPr/>
            </a:pPr>
            <a:endParaRPr lang="pt-BR" sz="3200" b="0" strike="noStrike" spc="-1">
              <a:latin typeface="Arial"/>
            </a:endParaRPr>
          </a:p>
        </p:txBody>
      </p:sp>
    </p:spTree>
    <p:extLst>
      <p:ext uri="{BB962C8B-B14F-4D97-AF65-F5344CB8AC3E}">
        <p14:creationId xmlns:p14="http://schemas.microsoft.com/office/powerpoint/2010/main" val="3086638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14">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8/24/26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hyperlink" Target="https://thereaderwiki.com/en/Voskhod_Spacecraft_%22Globus%22_IMP_navigation_instrumen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hyperlink" Target="https://commons.wikimedia.org/w/index.php?curid=14682022"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hyperlink" Target="http://mmncny.org/exhibits/296-2/"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fna&amp;_nc_gid=XIPHPVDCimhY1qFAo-eB-Q&amp;_nc_ss=7b2a8&amp;oh=00_AQFM3D6haVKDsgstXSyAknDoeyLCxmPdt9AvkKH6wztrRA&amp;oe=6A92BD88"/><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image" Target="../media/image36.jpg"/><Relationship Id="rId18" Type="http://schemas.openxmlformats.org/officeDocument/2006/relationships/image" Target="../media/image41.png"/><Relationship Id="rId26" Type="http://schemas.openxmlformats.org/officeDocument/2006/relationships/image" Target="../media/image49.jpg"/><Relationship Id="rId39" Type="http://schemas.openxmlformats.org/officeDocument/2006/relationships/image" Target="../media/image62.jpg"/><Relationship Id="rId21" Type="http://schemas.openxmlformats.org/officeDocument/2006/relationships/image" Target="../media/image44.png"/><Relationship Id="rId34" Type="http://schemas.openxmlformats.org/officeDocument/2006/relationships/image" Target="../media/image57.jpg"/><Relationship Id="rId42" Type="http://schemas.openxmlformats.org/officeDocument/2006/relationships/image" Target="../media/image65.jpg"/><Relationship Id="rId7" Type="http://schemas.openxmlformats.org/officeDocument/2006/relationships/image" Target="../media/image30.png"/><Relationship Id="rId2" Type="http://schemas.openxmlformats.org/officeDocument/2006/relationships/image" Target="../media/image25.jpg"/><Relationship Id="rId16" Type="http://schemas.openxmlformats.org/officeDocument/2006/relationships/image" Target="../media/image39.jpg"/><Relationship Id="rId20" Type="http://schemas.openxmlformats.org/officeDocument/2006/relationships/image" Target="../media/image43.png"/><Relationship Id="rId29" Type="http://schemas.openxmlformats.org/officeDocument/2006/relationships/image" Target="../media/image52.jpg"/><Relationship Id="rId41" Type="http://schemas.openxmlformats.org/officeDocument/2006/relationships/image" Target="../media/image64.jpg"/><Relationship Id="rId1" Type="http://schemas.openxmlformats.org/officeDocument/2006/relationships/slideLayout" Target="../slideLayouts/slideLayout9.xml"/><Relationship Id="rId6" Type="http://schemas.openxmlformats.org/officeDocument/2006/relationships/image" Target="../media/image29.jpg"/><Relationship Id="rId11" Type="http://schemas.openxmlformats.org/officeDocument/2006/relationships/image" Target="../media/image34.png"/><Relationship Id="rId24" Type="http://schemas.openxmlformats.org/officeDocument/2006/relationships/image" Target="../media/image47.jpg"/><Relationship Id="rId32" Type="http://schemas.openxmlformats.org/officeDocument/2006/relationships/image" Target="../media/image55.png"/><Relationship Id="rId37" Type="http://schemas.openxmlformats.org/officeDocument/2006/relationships/image" Target="../media/image60.jpg"/><Relationship Id="rId40" Type="http://schemas.openxmlformats.org/officeDocument/2006/relationships/image" Target="../media/image63.jpg"/><Relationship Id="rId5" Type="http://schemas.openxmlformats.org/officeDocument/2006/relationships/image" Target="../media/image28.png"/><Relationship Id="rId15" Type="http://schemas.openxmlformats.org/officeDocument/2006/relationships/image" Target="../media/image38.jpg"/><Relationship Id="rId23" Type="http://schemas.openxmlformats.org/officeDocument/2006/relationships/image" Target="../media/image46.jpg"/><Relationship Id="rId28" Type="http://schemas.openxmlformats.org/officeDocument/2006/relationships/image" Target="../media/image51.jpg"/><Relationship Id="rId36" Type="http://schemas.openxmlformats.org/officeDocument/2006/relationships/image" Target="../media/image59.jpg"/><Relationship Id="rId10" Type="http://schemas.openxmlformats.org/officeDocument/2006/relationships/image" Target="../media/image33.png"/><Relationship Id="rId19" Type="http://schemas.openxmlformats.org/officeDocument/2006/relationships/image" Target="../media/image42.jpg"/><Relationship Id="rId31" Type="http://schemas.openxmlformats.org/officeDocument/2006/relationships/image" Target="../media/image54.jpg"/><Relationship Id="rId4" Type="http://schemas.openxmlformats.org/officeDocument/2006/relationships/image" Target="../media/image27.png"/><Relationship Id="rId9" Type="http://schemas.openxmlformats.org/officeDocument/2006/relationships/image" Target="../media/image32.jpg"/><Relationship Id="rId14" Type="http://schemas.openxmlformats.org/officeDocument/2006/relationships/image" Target="../media/image37.png"/><Relationship Id="rId22" Type="http://schemas.openxmlformats.org/officeDocument/2006/relationships/image" Target="../media/image45.jpg"/><Relationship Id="rId27" Type="http://schemas.openxmlformats.org/officeDocument/2006/relationships/image" Target="../media/image50.png"/><Relationship Id="rId30" Type="http://schemas.openxmlformats.org/officeDocument/2006/relationships/image" Target="../media/image53.jpg"/><Relationship Id="rId35" Type="http://schemas.openxmlformats.org/officeDocument/2006/relationships/image" Target="../media/image58.png"/><Relationship Id="rId43" Type="http://schemas.openxmlformats.org/officeDocument/2006/relationships/hyperlink" Target="https://en.wikipedia.org/wiki/Transistor" TargetMode="External"/><Relationship Id="rId8" Type="http://schemas.openxmlformats.org/officeDocument/2006/relationships/image" Target="../media/image31.png"/><Relationship Id="rId3" Type="http://schemas.openxmlformats.org/officeDocument/2006/relationships/image" Target="../media/image26.png"/><Relationship Id="rId12" Type="http://schemas.openxmlformats.org/officeDocument/2006/relationships/image" Target="../media/image35.png"/><Relationship Id="rId17" Type="http://schemas.openxmlformats.org/officeDocument/2006/relationships/image" Target="../media/image40.jpg"/><Relationship Id="rId25" Type="http://schemas.openxmlformats.org/officeDocument/2006/relationships/image" Target="../media/image48.jpg"/><Relationship Id="rId33" Type="http://schemas.openxmlformats.org/officeDocument/2006/relationships/image" Target="../media/image56.png"/><Relationship Id="rId38" Type="http://schemas.openxmlformats.org/officeDocument/2006/relationships/image" Target="../media/image61.jpg"/></Relationships>
</file>

<file path=ppt/slides/_rels/slide14.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hyperlink" Target="https://3.14.by/en/read/homemade-cpus" TargetMode="External"/><Relationship Id="rId2" Type="http://schemas.openxmlformats.org/officeDocument/2006/relationships/image" Target="../media/image77.jp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78.jp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78.jp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DutchMaker/TTL-" TargetMode="External"/><Relationship Id="rId2" Type="http://schemas.openxmlformats.org/officeDocument/2006/relationships/image" Target="../media/image80.jp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4.tiff"/><Relationship Id="rId4" Type="http://schemas.openxmlformats.org/officeDocument/2006/relationships/image" Target="../media/image83.png"/></Relationships>
</file>

<file path=ppt/slides/_rels/slide31.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6.tif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7.tif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hyperlink" Target="http://www.falstad.com/circuit/e-cmosinverter.html" TargetMode="External"/><Relationship Id="rId1" Type="http://schemas.openxmlformats.org/officeDocument/2006/relationships/slideLayout" Target="../slideLayouts/slideLayout2.xml"/><Relationship Id="rId5" Type="http://schemas.openxmlformats.org/officeDocument/2006/relationships/hyperlink" Target="http://www.falstad.com/circuit/e-cmosnand.html" TargetMode="External"/><Relationship Id="rId4" Type="http://schemas.openxmlformats.org/officeDocument/2006/relationships/image" Target="../media/image95.png"/></Relationships>
</file>

<file path=ppt/slides/_rels/slide39.xml.rels><?xml version="1.0" encoding="UTF-8" standalone="yes"?>
<Relationships xmlns="http://schemas.openxmlformats.org/package/2006/relationships"><Relationship Id="rId3" Type="http://schemas.openxmlformats.org/officeDocument/2006/relationships/hyperlink" Target="http://bit.ly/2jFFNy3"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7.tiff"/><Relationship Id="rId4" Type="http://schemas.openxmlformats.org/officeDocument/2006/relationships/image" Target="../media/image96.tiff"/></Relationships>
</file>

<file path=ppt/slides/_rels/slide4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hyperlink" Target="https://circuits.io/circuits/3756851-not-cmos-transistor-protoboard"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circuits.io/circuits/3756851-not-cmos-transistor-protoboard" TargetMode="External"/><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3" Type="http://schemas.openxmlformats.org/officeDocument/2006/relationships/image" Target="../media/image104.tif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05.png"/></Relationships>
</file>

<file path=ppt/slides/_rels/slide45.xml.rels><?xml version="1.0" encoding="UTF-8" standalone="yes"?>
<Relationships xmlns="http://schemas.openxmlformats.org/package/2006/relationships"><Relationship Id="rId3" Type="http://schemas.openxmlformats.org/officeDocument/2006/relationships/image" Target="../media/image106.tif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11.jpg"/><Relationship Id="rId5" Type="http://schemas.openxmlformats.org/officeDocument/2006/relationships/image" Target="../media/image110.tiff"/><Relationship Id="rId4" Type="http://schemas.openxmlformats.org/officeDocument/2006/relationships/image" Target="../media/image109.png"/></Relationships>
</file>

<file path=ppt/slides/_rels/slide50.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14.png"/><Relationship Id="rId4" Type="http://schemas.openxmlformats.org/officeDocument/2006/relationships/image" Target="../media/image113.tiff"/></Relationships>
</file>

<file path=ppt/slides/_rels/slide51.xml.rels><?xml version="1.0" encoding="UTF-8" standalone="yes"?>
<Relationships xmlns="http://schemas.openxmlformats.org/package/2006/relationships"><Relationship Id="rId3" Type="http://schemas.openxmlformats.org/officeDocument/2006/relationships/image" Target="../media/image115.tif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gif"/><Relationship Id="rId7" Type="http://schemas.openxmlformats.org/officeDocument/2006/relationships/image" Target="../media/image12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s>
</file>

<file path=ppt/slides/_rels/slide53.xml.rels><?xml version="1.0" encoding="UTF-8" standalone="yes"?>
<Relationships xmlns="http://schemas.openxmlformats.org/package/2006/relationships"><Relationship Id="rId8" Type="http://schemas.microsoft.com/office/2011/relationships/inkAction" Target="../ink/inkAction1.xml"/><Relationship Id="rId13" Type="http://schemas.openxmlformats.org/officeDocument/2006/relationships/image" Target="../media/image410.png"/><Relationship Id="rId3" Type="http://schemas.openxmlformats.org/officeDocument/2006/relationships/notesSlide" Target="../notesSlides/notesSlide22.xml"/><Relationship Id="rId7" Type="http://schemas.openxmlformats.org/officeDocument/2006/relationships/image" Target="../media/image126.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25.png"/><Relationship Id="rId5" Type="http://schemas.openxmlformats.org/officeDocument/2006/relationships/image" Target="../media/image121.png"/><Relationship Id="rId4" Type="http://schemas.openxmlformats.org/officeDocument/2006/relationships/image" Target="../media/image11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21.png"/><Relationship Id="rId4" Type="http://schemas.openxmlformats.org/officeDocument/2006/relationships/image" Target="../media/image117.png"/></Relationships>
</file>

<file path=ppt/slides/_rels/slide55.xml.rels><?xml version="1.0" encoding="UTF-8" standalone="yes"?>
<Relationships xmlns="http://schemas.openxmlformats.org/package/2006/relationships"><Relationship Id="rId8" Type="http://schemas.openxmlformats.org/officeDocument/2006/relationships/image" Target="../media/image127.tiff"/><Relationship Id="rId3" Type="http://schemas.openxmlformats.org/officeDocument/2006/relationships/notesSlide" Target="../notesSlides/notesSlide24.xml"/><Relationship Id="rId7" Type="http://schemas.openxmlformats.org/officeDocument/2006/relationships/image" Target="../media/image12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26.png"/><Relationship Id="rId5" Type="http://schemas.openxmlformats.org/officeDocument/2006/relationships/image" Target="../media/image121.png"/><Relationship Id="rId4" Type="http://schemas.openxmlformats.org/officeDocument/2006/relationships/image" Target="../media/image117.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30.gif"/><Relationship Id="rId4" Type="http://schemas.openxmlformats.org/officeDocument/2006/relationships/image" Target="../media/image129.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32.png"/><Relationship Id="rId4" Type="http://schemas.openxmlformats.org/officeDocument/2006/relationships/image" Target="../media/image131.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133.png"/><Relationship Id="rId4" Type="http://schemas.openxmlformats.org/officeDocument/2006/relationships/image" Target="../media/image129.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35.png"/><Relationship Id="rId4" Type="http://schemas.openxmlformats.org/officeDocument/2006/relationships/image" Target="../media/image134.png"/></Relationships>
</file>

<file path=ppt/slides/_rels/slide62.xml.rels><?xml version="1.0" encoding="UTF-8" standalone="yes"?>
<Relationships xmlns="http://schemas.openxmlformats.org/package/2006/relationships"><Relationship Id="rId13" Type="http://schemas.openxmlformats.org/officeDocument/2006/relationships/image" Target="../media/image14.png"/><Relationship Id="rId3" Type="http://schemas.openxmlformats.org/officeDocument/2006/relationships/slideLayout" Target="../slideLayouts/slideLayout2.xml"/><Relationship Id="rId7" Type="http://schemas.microsoft.com/office/2011/relationships/inkAction" Target="../ink/inkAction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notesSlide" Target="../notesSlides/notesSlide31.xml"/></Relationships>
</file>

<file path=ppt/slides/_rels/slide6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slideLayout" Target="../slideLayouts/slideLayout2.xml"/><Relationship Id="rId1" Type="http://schemas.openxmlformats.org/officeDocument/2006/relationships/tags" Target="../tags/tag13.xml"/><Relationship Id="rId10" Type="http://schemas.openxmlformats.org/officeDocument/2006/relationships/image" Target="../media/image16.png"/><Relationship Id="rId4" Type="http://schemas.microsoft.com/office/2011/relationships/inkAction" Target="../ink/inkAction3.xml"/></Relationships>
</file>

<file path=ppt/slides/_rels/slide6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jpg"/></Relationships>
</file>

<file path=ppt/slides/_rels/slide66.xml.rels><?xml version="1.0" encoding="UTF-8" standalone="yes"?>
<Relationships xmlns="http://schemas.openxmlformats.org/package/2006/relationships"><Relationship Id="rId3" Type="http://schemas.openxmlformats.org/officeDocument/2006/relationships/image" Target="../media/image145.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46.jpeg"/></Relationships>
</file>

<file path=ppt/slides/_rels/slide67.xml.rels><?xml version="1.0" encoding="UTF-8" standalone="yes"?>
<Relationships xmlns="http://schemas.openxmlformats.org/package/2006/relationships"><Relationship Id="rId3" Type="http://schemas.openxmlformats.org/officeDocument/2006/relationships/image" Target="../media/image147.tif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48.tiff"/></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5.xml"/><Relationship Id="rId12" Type="http://schemas.openxmlformats.org/officeDocument/2006/relationships/image" Target="../media/image310.png"/><Relationship Id="rId2" Type="http://schemas.openxmlformats.org/officeDocument/2006/relationships/slideLayout" Target="../slideLayouts/slideLayout2.xml"/><Relationship Id="rId1" Type="http://schemas.openxmlformats.org/officeDocument/2006/relationships/tags" Target="../tags/tag14.xml"/><Relationship Id="rId6" Type="http://schemas.microsoft.com/office/2011/relationships/inkAction" Target="../ink/inkAction4.xml"/><Relationship Id="rId5" Type="http://schemas.openxmlformats.org/officeDocument/2006/relationships/image" Target="../media/image150.jpg"/><Relationship Id="rId4" Type="http://schemas.openxmlformats.org/officeDocument/2006/relationships/image" Target="../media/image14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51.gi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52.jpg"/></Relationships>
</file>

<file path=ppt/slides/_rels/slide71.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www.circuitstoday.com/monolithic-ic"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55.jpg"/><Relationship Id="rId4" Type="http://schemas.openxmlformats.org/officeDocument/2006/relationships/image" Target="../media/image154.jp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jp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161.png"/><Relationship Id="rId5" Type="http://schemas.openxmlformats.org/officeDocument/2006/relationships/image" Target="../media/image160.jpeg"/><Relationship Id="rId4" Type="http://schemas.openxmlformats.org/officeDocument/2006/relationships/image" Target="../media/image159.png"/></Relationships>
</file>

<file path=ppt/slides/_rels/slide7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170.jpg"/><Relationship Id="rId3" Type="http://schemas.openxmlformats.org/officeDocument/2006/relationships/image" Target="../media/image165.jpg"/><Relationship Id="rId7" Type="http://schemas.openxmlformats.org/officeDocument/2006/relationships/image" Target="../media/image169.jp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68.jpg"/><Relationship Id="rId5" Type="http://schemas.openxmlformats.org/officeDocument/2006/relationships/image" Target="../media/image167.jpg"/><Relationship Id="rId4" Type="http://schemas.openxmlformats.org/officeDocument/2006/relationships/image" Target="../media/image166.jpg"/><Relationship Id="rId9" Type="http://schemas.openxmlformats.org/officeDocument/2006/relationships/image" Target="../media/image171.png"/></Relationships>
</file>

<file path=ppt/slides/_rels/slide7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youtube.com/watch?v=35jWSQXku74"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hyperlink" Target="https://www.youtube.com/watch?v=aWVywhzuHnQ" TargetMode="External"/><Relationship Id="rId4" Type="http://schemas.openxmlformats.org/officeDocument/2006/relationships/image" Target="../media/image173.png"/></Relationships>
</file>

<file path=ppt/slides/_rels/slide81.xml.rels><?xml version="1.0" encoding="UTF-8" standalone="yes"?>
<Relationships xmlns="http://schemas.openxmlformats.org/package/2006/relationships"><Relationship Id="rId3" Type="http://schemas.openxmlformats.org/officeDocument/2006/relationships/hyperlink" Target="http://www.cburch.com/logisim/"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75.tiff"/><Relationship Id="rId5" Type="http://schemas.openxmlformats.org/officeDocument/2006/relationships/image" Target="../media/image174.png"/><Relationship Id="rId4" Type="http://schemas.openxmlformats.org/officeDocument/2006/relationships/hyperlink" Target="http://www.labcenter.com/download/prodemo_autodl_general.cfm"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25000" lnSpcReduction="20000"/>
          </a:bodyPr>
          <a:lstStyle/>
          <a:p>
            <a:pPr lvl="0" defTabSz="457200">
              <a:spcBef>
                <a:spcPct val="0"/>
              </a:spcBef>
              <a:spcAft>
                <a:spcPts val="600"/>
              </a:spcAft>
              <a:defRPr/>
            </a:pPr>
            <a:r>
              <a:rPr lang="pt-BR" sz="14400" dirty="0">
                <a:latin typeface="Verdana"/>
                <a:cs typeface="Verdana"/>
              </a:rPr>
              <a:t>Elementos de Sistemas</a:t>
            </a:r>
          </a:p>
        </p:txBody>
      </p:sp>
      <p:sp>
        <p:nvSpPr>
          <p:cNvPr id="3" name="Espaço Reservado para Conteúdo 2"/>
          <p:cNvSpPr>
            <a:spLocks noGrp="1"/>
          </p:cNvSpPr>
          <p:nvPr>
            <p:ph idx="13"/>
          </p:nvPr>
        </p:nvSpPr>
        <p:spPr/>
        <p:txBody>
          <a:bodyPr>
            <a:normAutofit/>
          </a:bodyPr>
          <a:lstStyle/>
          <a:p>
            <a:r>
              <a:rPr lang="pt-BR" dirty="0">
                <a:latin typeface="Verdana"/>
                <a:cs typeface="Verdana"/>
              </a:rPr>
              <a:t>Transistores e </a:t>
            </a:r>
            <a:r>
              <a:rPr lang="pt-BR" dirty="0" err="1">
                <a:latin typeface="Verdana"/>
                <a:cs typeface="Verdana"/>
              </a:rPr>
              <a:t>CIs</a:t>
            </a:r>
            <a:endParaRPr lang="pt-BR" dirty="0"/>
          </a:p>
        </p:txBody>
      </p:sp>
      <p:sp>
        <p:nvSpPr>
          <p:cNvPr id="9" name="Espaço Reservado para Conteúdo 3"/>
          <p:cNvSpPr>
            <a:spLocks noGrp="1"/>
          </p:cNvSpPr>
          <p:nvPr>
            <p:ph idx="14"/>
          </p:nvPr>
        </p:nvSpPr>
        <p:spPr>
          <a:xfrm>
            <a:off x="900111" y="6233375"/>
            <a:ext cx="7343775" cy="361099"/>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
        <p:nvSpPr>
          <p:cNvPr id="10" name="Rectangle 9"/>
          <p:cNvSpPr/>
          <p:nvPr/>
        </p:nvSpPr>
        <p:spPr>
          <a:xfrm>
            <a:off x="197707" y="4456654"/>
            <a:ext cx="8427308" cy="1077218"/>
          </a:xfrm>
          <a:prstGeom prst="rect">
            <a:avLst/>
          </a:prstGeom>
        </p:spPr>
        <p:txBody>
          <a:bodyPr wrap="square">
            <a:spAutoFit/>
          </a:bodyPr>
          <a:lstStyle/>
          <a:p>
            <a:pPr defTabSz="914400">
              <a:defRPr/>
            </a:pPr>
            <a:r>
              <a:rPr lang="pt-BR" sz="1600" b="1" i="1" dirty="0">
                <a:solidFill>
                  <a:schemeClr val="bg1"/>
                </a:solidFill>
              </a:rPr>
              <a:t>"Tais coisas simples, e nós fazemos delas algo tão complexo que nos derrota, quase."</a:t>
            </a:r>
          </a:p>
          <a:p>
            <a:pPr defTabSz="914400">
              <a:defRPr/>
            </a:pPr>
            <a:r>
              <a:rPr lang="en-US" sz="1600" b="1" i="1" dirty="0">
                <a:solidFill>
                  <a:schemeClr val="bg1"/>
                </a:solidFill>
              </a:rPr>
              <a:t>"Such simple things, and we make of them something so complex it defeats us, almost."</a:t>
            </a:r>
          </a:p>
          <a:p>
            <a:pPr defTabSz="914400">
              <a:defRPr/>
            </a:pPr>
            <a:r>
              <a:rPr lang="is-IS" sz="1600" b="1" i="1" dirty="0">
                <a:solidFill>
                  <a:schemeClr val="bg1"/>
                </a:solidFill>
              </a:rPr>
              <a:t>John Ashbery (1927) </a:t>
            </a:r>
            <a:r>
              <a:rPr lang="pt-BR" sz="1600" b="1" dirty="0">
                <a:solidFill>
                  <a:schemeClr val="bg1"/>
                </a:solidFill>
              </a:rPr>
              <a:t>poeta americano</a:t>
            </a:r>
          </a:p>
          <a:p>
            <a:pPr defTabSz="914400">
              <a:defRPr/>
            </a:pPr>
            <a:r>
              <a:rPr lang="pt-BR" sz="1600" b="1" dirty="0">
                <a:solidFill>
                  <a:schemeClr val="bg1"/>
                </a:solidFill>
              </a:rPr>
              <a:t>apud </a:t>
            </a:r>
            <a:r>
              <a:rPr lang="pt-BR" sz="1600" b="1" dirty="0" err="1">
                <a:solidFill>
                  <a:schemeClr val="bg1"/>
                </a:solidFill>
              </a:rPr>
              <a:t>Nisan</a:t>
            </a:r>
            <a:r>
              <a:rPr lang="pt-BR" sz="1600" b="1" dirty="0">
                <a:solidFill>
                  <a:schemeClr val="bg1"/>
                </a:solidFill>
              </a:rPr>
              <a:t>, N. &amp; </a:t>
            </a:r>
            <a:r>
              <a:rPr lang="pt-BR" sz="1600" b="1" dirty="0" err="1">
                <a:solidFill>
                  <a:schemeClr val="bg1"/>
                </a:solidFill>
              </a:rPr>
              <a:t>Schocken</a:t>
            </a:r>
            <a:r>
              <a:rPr lang="pt-BR" sz="1600" b="1" dirty="0">
                <a:solidFill>
                  <a:schemeClr val="bg1"/>
                </a:solidFill>
              </a:rPr>
              <a:t>, S. 2005. </a:t>
            </a:r>
            <a:r>
              <a:rPr lang="en-US" sz="1600" b="1" dirty="0">
                <a:solidFill>
                  <a:schemeClr val="bg1"/>
                </a:solidFill>
              </a:rPr>
              <a:t>Elements of Computing Systems</a:t>
            </a:r>
          </a:p>
        </p:txBody>
      </p:sp>
    </p:spTree>
    <p:extLst>
      <p:ext uri="{BB962C8B-B14F-4D97-AF65-F5344CB8AC3E}">
        <p14:creationId xmlns:p14="http://schemas.microsoft.com/office/powerpoint/2010/main" val="2842346991"/>
      </p:ext>
    </p:extLst>
  </p:cSld>
  <p:clrMapOvr>
    <a:masterClrMapping/>
  </p:clrMapOvr>
  <mc:AlternateContent xmlns:mc="http://schemas.openxmlformats.org/markup-compatibility/2006" xmlns:p14="http://schemas.microsoft.com/office/powerpoint/2010/main">
    <mc:Choice Requires="p14">
      <p:transition spd="slow" p14:dur="1200" advTm="10635">
        <p14:prism/>
      </p:transition>
    </mc:Choice>
    <mc:Fallback xmlns="">
      <p:transition spd="slow" advTm="10635">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Da Válvula ao Transistor</a:t>
            </a:r>
          </a:p>
        </p:txBody>
      </p:sp>
      <p:sp>
        <p:nvSpPr>
          <p:cNvPr id="3" name="Content Placeholder 2"/>
          <p:cNvSpPr>
            <a:spLocks noGrp="1"/>
          </p:cNvSpPr>
          <p:nvPr>
            <p:ph idx="1"/>
          </p:nvPr>
        </p:nvSpPr>
        <p:spPr>
          <a:xfrm>
            <a:off x="657225" y="1485900"/>
            <a:ext cx="4889119" cy="4724400"/>
          </a:xfrm>
        </p:spPr>
        <p:txBody>
          <a:bodyPr>
            <a:normAutofit/>
          </a:bodyPr>
          <a:lstStyle/>
          <a:p>
            <a:r>
              <a:rPr lang="pt-BR" sz="1900" dirty="0"/>
              <a:t>Em 1906, o americano Lee De Forest desenvolveu a válvula eletrônica de três elementos. Era um dispositivo que poderia amplificar sinais. A AT&amp;T comprou a patente de De Forest, melhorou o tubo e usou para amplificar sinais telefônicos ao longo de suas linhas. De Forest chamava sua invenção de </a:t>
            </a:r>
            <a:r>
              <a:rPr lang="pt-BR" sz="1900" dirty="0" err="1"/>
              <a:t>Audion</a:t>
            </a:r>
            <a:r>
              <a:rPr lang="pt-BR" sz="1900" dirty="0"/>
              <a:t>.</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6" name="Picture 5" descr="79375-004-6C8FDEBF.jpg"/>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580112" y="1556792"/>
            <a:ext cx="3330618" cy="3455268"/>
          </a:xfrm>
          <a:prstGeom prst="rect">
            <a:avLst/>
          </a:prstGeom>
        </p:spPr>
      </p:pic>
      <p:pic>
        <p:nvPicPr>
          <p:cNvPr id="7" name="Picture 6" descr="CH3-4 the 4th Audion 879532_SPACE_TELEOBAPHY-1-1.jpg"/>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697174" y="5071204"/>
            <a:ext cx="3193142" cy="1523789"/>
          </a:xfrm>
          <a:prstGeom prst="rect">
            <a:avLst/>
          </a:prstGeom>
        </p:spPr>
      </p:pic>
      <p:pic>
        <p:nvPicPr>
          <p:cNvPr id="8" name="Picture 7" descr="DeForest-Single-Wing-Audion-c.1912-Tantalum-Filaments.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536876" y="4289943"/>
            <a:ext cx="3098135" cy="2215166"/>
          </a:xfrm>
          <a:prstGeom prst="rect">
            <a:avLst/>
          </a:prstGeom>
        </p:spPr>
      </p:pic>
    </p:spTree>
    <p:extLst>
      <p:ext uri="{BB962C8B-B14F-4D97-AF65-F5344CB8AC3E}">
        <p14:creationId xmlns:p14="http://schemas.microsoft.com/office/powerpoint/2010/main" val="1750501933"/>
      </p:ext>
    </p:extLst>
  </p:cSld>
  <p:clrMapOvr>
    <a:masterClrMapping/>
  </p:clrMapOvr>
  <mc:AlternateContent xmlns:mc="http://schemas.openxmlformats.org/markup-compatibility/2006">
    <mc:Choice xmlns:p14="http://schemas.microsoft.com/office/powerpoint/2010/main" Requires="p14">
      <p:transition spd="slow" p14:dur="1200" advTm="53226">
        <p14:prism/>
      </p:transition>
    </mc:Choice>
    <mc:Fallback>
      <p:transition spd="slow" advTm="5322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0" fill="hold"/>
                                        <p:tgtEl>
                                          <p:spTgt spid="8"/>
                                        </p:tgtEl>
                                        <p:attrNameLst>
                                          <p:attrName>ppt_w</p:attrName>
                                        </p:attrNameLst>
                                      </p:cBhvr>
                                      <p:tavLst>
                                        <p:tav tm="0">
                                          <p:val>
                                            <p:strVal val="#ppt_w*0.70"/>
                                          </p:val>
                                        </p:tav>
                                        <p:tav tm="100000">
                                          <p:val>
                                            <p:strVal val="#ppt_w"/>
                                          </p:val>
                                        </p:tav>
                                      </p:tavLst>
                                    </p:anim>
                                    <p:anim calcmode="lin" valueType="num">
                                      <p:cBhvr>
                                        <p:cTn id="8" dur="5000" fill="hold"/>
                                        <p:tgtEl>
                                          <p:spTgt spid="8"/>
                                        </p:tgtEl>
                                        <p:attrNameLst>
                                          <p:attrName>ppt_h</p:attrName>
                                        </p:attrNameLst>
                                      </p:cBhvr>
                                      <p:tavLst>
                                        <p:tav tm="0">
                                          <p:val>
                                            <p:strVal val="#ppt_h"/>
                                          </p:val>
                                        </p:tav>
                                        <p:tav tm="100000">
                                          <p:val>
                                            <p:strVal val="#ppt_h"/>
                                          </p:val>
                                        </p:tav>
                                      </p:tavLst>
                                    </p:anim>
                                    <p:animEffect transition="in" filter="fade">
                                      <p:cBhvr>
                                        <p:cTn id="9" dur="5000"/>
                                        <p:tgtEl>
                                          <p:spTgt spid="8"/>
                                        </p:tgtEl>
                                      </p:cBhvr>
                                    </p:animEffect>
                                  </p:childTnLst>
                                </p:cTn>
                              </p:par>
                              <p:par>
                                <p:cTn id="10" presetID="23" presetClass="entr" presetSubtype="272"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0" fill="hold"/>
                                        <p:tgtEl>
                                          <p:spTgt spid="6"/>
                                        </p:tgtEl>
                                        <p:attrNameLst>
                                          <p:attrName>ppt_w</p:attrName>
                                        </p:attrNameLst>
                                      </p:cBhvr>
                                      <p:tavLst>
                                        <p:tav tm="0">
                                          <p:val>
                                            <p:strVal val="2/3*#ppt_w"/>
                                          </p:val>
                                        </p:tav>
                                        <p:tav tm="100000">
                                          <p:val>
                                            <p:strVal val="#ppt_w"/>
                                          </p:val>
                                        </p:tav>
                                      </p:tavLst>
                                    </p:anim>
                                    <p:anim calcmode="lin" valueType="num">
                                      <p:cBhvr>
                                        <p:cTn id="13" dur="5000" fill="hold"/>
                                        <p:tgtEl>
                                          <p:spTgt spid="6"/>
                                        </p:tgtEl>
                                        <p:attrNameLst>
                                          <p:attrName>ppt_h</p:attrName>
                                        </p:attrNameLst>
                                      </p:cBhvr>
                                      <p:tavLst>
                                        <p:tav tm="0">
                                          <p:val>
                                            <p:strVal val="2/3*#ppt_h"/>
                                          </p:val>
                                        </p:tav>
                                        <p:tav tm="100000">
                                          <p:val>
                                            <p:strVal val="#ppt_h"/>
                                          </p:val>
                                        </p:tav>
                                      </p:tavLst>
                                    </p:anim>
                                  </p:childTnLst>
                                </p:cTn>
                              </p:par>
                              <p:par>
                                <p:cTn id="14" presetID="23" presetClass="entr" presetSubtype="288"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0" fill="hold"/>
                                        <p:tgtEl>
                                          <p:spTgt spid="7"/>
                                        </p:tgtEl>
                                        <p:attrNameLst>
                                          <p:attrName>ppt_w</p:attrName>
                                        </p:attrNameLst>
                                      </p:cBhvr>
                                      <p:tavLst>
                                        <p:tav tm="0">
                                          <p:val>
                                            <p:strVal val="4/3*#ppt_w"/>
                                          </p:val>
                                        </p:tav>
                                        <p:tav tm="100000">
                                          <p:val>
                                            <p:strVal val="#ppt_w"/>
                                          </p:val>
                                        </p:tav>
                                      </p:tavLst>
                                    </p:anim>
                                    <p:anim calcmode="lin" valueType="num">
                                      <p:cBhvr>
                                        <p:cTn id="17" dur="5000" fill="hold"/>
                                        <p:tgtEl>
                                          <p:spTgt spid="7"/>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Invenção do Transistor</a:t>
            </a:r>
          </a:p>
        </p:txBody>
      </p:sp>
      <p:sp>
        <p:nvSpPr>
          <p:cNvPr id="3" name="Content Placeholder 2"/>
          <p:cNvSpPr>
            <a:spLocks noGrp="1"/>
          </p:cNvSpPr>
          <p:nvPr>
            <p:ph idx="1"/>
          </p:nvPr>
        </p:nvSpPr>
        <p:spPr>
          <a:xfrm>
            <a:off x="657226" y="1485900"/>
            <a:ext cx="5066902" cy="4724400"/>
          </a:xfrm>
        </p:spPr>
        <p:txBody>
          <a:bodyPr>
            <a:normAutofit/>
          </a:bodyPr>
          <a:lstStyle/>
          <a:p>
            <a:r>
              <a:rPr lang="pt-BR" sz="2000" dirty="0"/>
              <a:t>O transistor foi inventado em 1947 no Bell </a:t>
            </a:r>
            <a:r>
              <a:rPr lang="pt-BR" sz="2000" dirty="0" err="1"/>
              <a:t>Labs</a:t>
            </a:r>
            <a:r>
              <a:rPr lang="pt-BR" sz="2000" dirty="0"/>
              <a:t> por John Bardeen, William Shockley e Walter Brattain, porém só foi publicado em 1950. Os três receberam o Prêmio Nobel de Física em 1956 por sua invenção conjunta.</a:t>
            </a:r>
          </a:p>
          <a:p>
            <a:endParaRPr lang="pt-BR" sz="2000" dirty="0"/>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pic>
        <p:nvPicPr>
          <p:cNvPr id="6" name="Picture 5" descr="inventors_of_the_transistor_thumb.gif"/>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868823" y="2492072"/>
            <a:ext cx="3035300" cy="3048000"/>
          </a:xfrm>
          <a:prstGeom prst="rect">
            <a:avLst/>
          </a:prstGeom>
        </p:spPr>
      </p:pic>
      <p:pic>
        <p:nvPicPr>
          <p:cNvPr id="7" name="Picture 6" descr="220px-Bell_Laboratories_logo.svg.pn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994400" y="1723593"/>
            <a:ext cx="2794000" cy="533400"/>
          </a:xfrm>
          <a:prstGeom prst="rect">
            <a:avLst/>
          </a:prstGeom>
        </p:spPr>
      </p:pic>
      <p:grpSp>
        <p:nvGrpSpPr>
          <p:cNvPr id="10" name="Group 9"/>
          <p:cNvGrpSpPr/>
          <p:nvPr/>
        </p:nvGrpSpPr>
        <p:grpSpPr>
          <a:xfrm>
            <a:off x="1696122" y="3509201"/>
            <a:ext cx="3145938" cy="3318387"/>
            <a:chOff x="1696122" y="3509201"/>
            <a:chExt cx="3145938" cy="3318387"/>
          </a:xfrm>
        </p:grpSpPr>
        <p:pic>
          <p:nvPicPr>
            <p:cNvPr id="9" name="Picture 8" descr="transistor1.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728309" y="3509201"/>
              <a:ext cx="3027064" cy="3018382"/>
            </a:xfrm>
            <a:prstGeom prst="rect">
              <a:avLst/>
            </a:prstGeom>
          </p:spPr>
        </p:pic>
        <p:sp>
          <p:nvSpPr>
            <p:cNvPr id="8" name="Rectangle 7"/>
            <p:cNvSpPr/>
            <p:nvPr/>
          </p:nvSpPr>
          <p:spPr>
            <a:xfrm>
              <a:off x="1696122" y="6458256"/>
              <a:ext cx="3145938" cy="369332"/>
            </a:xfrm>
            <a:prstGeom prst="rect">
              <a:avLst/>
            </a:prstGeom>
          </p:spPr>
          <p:txBody>
            <a:bodyPr wrap="none">
              <a:spAutoFit/>
            </a:bodyPr>
            <a:lstStyle/>
            <a:p>
              <a:r>
                <a:rPr lang="pt-BR" i="1" dirty="0"/>
                <a:t>Transistor de Ponto de Contato</a:t>
              </a:r>
            </a:p>
          </p:txBody>
        </p:sp>
      </p:grpSp>
    </p:spTree>
    <p:extLst>
      <p:ext uri="{BB962C8B-B14F-4D97-AF65-F5344CB8AC3E}">
        <p14:creationId xmlns:p14="http://schemas.microsoft.com/office/powerpoint/2010/main" val="3340275968"/>
      </p:ext>
    </p:extLst>
  </p:cSld>
  <p:clrMapOvr>
    <a:masterClrMapping/>
  </p:clrMapOvr>
  <mc:AlternateContent xmlns:mc="http://schemas.openxmlformats.org/markup-compatibility/2006">
    <mc:Choice xmlns:p14="http://schemas.microsoft.com/office/powerpoint/2010/main" Requires="p14">
      <p:transition spd="slow" p14:dur="1200" advTm="48590">
        <p14:prism/>
      </p:transition>
    </mc:Choice>
    <mc:Fallback>
      <p:transition spd="slow" advTm="4859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0" fill="hold"/>
                                        <p:tgtEl>
                                          <p:spTgt spid="6"/>
                                        </p:tgtEl>
                                        <p:attrNameLst>
                                          <p:attrName>ppt_w</p:attrName>
                                        </p:attrNameLst>
                                      </p:cBhvr>
                                      <p:tavLst>
                                        <p:tav tm="0">
                                          <p:val>
                                            <p:strVal val="4/3*#ppt_w"/>
                                          </p:val>
                                        </p:tav>
                                        <p:tav tm="100000">
                                          <p:val>
                                            <p:strVal val="#ppt_w"/>
                                          </p:val>
                                        </p:tav>
                                      </p:tavLst>
                                    </p:anim>
                                    <p:anim calcmode="lin" valueType="num">
                                      <p:cBhvr>
                                        <p:cTn id="8" dur="5000" fill="hold"/>
                                        <p:tgtEl>
                                          <p:spTgt spid="6"/>
                                        </p:tgtEl>
                                        <p:attrNameLst>
                                          <p:attrName>ppt_h</p:attrName>
                                        </p:attrNameLst>
                                      </p:cBhvr>
                                      <p:tavLst>
                                        <p:tav tm="0">
                                          <p:val>
                                            <p:strVal val="4/3*#ppt_h"/>
                                          </p:val>
                                        </p:tav>
                                        <p:tav tm="100000">
                                          <p:val>
                                            <p:strVal val="#ppt_h"/>
                                          </p:val>
                                        </p:tav>
                                      </p:tavLst>
                                    </p:anim>
                                  </p:childTnLst>
                                </p:cTn>
                              </p:par>
                              <p:par>
                                <p:cTn id="9" presetID="53" presetClass="entr" presetSubtype="16"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3000" fill="hold"/>
                                        <p:tgtEl>
                                          <p:spTgt spid="7"/>
                                        </p:tgtEl>
                                        <p:attrNameLst>
                                          <p:attrName>ppt_w</p:attrName>
                                        </p:attrNameLst>
                                      </p:cBhvr>
                                      <p:tavLst>
                                        <p:tav tm="0">
                                          <p:val>
                                            <p:fltVal val="0"/>
                                          </p:val>
                                        </p:tav>
                                        <p:tav tm="100000">
                                          <p:val>
                                            <p:strVal val="#ppt_w"/>
                                          </p:val>
                                        </p:tav>
                                      </p:tavLst>
                                    </p:anim>
                                    <p:anim calcmode="lin" valueType="num">
                                      <p:cBhvr>
                                        <p:cTn id="12" dur="3000" fill="hold"/>
                                        <p:tgtEl>
                                          <p:spTgt spid="7"/>
                                        </p:tgtEl>
                                        <p:attrNameLst>
                                          <p:attrName>ppt_h</p:attrName>
                                        </p:attrNameLst>
                                      </p:cBhvr>
                                      <p:tavLst>
                                        <p:tav tm="0">
                                          <p:val>
                                            <p:fltVal val="0"/>
                                          </p:val>
                                        </p:tav>
                                        <p:tav tm="100000">
                                          <p:val>
                                            <p:strVal val="#ppt_h"/>
                                          </p:val>
                                        </p:tav>
                                      </p:tavLst>
                                    </p:anim>
                                    <p:animEffect transition="in" filter="fade">
                                      <p:cBhvr>
                                        <p:cTn id="13" dur="3000"/>
                                        <p:tgtEl>
                                          <p:spTgt spid="7"/>
                                        </p:tgtEl>
                                      </p:cBhvr>
                                    </p:animEffect>
                                  </p:childTnLst>
                                </p:cTn>
                              </p:par>
                              <p:par>
                                <p:cTn id="14" presetID="23" presetClass="entr" presetSubtype="272"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0" fill="hold"/>
                                        <p:tgtEl>
                                          <p:spTgt spid="10"/>
                                        </p:tgtEl>
                                        <p:attrNameLst>
                                          <p:attrName>ppt_w</p:attrName>
                                        </p:attrNameLst>
                                      </p:cBhvr>
                                      <p:tavLst>
                                        <p:tav tm="0">
                                          <p:val>
                                            <p:strVal val="2/3*#ppt_w"/>
                                          </p:val>
                                        </p:tav>
                                        <p:tav tm="100000">
                                          <p:val>
                                            <p:strVal val="#ppt_w"/>
                                          </p:val>
                                        </p:tav>
                                      </p:tavLst>
                                    </p:anim>
                                    <p:anim calcmode="lin" valueType="num">
                                      <p:cBhvr>
                                        <p:cTn id="17" dur="5000" fill="hold"/>
                                        <p:tgtEl>
                                          <p:spTgt spid="1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Semicondutores</a:t>
            </a:r>
          </a:p>
        </p:txBody>
      </p:sp>
      <p:sp>
        <p:nvSpPr>
          <p:cNvPr id="3" name="Content Placeholder 2"/>
          <p:cNvSpPr>
            <a:spLocks noGrp="1"/>
          </p:cNvSpPr>
          <p:nvPr>
            <p:ph idx="1"/>
          </p:nvPr>
        </p:nvSpPr>
        <p:spPr>
          <a:xfrm>
            <a:off x="596900" y="1485900"/>
            <a:ext cx="6680199" cy="4724400"/>
          </a:xfrm>
        </p:spPr>
        <p:txBody>
          <a:bodyPr>
            <a:normAutofit/>
          </a:bodyPr>
          <a:lstStyle/>
          <a:p>
            <a:r>
              <a:rPr lang="pt-BR" sz="2100" dirty="0"/>
              <a:t>Semicondutores como silício (Si) ou germânio (Ge), tem propriedades entre as de um "condutor" e um "isolante", e com as técnicas de produção de transistores é possível controlar graus de condução elétrica do material.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pic>
        <p:nvPicPr>
          <p:cNvPr id="6" name="Picture 5" descr="silicon-atom.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5800" y="1323975"/>
            <a:ext cx="2061963" cy="2061963"/>
          </a:xfrm>
          <a:prstGeom prst="rect">
            <a:avLst/>
          </a:prstGeom>
        </p:spPr>
      </p:pic>
      <p:pic>
        <p:nvPicPr>
          <p:cNvPr id="7" name="Picture 6" descr="silicon.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688" y="3515577"/>
            <a:ext cx="3681212" cy="2556397"/>
          </a:xfrm>
          <a:prstGeom prst="rect">
            <a:avLst/>
          </a:prstGeom>
        </p:spPr>
      </p:pic>
      <p:pic>
        <p:nvPicPr>
          <p:cNvPr id="9" name="Picture 8"/>
          <p:cNvPicPr>
            <a:picLocks noChangeAspect="1"/>
          </p:cNvPicPr>
          <p:nvPr/>
        </p:nvPicPr>
        <p:blipFill>
          <a:blip r:embed="rId5"/>
          <a:stretch>
            <a:fillRect/>
          </a:stretch>
        </p:blipFill>
        <p:spPr>
          <a:xfrm>
            <a:off x="5067300" y="3578964"/>
            <a:ext cx="3467100" cy="2493010"/>
          </a:xfrm>
          <a:prstGeom prst="rect">
            <a:avLst/>
          </a:prstGeom>
        </p:spPr>
      </p:pic>
    </p:spTree>
    <p:extLst>
      <p:ext uri="{BB962C8B-B14F-4D97-AF65-F5344CB8AC3E}">
        <p14:creationId xmlns:p14="http://schemas.microsoft.com/office/powerpoint/2010/main" val="1268117678"/>
      </p:ext>
    </p:extLst>
  </p:cSld>
  <p:clrMapOvr>
    <a:masterClrMapping/>
  </p:clrMapOvr>
  <mc:AlternateContent xmlns:mc="http://schemas.openxmlformats.org/markup-compatibility/2006">
    <mc:Choice xmlns:p14="http://schemas.microsoft.com/office/powerpoint/2010/main" Requires="p14">
      <p:transition spd="slow" p14:dur="1200" advTm="55951">
        <p14:prism/>
      </p:transition>
    </mc:Choice>
    <mc:Fallback>
      <p:transition spd="slow" advTm="5595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68924" y="12"/>
            <a:ext cx="3457575" cy="6772909"/>
            <a:chOff x="5668924" y="12"/>
            <a:chExt cx="3457575" cy="6772909"/>
          </a:xfrm>
        </p:grpSpPr>
        <p:pic>
          <p:nvPicPr>
            <p:cNvPr id="3" name="object 3"/>
            <p:cNvPicPr/>
            <p:nvPr/>
          </p:nvPicPr>
          <p:blipFill>
            <a:blip r:embed="rId2" cstate="print"/>
            <a:stretch>
              <a:fillRect/>
            </a:stretch>
          </p:blipFill>
          <p:spPr>
            <a:xfrm>
              <a:off x="7414878" y="12"/>
              <a:ext cx="1711125" cy="6772298"/>
            </a:xfrm>
            <a:prstGeom prst="rect">
              <a:avLst/>
            </a:prstGeom>
          </p:spPr>
        </p:pic>
        <p:pic>
          <p:nvPicPr>
            <p:cNvPr id="4" name="object 4"/>
            <p:cNvPicPr/>
            <p:nvPr/>
          </p:nvPicPr>
          <p:blipFill>
            <a:blip r:embed="rId3" cstate="print"/>
            <a:stretch>
              <a:fillRect/>
            </a:stretch>
          </p:blipFill>
          <p:spPr>
            <a:xfrm>
              <a:off x="5668924" y="2539796"/>
              <a:ext cx="2455557" cy="1778038"/>
            </a:xfrm>
            <a:prstGeom prst="rect">
              <a:avLst/>
            </a:prstGeom>
          </p:spPr>
        </p:pic>
      </p:grpSp>
      <p:sp>
        <p:nvSpPr>
          <p:cNvPr id="5" name="object 5"/>
          <p:cNvSpPr txBox="1"/>
          <p:nvPr/>
        </p:nvSpPr>
        <p:spPr>
          <a:xfrm>
            <a:off x="891260" y="5536704"/>
            <a:ext cx="5380355" cy="178435"/>
          </a:xfrm>
          <a:prstGeom prst="rect">
            <a:avLst/>
          </a:prstGeom>
        </p:spPr>
        <p:txBody>
          <a:bodyPr vert="horz" wrap="square" lIns="0" tIns="12700" rIns="0" bIns="0" rtlCol="0">
            <a:spAutoFit/>
          </a:bodyPr>
          <a:lstStyle/>
          <a:p>
            <a:pPr marL="12700">
              <a:lnSpc>
                <a:spcPct val="100000"/>
              </a:lnSpc>
              <a:spcBef>
                <a:spcPts val="100"/>
              </a:spcBef>
            </a:pPr>
            <a:r>
              <a:rPr sz="1000" spc="-10" dirty="0">
                <a:latin typeface="Arial MT"/>
                <a:cs typeface="Arial MT"/>
                <a:hlinkClick r:id="rId4"/>
              </a:rPr>
              <a:t>https://thereaderwiki.com/en/Voskhod_Spacecraft_%22Globus%22_IMP_navigation_instrument</a:t>
            </a:r>
            <a:endParaRPr sz="1000">
              <a:latin typeface="Arial MT"/>
              <a:cs typeface="Arial MT"/>
            </a:endParaRPr>
          </a:p>
        </p:txBody>
      </p:sp>
      <p:pic>
        <p:nvPicPr>
          <p:cNvPr id="6" name="object 6"/>
          <p:cNvPicPr/>
          <p:nvPr/>
        </p:nvPicPr>
        <p:blipFill>
          <a:blip r:embed="rId5" cstate="print"/>
          <a:stretch>
            <a:fillRect/>
          </a:stretch>
        </p:blipFill>
        <p:spPr>
          <a:xfrm>
            <a:off x="763918" y="1779391"/>
            <a:ext cx="3808082" cy="2855874"/>
          </a:xfrm>
          <a:prstGeom prst="rect">
            <a:avLst/>
          </a:prstGeom>
        </p:spPr>
      </p:pic>
      <p:sp>
        <p:nvSpPr>
          <p:cNvPr id="7" name="object 7"/>
          <p:cNvSpPr txBox="1"/>
          <p:nvPr/>
        </p:nvSpPr>
        <p:spPr>
          <a:xfrm>
            <a:off x="869302" y="4855946"/>
            <a:ext cx="5377815"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1961</a:t>
            </a:r>
            <a:r>
              <a:rPr sz="1400" b="1" spc="-30" dirty="0">
                <a:latin typeface="Arial"/>
                <a:cs typeface="Arial"/>
              </a:rPr>
              <a:t> </a:t>
            </a:r>
            <a:r>
              <a:rPr sz="1400" b="1" dirty="0">
                <a:latin typeface="Arial"/>
                <a:cs typeface="Arial"/>
              </a:rPr>
              <a:t>-</a:t>
            </a:r>
            <a:r>
              <a:rPr sz="1400" b="1" spc="-25" dirty="0">
                <a:latin typeface="Arial"/>
                <a:cs typeface="Arial"/>
              </a:rPr>
              <a:t> </a:t>
            </a:r>
            <a:r>
              <a:rPr sz="1400" b="1" spc="-10" dirty="0">
                <a:latin typeface="Arial"/>
                <a:cs typeface="Arial"/>
              </a:rPr>
              <a:t>Voskhod</a:t>
            </a:r>
            <a:r>
              <a:rPr sz="1400" b="1" spc="-25" dirty="0">
                <a:latin typeface="Arial"/>
                <a:cs typeface="Arial"/>
              </a:rPr>
              <a:t> </a:t>
            </a:r>
            <a:r>
              <a:rPr sz="1400" b="1" dirty="0">
                <a:latin typeface="Arial"/>
                <a:cs typeface="Arial"/>
              </a:rPr>
              <a:t>Spacecraft</a:t>
            </a:r>
            <a:r>
              <a:rPr sz="1400" b="1" spc="-25" dirty="0">
                <a:latin typeface="Arial"/>
                <a:cs typeface="Arial"/>
              </a:rPr>
              <a:t> </a:t>
            </a:r>
            <a:r>
              <a:rPr sz="1400" b="1" dirty="0">
                <a:latin typeface="Arial"/>
                <a:cs typeface="Arial"/>
              </a:rPr>
              <a:t>"Globus"</a:t>
            </a:r>
            <a:r>
              <a:rPr sz="1400" b="1" spc="-25" dirty="0">
                <a:latin typeface="Arial"/>
                <a:cs typeface="Arial"/>
              </a:rPr>
              <a:t> </a:t>
            </a:r>
            <a:r>
              <a:rPr sz="1400" b="1" dirty="0">
                <a:latin typeface="Arial"/>
                <a:cs typeface="Arial"/>
              </a:rPr>
              <a:t>IMP</a:t>
            </a:r>
            <a:r>
              <a:rPr sz="1400" b="1" spc="-50" dirty="0">
                <a:latin typeface="Arial"/>
                <a:cs typeface="Arial"/>
              </a:rPr>
              <a:t> </a:t>
            </a:r>
            <a:r>
              <a:rPr sz="1400" b="1" dirty="0">
                <a:latin typeface="Arial"/>
                <a:cs typeface="Arial"/>
              </a:rPr>
              <a:t>navigation</a:t>
            </a:r>
            <a:r>
              <a:rPr sz="1400" b="1" spc="-25" dirty="0">
                <a:latin typeface="Arial"/>
                <a:cs typeface="Arial"/>
              </a:rPr>
              <a:t> </a:t>
            </a:r>
            <a:r>
              <a:rPr sz="1400" b="1" spc="-10" dirty="0">
                <a:latin typeface="Arial"/>
                <a:cs typeface="Arial"/>
              </a:rPr>
              <a:t>instrument</a:t>
            </a:r>
            <a:endParaRPr sz="1400">
              <a:latin typeface="Arial"/>
              <a:cs typeface="Arial"/>
            </a:endParaRPr>
          </a:p>
        </p:txBody>
      </p:sp>
      <p:sp>
        <p:nvSpPr>
          <p:cNvPr id="8" name="object 8" descr="$PPTXTitle"/>
          <p:cNvSpPr txBox="1">
            <a:spLocks noGrp="1"/>
          </p:cNvSpPr>
          <p:nvPr>
            <p:ph type="title"/>
          </p:nvPr>
        </p:nvSpPr>
        <p:spPr>
          <a:prstGeom prst="rect">
            <a:avLst/>
          </a:prstGeom>
        </p:spPr>
        <p:txBody>
          <a:bodyPr vert="horz" wrap="square" lIns="0" tIns="181178" rIns="0" bIns="0" rtlCol="0">
            <a:spAutoFit/>
          </a:bodyPr>
          <a:lstStyle/>
          <a:p>
            <a:pPr marL="1024890">
              <a:lnSpc>
                <a:spcPct val="100000"/>
              </a:lnSpc>
              <a:spcBef>
                <a:spcPts val="100"/>
              </a:spcBef>
            </a:pPr>
            <a:r>
              <a:rPr dirty="0">
                <a:solidFill>
                  <a:srgbClr val="BF0025"/>
                </a:solidFill>
              </a:rPr>
              <a:t>No</a:t>
            </a:r>
            <a:r>
              <a:rPr spc="-35" dirty="0">
                <a:solidFill>
                  <a:srgbClr val="BF0025"/>
                </a:solidFill>
              </a:rPr>
              <a:t> </a:t>
            </a:r>
            <a:r>
              <a:rPr dirty="0">
                <a:solidFill>
                  <a:srgbClr val="BF0025"/>
                </a:solidFill>
              </a:rPr>
              <a:t>começo</a:t>
            </a:r>
            <a:r>
              <a:rPr spc="-25" dirty="0">
                <a:solidFill>
                  <a:srgbClr val="BF0025"/>
                </a:solidFill>
              </a:rPr>
              <a:t> </a:t>
            </a:r>
            <a:r>
              <a:rPr dirty="0">
                <a:solidFill>
                  <a:srgbClr val="BF0025"/>
                </a:solidFill>
              </a:rPr>
              <a:t>tudo</a:t>
            </a:r>
            <a:r>
              <a:rPr spc="-30" dirty="0">
                <a:solidFill>
                  <a:srgbClr val="BF0025"/>
                </a:solidFill>
              </a:rPr>
              <a:t> </a:t>
            </a:r>
            <a:r>
              <a:rPr dirty="0">
                <a:solidFill>
                  <a:srgbClr val="BF0025"/>
                </a:solidFill>
              </a:rPr>
              <a:t>era</a:t>
            </a:r>
            <a:r>
              <a:rPr spc="-25" dirty="0">
                <a:solidFill>
                  <a:srgbClr val="BF0025"/>
                </a:solidFill>
              </a:rPr>
              <a:t> </a:t>
            </a:r>
            <a:r>
              <a:rPr spc="-10" dirty="0">
                <a:solidFill>
                  <a:srgbClr val="BF0025"/>
                </a:solidFill>
              </a:rPr>
              <a:t>mecânico</a:t>
            </a:r>
          </a:p>
        </p:txBody>
      </p:sp>
      <p:sp>
        <p:nvSpPr>
          <p:cNvPr id="10" name="Text Placeholder 9">
            <a:extLst>
              <a:ext uri="{FF2B5EF4-FFF2-40B4-BE49-F238E27FC236}">
                <a16:creationId xmlns:a16="http://schemas.microsoft.com/office/drawing/2014/main" id="{0DD3F61E-D2D4-413F-2C8E-11AD6739B52D}"/>
              </a:ext>
            </a:extLst>
          </p:cNvPr>
          <p:cNvSpPr>
            <a:spLocks noGrp="1"/>
          </p:cNvSpPr>
          <p:nvPr>
            <p:ph type="body" sz="quarter" idx="13"/>
          </p:nvPr>
        </p:nvSpPr>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13955" y="12"/>
            <a:ext cx="8312150" cy="6772909"/>
            <a:chOff x="813955" y="12"/>
            <a:chExt cx="8312150" cy="6772909"/>
          </a:xfrm>
        </p:grpSpPr>
        <p:pic>
          <p:nvPicPr>
            <p:cNvPr id="3" name="object 3"/>
            <p:cNvPicPr/>
            <p:nvPr/>
          </p:nvPicPr>
          <p:blipFill>
            <a:blip r:embed="rId2" cstate="print"/>
            <a:stretch>
              <a:fillRect/>
            </a:stretch>
          </p:blipFill>
          <p:spPr>
            <a:xfrm>
              <a:off x="7414878" y="12"/>
              <a:ext cx="1711125" cy="6772298"/>
            </a:xfrm>
            <a:prstGeom prst="rect">
              <a:avLst/>
            </a:prstGeom>
          </p:spPr>
        </p:pic>
        <p:pic>
          <p:nvPicPr>
            <p:cNvPr id="4" name="object 4"/>
            <p:cNvPicPr/>
            <p:nvPr/>
          </p:nvPicPr>
          <p:blipFill>
            <a:blip r:embed="rId3" cstate="print"/>
            <a:stretch>
              <a:fillRect/>
            </a:stretch>
          </p:blipFill>
          <p:spPr>
            <a:xfrm>
              <a:off x="813955" y="1731238"/>
              <a:ext cx="7616875" cy="3696119"/>
            </a:xfrm>
            <a:prstGeom prst="rect">
              <a:avLst/>
            </a:prstGeom>
          </p:spPr>
        </p:pic>
      </p:grpSp>
      <p:sp>
        <p:nvSpPr>
          <p:cNvPr id="5" name="object 5"/>
          <p:cNvSpPr txBox="1"/>
          <p:nvPr/>
        </p:nvSpPr>
        <p:spPr>
          <a:xfrm>
            <a:off x="891260" y="5884455"/>
            <a:ext cx="4491990" cy="391160"/>
          </a:xfrm>
          <a:prstGeom prst="rect">
            <a:avLst/>
          </a:prstGeom>
        </p:spPr>
        <p:txBody>
          <a:bodyPr vert="horz" wrap="square" lIns="0" tIns="12700" rIns="0" bIns="0" rtlCol="0">
            <a:spAutoFit/>
          </a:bodyPr>
          <a:lstStyle/>
          <a:p>
            <a:pPr marL="12700" marR="5080">
              <a:lnSpc>
                <a:spcPct val="100000"/>
              </a:lnSpc>
              <a:spcBef>
                <a:spcPts val="100"/>
              </a:spcBef>
            </a:pPr>
            <a:r>
              <a:rPr sz="1200" dirty="0">
                <a:latin typeface="Arial MT"/>
                <a:cs typeface="Arial MT"/>
              </a:rPr>
              <a:t>By</a:t>
            </a:r>
            <a:r>
              <a:rPr sz="1200" spc="-5" dirty="0">
                <a:latin typeface="Arial MT"/>
                <a:cs typeface="Arial MT"/>
              </a:rPr>
              <a:t> </a:t>
            </a:r>
            <a:r>
              <a:rPr sz="1200" dirty="0">
                <a:latin typeface="Arial MT"/>
                <a:cs typeface="Arial MT"/>
              </a:rPr>
              <a:t>Stefan</a:t>
            </a:r>
            <a:r>
              <a:rPr sz="1200" spc="-5" dirty="0">
                <a:latin typeface="Arial MT"/>
                <a:cs typeface="Arial MT"/>
              </a:rPr>
              <a:t> </a:t>
            </a:r>
            <a:r>
              <a:rPr sz="1200" dirty="0">
                <a:latin typeface="Arial MT"/>
                <a:cs typeface="Arial MT"/>
              </a:rPr>
              <a:t>Riepl</a:t>
            </a:r>
            <a:r>
              <a:rPr sz="1200" spc="-10" dirty="0">
                <a:latin typeface="Arial MT"/>
                <a:cs typeface="Arial MT"/>
              </a:rPr>
              <a:t> </a:t>
            </a:r>
            <a:r>
              <a:rPr sz="1200" dirty="0">
                <a:latin typeface="Arial MT"/>
                <a:cs typeface="Arial MT"/>
              </a:rPr>
              <a:t>(Quark48)</a:t>
            </a:r>
            <a:r>
              <a:rPr sz="1200" spc="-10" dirty="0">
                <a:latin typeface="Arial MT"/>
                <a:cs typeface="Arial MT"/>
              </a:rPr>
              <a:t> </a:t>
            </a:r>
            <a:r>
              <a:rPr sz="1200" dirty="0">
                <a:latin typeface="Arial MT"/>
                <a:cs typeface="Arial MT"/>
              </a:rPr>
              <a:t>-</a:t>
            </a:r>
            <a:r>
              <a:rPr sz="1200" spc="-5" dirty="0">
                <a:latin typeface="Arial MT"/>
                <a:cs typeface="Arial MT"/>
              </a:rPr>
              <a:t> </a:t>
            </a:r>
            <a:r>
              <a:rPr sz="1200" spc="-10" dirty="0">
                <a:latin typeface="Arial MT"/>
                <a:cs typeface="Arial MT"/>
              </a:rPr>
              <a:t>Self-</a:t>
            </a:r>
            <a:r>
              <a:rPr sz="1200" dirty="0">
                <a:latin typeface="Arial MT"/>
                <a:cs typeface="Arial MT"/>
              </a:rPr>
              <a:t>photographed,</a:t>
            </a:r>
            <a:r>
              <a:rPr sz="1200" spc="-5" dirty="0">
                <a:latin typeface="Arial MT"/>
                <a:cs typeface="Arial MT"/>
              </a:rPr>
              <a:t> </a:t>
            </a:r>
            <a:r>
              <a:rPr sz="1200" dirty="0">
                <a:latin typeface="Arial MT"/>
                <a:cs typeface="Arial MT"/>
              </a:rPr>
              <a:t>CC</a:t>
            </a:r>
            <a:r>
              <a:rPr sz="1200" spc="-10" dirty="0">
                <a:latin typeface="Arial MT"/>
                <a:cs typeface="Arial MT"/>
              </a:rPr>
              <a:t> </a:t>
            </a:r>
            <a:r>
              <a:rPr sz="1200" spc="-45" dirty="0">
                <a:latin typeface="Arial MT"/>
                <a:cs typeface="Arial MT"/>
              </a:rPr>
              <a:t>BY-</a:t>
            </a:r>
            <a:r>
              <a:rPr sz="1200" dirty="0">
                <a:latin typeface="Arial MT"/>
                <a:cs typeface="Arial MT"/>
              </a:rPr>
              <a:t>SA</a:t>
            </a:r>
            <a:r>
              <a:rPr sz="1200" spc="-75" dirty="0">
                <a:latin typeface="Arial MT"/>
                <a:cs typeface="Arial MT"/>
              </a:rPr>
              <a:t> </a:t>
            </a:r>
            <a:r>
              <a:rPr sz="1200" dirty="0">
                <a:latin typeface="Arial MT"/>
                <a:cs typeface="Arial MT"/>
              </a:rPr>
              <a:t>2.0</a:t>
            </a:r>
            <a:r>
              <a:rPr sz="1200" spc="5" dirty="0">
                <a:latin typeface="Arial MT"/>
                <a:cs typeface="Arial MT"/>
              </a:rPr>
              <a:t> </a:t>
            </a:r>
            <a:r>
              <a:rPr sz="1200" spc="-25" dirty="0">
                <a:latin typeface="Arial MT"/>
                <a:cs typeface="Arial MT"/>
              </a:rPr>
              <a:t>de, </a:t>
            </a:r>
            <a:r>
              <a:rPr sz="1200" u="sng" spc="-10" dirty="0">
                <a:solidFill>
                  <a:srgbClr val="0000FF"/>
                </a:solidFill>
                <a:uFill>
                  <a:solidFill>
                    <a:srgbClr val="0000FF"/>
                  </a:solidFill>
                </a:uFill>
                <a:latin typeface="Arial MT"/>
                <a:cs typeface="Arial MT"/>
                <a:hlinkClick r:id="rId4"/>
              </a:rPr>
              <a:t>https://commons.wikimedia.org/w/index.php?curid=14682022</a:t>
            </a:r>
            <a:endParaRPr sz="1200">
              <a:latin typeface="Arial MT"/>
              <a:cs typeface="Arial MT"/>
            </a:endParaRPr>
          </a:p>
        </p:txBody>
      </p:sp>
      <p:sp>
        <p:nvSpPr>
          <p:cNvPr id="6" name="object 6" descr="$PPTXTitle"/>
          <p:cNvSpPr txBox="1">
            <a:spLocks noGrp="1"/>
          </p:cNvSpPr>
          <p:nvPr>
            <p:ph type="title"/>
          </p:nvPr>
        </p:nvSpPr>
        <p:spPr>
          <a:prstGeom prst="rect">
            <a:avLst/>
          </a:prstGeom>
        </p:spPr>
        <p:txBody>
          <a:bodyPr vert="horz" wrap="square" lIns="0" tIns="181178" rIns="0" bIns="0" rtlCol="0">
            <a:spAutoFit/>
          </a:bodyPr>
          <a:lstStyle/>
          <a:p>
            <a:pPr marL="503555">
              <a:lnSpc>
                <a:spcPct val="100000"/>
              </a:lnSpc>
              <a:spcBef>
                <a:spcPts val="100"/>
              </a:spcBef>
            </a:pPr>
            <a:r>
              <a:rPr dirty="0">
                <a:solidFill>
                  <a:srgbClr val="BF0025"/>
                </a:solidFill>
              </a:rPr>
              <a:t>Com</a:t>
            </a:r>
            <a:r>
              <a:rPr spc="-25" dirty="0">
                <a:solidFill>
                  <a:srgbClr val="BF0025"/>
                </a:solidFill>
              </a:rPr>
              <a:t> </a:t>
            </a:r>
            <a:r>
              <a:rPr dirty="0">
                <a:solidFill>
                  <a:srgbClr val="BF0025"/>
                </a:solidFill>
              </a:rPr>
              <a:t>a</a:t>
            </a:r>
            <a:r>
              <a:rPr spc="-20" dirty="0">
                <a:solidFill>
                  <a:srgbClr val="BF0025"/>
                </a:solidFill>
              </a:rPr>
              <a:t> </a:t>
            </a:r>
            <a:r>
              <a:rPr dirty="0">
                <a:solidFill>
                  <a:srgbClr val="BF0025"/>
                </a:solidFill>
              </a:rPr>
              <a:t>válvula</a:t>
            </a:r>
            <a:r>
              <a:rPr spc="-20" dirty="0">
                <a:solidFill>
                  <a:srgbClr val="BF0025"/>
                </a:solidFill>
              </a:rPr>
              <a:t> </a:t>
            </a:r>
            <a:r>
              <a:rPr dirty="0">
                <a:solidFill>
                  <a:srgbClr val="BF0025"/>
                </a:solidFill>
              </a:rPr>
              <a:t>passou</a:t>
            </a:r>
            <a:r>
              <a:rPr spc="-25" dirty="0">
                <a:solidFill>
                  <a:srgbClr val="BF0025"/>
                </a:solidFill>
              </a:rPr>
              <a:t> </a:t>
            </a:r>
            <a:r>
              <a:rPr dirty="0">
                <a:solidFill>
                  <a:srgbClr val="BF0025"/>
                </a:solidFill>
              </a:rPr>
              <a:t>a</a:t>
            </a:r>
            <a:r>
              <a:rPr spc="-15" dirty="0">
                <a:solidFill>
                  <a:srgbClr val="BF0025"/>
                </a:solidFill>
              </a:rPr>
              <a:t> </a:t>
            </a:r>
            <a:r>
              <a:rPr dirty="0">
                <a:solidFill>
                  <a:srgbClr val="BF0025"/>
                </a:solidFill>
              </a:rPr>
              <a:t>ser</a:t>
            </a:r>
            <a:r>
              <a:rPr spc="-25" dirty="0">
                <a:solidFill>
                  <a:srgbClr val="BF0025"/>
                </a:solidFill>
              </a:rPr>
              <a:t> </a:t>
            </a:r>
            <a:r>
              <a:rPr spc="-10" dirty="0">
                <a:solidFill>
                  <a:srgbClr val="BF0025"/>
                </a:solidFill>
              </a:rPr>
              <a:t>elétrico</a:t>
            </a:r>
          </a:p>
        </p:txBody>
      </p:sp>
      <p:sp>
        <p:nvSpPr>
          <p:cNvPr id="13" name="Text Placeholder 12">
            <a:extLst>
              <a:ext uri="{FF2B5EF4-FFF2-40B4-BE49-F238E27FC236}">
                <a16:creationId xmlns:a16="http://schemas.microsoft.com/office/drawing/2014/main" id="{544141C9-0302-1B9A-E7E6-A9D07CE3F75E}"/>
              </a:ext>
            </a:extLst>
          </p:cNvPr>
          <p:cNvSpPr>
            <a:spLocks noGrp="1"/>
          </p:cNvSpPr>
          <p:nvPr>
            <p:ph type="body" sz="quarter" idx="13"/>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14878" y="12"/>
            <a:ext cx="1711125" cy="6772298"/>
          </a:xfrm>
          <a:prstGeom prst="rect">
            <a:avLst/>
          </a:prstGeom>
        </p:spPr>
      </p:pic>
      <p:sp>
        <p:nvSpPr>
          <p:cNvPr id="3" name="object 3"/>
          <p:cNvSpPr txBox="1"/>
          <p:nvPr/>
        </p:nvSpPr>
        <p:spPr>
          <a:xfrm>
            <a:off x="441261" y="5896330"/>
            <a:ext cx="791146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02023"/>
                </a:solidFill>
                <a:latin typeface="Arial MT"/>
                <a:cs typeface="Arial MT"/>
              </a:rPr>
              <a:t>Harwell</a:t>
            </a:r>
            <a:r>
              <a:rPr sz="1200" spc="-20" dirty="0">
                <a:solidFill>
                  <a:srgbClr val="202023"/>
                </a:solidFill>
                <a:latin typeface="Arial MT"/>
                <a:cs typeface="Arial MT"/>
              </a:rPr>
              <a:t> </a:t>
            </a:r>
            <a:r>
              <a:rPr sz="1200" dirty="0">
                <a:solidFill>
                  <a:srgbClr val="202023"/>
                </a:solidFill>
                <a:latin typeface="Arial MT"/>
                <a:cs typeface="Arial MT"/>
              </a:rPr>
              <a:t>Dekatron</a:t>
            </a:r>
            <a:r>
              <a:rPr sz="1200" spc="-5" dirty="0">
                <a:solidFill>
                  <a:srgbClr val="202023"/>
                </a:solidFill>
                <a:latin typeface="Arial MT"/>
                <a:cs typeface="Arial MT"/>
              </a:rPr>
              <a:t> </a:t>
            </a:r>
            <a:r>
              <a:rPr sz="1200" spc="-10" dirty="0">
                <a:solidFill>
                  <a:srgbClr val="202023"/>
                </a:solidFill>
                <a:latin typeface="Arial MT"/>
                <a:cs typeface="Arial MT"/>
              </a:rPr>
              <a:t>vacuum-</a:t>
            </a:r>
            <a:r>
              <a:rPr sz="1200" dirty="0">
                <a:solidFill>
                  <a:srgbClr val="202023"/>
                </a:solidFill>
                <a:latin typeface="Arial MT"/>
                <a:cs typeface="Arial MT"/>
              </a:rPr>
              <a:t>tube</a:t>
            </a:r>
            <a:r>
              <a:rPr sz="1200" spc="-10" dirty="0">
                <a:solidFill>
                  <a:srgbClr val="202023"/>
                </a:solidFill>
                <a:latin typeface="Arial MT"/>
                <a:cs typeface="Arial MT"/>
              </a:rPr>
              <a:t> </a:t>
            </a:r>
            <a:r>
              <a:rPr sz="1200" dirty="0">
                <a:solidFill>
                  <a:srgbClr val="202023"/>
                </a:solidFill>
                <a:latin typeface="Arial MT"/>
                <a:cs typeface="Arial MT"/>
              </a:rPr>
              <a:t>(valve)</a:t>
            </a:r>
            <a:r>
              <a:rPr sz="1200" spc="-15" dirty="0">
                <a:solidFill>
                  <a:srgbClr val="202023"/>
                </a:solidFill>
                <a:latin typeface="Arial MT"/>
                <a:cs typeface="Arial MT"/>
              </a:rPr>
              <a:t> </a:t>
            </a:r>
            <a:r>
              <a:rPr sz="1200" spc="-10" dirty="0">
                <a:solidFill>
                  <a:srgbClr val="202023"/>
                </a:solidFill>
                <a:latin typeface="Arial MT"/>
                <a:cs typeface="Arial MT"/>
              </a:rPr>
              <a:t>computer, 1951-</a:t>
            </a:r>
            <a:r>
              <a:rPr sz="1200" dirty="0">
                <a:solidFill>
                  <a:srgbClr val="202023"/>
                </a:solidFill>
                <a:latin typeface="Arial MT"/>
                <a:cs typeface="Arial MT"/>
              </a:rPr>
              <a:t>57</a:t>
            </a:r>
            <a:r>
              <a:rPr sz="1200" spc="-15" dirty="0">
                <a:solidFill>
                  <a:srgbClr val="202023"/>
                </a:solidFill>
                <a:latin typeface="Arial MT"/>
                <a:cs typeface="Arial MT"/>
              </a:rPr>
              <a:t> </a:t>
            </a:r>
            <a:r>
              <a:rPr sz="1200" dirty="0">
                <a:solidFill>
                  <a:srgbClr val="202023"/>
                </a:solidFill>
                <a:latin typeface="Arial MT"/>
                <a:cs typeface="Arial MT"/>
              </a:rPr>
              <a:t>-</a:t>
            </a:r>
            <a:r>
              <a:rPr sz="1200" spc="-15" dirty="0">
                <a:solidFill>
                  <a:srgbClr val="202023"/>
                </a:solidFill>
                <a:latin typeface="Arial MT"/>
                <a:cs typeface="Arial MT"/>
              </a:rPr>
              <a:t> </a:t>
            </a:r>
            <a:r>
              <a:rPr sz="1200" dirty="0">
                <a:solidFill>
                  <a:srgbClr val="202023"/>
                </a:solidFill>
                <a:latin typeface="Arial MT"/>
                <a:cs typeface="Arial MT"/>
              </a:rPr>
              <a:t>National</a:t>
            </a:r>
            <a:r>
              <a:rPr sz="1200" spc="-15" dirty="0">
                <a:solidFill>
                  <a:srgbClr val="202023"/>
                </a:solidFill>
                <a:latin typeface="Arial MT"/>
                <a:cs typeface="Arial MT"/>
              </a:rPr>
              <a:t> </a:t>
            </a:r>
            <a:r>
              <a:rPr sz="1200" dirty="0">
                <a:solidFill>
                  <a:srgbClr val="202023"/>
                </a:solidFill>
                <a:latin typeface="Arial MT"/>
                <a:cs typeface="Arial MT"/>
              </a:rPr>
              <a:t>Museum</a:t>
            </a:r>
            <a:r>
              <a:rPr sz="1200" spc="-20" dirty="0">
                <a:solidFill>
                  <a:srgbClr val="202023"/>
                </a:solidFill>
                <a:latin typeface="Arial MT"/>
                <a:cs typeface="Arial MT"/>
              </a:rPr>
              <a:t> </a:t>
            </a:r>
            <a:r>
              <a:rPr sz="1200" dirty="0">
                <a:solidFill>
                  <a:srgbClr val="202023"/>
                </a:solidFill>
                <a:latin typeface="Arial MT"/>
                <a:cs typeface="Arial MT"/>
              </a:rPr>
              <a:t>of</a:t>
            </a:r>
            <a:r>
              <a:rPr sz="1200" spc="-10" dirty="0">
                <a:solidFill>
                  <a:srgbClr val="202023"/>
                </a:solidFill>
                <a:latin typeface="Arial MT"/>
                <a:cs typeface="Arial MT"/>
              </a:rPr>
              <a:t> </a:t>
            </a:r>
            <a:r>
              <a:rPr sz="1200" dirty="0">
                <a:solidFill>
                  <a:srgbClr val="202023"/>
                </a:solidFill>
                <a:latin typeface="Arial MT"/>
                <a:cs typeface="Arial MT"/>
              </a:rPr>
              <a:t>Computing,</a:t>
            </a:r>
            <a:r>
              <a:rPr sz="1200" spc="-10" dirty="0">
                <a:solidFill>
                  <a:srgbClr val="202023"/>
                </a:solidFill>
                <a:latin typeface="Arial MT"/>
                <a:cs typeface="Arial MT"/>
              </a:rPr>
              <a:t> </a:t>
            </a:r>
            <a:r>
              <a:rPr sz="1200" dirty="0">
                <a:solidFill>
                  <a:srgbClr val="202023"/>
                </a:solidFill>
                <a:latin typeface="Arial MT"/>
                <a:cs typeface="Arial MT"/>
              </a:rPr>
              <a:t>Bletchley</a:t>
            </a:r>
            <a:r>
              <a:rPr sz="1200" spc="-15" dirty="0">
                <a:solidFill>
                  <a:srgbClr val="202023"/>
                </a:solidFill>
                <a:latin typeface="Arial MT"/>
                <a:cs typeface="Arial MT"/>
              </a:rPr>
              <a:t> </a:t>
            </a:r>
            <a:r>
              <a:rPr sz="1200" dirty="0">
                <a:solidFill>
                  <a:srgbClr val="202023"/>
                </a:solidFill>
                <a:latin typeface="Arial MT"/>
                <a:cs typeface="Arial MT"/>
              </a:rPr>
              <a:t>Park,</a:t>
            </a:r>
            <a:r>
              <a:rPr sz="1200" spc="-10" dirty="0">
                <a:solidFill>
                  <a:srgbClr val="202023"/>
                </a:solidFill>
                <a:latin typeface="Arial MT"/>
                <a:cs typeface="Arial MT"/>
              </a:rPr>
              <a:t> England</a:t>
            </a:r>
            <a:endParaRPr sz="1200">
              <a:latin typeface="Arial MT"/>
              <a:cs typeface="Arial MT"/>
            </a:endParaRPr>
          </a:p>
        </p:txBody>
      </p:sp>
      <p:pic>
        <p:nvPicPr>
          <p:cNvPr id="4" name="object 4"/>
          <p:cNvPicPr/>
          <p:nvPr/>
        </p:nvPicPr>
        <p:blipFill>
          <a:blip r:embed="rId3" cstate="print"/>
          <a:stretch>
            <a:fillRect/>
          </a:stretch>
        </p:blipFill>
        <p:spPr>
          <a:xfrm>
            <a:off x="536765" y="1035723"/>
            <a:ext cx="8043125" cy="45230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7200" y="12"/>
            <a:ext cx="8669020" cy="6772909"/>
            <a:chOff x="457200" y="12"/>
            <a:chExt cx="8669020" cy="6772909"/>
          </a:xfrm>
        </p:grpSpPr>
        <p:pic>
          <p:nvPicPr>
            <p:cNvPr id="3" name="object 3"/>
            <p:cNvPicPr/>
            <p:nvPr/>
          </p:nvPicPr>
          <p:blipFill>
            <a:blip r:embed="rId2" cstate="print"/>
            <a:stretch>
              <a:fillRect/>
            </a:stretch>
          </p:blipFill>
          <p:spPr>
            <a:xfrm>
              <a:off x="7414878" y="12"/>
              <a:ext cx="1711125" cy="6772298"/>
            </a:xfrm>
            <a:prstGeom prst="rect">
              <a:avLst/>
            </a:prstGeom>
          </p:spPr>
        </p:pic>
        <p:pic>
          <p:nvPicPr>
            <p:cNvPr id="4" name="object 4"/>
            <p:cNvPicPr/>
            <p:nvPr/>
          </p:nvPicPr>
          <p:blipFill>
            <a:blip r:embed="rId3" cstate="print"/>
            <a:stretch>
              <a:fillRect/>
            </a:stretch>
          </p:blipFill>
          <p:spPr>
            <a:xfrm>
              <a:off x="457200" y="2509558"/>
              <a:ext cx="8145716" cy="2310841"/>
            </a:xfrm>
            <a:prstGeom prst="rect">
              <a:avLst/>
            </a:prstGeom>
          </p:spPr>
        </p:pic>
      </p:grpSp>
      <p:sp>
        <p:nvSpPr>
          <p:cNvPr id="5" name="object 5"/>
          <p:cNvSpPr txBox="1"/>
          <p:nvPr/>
        </p:nvSpPr>
        <p:spPr>
          <a:xfrm>
            <a:off x="614426" y="5739015"/>
            <a:ext cx="227139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Arial MT"/>
                <a:cs typeface="Arial MT"/>
                <a:hlinkClick r:id="rId4"/>
              </a:rPr>
              <a:t>http://mmncny.org/exhibits/296-</a:t>
            </a:r>
            <a:r>
              <a:rPr sz="1200" spc="-25" dirty="0">
                <a:latin typeface="Arial MT"/>
                <a:cs typeface="Arial MT"/>
                <a:hlinkClick r:id="rId4"/>
              </a:rPr>
              <a:t>2/</a:t>
            </a:r>
            <a:endParaRPr sz="1200">
              <a:latin typeface="Arial MT"/>
              <a:cs typeface="Arial MT"/>
            </a:endParaRPr>
          </a:p>
        </p:txBody>
      </p:sp>
      <p:sp>
        <p:nvSpPr>
          <p:cNvPr id="6" name="object 6" descr="$PPTXTitle"/>
          <p:cNvSpPr txBox="1">
            <a:spLocks noGrp="1"/>
          </p:cNvSpPr>
          <p:nvPr>
            <p:ph type="title"/>
          </p:nvPr>
        </p:nvSpPr>
        <p:spPr>
          <a:prstGeom prst="rect">
            <a:avLst/>
          </a:prstGeom>
        </p:spPr>
        <p:txBody>
          <a:bodyPr vert="horz" wrap="square" lIns="0" tIns="181178" rIns="0" bIns="0" rtlCol="0">
            <a:spAutoFit/>
          </a:bodyPr>
          <a:lstStyle/>
          <a:p>
            <a:pPr marL="1190625">
              <a:lnSpc>
                <a:spcPct val="100000"/>
              </a:lnSpc>
              <a:spcBef>
                <a:spcPts val="100"/>
              </a:spcBef>
            </a:pPr>
            <a:r>
              <a:rPr dirty="0">
                <a:solidFill>
                  <a:srgbClr val="BF0025"/>
                </a:solidFill>
              </a:rPr>
              <a:t>Que</a:t>
            </a:r>
            <a:r>
              <a:rPr spc="-30" dirty="0">
                <a:solidFill>
                  <a:srgbClr val="BF0025"/>
                </a:solidFill>
              </a:rPr>
              <a:t> </a:t>
            </a:r>
            <a:r>
              <a:rPr dirty="0">
                <a:solidFill>
                  <a:srgbClr val="BF0025"/>
                </a:solidFill>
              </a:rPr>
              <a:t>evoluiu</a:t>
            </a:r>
            <a:r>
              <a:rPr spc="-25" dirty="0">
                <a:solidFill>
                  <a:srgbClr val="BF0025"/>
                </a:solidFill>
              </a:rPr>
              <a:t> </a:t>
            </a:r>
            <a:r>
              <a:rPr dirty="0">
                <a:solidFill>
                  <a:srgbClr val="BF0025"/>
                </a:solidFill>
              </a:rPr>
              <a:t>para</a:t>
            </a:r>
            <a:r>
              <a:rPr spc="-20" dirty="0">
                <a:solidFill>
                  <a:srgbClr val="BF0025"/>
                </a:solidFill>
              </a:rPr>
              <a:t> </a:t>
            </a:r>
            <a:r>
              <a:rPr dirty="0">
                <a:solidFill>
                  <a:srgbClr val="BF0025"/>
                </a:solidFill>
              </a:rPr>
              <a:t>o</a:t>
            </a:r>
            <a:r>
              <a:rPr spc="-20" dirty="0">
                <a:solidFill>
                  <a:srgbClr val="BF0025"/>
                </a:solidFill>
              </a:rPr>
              <a:t> </a:t>
            </a:r>
            <a:r>
              <a:rPr spc="-10" dirty="0">
                <a:solidFill>
                  <a:srgbClr val="BF0025"/>
                </a:solidFill>
              </a:rPr>
              <a:t>transistor</a:t>
            </a:r>
          </a:p>
        </p:txBody>
      </p:sp>
      <p:sp>
        <p:nvSpPr>
          <p:cNvPr id="8" name="Text Placeholder 7">
            <a:extLst>
              <a:ext uri="{FF2B5EF4-FFF2-40B4-BE49-F238E27FC236}">
                <a16:creationId xmlns:a16="http://schemas.microsoft.com/office/drawing/2014/main" id="{7E21430C-7225-BB76-3402-94E1D185A339}"/>
              </a:ext>
            </a:extLst>
          </p:cNvPr>
          <p:cNvSpPr>
            <a:spLocks noGrp="1"/>
          </p:cNvSpPr>
          <p:nvPr>
            <p:ph type="body" sz="quarter" idx="13"/>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3634" y="2441168"/>
            <a:ext cx="2758681" cy="2750756"/>
          </a:xfrm>
          <a:prstGeom prst="rect">
            <a:avLst/>
          </a:prstGeom>
        </p:spPr>
      </p:pic>
      <p:sp>
        <p:nvSpPr>
          <p:cNvPr id="3" name="object 3"/>
          <p:cNvSpPr txBox="1"/>
          <p:nvPr/>
        </p:nvSpPr>
        <p:spPr>
          <a:xfrm>
            <a:off x="360260" y="5154739"/>
            <a:ext cx="2665730" cy="574040"/>
          </a:xfrm>
          <a:prstGeom prst="rect">
            <a:avLst/>
          </a:prstGeom>
        </p:spPr>
        <p:txBody>
          <a:bodyPr vert="horz" wrap="square" lIns="0" tIns="12700" rIns="0" bIns="0" rtlCol="0">
            <a:spAutoFit/>
          </a:bodyPr>
          <a:lstStyle/>
          <a:p>
            <a:pPr marL="1102360" marR="5080" indent="-1090295">
              <a:lnSpc>
                <a:spcPct val="100000"/>
              </a:lnSpc>
              <a:spcBef>
                <a:spcPts val="100"/>
              </a:spcBef>
            </a:pPr>
            <a:r>
              <a:rPr sz="1800" dirty="0">
                <a:latin typeface="Calibri"/>
                <a:cs typeface="Calibri"/>
              </a:rPr>
              <a:t>Primeiro</a:t>
            </a:r>
            <a:r>
              <a:rPr sz="1800" spc="-60" dirty="0">
                <a:latin typeface="Calibri"/>
                <a:cs typeface="Calibri"/>
              </a:rPr>
              <a:t> </a:t>
            </a:r>
            <a:r>
              <a:rPr sz="1800" spc="-10" dirty="0">
                <a:latin typeface="Calibri"/>
                <a:cs typeface="Calibri"/>
              </a:rPr>
              <a:t>transistor</a:t>
            </a:r>
            <a:r>
              <a:rPr sz="1800" spc="-55" dirty="0">
                <a:latin typeface="Calibri"/>
                <a:cs typeface="Calibri"/>
              </a:rPr>
              <a:t> </a:t>
            </a:r>
            <a:r>
              <a:rPr sz="1800" spc="-10" dirty="0">
                <a:latin typeface="Calibri"/>
                <a:cs typeface="Calibri"/>
              </a:rPr>
              <a:t>funcional </a:t>
            </a:r>
            <a:r>
              <a:rPr sz="1800" spc="-20" dirty="0">
                <a:latin typeface="Calibri"/>
                <a:cs typeface="Calibri"/>
              </a:rPr>
              <a:t>1947</a:t>
            </a:r>
            <a:endParaRPr sz="1800">
              <a:latin typeface="Calibri"/>
              <a:cs typeface="Calibri"/>
            </a:endParaRPr>
          </a:p>
        </p:txBody>
      </p:sp>
      <p:grpSp>
        <p:nvGrpSpPr>
          <p:cNvPr id="4" name="object 4"/>
          <p:cNvGrpSpPr/>
          <p:nvPr/>
        </p:nvGrpSpPr>
        <p:grpSpPr>
          <a:xfrm>
            <a:off x="3255117" y="3431876"/>
            <a:ext cx="1176655" cy="683895"/>
            <a:chOff x="3255117" y="3431876"/>
            <a:chExt cx="1176655" cy="683895"/>
          </a:xfrm>
        </p:grpSpPr>
        <p:sp>
          <p:nvSpPr>
            <p:cNvPr id="5" name="object 5"/>
            <p:cNvSpPr/>
            <p:nvPr/>
          </p:nvSpPr>
          <p:spPr>
            <a:xfrm>
              <a:off x="3259798" y="3459594"/>
              <a:ext cx="1167130" cy="651510"/>
            </a:xfrm>
            <a:custGeom>
              <a:avLst/>
              <a:gdLst/>
              <a:ahLst/>
              <a:cxnLst/>
              <a:rect l="l" t="t" r="r" b="b"/>
              <a:pathLst>
                <a:path w="1167129" h="651510">
                  <a:moveTo>
                    <a:pt x="1167117" y="325450"/>
                  </a:moveTo>
                  <a:lnTo>
                    <a:pt x="1153045" y="311404"/>
                  </a:lnTo>
                  <a:lnTo>
                    <a:pt x="1124572" y="282968"/>
                  </a:lnTo>
                  <a:lnTo>
                    <a:pt x="1096086" y="254520"/>
                  </a:lnTo>
                  <a:lnTo>
                    <a:pt x="1067968" y="226441"/>
                  </a:lnTo>
                  <a:lnTo>
                    <a:pt x="1039495" y="198005"/>
                  </a:lnTo>
                  <a:lnTo>
                    <a:pt x="1011389" y="169926"/>
                  </a:lnTo>
                  <a:lnTo>
                    <a:pt x="841311" y="0"/>
                  </a:lnTo>
                  <a:lnTo>
                    <a:pt x="841311" y="162737"/>
                  </a:lnTo>
                  <a:lnTo>
                    <a:pt x="0" y="162737"/>
                  </a:lnTo>
                  <a:lnTo>
                    <a:pt x="0" y="169926"/>
                  </a:lnTo>
                  <a:lnTo>
                    <a:pt x="0" y="488188"/>
                  </a:lnTo>
                  <a:lnTo>
                    <a:pt x="841311" y="488188"/>
                  </a:lnTo>
                  <a:lnTo>
                    <a:pt x="841311" y="651243"/>
                  </a:lnTo>
                  <a:lnTo>
                    <a:pt x="870115" y="622439"/>
                  </a:lnTo>
                  <a:lnTo>
                    <a:pt x="898207" y="594360"/>
                  </a:lnTo>
                  <a:lnTo>
                    <a:pt x="926642" y="565924"/>
                  </a:lnTo>
                  <a:lnTo>
                    <a:pt x="1153083" y="339483"/>
                  </a:lnTo>
                  <a:lnTo>
                    <a:pt x="1167117" y="325462"/>
                  </a:lnTo>
                  <a:close/>
                </a:path>
              </a:pathLst>
            </a:custGeom>
            <a:solidFill>
              <a:srgbClr val="000000">
                <a:alpha val="34999"/>
              </a:srgbClr>
            </a:solidFill>
          </p:spPr>
          <p:txBody>
            <a:bodyPr wrap="square" lIns="0" tIns="0" rIns="0" bIns="0" rtlCol="0"/>
            <a:lstStyle/>
            <a:p>
              <a:endParaRPr/>
            </a:p>
          </p:txBody>
        </p:sp>
        <p:pic>
          <p:nvPicPr>
            <p:cNvPr id="6" name="object 6"/>
            <p:cNvPicPr/>
            <p:nvPr/>
          </p:nvPicPr>
          <p:blipFill>
            <a:blip r:embed="rId3" cstate="print"/>
            <a:stretch>
              <a:fillRect/>
            </a:stretch>
          </p:blipFill>
          <p:spPr>
            <a:xfrm>
              <a:off x="4101109" y="3459594"/>
              <a:ext cx="141638" cy="141490"/>
            </a:xfrm>
            <a:prstGeom prst="rect">
              <a:avLst/>
            </a:prstGeom>
          </p:spPr>
        </p:pic>
        <p:sp>
          <p:nvSpPr>
            <p:cNvPr id="7" name="object 7"/>
            <p:cNvSpPr/>
            <p:nvPr/>
          </p:nvSpPr>
          <p:spPr>
            <a:xfrm>
              <a:off x="3259797" y="3459594"/>
              <a:ext cx="1167130" cy="651510"/>
            </a:xfrm>
            <a:custGeom>
              <a:avLst/>
              <a:gdLst/>
              <a:ahLst/>
              <a:cxnLst/>
              <a:rect l="l" t="t" r="r" b="b"/>
              <a:pathLst>
                <a:path w="1167129" h="651510">
                  <a:moveTo>
                    <a:pt x="0" y="162725"/>
                  </a:moveTo>
                  <a:lnTo>
                    <a:pt x="841324" y="162725"/>
                  </a:lnTo>
                  <a:lnTo>
                    <a:pt x="841324" y="0"/>
                  </a:lnTo>
                  <a:lnTo>
                    <a:pt x="1167117" y="325450"/>
                  </a:lnTo>
                  <a:lnTo>
                    <a:pt x="841324" y="651243"/>
                  </a:lnTo>
                  <a:lnTo>
                    <a:pt x="841324" y="488162"/>
                  </a:lnTo>
                  <a:lnTo>
                    <a:pt x="0" y="488162"/>
                  </a:lnTo>
                  <a:lnTo>
                    <a:pt x="0" y="162725"/>
                  </a:lnTo>
                  <a:close/>
                </a:path>
              </a:pathLst>
            </a:custGeom>
            <a:ln w="9359">
              <a:solidFill>
                <a:srgbClr val="000000"/>
              </a:solidFill>
            </a:ln>
          </p:spPr>
          <p:txBody>
            <a:bodyPr wrap="square" lIns="0" tIns="0" rIns="0" bIns="0" rtlCol="0"/>
            <a:lstStyle/>
            <a:p>
              <a:endParaRPr/>
            </a:p>
          </p:txBody>
        </p:sp>
        <p:sp>
          <p:nvSpPr>
            <p:cNvPr id="8" name="object 8"/>
            <p:cNvSpPr/>
            <p:nvPr/>
          </p:nvSpPr>
          <p:spPr>
            <a:xfrm>
              <a:off x="3259797" y="3436556"/>
              <a:ext cx="1167130" cy="651510"/>
            </a:xfrm>
            <a:custGeom>
              <a:avLst/>
              <a:gdLst/>
              <a:ahLst/>
              <a:cxnLst/>
              <a:rect l="l" t="t" r="r" b="b"/>
              <a:pathLst>
                <a:path w="1167129" h="651510">
                  <a:moveTo>
                    <a:pt x="841311" y="0"/>
                  </a:moveTo>
                  <a:lnTo>
                    <a:pt x="841311" y="162725"/>
                  </a:lnTo>
                  <a:lnTo>
                    <a:pt x="0" y="162725"/>
                  </a:lnTo>
                  <a:lnTo>
                    <a:pt x="0" y="488175"/>
                  </a:lnTo>
                  <a:lnTo>
                    <a:pt x="841311" y="488175"/>
                  </a:lnTo>
                  <a:lnTo>
                    <a:pt x="841311" y="651243"/>
                  </a:lnTo>
                  <a:lnTo>
                    <a:pt x="1167117" y="325450"/>
                  </a:lnTo>
                  <a:lnTo>
                    <a:pt x="841311" y="0"/>
                  </a:lnTo>
                  <a:close/>
                </a:path>
              </a:pathLst>
            </a:custGeom>
            <a:solidFill>
              <a:srgbClr val="2D5E99"/>
            </a:solidFill>
          </p:spPr>
          <p:txBody>
            <a:bodyPr wrap="square" lIns="0" tIns="0" rIns="0" bIns="0" rtlCol="0"/>
            <a:lstStyle/>
            <a:p>
              <a:endParaRPr/>
            </a:p>
          </p:txBody>
        </p:sp>
        <p:sp>
          <p:nvSpPr>
            <p:cNvPr id="9" name="object 9"/>
            <p:cNvSpPr/>
            <p:nvPr/>
          </p:nvSpPr>
          <p:spPr>
            <a:xfrm>
              <a:off x="3259797" y="3436556"/>
              <a:ext cx="1167130" cy="622935"/>
            </a:xfrm>
            <a:custGeom>
              <a:avLst/>
              <a:gdLst/>
              <a:ahLst/>
              <a:cxnLst/>
              <a:rect l="l" t="t" r="r" b="b"/>
              <a:pathLst>
                <a:path w="1167129" h="622935">
                  <a:moveTo>
                    <a:pt x="841311" y="0"/>
                  </a:moveTo>
                  <a:lnTo>
                    <a:pt x="841311" y="162725"/>
                  </a:lnTo>
                  <a:lnTo>
                    <a:pt x="0" y="162725"/>
                  </a:lnTo>
                  <a:lnTo>
                    <a:pt x="0" y="488175"/>
                  </a:lnTo>
                  <a:lnTo>
                    <a:pt x="841311" y="488175"/>
                  </a:lnTo>
                  <a:lnTo>
                    <a:pt x="841311" y="622439"/>
                  </a:lnTo>
                  <a:lnTo>
                    <a:pt x="870127" y="622439"/>
                  </a:lnTo>
                  <a:lnTo>
                    <a:pt x="1167117" y="325450"/>
                  </a:lnTo>
                  <a:lnTo>
                    <a:pt x="841311" y="0"/>
                  </a:lnTo>
                  <a:close/>
                </a:path>
              </a:pathLst>
            </a:custGeom>
            <a:solidFill>
              <a:srgbClr val="2E5F9A"/>
            </a:solidFill>
          </p:spPr>
          <p:txBody>
            <a:bodyPr wrap="square" lIns="0" tIns="0" rIns="0" bIns="0" rtlCol="0"/>
            <a:lstStyle/>
            <a:p>
              <a:endParaRPr/>
            </a:p>
          </p:txBody>
        </p:sp>
        <p:sp>
          <p:nvSpPr>
            <p:cNvPr id="10" name="object 10"/>
            <p:cNvSpPr/>
            <p:nvPr/>
          </p:nvSpPr>
          <p:spPr>
            <a:xfrm>
              <a:off x="3259797" y="3436556"/>
              <a:ext cx="1167130" cy="594360"/>
            </a:xfrm>
            <a:custGeom>
              <a:avLst/>
              <a:gdLst/>
              <a:ahLst/>
              <a:cxnLst/>
              <a:rect l="l" t="t" r="r" b="b"/>
              <a:pathLst>
                <a:path w="1167129" h="594360">
                  <a:moveTo>
                    <a:pt x="841311" y="0"/>
                  </a:moveTo>
                  <a:lnTo>
                    <a:pt x="841311" y="162725"/>
                  </a:lnTo>
                  <a:lnTo>
                    <a:pt x="0" y="162725"/>
                  </a:lnTo>
                  <a:lnTo>
                    <a:pt x="0" y="488175"/>
                  </a:lnTo>
                  <a:lnTo>
                    <a:pt x="841311" y="488175"/>
                  </a:lnTo>
                  <a:lnTo>
                    <a:pt x="841311" y="594359"/>
                  </a:lnTo>
                  <a:lnTo>
                    <a:pt x="898207" y="594359"/>
                  </a:lnTo>
                  <a:lnTo>
                    <a:pt x="1167117" y="325450"/>
                  </a:lnTo>
                  <a:lnTo>
                    <a:pt x="841311" y="0"/>
                  </a:lnTo>
                  <a:close/>
                </a:path>
              </a:pathLst>
            </a:custGeom>
            <a:solidFill>
              <a:srgbClr val="2E609C"/>
            </a:solidFill>
          </p:spPr>
          <p:txBody>
            <a:bodyPr wrap="square" lIns="0" tIns="0" rIns="0" bIns="0" rtlCol="0"/>
            <a:lstStyle/>
            <a:p>
              <a:endParaRPr/>
            </a:p>
          </p:txBody>
        </p:sp>
        <p:sp>
          <p:nvSpPr>
            <p:cNvPr id="11" name="object 11"/>
            <p:cNvSpPr/>
            <p:nvPr/>
          </p:nvSpPr>
          <p:spPr>
            <a:xfrm>
              <a:off x="3259797" y="3436556"/>
              <a:ext cx="1167130" cy="566420"/>
            </a:xfrm>
            <a:custGeom>
              <a:avLst/>
              <a:gdLst/>
              <a:ahLst/>
              <a:cxnLst/>
              <a:rect l="l" t="t" r="r" b="b"/>
              <a:pathLst>
                <a:path w="1167129" h="566420">
                  <a:moveTo>
                    <a:pt x="841311" y="0"/>
                  </a:moveTo>
                  <a:lnTo>
                    <a:pt x="841311" y="162725"/>
                  </a:lnTo>
                  <a:lnTo>
                    <a:pt x="0" y="162725"/>
                  </a:lnTo>
                  <a:lnTo>
                    <a:pt x="0" y="488175"/>
                  </a:lnTo>
                  <a:lnTo>
                    <a:pt x="841311" y="488175"/>
                  </a:lnTo>
                  <a:lnTo>
                    <a:pt x="841311" y="565924"/>
                  </a:lnTo>
                  <a:lnTo>
                    <a:pt x="926642" y="565924"/>
                  </a:lnTo>
                  <a:lnTo>
                    <a:pt x="1167117" y="325450"/>
                  </a:lnTo>
                  <a:lnTo>
                    <a:pt x="841311" y="0"/>
                  </a:lnTo>
                  <a:close/>
                </a:path>
              </a:pathLst>
            </a:custGeom>
            <a:solidFill>
              <a:srgbClr val="2F629E"/>
            </a:solidFill>
          </p:spPr>
          <p:txBody>
            <a:bodyPr wrap="square" lIns="0" tIns="0" rIns="0" bIns="0" rtlCol="0"/>
            <a:lstStyle/>
            <a:p>
              <a:endParaRPr/>
            </a:p>
          </p:txBody>
        </p:sp>
        <p:sp>
          <p:nvSpPr>
            <p:cNvPr id="12" name="object 12"/>
            <p:cNvSpPr/>
            <p:nvPr/>
          </p:nvSpPr>
          <p:spPr>
            <a:xfrm>
              <a:off x="3259797" y="3436556"/>
              <a:ext cx="1167130" cy="537845"/>
            </a:xfrm>
            <a:custGeom>
              <a:avLst/>
              <a:gdLst/>
              <a:ahLst/>
              <a:cxnLst/>
              <a:rect l="l" t="t" r="r" b="b"/>
              <a:pathLst>
                <a:path w="1167129" h="537845">
                  <a:moveTo>
                    <a:pt x="841311" y="0"/>
                  </a:moveTo>
                  <a:lnTo>
                    <a:pt x="841311" y="162725"/>
                  </a:lnTo>
                  <a:lnTo>
                    <a:pt x="0" y="162725"/>
                  </a:lnTo>
                  <a:lnTo>
                    <a:pt x="0" y="488175"/>
                  </a:lnTo>
                  <a:lnTo>
                    <a:pt x="841311" y="488175"/>
                  </a:lnTo>
                  <a:lnTo>
                    <a:pt x="841311" y="537844"/>
                  </a:lnTo>
                  <a:lnTo>
                    <a:pt x="954722" y="537844"/>
                  </a:lnTo>
                  <a:lnTo>
                    <a:pt x="1167117" y="325450"/>
                  </a:lnTo>
                  <a:lnTo>
                    <a:pt x="841311" y="0"/>
                  </a:lnTo>
                  <a:close/>
                </a:path>
              </a:pathLst>
            </a:custGeom>
            <a:solidFill>
              <a:srgbClr val="3063A0"/>
            </a:solidFill>
          </p:spPr>
          <p:txBody>
            <a:bodyPr wrap="square" lIns="0" tIns="0" rIns="0" bIns="0" rtlCol="0"/>
            <a:lstStyle/>
            <a:p>
              <a:endParaRPr/>
            </a:p>
          </p:txBody>
        </p:sp>
        <p:sp>
          <p:nvSpPr>
            <p:cNvPr id="13" name="object 13"/>
            <p:cNvSpPr/>
            <p:nvPr/>
          </p:nvSpPr>
          <p:spPr>
            <a:xfrm>
              <a:off x="3259797" y="3436556"/>
              <a:ext cx="1167130" cy="509905"/>
            </a:xfrm>
            <a:custGeom>
              <a:avLst/>
              <a:gdLst/>
              <a:ahLst/>
              <a:cxnLst/>
              <a:rect l="l" t="t" r="r" b="b"/>
              <a:pathLst>
                <a:path w="1167129" h="509904">
                  <a:moveTo>
                    <a:pt x="841311" y="0"/>
                  </a:moveTo>
                  <a:lnTo>
                    <a:pt x="841311" y="162725"/>
                  </a:lnTo>
                  <a:lnTo>
                    <a:pt x="0" y="162725"/>
                  </a:lnTo>
                  <a:lnTo>
                    <a:pt x="0" y="488175"/>
                  </a:lnTo>
                  <a:lnTo>
                    <a:pt x="841311" y="488175"/>
                  </a:lnTo>
                  <a:lnTo>
                    <a:pt x="841311" y="509409"/>
                  </a:lnTo>
                  <a:lnTo>
                    <a:pt x="983157" y="509409"/>
                  </a:lnTo>
                  <a:lnTo>
                    <a:pt x="1167117" y="325450"/>
                  </a:lnTo>
                  <a:lnTo>
                    <a:pt x="841311" y="0"/>
                  </a:lnTo>
                  <a:close/>
                </a:path>
              </a:pathLst>
            </a:custGeom>
            <a:solidFill>
              <a:srgbClr val="3064A2"/>
            </a:solidFill>
          </p:spPr>
          <p:txBody>
            <a:bodyPr wrap="square" lIns="0" tIns="0" rIns="0" bIns="0" rtlCol="0"/>
            <a:lstStyle/>
            <a:p>
              <a:endParaRPr/>
            </a:p>
          </p:txBody>
        </p:sp>
        <p:sp>
          <p:nvSpPr>
            <p:cNvPr id="14" name="object 14"/>
            <p:cNvSpPr/>
            <p:nvPr/>
          </p:nvSpPr>
          <p:spPr>
            <a:xfrm>
              <a:off x="3259797" y="3436556"/>
              <a:ext cx="1167130" cy="481330"/>
            </a:xfrm>
            <a:custGeom>
              <a:avLst/>
              <a:gdLst/>
              <a:ahLst/>
              <a:cxnLst/>
              <a:rect l="l" t="t" r="r" b="b"/>
              <a:pathLst>
                <a:path w="1167129" h="481329">
                  <a:moveTo>
                    <a:pt x="841311" y="0"/>
                  </a:moveTo>
                  <a:lnTo>
                    <a:pt x="841311" y="162725"/>
                  </a:lnTo>
                  <a:lnTo>
                    <a:pt x="0" y="162725"/>
                  </a:lnTo>
                  <a:lnTo>
                    <a:pt x="0" y="480961"/>
                  </a:lnTo>
                  <a:lnTo>
                    <a:pt x="1011605" y="480961"/>
                  </a:lnTo>
                  <a:lnTo>
                    <a:pt x="1167117" y="325450"/>
                  </a:lnTo>
                  <a:lnTo>
                    <a:pt x="841311" y="0"/>
                  </a:lnTo>
                  <a:close/>
                </a:path>
              </a:pathLst>
            </a:custGeom>
            <a:solidFill>
              <a:srgbClr val="3166A5"/>
            </a:solidFill>
          </p:spPr>
          <p:txBody>
            <a:bodyPr wrap="square" lIns="0" tIns="0" rIns="0" bIns="0" rtlCol="0"/>
            <a:lstStyle/>
            <a:p>
              <a:endParaRPr/>
            </a:p>
          </p:txBody>
        </p:sp>
        <p:sp>
          <p:nvSpPr>
            <p:cNvPr id="15" name="object 15"/>
            <p:cNvSpPr/>
            <p:nvPr/>
          </p:nvSpPr>
          <p:spPr>
            <a:xfrm>
              <a:off x="3259797" y="3436556"/>
              <a:ext cx="1167130" cy="453390"/>
            </a:xfrm>
            <a:custGeom>
              <a:avLst/>
              <a:gdLst/>
              <a:ahLst/>
              <a:cxnLst/>
              <a:rect l="l" t="t" r="r" b="b"/>
              <a:pathLst>
                <a:path w="1167129" h="453389">
                  <a:moveTo>
                    <a:pt x="841311" y="0"/>
                  </a:moveTo>
                  <a:lnTo>
                    <a:pt x="841311" y="162725"/>
                  </a:lnTo>
                  <a:lnTo>
                    <a:pt x="0" y="162725"/>
                  </a:lnTo>
                  <a:lnTo>
                    <a:pt x="0" y="452881"/>
                  </a:lnTo>
                  <a:lnTo>
                    <a:pt x="1039685" y="452881"/>
                  </a:lnTo>
                  <a:lnTo>
                    <a:pt x="1167117" y="325450"/>
                  </a:lnTo>
                  <a:lnTo>
                    <a:pt x="841311" y="0"/>
                  </a:lnTo>
                  <a:close/>
                </a:path>
              </a:pathLst>
            </a:custGeom>
            <a:solidFill>
              <a:srgbClr val="3167A7"/>
            </a:solidFill>
          </p:spPr>
          <p:txBody>
            <a:bodyPr wrap="square" lIns="0" tIns="0" rIns="0" bIns="0" rtlCol="0"/>
            <a:lstStyle/>
            <a:p>
              <a:endParaRPr/>
            </a:p>
          </p:txBody>
        </p:sp>
        <p:sp>
          <p:nvSpPr>
            <p:cNvPr id="16" name="object 16"/>
            <p:cNvSpPr/>
            <p:nvPr/>
          </p:nvSpPr>
          <p:spPr>
            <a:xfrm>
              <a:off x="3259797" y="3436556"/>
              <a:ext cx="1167130" cy="424815"/>
            </a:xfrm>
            <a:custGeom>
              <a:avLst/>
              <a:gdLst/>
              <a:ahLst/>
              <a:cxnLst/>
              <a:rect l="l" t="t" r="r" b="b"/>
              <a:pathLst>
                <a:path w="1167129" h="424814">
                  <a:moveTo>
                    <a:pt x="841311" y="0"/>
                  </a:moveTo>
                  <a:lnTo>
                    <a:pt x="841311" y="162725"/>
                  </a:lnTo>
                  <a:lnTo>
                    <a:pt x="0" y="162725"/>
                  </a:lnTo>
                  <a:lnTo>
                    <a:pt x="0" y="424446"/>
                  </a:lnTo>
                  <a:lnTo>
                    <a:pt x="1068120" y="424446"/>
                  </a:lnTo>
                  <a:lnTo>
                    <a:pt x="1167117" y="325450"/>
                  </a:lnTo>
                  <a:lnTo>
                    <a:pt x="841311" y="0"/>
                  </a:lnTo>
                  <a:close/>
                </a:path>
              </a:pathLst>
            </a:custGeom>
            <a:solidFill>
              <a:srgbClr val="3368A9"/>
            </a:solidFill>
          </p:spPr>
          <p:txBody>
            <a:bodyPr wrap="square" lIns="0" tIns="0" rIns="0" bIns="0" rtlCol="0"/>
            <a:lstStyle/>
            <a:p>
              <a:endParaRPr/>
            </a:p>
          </p:txBody>
        </p:sp>
        <p:sp>
          <p:nvSpPr>
            <p:cNvPr id="17" name="object 17"/>
            <p:cNvSpPr/>
            <p:nvPr/>
          </p:nvSpPr>
          <p:spPr>
            <a:xfrm>
              <a:off x="3259797" y="3436556"/>
              <a:ext cx="1167130" cy="396875"/>
            </a:xfrm>
            <a:custGeom>
              <a:avLst/>
              <a:gdLst/>
              <a:ahLst/>
              <a:cxnLst/>
              <a:rect l="l" t="t" r="r" b="b"/>
              <a:pathLst>
                <a:path w="1167129" h="396875">
                  <a:moveTo>
                    <a:pt x="841311" y="0"/>
                  </a:moveTo>
                  <a:lnTo>
                    <a:pt x="841311" y="162725"/>
                  </a:lnTo>
                  <a:lnTo>
                    <a:pt x="0" y="162725"/>
                  </a:lnTo>
                  <a:lnTo>
                    <a:pt x="0" y="396366"/>
                  </a:lnTo>
                  <a:lnTo>
                    <a:pt x="1096200" y="396366"/>
                  </a:lnTo>
                  <a:lnTo>
                    <a:pt x="1167117" y="325450"/>
                  </a:lnTo>
                  <a:lnTo>
                    <a:pt x="841311" y="0"/>
                  </a:lnTo>
                  <a:close/>
                </a:path>
              </a:pathLst>
            </a:custGeom>
            <a:solidFill>
              <a:srgbClr val="3369AB"/>
            </a:solidFill>
          </p:spPr>
          <p:txBody>
            <a:bodyPr wrap="square" lIns="0" tIns="0" rIns="0" bIns="0" rtlCol="0"/>
            <a:lstStyle/>
            <a:p>
              <a:endParaRPr/>
            </a:p>
          </p:txBody>
        </p:sp>
        <p:sp>
          <p:nvSpPr>
            <p:cNvPr id="18" name="object 18"/>
            <p:cNvSpPr/>
            <p:nvPr/>
          </p:nvSpPr>
          <p:spPr>
            <a:xfrm>
              <a:off x="3259797" y="3436556"/>
              <a:ext cx="1167130" cy="368300"/>
            </a:xfrm>
            <a:custGeom>
              <a:avLst/>
              <a:gdLst/>
              <a:ahLst/>
              <a:cxnLst/>
              <a:rect l="l" t="t" r="r" b="b"/>
              <a:pathLst>
                <a:path w="1167129" h="368300">
                  <a:moveTo>
                    <a:pt x="841311" y="0"/>
                  </a:moveTo>
                  <a:lnTo>
                    <a:pt x="841311" y="162725"/>
                  </a:lnTo>
                  <a:lnTo>
                    <a:pt x="0" y="162725"/>
                  </a:lnTo>
                  <a:lnTo>
                    <a:pt x="0" y="367918"/>
                  </a:lnTo>
                  <a:lnTo>
                    <a:pt x="1124648" y="367918"/>
                  </a:lnTo>
                  <a:lnTo>
                    <a:pt x="1167117" y="325450"/>
                  </a:lnTo>
                  <a:lnTo>
                    <a:pt x="841311" y="0"/>
                  </a:lnTo>
                  <a:close/>
                </a:path>
              </a:pathLst>
            </a:custGeom>
            <a:solidFill>
              <a:srgbClr val="336AAD"/>
            </a:solidFill>
          </p:spPr>
          <p:txBody>
            <a:bodyPr wrap="square" lIns="0" tIns="0" rIns="0" bIns="0" rtlCol="0"/>
            <a:lstStyle/>
            <a:p>
              <a:endParaRPr/>
            </a:p>
          </p:txBody>
        </p:sp>
        <p:sp>
          <p:nvSpPr>
            <p:cNvPr id="19" name="object 19"/>
            <p:cNvSpPr/>
            <p:nvPr/>
          </p:nvSpPr>
          <p:spPr>
            <a:xfrm>
              <a:off x="3259797" y="3436556"/>
              <a:ext cx="1167130" cy="339725"/>
            </a:xfrm>
            <a:custGeom>
              <a:avLst/>
              <a:gdLst/>
              <a:ahLst/>
              <a:cxnLst/>
              <a:rect l="l" t="t" r="r" b="b"/>
              <a:pathLst>
                <a:path w="1167129" h="339725">
                  <a:moveTo>
                    <a:pt x="841311" y="0"/>
                  </a:moveTo>
                  <a:lnTo>
                    <a:pt x="841311" y="162725"/>
                  </a:lnTo>
                  <a:lnTo>
                    <a:pt x="0" y="162725"/>
                  </a:lnTo>
                  <a:lnTo>
                    <a:pt x="0" y="339483"/>
                  </a:lnTo>
                  <a:lnTo>
                    <a:pt x="1153083" y="339483"/>
                  </a:lnTo>
                  <a:lnTo>
                    <a:pt x="1167117" y="325450"/>
                  </a:lnTo>
                  <a:lnTo>
                    <a:pt x="841311" y="0"/>
                  </a:lnTo>
                  <a:close/>
                </a:path>
              </a:pathLst>
            </a:custGeom>
            <a:solidFill>
              <a:srgbClr val="346CAF"/>
            </a:solidFill>
          </p:spPr>
          <p:txBody>
            <a:bodyPr wrap="square" lIns="0" tIns="0" rIns="0" bIns="0" rtlCol="0"/>
            <a:lstStyle/>
            <a:p>
              <a:endParaRPr/>
            </a:p>
          </p:txBody>
        </p:sp>
        <p:sp>
          <p:nvSpPr>
            <p:cNvPr id="20" name="object 20"/>
            <p:cNvSpPr/>
            <p:nvPr/>
          </p:nvSpPr>
          <p:spPr>
            <a:xfrm>
              <a:off x="3259797" y="3436556"/>
              <a:ext cx="1153160" cy="311785"/>
            </a:xfrm>
            <a:custGeom>
              <a:avLst/>
              <a:gdLst/>
              <a:ahLst/>
              <a:cxnLst/>
              <a:rect l="l" t="t" r="r" b="b"/>
              <a:pathLst>
                <a:path w="1153160" h="311785">
                  <a:moveTo>
                    <a:pt x="841311" y="0"/>
                  </a:moveTo>
                  <a:lnTo>
                    <a:pt x="841311" y="162725"/>
                  </a:lnTo>
                  <a:lnTo>
                    <a:pt x="0" y="162725"/>
                  </a:lnTo>
                  <a:lnTo>
                    <a:pt x="0" y="311403"/>
                  </a:lnTo>
                  <a:lnTo>
                    <a:pt x="1153055" y="311403"/>
                  </a:lnTo>
                  <a:lnTo>
                    <a:pt x="841311" y="0"/>
                  </a:lnTo>
                  <a:close/>
                </a:path>
              </a:pathLst>
            </a:custGeom>
            <a:solidFill>
              <a:srgbClr val="356DB1"/>
            </a:solidFill>
          </p:spPr>
          <p:txBody>
            <a:bodyPr wrap="square" lIns="0" tIns="0" rIns="0" bIns="0" rtlCol="0"/>
            <a:lstStyle/>
            <a:p>
              <a:endParaRPr/>
            </a:p>
          </p:txBody>
        </p:sp>
        <p:sp>
          <p:nvSpPr>
            <p:cNvPr id="21" name="object 21"/>
            <p:cNvSpPr/>
            <p:nvPr/>
          </p:nvSpPr>
          <p:spPr>
            <a:xfrm>
              <a:off x="3259797" y="3436556"/>
              <a:ext cx="1124585" cy="283210"/>
            </a:xfrm>
            <a:custGeom>
              <a:avLst/>
              <a:gdLst/>
              <a:ahLst/>
              <a:cxnLst/>
              <a:rect l="l" t="t" r="r" b="b"/>
              <a:pathLst>
                <a:path w="1124585" h="283210">
                  <a:moveTo>
                    <a:pt x="841311" y="0"/>
                  </a:moveTo>
                  <a:lnTo>
                    <a:pt x="841311" y="162725"/>
                  </a:lnTo>
                  <a:lnTo>
                    <a:pt x="0" y="162725"/>
                  </a:lnTo>
                  <a:lnTo>
                    <a:pt x="0" y="282968"/>
                  </a:lnTo>
                  <a:lnTo>
                    <a:pt x="1124587" y="282968"/>
                  </a:lnTo>
                  <a:lnTo>
                    <a:pt x="841311" y="0"/>
                  </a:lnTo>
                  <a:close/>
                </a:path>
              </a:pathLst>
            </a:custGeom>
            <a:solidFill>
              <a:srgbClr val="356EB3"/>
            </a:solidFill>
          </p:spPr>
          <p:txBody>
            <a:bodyPr wrap="square" lIns="0" tIns="0" rIns="0" bIns="0" rtlCol="0"/>
            <a:lstStyle/>
            <a:p>
              <a:endParaRPr/>
            </a:p>
          </p:txBody>
        </p:sp>
        <p:sp>
          <p:nvSpPr>
            <p:cNvPr id="22" name="object 22"/>
            <p:cNvSpPr/>
            <p:nvPr/>
          </p:nvSpPr>
          <p:spPr>
            <a:xfrm>
              <a:off x="3259797" y="3436556"/>
              <a:ext cx="1096645" cy="254635"/>
            </a:xfrm>
            <a:custGeom>
              <a:avLst/>
              <a:gdLst/>
              <a:ahLst/>
              <a:cxnLst/>
              <a:rect l="l" t="t" r="r" b="b"/>
              <a:pathLst>
                <a:path w="1096645" h="254635">
                  <a:moveTo>
                    <a:pt x="841311" y="0"/>
                  </a:moveTo>
                  <a:lnTo>
                    <a:pt x="841311" y="162725"/>
                  </a:lnTo>
                  <a:lnTo>
                    <a:pt x="0" y="162725"/>
                  </a:lnTo>
                  <a:lnTo>
                    <a:pt x="0" y="254520"/>
                  </a:lnTo>
                  <a:lnTo>
                    <a:pt x="1096107" y="254520"/>
                  </a:lnTo>
                  <a:lnTo>
                    <a:pt x="841311" y="0"/>
                  </a:lnTo>
                  <a:close/>
                </a:path>
              </a:pathLst>
            </a:custGeom>
            <a:solidFill>
              <a:srgbClr val="366FB5"/>
            </a:solidFill>
          </p:spPr>
          <p:txBody>
            <a:bodyPr wrap="square" lIns="0" tIns="0" rIns="0" bIns="0" rtlCol="0"/>
            <a:lstStyle/>
            <a:p>
              <a:endParaRPr/>
            </a:p>
          </p:txBody>
        </p:sp>
        <p:sp>
          <p:nvSpPr>
            <p:cNvPr id="23" name="object 23"/>
            <p:cNvSpPr/>
            <p:nvPr/>
          </p:nvSpPr>
          <p:spPr>
            <a:xfrm>
              <a:off x="3259797" y="3436556"/>
              <a:ext cx="1068070" cy="226695"/>
            </a:xfrm>
            <a:custGeom>
              <a:avLst/>
              <a:gdLst/>
              <a:ahLst/>
              <a:cxnLst/>
              <a:rect l="l" t="t" r="r" b="b"/>
              <a:pathLst>
                <a:path w="1068070" h="226695">
                  <a:moveTo>
                    <a:pt x="841311" y="0"/>
                  </a:moveTo>
                  <a:lnTo>
                    <a:pt x="841311" y="162725"/>
                  </a:lnTo>
                  <a:lnTo>
                    <a:pt x="0" y="162725"/>
                  </a:lnTo>
                  <a:lnTo>
                    <a:pt x="0" y="226440"/>
                  </a:lnTo>
                  <a:lnTo>
                    <a:pt x="1067996" y="226440"/>
                  </a:lnTo>
                  <a:lnTo>
                    <a:pt x="841311" y="0"/>
                  </a:lnTo>
                  <a:close/>
                </a:path>
              </a:pathLst>
            </a:custGeom>
            <a:solidFill>
              <a:srgbClr val="3770B7"/>
            </a:solidFill>
          </p:spPr>
          <p:txBody>
            <a:bodyPr wrap="square" lIns="0" tIns="0" rIns="0" bIns="0" rtlCol="0"/>
            <a:lstStyle/>
            <a:p>
              <a:endParaRPr/>
            </a:p>
          </p:txBody>
        </p:sp>
        <p:sp>
          <p:nvSpPr>
            <p:cNvPr id="24" name="object 24"/>
            <p:cNvSpPr/>
            <p:nvPr/>
          </p:nvSpPr>
          <p:spPr>
            <a:xfrm>
              <a:off x="3259797" y="3436556"/>
              <a:ext cx="1040130" cy="198120"/>
            </a:xfrm>
            <a:custGeom>
              <a:avLst/>
              <a:gdLst/>
              <a:ahLst/>
              <a:cxnLst/>
              <a:rect l="l" t="t" r="r" b="b"/>
              <a:pathLst>
                <a:path w="1040129" h="198120">
                  <a:moveTo>
                    <a:pt x="841311" y="0"/>
                  </a:moveTo>
                  <a:lnTo>
                    <a:pt x="841311" y="162725"/>
                  </a:lnTo>
                  <a:lnTo>
                    <a:pt x="0" y="162725"/>
                  </a:lnTo>
                  <a:lnTo>
                    <a:pt x="0" y="198005"/>
                  </a:lnTo>
                  <a:lnTo>
                    <a:pt x="1039528" y="198005"/>
                  </a:lnTo>
                  <a:lnTo>
                    <a:pt x="841311" y="0"/>
                  </a:lnTo>
                  <a:close/>
                </a:path>
              </a:pathLst>
            </a:custGeom>
            <a:solidFill>
              <a:srgbClr val="3772B9"/>
            </a:solidFill>
          </p:spPr>
          <p:txBody>
            <a:bodyPr wrap="square" lIns="0" tIns="0" rIns="0" bIns="0" rtlCol="0"/>
            <a:lstStyle/>
            <a:p>
              <a:endParaRPr/>
            </a:p>
          </p:txBody>
        </p:sp>
        <p:sp>
          <p:nvSpPr>
            <p:cNvPr id="25" name="object 25"/>
            <p:cNvSpPr/>
            <p:nvPr/>
          </p:nvSpPr>
          <p:spPr>
            <a:xfrm>
              <a:off x="3259797" y="3436556"/>
              <a:ext cx="1011555" cy="170180"/>
            </a:xfrm>
            <a:custGeom>
              <a:avLst/>
              <a:gdLst/>
              <a:ahLst/>
              <a:cxnLst/>
              <a:rect l="l" t="t" r="r" b="b"/>
              <a:pathLst>
                <a:path w="1011554" h="170179">
                  <a:moveTo>
                    <a:pt x="841311" y="0"/>
                  </a:moveTo>
                  <a:lnTo>
                    <a:pt x="841311" y="162725"/>
                  </a:lnTo>
                  <a:lnTo>
                    <a:pt x="0" y="162725"/>
                  </a:lnTo>
                  <a:lnTo>
                    <a:pt x="0" y="169925"/>
                  </a:lnTo>
                  <a:lnTo>
                    <a:pt x="1011417" y="169925"/>
                  </a:lnTo>
                  <a:lnTo>
                    <a:pt x="841311" y="0"/>
                  </a:lnTo>
                  <a:close/>
                </a:path>
              </a:pathLst>
            </a:custGeom>
            <a:solidFill>
              <a:srgbClr val="3873BC"/>
            </a:solidFill>
          </p:spPr>
          <p:txBody>
            <a:bodyPr wrap="square" lIns="0" tIns="0" rIns="0" bIns="0" rtlCol="0"/>
            <a:lstStyle/>
            <a:p>
              <a:endParaRPr/>
            </a:p>
          </p:txBody>
        </p:sp>
        <p:pic>
          <p:nvPicPr>
            <p:cNvPr id="26" name="object 26"/>
            <p:cNvPicPr/>
            <p:nvPr/>
          </p:nvPicPr>
          <p:blipFill>
            <a:blip r:embed="rId4" cstate="print"/>
            <a:stretch>
              <a:fillRect/>
            </a:stretch>
          </p:blipFill>
          <p:spPr>
            <a:xfrm>
              <a:off x="4101109" y="3436556"/>
              <a:ext cx="141625" cy="141477"/>
            </a:xfrm>
            <a:prstGeom prst="rect">
              <a:avLst/>
            </a:prstGeom>
          </p:spPr>
        </p:pic>
        <p:sp>
          <p:nvSpPr>
            <p:cNvPr id="27" name="object 27"/>
            <p:cNvSpPr/>
            <p:nvPr/>
          </p:nvSpPr>
          <p:spPr>
            <a:xfrm>
              <a:off x="3259797" y="3436556"/>
              <a:ext cx="1167130" cy="651510"/>
            </a:xfrm>
            <a:custGeom>
              <a:avLst/>
              <a:gdLst/>
              <a:ahLst/>
              <a:cxnLst/>
              <a:rect l="l" t="t" r="r" b="b"/>
              <a:pathLst>
                <a:path w="1167129" h="651510">
                  <a:moveTo>
                    <a:pt x="0" y="162725"/>
                  </a:moveTo>
                  <a:lnTo>
                    <a:pt x="841324" y="162725"/>
                  </a:lnTo>
                  <a:lnTo>
                    <a:pt x="841324" y="0"/>
                  </a:lnTo>
                  <a:lnTo>
                    <a:pt x="1167117" y="325437"/>
                  </a:lnTo>
                  <a:lnTo>
                    <a:pt x="841324" y="651243"/>
                  </a:lnTo>
                  <a:lnTo>
                    <a:pt x="841324" y="488162"/>
                  </a:lnTo>
                  <a:lnTo>
                    <a:pt x="0" y="488162"/>
                  </a:lnTo>
                  <a:lnTo>
                    <a:pt x="0" y="162725"/>
                  </a:lnTo>
                  <a:close/>
                </a:path>
              </a:pathLst>
            </a:custGeom>
            <a:ln w="9359">
              <a:solidFill>
                <a:srgbClr val="27799D"/>
              </a:solidFill>
            </a:ln>
          </p:spPr>
          <p:txBody>
            <a:bodyPr wrap="square" lIns="0" tIns="0" rIns="0" bIns="0" rtlCol="0"/>
            <a:lstStyle/>
            <a:p>
              <a:endParaRPr/>
            </a:p>
          </p:txBody>
        </p:sp>
      </p:grpSp>
      <p:pic>
        <p:nvPicPr>
          <p:cNvPr id="28" name="object 28"/>
          <p:cNvPicPr/>
          <p:nvPr/>
        </p:nvPicPr>
        <p:blipFill>
          <a:blip r:embed="rId5" cstate="print"/>
          <a:stretch>
            <a:fillRect/>
          </a:stretch>
        </p:blipFill>
        <p:spPr>
          <a:xfrm>
            <a:off x="4535995" y="1061999"/>
            <a:ext cx="3829316" cy="5416194"/>
          </a:xfrm>
          <a:prstGeom prst="rect">
            <a:avLst/>
          </a:prstGeom>
        </p:spPr>
      </p:pic>
      <p:sp>
        <p:nvSpPr>
          <p:cNvPr id="29" name="object 29" descr="$PPTXTitle"/>
          <p:cNvSpPr txBox="1">
            <a:spLocks noGrp="1"/>
          </p:cNvSpPr>
          <p:nvPr>
            <p:ph type="title"/>
          </p:nvPr>
        </p:nvSpPr>
        <p:spPr>
          <a:prstGeom prst="rect">
            <a:avLst/>
          </a:prstGeom>
        </p:spPr>
        <p:txBody>
          <a:bodyPr vert="horz" wrap="square" lIns="0" tIns="181178" rIns="0" bIns="0" rtlCol="0">
            <a:spAutoFit/>
          </a:bodyPr>
          <a:lstStyle/>
          <a:p>
            <a:pPr marL="12700">
              <a:lnSpc>
                <a:spcPct val="100000"/>
              </a:lnSpc>
              <a:spcBef>
                <a:spcPts val="100"/>
              </a:spcBef>
            </a:pPr>
            <a:r>
              <a:rPr dirty="0">
                <a:solidFill>
                  <a:srgbClr val="BF0025"/>
                </a:solidFill>
              </a:rPr>
              <a:t>E</a:t>
            </a:r>
            <a:r>
              <a:rPr spc="-15" dirty="0">
                <a:solidFill>
                  <a:srgbClr val="BF0025"/>
                </a:solidFill>
              </a:rPr>
              <a:t> </a:t>
            </a:r>
            <a:r>
              <a:rPr spc="-10" dirty="0">
                <a:solidFill>
                  <a:srgbClr val="BF0025"/>
                </a:solidFill>
              </a:rPr>
              <a:t>evoluiu...</a:t>
            </a:r>
          </a:p>
        </p:txBody>
      </p:sp>
      <p:sp>
        <p:nvSpPr>
          <p:cNvPr id="31" name="Text Placeholder 30">
            <a:extLst>
              <a:ext uri="{FF2B5EF4-FFF2-40B4-BE49-F238E27FC236}">
                <a16:creationId xmlns:a16="http://schemas.microsoft.com/office/drawing/2014/main" id="{AB7E4EB5-9810-0AEF-91EC-869BA1A060EC}"/>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58797" y="12"/>
            <a:ext cx="7567295" cy="6772909"/>
            <a:chOff x="1558797" y="12"/>
            <a:chExt cx="7567295" cy="6772909"/>
          </a:xfrm>
        </p:grpSpPr>
        <p:pic>
          <p:nvPicPr>
            <p:cNvPr id="3" name="object 3"/>
            <p:cNvPicPr/>
            <p:nvPr/>
          </p:nvPicPr>
          <p:blipFill>
            <a:blip r:embed="rId2" cstate="print"/>
            <a:stretch>
              <a:fillRect/>
            </a:stretch>
          </p:blipFill>
          <p:spPr>
            <a:xfrm>
              <a:off x="7414878" y="12"/>
              <a:ext cx="1711125" cy="6772298"/>
            </a:xfrm>
            <a:prstGeom prst="rect">
              <a:avLst/>
            </a:prstGeom>
          </p:spPr>
        </p:pic>
        <p:pic>
          <p:nvPicPr>
            <p:cNvPr id="4" name="object 4"/>
            <p:cNvPicPr/>
            <p:nvPr/>
          </p:nvPicPr>
          <p:blipFill>
            <a:blip r:embed="rId3" cstate="print"/>
            <a:stretch>
              <a:fillRect/>
            </a:stretch>
          </p:blipFill>
          <p:spPr>
            <a:xfrm>
              <a:off x="1558797" y="1587245"/>
              <a:ext cx="6022797" cy="4548593"/>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181178" rIns="0" bIns="0" rtlCol="0">
            <a:spAutoFit/>
          </a:bodyPr>
          <a:lstStyle/>
          <a:p>
            <a:pPr marL="2131060">
              <a:lnSpc>
                <a:spcPct val="100000"/>
              </a:lnSpc>
              <a:spcBef>
                <a:spcPts val="100"/>
              </a:spcBef>
            </a:pPr>
            <a:r>
              <a:rPr dirty="0">
                <a:solidFill>
                  <a:srgbClr val="BF0025"/>
                </a:solidFill>
              </a:rPr>
              <a:t>E</a:t>
            </a:r>
            <a:r>
              <a:rPr spc="-40" dirty="0">
                <a:solidFill>
                  <a:srgbClr val="BF0025"/>
                </a:solidFill>
              </a:rPr>
              <a:t> </a:t>
            </a:r>
            <a:r>
              <a:rPr dirty="0">
                <a:solidFill>
                  <a:srgbClr val="BF0025"/>
                </a:solidFill>
              </a:rPr>
              <a:t>continua</a:t>
            </a:r>
            <a:r>
              <a:rPr spc="-30" dirty="0">
                <a:solidFill>
                  <a:srgbClr val="BF0025"/>
                </a:solidFill>
              </a:rPr>
              <a:t> </a:t>
            </a:r>
            <a:r>
              <a:rPr spc="-20" dirty="0">
                <a:solidFill>
                  <a:srgbClr val="BF0025"/>
                </a:solidFill>
              </a:rPr>
              <a:t>evoluir...</a:t>
            </a:r>
          </a:p>
        </p:txBody>
      </p:sp>
      <p:sp>
        <p:nvSpPr>
          <p:cNvPr id="7" name="Text Placeholder 6">
            <a:extLst>
              <a:ext uri="{FF2B5EF4-FFF2-40B4-BE49-F238E27FC236}">
                <a16:creationId xmlns:a16="http://schemas.microsoft.com/office/drawing/2014/main" id="{745558C3-7870-43FC-10AC-423406FE3D67}"/>
              </a:ext>
            </a:extLst>
          </p:cNvPr>
          <p:cNvSpPr>
            <a:spLocks noGrp="1"/>
          </p:cNvSpPr>
          <p:nvPr>
            <p:ph type="body" sz="quarter" idx="13"/>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prstGeom prst="rect">
            <a:avLst/>
          </a:prstGeom>
        </p:spPr>
        <p:txBody>
          <a:bodyPr vert="horz" wrap="square" lIns="0" tIns="181178" rIns="0" bIns="0" rtlCol="0">
            <a:spAutoFit/>
          </a:bodyPr>
          <a:lstStyle/>
          <a:p>
            <a:pPr marL="2131060">
              <a:lnSpc>
                <a:spcPct val="100000"/>
              </a:lnSpc>
              <a:spcBef>
                <a:spcPts val="100"/>
              </a:spcBef>
            </a:pPr>
            <a:r>
              <a:rPr dirty="0">
                <a:solidFill>
                  <a:srgbClr val="BF0025"/>
                </a:solidFill>
              </a:rPr>
              <a:t>E</a:t>
            </a:r>
            <a:r>
              <a:rPr spc="-40" dirty="0">
                <a:solidFill>
                  <a:srgbClr val="BF0025"/>
                </a:solidFill>
              </a:rPr>
              <a:t> </a:t>
            </a:r>
            <a:r>
              <a:rPr dirty="0">
                <a:solidFill>
                  <a:srgbClr val="BF0025"/>
                </a:solidFill>
              </a:rPr>
              <a:t>continua</a:t>
            </a:r>
            <a:r>
              <a:rPr spc="-30" dirty="0">
                <a:solidFill>
                  <a:srgbClr val="BF0025"/>
                </a:solidFill>
              </a:rPr>
              <a:t> </a:t>
            </a:r>
            <a:r>
              <a:rPr spc="-20" dirty="0">
                <a:solidFill>
                  <a:srgbClr val="BF0025"/>
                </a:solidFill>
              </a:rPr>
              <a:t>evoluir...</a:t>
            </a:r>
          </a:p>
        </p:txBody>
      </p:sp>
      <p:sp>
        <p:nvSpPr>
          <p:cNvPr id="7" name="Text Placeholder 6">
            <a:extLst>
              <a:ext uri="{FF2B5EF4-FFF2-40B4-BE49-F238E27FC236}">
                <a16:creationId xmlns:a16="http://schemas.microsoft.com/office/drawing/2014/main" id="{547C718B-7002-EF01-2EF6-66755E43CFE6}"/>
              </a:ext>
            </a:extLst>
          </p:cNvPr>
          <p:cNvSpPr>
            <a:spLocks noGrp="1"/>
          </p:cNvSpPr>
          <p:nvPr>
            <p:ph type="body" sz="quarter" idx="13"/>
          </p:nvPr>
        </p:nvSpPr>
        <p:spPr/>
        <p:txBody>
          <a:bodyPr/>
          <a:lstStyle/>
          <a:p>
            <a:endParaRPr lang="en-US"/>
          </a:p>
        </p:txBody>
      </p:sp>
      <p:pic>
        <p:nvPicPr>
          <p:cNvPr id="11" name="Picture 10" descr="Pode ser um gráfico de texto que diz &quot;52 YEARS OF MICROPROCESSOR REVOLUTION From 2,300 Transistors to 25 Billion Transistors The Power of Moore's Law 1971 INTEL 4004 The World's First Microprocessor 2023 m3 Built for the Future 酒原. 武讓.2. CHLari: 52 YEARS OF INNOVATION Transistors 2,300 Process ProcessTechnology Technology 10 MICRON O ~25 BILLION Transistors Year 1971 Process ProcessTechnology Technology 3 NANOMETRE Year 2023&quot;">
            <a:extLst>
              <a:ext uri="{FF2B5EF4-FFF2-40B4-BE49-F238E27FC236}">
                <a16:creationId xmlns:a16="http://schemas.microsoft.com/office/drawing/2014/main" id="{2ED8F250-31C7-B98D-1E05-88937382CE82}"/>
              </a:ext>
            </a:extLst>
          </p:cNvPr>
          <p:cNvPicPr>
            <a:picLocks noChangeAspect="1"/>
          </p:cNvPicPr>
          <p:nvPr/>
        </p:nvPicPr>
        <p:blipFill>
          <a:blip r:embed="rId2"/>
          <a:srcRect t="35866"/>
          <a:stretch>
            <a:fillRect/>
          </a:stretch>
        </p:blipFill>
        <p:spPr>
          <a:xfrm>
            <a:off x="1214847" y="1571223"/>
            <a:ext cx="6714305" cy="46689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14740" y="2355735"/>
            <a:ext cx="5764530" cy="2401570"/>
          </a:xfrm>
          <a:prstGeom prst="rect">
            <a:avLst/>
          </a:prstGeom>
        </p:spPr>
        <p:txBody>
          <a:bodyPr vert="horz" wrap="square" lIns="0" tIns="12700" rIns="0" bIns="0" rtlCol="0">
            <a:spAutoFit/>
          </a:bodyPr>
          <a:lstStyle/>
          <a:p>
            <a:pPr marL="1270" algn="ctr">
              <a:lnSpc>
                <a:spcPct val="100000"/>
              </a:lnSpc>
              <a:spcBef>
                <a:spcPts val="100"/>
              </a:spcBef>
            </a:pPr>
            <a:r>
              <a:rPr sz="2600" dirty="0">
                <a:latin typeface="Arial MT"/>
                <a:cs typeface="Arial MT"/>
              </a:rPr>
              <a:t>1965</a:t>
            </a:r>
            <a:r>
              <a:rPr sz="2600" spc="-40" dirty="0">
                <a:latin typeface="Arial MT"/>
                <a:cs typeface="Arial MT"/>
              </a:rPr>
              <a:t> </a:t>
            </a:r>
            <a:r>
              <a:rPr sz="2600" dirty="0">
                <a:latin typeface="Arial MT"/>
                <a:cs typeface="Arial MT"/>
              </a:rPr>
              <a:t>–</a:t>
            </a:r>
            <a:r>
              <a:rPr sz="2600" spc="-40" dirty="0">
                <a:latin typeface="Arial MT"/>
                <a:cs typeface="Arial MT"/>
              </a:rPr>
              <a:t> </a:t>
            </a:r>
            <a:r>
              <a:rPr sz="2600" dirty="0">
                <a:latin typeface="Arial MT"/>
                <a:cs typeface="Arial MT"/>
              </a:rPr>
              <a:t>Lei</a:t>
            </a:r>
            <a:r>
              <a:rPr sz="2600" spc="-40" dirty="0">
                <a:latin typeface="Arial MT"/>
                <a:cs typeface="Arial MT"/>
              </a:rPr>
              <a:t> </a:t>
            </a:r>
            <a:r>
              <a:rPr sz="2600" dirty="0">
                <a:latin typeface="Arial MT"/>
                <a:cs typeface="Arial MT"/>
              </a:rPr>
              <a:t>de</a:t>
            </a:r>
            <a:r>
              <a:rPr sz="2600" spc="-40" dirty="0">
                <a:latin typeface="Arial MT"/>
                <a:cs typeface="Arial MT"/>
              </a:rPr>
              <a:t> </a:t>
            </a:r>
            <a:r>
              <a:rPr sz="2600" spc="-20" dirty="0">
                <a:latin typeface="Arial MT"/>
                <a:cs typeface="Arial MT"/>
              </a:rPr>
              <a:t>Moore</a:t>
            </a:r>
            <a:endParaRPr sz="2600">
              <a:latin typeface="Arial MT"/>
              <a:cs typeface="Arial MT"/>
            </a:endParaRPr>
          </a:p>
          <a:p>
            <a:pPr>
              <a:lnSpc>
                <a:spcPct val="100000"/>
              </a:lnSpc>
              <a:spcBef>
                <a:spcPts val="125"/>
              </a:spcBef>
            </a:pPr>
            <a:endParaRPr sz="2600">
              <a:latin typeface="Arial MT"/>
              <a:cs typeface="Arial MT"/>
            </a:endParaRPr>
          </a:p>
          <a:p>
            <a:pPr marL="12700" marR="5080" algn="ctr">
              <a:lnSpc>
                <a:spcPct val="100000"/>
              </a:lnSpc>
            </a:pPr>
            <a:r>
              <a:rPr sz="2600" i="1" dirty="0">
                <a:latin typeface="Arial"/>
                <a:cs typeface="Arial"/>
              </a:rPr>
              <a:t>“Moore's</a:t>
            </a:r>
            <a:r>
              <a:rPr sz="2600" i="1" spc="-45" dirty="0">
                <a:latin typeface="Arial"/>
                <a:cs typeface="Arial"/>
              </a:rPr>
              <a:t> </a:t>
            </a:r>
            <a:r>
              <a:rPr sz="2600" i="1" dirty="0">
                <a:latin typeface="Arial"/>
                <a:cs typeface="Arial"/>
              </a:rPr>
              <a:t>law</a:t>
            </a:r>
            <a:r>
              <a:rPr sz="2600" i="1" spc="-45" dirty="0">
                <a:latin typeface="Arial"/>
                <a:cs typeface="Arial"/>
              </a:rPr>
              <a:t> </a:t>
            </a:r>
            <a:r>
              <a:rPr sz="2600" i="1" dirty="0">
                <a:latin typeface="Arial"/>
                <a:cs typeface="Arial"/>
              </a:rPr>
              <a:t>is</a:t>
            </a:r>
            <a:r>
              <a:rPr sz="2600" i="1" spc="-45" dirty="0">
                <a:latin typeface="Arial"/>
                <a:cs typeface="Arial"/>
              </a:rPr>
              <a:t> </a:t>
            </a:r>
            <a:r>
              <a:rPr sz="2600" i="1" dirty="0">
                <a:latin typeface="Arial"/>
                <a:cs typeface="Arial"/>
              </a:rPr>
              <a:t>the</a:t>
            </a:r>
            <a:r>
              <a:rPr sz="2600" i="1" spc="-50" dirty="0">
                <a:latin typeface="Arial"/>
                <a:cs typeface="Arial"/>
              </a:rPr>
              <a:t> </a:t>
            </a:r>
            <a:r>
              <a:rPr sz="2600" i="1" dirty="0">
                <a:latin typeface="Arial"/>
                <a:cs typeface="Arial"/>
              </a:rPr>
              <a:t>observation</a:t>
            </a:r>
            <a:r>
              <a:rPr sz="2600" i="1" spc="-50" dirty="0">
                <a:latin typeface="Arial"/>
                <a:cs typeface="Arial"/>
              </a:rPr>
              <a:t> </a:t>
            </a:r>
            <a:r>
              <a:rPr sz="2600" i="1" dirty="0">
                <a:latin typeface="Arial"/>
                <a:cs typeface="Arial"/>
              </a:rPr>
              <a:t>that</a:t>
            </a:r>
            <a:r>
              <a:rPr sz="2600" i="1" spc="-50" dirty="0">
                <a:latin typeface="Arial"/>
                <a:cs typeface="Arial"/>
              </a:rPr>
              <a:t> </a:t>
            </a:r>
            <a:r>
              <a:rPr sz="2600" i="1" spc="-25" dirty="0">
                <a:latin typeface="Arial"/>
                <a:cs typeface="Arial"/>
              </a:rPr>
              <a:t>the </a:t>
            </a:r>
            <a:r>
              <a:rPr sz="2600" i="1" dirty="0">
                <a:latin typeface="Arial"/>
                <a:cs typeface="Arial"/>
              </a:rPr>
              <a:t>number</a:t>
            </a:r>
            <a:r>
              <a:rPr sz="2600" i="1" spc="-45" dirty="0">
                <a:latin typeface="Arial"/>
                <a:cs typeface="Arial"/>
              </a:rPr>
              <a:t> </a:t>
            </a:r>
            <a:r>
              <a:rPr sz="2600" i="1" dirty="0">
                <a:latin typeface="Arial"/>
                <a:cs typeface="Arial"/>
              </a:rPr>
              <a:t>of</a:t>
            </a:r>
            <a:r>
              <a:rPr sz="2600" i="1" spc="-40" dirty="0">
                <a:latin typeface="Arial"/>
                <a:cs typeface="Arial"/>
              </a:rPr>
              <a:t> </a:t>
            </a:r>
            <a:r>
              <a:rPr sz="2600" i="1" spc="-10" dirty="0">
                <a:latin typeface="Arial"/>
                <a:cs typeface="Arial"/>
              </a:rPr>
              <a:t>transistors</a:t>
            </a:r>
            <a:endParaRPr sz="2600">
              <a:latin typeface="Arial"/>
              <a:cs typeface="Arial"/>
            </a:endParaRPr>
          </a:p>
          <a:p>
            <a:pPr marL="235585" marR="229870" algn="ctr">
              <a:lnSpc>
                <a:spcPts val="3120"/>
              </a:lnSpc>
              <a:spcBef>
                <a:spcPts val="95"/>
              </a:spcBef>
            </a:pPr>
            <a:r>
              <a:rPr sz="2600" i="1" dirty="0">
                <a:latin typeface="Arial"/>
                <a:cs typeface="Arial"/>
              </a:rPr>
              <a:t>in</a:t>
            </a:r>
            <a:r>
              <a:rPr sz="2600" i="1" spc="-55" dirty="0">
                <a:latin typeface="Arial"/>
                <a:cs typeface="Arial"/>
              </a:rPr>
              <a:t> </a:t>
            </a:r>
            <a:r>
              <a:rPr sz="2600" i="1" dirty="0">
                <a:latin typeface="Arial"/>
                <a:cs typeface="Arial"/>
              </a:rPr>
              <a:t>a</a:t>
            </a:r>
            <a:r>
              <a:rPr sz="2600" i="1" spc="-50" dirty="0">
                <a:latin typeface="Arial"/>
                <a:cs typeface="Arial"/>
              </a:rPr>
              <a:t> </a:t>
            </a:r>
            <a:r>
              <a:rPr sz="2600" i="1" dirty="0">
                <a:latin typeface="Arial"/>
                <a:cs typeface="Arial"/>
              </a:rPr>
              <a:t>dense</a:t>
            </a:r>
            <a:r>
              <a:rPr sz="2600" i="1" spc="-50" dirty="0">
                <a:latin typeface="Arial"/>
                <a:cs typeface="Arial"/>
              </a:rPr>
              <a:t> </a:t>
            </a:r>
            <a:r>
              <a:rPr sz="2600" i="1" dirty="0">
                <a:latin typeface="Arial"/>
                <a:cs typeface="Arial"/>
              </a:rPr>
              <a:t>integrated</a:t>
            </a:r>
            <a:r>
              <a:rPr sz="2600" i="1" spc="-55" dirty="0">
                <a:latin typeface="Arial"/>
                <a:cs typeface="Arial"/>
              </a:rPr>
              <a:t> </a:t>
            </a:r>
            <a:r>
              <a:rPr sz="2600" i="1" dirty="0">
                <a:latin typeface="Arial"/>
                <a:cs typeface="Arial"/>
              </a:rPr>
              <a:t>circuit</a:t>
            </a:r>
            <a:r>
              <a:rPr sz="2600" i="1" spc="-50" dirty="0">
                <a:latin typeface="Arial"/>
                <a:cs typeface="Arial"/>
              </a:rPr>
              <a:t> </a:t>
            </a:r>
            <a:r>
              <a:rPr sz="2600" i="1" spc="-10" dirty="0">
                <a:latin typeface="Arial"/>
                <a:cs typeface="Arial"/>
              </a:rPr>
              <a:t>doubles </a:t>
            </a:r>
            <a:r>
              <a:rPr sz="2600" i="1" dirty="0">
                <a:latin typeface="Arial"/>
                <a:cs typeface="Arial"/>
              </a:rPr>
              <a:t>approximately</a:t>
            </a:r>
            <a:r>
              <a:rPr sz="2600" i="1" spc="-55" dirty="0">
                <a:latin typeface="Arial"/>
                <a:cs typeface="Arial"/>
              </a:rPr>
              <a:t> </a:t>
            </a:r>
            <a:r>
              <a:rPr sz="2600" i="1" dirty="0">
                <a:latin typeface="Arial"/>
                <a:cs typeface="Arial"/>
              </a:rPr>
              <a:t>every</a:t>
            </a:r>
            <a:r>
              <a:rPr sz="2600" i="1" spc="-50" dirty="0">
                <a:latin typeface="Arial"/>
                <a:cs typeface="Arial"/>
              </a:rPr>
              <a:t> </a:t>
            </a:r>
            <a:r>
              <a:rPr sz="2600" i="1" dirty="0">
                <a:latin typeface="Arial"/>
                <a:cs typeface="Arial"/>
              </a:rPr>
              <a:t>two</a:t>
            </a:r>
            <a:r>
              <a:rPr sz="2600" i="1" spc="-55" dirty="0">
                <a:latin typeface="Arial"/>
                <a:cs typeface="Arial"/>
              </a:rPr>
              <a:t> </a:t>
            </a:r>
            <a:r>
              <a:rPr sz="2600" i="1" spc="-10" dirty="0">
                <a:latin typeface="Arial"/>
                <a:cs typeface="Arial"/>
              </a:rPr>
              <a:t>years.“</a:t>
            </a:r>
            <a:endParaRPr sz="2600">
              <a:latin typeface="Arial"/>
              <a:cs typeface="Arial"/>
            </a:endParaRPr>
          </a:p>
        </p:txBody>
      </p:sp>
      <p:sp>
        <p:nvSpPr>
          <p:cNvPr id="3" name="object 3" descr="$PPTXTitle"/>
          <p:cNvSpPr txBox="1">
            <a:spLocks noGrp="1"/>
          </p:cNvSpPr>
          <p:nvPr>
            <p:ph type="title"/>
          </p:nvPr>
        </p:nvSpPr>
        <p:spPr>
          <a:prstGeom prst="rect">
            <a:avLst/>
          </a:prstGeom>
        </p:spPr>
        <p:txBody>
          <a:bodyPr vert="horz" wrap="square" lIns="0" tIns="181178" rIns="0" bIns="0" rtlCol="0">
            <a:spAutoFit/>
          </a:bodyPr>
          <a:lstStyle/>
          <a:p>
            <a:pPr marL="1545590">
              <a:lnSpc>
                <a:spcPct val="100000"/>
              </a:lnSpc>
              <a:spcBef>
                <a:spcPts val="100"/>
              </a:spcBef>
            </a:pPr>
            <a:r>
              <a:rPr dirty="0">
                <a:solidFill>
                  <a:srgbClr val="BF0025"/>
                </a:solidFill>
              </a:rPr>
              <a:t>E</a:t>
            </a:r>
            <a:r>
              <a:rPr spc="-45" dirty="0">
                <a:solidFill>
                  <a:srgbClr val="BF0025"/>
                </a:solidFill>
              </a:rPr>
              <a:t> </a:t>
            </a:r>
            <a:r>
              <a:rPr dirty="0">
                <a:solidFill>
                  <a:srgbClr val="BF0025"/>
                </a:solidFill>
              </a:rPr>
              <a:t>continua</a:t>
            </a:r>
            <a:r>
              <a:rPr spc="-30" dirty="0">
                <a:solidFill>
                  <a:srgbClr val="BF0025"/>
                </a:solidFill>
              </a:rPr>
              <a:t> </a:t>
            </a:r>
            <a:r>
              <a:rPr dirty="0">
                <a:solidFill>
                  <a:srgbClr val="BF0025"/>
                </a:solidFill>
              </a:rPr>
              <a:t>a</a:t>
            </a:r>
            <a:r>
              <a:rPr spc="-25" dirty="0">
                <a:solidFill>
                  <a:srgbClr val="BF0025"/>
                </a:solidFill>
              </a:rPr>
              <a:t> </a:t>
            </a:r>
            <a:r>
              <a:rPr dirty="0">
                <a:solidFill>
                  <a:srgbClr val="BF0025"/>
                </a:solidFill>
              </a:rPr>
              <a:t>evoluir</a:t>
            </a:r>
            <a:r>
              <a:rPr spc="-30" dirty="0">
                <a:solidFill>
                  <a:srgbClr val="BF0025"/>
                </a:solidFill>
              </a:rPr>
              <a:t> </a:t>
            </a:r>
            <a:r>
              <a:rPr spc="-20" dirty="0">
                <a:solidFill>
                  <a:srgbClr val="BF0025"/>
                </a:solidFill>
              </a:rPr>
              <a:t>????</a:t>
            </a:r>
          </a:p>
        </p:txBody>
      </p:sp>
      <p:sp>
        <p:nvSpPr>
          <p:cNvPr id="5" name="Text Placeholder 4">
            <a:extLst>
              <a:ext uri="{FF2B5EF4-FFF2-40B4-BE49-F238E27FC236}">
                <a16:creationId xmlns:a16="http://schemas.microsoft.com/office/drawing/2014/main" id="{57B0386D-807F-77C8-8093-2B90AEA6C610}"/>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1819" y="2988203"/>
            <a:ext cx="153670" cy="819150"/>
          </a:xfrm>
          <a:prstGeom prst="rect">
            <a:avLst/>
          </a:prstGeom>
        </p:spPr>
        <p:txBody>
          <a:bodyPr vert="vert270" wrap="square" lIns="0" tIns="1905" rIns="0" bIns="0" rtlCol="0">
            <a:spAutoFit/>
          </a:bodyPr>
          <a:lstStyle/>
          <a:p>
            <a:pPr marL="12700">
              <a:lnSpc>
                <a:spcPct val="100000"/>
              </a:lnSpc>
              <a:spcBef>
                <a:spcPts val="15"/>
              </a:spcBef>
            </a:pPr>
            <a:r>
              <a:rPr sz="900" spc="-10" dirty="0">
                <a:solidFill>
                  <a:srgbClr val="3B3B3B"/>
                </a:solidFill>
                <a:latin typeface="Arial MT"/>
                <a:cs typeface="Arial MT"/>
              </a:rPr>
              <a:t>Transistor</a:t>
            </a:r>
            <a:r>
              <a:rPr sz="900" spc="-15" dirty="0">
                <a:solidFill>
                  <a:srgbClr val="3B3B3B"/>
                </a:solidFill>
                <a:latin typeface="Arial MT"/>
                <a:cs typeface="Arial MT"/>
              </a:rPr>
              <a:t> </a:t>
            </a:r>
            <a:r>
              <a:rPr sz="900" spc="-10" dirty="0">
                <a:solidFill>
                  <a:srgbClr val="3F3F3F"/>
                </a:solidFill>
                <a:latin typeface="Arial MT"/>
                <a:cs typeface="Arial MT"/>
              </a:rPr>
              <a:t>count</a:t>
            </a:r>
            <a:endParaRPr sz="900">
              <a:latin typeface="Arial MT"/>
              <a:cs typeface="Arial MT"/>
            </a:endParaRPr>
          </a:p>
        </p:txBody>
      </p:sp>
      <p:grpSp>
        <p:nvGrpSpPr>
          <p:cNvPr id="3" name="object 3"/>
          <p:cNvGrpSpPr/>
          <p:nvPr/>
        </p:nvGrpSpPr>
        <p:grpSpPr>
          <a:xfrm>
            <a:off x="7354823" y="6095"/>
            <a:ext cx="1786255" cy="1524000"/>
            <a:chOff x="7354823" y="6095"/>
            <a:chExt cx="1786255" cy="1524000"/>
          </a:xfrm>
        </p:grpSpPr>
        <p:pic>
          <p:nvPicPr>
            <p:cNvPr id="4" name="object 4"/>
            <p:cNvPicPr/>
            <p:nvPr/>
          </p:nvPicPr>
          <p:blipFill>
            <a:blip r:embed="rId2" cstate="print"/>
            <a:stretch>
              <a:fillRect/>
            </a:stretch>
          </p:blipFill>
          <p:spPr>
            <a:xfrm>
              <a:off x="7552943" y="6095"/>
              <a:ext cx="1588007" cy="1524000"/>
            </a:xfrm>
            <a:prstGeom prst="rect">
              <a:avLst/>
            </a:prstGeom>
          </p:spPr>
        </p:pic>
        <p:pic>
          <p:nvPicPr>
            <p:cNvPr id="5" name="object 5"/>
            <p:cNvPicPr/>
            <p:nvPr/>
          </p:nvPicPr>
          <p:blipFill>
            <a:blip r:embed="rId3" cstate="print"/>
            <a:stretch>
              <a:fillRect/>
            </a:stretch>
          </p:blipFill>
          <p:spPr>
            <a:xfrm>
              <a:off x="7857743" y="6095"/>
              <a:ext cx="1283207" cy="1240536"/>
            </a:xfrm>
            <a:prstGeom prst="rect">
              <a:avLst/>
            </a:prstGeom>
          </p:spPr>
        </p:pic>
        <p:pic>
          <p:nvPicPr>
            <p:cNvPr id="6" name="object 6"/>
            <p:cNvPicPr/>
            <p:nvPr/>
          </p:nvPicPr>
          <p:blipFill>
            <a:blip r:embed="rId4" cstate="print"/>
            <a:stretch>
              <a:fillRect/>
            </a:stretch>
          </p:blipFill>
          <p:spPr>
            <a:xfrm>
              <a:off x="8141207" y="6095"/>
              <a:ext cx="999744" cy="963167"/>
            </a:xfrm>
            <a:prstGeom prst="rect">
              <a:avLst/>
            </a:prstGeom>
          </p:spPr>
        </p:pic>
        <p:pic>
          <p:nvPicPr>
            <p:cNvPr id="7" name="object 7"/>
            <p:cNvPicPr/>
            <p:nvPr/>
          </p:nvPicPr>
          <p:blipFill>
            <a:blip r:embed="rId5" cstate="print"/>
            <a:stretch>
              <a:fillRect/>
            </a:stretch>
          </p:blipFill>
          <p:spPr>
            <a:xfrm>
              <a:off x="8418575" y="6095"/>
              <a:ext cx="722376" cy="704087"/>
            </a:xfrm>
            <a:prstGeom prst="rect">
              <a:avLst/>
            </a:prstGeom>
          </p:spPr>
        </p:pic>
        <p:pic>
          <p:nvPicPr>
            <p:cNvPr id="8" name="object 8"/>
            <p:cNvPicPr/>
            <p:nvPr/>
          </p:nvPicPr>
          <p:blipFill>
            <a:blip r:embed="rId6" cstate="print"/>
            <a:stretch>
              <a:fillRect/>
            </a:stretch>
          </p:blipFill>
          <p:spPr>
            <a:xfrm>
              <a:off x="7354823" y="822959"/>
              <a:ext cx="521207" cy="323088"/>
            </a:xfrm>
            <a:prstGeom prst="rect">
              <a:avLst/>
            </a:prstGeom>
          </p:spPr>
        </p:pic>
      </p:grpSp>
      <p:pic>
        <p:nvPicPr>
          <p:cNvPr id="9" name="object 9"/>
          <p:cNvPicPr/>
          <p:nvPr/>
        </p:nvPicPr>
        <p:blipFill>
          <a:blip r:embed="rId7" cstate="print"/>
          <a:stretch>
            <a:fillRect/>
          </a:stretch>
        </p:blipFill>
        <p:spPr>
          <a:xfrm>
            <a:off x="2968751" y="4014215"/>
            <a:ext cx="597408" cy="85343"/>
          </a:xfrm>
          <a:prstGeom prst="rect">
            <a:avLst/>
          </a:prstGeom>
        </p:spPr>
      </p:pic>
      <p:pic>
        <p:nvPicPr>
          <p:cNvPr id="10" name="object 10"/>
          <p:cNvPicPr/>
          <p:nvPr/>
        </p:nvPicPr>
        <p:blipFill>
          <a:blip r:embed="rId8" cstate="print"/>
          <a:stretch>
            <a:fillRect/>
          </a:stretch>
        </p:blipFill>
        <p:spPr>
          <a:xfrm>
            <a:off x="5940552" y="1661160"/>
            <a:ext cx="527303" cy="60960"/>
          </a:xfrm>
          <a:prstGeom prst="rect">
            <a:avLst/>
          </a:prstGeom>
        </p:spPr>
      </p:pic>
      <p:pic>
        <p:nvPicPr>
          <p:cNvPr id="11" name="object 11"/>
          <p:cNvPicPr/>
          <p:nvPr/>
        </p:nvPicPr>
        <p:blipFill>
          <a:blip r:embed="rId9" cstate="print"/>
          <a:stretch>
            <a:fillRect/>
          </a:stretch>
        </p:blipFill>
        <p:spPr>
          <a:xfrm>
            <a:off x="5858255" y="2133600"/>
            <a:ext cx="73151" cy="67055"/>
          </a:xfrm>
          <a:prstGeom prst="rect">
            <a:avLst/>
          </a:prstGeom>
        </p:spPr>
      </p:pic>
      <p:grpSp>
        <p:nvGrpSpPr>
          <p:cNvPr id="12" name="object 12"/>
          <p:cNvGrpSpPr/>
          <p:nvPr/>
        </p:nvGrpSpPr>
        <p:grpSpPr>
          <a:xfrm>
            <a:off x="5858255" y="1831848"/>
            <a:ext cx="1710055" cy="475615"/>
            <a:chOff x="5858255" y="1831848"/>
            <a:chExt cx="1710055" cy="475615"/>
          </a:xfrm>
        </p:grpSpPr>
        <p:pic>
          <p:nvPicPr>
            <p:cNvPr id="13" name="object 13"/>
            <p:cNvPicPr/>
            <p:nvPr/>
          </p:nvPicPr>
          <p:blipFill>
            <a:blip r:embed="rId10" cstate="print"/>
            <a:stretch>
              <a:fillRect/>
            </a:stretch>
          </p:blipFill>
          <p:spPr>
            <a:xfrm>
              <a:off x="5858255" y="1914144"/>
              <a:ext cx="472440" cy="115824"/>
            </a:xfrm>
            <a:prstGeom prst="rect">
              <a:avLst/>
            </a:prstGeom>
          </p:spPr>
        </p:pic>
        <p:pic>
          <p:nvPicPr>
            <p:cNvPr id="14" name="object 14"/>
            <p:cNvPicPr/>
            <p:nvPr/>
          </p:nvPicPr>
          <p:blipFill>
            <a:blip r:embed="rId11" cstate="print"/>
            <a:stretch>
              <a:fillRect/>
            </a:stretch>
          </p:blipFill>
          <p:spPr>
            <a:xfrm>
              <a:off x="6739127" y="1962912"/>
              <a:ext cx="417576" cy="112775"/>
            </a:xfrm>
            <a:prstGeom prst="rect">
              <a:avLst/>
            </a:prstGeom>
          </p:spPr>
        </p:pic>
        <p:pic>
          <p:nvPicPr>
            <p:cNvPr id="15" name="object 15"/>
            <p:cNvPicPr/>
            <p:nvPr/>
          </p:nvPicPr>
          <p:blipFill>
            <a:blip r:embed="rId12" cstate="print"/>
            <a:stretch>
              <a:fillRect/>
            </a:stretch>
          </p:blipFill>
          <p:spPr>
            <a:xfrm>
              <a:off x="6446519" y="1831848"/>
              <a:ext cx="91440" cy="64008"/>
            </a:xfrm>
            <a:prstGeom prst="rect">
              <a:avLst/>
            </a:prstGeom>
          </p:spPr>
        </p:pic>
        <p:pic>
          <p:nvPicPr>
            <p:cNvPr id="16" name="object 16"/>
            <p:cNvPicPr/>
            <p:nvPr/>
          </p:nvPicPr>
          <p:blipFill>
            <a:blip r:embed="rId13" cstate="print"/>
            <a:stretch>
              <a:fillRect/>
            </a:stretch>
          </p:blipFill>
          <p:spPr>
            <a:xfrm>
              <a:off x="6419087" y="2136648"/>
              <a:ext cx="76200" cy="67055"/>
            </a:xfrm>
            <a:prstGeom prst="rect">
              <a:avLst/>
            </a:prstGeom>
          </p:spPr>
        </p:pic>
        <p:pic>
          <p:nvPicPr>
            <p:cNvPr id="17" name="object 17"/>
            <p:cNvPicPr/>
            <p:nvPr/>
          </p:nvPicPr>
          <p:blipFill>
            <a:blip r:embed="rId14" cstate="print"/>
            <a:stretch>
              <a:fillRect/>
            </a:stretch>
          </p:blipFill>
          <p:spPr>
            <a:xfrm>
              <a:off x="6531863" y="2200656"/>
              <a:ext cx="1036319" cy="106680"/>
            </a:xfrm>
            <a:prstGeom prst="rect">
              <a:avLst/>
            </a:prstGeom>
          </p:spPr>
        </p:pic>
        <p:pic>
          <p:nvPicPr>
            <p:cNvPr id="18" name="object 18"/>
            <p:cNvPicPr/>
            <p:nvPr/>
          </p:nvPicPr>
          <p:blipFill>
            <a:blip r:embed="rId15" cstate="print"/>
            <a:stretch>
              <a:fillRect/>
            </a:stretch>
          </p:blipFill>
          <p:spPr>
            <a:xfrm>
              <a:off x="6083807" y="1905000"/>
              <a:ext cx="298703" cy="280415"/>
            </a:xfrm>
            <a:prstGeom prst="rect">
              <a:avLst/>
            </a:prstGeom>
          </p:spPr>
        </p:pic>
        <p:pic>
          <p:nvPicPr>
            <p:cNvPr id="19" name="object 19"/>
            <p:cNvPicPr/>
            <p:nvPr/>
          </p:nvPicPr>
          <p:blipFill>
            <a:blip r:embed="rId16" cstate="print"/>
            <a:stretch>
              <a:fillRect/>
            </a:stretch>
          </p:blipFill>
          <p:spPr>
            <a:xfrm>
              <a:off x="6367272" y="1874520"/>
              <a:ext cx="128015" cy="140208"/>
            </a:xfrm>
            <a:prstGeom prst="rect">
              <a:avLst/>
            </a:prstGeom>
          </p:spPr>
        </p:pic>
        <p:pic>
          <p:nvPicPr>
            <p:cNvPr id="20" name="object 20"/>
            <p:cNvPicPr/>
            <p:nvPr/>
          </p:nvPicPr>
          <p:blipFill>
            <a:blip r:embed="rId17" cstate="print"/>
            <a:stretch>
              <a:fillRect/>
            </a:stretch>
          </p:blipFill>
          <p:spPr>
            <a:xfrm>
              <a:off x="6531863" y="1956816"/>
              <a:ext cx="243840" cy="115824"/>
            </a:xfrm>
            <a:prstGeom prst="rect">
              <a:avLst/>
            </a:prstGeom>
          </p:spPr>
        </p:pic>
        <p:pic>
          <p:nvPicPr>
            <p:cNvPr id="21" name="object 21"/>
            <p:cNvPicPr/>
            <p:nvPr/>
          </p:nvPicPr>
          <p:blipFill>
            <a:blip r:embed="rId18" cstate="print"/>
            <a:stretch>
              <a:fillRect/>
            </a:stretch>
          </p:blipFill>
          <p:spPr>
            <a:xfrm>
              <a:off x="6854952" y="1962912"/>
              <a:ext cx="97535" cy="48767"/>
            </a:xfrm>
            <a:prstGeom prst="rect">
              <a:avLst/>
            </a:prstGeom>
          </p:spPr>
        </p:pic>
      </p:grpSp>
      <p:grpSp>
        <p:nvGrpSpPr>
          <p:cNvPr id="22" name="object 22"/>
          <p:cNvGrpSpPr/>
          <p:nvPr/>
        </p:nvGrpSpPr>
        <p:grpSpPr>
          <a:xfrm>
            <a:off x="4949952" y="2255520"/>
            <a:ext cx="1316990" cy="368935"/>
            <a:chOff x="4949952" y="2255520"/>
            <a:chExt cx="1316990" cy="368935"/>
          </a:xfrm>
        </p:grpSpPr>
        <p:pic>
          <p:nvPicPr>
            <p:cNvPr id="23" name="object 23"/>
            <p:cNvPicPr/>
            <p:nvPr/>
          </p:nvPicPr>
          <p:blipFill>
            <a:blip r:embed="rId19" cstate="print"/>
            <a:stretch>
              <a:fillRect/>
            </a:stretch>
          </p:blipFill>
          <p:spPr>
            <a:xfrm>
              <a:off x="4949952" y="2255520"/>
              <a:ext cx="518160" cy="48767"/>
            </a:xfrm>
            <a:prstGeom prst="rect">
              <a:avLst/>
            </a:prstGeom>
          </p:spPr>
        </p:pic>
        <p:pic>
          <p:nvPicPr>
            <p:cNvPr id="24" name="object 24"/>
            <p:cNvPicPr/>
            <p:nvPr/>
          </p:nvPicPr>
          <p:blipFill>
            <a:blip r:embed="rId20" cstate="print"/>
            <a:stretch>
              <a:fillRect/>
            </a:stretch>
          </p:blipFill>
          <p:spPr>
            <a:xfrm>
              <a:off x="5035296" y="2289048"/>
              <a:ext cx="600455" cy="204215"/>
            </a:xfrm>
            <a:prstGeom prst="rect">
              <a:avLst/>
            </a:prstGeom>
          </p:spPr>
        </p:pic>
        <p:pic>
          <p:nvPicPr>
            <p:cNvPr id="25" name="object 25"/>
            <p:cNvPicPr/>
            <p:nvPr/>
          </p:nvPicPr>
          <p:blipFill>
            <a:blip r:embed="rId21" cstate="print"/>
            <a:stretch>
              <a:fillRect/>
            </a:stretch>
          </p:blipFill>
          <p:spPr>
            <a:xfrm>
              <a:off x="5629656" y="2502408"/>
              <a:ext cx="637031" cy="121919"/>
            </a:xfrm>
            <a:prstGeom prst="rect">
              <a:avLst/>
            </a:prstGeom>
          </p:spPr>
        </p:pic>
      </p:grpSp>
      <p:grpSp>
        <p:nvGrpSpPr>
          <p:cNvPr id="26" name="object 26"/>
          <p:cNvGrpSpPr/>
          <p:nvPr/>
        </p:nvGrpSpPr>
        <p:grpSpPr>
          <a:xfrm>
            <a:off x="5745479" y="2304288"/>
            <a:ext cx="317500" cy="134620"/>
            <a:chOff x="5745479" y="2304288"/>
            <a:chExt cx="317500" cy="134620"/>
          </a:xfrm>
        </p:grpSpPr>
        <p:pic>
          <p:nvPicPr>
            <p:cNvPr id="27" name="object 27"/>
            <p:cNvPicPr/>
            <p:nvPr/>
          </p:nvPicPr>
          <p:blipFill>
            <a:blip r:embed="rId22" cstate="print"/>
            <a:stretch>
              <a:fillRect/>
            </a:stretch>
          </p:blipFill>
          <p:spPr>
            <a:xfrm>
              <a:off x="5745479" y="2334768"/>
              <a:ext cx="73151" cy="67055"/>
            </a:xfrm>
            <a:prstGeom prst="rect">
              <a:avLst/>
            </a:prstGeom>
          </p:spPr>
        </p:pic>
        <p:pic>
          <p:nvPicPr>
            <p:cNvPr id="28" name="object 28"/>
            <p:cNvPicPr/>
            <p:nvPr/>
          </p:nvPicPr>
          <p:blipFill>
            <a:blip r:embed="rId23" cstate="print"/>
            <a:stretch>
              <a:fillRect/>
            </a:stretch>
          </p:blipFill>
          <p:spPr>
            <a:xfrm>
              <a:off x="5855207" y="2304288"/>
              <a:ext cx="207263" cy="134112"/>
            </a:xfrm>
            <a:prstGeom prst="rect">
              <a:avLst/>
            </a:prstGeom>
          </p:spPr>
        </p:pic>
      </p:grpSp>
      <p:pic>
        <p:nvPicPr>
          <p:cNvPr id="29" name="object 29"/>
          <p:cNvPicPr/>
          <p:nvPr/>
        </p:nvPicPr>
        <p:blipFill>
          <a:blip r:embed="rId24" cstate="print"/>
          <a:stretch>
            <a:fillRect/>
          </a:stretch>
        </p:blipFill>
        <p:spPr>
          <a:xfrm>
            <a:off x="7415783" y="2017776"/>
            <a:ext cx="402335" cy="60960"/>
          </a:xfrm>
          <a:prstGeom prst="rect">
            <a:avLst/>
          </a:prstGeom>
        </p:spPr>
      </p:pic>
      <p:pic>
        <p:nvPicPr>
          <p:cNvPr id="30" name="object 30"/>
          <p:cNvPicPr/>
          <p:nvPr/>
        </p:nvPicPr>
        <p:blipFill>
          <a:blip r:embed="rId25" cstate="print"/>
          <a:stretch>
            <a:fillRect/>
          </a:stretch>
        </p:blipFill>
        <p:spPr>
          <a:xfrm>
            <a:off x="3944111" y="3587496"/>
            <a:ext cx="295656" cy="94487"/>
          </a:xfrm>
          <a:prstGeom prst="rect">
            <a:avLst/>
          </a:prstGeom>
        </p:spPr>
      </p:pic>
      <p:pic>
        <p:nvPicPr>
          <p:cNvPr id="31" name="object 31"/>
          <p:cNvPicPr/>
          <p:nvPr/>
        </p:nvPicPr>
        <p:blipFill>
          <a:blip r:embed="rId26" cstate="print"/>
          <a:stretch>
            <a:fillRect/>
          </a:stretch>
        </p:blipFill>
        <p:spPr>
          <a:xfrm>
            <a:off x="3602735" y="4273296"/>
            <a:ext cx="73151" cy="67056"/>
          </a:xfrm>
          <a:prstGeom prst="rect">
            <a:avLst/>
          </a:prstGeom>
        </p:spPr>
      </p:pic>
      <p:grpSp>
        <p:nvGrpSpPr>
          <p:cNvPr id="32" name="object 32"/>
          <p:cNvGrpSpPr/>
          <p:nvPr/>
        </p:nvGrpSpPr>
        <p:grpSpPr>
          <a:xfrm>
            <a:off x="1953767" y="4965191"/>
            <a:ext cx="600710" cy="344805"/>
            <a:chOff x="1953767" y="4965191"/>
            <a:chExt cx="600710" cy="344805"/>
          </a:xfrm>
        </p:grpSpPr>
        <p:pic>
          <p:nvPicPr>
            <p:cNvPr id="33" name="object 33"/>
            <p:cNvPicPr/>
            <p:nvPr/>
          </p:nvPicPr>
          <p:blipFill>
            <a:blip r:embed="rId27" cstate="print"/>
            <a:stretch>
              <a:fillRect/>
            </a:stretch>
          </p:blipFill>
          <p:spPr>
            <a:xfrm>
              <a:off x="1953767" y="5202935"/>
              <a:ext cx="161544" cy="106679"/>
            </a:xfrm>
            <a:prstGeom prst="rect">
              <a:avLst/>
            </a:prstGeom>
          </p:spPr>
        </p:pic>
        <p:pic>
          <p:nvPicPr>
            <p:cNvPr id="34" name="object 34"/>
            <p:cNvPicPr/>
            <p:nvPr/>
          </p:nvPicPr>
          <p:blipFill>
            <a:blip r:embed="rId28" cstate="print"/>
            <a:stretch>
              <a:fillRect/>
            </a:stretch>
          </p:blipFill>
          <p:spPr>
            <a:xfrm>
              <a:off x="2243327" y="4980431"/>
              <a:ext cx="195072" cy="207263"/>
            </a:xfrm>
            <a:prstGeom prst="rect">
              <a:avLst/>
            </a:prstGeom>
          </p:spPr>
        </p:pic>
        <p:pic>
          <p:nvPicPr>
            <p:cNvPr id="35" name="object 35"/>
            <p:cNvPicPr/>
            <p:nvPr/>
          </p:nvPicPr>
          <p:blipFill>
            <a:blip r:embed="rId29" cstate="print"/>
            <a:stretch>
              <a:fillRect/>
            </a:stretch>
          </p:blipFill>
          <p:spPr>
            <a:xfrm>
              <a:off x="2481071" y="4965191"/>
              <a:ext cx="73151" cy="70104"/>
            </a:xfrm>
            <a:prstGeom prst="rect">
              <a:avLst/>
            </a:prstGeom>
          </p:spPr>
        </p:pic>
        <p:pic>
          <p:nvPicPr>
            <p:cNvPr id="36" name="object 36"/>
            <p:cNvPicPr/>
            <p:nvPr/>
          </p:nvPicPr>
          <p:blipFill>
            <a:blip r:embed="rId30" cstate="print"/>
            <a:stretch>
              <a:fillRect/>
            </a:stretch>
          </p:blipFill>
          <p:spPr>
            <a:xfrm>
              <a:off x="2026919" y="5099303"/>
              <a:ext cx="192024" cy="121919"/>
            </a:xfrm>
            <a:prstGeom prst="rect">
              <a:avLst/>
            </a:prstGeom>
          </p:spPr>
        </p:pic>
      </p:grpSp>
      <p:pic>
        <p:nvPicPr>
          <p:cNvPr id="37" name="object 37"/>
          <p:cNvPicPr/>
          <p:nvPr/>
        </p:nvPicPr>
        <p:blipFill>
          <a:blip r:embed="rId31" cstate="print"/>
          <a:stretch>
            <a:fillRect/>
          </a:stretch>
        </p:blipFill>
        <p:spPr>
          <a:xfrm>
            <a:off x="2776727" y="4870703"/>
            <a:ext cx="429768" cy="155448"/>
          </a:xfrm>
          <a:prstGeom prst="rect">
            <a:avLst/>
          </a:prstGeom>
        </p:spPr>
      </p:pic>
      <p:grpSp>
        <p:nvGrpSpPr>
          <p:cNvPr id="38" name="object 38"/>
          <p:cNvGrpSpPr/>
          <p:nvPr/>
        </p:nvGrpSpPr>
        <p:grpSpPr>
          <a:xfrm>
            <a:off x="5047488" y="2767583"/>
            <a:ext cx="1039494" cy="332740"/>
            <a:chOff x="5047488" y="2767583"/>
            <a:chExt cx="1039494" cy="332740"/>
          </a:xfrm>
        </p:grpSpPr>
        <p:pic>
          <p:nvPicPr>
            <p:cNvPr id="39" name="object 39"/>
            <p:cNvPicPr/>
            <p:nvPr/>
          </p:nvPicPr>
          <p:blipFill>
            <a:blip r:embed="rId32" cstate="print"/>
            <a:stretch>
              <a:fillRect/>
            </a:stretch>
          </p:blipFill>
          <p:spPr>
            <a:xfrm>
              <a:off x="5071872" y="2929127"/>
              <a:ext cx="603503" cy="170687"/>
            </a:xfrm>
            <a:prstGeom prst="rect">
              <a:avLst/>
            </a:prstGeom>
          </p:spPr>
        </p:pic>
        <p:pic>
          <p:nvPicPr>
            <p:cNvPr id="40" name="object 40"/>
            <p:cNvPicPr/>
            <p:nvPr/>
          </p:nvPicPr>
          <p:blipFill>
            <a:blip r:embed="rId33" cstate="print"/>
            <a:stretch>
              <a:fillRect/>
            </a:stretch>
          </p:blipFill>
          <p:spPr>
            <a:xfrm>
              <a:off x="5779008" y="2767583"/>
              <a:ext cx="307847" cy="121919"/>
            </a:xfrm>
            <a:prstGeom prst="rect">
              <a:avLst/>
            </a:prstGeom>
          </p:spPr>
        </p:pic>
        <p:pic>
          <p:nvPicPr>
            <p:cNvPr id="41" name="object 41"/>
            <p:cNvPicPr/>
            <p:nvPr/>
          </p:nvPicPr>
          <p:blipFill>
            <a:blip r:embed="rId34" cstate="print"/>
            <a:stretch>
              <a:fillRect/>
            </a:stretch>
          </p:blipFill>
          <p:spPr>
            <a:xfrm>
              <a:off x="5047488" y="2782823"/>
              <a:ext cx="704088" cy="106679"/>
            </a:xfrm>
            <a:prstGeom prst="rect">
              <a:avLst/>
            </a:prstGeom>
          </p:spPr>
        </p:pic>
      </p:grpSp>
      <p:pic>
        <p:nvPicPr>
          <p:cNvPr id="42" name="object 42"/>
          <p:cNvPicPr/>
          <p:nvPr/>
        </p:nvPicPr>
        <p:blipFill>
          <a:blip r:embed="rId35" cstate="print"/>
          <a:stretch>
            <a:fillRect/>
          </a:stretch>
        </p:blipFill>
        <p:spPr>
          <a:xfrm>
            <a:off x="6306311" y="2767583"/>
            <a:ext cx="91439" cy="45720"/>
          </a:xfrm>
          <a:prstGeom prst="rect">
            <a:avLst/>
          </a:prstGeom>
        </p:spPr>
      </p:pic>
      <p:pic>
        <p:nvPicPr>
          <p:cNvPr id="43" name="object 43"/>
          <p:cNvPicPr/>
          <p:nvPr/>
        </p:nvPicPr>
        <p:blipFill>
          <a:blip r:embed="rId36" cstate="print"/>
          <a:stretch>
            <a:fillRect/>
          </a:stretch>
        </p:blipFill>
        <p:spPr>
          <a:xfrm>
            <a:off x="1481327" y="5559552"/>
            <a:ext cx="5376672" cy="213359"/>
          </a:xfrm>
          <a:prstGeom prst="rect">
            <a:avLst/>
          </a:prstGeom>
        </p:spPr>
      </p:pic>
      <p:pic>
        <p:nvPicPr>
          <p:cNvPr id="44" name="object 44"/>
          <p:cNvPicPr/>
          <p:nvPr/>
        </p:nvPicPr>
        <p:blipFill>
          <a:blip r:embed="rId37" cstate="print"/>
          <a:stretch>
            <a:fillRect/>
          </a:stretch>
        </p:blipFill>
        <p:spPr>
          <a:xfrm>
            <a:off x="3410711" y="3800855"/>
            <a:ext cx="768096" cy="106680"/>
          </a:xfrm>
          <a:prstGeom prst="rect">
            <a:avLst/>
          </a:prstGeom>
        </p:spPr>
      </p:pic>
      <p:grpSp>
        <p:nvGrpSpPr>
          <p:cNvPr id="45" name="object 45"/>
          <p:cNvGrpSpPr/>
          <p:nvPr/>
        </p:nvGrpSpPr>
        <p:grpSpPr>
          <a:xfrm>
            <a:off x="4431791" y="3374135"/>
            <a:ext cx="414655" cy="287020"/>
            <a:chOff x="4431791" y="3374135"/>
            <a:chExt cx="414655" cy="287020"/>
          </a:xfrm>
        </p:grpSpPr>
        <p:pic>
          <p:nvPicPr>
            <p:cNvPr id="46" name="object 46"/>
            <p:cNvPicPr/>
            <p:nvPr/>
          </p:nvPicPr>
          <p:blipFill>
            <a:blip r:embed="rId38" cstate="print"/>
            <a:stretch>
              <a:fillRect/>
            </a:stretch>
          </p:blipFill>
          <p:spPr>
            <a:xfrm>
              <a:off x="4562855" y="3374135"/>
              <a:ext cx="283463" cy="192024"/>
            </a:xfrm>
            <a:prstGeom prst="rect">
              <a:avLst/>
            </a:prstGeom>
          </p:spPr>
        </p:pic>
        <p:pic>
          <p:nvPicPr>
            <p:cNvPr id="47" name="object 47"/>
            <p:cNvPicPr/>
            <p:nvPr/>
          </p:nvPicPr>
          <p:blipFill>
            <a:blip r:embed="rId39" cstate="print"/>
            <a:stretch>
              <a:fillRect/>
            </a:stretch>
          </p:blipFill>
          <p:spPr>
            <a:xfrm>
              <a:off x="4431791" y="3538727"/>
              <a:ext cx="237743" cy="121919"/>
            </a:xfrm>
            <a:prstGeom prst="rect">
              <a:avLst/>
            </a:prstGeom>
          </p:spPr>
        </p:pic>
      </p:grpSp>
      <p:pic>
        <p:nvPicPr>
          <p:cNvPr id="48" name="object 48"/>
          <p:cNvPicPr/>
          <p:nvPr/>
        </p:nvPicPr>
        <p:blipFill>
          <a:blip r:embed="rId40" cstate="print"/>
          <a:stretch>
            <a:fillRect/>
          </a:stretch>
        </p:blipFill>
        <p:spPr>
          <a:xfrm>
            <a:off x="4800600" y="4383023"/>
            <a:ext cx="185927" cy="170687"/>
          </a:xfrm>
          <a:prstGeom prst="rect">
            <a:avLst/>
          </a:prstGeom>
        </p:spPr>
      </p:pic>
      <p:pic>
        <p:nvPicPr>
          <p:cNvPr id="49" name="object 49"/>
          <p:cNvPicPr/>
          <p:nvPr/>
        </p:nvPicPr>
        <p:blipFill>
          <a:blip r:embed="rId41" cstate="print"/>
          <a:stretch>
            <a:fillRect/>
          </a:stretch>
        </p:blipFill>
        <p:spPr>
          <a:xfrm>
            <a:off x="3712464" y="4157471"/>
            <a:ext cx="277367" cy="70104"/>
          </a:xfrm>
          <a:prstGeom prst="rect">
            <a:avLst/>
          </a:prstGeom>
        </p:spPr>
      </p:pic>
      <p:pic>
        <p:nvPicPr>
          <p:cNvPr id="50" name="object 50"/>
          <p:cNvPicPr/>
          <p:nvPr/>
        </p:nvPicPr>
        <p:blipFill>
          <a:blip r:embed="rId42" cstate="print"/>
          <a:stretch>
            <a:fillRect/>
          </a:stretch>
        </p:blipFill>
        <p:spPr>
          <a:xfrm>
            <a:off x="3883152" y="4651247"/>
            <a:ext cx="195072" cy="124968"/>
          </a:xfrm>
          <a:prstGeom prst="rect">
            <a:avLst/>
          </a:prstGeom>
        </p:spPr>
      </p:pic>
      <p:sp>
        <p:nvSpPr>
          <p:cNvPr id="51" name="object 51"/>
          <p:cNvSpPr txBox="1"/>
          <p:nvPr/>
        </p:nvSpPr>
        <p:spPr>
          <a:xfrm>
            <a:off x="560617" y="781303"/>
            <a:ext cx="6889115" cy="644525"/>
          </a:xfrm>
          <a:prstGeom prst="rect">
            <a:avLst/>
          </a:prstGeom>
        </p:spPr>
        <p:txBody>
          <a:bodyPr vert="horz" wrap="square" lIns="0" tIns="12700" rIns="0" bIns="0" rtlCol="0">
            <a:spAutoFit/>
          </a:bodyPr>
          <a:lstStyle/>
          <a:p>
            <a:pPr marL="38100">
              <a:lnSpc>
                <a:spcPts val="1764"/>
              </a:lnSpc>
              <a:spcBef>
                <a:spcPts val="100"/>
              </a:spcBef>
            </a:pPr>
            <a:r>
              <a:rPr sz="1500" dirty="0">
                <a:solidFill>
                  <a:srgbClr val="1C1C1C"/>
                </a:solidFill>
                <a:latin typeface="Cambria"/>
                <a:cs typeface="Cambria"/>
              </a:rPr>
              <a:t>Moore's</a:t>
            </a:r>
            <a:r>
              <a:rPr sz="1500" spc="20" dirty="0">
                <a:solidFill>
                  <a:srgbClr val="1C1C1C"/>
                </a:solidFill>
                <a:latin typeface="Cambria"/>
                <a:cs typeface="Cambria"/>
              </a:rPr>
              <a:t> </a:t>
            </a:r>
            <a:r>
              <a:rPr sz="1500" dirty="0">
                <a:solidFill>
                  <a:srgbClr val="1F1F1F"/>
                </a:solidFill>
                <a:latin typeface="Cambria"/>
                <a:cs typeface="Cambria"/>
              </a:rPr>
              <a:t>Law</a:t>
            </a:r>
            <a:r>
              <a:rPr sz="1500" spc="55" dirty="0">
                <a:solidFill>
                  <a:srgbClr val="1F1F1F"/>
                </a:solidFill>
                <a:latin typeface="Cambria"/>
                <a:cs typeface="Cambria"/>
              </a:rPr>
              <a:t> </a:t>
            </a:r>
            <a:r>
              <a:rPr sz="1500" spc="-630" dirty="0">
                <a:solidFill>
                  <a:srgbClr val="2D2D2D"/>
                </a:solidFill>
                <a:latin typeface="Cambria"/>
                <a:cs typeface="Cambria"/>
              </a:rPr>
              <a:t>—</a:t>
            </a:r>
            <a:r>
              <a:rPr sz="1500" spc="40" dirty="0">
                <a:solidFill>
                  <a:srgbClr val="2D2D2D"/>
                </a:solidFill>
                <a:latin typeface="Cambria"/>
                <a:cs typeface="Cambria"/>
              </a:rPr>
              <a:t> </a:t>
            </a:r>
            <a:r>
              <a:rPr sz="1500" dirty="0">
                <a:solidFill>
                  <a:srgbClr val="1F1F1F"/>
                </a:solidFill>
                <a:latin typeface="Cambria"/>
                <a:cs typeface="Cambria"/>
              </a:rPr>
              <a:t>The</a:t>
            </a:r>
            <a:r>
              <a:rPr sz="1500" spc="5" dirty="0">
                <a:solidFill>
                  <a:srgbClr val="1F1F1F"/>
                </a:solidFill>
                <a:latin typeface="Cambria"/>
                <a:cs typeface="Cambria"/>
              </a:rPr>
              <a:t> </a:t>
            </a:r>
            <a:r>
              <a:rPr sz="1500" dirty="0">
                <a:solidFill>
                  <a:srgbClr val="1C1C1C"/>
                </a:solidFill>
                <a:latin typeface="Cambria"/>
                <a:cs typeface="Cambria"/>
              </a:rPr>
              <a:t>number</a:t>
            </a:r>
            <a:r>
              <a:rPr sz="1500" spc="30" dirty="0">
                <a:solidFill>
                  <a:srgbClr val="1C1C1C"/>
                </a:solidFill>
                <a:latin typeface="Cambria"/>
                <a:cs typeface="Cambria"/>
              </a:rPr>
              <a:t> </a:t>
            </a:r>
            <a:r>
              <a:rPr sz="1500" dirty="0">
                <a:solidFill>
                  <a:srgbClr val="262626"/>
                </a:solidFill>
                <a:latin typeface="Cambria"/>
                <a:cs typeface="Cambria"/>
              </a:rPr>
              <a:t>of</a:t>
            </a:r>
            <a:r>
              <a:rPr sz="1500" spc="20" dirty="0">
                <a:solidFill>
                  <a:srgbClr val="262626"/>
                </a:solidFill>
                <a:latin typeface="Cambria"/>
                <a:cs typeface="Cambria"/>
              </a:rPr>
              <a:t> </a:t>
            </a:r>
            <a:r>
              <a:rPr sz="1500" spc="-10" dirty="0">
                <a:solidFill>
                  <a:srgbClr val="181818"/>
                </a:solidFill>
                <a:latin typeface="Cambria"/>
                <a:cs typeface="Cambria"/>
              </a:rPr>
              <a:t>transistors</a:t>
            </a:r>
            <a:r>
              <a:rPr sz="1500" spc="85" dirty="0">
                <a:solidFill>
                  <a:srgbClr val="181818"/>
                </a:solidFill>
                <a:latin typeface="Cambria"/>
                <a:cs typeface="Cambria"/>
              </a:rPr>
              <a:t> </a:t>
            </a:r>
            <a:r>
              <a:rPr sz="1500" dirty="0">
                <a:solidFill>
                  <a:srgbClr val="262626"/>
                </a:solidFill>
                <a:latin typeface="Cambria"/>
                <a:cs typeface="Cambria"/>
              </a:rPr>
              <a:t>on</a:t>
            </a:r>
            <a:r>
              <a:rPr sz="1500" spc="-30" dirty="0">
                <a:solidFill>
                  <a:srgbClr val="262626"/>
                </a:solidFill>
                <a:latin typeface="Cambria"/>
                <a:cs typeface="Cambria"/>
              </a:rPr>
              <a:t> </a:t>
            </a:r>
            <a:r>
              <a:rPr sz="1500" dirty="0">
                <a:solidFill>
                  <a:srgbClr val="151515"/>
                </a:solidFill>
                <a:latin typeface="Cambria"/>
                <a:cs typeface="Cambria"/>
              </a:rPr>
              <a:t>integrated</a:t>
            </a:r>
            <a:r>
              <a:rPr sz="1500" spc="70" dirty="0">
                <a:solidFill>
                  <a:srgbClr val="151515"/>
                </a:solidFill>
                <a:latin typeface="Cambria"/>
                <a:cs typeface="Cambria"/>
              </a:rPr>
              <a:t> </a:t>
            </a:r>
            <a:r>
              <a:rPr sz="1500" dirty="0">
                <a:solidFill>
                  <a:srgbClr val="181818"/>
                </a:solidFill>
                <a:latin typeface="Cambria"/>
                <a:cs typeface="Cambria"/>
              </a:rPr>
              <a:t>circuit</a:t>
            </a:r>
            <a:r>
              <a:rPr sz="1500" spc="60" dirty="0">
                <a:solidFill>
                  <a:srgbClr val="181818"/>
                </a:solidFill>
                <a:latin typeface="Cambria"/>
                <a:cs typeface="Cambria"/>
              </a:rPr>
              <a:t> </a:t>
            </a:r>
            <a:r>
              <a:rPr sz="1500" dirty="0">
                <a:solidFill>
                  <a:srgbClr val="151515"/>
                </a:solidFill>
                <a:latin typeface="Cambria"/>
                <a:cs typeface="Cambria"/>
              </a:rPr>
              <a:t>chips (1</a:t>
            </a:r>
            <a:r>
              <a:rPr sz="1500" spc="365" dirty="0">
                <a:solidFill>
                  <a:srgbClr val="151515"/>
                </a:solidFill>
                <a:latin typeface="Cambria"/>
                <a:cs typeface="Cambria"/>
              </a:rPr>
              <a:t> </a:t>
            </a:r>
            <a:r>
              <a:rPr sz="2250" baseline="-9259" dirty="0">
                <a:solidFill>
                  <a:srgbClr val="151515"/>
                </a:solidFill>
                <a:latin typeface="Cambria"/>
                <a:cs typeface="Cambria"/>
              </a:rPr>
              <a:t>7</a:t>
            </a:r>
            <a:r>
              <a:rPr sz="2250" spc="292" baseline="-9259" dirty="0">
                <a:solidFill>
                  <a:srgbClr val="151515"/>
                </a:solidFill>
                <a:latin typeface="Cambria"/>
                <a:cs typeface="Cambria"/>
              </a:rPr>
              <a:t> </a:t>
            </a:r>
            <a:r>
              <a:rPr sz="2250" baseline="-7407" dirty="0">
                <a:solidFill>
                  <a:srgbClr val="151515"/>
                </a:solidFill>
                <a:latin typeface="Cambria"/>
                <a:cs typeface="Cambria"/>
              </a:rPr>
              <a:t>-</a:t>
            </a:r>
            <a:r>
              <a:rPr sz="1500" spc="-10" dirty="0">
                <a:solidFill>
                  <a:srgbClr val="151515"/>
                </a:solidFill>
                <a:latin typeface="Cambria"/>
                <a:cs typeface="Cambria"/>
              </a:rPr>
              <a:t>2O16)</a:t>
            </a:r>
            <a:endParaRPr sz="1500">
              <a:latin typeface="Cambria"/>
              <a:cs typeface="Cambria"/>
            </a:endParaRPr>
          </a:p>
          <a:p>
            <a:pPr marL="41910" marR="30480" indent="4445">
              <a:lnSpc>
                <a:spcPts val="1030"/>
              </a:lnSpc>
              <a:spcBef>
                <a:spcPts val="40"/>
              </a:spcBef>
            </a:pPr>
            <a:r>
              <a:rPr sz="900" spc="10" dirty="0">
                <a:solidFill>
                  <a:srgbClr val="5B5B5B"/>
                </a:solidFill>
                <a:latin typeface="Times New Roman"/>
                <a:cs typeface="Times New Roman"/>
              </a:rPr>
              <a:t>Moore's</a:t>
            </a:r>
            <a:r>
              <a:rPr sz="900" spc="50" dirty="0">
                <a:solidFill>
                  <a:srgbClr val="5B5B5B"/>
                </a:solidFill>
                <a:latin typeface="Times New Roman"/>
                <a:cs typeface="Times New Roman"/>
              </a:rPr>
              <a:t> </a:t>
            </a:r>
            <a:r>
              <a:rPr sz="900" spc="10" dirty="0">
                <a:solidFill>
                  <a:srgbClr val="5D5D5D"/>
                </a:solidFill>
                <a:latin typeface="Times New Roman"/>
                <a:cs typeface="Times New Roman"/>
              </a:rPr>
              <a:t>law</a:t>
            </a:r>
            <a:r>
              <a:rPr sz="900" spc="-15" dirty="0">
                <a:solidFill>
                  <a:srgbClr val="5D5D5D"/>
                </a:solidFill>
                <a:latin typeface="Times New Roman"/>
                <a:cs typeface="Times New Roman"/>
              </a:rPr>
              <a:t> </a:t>
            </a:r>
            <a:r>
              <a:rPr sz="900" spc="10" dirty="0">
                <a:solidFill>
                  <a:srgbClr val="5E5E5E"/>
                </a:solidFill>
                <a:latin typeface="Times New Roman"/>
                <a:cs typeface="Times New Roman"/>
              </a:rPr>
              <a:t>describes</a:t>
            </a:r>
            <a:r>
              <a:rPr sz="900" spc="80" dirty="0">
                <a:solidFill>
                  <a:srgbClr val="5E5E5E"/>
                </a:solidFill>
                <a:latin typeface="Times New Roman"/>
                <a:cs typeface="Times New Roman"/>
              </a:rPr>
              <a:t> </a:t>
            </a:r>
            <a:r>
              <a:rPr sz="900" spc="10" dirty="0">
                <a:solidFill>
                  <a:srgbClr val="606060"/>
                </a:solidFill>
                <a:latin typeface="Times New Roman"/>
                <a:cs typeface="Times New Roman"/>
              </a:rPr>
              <a:t>the</a:t>
            </a:r>
            <a:r>
              <a:rPr sz="900" spc="25" dirty="0">
                <a:solidFill>
                  <a:srgbClr val="606060"/>
                </a:solidFill>
                <a:latin typeface="Times New Roman"/>
                <a:cs typeface="Times New Roman"/>
              </a:rPr>
              <a:t> </a:t>
            </a:r>
            <a:r>
              <a:rPr sz="900" spc="10" dirty="0">
                <a:solidFill>
                  <a:srgbClr val="5B5B5B"/>
                </a:solidFill>
                <a:latin typeface="Times New Roman"/>
                <a:cs typeface="Times New Roman"/>
              </a:rPr>
              <a:t>empirical</a:t>
            </a:r>
            <a:r>
              <a:rPr sz="900" spc="125" dirty="0">
                <a:solidFill>
                  <a:srgbClr val="5B5B5B"/>
                </a:solidFill>
                <a:latin typeface="Times New Roman"/>
                <a:cs typeface="Times New Roman"/>
              </a:rPr>
              <a:t> </a:t>
            </a:r>
            <a:r>
              <a:rPr sz="900" spc="10" dirty="0">
                <a:solidFill>
                  <a:srgbClr val="5B5B5B"/>
                </a:solidFill>
                <a:latin typeface="Times New Roman"/>
                <a:cs typeface="Times New Roman"/>
              </a:rPr>
              <a:t>regularity</a:t>
            </a:r>
            <a:r>
              <a:rPr sz="900" spc="75" dirty="0">
                <a:solidFill>
                  <a:srgbClr val="5B5B5B"/>
                </a:solidFill>
                <a:latin typeface="Times New Roman"/>
                <a:cs typeface="Times New Roman"/>
              </a:rPr>
              <a:t> </a:t>
            </a:r>
            <a:r>
              <a:rPr sz="900" spc="10" dirty="0">
                <a:solidFill>
                  <a:srgbClr val="5D5D5D"/>
                </a:solidFill>
                <a:latin typeface="Times New Roman"/>
                <a:cs typeface="Times New Roman"/>
              </a:rPr>
              <a:t>that</a:t>
            </a:r>
            <a:r>
              <a:rPr sz="900" spc="60" dirty="0">
                <a:solidFill>
                  <a:srgbClr val="5D5D5D"/>
                </a:solidFill>
                <a:latin typeface="Times New Roman"/>
                <a:cs typeface="Times New Roman"/>
              </a:rPr>
              <a:t> </a:t>
            </a:r>
            <a:r>
              <a:rPr sz="900" spc="10" dirty="0">
                <a:solidFill>
                  <a:srgbClr val="5D5D5D"/>
                </a:solidFill>
                <a:latin typeface="Times New Roman"/>
                <a:cs typeface="Times New Roman"/>
              </a:rPr>
              <a:t>the</a:t>
            </a:r>
            <a:r>
              <a:rPr sz="900" spc="60" dirty="0">
                <a:solidFill>
                  <a:srgbClr val="5D5D5D"/>
                </a:solidFill>
                <a:latin typeface="Times New Roman"/>
                <a:cs typeface="Times New Roman"/>
              </a:rPr>
              <a:t> </a:t>
            </a:r>
            <a:r>
              <a:rPr sz="900" spc="10" dirty="0">
                <a:solidFill>
                  <a:srgbClr val="5B5B5B"/>
                </a:solidFill>
                <a:latin typeface="Times New Roman"/>
                <a:cs typeface="Times New Roman"/>
              </a:rPr>
              <a:t>number</a:t>
            </a:r>
            <a:r>
              <a:rPr sz="900" spc="80" dirty="0">
                <a:solidFill>
                  <a:srgbClr val="5B5B5B"/>
                </a:solidFill>
                <a:latin typeface="Times New Roman"/>
                <a:cs typeface="Times New Roman"/>
              </a:rPr>
              <a:t> </a:t>
            </a:r>
            <a:r>
              <a:rPr sz="900" spc="10" dirty="0">
                <a:solidFill>
                  <a:srgbClr val="646464"/>
                </a:solidFill>
                <a:latin typeface="Times New Roman"/>
                <a:cs typeface="Times New Roman"/>
              </a:rPr>
              <a:t>of</a:t>
            </a:r>
            <a:r>
              <a:rPr sz="900" spc="35" dirty="0">
                <a:solidFill>
                  <a:srgbClr val="646464"/>
                </a:solidFill>
                <a:latin typeface="Times New Roman"/>
                <a:cs typeface="Times New Roman"/>
              </a:rPr>
              <a:t> </a:t>
            </a:r>
            <a:r>
              <a:rPr sz="900" spc="10" dirty="0">
                <a:solidFill>
                  <a:srgbClr val="595959"/>
                </a:solidFill>
                <a:latin typeface="Times New Roman"/>
                <a:cs typeface="Times New Roman"/>
              </a:rPr>
              <a:t>transistors</a:t>
            </a:r>
            <a:r>
              <a:rPr sz="900" spc="55" dirty="0">
                <a:solidFill>
                  <a:srgbClr val="595959"/>
                </a:solidFill>
                <a:latin typeface="Times New Roman"/>
                <a:cs typeface="Times New Roman"/>
              </a:rPr>
              <a:t> </a:t>
            </a:r>
            <a:r>
              <a:rPr sz="900" spc="10" dirty="0">
                <a:solidFill>
                  <a:srgbClr val="626262"/>
                </a:solidFill>
                <a:latin typeface="Times New Roman"/>
                <a:cs typeface="Times New Roman"/>
              </a:rPr>
              <a:t>on</a:t>
            </a:r>
            <a:r>
              <a:rPr sz="900" spc="25" dirty="0">
                <a:solidFill>
                  <a:srgbClr val="626262"/>
                </a:solidFill>
                <a:latin typeface="Times New Roman"/>
                <a:cs typeface="Times New Roman"/>
              </a:rPr>
              <a:t> </a:t>
            </a:r>
            <a:r>
              <a:rPr sz="900" spc="10" dirty="0">
                <a:solidFill>
                  <a:srgbClr val="606060"/>
                </a:solidFill>
                <a:latin typeface="Times New Roman"/>
                <a:cs typeface="Times New Roman"/>
              </a:rPr>
              <a:t>integrated</a:t>
            </a:r>
            <a:r>
              <a:rPr sz="900" spc="65" dirty="0">
                <a:solidFill>
                  <a:srgbClr val="606060"/>
                </a:solidFill>
                <a:latin typeface="Times New Roman"/>
                <a:cs typeface="Times New Roman"/>
              </a:rPr>
              <a:t> </a:t>
            </a:r>
            <a:r>
              <a:rPr sz="900" spc="10" dirty="0">
                <a:solidFill>
                  <a:srgbClr val="5E5E5E"/>
                </a:solidFill>
                <a:latin typeface="Times New Roman"/>
                <a:cs typeface="Times New Roman"/>
              </a:rPr>
              <a:t>circuits</a:t>
            </a:r>
            <a:r>
              <a:rPr sz="900" spc="40" dirty="0">
                <a:solidFill>
                  <a:srgbClr val="5E5E5E"/>
                </a:solidFill>
                <a:latin typeface="Times New Roman"/>
                <a:cs typeface="Times New Roman"/>
              </a:rPr>
              <a:t> </a:t>
            </a:r>
            <a:r>
              <a:rPr sz="900" spc="10" dirty="0">
                <a:solidFill>
                  <a:srgbClr val="5D5D5D"/>
                </a:solidFill>
                <a:latin typeface="Times New Roman"/>
                <a:cs typeface="Times New Roman"/>
              </a:rPr>
              <a:t>doubles</a:t>
            </a:r>
            <a:r>
              <a:rPr sz="900" spc="55" dirty="0">
                <a:solidFill>
                  <a:srgbClr val="5D5D5D"/>
                </a:solidFill>
                <a:latin typeface="Times New Roman"/>
                <a:cs typeface="Times New Roman"/>
              </a:rPr>
              <a:t> </a:t>
            </a:r>
            <a:r>
              <a:rPr sz="900" spc="10" dirty="0">
                <a:solidFill>
                  <a:srgbClr val="606060"/>
                </a:solidFill>
                <a:latin typeface="Times New Roman"/>
                <a:cs typeface="Times New Roman"/>
              </a:rPr>
              <a:t>approximately</a:t>
            </a:r>
            <a:r>
              <a:rPr sz="900" spc="55" dirty="0">
                <a:solidFill>
                  <a:srgbClr val="606060"/>
                </a:solidFill>
                <a:latin typeface="Times New Roman"/>
                <a:cs typeface="Times New Roman"/>
              </a:rPr>
              <a:t> </a:t>
            </a:r>
            <a:r>
              <a:rPr sz="900" spc="10" dirty="0">
                <a:solidFill>
                  <a:srgbClr val="5B5B5B"/>
                </a:solidFill>
                <a:latin typeface="Times New Roman"/>
                <a:cs typeface="Times New Roman"/>
              </a:rPr>
              <a:t>every</a:t>
            </a:r>
            <a:r>
              <a:rPr sz="900" spc="15" dirty="0">
                <a:solidFill>
                  <a:srgbClr val="5B5B5B"/>
                </a:solidFill>
                <a:latin typeface="Times New Roman"/>
                <a:cs typeface="Times New Roman"/>
              </a:rPr>
              <a:t> </a:t>
            </a:r>
            <a:r>
              <a:rPr sz="900" spc="10" dirty="0">
                <a:solidFill>
                  <a:srgbClr val="5D5D5D"/>
                </a:solidFill>
                <a:latin typeface="Times New Roman"/>
                <a:cs typeface="Times New Roman"/>
              </a:rPr>
              <a:t>two</a:t>
            </a:r>
            <a:r>
              <a:rPr sz="900" spc="30" dirty="0">
                <a:solidFill>
                  <a:srgbClr val="5D5D5D"/>
                </a:solidFill>
                <a:latin typeface="Times New Roman"/>
                <a:cs typeface="Times New Roman"/>
              </a:rPr>
              <a:t> </a:t>
            </a:r>
            <a:r>
              <a:rPr sz="900" spc="-10" dirty="0">
                <a:solidFill>
                  <a:srgbClr val="5B5B5B"/>
                </a:solidFill>
                <a:latin typeface="Times New Roman"/>
                <a:cs typeface="Times New Roman"/>
              </a:rPr>
              <a:t>years.</a:t>
            </a:r>
            <a:r>
              <a:rPr sz="900" spc="500" dirty="0">
                <a:solidFill>
                  <a:srgbClr val="5B5B5B"/>
                </a:solidFill>
                <a:latin typeface="Times New Roman"/>
                <a:cs typeface="Times New Roman"/>
              </a:rPr>
              <a:t> </a:t>
            </a:r>
            <a:r>
              <a:rPr sz="900" dirty="0">
                <a:solidFill>
                  <a:srgbClr val="5D5D5D"/>
                </a:solidFill>
                <a:latin typeface="Times New Roman"/>
                <a:cs typeface="Times New Roman"/>
              </a:rPr>
              <a:t>This</a:t>
            </a:r>
            <a:r>
              <a:rPr sz="900" spc="50" dirty="0">
                <a:solidFill>
                  <a:srgbClr val="5D5D5D"/>
                </a:solidFill>
                <a:latin typeface="Times New Roman"/>
                <a:cs typeface="Times New Roman"/>
              </a:rPr>
              <a:t> </a:t>
            </a:r>
            <a:r>
              <a:rPr sz="900" dirty="0">
                <a:solidFill>
                  <a:srgbClr val="606060"/>
                </a:solidFill>
                <a:latin typeface="Times New Roman"/>
                <a:cs typeface="Times New Roman"/>
              </a:rPr>
              <a:t>advancement</a:t>
            </a:r>
            <a:r>
              <a:rPr sz="900" spc="180" dirty="0">
                <a:solidFill>
                  <a:srgbClr val="606060"/>
                </a:solidFill>
                <a:latin typeface="Times New Roman"/>
                <a:cs typeface="Times New Roman"/>
              </a:rPr>
              <a:t> </a:t>
            </a:r>
            <a:r>
              <a:rPr sz="900" dirty="0">
                <a:solidFill>
                  <a:srgbClr val="5D5D5D"/>
                </a:solidFill>
                <a:latin typeface="Times New Roman"/>
                <a:cs typeface="Times New Roman"/>
              </a:rPr>
              <a:t>is</a:t>
            </a:r>
            <a:r>
              <a:rPr sz="900" spc="40" dirty="0">
                <a:solidFill>
                  <a:srgbClr val="5D5D5D"/>
                </a:solidFill>
                <a:latin typeface="Times New Roman"/>
                <a:cs typeface="Times New Roman"/>
              </a:rPr>
              <a:t> </a:t>
            </a:r>
            <a:r>
              <a:rPr sz="900" dirty="0">
                <a:solidFill>
                  <a:srgbClr val="606060"/>
                </a:solidFill>
                <a:latin typeface="Times New Roman"/>
                <a:cs typeface="Times New Roman"/>
              </a:rPr>
              <a:t>important</a:t>
            </a:r>
            <a:r>
              <a:rPr sz="900" spc="105" dirty="0">
                <a:solidFill>
                  <a:srgbClr val="606060"/>
                </a:solidFill>
                <a:latin typeface="Times New Roman"/>
                <a:cs typeface="Times New Roman"/>
              </a:rPr>
              <a:t> </a:t>
            </a:r>
            <a:r>
              <a:rPr sz="900" dirty="0">
                <a:solidFill>
                  <a:srgbClr val="606060"/>
                </a:solidFill>
                <a:latin typeface="Times New Roman"/>
                <a:cs typeface="Times New Roman"/>
              </a:rPr>
              <a:t>as</a:t>
            </a:r>
            <a:r>
              <a:rPr sz="900" spc="25" dirty="0">
                <a:solidFill>
                  <a:srgbClr val="606060"/>
                </a:solidFill>
                <a:latin typeface="Times New Roman"/>
                <a:cs typeface="Times New Roman"/>
              </a:rPr>
              <a:t> </a:t>
            </a:r>
            <a:r>
              <a:rPr sz="900" dirty="0">
                <a:solidFill>
                  <a:srgbClr val="5D5D5D"/>
                </a:solidFill>
                <a:latin typeface="Times New Roman"/>
                <a:cs typeface="Times New Roman"/>
              </a:rPr>
              <a:t>other</a:t>
            </a:r>
            <a:r>
              <a:rPr sz="900" spc="85" dirty="0">
                <a:solidFill>
                  <a:srgbClr val="5D5D5D"/>
                </a:solidFill>
                <a:latin typeface="Times New Roman"/>
                <a:cs typeface="Times New Roman"/>
              </a:rPr>
              <a:t> </a:t>
            </a:r>
            <a:r>
              <a:rPr sz="900" dirty="0">
                <a:solidFill>
                  <a:srgbClr val="575757"/>
                </a:solidFill>
                <a:latin typeface="Times New Roman"/>
                <a:cs typeface="Times New Roman"/>
              </a:rPr>
              <a:t>aspects</a:t>
            </a:r>
            <a:r>
              <a:rPr sz="900" spc="75" dirty="0">
                <a:solidFill>
                  <a:srgbClr val="575757"/>
                </a:solidFill>
                <a:latin typeface="Times New Roman"/>
                <a:cs typeface="Times New Roman"/>
              </a:rPr>
              <a:t> </a:t>
            </a:r>
            <a:r>
              <a:rPr sz="900" dirty="0">
                <a:solidFill>
                  <a:srgbClr val="606060"/>
                </a:solidFill>
                <a:latin typeface="Times New Roman"/>
                <a:cs typeface="Times New Roman"/>
              </a:rPr>
              <a:t>of</a:t>
            </a:r>
            <a:r>
              <a:rPr sz="900" spc="100" dirty="0">
                <a:solidFill>
                  <a:srgbClr val="606060"/>
                </a:solidFill>
                <a:latin typeface="Times New Roman"/>
                <a:cs typeface="Times New Roman"/>
              </a:rPr>
              <a:t> </a:t>
            </a:r>
            <a:r>
              <a:rPr sz="900" dirty="0">
                <a:solidFill>
                  <a:srgbClr val="5D5D5D"/>
                </a:solidFill>
                <a:latin typeface="Times New Roman"/>
                <a:cs typeface="Times New Roman"/>
              </a:rPr>
              <a:t>technological</a:t>
            </a:r>
            <a:r>
              <a:rPr sz="900" spc="150" dirty="0">
                <a:solidFill>
                  <a:srgbClr val="5D5D5D"/>
                </a:solidFill>
                <a:latin typeface="Times New Roman"/>
                <a:cs typeface="Times New Roman"/>
              </a:rPr>
              <a:t> </a:t>
            </a:r>
            <a:r>
              <a:rPr sz="900" dirty="0">
                <a:solidFill>
                  <a:srgbClr val="595959"/>
                </a:solidFill>
                <a:latin typeface="Times New Roman"/>
                <a:cs typeface="Times New Roman"/>
              </a:rPr>
              <a:t>progress</a:t>
            </a:r>
            <a:r>
              <a:rPr sz="900" spc="150" dirty="0">
                <a:solidFill>
                  <a:srgbClr val="595959"/>
                </a:solidFill>
                <a:latin typeface="Times New Roman"/>
                <a:cs typeface="Times New Roman"/>
              </a:rPr>
              <a:t> </a:t>
            </a:r>
            <a:r>
              <a:rPr sz="900" spc="-450" dirty="0">
                <a:solidFill>
                  <a:srgbClr val="5D5D5D"/>
                </a:solidFill>
                <a:latin typeface="Times New Roman"/>
                <a:cs typeface="Times New Roman"/>
              </a:rPr>
              <a:t>—</a:t>
            </a:r>
            <a:r>
              <a:rPr sz="900" spc="125" dirty="0">
                <a:solidFill>
                  <a:srgbClr val="5D5D5D"/>
                </a:solidFill>
                <a:latin typeface="Times New Roman"/>
                <a:cs typeface="Times New Roman"/>
              </a:rPr>
              <a:t> </a:t>
            </a:r>
            <a:r>
              <a:rPr sz="900" dirty="0">
                <a:solidFill>
                  <a:srgbClr val="606060"/>
                </a:solidFill>
                <a:latin typeface="Times New Roman"/>
                <a:cs typeface="Times New Roman"/>
              </a:rPr>
              <a:t>such</a:t>
            </a:r>
            <a:r>
              <a:rPr sz="900" spc="80" dirty="0">
                <a:solidFill>
                  <a:srgbClr val="606060"/>
                </a:solidFill>
                <a:latin typeface="Times New Roman"/>
                <a:cs typeface="Times New Roman"/>
              </a:rPr>
              <a:t> </a:t>
            </a:r>
            <a:r>
              <a:rPr sz="900" dirty="0">
                <a:solidFill>
                  <a:srgbClr val="5D5D5D"/>
                </a:solidFill>
                <a:latin typeface="Times New Roman"/>
                <a:cs typeface="Times New Roman"/>
              </a:rPr>
              <a:t>as</a:t>
            </a:r>
            <a:r>
              <a:rPr sz="900" spc="70" dirty="0">
                <a:solidFill>
                  <a:srgbClr val="5D5D5D"/>
                </a:solidFill>
                <a:latin typeface="Times New Roman"/>
                <a:cs typeface="Times New Roman"/>
              </a:rPr>
              <a:t> </a:t>
            </a:r>
            <a:r>
              <a:rPr sz="900" dirty="0">
                <a:solidFill>
                  <a:srgbClr val="5D5D5D"/>
                </a:solidFill>
                <a:latin typeface="Times New Roman"/>
                <a:cs typeface="Times New Roman"/>
              </a:rPr>
              <a:t>processing</a:t>
            </a:r>
            <a:r>
              <a:rPr sz="900" spc="120" dirty="0">
                <a:solidFill>
                  <a:srgbClr val="5D5D5D"/>
                </a:solidFill>
                <a:latin typeface="Times New Roman"/>
                <a:cs typeface="Times New Roman"/>
              </a:rPr>
              <a:t> </a:t>
            </a:r>
            <a:r>
              <a:rPr sz="900" dirty="0">
                <a:solidFill>
                  <a:srgbClr val="606060"/>
                </a:solidFill>
                <a:latin typeface="Times New Roman"/>
                <a:cs typeface="Times New Roman"/>
              </a:rPr>
              <a:t>speed</a:t>
            </a:r>
            <a:r>
              <a:rPr sz="900" spc="70" dirty="0">
                <a:solidFill>
                  <a:srgbClr val="606060"/>
                </a:solidFill>
                <a:latin typeface="Times New Roman"/>
                <a:cs typeface="Times New Roman"/>
              </a:rPr>
              <a:t> </a:t>
            </a:r>
            <a:r>
              <a:rPr sz="900" dirty="0">
                <a:solidFill>
                  <a:srgbClr val="606060"/>
                </a:solidFill>
                <a:latin typeface="Times New Roman"/>
                <a:cs typeface="Times New Roman"/>
              </a:rPr>
              <a:t>or</a:t>
            </a:r>
            <a:r>
              <a:rPr sz="900" spc="55" dirty="0">
                <a:solidFill>
                  <a:srgbClr val="606060"/>
                </a:solidFill>
                <a:latin typeface="Times New Roman"/>
                <a:cs typeface="Times New Roman"/>
              </a:rPr>
              <a:t> </a:t>
            </a:r>
            <a:r>
              <a:rPr sz="900" dirty="0">
                <a:solidFill>
                  <a:srgbClr val="5E5E5E"/>
                </a:solidFill>
                <a:latin typeface="Times New Roman"/>
                <a:cs typeface="Times New Roman"/>
              </a:rPr>
              <a:t>the</a:t>
            </a:r>
            <a:r>
              <a:rPr sz="900" spc="110" dirty="0">
                <a:solidFill>
                  <a:srgbClr val="5E5E5E"/>
                </a:solidFill>
                <a:latin typeface="Times New Roman"/>
                <a:cs typeface="Times New Roman"/>
              </a:rPr>
              <a:t> </a:t>
            </a:r>
            <a:r>
              <a:rPr sz="900" dirty="0">
                <a:solidFill>
                  <a:srgbClr val="626262"/>
                </a:solidFill>
                <a:latin typeface="Times New Roman"/>
                <a:cs typeface="Times New Roman"/>
              </a:rPr>
              <a:t>price</a:t>
            </a:r>
            <a:r>
              <a:rPr sz="900" spc="85" dirty="0">
                <a:solidFill>
                  <a:srgbClr val="626262"/>
                </a:solidFill>
                <a:latin typeface="Times New Roman"/>
                <a:cs typeface="Times New Roman"/>
              </a:rPr>
              <a:t> </a:t>
            </a:r>
            <a:r>
              <a:rPr sz="900" dirty="0">
                <a:solidFill>
                  <a:srgbClr val="626262"/>
                </a:solidFill>
                <a:latin typeface="Times New Roman"/>
                <a:cs typeface="Times New Roman"/>
              </a:rPr>
              <a:t>of</a:t>
            </a:r>
            <a:r>
              <a:rPr sz="900" spc="90" dirty="0">
                <a:solidFill>
                  <a:srgbClr val="626262"/>
                </a:solidFill>
                <a:latin typeface="Times New Roman"/>
                <a:cs typeface="Times New Roman"/>
              </a:rPr>
              <a:t> </a:t>
            </a:r>
            <a:r>
              <a:rPr sz="900" dirty="0">
                <a:solidFill>
                  <a:srgbClr val="606060"/>
                </a:solidFill>
                <a:latin typeface="Times New Roman"/>
                <a:cs typeface="Times New Roman"/>
              </a:rPr>
              <a:t>electronic</a:t>
            </a:r>
            <a:r>
              <a:rPr sz="900" spc="130" dirty="0">
                <a:solidFill>
                  <a:srgbClr val="606060"/>
                </a:solidFill>
                <a:latin typeface="Times New Roman"/>
                <a:cs typeface="Times New Roman"/>
              </a:rPr>
              <a:t> </a:t>
            </a:r>
            <a:r>
              <a:rPr sz="900" dirty="0">
                <a:solidFill>
                  <a:srgbClr val="5D5D5D"/>
                </a:solidFill>
                <a:latin typeface="Times New Roman"/>
                <a:cs typeface="Times New Roman"/>
              </a:rPr>
              <a:t>products</a:t>
            </a:r>
            <a:r>
              <a:rPr sz="900" spc="130" dirty="0">
                <a:solidFill>
                  <a:srgbClr val="5D5D5D"/>
                </a:solidFill>
                <a:latin typeface="Times New Roman"/>
                <a:cs typeface="Times New Roman"/>
              </a:rPr>
              <a:t> </a:t>
            </a:r>
            <a:r>
              <a:rPr sz="900" spc="-450" dirty="0">
                <a:solidFill>
                  <a:srgbClr val="646464"/>
                </a:solidFill>
                <a:latin typeface="Times New Roman"/>
                <a:cs typeface="Times New Roman"/>
              </a:rPr>
              <a:t>—</a:t>
            </a:r>
            <a:r>
              <a:rPr sz="900" spc="114" dirty="0">
                <a:solidFill>
                  <a:srgbClr val="646464"/>
                </a:solidFill>
                <a:latin typeface="Times New Roman"/>
                <a:cs typeface="Times New Roman"/>
              </a:rPr>
              <a:t> </a:t>
            </a:r>
            <a:r>
              <a:rPr sz="900" spc="-25" dirty="0">
                <a:solidFill>
                  <a:srgbClr val="595959"/>
                </a:solidFill>
                <a:latin typeface="Times New Roman"/>
                <a:cs typeface="Times New Roman"/>
              </a:rPr>
              <a:t>are</a:t>
            </a:r>
            <a:r>
              <a:rPr sz="900" dirty="0">
                <a:solidFill>
                  <a:srgbClr val="595959"/>
                </a:solidFill>
                <a:latin typeface="Times New Roman"/>
                <a:cs typeface="Times New Roman"/>
              </a:rPr>
              <a:t> </a:t>
            </a:r>
            <a:r>
              <a:rPr sz="900" dirty="0">
                <a:solidFill>
                  <a:srgbClr val="5E5E5E"/>
                </a:solidFill>
                <a:latin typeface="Times New Roman"/>
                <a:cs typeface="Times New Roman"/>
              </a:rPr>
              <a:t>strongly</a:t>
            </a:r>
            <a:r>
              <a:rPr sz="900" spc="55" dirty="0">
                <a:solidFill>
                  <a:srgbClr val="5E5E5E"/>
                </a:solidFill>
                <a:latin typeface="Times New Roman"/>
                <a:cs typeface="Times New Roman"/>
              </a:rPr>
              <a:t> </a:t>
            </a:r>
            <a:r>
              <a:rPr sz="900" dirty="0">
                <a:solidFill>
                  <a:srgbClr val="565656"/>
                </a:solidFill>
                <a:latin typeface="Times New Roman"/>
                <a:cs typeface="Times New Roman"/>
              </a:rPr>
              <a:t>linked</a:t>
            </a:r>
            <a:r>
              <a:rPr sz="900" spc="145" dirty="0">
                <a:solidFill>
                  <a:srgbClr val="565656"/>
                </a:solidFill>
                <a:latin typeface="Times New Roman"/>
                <a:cs typeface="Times New Roman"/>
              </a:rPr>
              <a:t> </a:t>
            </a:r>
            <a:r>
              <a:rPr sz="900" dirty="0">
                <a:solidFill>
                  <a:srgbClr val="6B6B6B"/>
                </a:solidFill>
                <a:latin typeface="Times New Roman"/>
                <a:cs typeface="Times New Roman"/>
              </a:rPr>
              <a:t>to</a:t>
            </a:r>
            <a:r>
              <a:rPr sz="900" spc="85" dirty="0">
                <a:solidFill>
                  <a:srgbClr val="6B6B6B"/>
                </a:solidFill>
                <a:latin typeface="Times New Roman"/>
                <a:cs typeface="Times New Roman"/>
              </a:rPr>
              <a:t> </a:t>
            </a:r>
            <a:r>
              <a:rPr sz="900" dirty="0">
                <a:solidFill>
                  <a:srgbClr val="626262"/>
                </a:solidFill>
                <a:latin typeface="Times New Roman"/>
                <a:cs typeface="Times New Roman"/>
              </a:rPr>
              <a:t>Moore's</a:t>
            </a:r>
            <a:r>
              <a:rPr sz="900" spc="75" dirty="0">
                <a:solidFill>
                  <a:srgbClr val="626262"/>
                </a:solidFill>
                <a:latin typeface="Times New Roman"/>
                <a:cs typeface="Times New Roman"/>
              </a:rPr>
              <a:t> </a:t>
            </a:r>
            <a:r>
              <a:rPr sz="900" spc="-20" dirty="0">
                <a:solidFill>
                  <a:srgbClr val="565656"/>
                </a:solidFill>
                <a:latin typeface="Times New Roman"/>
                <a:cs typeface="Times New Roman"/>
              </a:rPr>
              <a:t>law.</a:t>
            </a:r>
            <a:endParaRPr sz="900">
              <a:latin typeface="Times New Roman"/>
              <a:cs typeface="Times New Roman"/>
            </a:endParaRPr>
          </a:p>
        </p:txBody>
      </p:sp>
      <p:sp>
        <p:nvSpPr>
          <p:cNvPr id="52" name="object 52"/>
          <p:cNvSpPr txBox="1"/>
          <p:nvPr/>
        </p:nvSpPr>
        <p:spPr>
          <a:xfrm>
            <a:off x="669797" y="1525016"/>
            <a:ext cx="767080" cy="485775"/>
          </a:xfrm>
          <a:prstGeom prst="rect">
            <a:avLst/>
          </a:prstGeom>
        </p:spPr>
        <p:txBody>
          <a:bodyPr vert="horz" wrap="square" lIns="0" tIns="24765" rIns="0" bIns="0" rtlCol="0">
            <a:spAutoFit/>
          </a:bodyPr>
          <a:lstStyle/>
          <a:p>
            <a:pPr marL="15240">
              <a:lnSpc>
                <a:spcPct val="100000"/>
              </a:lnSpc>
              <a:spcBef>
                <a:spcPts val="195"/>
              </a:spcBef>
            </a:pPr>
            <a:r>
              <a:rPr sz="900" spc="-35" dirty="0">
                <a:solidFill>
                  <a:srgbClr val="343434"/>
                </a:solidFill>
                <a:latin typeface="Arial MT"/>
                <a:cs typeface="Arial MT"/>
              </a:rPr>
              <a:t>20,000,000,000</a:t>
            </a:r>
            <a:endParaRPr sz="900">
              <a:latin typeface="Arial MT"/>
              <a:cs typeface="Arial MT"/>
            </a:endParaRPr>
          </a:p>
          <a:p>
            <a:pPr marL="12700">
              <a:lnSpc>
                <a:spcPct val="100000"/>
              </a:lnSpc>
              <a:spcBef>
                <a:spcPts val="95"/>
              </a:spcBef>
            </a:pPr>
            <a:r>
              <a:rPr sz="900" spc="-35" dirty="0">
                <a:solidFill>
                  <a:srgbClr val="343434"/>
                </a:solidFill>
                <a:latin typeface="Arial MT"/>
                <a:cs typeface="Arial MT"/>
              </a:rPr>
              <a:t>10,000,000,000</a:t>
            </a:r>
            <a:endParaRPr sz="900">
              <a:latin typeface="Arial MT"/>
              <a:cs typeface="Arial MT"/>
            </a:endParaRPr>
          </a:p>
          <a:p>
            <a:pPr marL="74930">
              <a:lnSpc>
                <a:spcPct val="100000"/>
              </a:lnSpc>
              <a:spcBef>
                <a:spcPts val="190"/>
              </a:spcBef>
            </a:pPr>
            <a:r>
              <a:rPr sz="900" spc="-35" dirty="0">
                <a:solidFill>
                  <a:srgbClr val="3D3D3D"/>
                </a:solidFill>
                <a:latin typeface="Arial MT"/>
                <a:cs typeface="Arial MT"/>
              </a:rPr>
              <a:t>5,000,000,000</a:t>
            </a:r>
            <a:endParaRPr sz="900">
              <a:latin typeface="Arial MT"/>
              <a:cs typeface="Arial MT"/>
            </a:endParaRPr>
          </a:p>
        </p:txBody>
      </p:sp>
      <p:sp>
        <p:nvSpPr>
          <p:cNvPr id="53" name="object 53"/>
          <p:cNvSpPr txBox="1"/>
          <p:nvPr/>
        </p:nvSpPr>
        <p:spPr>
          <a:xfrm>
            <a:off x="728401" y="2191257"/>
            <a:ext cx="700405" cy="348615"/>
          </a:xfrm>
          <a:prstGeom prst="rect">
            <a:avLst/>
          </a:prstGeom>
        </p:spPr>
        <p:txBody>
          <a:bodyPr vert="horz" wrap="square" lIns="0" tIns="44450" rIns="0" bIns="0" rtlCol="0">
            <a:spAutoFit/>
          </a:bodyPr>
          <a:lstStyle/>
          <a:p>
            <a:pPr marR="10160" algn="r">
              <a:lnSpc>
                <a:spcPct val="100000"/>
              </a:lnSpc>
              <a:spcBef>
                <a:spcPts val="350"/>
              </a:spcBef>
            </a:pPr>
            <a:r>
              <a:rPr sz="850" spc="-10" dirty="0">
                <a:solidFill>
                  <a:srgbClr val="2F2F2F"/>
                </a:solidFill>
                <a:latin typeface="Arial MT"/>
                <a:cs typeface="Arial MT"/>
              </a:rPr>
              <a:t>1,000,000,000</a:t>
            </a:r>
            <a:endParaRPr sz="850">
              <a:latin typeface="Arial MT"/>
              <a:cs typeface="Arial MT"/>
            </a:endParaRPr>
          </a:p>
          <a:p>
            <a:pPr marR="5080" algn="r">
              <a:lnSpc>
                <a:spcPct val="100000"/>
              </a:lnSpc>
              <a:spcBef>
                <a:spcPts val="254"/>
              </a:spcBef>
            </a:pPr>
            <a:r>
              <a:rPr sz="850" spc="-10" dirty="0">
                <a:solidFill>
                  <a:srgbClr val="3D3D3D"/>
                </a:solidFill>
                <a:latin typeface="Arial MT"/>
                <a:cs typeface="Arial MT"/>
              </a:rPr>
              <a:t>500,000,000</a:t>
            </a:r>
            <a:endParaRPr sz="850">
              <a:latin typeface="Arial MT"/>
              <a:cs typeface="Arial MT"/>
            </a:endParaRPr>
          </a:p>
        </p:txBody>
      </p:sp>
      <p:sp>
        <p:nvSpPr>
          <p:cNvPr id="54" name="object 54"/>
          <p:cNvSpPr txBox="1"/>
          <p:nvPr/>
        </p:nvSpPr>
        <p:spPr>
          <a:xfrm>
            <a:off x="816793" y="2730753"/>
            <a:ext cx="611505" cy="342900"/>
          </a:xfrm>
          <a:prstGeom prst="rect">
            <a:avLst/>
          </a:prstGeom>
        </p:spPr>
        <p:txBody>
          <a:bodyPr vert="horz" wrap="square" lIns="0" tIns="41275" rIns="0" bIns="0" rtlCol="0">
            <a:spAutoFit/>
          </a:bodyPr>
          <a:lstStyle/>
          <a:p>
            <a:pPr marL="12700">
              <a:lnSpc>
                <a:spcPct val="100000"/>
              </a:lnSpc>
              <a:spcBef>
                <a:spcPts val="325"/>
              </a:spcBef>
            </a:pPr>
            <a:r>
              <a:rPr sz="850" spc="-10" dirty="0">
                <a:solidFill>
                  <a:srgbClr val="3F3F3F"/>
                </a:solidFill>
                <a:latin typeface="Arial MT"/>
                <a:cs typeface="Arial MT"/>
              </a:rPr>
              <a:t>100,000,000</a:t>
            </a:r>
            <a:endParaRPr sz="850">
              <a:latin typeface="Arial MT"/>
              <a:cs typeface="Arial MT"/>
            </a:endParaRPr>
          </a:p>
          <a:p>
            <a:pPr marL="74295">
              <a:lnSpc>
                <a:spcPct val="100000"/>
              </a:lnSpc>
              <a:spcBef>
                <a:spcPts val="229"/>
              </a:spcBef>
            </a:pPr>
            <a:r>
              <a:rPr sz="850" spc="-10" dirty="0">
                <a:solidFill>
                  <a:srgbClr val="424242"/>
                </a:solidFill>
                <a:latin typeface="Arial MT"/>
                <a:cs typeface="Arial MT"/>
              </a:rPr>
              <a:t>50,000,000</a:t>
            </a:r>
            <a:endParaRPr sz="850">
              <a:latin typeface="Arial MT"/>
              <a:cs typeface="Arial MT"/>
            </a:endParaRPr>
          </a:p>
        </p:txBody>
      </p:sp>
      <p:sp>
        <p:nvSpPr>
          <p:cNvPr id="55" name="object 55"/>
          <p:cNvSpPr txBox="1"/>
          <p:nvPr/>
        </p:nvSpPr>
        <p:spPr>
          <a:xfrm>
            <a:off x="877753" y="3261105"/>
            <a:ext cx="550545" cy="342900"/>
          </a:xfrm>
          <a:prstGeom prst="rect">
            <a:avLst/>
          </a:prstGeom>
        </p:spPr>
        <p:txBody>
          <a:bodyPr vert="horz" wrap="square" lIns="0" tIns="41275" rIns="0" bIns="0" rtlCol="0">
            <a:spAutoFit/>
          </a:bodyPr>
          <a:lstStyle/>
          <a:p>
            <a:pPr marL="12700">
              <a:lnSpc>
                <a:spcPct val="100000"/>
              </a:lnSpc>
              <a:spcBef>
                <a:spcPts val="325"/>
              </a:spcBef>
            </a:pPr>
            <a:r>
              <a:rPr sz="850" spc="-10" dirty="0">
                <a:solidFill>
                  <a:srgbClr val="343434"/>
                </a:solidFill>
                <a:latin typeface="Arial MT"/>
                <a:cs typeface="Arial MT"/>
              </a:rPr>
              <a:t>10,000,000</a:t>
            </a:r>
            <a:endParaRPr sz="850">
              <a:latin typeface="Arial MT"/>
              <a:cs typeface="Arial MT"/>
            </a:endParaRPr>
          </a:p>
          <a:p>
            <a:pPr marL="71755">
              <a:lnSpc>
                <a:spcPct val="100000"/>
              </a:lnSpc>
              <a:spcBef>
                <a:spcPts val="229"/>
              </a:spcBef>
            </a:pPr>
            <a:r>
              <a:rPr sz="850" spc="-10" dirty="0">
                <a:solidFill>
                  <a:srgbClr val="3D3D3D"/>
                </a:solidFill>
                <a:latin typeface="Arial MT"/>
                <a:cs typeface="Arial MT"/>
              </a:rPr>
              <a:t>5,000,000</a:t>
            </a:r>
            <a:endParaRPr sz="850">
              <a:latin typeface="Arial MT"/>
              <a:cs typeface="Arial MT"/>
            </a:endParaRPr>
          </a:p>
        </p:txBody>
      </p:sp>
      <p:sp>
        <p:nvSpPr>
          <p:cNvPr id="56" name="object 56"/>
          <p:cNvSpPr txBox="1"/>
          <p:nvPr/>
        </p:nvSpPr>
        <p:spPr>
          <a:xfrm>
            <a:off x="935665" y="3791458"/>
            <a:ext cx="493395" cy="348615"/>
          </a:xfrm>
          <a:prstGeom prst="rect">
            <a:avLst/>
          </a:prstGeom>
        </p:spPr>
        <p:txBody>
          <a:bodyPr vert="horz" wrap="square" lIns="0" tIns="44450" rIns="0" bIns="0" rtlCol="0">
            <a:spAutoFit/>
          </a:bodyPr>
          <a:lstStyle/>
          <a:p>
            <a:pPr marR="6985" algn="r">
              <a:lnSpc>
                <a:spcPct val="100000"/>
              </a:lnSpc>
              <a:spcBef>
                <a:spcPts val="350"/>
              </a:spcBef>
            </a:pPr>
            <a:r>
              <a:rPr sz="850" spc="-10" dirty="0">
                <a:solidFill>
                  <a:srgbClr val="3F3F3F"/>
                </a:solidFill>
                <a:latin typeface="Arial MT"/>
                <a:cs typeface="Arial MT"/>
              </a:rPr>
              <a:t>1,000,000</a:t>
            </a:r>
            <a:endParaRPr sz="850">
              <a:latin typeface="Arial MT"/>
              <a:cs typeface="Arial MT"/>
            </a:endParaRPr>
          </a:p>
          <a:p>
            <a:pPr marR="5080" algn="r">
              <a:lnSpc>
                <a:spcPct val="100000"/>
              </a:lnSpc>
              <a:spcBef>
                <a:spcPts val="254"/>
              </a:spcBef>
            </a:pPr>
            <a:r>
              <a:rPr sz="850" spc="-10" dirty="0">
                <a:solidFill>
                  <a:srgbClr val="3B3B3B"/>
                </a:solidFill>
                <a:latin typeface="Arial MT"/>
                <a:cs typeface="Arial MT"/>
              </a:rPr>
              <a:t>500,000</a:t>
            </a:r>
            <a:endParaRPr sz="850">
              <a:latin typeface="Arial MT"/>
              <a:cs typeface="Arial MT"/>
            </a:endParaRPr>
          </a:p>
        </p:txBody>
      </p:sp>
      <p:sp>
        <p:nvSpPr>
          <p:cNvPr id="57" name="object 57"/>
          <p:cNvSpPr txBox="1"/>
          <p:nvPr/>
        </p:nvSpPr>
        <p:spPr>
          <a:xfrm>
            <a:off x="1024057" y="4321810"/>
            <a:ext cx="408305" cy="348615"/>
          </a:xfrm>
          <a:prstGeom prst="rect">
            <a:avLst/>
          </a:prstGeom>
        </p:spPr>
        <p:txBody>
          <a:bodyPr vert="horz" wrap="square" lIns="0" tIns="44450" rIns="0" bIns="0" rtlCol="0">
            <a:spAutoFit/>
          </a:bodyPr>
          <a:lstStyle/>
          <a:p>
            <a:pPr marL="12700">
              <a:lnSpc>
                <a:spcPct val="100000"/>
              </a:lnSpc>
              <a:spcBef>
                <a:spcPts val="350"/>
              </a:spcBef>
            </a:pPr>
            <a:r>
              <a:rPr sz="850" spc="-10" dirty="0">
                <a:solidFill>
                  <a:srgbClr val="3D3D3D"/>
                </a:solidFill>
                <a:latin typeface="Arial MT"/>
                <a:cs typeface="Arial MT"/>
              </a:rPr>
              <a:t>100,000</a:t>
            </a:r>
            <a:endParaRPr sz="850">
              <a:latin typeface="Arial MT"/>
              <a:cs typeface="Arial MT"/>
            </a:endParaRPr>
          </a:p>
          <a:p>
            <a:pPr marL="74295">
              <a:lnSpc>
                <a:spcPct val="100000"/>
              </a:lnSpc>
              <a:spcBef>
                <a:spcPts val="250"/>
              </a:spcBef>
            </a:pPr>
            <a:r>
              <a:rPr sz="850" spc="-10" dirty="0">
                <a:solidFill>
                  <a:srgbClr val="313131"/>
                </a:solidFill>
                <a:latin typeface="Arial MT"/>
                <a:cs typeface="Arial MT"/>
              </a:rPr>
              <a:t>50,000</a:t>
            </a:r>
            <a:endParaRPr sz="850">
              <a:latin typeface="Arial MT"/>
              <a:cs typeface="Arial MT"/>
            </a:endParaRPr>
          </a:p>
        </p:txBody>
      </p:sp>
      <p:sp>
        <p:nvSpPr>
          <p:cNvPr id="58" name="object 58"/>
          <p:cNvSpPr txBox="1"/>
          <p:nvPr/>
        </p:nvSpPr>
        <p:spPr>
          <a:xfrm>
            <a:off x="1081277" y="4856480"/>
            <a:ext cx="351155" cy="348615"/>
          </a:xfrm>
          <a:prstGeom prst="rect">
            <a:avLst/>
          </a:prstGeom>
        </p:spPr>
        <p:txBody>
          <a:bodyPr vert="horz" wrap="square" lIns="0" tIns="36830" rIns="0" bIns="0" rtlCol="0">
            <a:spAutoFit/>
          </a:bodyPr>
          <a:lstStyle/>
          <a:p>
            <a:pPr marL="12700">
              <a:lnSpc>
                <a:spcPct val="100000"/>
              </a:lnSpc>
              <a:spcBef>
                <a:spcPts val="290"/>
              </a:spcBef>
            </a:pPr>
            <a:r>
              <a:rPr sz="900" spc="-30" dirty="0">
                <a:solidFill>
                  <a:srgbClr val="3D3D3D"/>
                </a:solidFill>
                <a:latin typeface="Arial MT"/>
                <a:cs typeface="Arial MT"/>
              </a:rPr>
              <a:t>10,000</a:t>
            </a:r>
            <a:endParaRPr sz="900">
              <a:latin typeface="Arial MT"/>
              <a:cs typeface="Arial MT"/>
            </a:endParaRPr>
          </a:p>
          <a:p>
            <a:pPr marL="74930">
              <a:lnSpc>
                <a:spcPct val="100000"/>
              </a:lnSpc>
              <a:spcBef>
                <a:spcPts val="190"/>
              </a:spcBef>
            </a:pPr>
            <a:r>
              <a:rPr sz="900" spc="-25" dirty="0">
                <a:solidFill>
                  <a:srgbClr val="424242"/>
                </a:solidFill>
                <a:latin typeface="Arial MT"/>
                <a:cs typeface="Arial MT"/>
              </a:rPr>
              <a:t>5,000</a:t>
            </a:r>
            <a:endParaRPr sz="900">
              <a:latin typeface="Arial MT"/>
              <a:cs typeface="Arial MT"/>
            </a:endParaRPr>
          </a:p>
        </p:txBody>
      </p:sp>
      <p:sp>
        <p:nvSpPr>
          <p:cNvPr id="59" name="object 59"/>
          <p:cNvSpPr txBox="1"/>
          <p:nvPr/>
        </p:nvSpPr>
        <p:spPr>
          <a:xfrm>
            <a:off x="1143620" y="5312409"/>
            <a:ext cx="684530" cy="231775"/>
          </a:xfrm>
          <a:prstGeom prst="rect">
            <a:avLst/>
          </a:prstGeom>
        </p:spPr>
        <p:txBody>
          <a:bodyPr vert="horz" wrap="square" lIns="0" tIns="12700" rIns="0" bIns="0" rtlCol="0">
            <a:spAutoFit/>
          </a:bodyPr>
          <a:lstStyle/>
          <a:p>
            <a:pPr marL="385445">
              <a:lnSpc>
                <a:spcPct val="100000"/>
              </a:lnSpc>
              <a:spcBef>
                <a:spcPts val="100"/>
              </a:spcBef>
            </a:pPr>
            <a:r>
              <a:rPr sz="550" spc="-10" dirty="0">
                <a:solidFill>
                  <a:srgbClr val="333333"/>
                </a:solidFill>
                <a:latin typeface="Arial MT"/>
                <a:cs typeface="Arial MT"/>
              </a:rPr>
              <a:t>Intel</a:t>
            </a:r>
            <a:r>
              <a:rPr sz="550" spc="-20" dirty="0">
                <a:solidFill>
                  <a:srgbClr val="333333"/>
                </a:solidFill>
                <a:latin typeface="Arial MT"/>
                <a:cs typeface="Arial MT"/>
              </a:rPr>
              <a:t> </a:t>
            </a:r>
            <a:r>
              <a:rPr sz="550" dirty="0">
                <a:solidFill>
                  <a:srgbClr val="3B3B3B"/>
                </a:solidFill>
                <a:latin typeface="Arial MT"/>
                <a:cs typeface="Arial MT"/>
              </a:rPr>
              <a:t>4</a:t>
            </a:r>
            <a:r>
              <a:rPr sz="550" spc="65" dirty="0">
                <a:solidFill>
                  <a:srgbClr val="3B3B3B"/>
                </a:solidFill>
                <a:latin typeface="Arial MT"/>
                <a:cs typeface="Arial MT"/>
              </a:rPr>
              <a:t> </a:t>
            </a:r>
            <a:r>
              <a:rPr sz="550" spc="-25" dirty="0">
                <a:solidFill>
                  <a:srgbClr val="3B3B3B"/>
                </a:solidFill>
                <a:latin typeface="Arial MT"/>
                <a:cs typeface="Arial MT"/>
              </a:rPr>
              <a:t>04</a:t>
            </a:r>
            <a:endParaRPr sz="550">
              <a:latin typeface="Arial MT"/>
              <a:cs typeface="Arial MT"/>
            </a:endParaRPr>
          </a:p>
          <a:p>
            <a:pPr marL="12700">
              <a:lnSpc>
                <a:spcPct val="100000"/>
              </a:lnSpc>
            </a:pPr>
            <a:r>
              <a:rPr sz="800" spc="-10" dirty="0">
                <a:solidFill>
                  <a:srgbClr val="363636"/>
                </a:solidFill>
                <a:latin typeface="Arial MT"/>
                <a:cs typeface="Arial MT"/>
              </a:rPr>
              <a:t>1,000</a:t>
            </a:r>
            <a:endParaRPr sz="800">
              <a:latin typeface="Arial MT"/>
              <a:cs typeface="Arial MT"/>
            </a:endParaRPr>
          </a:p>
        </p:txBody>
      </p:sp>
      <p:sp>
        <p:nvSpPr>
          <p:cNvPr id="60" name="object 60"/>
          <p:cNvSpPr txBox="1"/>
          <p:nvPr/>
        </p:nvSpPr>
        <p:spPr>
          <a:xfrm>
            <a:off x="2920695" y="3949954"/>
            <a:ext cx="581660" cy="109220"/>
          </a:xfrm>
          <a:prstGeom prst="rect">
            <a:avLst/>
          </a:prstGeom>
        </p:spPr>
        <p:txBody>
          <a:bodyPr vert="horz" wrap="square" lIns="0" tIns="12700" rIns="0" bIns="0" rtlCol="0">
            <a:spAutoFit/>
          </a:bodyPr>
          <a:lstStyle/>
          <a:p>
            <a:pPr marL="12700">
              <a:lnSpc>
                <a:spcPct val="100000"/>
              </a:lnSpc>
              <a:spcBef>
                <a:spcPts val="100"/>
              </a:spcBef>
            </a:pPr>
            <a:r>
              <a:rPr sz="550" spc="-120" dirty="0">
                <a:solidFill>
                  <a:srgbClr val="505050"/>
                </a:solidFill>
                <a:latin typeface="Courier New"/>
                <a:cs typeface="Courier New"/>
              </a:rPr>
              <a:t>Tl</a:t>
            </a:r>
            <a:r>
              <a:rPr sz="550" spc="-105" dirty="0">
                <a:solidFill>
                  <a:srgbClr val="505050"/>
                </a:solidFill>
                <a:latin typeface="Courier New"/>
                <a:cs typeface="Courier New"/>
              </a:rPr>
              <a:t> </a:t>
            </a:r>
            <a:r>
              <a:rPr sz="550" spc="-110" dirty="0">
                <a:solidFill>
                  <a:srgbClr val="383838"/>
                </a:solidFill>
                <a:latin typeface="Courier New"/>
                <a:cs typeface="Courier New"/>
              </a:rPr>
              <a:t>Explorer's</a:t>
            </a:r>
            <a:r>
              <a:rPr sz="550" spc="-145" dirty="0">
                <a:solidFill>
                  <a:srgbClr val="383838"/>
                </a:solidFill>
                <a:latin typeface="Courier New"/>
                <a:cs typeface="Courier New"/>
              </a:rPr>
              <a:t> </a:t>
            </a:r>
            <a:r>
              <a:rPr sz="550" spc="-35" dirty="0">
                <a:solidFill>
                  <a:srgbClr val="484848"/>
                </a:solidFill>
                <a:latin typeface="Courier New"/>
                <a:cs typeface="Courier New"/>
              </a:rPr>
              <a:t>37</a:t>
            </a:r>
            <a:r>
              <a:rPr sz="550" spc="-50" dirty="0">
                <a:solidFill>
                  <a:srgbClr val="484848"/>
                </a:solidFill>
                <a:latin typeface="Courier New"/>
                <a:cs typeface="Courier New"/>
              </a:rPr>
              <a:t> </a:t>
            </a:r>
            <a:r>
              <a:rPr sz="550" spc="-130" dirty="0">
                <a:solidFill>
                  <a:srgbClr val="444444"/>
                </a:solidFill>
                <a:latin typeface="Courier New"/>
                <a:cs typeface="Courier New"/>
              </a:rPr>
              <a:t>bit</a:t>
            </a:r>
            <a:endParaRPr sz="550">
              <a:latin typeface="Courier New"/>
              <a:cs typeface="Courier New"/>
            </a:endParaRPr>
          </a:p>
        </p:txBody>
      </p:sp>
      <p:sp>
        <p:nvSpPr>
          <p:cNvPr id="61" name="object 61"/>
          <p:cNvSpPr txBox="1"/>
          <p:nvPr/>
        </p:nvSpPr>
        <p:spPr>
          <a:xfrm>
            <a:off x="2673499" y="4109974"/>
            <a:ext cx="678815" cy="214629"/>
          </a:xfrm>
          <a:prstGeom prst="rect">
            <a:avLst/>
          </a:prstGeom>
        </p:spPr>
        <p:txBody>
          <a:bodyPr vert="horz" wrap="square" lIns="0" tIns="12700" rIns="0" bIns="0" rtlCol="0">
            <a:spAutoFit/>
          </a:bodyPr>
          <a:lstStyle/>
          <a:p>
            <a:pPr marL="12700" marR="5080" indent="260350">
              <a:lnSpc>
                <a:spcPct val="112700"/>
              </a:lnSpc>
              <a:spcBef>
                <a:spcPts val="100"/>
              </a:spcBef>
            </a:pPr>
            <a:r>
              <a:rPr sz="550" spc="-20" dirty="0">
                <a:solidFill>
                  <a:srgbClr val="464646"/>
                </a:solidFill>
                <a:latin typeface="Arial MT"/>
                <a:cs typeface="Arial MT"/>
              </a:rPr>
              <a:t>Intel</a:t>
            </a:r>
            <a:r>
              <a:rPr sz="550" spc="5" dirty="0">
                <a:solidFill>
                  <a:srgbClr val="464646"/>
                </a:solidFill>
                <a:latin typeface="Arial MT"/>
                <a:cs typeface="Arial MT"/>
              </a:rPr>
              <a:t> </a:t>
            </a:r>
            <a:r>
              <a:rPr sz="550" spc="-10" dirty="0">
                <a:solidFill>
                  <a:srgbClr val="424242"/>
                </a:solidFill>
                <a:latin typeface="Arial MT"/>
                <a:cs typeface="Arial MT"/>
              </a:rPr>
              <a:t>80386a</a:t>
            </a:r>
            <a:r>
              <a:rPr sz="550" spc="500" dirty="0">
                <a:solidFill>
                  <a:srgbClr val="424242"/>
                </a:solidFill>
                <a:latin typeface="Arial MT"/>
                <a:cs typeface="Arial MT"/>
              </a:rPr>
              <a:t> </a:t>
            </a:r>
            <a:r>
              <a:rPr sz="550" spc="-20" dirty="0">
                <a:solidFill>
                  <a:srgbClr val="343434"/>
                </a:solidFill>
                <a:latin typeface="Arial MT"/>
                <a:cs typeface="Arial MT"/>
              </a:rPr>
              <a:t>Motorola</a:t>
            </a:r>
            <a:r>
              <a:rPr sz="550" spc="10" dirty="0">
                <a:solidFill>
                  <a:srgbClr val="343434"/>
                </a:solidFill>
                <a:latin typeface="Arial MT"/>
                <a:cs typeface="Arial MT"/>
              </a:rPr>
              <a:t> </a:t>
            </a:r>
            <a:r>
              <a:rPr sz="550" spc="-20" dirty="0">
                <a:solidFill>
                  <a:srgbClr val="494949"/>
                </a:solidFill>
                <a:latin typeface="Arial MT"/>
                <a:cs typeface="Arial MT"/>
              </a:rPr>
              <a:t>6B020</a:t>
            </a:r>
            <a:endParaRPr sz="550">
              <a:latin typeface="Arial MT"/>
              <a:cs typeface="Arial MT"/>
            </a:endParaRPr>
          </a:p>
        </p:txBody>
      </p:sp>
      <p:sp>
        <p:nvSpPr>
          <p:cNvPr id="62" name="object 62"/>
          <p:cNvSpPr txBox="1"/>
          <p:nvPr/>
        </p:nvSpPr>
        <p:spPr>
          <a:xfrm>
            <a:off x="2328103" y="4373626"/>
            <a:ext cx="56515" cy="109220"/>
          </a:xfrm>
          <a:prstGeom prst="rect">
            <a:avLst/>
          </a:prstGeom>
        </p:spPr>
        <p:txBody>
          <a:bodyPr vert="horz" wrap="square" lIns="0" tIns="12700" rIns="0" bIns="0" rtlCol="0">
            <a:spAutoFit/>
          </a:bodyPr>
          <a:lstStyle/>
          <a:p>
            <a:pPr marL="12700">
              <a:lnSpc>
                <a:spcPct val="100000"/>
              </a:lnSpc>
              <a:spcBef>
                <a:spcPts val="100"/>
              </a:spcBef>
            </a:pPr>
            <a:r>
              <a:rPr sz="550" spc="-50" dirty="0">
                <a:solidFill>
                  <a:srgbClr val="363636"/>
                </a:solidFill>
                <a:latin typeface="Arial MT"/>
                <a:cs typeface="Arial MT"/>
              </a:rPr>
              <a:t>y</a:t>
            </a:r>
            <a:endParaRPr sz="550">
              <a:latin typeface="Arial MT"/>
              <a:cs typeface="Arial MT"/>
            </a:endParaRPr>
          </a:p>
        </p:txBody>
      </p:sp>
      <p:sp>
        <p:nvSpPr>
          <p:cNvPr id="63" name="object 63"/>
          <p:cNvSpPr txBox="1"/>
          <p:nvPr/>
        </p:nvSpPr>
        <p:spPr>
          <a:xfrm>
            <a:off x="2797136" y="4373626"/>
            <a:ext cx="539115" cy="257175"/>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414141"/>
                </a:solidFill>
                <a:latin typeface="Arial MT"/>
                <a:cs typeface="Arial MT"/>
              </a:rPr>
              <a:t>Intel</a:t>
            </a:r>
            <a:r>
              <a:rPr sz="550" spc="185" dirty="0">
                <a:solidFill>
                  <a:srgbClr val="414141"/>
                </a:solidFill>
                <a:latin typeface="Arial MT"/>
                <a:cs typeface="Arial MT"/>
              </a:rPr>
              <a:t> </a:t>
            </a:r>
            <a:r>
              <a:rPr sz="550" spc="-20" dirty="0">
                <a:solidFill>
                  <a:srgbClr val="414141"/>
                </a:solidFill>
                <a:latin typeface="Arial MT"/>
                <a:cs typeface="Arial MT"/>
              </a:rPr>
              <a:t>0286</a:t>
            </a:r>
            <a:endParaRPr sz="550">
              <a:latin typeface="Arial MT"/>
              <a:cs typeface="Arial MT"/>
            </a:endParaRPr>
          </a:p>
          <a:p>
            <a:pPr marL="222250">
              <a:lnSpc>
                <a:spcPct val="100000"/>
              </a:lnSpc>
              <a:spcBef>
                <a:spcPts val="440"/>
              </a:spcBef>
            </a:pPr>
            <a:r>
              <a:rPr sz="600" spc="55" dirty="0">
                <a:solidFill>
                  <a:srgbClr val="343434"/>
                </a:solidFill>
                <a:latin typeface="Arial MT"/>
                <a:cs typeface="Arial MT"/>
              </a:rPr>
              <a:t>.,.I</a:t>
            </a:r>
            <a:r>
              <a:rPr sz="600" spc="-70" dirty="0">
                <a:solidFill>
                  <a:srgbClr val="343434"/>
                </a:solidFill>
                <a:latin typeface="Arial MT"/>
                <a:cs typeface="Arial MT"/>
              </a:rPr>
              <a:t> </a:t>
            </a:r>
            <a:r>
              <a:rPr sz="600" spc="-50" dirty="0">
                <a:solidFill>
                  <a:srgbClr val="4B4B4B"/>
                </a:solidFill>
                <a:latin typeface="Arial MT"/>
                <a:cs typeface="Arial MT"/>
              </a:rPr>
              <a:t>80186</a:t>
            </a:r>
            <a:endParaRPr sz="600">
              <a:latin typeface="Arial MT"/>
              <a:cs typeface="Arial MT"/>
            </a:endParaRPr>
          </a:p>
        </p:txBody>
      </p:sp>
      <p:sp>
        <p:nvSpPr>
          <p:cNvPr id="64" name="object 64"/>
          <p:cNvSpPr txBox="1"/>
          <p:nvPr/>
        </p:nvSpPr>
        <p:spPr>
          <a:xfrm>
            <a:off x="3644265" y="4373626"/>
            <a:ext cx="318770" cy="109220"/>
          </a:xfrm>
          <a:prstGeom prst="rect">
            <a:avLst/>
          </a:prstGeom>
        </p:spPr>
        <p:txBody>
          <a:bodyPr vert="horz" wrap="square" lIns="0" tIns="12700" rIns="0" bIns="0" rtlCol="0">
            <a:spAutoFit/>
          </a:bodyPr>
          <a:lstStyle/>
          <a:p>
            <a:pPr marL="12700">
              <a:lnSpc>
                <a:spcPct val="100000"/>
              </a:lnSpc>
              <a:spcBef>
                <a:spcPts val="100"/>
              </a:spcBef>
            </a:pPr>
            <a:r>
              <a:rPr sz="550" spc="265" dirty="0">
                <a:solidFill>
                  <a:srgbClr val="444444"/>
                </a:solidFill>
                <a:latin typeface="Arial MT"/>
                <a:cs typeface="Arial MT"/>
              </a:rPr>
              <a:t>’”*"”</a:t>
            </a:r>
            <a:endParaRPr sz="550">
              <a:latin typeface="Arial MT"/>
              <a:cs typeface="Arial MT"/>
            </a:endParaRPr>
          </a:p>
        </p:txBody>
      </p:sp>
      <p:sp>
        <p:nvSpPr>
          <p:cNvPr id="65" name="object 65"/>
          <p:cNvSpPr txBox="1"/>
          <p:nvPr/>
        </p:nvSpPr>
        <p:spPr>
          <a:xfrm>
            <a:off x="2398450" y="4452620"/>
            <a:ext cx="276860" cy="116839"/>
          </a:xfrm>
          <a:prstGeom prst="rect">
            <a:avLst/>
          </a:prstGeom>
        </p:spPr>
        <p:txBody>
          <a:bodyPr vert="horz" wrap="square" lIns="0" tIns="12700" rIns="0" bIns="0" rtlCol="0">
            <a:spAutoFit/>
          </a:bodyPr>
          <a:lstStyle/>
          <a:p>
            <a:pPr marL="12700">
              <a:lnSpc>
                <a:spcPct val="100000"/>
              </a:lnSpc>
              <a:spcBef>
                <a:spcPts val="100"/>
              </a:spcBef>
            </a:pPr>
            <a:r>
              <a:rPr sz="600" spc="-10" dirty="0">
                <a:solidFill>
                  <a:srgbClr val="484848"/>
                </a:solidFill>
                <a:latin typeface="Arial MT"/>
                <a:cs typeface="Arial MT"/>
              </a:rPr>
              <a:t>68ooo/</a:t>
            </a:r>
            <a:endParaRPr sz="600">
              <a:latin typeface="Arial MT"/>
              <a:cs typeface="Arial MT"/>
            </a:endParaRPr>
          </a:p>
        </p:txBody>
      </p:sp>
      <p:sp>
        <p:nvSpPr>
          <p:cNvPr id="66" name="object 66"/>
          <p:cNvSpPr txBox="1"/>
          <p:nvPr/>
        </p:nvSpPr>
        <p:spPr>
          <a:xfrm>
            <a:off x="5665304" y="1624329"/>
            <a:ext cx="264160" cy="109220"/>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A3A3A"/>
                </a:solidFill>
                <a:latin typeface="Arial MT"/>
                <a:cs typeface="Arial MT"/>
              </a:rPr>
              <a:t>IBM</a:t>
            </a:r>
            <a:r>
              <a:rPr sz="550" spc="-35" dirty="0">
                <a:solidFill>
                  <a:srgbClr val="3A3A3A"/>
                </a:solidFill>
                <a:latin typeface="Arial MT"/>
                <a:cs typeface="Arial MT"/>
              </a:rPr>
              <a:t> </a:t>
            </a:r>
            <a:r>
              <a:rPr sz="550" spc="-25" dirty="0">
                <a:solidFill>
                  <a:srgbClr val="4D4D4D"/>
                </a:solidFill>
                <a:latin typeface="Arial MT"/>
                <a:cs typeface="Arial MT"/>
              </a:rPr>
              <a:t>z13</a:t>
            </a:r>
            <a:endParaRPr sz="550">
              <a:latin typeface="Arial MT"/>
              <a:cs typeface="Arial MT"/>
            </a:endParaRPr>
          </a:p>
        </p:txBody>
      </p:sp>
      <p:sp>
        <p:nvSpPr>
          <p:cNvPr id="67" name="object 67"/>
          <p:cNvSpPr txBox="1"/>
          <p:nvPr/>
        </p:nvSpPr>
        <p:spPr>
          <a:xfrm>
            <a:off x="5262845" y="1712976"/>
            <a:ext cx="1157605" cy="391160"/>
          </a:xfrm>
          <a:prstGeom prst="rect">
            <a:avLst/>
          </a:prstGeom>
        </p:spPr>
        <p:txBody>
          <a:bodyPr vert="horz" wrap="square" lIns="0" tIns="24765" rIns="0" bIns="0" rtlCol="0">
            <a:spAutoFit/>
          </a:bodyPr>
          <a:lstStyle/>
          <a:p>
            <a:pPr marL="515620" indent="-128905">
              <a:lnSpc>
                <a:spcPct val="100000"/>
              </a:lnSpc>
              <a:spcBef>
                <a:spcPts val="195"/>
              </a:spcBef>
            </a:pPr>
            <a:r>
              <a:rPr sz="500" dirty="0">
                <a:solidFill>
                  <a:srgbClr val="3B3B3B"/>
                </a:solidFill>
                <a:latin typeface="Arial MT"/>
                <a:cs typeface="Arial MT"/>
              </a:rPr>
              <a:t>18-core</a:t>
            </a:r>
            <a:r>
              <a:rPr sz="500" spc="65" dirty="0">
                <a:solidFill>
                  <a:srgbClr val="3B3B3B"/>
                </a:solidFill>
                <a:latin typeface="Arial MT"/>
                <a:cs typeface="Arial MT"/>
              </a:rPr>
              <a:t> </a:t>
            </a:r>
            <a:r>
              <a:rPr sz="500" spc="-10" dirty="0">
                <a:solidFill>
                  <a:srgbClr val="3F3F3F"/>
                </a:solidFill>
                <a:latin typeface="Arial MT"/>
                <a:cs typeface="Arial MT"/>
              </a:rPr>
              <a:t>Xeon</a:t>
            </a:r>
            <a:r>
              <a:rPr sz="500" spc="25" dirty="0">
                <a:solidFill>
                  <a:srgbClr val="3F3F3F"/>
                </a:solidFill>
                <a:latin typeface="Arial MT"/>
                <a:cs typeface="Arial MT"/>
              </a:rPr>
              <a:t> </a:t>
            </a:r>
            <a:r>
              <a:rPr sz="750" spc="-15" baseline="38888" dirty="0">
                <a:solidFill>
                  <a:srgbClr val="383838"/>
                </a:solidFill>
                <a:latin typeface="Arial MT"/>
                <a:cs typeface="Arial MT"/>
              </a:rPr>
              <a:t>HasweII-</a:t>
            </a:r>
            <a:r>
              <a:rPr sz="750" spc="-37" baseline="38888" dirty="0">
                <a:solidFill>
                  <a:srgbClr val="383838"/>
                </a:solidFill>
                <a:latin typeface="Arial MT"/>
                <a:cs typeface="Arial MT"/>
              </a:rPr>
              <a:t>E5</a:t>
            </a:r>
            <a:endParaRPr sz="750" baseline="38888">
              <a:latin typeface="Arial MT"/>
              <a:cs typeface="Arial MT"/>
            </a:endParaRPr>
          </a:p>
          <a:p>
            <a:pPr marL="531495" marR="48260" indent="-16510">
              <a:lnSpc>
                <a:spcPts val="550"/>
              </a:lnSpc>
              <a:spcBef>
                <a:spcPts val="155"/>
              </a:spcBef>
            </a:pPr>
            <a:r>
              <a:rPr sz="500" dirty="0">
                <a:solidFill>
                  <a:srgbClr val="363636"/>
                </a:solidFill>
                <a:latin typeface="Arial MT"/>
                <a:cs typeface="Arial MT"/>
              </a:rPr>
              <a:t>Xbox</a:t>
            </a:r>
            <a:r>
              <a:rPr sz="500" spc="15" dirty="0">
                <a:solidFill>
                  <a:srgbClr val="363636"/>
                </a:solidFill>
                <a:latin typeface="Arial MT"/>
                <a:cs typeface="Arial MT"/>
              </a:rPr>
              <a:t> </a:t>
            </a:r>
            <a:r>
              <a:rPr sz="500" dirty="0">
                <a:solidFill>
                  <a:srgbClr val="4D4D4D"/>
                </a:solidFill>
                <a:latin typeface="Arial MT"/>
                <a:cs typeface="Arial MT"/>
              </a:rPr>
              <a:t>One</a:t>
            </a:r>
            <a:r>
              <a:rPr sz="500" spc="5" dirty="0">
                <a:solidFill>
                  <a:srgbClr val="4D4D4D"/>
                </a:solidFill>
                <a:latin typeface="Arial MT"/>
                <a:cs typeface="Arial MT"/>
              </a:rPr>
              <a:t> </a:t>
            </a:r>
            <a:r>
              <a:rPr sz="500" dirty="0">
                <a:solidFill>
                  <a:srgbClr val="3B3B3B"/>
                </a:solidFill>
                <a:latin typeface="Arial MT"/>
                <a:cs typeface="Arial MT"/>
              </a:rPr>
              <a:t>main</a:t>
            </a:r>
            <a:r>
              <a:rPr sz="500" spc="-10" dirty="0">
                <a:solidFill>
                  <a:srgbClr val="3B3B3B"/>
                </a:solidFill>
                <a:latin typeface="Arial MT"/>
                <a:cs typeface="Arial MT"/>
              </a:rPr>
              <a:t> </a:t>
            </a:r>
            <a:r>
              <a:rPr sz="500" spc="-25" dirty="0">
                <a:solidFill>
                  <a:srgbClr val="4B4B4B"/>
                </a:solidFill>
                <a:latin typeface="Arial MT"/>
                <a:cs typeface="Arial MT"/>
              </a:rPr>
              <a:t>SoC</a:t>
            </a:r>
            <a:r>
              <a:rPr sz="500" spc="500" dirty="0">
                <a:solidFill>
                  <a:srgbClr val="4B4B4B"/>
                </a:solidFill>
                <a:latin typeface="Arial MT"/>
                <a:cs typeface="Arial MT"/>
              </a:rPr>
              <a:t> </a:t>
            </a:r>
            <a:r>
              <a:rPr sz="500" dirty="0">
                <a:solidFill>
                  <a:srgbClr val="343434"/>
                </a:solidFill>
                <a:latin typeface="Arial MT"/>
                <a:cs typeface="Arial MT"/>
              </a:rPr>
              <a:t>61-core</a:t>
            </a:r>
            <a:r>
              <a:rPr sz="500" spc="60" dirty="0">
                <a:solidFill>
                  <a:srgbClr val="343434"/>
                </a:solidFill>
                <a:latin typeface="Arial MT"/>
                <a:cs typeface="Arial MT"/>
              </a:rPr>
              <a:t> </a:t>
            </a:r>
            <a:r>
              <a:rPr sz="500" spc="-25" dirty="0">
                <a:solidFill>
                  <a:srgbClr val="444444"/>
                </a:solidFill>
                <a:latin typeface="Arial MT"/>
                <a:cs typeface="Arial MT"/>
              </a:rPr>
              <a:t>Xe</a:t>
            </a:r>
            <a:endParaRPr sz="500">
              <a:latin typeface="Arial MT"/>
              <a:cs typeface="Arial MT"/>
            </a:endParaRPr>
          </a:p>
          <a:p>
            <a:pPr marL="38100">
              <a:lnSpc>
                <a:spcPct val="100000"/>
              </a:lnSpc>
              <a:spcBef>
                <a:spcPts val="330"/>
              </a:spcBef>
            </a:pPr>
            <a:r>
              <a:rPr sz="500" dirty="0">
                <a:solidFill>
                  <a:srgbClr val="3B3B3B"/>
                </a:solidFill>
                <a:latin typeface="Arial MT"/>
                <a:cs typeface="Arial MT"/>
              </a:rPr>
              <a:t>8-core</a:t>
            </a:r>
            <a:r>
              <a:rPr sz="500" spc="50" dirty="0">
                <a:solidFill>
                  <a:srgbClr val="3B3B3B"/>
                </a:solidFill>
                <a:latin typeface="Arial MT"/>
                <a:cs typeface="Arial MT"/>
              </a:rPr>
              <a:t> </a:t>
            </a:r>
            <a:r>
              <a:rPr sz="500" dirty="0">
                <a:solidFill>
                  <a:srgbClr val="424242"/>
                </a:solidFill>
                <a:latin typeface="Arial MT"/>
                <a:cs typeface="Arial MT"/>
              </a:rPr>
              <a:t>Xeon</a:t>
            </a:r>
            <a:r>
              <a:rPr sz="500" spc="40" dirty="0">
                <a:solidFill>
                  <a:srgbClr val="424242"/>
                </a:solidFill>
                <a:latin typeface="Arial MT"/>
                <a:cs typeface="Arial MT"/>
              </a:rPr>
              <a:t> </a:t>
            </a:r>
            <a:r>
              <a:rPr sz="500" dirty="0">
                <a:solidFill>
                  <a:srgbClr val="464646"/>
                </a:solidFill>
                <a:latin typeface="Arial MT"/>
                <a:cs typeface="Arial MT"/>
              </a:rPr>
              <a:t>NehaIem-</a:t>
            </a:r>
            <a:r>
              <a:rPr sz="500" spc="-25" dirty="0">
                <a:solidFill>
                  <a:srgbClr val="464646"/>
                </a:solidFill>
                <a:latin typeface="Arial MT"/>
                <a:cs typeface="Arial MT"/>
              </a:rPr>
              <a:t>EXT</a:t>
            </a:r>
            <a:endParaRPr sz="500">
              <a:latin typeface="Arial MT"/>
              <a:cs typeface="Arial MT"/>
            </a:endParaRPr>
          </a:p>
        </p:txBody>
      </p:sp>
      <p:sp>
        <p:nvSpPr>
          <p:cNvPr id="68" name="object 68"/>
          <p:cNvSpPr txBox="1"/>
          <p:nvPr/>
        </p:nvSpPr>
        <p:spPr>
          <a:xfrm>
            <a:off x="4635674" y="2462784"/>
            <a:ext cx="741680" cy="101600"/>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3D3D3D"/>
                </a:solidFill>
                <a:latin typeface="Arial MT"/>
                <a:cs typeface="Arial MT"/>
              </a:rPr>
              <a:t>Itanium</a:t>
            </a:r>
            <a:r>
              <a:rPr sz="500" spc="25" dirty="0">
                <a:solidFill>
                  <a:srgbClr val="3D3D3D"/>
                </a:solidFill>
                <a:latin typeface="Arial MT"/>
                <a:cs typeface="Arial MT"/>
              </a:rPr>
              <a:t> </a:t>
            </a:r>
            <a:r>
              <a:rPr sz="500" dirty="0">
                <a:solidFill>
                  <a:srgbClr val="3D3D3D"/>
                </a:solidFill>
                <a:latin typeface="Arial MT"/>
                <a:cs typeface="Arial MT"/>
              </a:rPr>
              <a:t>2</a:t>
            </a:r>
            <a:r>
              <a:rPr sz="500" spc="35" dirty="0">
                <a:solidFill>
                  <a:srgbClr val="3D3D3D"/>
                </a:solidFill>
                <a:latin typeface="Arial MT"/>
                <a:cs typeface="Arial MT"/>
              </a:rPr>
              <a:t> </a:t>
            </a:r>
            <a:r>
              <a:rPr sz="500" dirty="0">
                <a:solidFill>
                  <a:srgbClr val="3D3D3D"/>
                </a:solidFill>
                <a:latin typeface="Arial MT"/>
                <a:cs typeface="Arial MT"/>
              </a:rPr>
              <a:t>Madison</a:t>
            </a:r>
            <a:r>
              <a:rPr sz="500" spc="50" dirty="0">
                <a:solidFill>
                  <a:srgbClr val="3D3D3D"/>
                </a:solidFill>
                <a:latin typeface="Arial MT"/>
                <a:cs typeface="Arial MT"/>
              </a:rPr>
              <a:t> </a:t>
            </a:r>
            <a:r>
              <a:rPr sz="500" spc="-10" dirty="0">
                <a:solidFill>
                  <a:srgbClr val="464646"/>
                </a:solidFill>
                <a:latin typeface="Arial MT"/>
                <a:cs typeface="Arial MT"/>
              </a:rPr>
              <a:t>6M•0'</a:t>
            </a:r>
            <a:endParaRPr sz="500">
              <a:latin typeface="Arial MT"/>
              <a:cs typeface="Arial MT"/>
            </a:endParaRPr>
          </a:p>
        </p:txBody>
      </p:sp>
      <p:sp>
        <p:nvSpPr>
          <p:cNvPr id="69" name="object 69"/>
          <p:cNvSpPr txBox="1"/>
          <p:nvPr/>
        </p:nvSpPr>
        <p:spPr>
          <a:xfrm>
            <a:off x="4843960" y="2532888"/>
            <a:ext cx="635000" cy="101600"/>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313131"/>
                </a:solidFill>
                <a:latin typeface="Arial MT"/>
                <a:cs typeface="Arial MT"/>
              </a:rPr>
              <a:t>Pentium</a:t>
            </a:r>
            <a:r>
              <a:rPr sz="500" spc="35" dirty="0">
                <a:solidFill>
                  <a:srgbClr val="313131"/>
                </a:solidFill>
                <a:latin typeface="Arial MT"/>
                <a:cs typeface="Arial MT"/>
              </a:rPr>
              <a:t> </a:t>
            </a:r>
            <a:r>
              <a:rPr sz="500" dirty="0">
                <a:solidFill>
                  <a:srgbClr val="4B4B4B"/>
                </a:solidFill>
                <a:latin typeface="Arial MT"/>
                <a:cs typeface="Arial MT"/>
              </a:rPr>
              <a:t>D</a:t>
            </a:r>
            <a:r>
              <a:rPr sz="500" spc="15" dirty="0">
                <a:solidFill>
                  <a:srgbClr val="4B4B4B"/>
                </a:solidFill>
                <a:latin typeface="Arial MT"/>
                <a:cs typeface="Arial MT"/>
              </a:rPr>
              <a:t> </a:t>
            </a:r>
            <a:r>
              <a:rPr sz="500" spc="-10" dirty="0">
                <a:solidFill>
                  <a:srgbClr val="383838"/>
                </a:solidFill>
                <a:latin typeface="Arial MT"/>
                <a:cs typeface="Arial MT"/>
              </a:rPr>
              <a:t>Smithfield</a:t>
            </a:r>
            <a:endParaRPr sz="500">
              <a:latin typeface="Arial MT"/>
              <a:cs typeface="Arial MT"/>
            </a:endParaRPr>
          </a:p>
        </p:txBody>
      </p:sp>
      <p:sp>
        <p:nvSpPr>
          <p:cNvPr id="70" name="object 70"/>
          <p:cNvSpPr txBox="1"/>
          <p:nvPr/>
        </p:nvSpPr>
        <p:spPr>
          <a:xfrm>
            <a:off x="5051224" y="2080352"/>
            <a:ext cx="784225" cy="278130"/>
          </a:xfrm>
          <a:prstGeom prst="rect">
            <a:avLst/>
          </a:prstGeom>
        </p:spPr>
        <p:txBody>
          <a:bodyPr vert="horz" wrap="square" lIns="0" tIns="56515" rIns="0" bIns="0" rtlCol="0">
            <a:spAutoFit/>
          </a:bodyPr>
          <a:lstStyle/>
          <a:p>
            <a:pPr marL="12700">
              <a:lnSpc>
                <a:spcPct val="100000"/>
              </a:lnSpc>
              <a:spcBef>
                <a:spcPts val="445"/>
              </a:spcBef>
            </a:pPr>
            <a:r>
              <a:rPr sz="500" dirty="0">
                <a:solidFill>
                  <a:srgbClr val="3F3F3F"/>
                </a:solidFill>
                <a:latin typeface="Arial MT"/>
                <a:cs typeface="Arial MT"/>
              </a:rPr>
              <a:t>Dual-cord</a:t>
            </a:r>
            <a:r>
              <a:rPr sz="500" spc="5" dirty="0">
                <a:solidFill>
                  <a:srgbClr val="3F3F3F"/>
                </a:solidFill>
                <a:latin typeface="Arial MT"/>
                <a:cs typeface="Arial MT"/>
              </a:rPr>
              <a:t> </a:t>
            </a:r>
            <a:r>
              <a:rPr sz="500" dirty="0">
                <a:solidFill>
                  <a:srgbClr val="4D4D4D"/>
                </a:solidFill>
                <a:latin typeface="Arial MT"/>
                <a:cs typeface="Arial MT"/>
              </a:rPr>
              <a:t>Itanium</a:t>
            </a:r>
            <a:r>
              <a:rPr sz="500" spc="15" dirty="0">
                <a:solidFill>
                  <a:srgbClr val="4D4D4D"/>
                </a:solidFill>
                <a:latin typeface="Arial MT"/>
                <a:cs typeface="Arial MT"/>
              </a:rPr>
              <a:t> </a:t>
            </a:r>
            <a:r>
              <a:rPr sz="500" dirty="0">
                <a:solidFill>
                  <a:srgbClr val="565656"/>
                </a:solidFill>
                <a:latin typeface="Arial MT"/>
                <a:cs typeface="Arial MT"/>
              </a:rPr>
              <a:t>2</a:t>
            </a:r>
            <a:r>
              <a:rPr sz="500" spc="215" dirty="0">
                <a:solidFill>
                  <a:srgbClr val="565656"/>
                </a:solidFill>
                <a:latin typeface="Arial MT"/>
                <a:cs typeface="Arial MT"/>
              </a:rPr>
              <a:t>  </a:t>
            </a:r>
            <a:r>
              <a:rPr sz="500" spc="-25" dirty="0">
                <a:solidFill>
                  <a:srgbClr val="464646"/>
                </a:solidFill>
                <a:latin typeface="Arial MT"/>
                <a:cs typeface="Arial MT"/>
              </a:rPr>
              <a:t>"00</a:t>
            </a:r>
            <a:endParaRPr sz="500">
              <a:latin typeface="Arial MT"/>
              <a:cs typeface="Arial MT"/>
            </a:endParaRPr>
          </a:p>
          <a:p>
            <a:pPr marR="5080" algn="r">
              <a:lnSpc>
                <a:spcPct val="100000"/>
              </a:lnSpc>
              <a:spcBef>
                <a:spcPts val="384"/>
              </a:spcBef>
            </a:pPr>
            <a:r>
              <a:rPr sz="550" spc="-10" dirty="0">
                <a:solidFill>
                  <a:srgbClr val="3B3B3B"/>
                </a:solidFill>
                <a:latin typeface="Courier New"/>
                <a:cs typeface="Courier New"/>
              </a:rPr>
              <a:t>OWER6</a:t>
            </a:r>
            <a:endParaRPr sz="550">
              <a:latin typeface="Courier New"/>
              <a:cs typeface="Courier New"/>
            </a:endParaRPr>
          </a:p>
        </p:txBody>
      </p:sp>
      <p:sp>
        <p:nvSpPr>
          <p:cNvPr id="71" name="object 71"/>
          <p:cNvSpPr txBox="1"/>
          <p:nvPr/>
        </p:nvSpPr>
        <p:spPr>
          <a:xfrm>
            <a:off x="6066470" y="2352802"/>
            <a:ext cx="280035" cy="109220"/>
          </a:xfrm>
          <a:prstGeom prst="rect">
            <a:avLst/>
          </a:prstGeom>
        </p:spPr>
        <p:txBody>
          <a:bodyPr vert="horz" wrap="square" lIns="0" tIns="12700" rIns="0" bIns="0" rtlCol="0">
            <a:spAutoFit/>
          </a:bodyPr>
          <a:lstStyle/>
          <a:p>
            <a:pPr marL="12700">
              <a:lnSpc>
                <a:spcPct val="100000"/>
              </a:lnSpc>
              <a:spcBef>
                <a:spcPts val="100"/>
              </a:spcBef>
            </a:pPr>
            <a:r>
              <a:rPr sz="550" spc="-20" dirty="0">
                <a:solidFill>
                  <a:srgbClr val="464646"/>
                </a:solidFill>
                <a:latin typeface="Arial MT"/>
                <a:cs typeface="Arial MT"/>
              </a:rPr>
              <a:t>i7 </a:t>
            </a:r>
            <a:r>
              <a:rPr sz="550" spc="-35" dirty="0">
                <a:solidFill>
                  <a:srgbClr val="424242"/>
                </a:solidFill>
                <a:latin typeface="Arial MT"/>
                <a:cs typeface="Arial MT"/>
              </a:rPr>
              <a:t>(Quad)</a:t>
            </a:r>
            <a:endParaRPr sz="550">
              <a:latin typeface="Arial MT"/>
              <a:cs typeface="Arial MT"/>
            </a:endParaRPr>
          </a:p>
        </p:txBody>
      </p:sp>
      <p:sp>
        <p:nvSpPr>
          <p:cNvPr id="72" name="object 72"/>
          <p:cNvSpPr txBox="1"/>
          <p:nvPr/>
        </p:nvSpPr>
        <p:spPr>
          <a:xfrm>
            <a:off x="6059204" y="2115311"/>
            <a:ext cx="577850" cy="284480"/>
          </a:xfrm>
          <a:prstGeom prst="rect">
            <a:avLst/>
          </a:prstGeom>
        </p:spPr>
        <p:txBody>
          <a:bodyPr vert="horz" wrap="square" lIns="0" tIns="12700" rIns="0" bIns="0" rtlCol="0">
            <a:spAutoFit/>
          </a:bodyPr>
          <a:lstStyle/>
          <a:p>
            <a:pPr marL="12700">
              <a:lnSpc>
                <a:spcPct val="100000"/>
              </a:lnSpc>
              <a:spcBef>
                <a:spcPts val="100"/>
              </a:spcBef>
            </a:pPr>
            <a:r>
              <a:rPr sz="1700" spc="-45" dirty="0">
                <a:solidFill>
                  <a:srgbClr val="262A7B"/>
                </a:solidFill>
                <a:latin typeface="Arial Black"/>
                <a:cs typeface="Arial Black"/>
              </a:rPr>
              <a:t>0•</a:t>
            </a:r>
            <a:r>
              <a:rPr sz="1700" spc="-45" dirty="0">
                <a:solidFill>
                  <a:srgbClr val="444444"/>
                </a:solidFill>
                <a:latin typeface="Arial Black"/>
                <a:cs typeface="Arial Black"/>
              </a:rPr>
              <a:t>*+,</a:t>
            </a:r>
            <a:endParaRPr sz="1700">
              <a:latin typeface="Arial Black"/>
              <a:cs typeface="Arial Black"/>
            </a:endParaRPr>
          </a:p>
        </p:txBody>
      </p:sp>
      <p:sp>
        <p:nvSpPr>
          <p:cNvPr id="73" name="object 73"/>
          <p:cNvSpPr txBox="1"/>
          <p:nvPr/>
        </p:nvSpPr>
        <p:spPr>
          <a:xfrm>
            <a:off x="5732233" y="2462529"/>
            <a:ext cx="702945" cy="109220"/>
          </a:xfrm>
          <a:prstGeom prst="rect">
            <a:avLst/>
          </a:prstGeom>
        </p:spPr>
        <p:txBody>
          <a:bodyPr vert="horz" wrap="square" lIns="0" tIns="12700" rIns="0" bIns="0" rtlCol="0">
            <a:spAutoFit/>
          </a:bodyPr>
          <a:lstStyle/>
          <a:p>
            <a:pPr marL="12700">
              <a:lnSpc>
                <a:spcPct val="100000"/>
              </a:lnSpc>
              <a:spcBef>
                <a:spcPts val="100"/>
              </a:spcBef>
              <a:tabLst>
                <a:tab pos="300355" algn="l"/>
              </a:tabLst>
            </a:pPr>
            <a:r>
              <a:rPr sz="550" spc="-25" dirty="0">
                <a:solidFill>
                  <a:srgbClr val="464646"/>
                </a:solidFill>
                <a:latin typeface="Courier New"/>
                <a:cs typeface="Courier New"/>
              </a:rPr>
              <a:t>VG</a:t>
            </a:r>
            <a:r>
              <a:rPr sz="550" dirty="0">
                <a:solidFill>
                  <a:srgbClr val="464646"/>
                </a:solidFill>
                <a:latin typeface="Courier New"/>
                <a:cs typeface="Courier New"/>
              </a:rPr>
              <a:t>	</a:t>
            </a:r>
            <a:r>
              <a:rPr sz="500" dirty="0">
                <a:solidFill>
                  <a:srgbClr val="4B4B4B"/>
                </a:solidFill>
                <a:latin typeface="Arial MT"/>
                <a:cs typeface="Arial MT"/>
              </a:rPr>
              <a:t>D</a:t>
            </a:r>
            <a:r>
              <a:rPr sz="500" spc="114" dirty="0">
                <a:solidFill>
                  <a:srgbClr val="4B4B4B"/>
                </a:solidFill>
                <a:latin typeface="Arial MT"/>
                <a:cs typeface="Arial MT"/>
              </a:rPr>
              <a:t> </a:t>
            </a:r>
            <a:r>
              <a:rPr sz="500" dirty="0">
                <a:solidFill>
                  <a:srgbClr val="505050"/>
                </a:solidFill>
                <a:latin typeface="Arial MT"/>
                <a:cs typeface="Arial MT"/>
              </a:rPr>
              <a:t>'</a:t>
            </a:r>
            <a:r>
              <a:rPr sz="500" spc="204" dirty="0">
                <a:solidFill>
                  <a:srgbClr val="505050"/>
                </a:solidFill>
                <a:latin typeface="Arial MT"/>
                <a:cs typeface="Arial MT"/>
              </a:rPr>
              <a:t> </a:t>
            </a:r>
            <a:r>
              <a:rPr sz="500" dirty="0">
                <a:solidFill>
                  <a:srgbClr val="4B4B4B"/>
                </a:solidFill>
                <a:latin typeface="Arial MT"/>
                <a:cs typeface="Arial MT"/>
              </a:rPr>
              <a:t>W</a:t>
            </a:r>
            <a:r>
              <a:rPr sz="500" spc="160" dirty="0">
                <a:solidFill>
                  <a:srgbClr val="4B4B4B"/>
                </a:solidFill>
                <a:latin typeface="Arial MT"/>
                <a:cs typeface="Arial MT"/>
              </a:rPr>
              <a:t> </a:t>
            </a:r>
            <a:r>
              <a:rPr sz="500" spc="-10" dirty="0">
                <a:solidFill>
                  <a:srgbClr val="3D3D3D"/>
                </a:solidFill>
                <a:latin typeface="Arial MT"/>
                <a:cs typeface="Arial MT"/>
              </a:rPr>
              <a:t>lfdale</a:t>
            </a:r>
            <a:endParaRPr sz="500">
              <a:latin typeface="Arial MT"/>
              <a:cs typeface="Arial MT"/>
            </a:endParaRPr>
          </a:p>
        </p:txBody>
      </p:sp>
      <p:sp>
        <p:nvSpPr>
          <p:cNvPr id="74" name="object 74"/>
          <p:cNvSpPr txBox="1"/>
          <p:nvPr/>
        </p:nvSpPr>
        <p:spPr>
          <a:xfrm>
            <a:off x="5732005" y="2413761"/>
            <a:ext cx="902969" cy="109220"/>
          </a:xfrm>
          <a:prstGeom prst="rect">
            <a:avLst/>
          </a:prstGeom>
        </p:spPr>
        <p:txBody>
          <a:bodyPr vert="horz" wrap="square" lIns="0" tIns="12700" rIns="0" bIns="0" rtlCol="0">
            <a:spAutoFit/>
          </a:bodyPr>
          <a:lstStyle/>
          <a:p>
            <a:pPr marL="12700">
              <a:lnSpc>
                <a:spcPct val="100000"/>
              </a:lnSpc>
              <a:spcBef>
                <a:spcPts val="100"/>
              </a:spcBef>
              <a:tabLst>
                <a:tab pos="500380" algn="l"/>
              </a:tabLst>
            </a:pPr>
            <a:r>
              <a:rPr sz="500" dirty="0">
                <a:solidFill>
                  <a:srgbClr val="24268A"/>
                </a:solidFill>
                <a:latin typeface="Arial MT"/>
                <a:cs typeface="Arial MT"/>
              </a:rPr>
              <a:t>W</a:t>
            </a:r>
            <a:r>
              <a:rPr sz="500" spc="25" dirty="0">
                <a:solidFill>
                  <a:srgbClr val="24268A"/>
                </a:solidFill>
                <a:latin typeface="Arial MT"/>
                <a:cs typeface="Arial MT"/>
              </a:rPr>
              <a:t> </a:t>
            </a:r>
            <a:r>
              <a:rPr sz="500" dirty="0">
                <a:solidFill>
                  <a:srgbClr val="3D3D3D"/>
                </a:solidFill>
                <a:latin typeface="Arial MT"/>
                <a:cs typeface="Arial MT"/>
              </a:rPr>
              <a:t>AMD</a:t>
            </a:r>
            <a:r>
              <a:rPr sz="500" spc="20" dirty="0">
                <a:solidFill>
                  <a:srgbClr val="3D3D3D"/>
                </a:solidFill>
                <a:latin typeface="Arial MT"/>
                <a:cs typeface="Arial MT"/>
              </a:rPr>
              <a:t> </a:t>
            </a:r>
            <a:r>
              <a:rPr sz="500" spc="-25" dirty="0">
                <a:solidFill>
                  <a:srgbClr val="494949"/>
                </a:solidFill>
                <a:latin typeface="Arial MT"/>
                <a:cs typeface="Arial MT"/>
              </a:rPr>
              <a:t>K10</a:t>
            </a:r>
            <a:r>
              <a:rPr sz="500" dirty="0">
                <a:solidFill>
                  <a:srgbClr val="494949"/>
                </a:solidFill>
                <a:latin typeface="Arial MT"/>
                <a:cs typeface="Arial MT"/>
              </a:rPr>
              <a:t>	</a:t>
            </a:r>
            <a:r>
              <a:rPr sz="550" dirty="0">
                <a:solidFill>
                  <a:srgbClr val="525252"/>
                </a:solidFill>
                <a:latin typeface="Consolas"/>
                <a:cs typeface="Consolas"/>
              </a:rPr>
              <a:t>d</a:t>
            </a:r>
            <a:r>
              <a:rPr sz="550" spc="170" dirty="0">
                <a:solidFill>
                  <a:srgbClr val="525252"/>
                </a:solidFill>
                <a:latin typeface="Consolas"/>
                <a:cs typeface="Consolas"/>
              </a:rPr>
              <a:t>  </a:t>
            </a:r>
            <a:r>
              <a:rPr sz="550" dirty="0">
                <a:solidFill>
                  <a:srgbClr val="4F4F4F"/>
                </a:solidFill>
                <a:latin typeface="Consolas"/>
                <a:cs typeface="Consolas"/>
              </a:rPr>
              <a:t>e</a:t>
            </a:r>
            <a:r>
              <a:rPr sz="550" spc="-170" dirty="0">
                <a:solidFill>
                  <a:srgbClr val="4F4F4F"/>
                </a:solidFill>
                <a:latin typeface="Consolas"/>
                <a:cs typeface="Consolas"/>
              </a:rPr>
              <a:t> </a:t>
            </a:r>
            <a:r>
              <a:rPr sz="450" dirty="0">
                <a:solidFill>
                  <a:srgbClr val="414141"/>
                </a:solidFill>
                <a:latin typeface="Arial MT"/>
                <a:cs typeface="Arial MT"/>
              </a:rPr>
              <a:t>2M</a:t>
            </a:r>
            <a:r>
              <a:rPr sz="450" spc="95" dirty="0">
                <a:solidFill>
                  <a:srgbClr val="414141"/>
                </a:solidFill>
                <a:latin typeface="Arial MT"/>
                <a:cs typeface="Arial MT"/>
              </a:rPr>
              <a:t> </a:t>
            </a:r>
            <a:r>
              <a:rPr sz="450" spc="-25" dirty="0">
                <a:solidFill>
                  <a:srgbClr val="4D4D4D"/>
                </a:solidFill>
                <a:latin typeface="Arial MT"/>
                <a:cs typeface="Arial MT"/>
              </a:rPr>
              <a:t>L3</a:t>
            </a:r>
            <a:endParaRPr sz="450">
              <a:latin typeface="Arial MT"/>
              <a:cs typeface="Arial MT"/>
            </a:endParaRPr>
          </a:p>
        </p:txBody>
      </p:sp>
      <p:sp>
        <p:nvSpPr>
          <p:cNvPr id="75" name="object 75"/>
          <p:cNvSpPr txBox="1"/>
          <p:nvPr/>
        </p:nvSpPr>
        <p:spPr>
          <a:xfrm>
            <a:off x="6612834" y="1633219"/>
            <a:ext cx="1329055" cy="623570"/>
          </a:xfrm>
          <a:prstGeom prst="rect">
            <a:avLst/>
          </a:prstGeom>
        </p:spPr>
        <p:txBody>
          <a:bodyPr vert="horz" wrap="square" lIns="0" tIns="46355" rIns="0" bIns="0" rtlCol="0">
            <a:spAutoFit/>
          </a:bodyPr>
          <a:lstStyle/>
          <a:p>
            <a:pPr marL="139065">
              <a:lnSpc>
                <a:spcPct val="100000"/>
              </a:lnSpc>
              <a:spcBef>
                <a:spcPts val="365"/>
              </a:spcBef>
            </a:pPr>
            <a:r>
              <a:rPr sz="500" dirty="0">
                <a:solidFill>
                  <a:srgbClr val="444444"/>
                </a:solidFill>
                <a:latin typeface="Arial MT"/>
                <a:cs typeface="Arial MT"/>
              </a:rPr>
              <a:t>PARC</a:t>
            </a:r>
            <a:r>
              <a:rPr sz="500" spc="-5" dirty="0">
                <a:solidFill>
                  <a:srgbClr val="444444"/>
                </a:solidFill>
                <a:latin typeface="Arial MT"/>
                <a:cs typeface="Arial MT"/>
              </a:rPr>
              <a:t> </a:t>
            </a:r>
            <a:r>
              <a:rPr sz="600" spc="-25" dirty="0">
                <a:solidFill>
                  <a:srgbClr val="414141"/>
                </a:solidFill>
                <a:latin typeface="Consolas"/>
                <a:cs typeface="Consolas"/>
              </a:rPr>
              <a:t>M7</a:t>
            </a:r>
            <a:endParaRPr sz="600">
              <a:latin typeface="Consolas"/>
              <a:cs typeface="Consolas"/>
            </a:endParaRPr>
          </a:p>
          <a:p>
            <a:pPr marL="12700" marR="307975" indent="212090">
              <a:lnSpc>
                <a:spcPct val="104000"/>
              </a:lnSpc>
              <a:spcBef>
                <a:spcPts val="195"/>
              </a:spcBef>
            </a:pPr>
            <a:r>
              <a:rPr sz="500" dirty="0">
                <a:solidFill>
                  <a:srgbClr val="484848"/>
                </a:solidFill>
                <a:latin typeface="Arial MT"/>
                <a:cs typeface="Arial MT"/>
              </a:rPr>
              <a:t>22-core</a:t>
            </a:r>
            <a:r>
              <a:rPr sz="500" spc="45" dirty="0">
                <a:solidFill>
                  <a:srgbClr val="484848"/>
                </a:solidFill>
                <a:latin typeface="Arial MT"/>
                <a:cs typeface="Arial MT"/>
              </a:rPr>
              <a:t> </a:t>
            </a:r>
            <a:r>
              <a:rPr sz="500" dirty="0">
                <a:solidFill>
                  <a:srgbClr val="424242"/>
                </a:solidFill>
                <a:latin typeface="Arial MT"/>
                <a:cs typeface="Arial MT"/>
              </a:rPr>
              <a:t>Xeon</a:t>
            </a:r>
            <a:r>
              <a:rPr sz="500" spc="75" dirty="0">
                <a:solidFill>
                  <a:srgbClr val="424242"/>
                </a:solidFill>
                <a:latin typeface="Arial MT"/>
                <a:cs typeface="Arial MT"/>
              </a:rPr>
              <a:t> </a:t>
            </a:r>
            <a:r>
              <a:rPr sz="500" spc="-20" dirty="0">
                <a:solidFill>
                  <a:srgbClr val="414141"/>
                </a:solidFill>
                <a:latin typeface="Arial MT"/>
                <a:cs typeface="Arial MT"/>
              </a:rPr>
              <a:t>BroadweII-</a:t>
            </a:r>
            <a:r>
              <a:rPr sz="500" spc="-25" dirty="0">
                <a:solidFill>
                  <a:srgbClr val="414141"/>
                </a:solidFill>
                <a:latin typeface="Arial MT"/>
                <a:cs typeface="Arial MT"/>
              </a:rPr>
              <a:t>ES</a:t>
            </a:r>
            <a:r>
              <a:rPr sz="500" spc="500" dirty="0">
                <a:solidFill>
                  <a:srgbClr val="414141"/>
                </a:solidFill>
                <a:latin typeface="Arial MT"/>
                <a:cs typeface="Arial MT"/>
              </a:rPr>
              <a:t> </a:t>
            </a:r>
            <a:r>
              <a:rPr sz="500" dirty="0">
                <a:solidFill>
                  <a:srgbClr val="444444"/>
                </a:solidFill>
                <a:latin typeface="Arial MT"/>
                <a:cs typeface="Arial MT"/>
              </a:rPr>
              <a:t>15-core</a:t>
            </a:r>
            <a:r>
              <a:rPr sz="500" spc="35" dirty="0">
                <a:solidFill>
                  <a:srgbClr val="444444"/>
                </a:solidFill>
                <a:latin typeface="Arial MT"/>
                <a:cs typeface="Arial MT"/>
              </a:rPr>
              <a:t> </a:t>
            </a:r>
            <a:r>
              <a:rPr sz="500" dirty="0">
                <a:solidFill>
                  <a:srgbClr val="3F3F3F"/>
                </a:solidFill>
                <a:latin typeface="Arial MT"/>
                <a:cs typeface="Arial MT"/>
              </a:rPr>
              <a:t>Xeon</a:t>
            </a:r>
            <a:r>
              <a:rPr sz="500" spc="30" dirty="0">
                <a:solidFill>
                  <a:srgbClr val="3F3F3F"/>
                </a:solidFill>
                <a:latin typeface="Arial MT"/>
                <a:cs typeface="Arial MT"/>
              </a:rPr>
              <a:t> </a:t>
            </a:r>
            <a:r>
              <a:rPr sz="500" dirty="0">
                <a:solidFill>
                  <a:srgbClr val="424242"/>
                </a:solidFill>
                <a:latin typeface="Arial MT"/>
                <a:cs typeface="Arial MT"/>
              </a:rPr>
              <a:t>Ivy</a:t>
            </a:r>
            <a:r>
              <a:rPr sz="500" spc="40" dirty="0">
                <a:solidFill>
                  <a:srgbClr val="424242"/>
                </a:solidFill>
                <a:latin typeface="Arial MT"/>
                <a:cs typeface="Arial MT"/>
              </a:rPr>
              <a:t> </a:t>
            </a:r>
            <a:r>
              <a:rPr sz="500" spc="-10" dirty="0">
                <a:solidFill>
                  <a:srgbClr val="383838"/>
                </a:solidFill>
                <a:latin typeface="Arial MT"/>
                <a:cs typeface="Arial MT"/>
              </a:rPr>
              <a:t>Bridge-</a:t>
            </a:r>
            <a:r>
              <a:rPr sz="500" spc="-25" dirty="0">
                <a:solidFill>
                  <a:srgbClr val="383838"/>
                </a:solidFill>
                <a:latin typeface="Arial MT"/>
                <a:cs typeface="Arial MT"/>
              </a:rPr>
              <a:t>EX</a:t>
            </a:r>
            <a:endParaRPr sz="500">
              <a:latin typeface="Arial MT"/>
              <a:cs typeface="Arial MT"/>
            </a:endParaRPr>
          </a:p>
          <a:p>
            <a:pPr marL="39370">
              <a:lnSpc>
                <a:spcPct val="100000"/>
              </a:lnSpc>
              <a:spcBef>
                <a:spcPts val="310"/>
              </a:spcBef>
            </a:pPr>
            <a:r>
              <a:rPr sz="550" spc="-10" dirty="0">
                <a:solidFill>
                  <a:srgbClr val="383838"/>
                </a:solidFill>
                <a:latin typeface="Arial MT"/>
                <a:cs typeface="Arial MT"/>
              </a:rPr>
              <a:t>pple </a:t>
            </a:r>
            <a:r>
              <a:rPr sz="550" spc="-55" dirty="0">
                <a:solidFill>
                  <a:srgbClr val="444444"/>
                </a:solidFill>
                <a:latin typeface="Arial MT"/>
                <a:cs typeface="Arial MT"/>
              </a:rPr>
              <a:t>A8X</a:t>
            </a:r>
            <a:r>
              <a:rPr sz="550" dirty="0">
                <a:solidFill>
                  <a:srgbClr val="444444"/>
                </a:solidFill>
                <a:latin typeface="Arial MT"/>
                <a:cs typeface="Arial MT"/>
              </a:rPr>
              <a:t> </a:t>
            </a:r>
            <a:r>
              <a:rPr sz="550" spc="-25" dirty="0">
                <a:solidFill>
                  <a:srgbClr val="2B2B2B"/>
                </a:solidFill>
                <a:latin typeface="Arial MT"/>
                <a:cs typeface="Arial MT"/>
              </a:rPr>
              <a:t>(tri-</a:t>
            </a:r>
            <a:r>
              <a:rPr sz="550" spc="-10" dirty="0">
                <a:solidFill>
                  <a:srgbClr val="2B2B2B"/>
                </a:solidFill>
                <a:latin typeface="Arial MT"/>
                <a:cs typeface="Arial MT"/>
              </a:rPr>
              <a:t>core</a:t>
            </a:r>
            <a:r>
              <a:rPr sz="550" spc="25" dirty="0">
                <a:solidFill>
                  <a:srgbClr val="2B2B2B"/>
                </a:solidFill>
                <a:latin typeface="Arial MT"/>
                <a:cs typeface="Arial MT"/>
              </a:rPr>
              <a:t> </a:t>
            </a:r>
            <a:r>
              <a:rPr sz="550" spc="-10" dirty="0">
                <a:solidFill>
                  <a:srgbClr val="343434"/>
                </a:solidFill>
                <a:latin typeface="Arial MT"/>
                <a:cs typeface="Arial MT"/>
              </a:rPr>
              <a:t>ARM</a:t>
            </a:r>
            <a:r>
              <a:rPr sz="500" spc="-10" dirty="0">
                <a:solidFill>
                  <a:srgbClr val="313131"/>
                </a:solidFill>
                <a:latin typeface="Arial MT"/>
                <a:cs typeface="Arial MT"/>
              </a:rPr>
              <a:t>64</a:t>
            </a:r>
            <a:endParaRPr sz="500">
              <a:latin typeface="Arial MT"/>
              <a:cs typeface="Arial MT"/>
            </a:endParaRPr>
          </a:p>
          <a:p>
            <a:pPr marL="104775" marR="5080" indent="22860">
              <a:lnSpc>
                <a:spcPct val="80000"/>
              </a:lnSpc>
              <a:spcBef>
                <a:spcPts val="350"/>
              </a:spcBef>
            </a:pPr>
            <a:r>
              <a:rPr sz="500" spc="-10" dirty="0">
                <a:solidFill>
                  <a:srgbClr val="343434"/>
                </a:solidFill>
                <a:latin typeface="Arial MT"/>
                <a:cs typeface="Arial MT"/>
              </a:rPr>
              <a:t>%u</a:t>
            </a:r>
            <a:r>
              <a:rPr sz="500" spc="145" dirty="0">
                <a:solidFill>
                  <a:srgbClr val="343434"/>
                </a:solidFill>
                <a:latin typeface="Arial MT"/>
                <a:cs typeface="Arial MT"/>
              </a:rPr>
              <a:t> </a:t>
            </a:r>
            <a:r>
              <a:rPr sz="500" dirty="0">
                <a:solidFill>
                  <a:srgbClr val="343434"/>
                </a:solidFill>
                <a:latin typeface="Arial MT"/>
                <a:cs typeface="Arial MT"/>
              </a:rPr>
              <a:t>%ore’</a:t>
            </a:r>
            <a:r>
              <a:rPr sz="500" spc="315" dirty="0">
                <a:solidFill>
                  <a:srgbClr val="343434"/>
                </a:solidFill>
                <a:latin typeface="Arial MT"/>
                <a:cs typeface="Arial MT"/>
              </a:rPr>
              <a:t> </a:t>
            </a:r>
            <a:r>
              <a:rPr sz="500" dirty="0">
                <a:solidFill>
                  <a:srgbClr val="343434"/>
                </a:solidFill>
                <a:latin typeface="Arial MT"/>
                <a:cs typeface="Arial MT"/>
              </a:rPr>
              <a:t>GPU</a:t>
            </a:r>
            <a:r>
              <a:rPr sz="500" spc="5" dirty="0">
                <a:solidFill>
                  <a:srgbClr val="343434"/>
                </a:solidFill>
                <a:latin typeface="Arial MT"/>
                <a:cs typeface="Arial MT"/>
              </a:rPr>
              <a:t> </a:t>
            </a:r>
            <a:r>
              <a:rPr sz="500" dirty="0">
                <a:solidFill>
                  <a:srgbClr val="343434"/>
                </a:solidFill>
                <a:latin typeface="Arial MT"/>
                <a:cs typeface="Arial MT"/>
              </a:rPr>
              <a:t>I</a:t>
            </a:r>
            <a:r>
              <a:rPr sz="500" spc="195" dirty="0">
                <a:solidFill>
                  <a:srgbClr val="343434"/>
                </a:solidFill>
                <a:latin typeface="Arial MT"/>
                <a:cs typeface="Arial MT"/>
              </a:rPr>
              <a:t>  </a:t>
            </a:r>
            <a:r>
              <a:rPr sz="500" dirty="0">
                <a:solidFill>
                  <a:srgbClr val="4B4B4B"/>
                </a:solidFill>
                <a:latin typeface="Arial MT"/>
                <a:cs typeface="Arial MT"/>
              </a:rPr>
              <a:t>Core</a:t>
            </a:r>
            <a:r>
              <a:rPr sz="500" spc="15" dirty="0">
                <a:solidFill>
                  <a:srgbClr val="4B4B4B"/>
                </a:solidFill>
                <a:latin typeface="Arial MT"/>
                <a:cs typeface="Arial MT"/>
              </a:rPr>
              <a:t> </a:t>
            </a:r>
            <a:r>
              <a:rPr sz="500" dirty="0">
                <a:solidFill>
                  <a:srgbClr val="3A3A3A"/>
                </a:solidFill>
                <a:latin typeface="Arial MT"/>
                <a:cs typeface="Arial MT"/>
              </a:rPr>
              <a:t>i7 </a:t>
            </a:r>
            <a:r>
              <a:rPr sz="500" spc="-10" dirty="0">
                <a:solidFill>
                  <a:srgbClr val="3B3B3B"/>
                </a:solidFill>
                <a:latin typeface="Arial MT"/>
                <a:cs typeface="Arial MT"/>
              </a:rPr>
              <a:t>BroadweII-</a:t>
            </a:r>
            <a:r>
              <a:rPr sz="500" spc="-50" dirty="0">
                <a:solidFill>
                  <a:srgbClr val="3B3B3B"/>
                </a:solidFill>
                <a:latin typeface="Arial MT"/>
                <a:cs typeface="Arial MT"/>
              </a:rPr>
              <a:t>U</a:t>
            </a:r>
            <a:r>
              <a:rPr sz="500" spc="500" dirty="0">
                <a:solidFill>
                  <a:srgbClr val="3B3B3B"/>
                </a:solidFill>
                <a:latin typeface="Arial MT"/>
                <a:cs typeface="Arial MT"/>
              </a:rPr>
              <a:t> </a:t>
            </a:r>
            <a:r>
              <a:rPr sz="500" dirty="0">
                <a:solidFill>
                  <a:srgbClr val="363636"/>
                </a:solidFill>
                <a:latin typeface="Arial MT"/>
                <a:cs typeface="Arial MT"/>
              </a:rPr>
              <a:t>Quad-core</a:t>
            </a:r>
            <a:r>
              <a:rPr sz="500" spc="5" dirty="0">
                <a:solidFill>
                  <a:srgbClr val="363636"/>
                </a:solidFill>
                <a:latin typeface="Arial MT"/>
                <a:cs typeface="Arial MT"/>
              </a:rPr>
              <a:t> </a:t>
            </a:r>
            <a:r>
              <a:rPr sz="500" dirty="0">
                <a:solidFill>
                  <a:srgbClr val="484848"/>
                </a:solidFill>
                <a:latin typeface="Arial MT"/>
                <a:cs typeface="Arial MT"/>
              </a:rPr>
              <a:t>+</a:t>
            </a:r>
            <a:r>
              <a:rPr sz="500" spc="-10" dirty="0">
                <a:solidFill>
                  <a:srgbClr val="484848"/>
                </a:solidFill>
                <a:latin typeface="Arial MT"/>
                <a:cs typeface="Arial MT"/>
              </a:rPr>
              <a:t> </a:t>
            </a:r>
            <a:r>
              <a:rPr sz="500" dirty="0">
                <a:solidFill>
                  <a:srgbClr val="464646"/>
                </a:solidFill>
                <a:latin typeface="Arial MT"/>
                <a:cs typeface="Arial MT"/>
              </a:rPr>
              <a:t>GPU </a:t>
            </a:r>
            <a:r>
              <a:rPr sz="500" dirty="0">
                <a:solidFill>
                  <a:srgbClr val="383838"/>
                </a:solidFill>
                <a:latin typeface="Arial MT"/>
                <a:cs typeface="Arial MT"/>
              </a:rPr>
              <a:t>GT2</a:t>
            </a:r>
            <a:r>
              <a:rPr sz="500" spc="5" dirty="0">
                <a:solidFill>
                  <a:srgbClr val="383838"/>
                </a:solidFill>
                <a:latin typeface="Arial MT"/>
                <a:cs typeface="Arial MT"/>
              </a:rPr>
              <a:t> </a:t>
            </a:r>
            <a:r>
              <a:rPr sz="500" dirty="0">
                <a:solidFill>
                  <a:srgbClr val="464646"/>
                </a:solidFill>
                <a:latin typeface="Arial MT"/>
                <a:cs typeface="Arial MT"/>
              </a:rPr>
              <a:t>More</a:t>
            </a:r>
            <a:r>
              <a:rPr sz="500" spc="15" dirty="0">
                <a:solidFill>
                  <a:srgbClr val="464646"/>
                </a:solidFill>
                <a:latin typeface="Arial MT"/>
                <a:cs typeface="Arial MT"/>
              </a:rPr>
              <a:t> </a:t>
            </a:r>
            <a:r>
              <a:rPr sz="500" dirty="0">
                <a:solidFill>
                  <a:srgbClr val="494949"/>
                </a:solidFill>
                <a:latin typeface="Arial MT"/>
                <a:cs typeface="Arial MT"/>
              </a:rPr>
              <a:t>i7</a:t>
            </a:r>
            <a:r>
              <a:rPr sz="500" spc="10" dirty="0">
                <a:solidFill>
                  <a:srgbClr val="494949"/>
                </a:solidFill>
                <a:latin typeface="Arial MT"/>
                <a:cs typeface="Arial MT"/>
              </a:rPr>
              <a:t> </a:t>
            </a:r>
            <a:r>
              <a:rPr sz="500" dirty="0">
                <a:solidFill>
                  <a:srgbClr val="2F2F2F"/>
                </a:solidFill>
                <a:latin typeface="Arial MT"/>
                <a:cs typeface="Arial MT"/>
              </a:rPr>
              <a:t>Skylake</a:t>
            </a:r>
            <a:r>
              <a:rPr sz="500" spc="-10" dirty="0">
                <a:solidFill>
                  <a:srgbClr val="2F2F2F"/>
                </a:solidFill>
                <a:latin typeface="Arial MT"/>
                <a:cs typeface="Arial MT"/>
              </a:rPr>
              <a:t> </a:t>
            </a:r>
            <a:r>
              <a:rPr sz="500" spc="-50" dirty="0">
                <a:solidFill>
                  <a:srgbClr val="494949"/>
                </a:solidFill>
                <a:latin typeface="Arial MT"/>
                <a:cs typeface="Arial MT"/>
              </a:rPr>
              <a:t>K</a:t>
            </a:r>
            <a:endParaRPr sz="500">
              <a:latin typeface="Arial MT"/>
              <a:cs typeface="Arial MT"/>
            </a:endParaRPr>
          </a:p>
        </p:txBody>
      </p:sp>
      <p:sp>
        <p:nvSpPr>
          <p:cNvPr id="76" name="object 76"/>
          <p:cNvSpPr txBox="1"/>
          <p:nvPr/>
        </p:nvSpPr>
        <p:spPr>
          <a:xfrm>
            <a:off x="6509521" y="2297938"/>
            <a:ext cx="1234440" cy="109220"/>
          </a:xfrm>
          <a:prstGeom prst="rect">
            <a:avLst/>
          </a:prstGeom>
        </p:spPr>
        <p:txBody>
          <a:bodyPr vert="horz" wrap="square" lIns="0" tIns="12700" rIns="0" bIns="0" rtlCol="0">
            <a:spAutoFit/>
          </a:bodyPr>
          <a:lstStyle/>
          <a:p>
            <a:pPr marL="12700">
              <a:lnSpc>
                <a:spcPct val="100000"/>
              </a:lnSpc>
              <a:spcBef>
                <a:spcPts val="100"/>
              </a:spcBef>
            </a:pPr>
            <a:r>
              <a:rPr sz="550" spc="-10" dirty="0">
                <a:solidFill>
                  <a:srgbClr val="3B3B3B"/>
                </a:solidFill>
                <a:latin typeface="Courier New"/>
                <a:cs typeface="Courier New"/>
              </a:rPr>
              <a:t>QpeA7(dualc0eARM64"mO0iPSOC'</a:t>
            </a:r>
            <a:endParaRPr sz="550">
              <a:latin typeface="Courier New"/>
              <a:cs typeface="Courier New"/>
            </a:endParaRPr>
          </a:p>
        </p:txBody>
      </p:sp>
      <p:sp>
        <p:nvSpPr>
          <p:cNvPr id="77" name="object 77"/>
          <p:cNvSpPr txBox="1"/>
          <p:nvPr/>
        </p:nvSpPr>
        <p:spPr>
          <a:xfrm>
            <a:off x="4614338" y="2593847"/>
            <a:ext cx="1219200" cy="101600"/>
          </a:xfrm>
          <a:prstGeom prst="rect">
            <a:avLst/>
          </a:prstGeom>
        </p:spPr>
        <p:txBody>
          <a:bodyPr vert="horz" wrap="square" lIns="0" tIns="12700" rIns="0" bIns="0" rtlCol="0">
            <a:spAutoFit/>
          </a:bodyPr>
          <a:lstStyle/>
          <a:p>
            <a:pPr marL="12700">
              <a:lnSpc>
                <a:spcPct val="100000"/>
              </a:lnSpc>
              <a:spcBef>
                <a:spcPts val="100"/>
              </a:spcBef>
              <a:tabLst>
                <a:tab pos="901700" algn="l"/>
              </a:tabLst>
            </a:pPr>
            <a:r>
              <a:rPr sz="500" dirty="0">
                <a:solidFill>
                  <a:srgbClr val="3D3D3D"/>
                </a:solidFill>
                <a:latin typeface="Arial MT"/>
                <a:cs typeface="Arial MT"/>
              </a:rPr>
              <a:t>Itanium</a:t>
            </a:r>
            <a:r>
              <a:rPr sz="500" spc="10" dirty="0">
                <a:solidFill>
                  <a:srgbClr val="3D3D3D"/>
                </a:solidFill>
                <a:latin typeface="Arial MT"/>
                <a:cs typeface="Arial MT"/>
              </a:rPr>
              <a:t> </a:t>
            </a:r>
            <a:r>
              <a:rPr sz="500" dirty="0">
                <a:solidFill>
                  <a:srgbClr val="464646"/>
                </a:solidFill>
                <a:latin typeface="Arial MT"/>
                <a:cs typeface="Arial MT"/>
              </a:rPr>
              <a:t>2</a:t>
            </a:r>
            <a:r>
              <a:rPr sz="500" spc="25" dirty="0">
                <a:solidFill>
                  <a:srgbClr val="464646"/>
                </a:solidFill>
                <a:latin typeface="Arial MT"/>
                <a:cs typeface="Arial MT"/>
              </a:rPr>
              <a:t> </a:t>
            </a:r>
            <a:r>
              <a:rPr sz="500" dirty="0">
                <a:solidFill>
                  <a:srgbClr val="424242"/>
                </a:solidFill>
                <a:latin typeface="Arial MT"/>
                <a:cs typeface="Arial MT"/>
              </a:rPr>
              <a:t>McKinley.</a:t>
            </a:r>
            <a:r>
              <a:rPr sz="500" spc="235" dirty="0">
                <a:solidFill>
                  <a:srgbClr val="424242"/>
                </a:solidFill>
                <a:latin typeface="Arial MT"/>
                <a:cs typeface="Arial MT"/>
              </a:rPr>
              <a:t> </a:t>
            </a:r>
            <a:r>
              <a:rPr sz="500" spc="-50" dirty="0">
                <a:solidFill>
                  <a:srgbClr val="424242"/>
                </a:solidFill>
                <a:latin typeface="Arial MT"/>
                <a:cs typeface="Arial MT"/>
              </a:rPr>
              <a:t>•</a:t>
            </a:r>
            <a:r>
              <a:rPr sz="500" dirty="0">
                <a:solidFill>
                  <a:srgbClr val="424242"/>
                </a:solidFill>
                <a:latin typeface="Arial MT"/>
                <a:cs typeface="Arial MT"/>
              </a:rPr>
              <a:t>	</a:t>
            </a:r>
            <a:r>
              <a:rPr sz="500" dirty="0">
                <a:solidFill>
                  <a:srgbClr val="F9E42D"/>
                </a:solidFill>
                <a:latin typeface="Arial MT"/>
                <a:cs typeface="Arial MT"/>
              </a:rPr>
              <a:t>@</a:t>
            </a:r>
            <a:r>
              <a:rPr sz="500" spc="210" dirty="0">
                <a:solidFill>
                  <a:srgbClr val="F9E42D"/>
                </a:solidFill>
                <a:latin typeface="Arial MT"/>
                <a:cs typeface="Arial MT"/>
              </a:rPr>
              <a:t> </a:t>
            </a:r>
            <a:r>
              <a:rPr sz="500" spc="-20" dirty="0">
                <a:solidFill>
                  <a:srgbClr val="3F3F3F"/>
                </a:solidFill>
                <a:latin typeface="Arial MT"/>
                <a:cs typeface="Arial MT"/>
              </a:rPr>
              <a:t>'@DeII</a:t>
            </a:r>
            <a:r>
              <a:rPr sz="500" spc="-20" dirty="0">
                <a:solidFill>
                  <a:srgbClr val="494949"/>
                </a:solidFill>
                <a:latin typeface="Arial MT"/>
                <a:cs typeface="Arial MT"/>
              </a:rPr>
              <a:t>.</a:t>
            </a:r>
            <a:endParaRPr sz="500">
              <a:latin typeface="Arial MT"/>
              <a:cs typeface="Arial MT"/>
            </a:endParaRPr>
          </a:p>
        </p:txBody>
      </p:sp>
      <p:sp>
        <p:nvSpPr>
          <p:cNvPr id="78" name="object 78"/>
          <p:cNvSpPr txBox="1"/>
          <p:nvPr/>
        </p:nvSpPr>
        <p:spPr>
          <a:xfrm>
            <a:off x="4136333" y="3059938"/>
            <a:ext cx="796290" cy="109220"/>
          </a:xfrm>
          <a:prstGeom prst="rect">
            <a:avLst/>
          </a:prstGeom>
        </p:spPr>
        <p:txBody>
          <a:bodyPr vert="horz" wrap="square" lIns="0" tIns="12700" rIns="0" bIns="0" rtlCol="0">
            <a:spAutoFit/>
          </a:bodyPr>
          <a:lstStyle/>
          <a:p>
            <a:pPr marL="12700">
              <a:lnSpc>
                <a:spcPct val="100000"/>
              </a:lnSpc>
              <a:spcBef>
                <a:spcPts val="100"/>
              </a:spcBef>
            </a:pPr>
            <a:r>
              <a:rPr sz="550" spc="-20" dirty="0">
                <a:solidFill>
                  <a:srgbClr val="2D2D2D"/>
                </a:solidFill>
                <a:latin typeface="Arial MT"/>
                <a:cs typeface="Arial MT"/>
              </a:rPr>
              <a:t>Pentium</a:t>
            </a:r>
            <a:r>
              <a:rPr sz="550" spc="5" dirty="0">
                <a:solidFill>
                  <a:srgbClr val="2D2D2D"/>
                </a:solidFill>
                <a:latin typeface="Arial MT"/>
                <a:cs typeface="Arial MT"/>
              </a:rPr>
              <a:t> </a:t>
            </a:r>
            <a:r>
              <a:rPr sz="550" spc="-10" dirty="0">
                <a:solidFill>
                  <a:srgbClr val="464646"/>
                </a:solidFill>
                <a:latin typeface="Arial MT"/>
                <a:cs typeface="Arial MT"/>
              </a:rPr>
              <a:t>II</a:t>
            </a:r>
            <a:r>
              <a:rPr sz="550" spc="5" dirty="0">
                <a:solidFill>
                  <a:srgbClr val="464646"/>
                </a:solidFill>
                <a:latin typeface="Arial MT"/>
                <a:cs typeface="Arial MT"/>
              </a:rPr>
              <a:t> </a:t>
            </a:r>
            <a:r>
              <a:rPr sz="550" spc="-20" dirty="0">
                <a:solidFill>
                  <a:srgbClr val="3D3D3D"/>
                </a:solidFill>
                <a:latin typeface="Arial MT"/>
                <a:cs typeface="Arial MT"/>
              </a:rPr>
              <a:t>Mobile</a:t>
            </a:r>
            <a:r>
              <a:rPr sz="550" spc="-10" dirty="0">
                <a:solidFill>
                  <a:srgbClr val="3D3D3D"/>
                </a:solidFill>
                <a:latin typeface="Arial MT"/>
                <a:cs typeface="Arial MT"/>
              </a:rPr>
              <a:t> </a:t>
            </a:r>
            <a:r>
              <a:rPr sz="550" spc="-10" dirty="0">
                <a:solidFill>
                  <a:srgbClr val="3F3F3F"/>
                </a:solidFill>
                <a:latin typeface="Arial MT"/>
                <a:cs typeface="Arial MT"/>
              </a:rPr>
              <a:t>Dixons</a:t>
            </a:r>
            <a:endParaRPr sz="550">
              <a:latin typeface="Arial MT"/>
              <a:cs typeface="Arial MT"/>
            </a:endParaRPr>
          </a:p>
        </p:txBody>
      </p:sp>
      <p:sp>
        <p:nvSpPr>
          <p:cNvPr id="79" name="object 79"/>
          <p:cNvSpPr txBox="1"/>
          <p:nvPr/>
        </p:nvSpPr>
        <p:spPr>
          <a:xfrm>
            <a:off x="4322262" y="2895600"/>
            <a:ext cx="762000" cy="185420"/>
          </a:xfrm>
          <a:prstGeom prst="rect">
            <a:avLst/>
          </a:prstGeom>
        </p:spPr>
        <p:txBody>
          <a:bodyPr vert="horz" wrap="square" lIns="0" tIns="12700" rIns="0" bIns="0" rtlCol="0">
            <a:spAutoFit/>
          </a:bodyPr>
          <a:lstStyle/>
          <a:p>
            <a:pPr marR="5080" algn="r">
              <a:lnSpc>
                <a:spcPts val="600"/>
              </a:lnSpc>
              <a:spcBef>
                <a:spcPts val="100"/>
              </a:spcBef>
            </a:pPr>
            <a:r>
              <a:rPr sz="500" dirty="0">
                <a:solidFill>
                  <a:srgbClr val="414141"/>
                </a:solidFill>
                <a:latin typeface="Arial MT"/>
                <a:cs typeface="Arial MT"/>
              </a:rPr>
              <a:t>Pentium</a:t>
            </a:r>
            <a:r>
              <a:rPr sz="500" spc="20" dirty="0">
                <a:solidFill>
                  <a:srgbClr val="414141"/>
                </a:solidFill>
                <a:latin typeface="Arial MT"/>
                <a:cs typeface="Arial MT"/>
              </a:rPr>
              <a:t> </a:t>
            </a:r>
            <a:r>
              <a:rPr sz="500" dirty="0">
                <a:solidFill>
                  <a:srgbClr val="4B4B4B"/>
                </a:solidFill>
                <a:latin typeface="Arial MT"/>
                <a:cs typeface="Arial MT"/>
              </a:rPr>
              <a:t>4</a:t>
            </a:r>
            <a:r>
              <a:rPr sz="500" spc="35" dirty="0">
                <a:solidFill>
                  <a:srgbClr val="4B4B4B"/>
                </a:solidFill>
                <a:latin typeface="Arial MT"/>
                <a:cs typeface="Arial MT"/>
              </a:rPr>
              <a:t> </a:t>
            </a:r>
            <a:r>
              <a:rPr sz="500" spc="-10" dirty="0">
                <a:solidFill>
                  <a:srgbClr val="414141"/>
                </a:solidFill>
                <a:latin typeface="Arial MT"/>
                <a:cs typeface="Arial MT"/>
              </a:rPr>
              <a:t>Northw</a:t>
            </a:r>
            <a:endParaRPr sz="500">
              <a:latin typeface="Arial MT"/>
              <a:cs typeface="Arial MT"/>
            </a:endParaRPr>
          </a:p>
          <a:p>
            <a:pPr marR="48895" algn="r">
              <a:lnSpc>
                <a:spcPct val="100000"/>
              </a:lnSpc>
            </a:pPr>
            <a:r>
              <a:rPr sz="550" spc="-25" dirty="0">
                <a:solidFill>
                  <a:srgbClr val="444444"/>
                </a:solidFill>
                <a:latin typeface="Arial MT"/>
                <a:cs typeface="Arial MT"/>
              </a:rPr>
              <a:t>Pentium</a:t>
            </a:r>
            <a:r>
              <a:rPr sz="550" spc="10" dirty="0">
                <a:solidFill>
                  <a:srgbClr val="444444"/>
                </a:solidFill>
                <a:latin typeface="Arial MT"/>
                <a:cs typeface="Arial MT"/>
              </a:rPr>
              <a:t> </a:t>
            </a:r>
            <a:r>
              <a:rPr sz="550" dirty="0">
                <a:solidFill>
                  <a:srgbClr val="494949"/>
                </a:solidFill>
                <a:latin typeface="Arial MT"/>
                <a:cs typeface="Arial MT"/>
              </a:rPr>
              <a:t>4</a:t>
            </a:r>
            <a:r>
              <a:rPr sz="550" spc="15" dirty="0">
                <a:solidFill>
                  <a:srgbClr val="494949"/>
                </a:solidFill>
                <a:latin typeface="Arial MT"/>
                <a:cs typeface="Arial MT"/>
              </a:rPr>
              <a:t> </a:t>
            </a:r>
            <a:r>
              <a:rPr sz="550" spc="-35" dirty="0">
                <a:solidFill>
                  <a:srgbClr val="424242"/>
                </a:solidFill>
                <a:latin typeface="Arial MT"/>
                <a:cs typeface="Arial MT"/>
              </a:rPr>
              <a:t>Willamette</a:t>
            </a:r>
            <a:r>
              <a:rPr sz="550" spc="-90" dirty="0">
                <a:solidFill>
                  <a:srgbClr val="424242"/>
                </a:solidFill>
                <a:latin typeface="Arial MT"/>
                <a:cs typeface="Arial MT"/>
              </a:rPr>
              <a:t> </a:t>
            </a:r>
            <a:r>
              <a:rPr sz="550" dirty="0">
                <a:solidFill>
                  <a:srgbClr val="E8E250"/>
                </a:solidFill>
                <a:latin typeface="Arial MT"/>
                <a:cs typeface="Arial MT"/>
              </a:rPr>
              <a:t>•</a:t>
            </a:r>
            <a:r>
              <a:rPr sz="550" spc="185" dirty="0">
                <a:solidFill>
                  <a:srgbClr val="E8E250"/>
                </a:solidFill>
                <a:latin typeface="Arial MT"/>
                <a:cs typeface="Arial MT"/>
              </a:rPr>
              <a:t> </a:t>
            </a:r>
            <a:r>
              <a:rPr sz="550" spc="-50" dirty="0">
                <a:solidFill>
                  <a:srgbClr val="E8E250"/>
                </a:solidFill>
                <a:latin typeface="Arial MT"/>
                <a:cs typeface="Arial MT"/>
              </a:rPr>
              <a:t>.</a:t>
            </a:r>
            <a:endParaRPr sz="550">
              <a:latin typeface="Arial MT"/>
              <a:cs typeface="Arial MT"/>
            </a:endParaRPr>
          </a:p>
        </p:txBody>
      </p:sp>
      <p:sp>
        <p:nvSpPr>
          <p:cNvPr id="80" name="object 80"/>
          <p:cNvSpPr txBox="1"/>
          <p:nvPr/>
        </p:nvSpPr>
        <p:spPr>
          <a:xfrm>
            <a:off x="4033192" y="3425952"/>
            <a:ext cx="386080" cy="101600"/>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3B3B3B"/>
                </a:solidFill>
                <a:latin typeface="Arial MT"/>
                <a:cs typeface="Arial MT"/>
              </a:rPr>
              <a:t>Pentium</a:t>
            </a:r>
            <a:r>
              <a:rPr sz="500" spc="85" dirty="0">
                <a:solidFill>
                  <a:srgbClr val="3B3B3B"/>
                </a:solidFill>
                <a:latin typeface="Arial MT"/>
                <a:cs typeface="Arial MT"/>
              </a:rPr>
              <a:t> </a:t>
            </a:r>
            <a:r>
              <a:rPr sz="500" spc="-25" dirty="0">
                <a:solidFill>
                  <a:srgbClr val="383838"/>
                </a:solidFill>
                <a:latin typeface="Arial MT"/>
                <a:cs typeface="Arial MT"/>
              </a:rPr>
              <a:t>Pry</a:t>
            </a:r>
            <a:endParaRPr sz="500">
              <a:latin typeface="Arial MT"/>
              <a:cs typeface="Arial MT"/>
            </a:endParaRPr>
          </a:p>
        </p:txBody>
      </p:sp>
      <p:sp>
        <p:nvSpPr>
          <p:cNvPr id="81" name="object 81"/>
          <p:cNvSpPr txBox="1"/>
          <p:nvPr/>
        </p:nvSpPr>
        <p:spPr>
          <a:xfrm>
            <a:off x="3460851" y="4120642"/>
            <a:ext cx="229235" cy="160020"/>
          </a:xfrm>
          <a:prstGeom prst="rect">
            <a:avLst/>
          </a:prstGeom>
        </p:spPr>
        <p:txBody>
          <a:bodyPr vert="horz" wrap="square" lIns="0" tIns="12700" rIns="0" bIns="0" rtlCol="0">
            <a:spAutoFit/>
          </a:bodyPr>
          <a:lstStyle/>
          <a:p>
            <a:pPr marL="13335">
              <a:lnSpc>
                <a:spcPts val="560"/>
              </a:lnSpc>
              <a:spcBef>
                <a:spcPts val="100"/>
              </a:spcBef>
            </a:pPr>
            <a:r>
              <a:rPr sz="550" spc="-10" dirty="0">
                <a:solidFill>
                  <a:srgbClr val="414141"/>
                </a:solidFill>
                <a:latin typeface="Arial MT"/>
                <a:cs typeface="Arial MT"/>
              </a:rPr>
              <a:t>Intel</a:t>
            </a:r>
            <a:endParaRPr sz="550">
              <a:latin typeface="Arial MT"/>
              <a:cs typeface="Arial MT"/>
            </a:endParaRPr>
          </a:p>
          <a:p>
            <a:pPr marL="12700">
              <a:lnSpc>
                <a:spcPts val="500"/>
              </a:lnSpc>
            </a:pPr>
            <a:r>
              <a:rPr sz="500" spc="40" dirty="0">
                <a:solidFill>
                  <a:srgbClr val="444444"/>
                </a:solidFill>
                <a:latin typeface="Arial MT"/>
                <a:cs typeface="Arial MT"/>
              </a:rPr>
              <a:t>i960*'</a:t>
            </a:r>
            <a:endParaRPr sz="500">
              <a:latin typeface="Arial MT"/>
              <a:cs typeface="Arial MT"/>
            </a:endParaRPr>
          </a:p>
        </p:txBody>
      </p:sp>
      <p:sp>
        <p:nvSpPr>
          <p:cNvPr id="82" name="object 82"/>
          <p:cNvSpPr txBox="1"/>
          <p:nvPr/>
        </p:nvSpPr>
        <p:spPr>
          <a:xfrm>
            <a:off x="2183739" y="4672583"/>
            <a:ext cx="1468120" cy="101600"/>
          </a:xfrm>
          <a:prstGeom prst="rect">
            <a:avLst/>
          </a:prstGeom>
        </p:spPr>
        <p:txBody>
          <a:bodyPr vert="horz" wrap="square" lIns="0" tIns="12700" rIns="0" bIns="0" rtlCol="0">
            <a:spAutoFit/>
          </a:bodyPr>
          <a:lstStyle/>
          <a:p>
            <a:pPr marL="12700">
              <a:lnSpc>
                <a:spcPct val="100000"/>
              </a:lnSpc>
              <a:spcBef>
                <a:spcPts val="100"/>
              </a:spcBef>
              <a:tabLst>
                <a:tab pos="1080135" algn="l"/>
              </a:tabLst>
            </a:pPr>
            <a:r>
              <a:rPr sz="500" dirty="0">
                <a:solidFill>
                  <a:srgbClr val="3B3B3B"/>
                </a:solidFill>
                <a:latin typeface="Arial MT"/>
                <a:cs typeface="Arial MT"/>
              </a:rPr>
              <a:t>intel</a:t>
            </a:r>
            <a:r>
              <a:rPr sz="500" spc="10" dirty="0">
                <a:solidFill>
                  <a:srgbClr val="3B3B3B"/>
                </a:solidFill>
                <a:latin typeface="Arial MT"/>
                <a:cs typeface="Arial MT"/>
              </a:rPr>
              <a:t> </a:t>
            </a:r>
            <a:r>
              <a:rPr sz="500" dirty="0">
                <a:solidFill>
                  <a:srgbClr val="444444"/>
                </a:solidFill>
                <a:latin typeface="Arial MT"/>
                <a:cs typeface="Arial MT"/>
              </a:rPr>
              <a:t>8086•0'</a:t>
            </a:r>
            <a:r>
              <a:rPr sz="500" spc="350" dirty="0">
                <a:solidFill>
                  <a:srgbClr val="444444"/>
                </a:solidFill>
                <a:latin typeface="Arial MT"/>
                <a:cs typeface="Arial MT"/>
              </a:rPr>
              <a:t>  </a:t>
            </a:r>
            <a:r>
              <a:rPr sz="500" dirty="0">
                <a:solidFill>
                  <a:srgbClr val="3A3A3A"/>
                </a:solidFill>
                <a:latin typeface="Arial MT"/>
                <a:cs typeface="Arial MT"/>
              </a:rPr>
              <a:t>Intel</a:t>
            </a:r>
            <a:r>
              <a:rPr sz="500" spc="-5" dirty="0">
                <a:solidFill>
                  <a:srgbClr val="3A3A3A"/>
                </a:solidFill>
                <a:latin typeface="Arial MT"/>
                <a:cs typeface="Arial MT"/>
              </a:rPr>
              <a:t> </a:t>
            </a:r>
            <a:r>
              <a:rPr sz="500" spc="-20" dirty="0">
                <a:solidFill>
                  <a:srgbClr val="444444"/>
                </a:solidFill>
                <a:latin typeface="Arial MT"/>
                <a:cs typeface="Arial MT"/>
              </a:rPr>
              <a:t>B088</a:t>
            </a:r>
            <a:r>
              <a:rPr sz="500" dirty="0">
                <a:solidFill>
                  <a:srgbClr val="444444"/>
                </a:solidFill>
                <a:latin typeface="Arial MT"/>
                <a:cs typeface="Arial MT"/>
              </a:rPr>
              <a:t>	</a:t>
            </a:r>
            <a:r>
              <a:rPr sz="500" spc="155" dirty="0">
                <a:solidFill>
                  <a:srgbClr val="3D3D3D"/>
                </a:solidFill>
                <a:latin typeface="Arial MT"/>
                <a:cs typeface="Arial MT"/>
              </a:rPr>
              <a:t>ALARM</a:t>
            </a:r>
            <a:r>
              <a:rPr sz="500" spc="15" dirty="0">
                <a:solidFill>
                  <a:srgbClr val="3D3D3D"/>
                </a:solidFill>
                <a:latin typeface="Arial MT"/>
                <a:cs typeface="Arial MT"/>
              </a:rPr>
              <a:t> </a:t>
            </a:r>
            <a:r>
              <a:rPr sz="500" spc="-50" dirty="0">
                <a:solidFill>
                  <a:srgbClr val="424242"/>
                </a:solidFill>
                <a:latin typeface="Arial MT"/>
                <a:cs typeface="Arial MT"/>
              </a:rPr>
              <a:t>2</a:t>
            </a:r>
            <a:endParaRPr sz="500">
              <a:latin typeface="Arial MT"/>
              <a:cs typeface="Arial MT"/>
            </a:endParaRPr>
          </a:p>
        </p:txBody>
      </p:sp>
      <p:sp>
        <p:nvSpPr>
          <p:cNvPr id="83" name="object 83"/>
          <p:cNvSpPr txBox="1"/>
          <p:nvPr/>
        </p:nvSpPr>
        <p:spPr>
          <a:xfrm>
            <a:off x="2432456" y="4882895"/>
            <a:ext cx="217804" cy="101600"/>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3B3B3B"/>
                </a:solidFill>
                <a:latin typeface="Arial MT"/>
                <a:cs typeface="Arial MT"/>
              </a:rPr>
              <a:t>6809</a:t>
            </a:r>
            <a:r>
              <a:rPr sz="500" spc="-40" dirty="0">
                <a:solidFill>
                  <a:srgbClr val="3B3B3B"/>
                </a:solidFill>
                <a:latin typeface="Arial MT"/>
                <a:cs typeface="Arial MT"/>
              </a:rPr>
              <a:t> </a:t>
            </a:r>
            <a:r>
              <a:rPr sz="500" spc="-25" dirty="0">
                <a:solidFill>
                  <a:srgbClr val="424242"/>
                </a:solidFill>
                <a:latin typeface="Arial MT"/>
                <a:cs typeface="Arial MT"/>
              </a:rPr>
              <a:t>'*</a:t>
            </a:r>
            <a:endParaRPr sz="500">
              <a:latin typeface="Arial MT"/>
              <a:cs typeface="Arial MT"/>
            </a:endParaRPr>
          </a:p>
        </p:txBody>
      </p:sp>
      <p:sp>
        <p:nvSpPr>
          <p:cNvPr id="84" name="object 84"/>
          <p:cNvSpPr txBox="1"/>
          <p:nvPr/>
        </p:nvSpPr>
        <p:spPr>
          <a:xfrm>
            <a:off x="1491576" y="4873752"/>
            <a:ext cx="842644" cy="349885"/>
          </a:xfrm>
          <a:prstGeom prst="rect">
            <a:avLst/>
          </a:prstGeom>
        </p:spPr>
        <p:txBody>
          <a:bodyPr vert="horz" wrap="square" lIns="0" tIns="12700" rIns="0" bIns="0" rtlCol="0">
            <a:spAutoFit/>
          </a:bodyPr>
          <a:lstStyle/>
          <a:p>
            <a:pPr marL="417195" marR="30480" indent="-328930">
              <a:lnSpc>
                <a:spcPct val="144000"/>
              </a:lnSpc>
              <a:spcBef>
                <a:spcPts val="100"/>
              </a:spcBef>
              <a:tabLst>
                <a:tab pos="530225" algn="l"/>
              </a:tabLst>
            </a:pPr>
            <a:r>
              <a:rPr sz="500" dirty="0">
                <a:solidFill>
                  <a:srgbClr val="414141"/>
                </a:solidFill>
                <a:latin typeface="Arial MT"/>
                <a:cs typeface="Arial MT"/>
              </a:rPr>
              <a:t>TMS </a:t>
            </a:r>
            <a:r>
              <a:rPr sz="500" spc="-20" dirty="0">
                <a:solidFill>
                  <a:srgbClr val="424242"/>
                </a:solidFill>
                <a:latin typeface="Arial MT"/>
                <a:cs typeface="Arial MT"/>
              </a:rPr>
              <a:t>1000</a:t>
            </a:r>
            <a:r>
              <a:rPr sz="500" dirty="0">
                <a:solidFill>
                  <a:srgbClr val="424242"/>
                </a:solidFill>
                <a:latin typeface="Arial MT"/>
                <a:cs typeface="Arial MT"/>
              </a:rPr>
              <a:t>		</a:t>
            </a:r>
            <a:r>
              <a:rPr sz="500" spc="20" dirty="0">
                <a:solidFill>
                  <a:srgbClr val="363636"/>
                </a:solidFill>
                <a:latin typeface="Arial MT"/>
                <a:cs typeface="Arial MT"/>
              </a:rPr>
              <a:t>*'!°9</a:t>
            </a:r>
            <a:r>
              <a:rPr sz="500" spc="100" dirty="0">
                <a:solidFill>
                  <a:srgbClr val="363636"/>
                </a:solidFill>
                <a:latin typeface="Arial MT"/>
                <a:cs typeface="Arial MT"/>
              </a:rPr>
              <a:t> </a:t>
            </a:r>
            <a:r>
              <a:rPr sz="750" spc="-37" baseline="22222" dirty="0">
                <a:solidFill>
                  <a:srgbClr val="363636"/>
                </a:solidFill>
                <a:latin typeface="Arial MT"/>
                <a:cs typeface="Arial MT"/>
              </a:rPr>
              <a:t>Z80</a:t>
            </a:r>
            <a:r>
              <a:rPr sz="750" spc="750" baseline="22222" dirty="0">
                <a:solidFill>
                  <a:srgbClr val="363636"/>
                </a:solidFill>
                <a:latin typeface="Arial MT"/>
                <a:cs typeface="Arial MT"/>
              </a:rPr>
              <a:t> </a:t>
            </a:r>
            <a:r>
              <a:rPr sz="500" dirty="0">
                <a:solidFill>
                  <a:srgbClr val="424242"/>
                </a:solidFill>
                <a:latin typeface="Arial MT"/>
                <a:cs typeface="Arial MT"/>
              </a:rPr>
              <a:t>RCA</a:t>
            </a:r>
            <a:r>
              <a:rPr sz="500" spc="-35" dirty="0">
                <a:solidFill>
                  <a:srgbClr val="424242"/>
                </a:solidFill>
                <a:latin typeface="Arial MT"/>
                <a:cs typeface="Arial MT"/>
              </a:rPr>
              <a:t> </a:t>
            </a:r>
            <a:r>
              <a:rPr sz="500" spc="-20" dirty="0">
                <a:solidFill>
                  <a:srgbClr val="444444"/>
                </a:solidFill>
                <a:latin typeface="Arial MT"/>
                <a:cs typeface="Arial MT"/>
              </a:rPr>
              <a:t>1802</a:t>
            </a:r>
            <a:endParaRPr sz="500">
              <a:latin typeface="Arial MT"/>
              <a:cs typeface="Arial MT"/>
            </a:endParaRPr>
          </a:p>
          <a:p>
            <a:pPr marL="38100">
              <a:lnSpc>
                <a:spcPct val="100000"/>
              </a:lnSpc>
              <a:spcBef>
                <a:spcPts val="165"/>
              </a:spcBef>
            </a:pPr>
            <a:r>
              <a:rPr sz="550" spc="-20" dirty="0">
                <a:solidFill>
                  <a:srgbClr val="343434"/>
                </a:solidFill>
                <a:latin typeface="Arial MT"/>
                <a:cs typeface="Arial MT"/>
              </a:rPr>
              <a:t>Intel</a:t>
            </a:r>
            <a:r>
              <a:rPr sz="550" spc="5" dirty="0">
                <a:solidFill>
                  <a:srgbClr val="343434"/>
                </a:solidFill>
                <a:latin typeface="Arial MT"/>
                <a:cs typeface="Arial MT"/>
              </a:rPr>
              <a:t> </a:t>
            </a:r>
            <a:r>
              <a:rPr sz="550" spc="80" dirty="0">
                <a:solidFill>
                  <a:srgbClr val="424242"/>
                </a:solidFill>
                <a:latin typeface="Arial MT"/>
                <a:cs typeface="Arial MT"/>
              </a:rPr>
              <a:t>800a</a:t>
            </a:r>
            <a:endParaRPr sz="550">
              <a:latin typeface="Arial MT"/>
              <a:cs typeface="Arial MT"/>
            </a:endParaRPr>
          </a:p>
        </p:txBody>
      </p:sp>
      <p:sp>
        <p:nvSpPr>
          <p:cNvPr id="85" name="object 85"/>
          <p:cNvSpPr txBox="1"/>
          <p:nvPr/>
        </p:nvSpPr>
        <p:spPr>
          <a:xfrm>
            <a:off x="1913280" y="5248655"/>
            <a:ext cx="469265" cy="101600"/>
          </a:xfrm>
          <a:prstGeom prst="rect">
            <a:avLst/>
          </a:prstGeom>
        </p:spPr>
        <p:txBody>
          <a:bodyPr vert="horz" wrap="square" lIns="0" tIns="12700" rIns="0" bIns="0" rtlCol="0">
            <a:spAutoFit/>
          </a:bodyPr>
          <a:lstStyle/>
          <a:p>
            <a:pPr marL="38100">
              <a:lnSpc>
                <a:spcPct val="100000"/>
              </a:lnSpc>
              <a:spcBef>
                <a:spcPts val="100"/>
              </a:spcBef>
            </a:pPr>
            <a:r>
              <a:rPr sz="750" baseline="-27777" dirty="0">
                <a:solidFill>
                  <a:srgbClr val="444444"/>
                </a:solidFill>
                <a:latin typeface="Arial MT"/>
                <a:cs typeface="Arial MT"/>
              </a:rPr>
              <a:t>6800</a:t>
            </a:r>
            <a:r>
              <a:rPr sz="750" spc="89" baseline="-27777" dirty="0">
                <a:solidFill>
                  <a:srgbClr val="444444"/>
                </a:solidFill>
                <a:latin typeface="Arial MT"/>
                <a:cs typeface="Arial MT"/>
              </a:rPr>
              <a:t> </a:t>
            </a:r>
            <a:r>
              <a:rPr sz="500" dirty="0">
                <a:solidFill>
                  <a:srgbClr val="424242"/>
                </a:solidFill>
                <a:latin typeface="Arial MT"/>
                <a:cs typeface="Arial MT"/>
              </a:rPr>
              <a:t>^</a:t>
            </a:r>
            <a:r>
              <a:rPr sz="500" spc="290" dirty="0">
                <a:solidFill>
                  <a:srgbClr val="424242"/>
                </a:solidFill>
                <a:latin typeface="Arial MT"/>
                <a:cs typeface="Arial MT"/>
              </a:rPr>
              <a:t> </a:t>
            </a:r>
            <a:r>
              <a:rPr sz="500" spc="-20" dirty="0">
                <a:solidFill>
                  <a:srgbClr val="484848"/>
                </a:solidFill>
                <a:latin typeface="Arial MT"/>
                <a:cs typeface="Arial MT"/>
              </a:rPr>
              <a:t>6502</a:t>
            </a:r>
            <a:endParaRPr sz="500">
              <a:latin typeface="Arial MT"/>
              <a:cs typeface="Arial MT"/>
            </a:endParaRPr>
          </a:p>
        </p:txBody>
      </p:sp>
      <p:sp>
        <p:nvSpPr>
          <p:cNvPr id="86" name="object 86"/>
          <p:cNvSpPr txBox="1"/>
          <p:nvPr/>
        </p:nvSpPr>
        <p:spPr>
          <a:xfrm>
            <a:off x="2442205" y="5035042"/>
            <a:ext cx="176530" cy="109220"/>
          </a:xfrm>
          <a:prstGeom prst="rect">
            <a:avLst/>
          </a:prstGeom>
        </p:spPr>
        <p:txBody>
          <a:bodyPr vert="horz" wrap="square" lIns="0" tIns="12700" rIns="0" bIns="0" rtlCol="0">
            <a:spAutoFit/>
          </a:bodyPr>
          <a:lstStyle/>
          <a:p>
            <a:pPr marL="12700">
              <a:lnSpc>
                <a:spcPct val="100000"/>
              </a:lnSpc>
              <a:spcBef>
                <a:spcPts val="100"/>
              </a:spcBef>
            </a:pPr>
            <a:r>
              <a:rPr sz="550" spc="-15" dirty="0">
                <a:solidFill>
                  <a:srgbClr val="3D3D3D"/>
                </a:solidFill>
                <a:latin typeface="Courier New"/>
                <a:cs typeface="Courier New"/>
              </a:rPr>
              <a:t>8085</a:t>
            </a:r>
            <a:endParaRPr sz="550">
              <a:latin typeface="Courier New"/>
              <a:cs typeface="Courier New"/>
            </a:endParaRPr>
          </a:p>
        </p:txBody>
      </p:sp>
      <p:sp>
        <p:nvSpPr>
          <p:cNvPr id="87" name="object 87"/>
          <p:cNvSpPr txBox="1"/>
          <p:nvPr/>
        </p:nvSpPr>
        <p:spPr>
          <a:xfrm>
            <a:off x="2133937" y="5196840"/>
            <a:ext cx="580390" cy="101600"/>
          </a:xfrm>
          <a:prstGeom prst="rect">
            <a:avLst/>
          </a:prstGeom>
        </p:spPr>
        <p:txBody>
          <a:bodyPr vert="horz" wrap="square" lIns="0" tIns="12700" rIns="0" bIns="0" rtlCol="0">
            <a:spAutoFit/>
          </a:bodyPr>
          <a:lstStyle/>
          <a:p>
            <a:pPr marL="12700">
              <a:lnSpc>
                <a:spcPct val="100000"/>
              </a:lnSpc>
              <a:spcBef>
                <a:spcPts val="100"/>
              </a:spcBef>
            </a:pPr>
            <a:r>
              <a:rPr sz="500" spc="70" dirty="0">
                <a:solidFill>
                  <a:srgbClr val="444444"/>
                </a:solidFill>
                <a:latin typeface="Arial MT"/>
                <a:cs typeface="Arial MT"/>
              </a:rPr>
              <a:t>”MOS</a:t>
            </a:r>
            <a:r>
              <a:rPr sz="500" spc="15" dirty="0">
                <a:solidFill>
                  <a:srgbClr val="444444"/>
                </a:solidFill>
                <a:latin typeface="Arial MT"/>
                <a:cs typeface="Arial MT"/>
              </a:rPr>
              <a:t> </a:t>
            </a:r>
            <a:r>
              <a:rPr sz="500" spc="-10" dirty="0">
                <a:solidFill>
                  <a:srgbClr val="343434"/>
                </a:solidFill>
                <a:latin typeface="Arial MT"/>
                <a:cs typeface="Arial MT"/>
              </a:rPr>
              <a:t>Technology</a:t>
            </a:r>
            <a:endParaRPr sz="500">
              <a:latin typeface="Arial MT"/>
              <a:cs typeface="Arial MT"/>
            </a:endParaRPr>
          </a:p>
        </p:txBody>
      </p:sp>
      <p:sp>
        <p:nvSpPr>
          <p:cNvPr id="88" name="object 88"/>
          <p:cNvSpPr txBox="1"/>
          <p:nvPr/>
        </p:nvSpPr>
        <p:spPr>
          <a:xfrm>
            <a:off x="2745538" y="4989321"/>
            <a:ext cx="224790" cy="109220"/>
          </a:xfrm>
          <a:prstGeom prst="rect">
            <a:avLst/>
          </a:prstGeom>
        </p:spPr>
        <p:txBody>
          <a:bodyPr vert="horz" wrap="square" lIns="0" tIns="12700" rIns="0" bIns="0" rtlCol="0">
            <a:spAutoFit/>
          </a:bodyPr>
          <a:lstStyle/>
          <a:p>
            <a:pPr marL="12700">
              <a:lnSpc>
                <a:spcPct val="100000"/>
              </a:lnSpc>
              <a:spcBef>
                <a:spcPts val="100"/>
              </a:spcBef>
            </a:pPr>
            <a:r>
              <a:rPr sz="550" spc="-10" dirty="0">
                <a:solidFill>
                  <a:srgbClr val="343434"/>
                </a:solidFill>
                <a:latin typeface="Courier New"/>
                <a:cs typeface="Courier New"/>
              </a:rPr>
              <a:t>65C02</a:t>
            </a:r>
            <a:endParaRPr sz="550">
              <a:latin typeface="Courier New"/>
              <a:cs typeface="Courier New"/>
            </a:endParaRPr>
          </a:p>
        </p:txBody>
      </p:sp>
      <p:sp>
        <p:nvSpPr>
          <p:cNvPr id="89" name="object 89"/>
          <p:cNvSpPr txBox="1"/>
          <p:nvPr/>
        </p:nvSpPr>
        <p:spPr>
          <a:xfrm>
            <a:off x="3213562" y="4864607"/>
            <a:ext cx="257175" cy="154940"/>
          </a:xfrm>
          <a:prstGeom prst="rect">
            <a:avLst/>
          </a:prstGeom>
        </p:spPr>
        <p:txBody>
          <a:bodyPr vert="horz" wrap="square" lIns="0" tIns="12700" rIns="0" bIns="0" rtlCol="0">
            <a:spAutoFit/>
          </a:bodyPr>
          <a:lstStyle/>
          <a:p>
            <a:pPr marL="36830">
              <a:lnSpc>
                <a:spcPts val="480"/>
              </a:lnSpc>
              <a:spcBef>
                <a:spcPts val="100"/>
              </a:spcBef>
            </a:pPr>
            <a:r>
              <a:rPr sz="500" spc="-10" dirty="0">
                <a:solidFill>
                  <a:srgbClr val="383838"/>
                </a:solidFill>
                <a:latin typeface="Arial MT"/>
                <a:cs typeface="Arial MT"/>
              </a:rPr>
              <a:t>Novix</a:t>
            </a:r>
            <a:endParaRPr sz="500">
              <a:latin typeface="Arial MT"/>
              <a:cs typeface="Arial MT"/>
            </a:endParaRPr>
          </a:p>
          <a:p>
            <a:pPr marL="12700">
              <a:lnSpc>
                <a:spcPts val="540"/>
              </a:lnSpc>
            </a:pPr>
            <a:r>
              <a:rPr sz="550" spc="-20" dirty="0">
                <a:solidFill>
                  <a:srgbClr val="444444"/>
                </a:solidFill>
                <a:latin typeface="Courier New"/>
                <a:cs typeface="Courier New"/>
              </a:rPr>
              <a:t>NC4016</a:t>
            </a:r>
            <a:endParaRPr sz="550">
              <a:latin typeface="Courier New"/>
              <a:cs typeface="Courier New"/>
            </a:endParaRPr>
          </a:p>
        </p:txBody>
      </p:sp>
      <p:sp>
        <p:nvSpPr>
          <p:cNvPr id="90" name="object 90"/>
          <p:cNvSpPr txBox="1"/>
          <p:nvPr/>
        </p:nvSpPr>
        <p:spPr>
          <a:xfrm>
            <a:off x="5291232" y="2929128"/>
            <a:ext cx="281305" cy="101600"/>
          </a:xfrm>
          <a:prstGeom prst="rect">
            <a:avLst/>
          </a:prstGeom>
        </p:spPr>
        <p:txBody>
          <a:bodyPr vert="horz" wrap="square" lIns="0" tIns="12700" rIns="0" bIns="0" rtlCol="0">
            <a:spAutoFit/>
          </a:bodyPr>
          <a:lstStyle/>
          <a:p>
            <a:pPr marL="12700">
              <a:lnSpc>
                <a:spcPct val="100000"/>
              </a:lnSpc>
              <a:spcBef>
                <a:spcPts val="100"/>
              </a:spcBef>
            </a:pPr>
            <a:r>
              <a:rPr sz="500" spc="-10" dirty="0">
                <a:solidFill>
                  <a:srgbClr val="3D3D3D"/>
                </a:solidFill>
                <a:latin typeface="Arial MT"/>
                <a:cs typeface="Arial MT"/>
              </a:rPr>
              <a:t>0'Barton</a:t>
            </a:r>
            <a:endParaRPr sz="500">
              <a:latin typeface="Arial MT"/>
              <a:cs typeface="Arial MT"/>
            </a:endParaRPr>
          </a:p>
        </p:txBody>
      </p:sp>
      <p:sp>
        <p:nvSpPr>
          <p:cNvPr id="91" name="object 91"/>
          <p:cNvSpPr txBox="1"/>
          <p:nvPr/>
        </p:nvSpPr>
        <p:spPr>
          <a:xfrm>
            <a:off x="5839983" y="2956305"/>
            <a:ext cx="255270" cy="109220"/>
          </a:xfrm>
          <a:prstGeom prst="rect">
            <a:avLst/>
          </a:prstGeom>
        </p:spPr>
        <p:txBody>
          <a:bodyPr vert="horz" wrap="square" lIns="0" tIns="12700" rIns="0" bIns="0" rtlCol="0">
            <a:spAutoFit/>
          </a:bodyPr>
          <a:lstStyle/>
          <a:p>
            <a:pPr marL="12700">
              <a:lnSpc>
                <a:spcPct val="100000"/>
              </a:lnSpc>
              <a:spcBef>
                <a:spcPts val="100"/>
              </a:spcBef>
            </a:pPr>
            <a:r>
              <a:rPr sz="550" spc="125" dirty="0">
                <a:solidFill>
                  <a:srgbClr val="424242"/>
                </a:solidFill>
                <a:latin typeface="Arial MT"/>
                <a:cs typeface="Arial MT"/>
              </a:rPr>
              <a:t>atom</a:t>
            </a:r>
            <a:endParaRPr sz="550">
              <a:latin typeface="Arial MT"/>
              <a:cs typeface="Arial MT"/>
            </a:endParaRPr>
          </a:p>
        </p:txBody>
      </p:sp>
      <p:sp>
        <p:nvSpPr>
          <p:cNvPr id="92" name="object 92"/>
          <p:cNvSpPr txBox="1"/>
          <p:nvPr/>
        </p:nvSpPr>
        <p:spPr>
          <a:xfrm>
            <a:off x="5730795" y="3105911"/>
            <a:ext cx="553720" cy="101600"/>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3D3D3D"/>
                </a:solidFill>
                <a:latin typeface="Arial MT"/>
                <a:cs typeface="Arial MT"/>
              </a:rPr>
              <a:t>*0'ARM</a:t>
            </a:r>
            <a:r>
              <a:rPr sz="500" spc="15" dirty="0">
                <a:solidFill>
                  <a:srgbClr val="3D3D3D"/>
                </a:solidFill>
                <a:latin typeface="Arial MT"/>
                <a:cs typeface="Arial MT"/>
              </a:rPr>
              <a:t> </a:t>
            </a:r>
            <a:r>
              <a:rPr sz="500" dirty="0">
                <a:solidFill>
                  <a:srgbClr val="3B3B3B"/>
                </a:solidFill>
                <a:latin typeface="Arial MT"/>
                <a:cs typeface="Arial MT"/>
              </a:rPr>
              <a:t>Cortex-</a:t>
            </a:r>
            <a:r>
              <a:rPr sz="500" spc="-25" dirty="0">
                <a:solidFill>
                  <a:srgbClr val="3B3B3B"/>
                </a:solidFill>
                <a:latin typeface="Arial MT"/>
                <a:cs typeface="Arial MT"/>
              </a:rPr>
              <a:t>A9</a:t>
            </a:r>
            <a:endParaRPr sz="500">
              <a:latin typeface="Arial MT"/>
              <a:cs typeface="Arial MT"/>
            </a:endParaRPr>
          </a:p>
        </p:txBody>
      </p:sp>
      <p:sp>
        <p:nvSpPr>
          <p:cNvPr id="93" name="object 93"/>
          <p:cNvSpPr txBox="1"/>
          <p:nvPr/>
        </p:nvSpPr>
        <p:spPr>
          <a:xfrm>
            <a:off x="4837864" y="2670047"/>
            <a:ext cx="768350" cy="101600"/>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3F3F3F"/>
                </a:solidFill>
                <a:latin typeface="Arial MT"/>
                <a:cs typeface="Arial MT"/>
              </a:rPr>
              <a:t>Pentium</a:t>
            </a:r>
            <a:r>
              <a:rPr sz="500" spc="40" dirty="0">
                <a:solidFill>
                  <a:srgbClr val="3F3F3F"/>
                </a:solidFill>
                <a:latin typeface="Arial MT"/>
                <a:cs typeface="Arial MT"/>
              </a:rPr>
              <a:t> </a:t>
            </a:r>
            <a:r>
              <a:rPr sz="500" dirty="0">
                <a:solidFill>
                  <a:srgbClr val="414141"/>
                </a:solidFill>
                <a:latin typeface="Arial MT"/>
                <a:cs typeface="Arial MT"/>
              </a:rPr>
              <a:t>4</a:t>
            </a:r>
            <a:r>
              <a:rPr sz="500" spc="15" dirty="0">
                <a:solidFill>
                  <a:srgbClr val="414141"/>
                </a:solidFill>
                <a:latin typeface="Arial MT"/>
                <a:cs typeface="Arial MT"/>
              </a:rPr>
              <a:t> </a:t>
            </a:r>
            <a:r>
              <a:rPr sz="500" spc="-10" dirty="0">
                <a:solidFill>
                  <a:srgbClr val="444444"/>
                </a:solidFill>
                <a:latin typeface="Arial MT"/>
                <a:cs typeface="Arial MT"/>
              </a:rPr>
              <a:t>Prescott-2M•@'</a:t>
            </a:r>
            <a:endParaRPr sz="500">
              <a:latin typeface="Arial MT"/>
              <a:cs typeface="Arial MT"/>
            </a:endParaRPr>
          </a:p>
        </p:txBody>
      </p:sp>
      <p:sp>
        <p:nvSpPr>
          <p:cNvPr id="94" name="object 94"/>
          <p:cNvSpPr txBox="1"/>
          <p:nvPr/>
        </p:nvSpPr>
        <p:spPr>
          <a:xfrm>
            <a:off x="5729400" y="2670047"/>
            <a:ext cx="708660" cy="165735"/>
          </a:xfrm>
          <a:prstGeom prst="rect">
            <a:avLst/>
          </a:prstGeom>
        </p:spPr>
        <p:txBody>
          <a:bodyPr vert="horz" wrap="square" lIns="0" tIns="12700" rIns="0" bIns="0" rtlCol="0">
            <a:spAutoFit/>
          </a:bodyPr>
          <a:lstStyle/>
          <a:p>
            <a:pPr marL="12700">
              <a:lnSpc>
                <a:spcPts val="550"/>
              </a:lnSpc>
              <a:spcBef>
                <a:spcPts val="100"/>
              </a:spcBef>
            </a:pPr>
            <a:r>
              <a:rPr sz="500" dirty="0">
                <a:solidFill>
                  <a:srgbClr val="3A3A3A"/>
                </a:solidFill>
                <a:latin typeface="Arial MT"/>
                <a:cs typeface="Arial MT"/>
              </a:rPr>
              <a:t>•0'Core</a:t>
            </a:r>
            <a:r>
              <a:rPr sz="500" spc="5" dirty="0">
                <a:solidFill>
                  <a:srgbClr val="3A3A3A"/>
                </a:solidFill>
                <a:latin typeface="Arial MT"/>
                <a:cs typeface="Arial MT"/>
              </a:rPr>
              <a:t> </a:t>
            </a:r>
            <a:r>
              <a:rPr sz="500" dirty="0">
                <a:solidFill>
                  <a:srgbClr val="4B4B4B"/>
                </a:solidFill>
                <a:latin typeface="Arial MT"/>
                <a:cs typeface="Arial MT"/>
              </a:rPr>
              <a:t>2</a:t>
            </a:r>
            <a:r>
              <a:rPr sz="500" spc="25" dirty="0">
                <a:solidFill>
                  <a:srgbClr val="4B4B4B"/>
                </a:solidFill>
                <a:latin typeface="Arial MT"/>
                <a:cs typeface="Arial MT"/>
              </a:rPr>
              <a:t> </a:t>
            </a:r>
            <a:r>
              <a:rPr sz="500" dirty="0">
                <a:solidFill>
                  <a:srgbClr val="444444"/>
                </a:solidFill>
                <a:latin typeface="Arial MT"/>
                <a:cs typeface="Arial MT"/>
              </a:rPr>
              <a:t>Duo</a:t>
            </a:r>
            <a:r>
              <a:rPr sz="500" spc="15" dirty="0">
                <a:solidFill>
                  <a:srgbClr val="444444"/>
                </a:solidFill>
                <a:latin typeface="Arial MT"/>
                <a:cs typeface="Arial MT"/>
              </a:rPr>
              <a:t> </a:t>
            </a:r>
            <a:r>
              <a:rPr sz="500" spc="-10" dirty="0">
                <a:solidFill>
                  <a:srgbClr val="383838"/>
                </a:solidFill>
                <a:latin typeface="Arial MT"/>
                <a:cs typeface="Arial MT"/>
              </a:rPr>
              <a:t>Allendale</a:t>
            </a:r>
            <a:endParaRPr sz="500">
              <a:latin typeface="Arial MT"/>
              <a:cs typeface="Arial MT"/>
            </a:endParaRPr>
          </a:p>
          <a:p>
            <a:pPr marL="375920">
              <a:lnSpc>
                <a:spcPts val="550"/>
              </a:lnSpc>
            </a:pPr>
            <a:r>
              <a:rPr sz="500" spc="-10" dirty="0">
                <a:solidFill>
                  <a:srgbClr val="3F3F3F"/>
                </a:solidFill>
                <a:latin typeface="Arial MT"/>
                <a:cs typeface="Arial MT"/>
              </a:rPr>
              <a:t>cedar</a:t>
            </a:r>
            <a:endParaRPr sz="500">
              <a:latin typeface="Arial MT"/>
              <a:cs typeface="Arial MT"/>
            </a:endParaRPr>
          </a:p>
        </p:txBody>
      </p:sp>
      <p:sp>
        <p:nvSpPr>
          <p:cNvPr id="95" name="object 95"/>
          <p:cNvSpPr txBox="1"/>
          <p:nvPr/>
        </p:nvSpPr>
        <p:spPr>
          <a:xfrm>
            <a:off x="4711205" y="3190494"/>
            <a:ext cx="121920" cy="124460"/>
          </a:xfrm>
          <a:prstGeom prst="rect">
            <a:avLst/>
          </a:prstGeom>
        </p:spPr>
        <p:txBody>
          <a:bodyPr vert="horz" wrap="square" lIns="0" tIns="12700" rIns="0" bIns="0" rtlCol="0">
            <a:spAutoFit/>
          </a:bodyPr>
          <a:lstStyle/>
          <a:p>
            <a:pPr marL="12700">
              <a:lnSpc>
                <a:spcPct val="100000"/>
              </a:lnSpc>
              <a:spcBef>
                <a:spcPts val="100"/>
              </a:spcBef>
            </a:pPr>
            <a:r>
              <a:rPr sz="650" spc="-100" dirty="0">
                <a:solidFill>
                  <a:srgbClr val="363636"/>
                </a:solidFill>
                <a:latin typeface="Arial MT"/>
                <a:cs typeface="Arial MT"/>
              </a:rPr>
              <a:t>A.</a:t>
            </a:r>
            <a:r>
              <a:rPr sz="650" spc="25" dirty="0">
                <a:solidFill>
                  <a:srgbClr val="363636"/>
                </a:solidFill>
                <a:latin typeface="Arial MT"/>
                <a:cs typeface="Arial MT"/>
              </a:rPr>
              <a:t> </a:t>
            </a:r>
            <a:r>
              <a:rPr sz="650" spc="-50" dirty="0">
                <a:solidFill>
                  <a:srgbClr val="383838"/>
                </a:solidFill>
                <a:latin typeface="Arial MT"/>
                <a:cs typeface="Arial MT"/>
              </a:rPr>
              <a:t>.</a:t>
            </a:r>
            <a:endParaRPr sz="650">
              <a:latin typeface="Arial MT"/>
              <a:cs typeface="Arial MT"/>
            </a:endParaRPr>
          </a:p>
        </p:txBody>
      </p:sp>
      <p:sp>
        <p:nvSpPr>
          <p:cNvPr id="96" name="object 96"/>
          <p:cNvSpPr txBox="1"/>
          <p:nvPr/>
        </p:nvSpPr>
        <p:spPr>
          <a:xfrm>
            <a:off x="4668754" y="3126485"/>
            <a:ext cx="1049020" cy="124460"/>
          </a:xfrm>
          <a:prstGeom prst="rect">
            <a:avLst/>
          </a:prstGeom>
        </p:spPr>
        <p:txBody>
          <a:bodyPr vert="horz" wrap="square" lIns="0" tIns="12700" rIns="0" bIns="0" rtlCol="0">
            <a:spAutoFit/>
          </a:bodyPr>
          <a:lstStyle/>
          <a:p>
            <a:pPr marL="12700">
              <a:lnSpc>
                <a:spcPct val="100000"/>
              </a:lnSpc>
              <a:spcBef>
                <a:spcPts val="100"/>
              </a:spcBef>
              <a:tabLst>
                <a:tab pos="360045" algn="l"/>
              </a:tabLst>
            </a:pPr>
            <a:r>
              <a:rPr sz="650" spc="-50" dirty="0">
                <a:solidFill>
                  <a:srgbClr val="363636"/>
                </a:solidFill>
                <a:latin typeface="Arial MT"/>
                <a:cs typeface="Arial MT"/>
              </a:rPr>
              <a:t>D</a:t>
            </a:r>
            <a:r>
              <a:rPr sz="650" dirty="0">
                <a:solidFill>
                  <a:srgbClr val="363636"/>
                </a:solidFill>
                <a:latin typeface="Arial MT"/>
                <a:cs typeface="Arial MT"/>
              </a:rPr>
              <a:t>	</a:t>
            </a:r>
            <a:r>
              <a:rPr sz="650" spc="-80" dirty="0">
                <a:solidFill>
                  <a:srgbClr val="383838"/>
                </a:solidFill>
                <a:latin typeface="Arial MT"/>
                <a:cs typeface="Arial MT"/>
              </a:rPr>
              <a:t>Pentium</a:t>
            </a:r>
            <a:r>
              <a:rPr sz="650" dirty="0">
                <a:solidFill>
                  <a:srgbClr val="383838"/>
                </a:solidFill>
                <a:latin typeface="Arial MT"/>
                <a:cs typeface="Arial MT"/>
              </a:rPr>
              <a:t> </a:t>
            </a:r>
            <a:r>
              <a:rPr sz="650" spc="-55" dirty="0">
                <a:solidFill>
                  <a:srgbClr val="444444"/>
                </a:solidFill>
                <a:latin typeface="Arial MT"/>
                <a:cs typeface="Arial MT"/>
              </a:rPr>
              <a:t>III</a:t>
            </a:r>
            <a:r>
              <a:rPr sz="650" spc="-30" dirty="0">
                <a:solidFill>
                  <a:srgbClr val="444444"/>
                </a:solidFill>
                <a:latin typeface="Arial MT"/>
                <a:cs typeface="Arial MT"/>
              </a:rPr>
              <a:t> </a:t>
            </a:r>
            <a:r>
              <a:rPr sz="650" spc="-75" dirty="0">
                <a:solidFill>
                  <a:srgbClr val="444444"/>
                </a:solidFill>
                <a:latin typeface="Arial MT"/>
                <a:cs typeface="Arial MT"/>
              </a:rPr>
              <a:t>Coppermine</a:t>
            </a:r>
            <a:endParaRPr sz="650">
              <a:latin typeface="Arial MT"/>
              <a:cs typeface="Arial MT"/>
            </a:endParaRPr>
          </a:p>
        </p:txBody>
      </p:sp>
      <p:sp>
        <p:nvSpPr>
          <p:cNvPr id="97" name="object 97"/>
          <p:cNvSpPr txBox="1"/>
          <p:nvPr/>
        </p:nvSpPr>
        <p:spPr>
          <a:xfrm>
            <a:off x="5903724" y="2599944"/>
            <a:ext cx="754380" cy="101600"/>
          </a:xfrm>
          <a:prstGeom prst="rect">
            <a:avLst/>
          </a:prstGeom>
        </p:spPr>
        <p:txBody>
          <a:bodyPr vert="horz" wrap="square" lIns="0" tIns="12700" rIns="0" bIns="0" rtlCol="0">
            <a:spAutoFit/>
          </a:bodyPr>
          <a:lstStyle/>
          <a:p>
            <a:pPr marL="12700">
              <a:lnSpc>
                <a:spcPct val="100000"/>
              </a:lnSpc>
              <a:spcBef>
                <a:spcPts val="100"/>
              </a:spcBef>
            </a:pPr>
            <a:r>
              <a:rPr sz="750" baseline="5555" dirty="0">
                <a:solidFill>
                  <a:srgbClr val="494949"/>
                </a:solidFill>
                <a:latin typeface="Arial MT"/>
                <a:cs typeface="Arial MT"/>
              </a:rPr>
              <a:t>'Core</a:t>
            </a:r>
            <a:r>
              <a:rPr sz="750" spc="15" baseline="5555" dirty="0">
                <a:solidFill>
                  <a:srgbClr val="494949"/>
                </a:solidFill>
                <a:latin typeface="Arial MT"/>
                <a:cs typeface="Arial MT"/>
              </a:rPr>
              <a:t> </a:t>
            </a:r>
            <a:r>
              <a:rPr sz="750" baseline="5555" dirty="0">
                <a:solidFill>
                  <a:srgbClr val="484848"/>
                </a:solidFill>
                <a:latin typeface="Arial MT"/>
                <a:cs typeface="Arial MT"/>
              </a:rPr>
              <a:t>2</a:t>
            </a:r>
            <a:r>
              <a:rPr sz="750" spc="30" baseline="5555" dirty="0">
                <a:solidFill>
                  <a:srgbClr val="484848"/>
                </a:solidFill>
                <a:latin typeface="Arial MT"/>
                <a:cs typeface="Arial MT"/>
              </a:rPr>
              <a:t> </a:t>
            </a:r>
            <a:r>
              <a:rPr sz="750" baseline="5555" dirty="0">
                <a:solidFill>
                  <a:srgbClr val="494949"/>
                </a:solidFill>
                <a:latin typeface="Arial MT"/>
                <a:cs typeface="Arial MT"/>
              </a:rPr>
              <a:t>Duo</a:t>
            </a:r>
            <a:r>
              <a:rPr sz="750" spc="30" baseline="5555" dirty="0">
                <a:solidFill>
                  <a:srgbClr val="494949"/>
                </a:solidFill>
                <a:latin typeface="Arial MT"/>
                <a:cs typeface="Arial MT"/>
              </a:rPr>
              <a:t> </a:t>
            </a:r>
            <a:r>
              <a:rPr sz="750" baseline="5555" dirty="0">
                <a:solidFill>
                  <a:srgbClr val="343434"/>
                </a:solidFill>
                <a:latin typeface="Arial MT"/>
                <a:cs typeface="Arial MT"/>
              </a:rPr>
              <a:t>Wolfdale</a:t>
            </a:r>
            <a:r>
              <a:rPr sz="750" spc="30" baseline="5555" dirty="0">
                <a:solidFill>
                  <a:srgbClr val="343434"/>
                </a:solidFill>
                <a:latin typeface="Arial MT"/>
                <a:cs typeface="Arial MT"/>
              </a:rPr>
              <a:t> </a:t>
            </a:r>
            <a:r>
              <a:rPr sz="500" spc="-25" dirty="0">
                <a:solidFill>
                  <a:srgbClr val="565656"/>
                </a:solidFill>
                <a:latin typeface="Arial MT"/>
                <a:cs typeface="Arial MT"/>
              </a:rPr>
              <a:t>3M</a:t>
            </a:r>
            <a:endParaRPr sz="500">
              <a:latin typeface="Arial MT"/>
              <a:cs typeface="Arial MT"/>
            </a:endParaRPr>
          </a:p>
        </p:txBody>
      </p:sp>
      <p:sp>
        <p:nvSpPr>
          <p:cNvPr id="98" name="object 98"/>
          <p:cNvSpPr txBox="1"/>
          <p:nvPr/>
        </p:nvSpPr>
        <p:spPr>
          <a:xfrm>
            <a:off x="4318294" y="3681729"/>
            <a:ext cx="250190" cy="109220"/>
          </a:xfrm>
          <a:prstGeom prst="rect">
            <a:avLst/>
          </a:prstGeom>
        </p:spPr>
        <p:txBody>
          <a:bodyPr vert="horz" wrap="square" lIns="0" tIns="12700" rIns="0" bIns="0" rtlCol="0">
            <a:spAutoFit/>
          </a:bodyPr>
          <a:lstStyle/>
          <a:p>
            <a:pPr marL="12700">
              <a:lnSpc>
                <a:spcPct val="100000"/>
              </a:lnSpc>
              <a:spcBef>
                <a:spcPts val="100"/>
              </a:spcBef>
            </a:pPr>
            <a:r>
              <a:rPr sz="550" spc="-10" dirty="0">
                <a:solidFill>
                  <a:srgbClr val="3F3F3F"/>
                </a:solidFill>
                <a:latin typeface="Courier New"/>
                <a:cs typeface="Courier New"/>
              </a:rPr>
              <a:t>SA110</a:t>
            </a:r>
            <a:endParaRPr sz="550">
              <a:latin typeface="Courier New"/>
              <a:cs typeface="Courier New"/>
            </a:endParaRPr>
          </a:p>
        </p:txBody>
      </p:sp>
      <p:sp>
        <p:nvSpPr>
          <p:cNvPr id="99" name="object 99"/>
          <p:cNvSpPr txBox="1"/>
          <p:nvPr/>
        </p:nvSpPr>
        <p:spPr>
          <a:xfrm>
            <a:off x="4177720" y="4029202"/>
            <a:ext cx="283845" cy="109220"/>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83838"/>
                </a:solidFill>
                <a:latin typeface="Courier New"/>
                <a:cs typeface="Courier New"/>
              </a:rPr>
              <a:t>AR</a:t>
            </a:r>
            <a:r>
              <a:rPr sz="550" spc="130" dirty="0">
                <a:solidFill>
                  <a:srgbClr val="383838"/>
                </a:solidFill>
                <a:latin typeface="Courier New"/>
                <a:cs typeface="Courier New"/>
              </a:rPr>
              <a:t> </a:t>
            </a:r>
            <a:r>
              <a:rPr sz="550" spc="-25" dirty="0">
                <a:solidFill>
                  <a:srgbClr val="383838"/>
                </a:solidFill>
                <a:latin typeface="Courier New"/>
                <a:cs typeface="Courier New"/>
              </a:rPr>
              <a:t>700</a:t>
            </a:r>
            <a:endParaRPr sz="550">
              <a:latin typeface="Courier New"/>
              <a:cs typeface="Courier New"/>
            </a:endParaRPr>
          </a:p>
        </p:txBody>
      </p:sp>
      <p:sp>
        <p:nvSpPr>
          <p:cNvPr id="100" name="object 100"/>
          <p:cNvSpPr txBox="1"/>
          <p:nvPr/>
        </p:nvSpPr>
        <p:spPr>
          <a:xfrm>
            <a:off x="4834342" y="3380232"/>
            <a:ext cx="605155" cy="101600"/>
          </a:xfrm>
          <a:prstGeom prst="rect">
            <a:avLst/>
          </a:prstGeom>
        </p:spPr>
        <p:txBody>
          <a:bodyPr vert="horz" wrap="square" lIns="0" tIns="12700" rIns="0" bIns="0" rtlCol="0">
            <a:spAutoFit/>
          </a:bodyPr>
          <a:lstStyle/>
          <a:p>
            <a:pPr marL="12700">
              <a:lnSpc>
                <a:spcPct val="100000"/>
              </a:lnSpc>
              <a:spcBef>
                <a:spcPts val="100"/>
              </a:spcBef>
            </a:pPr>
            <a:r>
              <a:rPr sz="500" spc="-10" dirty="0">
                <a:solidFill>
                  <a:srgbClr val="2F2F2F"/>
                </a:solidFill>
                <a:latin typeface="Arial MT"/>
                <a:cs typeface="Arial MT"/>
              </a:rPr>
              <a:t>entium'#@eschutes</a:t>
            </a:r>
            <a:r>
              <a:rPr sz="500" spc="-10" dirty="0">
                <a:solidFill>
                  <a:srgbClr val="626262"/>
                </a:solidFill>
                <a:latin typeface="Arial MT"/>
                <a:cs typeface="Arial MT"/>
              </a:rPr>
              <a:t>'</a:t>
            </a:r>
            <a:endParaRPr sz="500">
              <a:latin typeface="Arial MT"/>
              <a:cs typeface="Arial MT"/>
            </a:endParaRPr>
          </a:p>
        </p:txBody>
      </p:sp>
      <p:sp>
        <p:nvSpPr>
          <p:cNvPr id="101" name="object 101"/>
          <p:cNvSpPr txBox="1"/>
          <p:nvPr/>
        </p:nvSpPr>
        <p:spPr>
          <a:xfrm>
            <a:off x="3924980" y="5798311"/>
            <a:ext cx="98171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464646"/>
                </a:solidFill>
                <a:latin typeface="Arial MT"/>
                <a:cs typeface="Arial MT"/>
              </a:rPr>
              <a:t>Year</a:t>
            </a:r>
            <a:r>
              <a:rPr sz="900" spc="-20" dirty="0">
                <a:solidFill>
                  <a:srgbClr val="464646"/>
                </a:solidFill>
                <a:latin typeface="Arial MT"/>
                <a:cs typeface="Arial MT"/>
              </a:rPr>
              <a:t> </a:t>
            </a:r>
            <a:r>
              <a:rPr sz="900" dirty="0">
                <a:solidFill>
                  <a:srgbClr val="3D3D3D"/>
                </a:solidFill>
                <a:latin typeface="Arial MT"/>
                <a:cs typeface="Arial MT"/>
              </a:rPr>
              <a:t>of</a:t>
            </a:r>
            <a:r>
              <a:rPr sz="900" spc="-40" dirty="0">
                <a:solidFill>
                  <a:srgbClr val="3D3D3D"/>
                </a:solidFill>
                <a:latin typeface="Arial MT"/>
                <a:cs typeface="Arial MT"/>
              </a:rPr>
              <a:t> </a:t>
            </a:r>
            <a:r>
              <a:rPr sz="900" spc="-20" dirty="0">
                <a:solidFill>
                  <a:srgbClr val="363636"/>
                </a:solidFill>
                <a:latin typeface="Arial MT"/>
                <a:cs typeface="Arial MT"/>
              </a:rPr>
              <a:t>introduction</a:t>
            </a:r>
            <a:endParaRPr sz="900">
              <a:latin typeface="Arial MT"/>
              <a:cs typeface="Arial MT"/>
            </a:endParaRPr>
          </a:p>
        </p:txBody>
      </p:sp>
      <p:sp>
        <p:nvSpPr>
          <p:cNvPr id="102" name="object 102"/>
          <p:cNvSpPr txBox="1"/>
          <p:nvPr/>
        </p:nvSpPr>
        <p:spPr>
          <a:xfrm>
            <a:off x="574800" y="5939535"/>
            <a:ext cx="2660650" cy="132080"/>
          </a:xfrm>
          <a:prstGeom prst="rect">
            <a:avLst/>
          </a:prstGeom>
        </p:spPr>
        <p:txBody>
          <a:bodyPr vert="horz" wrap="square" lIns="0" tIns="12700" rIns="0" bIns="0" rtlCol="0">
            <a:spAutoFit/>
          </a:bodyPr>
          <a:lstStyle/>
          <a:p>
            <a:pPr marL="12700">
              <a:lnSpc>
                <a:spcPct val="100000"/>
              </a:lnSpc>
              <a:spcBef>
                <a:spcPts val="100"/>
              </a:spcBef>
            </a:pPr>
            <a:r>
              <a:rPr sz="700" spc="-25" dirty="0">
                <a:solidFill>
                  <a:srgbClr val="575757"/>
                </a:solidFill>
                <a:latin typeface="Arial MT"/>
                <a:cs typeface="Arial MT"/>
              </a:rPr>
              <a:t>Data</a:t>
            </a:r>
            <a:r>
              <a:rPr sz="700" spc="-15" dirty="0">
                <a:solidFill>
                  <a:srgbClr val="575757"/>
                </a:solidFill>
                <a:latin typeface="Arial MT"/>
                <a:cs typeface="Arial MT"/>
              </a:rPr>
              <a:t> </a:t>
            </a:r>
            <a:r>
              <a:rPr sz="700" spc="-30" dirty="0">
                <a:solidFill>
                  <a:srgbClr val="4D4D4D"/>
                </a:solidFill>
                <a:latin typeface="Arial MT"/>
                <a:cs typeface="Arial MT"/>
              </a:rPr>
              <a:t>source:</a:t>
            </a:r>
            <a:r>
              <a:rPr sz="700" spc="20" dirty="0">
                <a:solidFill>
                  <a:srgbClr val="4D4D4D"/>
                </a:solidFill>
                <a:latin typeface="Arial MT"/>
                <a:cs typeface="Arial MT"/>
              </a:rPr>
              <a:t> </a:t>
            </a:r>
            <a:r>
              <a:rPr sz="700" spc="-25" dirty="0">
                <a:solidFill>
                  <a:srgbClr val="4D4D4D"/>
                </a:solidFill>
                <a:latin typeface="Arial MT"/>
                <a:cs typeface="Arial MT"/>
              </a:rPr>
              <a:t>Wikipedia</a:t>
            </a:r>
            <a:r>
              <a:rPr sz="700" spc="5" dirty="0">
                <a:solidFill>
                  <a:srgbClr val="4D4D4D"/>
                </a:solidFill>
                <a:latin typeface="Arial MT"/>
                <a:cs typeface="Arial MT"/>
              </a:rPr>
              <a:t> </a:t>
            </a:r>
            <a:r>
              <a:rPr sz="700" spc="-10" dirty="0">
                <a:solidFill>
                  <a:srgbClr val="3D3D3D"/>
                </a:solidFill>
                <a:latin typeface="Arial MT"/>
                <a:cs typeface="Arial MT"/>
              </a:rPr>
              <a:t>(</a:t>
            </a:r>
            <a:r>
              <a:rPr sz="700" spc="-10" dirty="0">
                <a:solidFill>
                  <a:srgbClr val="3D3D3D"/>
                </a:solidFill>
                <a:latin typeface="Arial MT"/>
                <a:cs typeface="Arial MT"/>
                <a:hlinkClick r:id="rId43"/>
              </a:rPr>
              <a:t>https://en.wikipedia.org/wiki/Transistor</a:t>
            </a:r>
            <a:r>
              <a:rPr sz="700" spc="114" dirty="0">
                <a:solidFill>
                  <a:srgbClr val="3D3D3D"/>
                </a:solidFill>
                <a:latin typeface="Arial MT"/>
                <a:cs typeface="Arial MT"/>
              </a:rPr>
              <a:t> </a:t>
            </a:r>
            <a:r>
              <a:rPr sz="700" spc="-10" dirty="0">
                <a:solidFill>
                  <a:srgbClr val="494949"/>
                </a:solidFill>
                <a:latin typeface="Arial MT"/>
                <a:cs typeface="Arial MT"/>
              </a:rPr>
              <a:t>count)</a:t>
            </a:r>
            <a:endParaRPr sz="700">
              <a:latin typeface="Arial MT"/>
              <a:cs typeface="Arial MT"/>
            </a:endParaRPr>
          </a:p>
        </p:txBody>
      </p:sp>
      <p:sp>
        <p:nvSpPr>
          <p:cNvPr id="103" name="object 103"/>
          <p:cNvSpPr txBox="1"/>
          <p:nvPr/>
        </p:nvSpPr>
        <p:spPr>
          <a:xfrm>
            <a:off x="570432" y="6037071"/>
            <a:ext cx="4481830" cy="132080"/>
          </a:xfrm>
          <a:prstGeom prst="rect">
            <a:avLst/>
          </a:prstGeom>
        </p:spPr>
        <p:txBody>
          <a:bodyPr vert="horz" wrap="square" lIns="0" tIns="12700" rIns="0" bIns="0" rtlCol="0">
            <a:spAutoFit/>
          </a:bodyPr>
          <a:lstStyle/>
          <a:p>
            <a:pPr marL="12700">
              <a:lnSpc>
                <a:spcPct val="100000"/>
              </a:lnSpc>
              <a:spcBef>
                <a:spcPts val="100"/>
              </a:spcBef>
            </a:pPr>
            <a:r>
              <a:rPr sz="700" spc="-25" dirty="0">
                <a:solidFill>
                  <a:srgbClr val="4F4F4F"/>
                </a:solidFill>
                <a:latin typeface="Arial MT"/>
                <a:cs typeface="Arial MT"/>
              </a:rPr>
              <a:t>The </a:t>
            </a:r>
            <a:r>
              <a:rPr sz="700" spc="-20" dirty="0">
                <a:solidFill>
                  <a:srgbClr val="595959"/>
                </a:solidFill>
                <a:latin typeface="Arial MT"/>
                <a:cs typeface="Arial MT"/>
              </a:rPr>
              <a:t>data</a:t>
            </a:r>
            <a:r>
              <a:rPr sz="700" dirty="0">
                <a:solidFill>
                  <a:srgbClr val="595959"/>
                </a:solidFill>
                <a:latin typeface="Arial MT"/>
                <a:cs typeface="Arial MT"/>
              </a:rPr>
              <a:t> </a:t>
            </a:r>
            <a:r>
              <a:rPr sz="700" spc="-25" dirty="0">
                <a:solidFill>
                  <a:srgbClr val="525252"/>
                </a:solidFill>
                <a:latin typeface="Arial MT"/>
                <a:cs typeface="Arial MT"/>
              </a:rPr>
              <a:t>visualization</a:t>
            </a:r>
            <a:r>
              <a:rPr sz="700" spc="25" dirty="0">
                <a:solidFill>
                  <a:srgbClr val="525252"/>
                </a:solidFill>
                <a:latin typeface="Arial MT"/>
                <a:cs typeface="Arial MT"/>
              </a:rPr>
              <a:t> </a:t>
            </a:r>
            <a:r>
              <a:rPr sz="700" dirty="0">
                <a:solidFill>
                  <a:srgbClr val="545454"/>
                </a:solidFill>
                <a:latin typeface="Arial MT"/>
                <a:cs typeface="Arial MT"/>
              </a:rPr>
              <a:t>is</a:t>
            </a:r>
            <a:r>
              <a:rPr sz="700" spc="-5" dirty="0">
                <a:solidFill>
                  <a:srgbClr val="545454"/>
                </a:solidFill>
                <a:latin typeface="Arial MT"/>
                <a:cs typeface="Arial MT"/>
              </a:rPr>
              <a:t> </a:t>
            </a:r>
            <a:r>
              <a:rPr sz="700" spc="-30" dirty="0">
                <a:solidFill>
                  <a:srgbClr val="4F4F4F"/>
                </a:solidFill>
                <a:latin typeface="Arial MT"/>
                <a:cs typeface="Arial MT"/>
              </a:rPr>
              <a:t>available</a:t>
            </a:r>
            <a:r>
              <a:rPr sz="700" spc="10" dirty="0">
                <a:solidFill>
                  <a:srgbClr val="4F4F4F"/>
                </a:solidFill>
                <a:latin typeface="Arial MT"/>
                <a:cs typeface="Arial MT"/>
              </a:rPr>
              <a:t> </a:t>
            </a:r>
            <a:r>
              <a:rPr sz="700" spc="-10" dirty="0">
                <a:solidFill>
                  <a:srgbClr val="5E5E5E"/>
                </a:solidFill>
                <a:latin typeface="Arial MT"/>
                <a:cs typeface="Arial MT"/>
              </a:rPr>
              <a:t>at </a:t>
            </a:r>
            <a:r>
              <a:rPr sz="700" spc="-35" dirty="0">
                <a:solidFill>
                  <a:srgbClr val="424242"/>
                </a:solidFill>
                <a:latin typeface="Arial MT"/>
                <a:cs typeface="Arial MT"/>
              </a:rPr>
              <a:t>OurWorIdinData.org.</a:t>
            </a:r>
            <a:r>
              <a:rPr sz="700" spc="-25" dirty="0">
                <a:solidFill>
                  <a:srgbClr val="424242"/>
                </a:solidFill>
                <a:latin typeface="Arial MT"/>
                <a:cs typeface="Arial MT"/>
              </a:rPr>
              <a:t> </a:t>
            </a:r>
            <a:r>
              <a:rPr sz="700" spc="-30" dirty="0">
                <a:solidFill>
                  <a:srgbClr val="545454"/>
                </a:solidFill>
                <a:latin typeface="Arial MT"/>
                <a:cs typeface="Arial MT"/>
              </a:rPr>
              <a:t>There</a:t>
            </a:r>
            <a:r>
              <a:rPr sz="700" spc="5" dirty="0">
                <a:solidFill>
                  <a:srgbClr val="545454"/>
                </a:solidFill>
                <a:latin typeface="Arial MT"/>
                <a:cs typeface="Arial MT"/>
              </a:rPr>
              <a:t> </a:t>
            </a:r>
            <a:r>
              <a:rPr sz="700" spc="-20" dirty="0">
                <a:solidFill>
                  <a:srgbClr val="595959"/>
                </a:solidFill>
                <a:latin typeface="Arial MT"/>
                <a:cs typeface="Arial MT"/>
              </a:rPr>
              <a:t>you</a:t>
            </a:r>
            <a:r>
              <a:rPr sz="700" spc="-25" dirty="0">
                <a:solidFill>
                  <a:srgbClr val="595959"/>
                </a:solidFill>
                <a:latin typeface="Arial MT"/>
                <a:cs typeface="Arial MT"/>
              </a:rPr>
              <a:t> </a:t>
            </a:r>
            <a:r>
              <a:rPr sz="700" spc="-10" dirty="0">
                <a:solidFill>
                  <a:srgbClr val="464646"/>
                </a:solidFill>
                <a:latin typeface="Arial MT"/>
                <a:cs typeface="Arial MT"/>
              </a:rPr>
              <a:t>find</a:t>
            </a:r>
            <a:r>
              <a:rPr sz="700" spc="-20" dirty="0">
                <a:solidFill>
                  <a:srgbClr val="464646"/>
                </a:solidFill>
                <a:latin typeface="Arial MT"/>
                <a:cs typeface="Arial MT"/>
              </a:rPr>
              <a:t> </a:t>
            </a:r>
            <a:r>
              <a:rPr sz="700" spc="-20" dirty="0">
                <a:solidFill>
                  <a:srgbClr val="484848"/>
                </a:solidFill>
                <a:latin typeface="Arial MT"/>
                <a:cs typeface="Arial MT"/>
              </a:rPr>
              <a:t>more</a:t>
            </a:r>
            <a:r>
              <a:rPr sz="700" spc="10" dirty="0">
                <a:solidFill>
                  <a:srgbClr val="484848"/>
                </a:solidFill>
                <a:latin typeface="Arial MT"/>
                <a:cs typeface="Arial MT"/>
              </a:rPr>
              <a:t> </a:t>
            </a:r>
            <a:r>
              <a:rPr sz="700" spc="-20" dirty="0">
                <a:solidFill>
                  <a:srgbClr val="4F4F4F"/>
                </a:solidFill>
                <a:latin typeface="Arial MT"/>
                <a:cs typeface="Arial MT"/>
              </a:rPr>
              <a:t>visualizations</a:t>
            </a:r>
            <a:r>
              <a:rPr sz="700" spc="-5" dirty="0">
                <a:solidFill>
                  <a:srgbClr val="4F4F4F"/>
                </a:solidFill>
                <a:latin typeface="Arial MT"/>
                <a:cs typeface="Arial MT"/>
              </a:rPr>
              <a:t> </a:t>
            </a:r>
            <a:r>
              <a:rPr sz="700" spc="-20" dirty="0">
                <a:solidFill>
                  <a:srgbClr val="595959"/>
                </a:solidFill>
                <a:latin typeface="Arial MT"/>
                <a:cs typeface="Arial MT"/>
              </a:rPr>
              <a:t>and</a:t>
            </a:r>
            <a:r>
              <a:rPr sz="700" spc="-15" dirty="0">
                <a:solidFill>
                  <a:srgbClr val="595959"/>
                </a:solidFill>
                <a:latin typeface="Arial MT"/>
                <a:cs typeface="Arial MT"/>
              </a:rPr>
              <a:t> </a:t>
            </a:r>
            <a:r>
              <a:rPr sz="700" spc="-30" dirty="0">
                <a:solidFill>
                  <a:srgbClr val="595959"/>
                </a:solidFill>
                <a:latin typeface="Arial MT"/>
                <a:cs typeface="Arial MT"/>
              </a:rPr>
              <a:t>research</a:t>
            </a:r>
            <a:r>
              <a:rPr sz="700" spc="45" dirty="0">
                <a:solidFill>
                  <a:srgbClr val="595959"/>
                </a:solidFill>
                <a:latin typeface="Arial MT"/>
                <a:cs typeface="Arial MT"/>
              </a:rPr>
              <a:t> </a:t>
            </a:r>
            <a:r>
              <a:rPr sz="700" spc="-10" dirty="0">
                <a:solidFill>
                  <a:srgbClr val="4F4F4F"/>
                </a:solidFill>
                <a:latin typeface="Arial MT"/>
                <a:cs typeface="Arial MT"/>
              </a:rPr>
              <a:t>on </a:t>
            </a:r>
            <a:r>
              <a:rPr sz="700" spc="-10" dirty="0">
                <a:solidFill>
                  <a:srgbClr val="4B4B4B"/>
                </a:solidFill>
                <a:latin typeface="Arial MT"/>
                <a:cs typeface="Arial MT"/>
              </a:rPr>
              <a:t>this</a:t>
            </a:r>
            <a:r>
              <a:rPr sz="700" spc="-5" dirty="0">
                <a:solidFill>
                  <a:srgbClr val="4B4B4B"/>
                </a:solidFill>
                <a:latin typeface="Arial MT"/>
                <a:cs typeface="Arial MT"/>
              </a:rPr>
              <a:t> </a:t>
            </a:r>
            <a:r>
              <a:rPr sz="700" spc="-10" dirty="0">
                <a:solidFill>
                  <a:srgbClr val="525252"/>
                </a:solidFill>
                <a:latin typeface="Arial MT"/>
                <a:cs typeface="Arial MT"/>
              </a:rPr>
              <a:t>topic.</a:t>
            </a:r>
            <a:endParaRPr sz="700">
              <a:latin typeface="Arial MT"/>
              <a:cs typeface="Arial MT"/>
            </a:endParaRPr>
          </a:p>
        </p:txBody>
      </p:sp>
      <p:sp>
        <p:nvSpPr>
          <p:cNvPr id="104" name="object 104"/>
          <p:cNvSpPr txBox="1"/>
          <p:nvPr/>
        </p:nvSpPr>
        <p:spPr>
          <a:xfrm>
            <a:off x="5900469" y="6043421"/>
            <a:ext cx="1992630" cy="124460"/>
          </a:xfrm>
          <a:prstGeom prst="rect">
            <a:avLst/>
          </a:prstGeom>
        </p:spPr>
        <p:txBody>
          <a:bodyPr vert="horz" wrap="square" lIns="0" tIns="12700" rIns="0" bIns="0" rtlCol="0">
            <a:spAutoFit/>
          </a:bodyPr>
          <a:lstStyle/>
          <a:p>
            <a:pPr marL="12700">
              <a:lnSpc>
                <a:spcPct val="100000"/>
              </a:lnSpc>
              <a:spcBef>
                <a:spcPts val="100"/>
              </a:spcBef>
            </a:pPr>
            <a:r>
              <a:rPr sz="650" dirty="0">
                <a:solidFill>
                  <a:srgbClr val="464646"/>
                </a:solidFill>
                <a:latin typeface="Arial MT"/>
                <a:cs typeface="Arial MT"/>
              </a:rPr>
              <a:t>Licensed</a:t>
            </a:r>
            <a:r>
              <a:rPr sz="650" spc="30" dirty="0">
                <a:solidFill>
                  <a:srgbClr val="464646"/>
                </a:solidFill>
                <a:latin typeface="Arial MT"/>
                <a:cs typeface="Arial MT"/>
              </a:rPr>
              <a:t> </a:t>
            </a:r>
            <a:r>
              <a:rPr sz="650" dirty="0">
                <a:solidFill>
                  <a:srgbClr val="505050"/>
                </a:solidFill>
                <a:latin typeface="Arial MT"/>
                <a:cs typeface="Arial MT"/>
              </a:rPr>
              <a:t>under</a:t>
            </a:r>
            <a:r>
              <a:rPr sz="650" spc="70" dirty="0">
                <a:solidFill>
                  <a:srgbClr val="505050"/>
                </a:solidFill>
                <a:latin typeface="Arial MT"/>
                <a:cs typeface="Arial MT"/>
              </a:rPr>
              <a:t> </a:t>
            </a:r>
            <a:r>
              <a:rPr sz="650" spc="-20" dirty="0">
                <a:solidFill>
                  <a:srgbClr val="B6B6B6"/>
                </a:solidFill>
                <a:latin typeface="Arial MT"/>
                <a:cs typeface="Arial MT"/>
              </a:rPr>
              <a:t>CC-BY-</a:t>
            </a:r>
            <a:r>
              <a:rPr sz="650" dirty="0">
                <a:solidFill>
                  <a:srgbClr val="B6B6B6"/>
                </a:solidFill>
                <a:latin typeface="Arial MT"/>
                <a:cs typeface="Arial MT"/>
              </a:rPr>
              <a:t>SA</a:t>
            </a:r>
            <a:r>
              <a:rPr sz="650" spc="70" dirty="0">
                <a:solidFill>
                  <a:srgbClr val="B6B6B6"/>
                </a:solidFill>
                <a:latin typeface="Arial MT"/>
                <a:cs typeface="Arial MT"/>
              </a:rPr>
              <a:t> </a:t>
            </a:r>
            <a:r>
              <a:rPr sz="650" dirty="0">
                <a:solidFill>
                  <a:srgbClr val="5D5D5D"/>
                </a:solidFill>
                <a:latin typeface="Arial MT"/>
                <a:cs typeface="Arial MT"/>
              </a:rPr>
              <a:t>by</a:t>
            </a:r>
            <a:r>
              <a:rPr sz="650" spc="10" dirty="0">
                <a:solidFill>
                  <a:srgbClr val="5D5D5D"/>
                </a:solidFill>
                <a:latin typeface="Arial MT"/>
                <a:cs typeface="Arial MT"/>
              </a:rPr>
              <a:t> </a:t>
            </a:r>
            <a:r>
              <a:rPr sz="650" dirty="0">
                <a:solidFill>
                  <a:srgbClr val="5D5D5D"/>
                </a:solidFill>
                <a:latin typeface="Arial MT"/>
                <a:cs typeface="Arial MT"/>
              </a:rPr>
              <a:t>the</a:t>
            </a:r>
            <a:r>
              <a:rPr sz="650" spc="25" dirty="0">
                <a:solidFill>
                  <a:srgbClr val="5D5D5D"/>
                </a:solidFill>
                <a:latin typeface="Arial MT"/>
                <a:cs typeface="Arial MT"/>
              </a:rPr>
              <a:t> </a:t>
            </a:r>
            <a:r>
              <a:rPr sz="650" dirty="0">
                <a:solidFill>
                  <a:srgbClr val="525252"/>
                </a:solidFill>
                <a:latin typeface="Arial MT"/>
                <a:cs typeface="Arial MT"/>
              </a:rPr>
              <a:t>author</a:t>
            </a:r>
            <a:r>
              <a:rPr sz="650" spc="65" dirty="0">
                <a:solidFill>
                  <a:srgbClr val="525252"/>
                </a:solidFill>
                <a:latin typeface="Arial MT"/>
                <a:cs typeface="Arial MT"/>
              </a:rPr>
              <a:t> </a:t>
            </a:r>
            <a:r>
              <a:rPr sz="650" dirty="0">
                <a:solidFill>
                  <a:srgbClr val="575757"/>
                </a:solidFill>
                <a:latin typeface="Arial MT"/>
                <a:cs typeface="Arial MT"/>
              </a:rPr>
              <a:t>Max</a:t>
            </a:r>
            <a:r>
              <a:rPr sz="650" spc="25" dirty="0">
                <a:solidFill>
                  <a:srgbClr val="575757"/>
                </a:solidFill>
                <a:latin typeface="Arial MT"/>
                <a:cs typeface="Arial MT"/>
              </a:rPr>
              <a:t> </a:t>
            </a:r>
            <a:r>
              <a:rPr sz="650" spc="-10" dirty="0">
                <a:solidFill>
                  <a:srgbClr val="4F4F4F"/>
                </a:solidFill>
                <a:latin typeface="Arial MT"/>
                <a:cs typeface="Arial MT"/>
              </a:rPr>
              <a:t>Roser.</a:t>
            </a:r>
            <a:endParaRPr sz="650">
              <a:latin typeface="Arial MT"/>
              <a:cs typeface="Arial MT"/>
            </a:endParaRPr>
          </a:p>
        </p:txBody>
      </p:sp>
      <p:sp>
        <p:nvSpPr>
          <p:cNvPr id="105" name="object 105"/>
          <p:cNvSpPr txBox="1"/>
          <p:nvPr/>
        </p:nvSpPr>
        <p:spPr>
          <a:xfrm>
            <a:off x="8254507" y="6358128"/>
            <a:ext cx="781050" cy="375920"/>
          </a:xfrm>
          <a:prstGeom prst="rect">
            <a:avLst/>
          </a:prstGeom>
        </p:spPr>
        <p:txBody>
          <a:bodyPr vert="horz" wrap="square" lIns="0" tIns="12700" rIns="0" bIns="0" rtlCol="0">
            <a:spAutoFit/>
          </a:bodyPr>
          <a:lstStyle/>
          <a:p>
            <a:pPr marL="12700">
              <a:lnSpc>
                <a:spcPct val="100000"/>
              </a:lnSpc>
              <a:spcBef>
                <a:spcPts val="100"/>
              </a:spcBef>
            </a:pPr>
            <a:r>
              <a:rPr sz="2300" spc="-30" dirty="0">
                <a:latin typeface="Cambria"/>
                <a:cs typeface="Cambria"/>
              </a:rPr>
              <a:t>In@er</a:t>
            </a:r>
            <a:endParaRPr sz="2300">
              <a:latin typeface="Cambria"/>
              <a:cs typeface="Cambria"/>
            </a:endParaRPr>
          </a:p>
        </p:txBody>
      </p:sp>
    </p:spTree>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371244"/>
            <a:ext cx="9143276" cy="4858918"/>
          </a:xfrm>
          <a:prstGeom prst="rect">
            <a:avLst/>
          </a:prstGeom>
        </p:spPr>
      </p:pic>
      <p:sp>
        <p:nvSpPr>
          <p:cNvPr id="3" name="object 3" descr="$PPTXTitle"/>
          <p:cNvSpPr txBox="1">
            <a:spLocks noGrp="1"/>
          </p:cNvSpPr>
          <p:nvPr>
            <p:ph type="title"/>
          </p:nvPr>
        </p:nvSpPr>
        <p:spPr>
          <a:prstGeom prst="rect">
            <a:avLst/>
          </a:prstGeom>
        </p:spPr>
        <p:txBody>
          <a:bodyPr vert="horz" wrap="square" lIns="0" tIns="181178" rIns="0" bIns="0" rtlCol="0">
            <a:spAutoFit/>
          </a:bodyPr>
          <a:lstStyle/>
          <a:p>
            <a:pPr marL="2816860">
              <a:lnSpc>
                <a:spcPct val="100000"/>
              </a:lnSpc>
              <a:spcBef>
                <a:spcPts val="100"/>
              </a:spcBef>
            </a:pPr>
            <a:r>
              <a:rPr spc="-10" dirty="0">
                <a:solidFill>
                  <a:srgbClr val="BF0025"/>
                </a:solidFill>
              </a:rPr>
              <a:t>Performance</a:t>
            </a:r>
          </a:p>
        </p:txBody>
      </p:sp>
      <p:sp>
        <p:nvSpPr>
          <p:cNvPr id="5" name="Text Placeholder 4">
            <a:extLst>
              <a:ext uri="{FF2B5EF4-FFF2-40B4-BE49-F238E27FC236}">
                <a16:creationId xmlns:a16="http://schemas.microsoft.com/office/drawing/2014/main" id="{D8695A46-BEE7-7DB5-A308-4406034E19AB}"/>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841" y="1599844"/>
            <a:ext cx="7848003" cy="3894836"/>
          </a:xfrm>
          <a:prstGeom prst="rect">
            <a:avLst/>
          </a:prstGeom>
        </p:spPr>
      </p:pic>
      <p:sp>
        <p:nvSpPr>
          <p:cNvPr id="3" name="object 3" descr="$PPTXTitle"/>
          <p:cNvSpPr txBox="1">
            <a:spLocks noGrp="1"/>
          </p:cNvSpPr>
          <p:nvPr>
            <p:ph type="title"/>
          </p:nvPr>
        </p:nvSpPr>
        <p:spPr>
          <a:prstGeom prst="rect">
            <a:avLst/>
          </a:prstGeom>
        </p:spPr>
        <p:txBody>
          <a:bodyPr vert="horz" wrap="square" lIns="0" tIns="120700" rIns="0" bIns="0" rtlCol="0">
            <a:spAutoFit/>
          </a:bodyPr>
          <a:lstStyle/>
          <a:p>
            <a:pPr marL="2526030">
              <a:lnSpc>
                <a:spcPct val="100000"/>
              </a:lnSpc>
              <a:spcBef>
                <a:spcPts val="100"/>
              </a:spcBef>
            </a:pPr>
            <a:r>
              <a:rPr sz="4400" spc="-10" dirty="0">
                <a:solidFill>
                  <a:srgbClr val="000000"/>
                </a:solidFill>
              </a:rPr>
              <a:t>Performance</a:t>
            </a:r>
            <a:endParaRPr sz="4400"/>
          </a:p>
        </p:txBody>
      </p:sp>
      <p:sp>
        <p:nvSpPr>
          <p:cNvPr id="5" name="Text Placeholder 4">
            <a:extLst>
              <a:ext uri="{FF2B5EF4-FFF2-40B4-BE49-F238E27FC236}">
                <a16:creationId xmlns:a16="http://schemas.microsoft.com/office/drawing/2014/main" id="{A0A20987-8ECD-D4B6-3F9D-6BE535B13D23}"/>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47203" y="1371244"/>
            <a:ext cx="6324841" cy="5342394"/>
          </a:xfrm>
          <a:prstGeom prst="rect">
            <a:avLst/>
          </a:prstGeom>
        </p:spPr>
      </p:pic>
      <p:sp>
        <p:nvSpPr>
          <p:cNvPr id="3" name="object 3" descr="$PPTXTitle"/>
          <p:cNvSpPr txBox="1">
            <a:spLocks noGrp="1"/>
          </p:cNvSpPr>
          <p:nvPr>
            <p:ph type="title"/>
          </p:nvPr>
        </p:nvSpPr>
        <p:spPr>
          <a:prstGeom prst="rect">
            <a:avLst/>
          </a:prstGeom>
        </p:spPr>
        <p:txBody>
          <a:bodyPr vert="horz" wrap="square" lIns="0" tIns="181178" rIns="0" bIns="0" rtlCol="0">
            <a:spAutoFit/>
          </a:bodyPr>
          <a:lstStyle/>
          <a:p>
            <a:pPr marL="3554095">
              <a:lnSpc>
                <a:spcPct val="100000"/>
              </a:lnSpc>
              <a:spcBef>
                <a:spcPts val="100"/>
              </a:spcBef>
            </a:pPr>
            <a:r>
              <a:rPr spc="-10" dirty="0">
                <a:solidFill>
                  <a:srgbClr val="BF0025"/>
                </a:solidFill>
              </a:rPr>
              <a:t>Clock</a:t>
            </a:r>
          </a:p>
        </p:txBody>
      </p:sp>
      <p:sp>
        <p:nvSpPr>
          <p:cNvPr id="5" name="Text Placeholder 4">
            <a:extLst>
              <a:ext uri="{FF2B5EF4-FFF2-40B4-BE49-F238E27FC236}">
                <a16:creationId xmlns:a16="http://schemas.microsoft.com/office/drawing/2014/main" id="{8EDA4765-56D3-E37B-9E7A-E6B84B99FF76}"/>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27632" y="6095"/>
            <a:ext cx="7510272" cy="5193791"/>
          </a:xfrm>
          <a:prstGeom prst="rect">
            <a:avLst/>
          </a:prstGeom>
        </p:spPr>
      </p:pic>
      <p:sp>
        <p:nvSpPr>
          <p:cNvPr id="3" name="object 3"/>
          <p:cNvSpPr/>
          <p:nvPr/>
        </p:nvSpPr>
        <p:spPr>
          <a:xfrm>
            <a:off x="1310639" y="5381244"/>
            <a:ext cx="6565900" cy="0"/>
          </a:xfrm>
          <a:custGeom>
            <a:avLst/>
            <a:gdLst/>
            <a:ahLst/>
            <a:cxnLst/>
            <a:rect l="l" t="t" r="r" b="b"/>
            <a:pathLst>
              <a:path w="6565900">
                <a:moveTo>
                  <a:pt x="0" y="0"/>
                </a:moveTo>
                <a:lnTo>
                  <a:pt x="6565392" y="0"/>
                </a:lnTo>
              </a:path>
            </a:pathLst>
          </a:custGeom>
          <a:ln w="9144">
            <a:solidFill>
              <a:srgbClr val="2B2B2B"/>
            </a:solidFill>
          </a:ln>
        </p:spPr>
        <p:txBody>
          <a:bodyPr wrap="square" lIns="0" tIns="0" rIns="0" bIns="0" rtlCol="0"/>
          <a:lstStyle/>
          <a:p>
            <a:endParaRPr/>
          </a:p>
        </p:txBody>
      </p:sp>
      <p:sp>
        <p:nvSpPr>
          <p:cNvPr id="4" name="object 4"/>
          <p:cNvSpPr txBox="1"/>
          <p:nvPr/>
        </p:nvSpPr>
        <p:spPr>
          <a:xfrm>
            <a:off x="1286263" y="5434329"/>
            <a:ext cx="6145530" cy="200660"/>
          </a:xfrm>
          <a:prstGeom prst="rect">
            <a:avLst/>
          </a:prstGeom>
        </p:spPr>
        <p:txBody>
          <a:bodyPr vert="horz" wrap="square" lIns="0" tIns="12700" rIns="0" bIns="0" rtlCol="0">
            <a:spAutoFit/>
          </a:bodyPr>
          <a:lstStyle/>
          <a:p>
            <a:pPr marL="12700">
              <a:lnSpc>
                <a:spcPct val="100000"/>
              </a:lnSpc>
              <a:spcBef>
                <a:spcPts val="100"/>
              </a:spcBef>
            </a:pPr>
            <a:r>
              <a:rPr sz="1150" spc="-10" dirty="0">
                <a:latin typeface="Cambria"/>
                <a:cs typeface="Cambria"/>
              </a:rPr>
              <a:t>Figure </a:t>
            </a:r>
            <a:r>
              <a:rPr sz="1150" dirty="0">
                <a:latin typeface="Cambria"/>
                <a:cs typeface="Cambria"/>
              </a:rPr>
              <a:t>1.15</a:t>
            </a:r>
            <a:r>
              <a:rPr sz="1150" spc="140" dirty="0">
                <a:latin typeface="Cambria"/>
                <a:cs typeface="Cambria"/>
              </a:rPr>
              <a:t> </a:t>
            </a:r>
            <a:r>
              <a:rPr sz="1150" spc="-20" dirty="0">
                <a:latin typeface="Cambria"/>
                <a:cs typeface="Cambria"/>
              </a:rPr>
              <a:t>The</a:t>
            </a:r>
            <a:r>
              <a:rPr sz="1150" spc="5" dirty="0">
                <a:latin typeface="Cambria"/>
                <a:cs typeface="Cambria"/>
              </a:rPr>
              <a:t> </a:t>
            </a:r>
            <a:r>
              <a:rPr sz="1150" spc="-40" dirty="0">
                <a:latin typeface="Cambria"/>
                <a:cs typeface="Cambria"/>
              </a:rPr>
              <a:t>components</a:t>
            </a:r>
            <a:r>
              <a:rPr sz="1150" spc="55" dirty="0">
                <a:latin typeface="Cambria"/>
                <a:cs typeface="Cambria"/>
              </a:rPr>
              <a:t> </a:t>
            </a:r>
            <a:r>
              <a:rPr sz="1150" dirty="0">
                <a:latin typeface="Cambria"/>
                <a:cs typeface="Cambria"/>
              </a:rPr>
              <a:t>of</a:t>
            </a:r>
            <a:r>
              <a:rPr sz="1150" spc="25" dirty="0">
                <a:latin typeface="Cambria"/>
                <a:cs typeface="Cambria"/>
              </a:rPr>
              <a:t> </a:t>
            </a:r>
            <a:r>
              <a:rPr sz="1150" dirty="0">
                <a:latin typeface="Cambria"/>
                <a:cs typeface="Cambria"/>
              </a:rPr>
              <a:t>the</a:t>
            </a:r>
            <a:r>
              <a:rPr sz="1150" spc="-20" dirty="0">
                <a:latin typeface="Cambria"/>
                <a:cs typeface="Cambria"/>
              </a:rPr>
              <a:t> </a:t>
            </a:r>
            <a:r>
              <a:rPr sz="1150" spc="-50" dirty="0">
                <a:latin typeface="Cambria"/>
                <a:cs typeface="Cambria"/>
              </a:rPr>
              <a:t>microprocessor</a:t>
            </a:r>
            <a:r>
              <a:rPr sz="1150" spc="-5" dirty="0">
                <a:latin typeface="Cambria"/>
                <a:cs typeface="Cambria"/>
              </a:rPr>
              <a:t> </a:t>
            </a:r>
            <a:r>
              <a:rPr sz="1150" dirty="0">
                <a:latin typeface="Cambria"/>
                <a:cs typeface="Cambria"/>
              </a:rPr>
              <a:t>die</a:t>
            </a:r>
            <a:r>
              <a:rPr sz="1150" spc="65" dirty="0">
                <a:latin typeface="Cambria"/>
                <a:cs typeface="Cambria"/>
              </a:rPr>
              <a:t> </a:t>
            </a:r>
            <a:r>
              <a:rPr sz="1150" spc="-30" dirty="0">
                <a:latin typeface="Cambria"/>
                <a:cs typeface="Cambria"/>
              </a:rPr>
              <a:t>in</a:t>
            </a:r>
            <a:r>
              <a:rPr sz="1150" spc="45" dirty="0">
                <a:latin typeface="Cambria"/>
                <a:cs typeface="Cambria"/>
              </a:rPr>
              <a:t> </a:t>
            </a:r>
            <a:r>
              <a:rPr sz="1150" spc="-40" dirty="0">
                <a:solidFill>
                  <a:srgbClr val="8CA8AC"/>
                </a:solidFill>
                <a:latin typeface="Cambria"/>
                <a:cs typeface="Cambria"/>
              </a:rPr>
              <a:t>Figure</a:t>
            </a:r>
            <a:r>
              <a:rPr sz="1150" spc="40" dirty="0">
                <a:solidFill>
                  <a:srgbClr val="8CA8AC"/>
                </a:solidFill>
                <a:latin typeface="Cambria"/>
                <a:cs typeface="Cambria"/>
              </a:rPr>
              <a:t> </a:t>
            </a:r>
            <a:r>
              <a:rPr sz="1150" spc="-50" dirty="0">
                <a:solidFill>
                  <a:srgbClr val="809AA7"/>
                </a:solidFill>
                <a:latin typeface="Cambria"/>
                <a:cs typeface="Cambria"/>
              </a:rPr>
              <a:t>1.14</a:t>
            </a:r>
            <a:r>
              <a:rPr sz="1150" spc="-10" dirty="0">
                <a:solidFill>
                  <a:srgbClr val="809AA7"/>
                </a:solidFill>
                <a:latin typeface="Cambria"/>
                <a:cs typeface="Cambria"/>
              </a:rPr>
              <a:t> </a:t>
            </a:r>
            <a:r>
              <a:rPr sz="1150" spc="-10" dirty="0">
                <a:latin typeface="Cambria"/>
                <a:cs typeface="Cambria"/>
              </a:rPr>
              <a:t>are</a:t>
            </a:r>
            <a:r>
              <a:rPr sz="1150" spc="75" dirty="0">
                <a:latin typeface="Cambria"/>
                <a:cs typeface="Cambria"/>
              </a:rPr>
              <a:t> </a:t>
            </a:r>
            <a:r>
              <a:rPr sz="1150" spc="-30" dirty="0">
                <a:latin typeface="Cambria"/>
                <a:cs typeface="Cambria"/>
              </a:rPr>
              <a:t>labeled</a:t>
            </a:r>
            <a:r>
              <a:rPr sz="1150" spc="40" dirty="0">
                <a:latin typeface="Cambria"/>
                <a:cs typeface="Cambria"/>
              </a:rPr>
              <a:t> </a:t>
            </a:r>
            <a:r>
              <a:rPr sz="1150" spc="-50" dirty="0">
                <a:latin typeface="Cambria"/>
                <a:cs typeface="Cambria"/>
              </a:rPr>
              <a:t>with</a:t>
            </a:r>
            <a:r>
              <a:rPr sz="1150" spc="-15" dirty="0">
                <a:latin typeface="Cambria"/>
                <a:cs typeface="Cambria"/>
              </a:rPr>
              <a:t> </a:t>
            </a:r>
            <a:r>
              <a:rPr sz="1150" spc="-35" dirty="0">
                <a:latin typeface="Cambria"/>
                <a:cs typeface="Cambria"/>
              </a:rPr>
              <a:t>their</a:t>
            </a:r>
            <a:r>
              <a:rPr sz="1150" spc="45" dirty="0">
                <a:latin typeface="Cambria"/>
                <a:cs typeface="Cambria"/>
              </a:rPr>
              <a:t> </a:t>
            </a:r>
            <a:r>
              <a:rPr sz="1150" spc="-10" dirty="0">
                <a:latin typeface="Cambria"/>
                <a:cs typeface="Cambria"/>
              </a:rPr>
              <a:t>functions.</a:t>
            </a:r>
            <a:endParaRPr sz="1150">
              <a:latin typeface="Cambria"/>
              <a:cs typeface="Cambria"/>
            </a:endParaRPr>
          </a:p>
        </p:txBody>
      </p:sp>
      <p:sp>
        <p:nvSpPr>
          <p:cNvPr id="5" name="object 5"/>
          <p:cNvSpPr txBox="1"/>
          <p:nvPr/>
        </p:nvSpPr>
        <p:spPr>
          <a:xfrm>
            <a:off x="8254131" y="6351778"/>
            <a:ext cx="781685" cy="383540"/>
          </a:xfrm>
          <a:prstGeom prst="rect">
            <a:avLst/>
          </a:prstGeom>
        </p:spPr>
        <p:txBody>
          <a:bodyPr vert="horz" wrap="square" lIns="0" tIns="12700" rIns="0" bIns="0" rtlCol="0">
            <a:spAutoFit/>
          </a:bodyPr>
          <a:lstStyle/>
          <a:p>
            <a:pPr marL="12700">
              <a:lnSpc>
                <a:spcPct val="100000"/>
              </a:lnSpc>
              <a:spcBef>
                <a:spcPts val="100"/>
              </a:spcBef>
            </a:pPr>
            <a:r>
              <a:rPr sz="2350" spc="-60" dirty="0">
                <a:latin typeface="Cambria"/>
                <a:cs typeface="Cambria"/>
              </a:rPr>
              <a:t>In@er</a:t>
            </a:r>
            <a:endParaRPr sz="2350">
              <a:latin typeface="Cambria"/>
              <a:cs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61616" y="1414272"/>
            <a:ext cx="4657344" cy="3505200"/>
          </a:xfrm>
          <a:prstGeom prst="rect">
            <a:avLst/>
          </a:prstGeom>
        </p:spPr>
      </p:pic>
      <p:pic>
        <p:nvPicPr>
          <p:cNvPr id="3" name="object 3"/>
          <p:cNvPicPr/>
          <p:nvPr/>
        </p:nvPicPr>
        <p:blipFill>
          <a:blip r:embed="rId3" cstate="print"/>
          <a:stretch>
            <a:fillRect/>
          </a:stretch>
        </p:blipFill>
        <p:spPr>
          <a:xfrm>
            <a:off x="7327392" y="6095"/>
            <a:ext cx="1813559" cy="1524000"/>
          </a:xfrm>
          <a:prstGeom prst="rect">
            <a:avLst/>
          </a:prstGeom>
        </p:spPr>
      </p:pic>
      <p:sp>
        <p:nvSpPr>
          <p:cNvPr id="4" name="object 4"/>
          <p:cNvSpPr/>
          <p:nvPr/>
        </p:nvSpPr>
        <p:spPr>
          <a:xfrm>
            <a:off x="1658111" y="5128259"/>
            <a:ext cx="5876925" cy="0"/>
          </a:xfrm>
          <a:custGeom>
            <a:avLst/>
            <a:gdLst/>
            <a:ahLst/>
            <a:cxnLst/>
            <a:rect l="l" t="t" r="r" b="b"/>
            <a:pathLst>
              <a:path w="5876925">
                <a:moveTo>
                  <a:pt x="0" y="0"/>
                </a:moveTo>
                <a:lnTo>
                  <a:pt x="5876544" y="0"/>
                </a:lnTo>
              </a:path>
            </a:pathLst>
          </a:custGeom>
          <a:ln w="9144">
            <a:solidFill>
              <a:srgbClr val="6B6B6B"/>
            </a:solidFill>
          </a:ln>
        </p:spPr>
        <p:txBody>
          <a:bodyPr wrap="square" lIns="0" tIns="0" rIns="0" bIns="0" rtlCol="0"/>
          <a:lstStyle/>
          <a:p>
            <a:endParaRPr/>
          </a:p>
        </p:txBody>
      </p:sp>
      <p:sp>
        <p:nvSpPr>
          <p:cNvPr id="5" name="object 5"/>
          <p:cNvSpPr txBox="1"/>
          <p:nvPr/>
        </p:nvSpPr>
        <p:spPr>
          <a:xfrm>
            <a:off x="5375949" y="681228"/>
            <a:ext cx="1491615" cy="238760"/>
          </a:xfrm>
          <a:prstGeom prst="rect">
            <a:avLst/>
          </a:prstGeom>
        </p:spPr>
        <p:txBody>
          <a:bodyPr vert="horz" wrap="square" lIns="0" tIns="12700" rIns="0" bIns="0" rtlCol="0">
            <a:spAutoFit/>
          </a:bodyPr>
          <a:lstStyle/>
          <a:p>
            <a:pPr marL="12700">
              <a:lnSpc>
                <a:spcPct val="100000"/>
              </a:lnSpc>
              <a:spcBef>
                <a:spcPts val="100"/>
              </a:spcBef>
              <a:tabLst>
                <a:tab pos="408940" algn="l"/>
              </a:tabLst>
            </a:pPr>
            <a:r>
              <a:rPr sz="1400" spc="-25" dirty="0">
                <a:latin typeface="Cambria"/>
                <a:cs typeface="Cambria"/>
              </a:rPr>
              <a:t>1.6</a:t>
            </a:r>
            <a:r>
              <a:rPr sz="1400" dirty="0">
                <a:latin typeface="Cambria"/>
                <a:cs typeface="Cambria"/>
              </a:rPr>
              <a:t>	</a:t>
            </a:r>
            <a:r>
              <a:rPr sz="1400" spc="-40" dirty="0">
                <a:latin typeface="Cambria"/>
                <a:cs typeface="Cambria"/>
              </a:rPr>
              <a:t>Trends</a:t>
            </a:r>
            <a:r>
              <a:rPr sz="1400" spc="35" dirty="0">
                <a:latin typeface="Cambria"/>
                <a:cs typeface="Cambria"/>
              </a:rPr>
              <a:t> </a:t>
            </a:r>
            <a:r>
              <a:rPr sz="1400" dirty="0">
                <a:solidFill>
                  <a:srgbClr val="505050"/>
                </a:solidFill>
                <a:latin typeface="Cambria"/>
                <a:cs typeface="Cambria"/>
              </a:rPr>
              <a:t>in</a:t>
            </a:r>
            <a:r>
              <a:rPr sz="1400" spc="15" dirty="0">
                <a:solidFill>
                  <a:srgbClr val="505050"/>
                </a:solidFill>
                <a:latin typeface="Cambria"/>
                <a:cs typeface="Cambria"/>
              </a:rPr>
              <a:t> </a:t>
            </a:r>
            <a:r>
              <a:rPr sz="1400" spc="-20" dirty="0">
                <a:latin typeface="Cambria"/>
                <a:cs typeface="Cambria"/>
              </a:rPr>
              <a:t>Cost</a:t>
            </a:r>
            <a:endParaRPr sz="1400">
              <a:latin typeface="Cambria"/>
              <a:cs typeface="Cambria"/>
            </a:endParaRPr>
          </a:p>
        </p:txBody>
      </p:sp>
      <p:sp>
        <p:nvSpPr>
          <p:cNvPr id="6" name="object 6"/>
          <p:cNvSpPr txBox="1"/>
          <p:nvPr/>
        </p:nvSpPr>
        <p:spPr>
          <a:xfrm>
            <a:off x="1626050" y="5214366"/>
            <a:ext cx="5908040" cy="823594"/>
          </a:xfrm>
          <a:prstGeom prst="rect">
            <a:avLst/>
          </a:prstGeom>
        </p:spPr>
        <p:txBody>
          <a:bodyPr vert="horz" wrap="square" lIns="0" tIns="13335" rIns="0" bIns="0" rtlCol="0">
            <a:spAutoFit/>
          </a:bodyPr>
          <a:lstStyle/>
          <a:p>
            <a:pPr marL="12700" marR="5080" indent="5715" algn="just">
              <a:lnSpc>
                <a:spcPct val="99600"/>
              </a:lnSpc>
              <a:spcBef>
                <a:spcPts val="105"/>
              </a:spcBef>
            </a:pPr>
            <a:r>
              <a:rPr sz="1250" spc="-254" dirty="0">
                <a:latin typeface="Arial MT"/>
                <a:cs typeface="Arial MT"/>
              </a:rPr>
              <a:t>Fig€â¥R</a:t>
            </a:r>
            <a:r>
              <a:rPr sz="1250" spc="-25" dirty="0">
                <a:latin typeface="Arial MT"/>
                <a:cs typeface="Arial MT"/>
              </a:rPr>
              <a:t> </a:t>
            </a:r>
            <a:r>
              <a:rPr sz="1250" dirty="0">
                <a:latin typeface="Arial MT"/>
                <a:cs typeface="Arial MT"/>
              </a:rPr>
              <a:t>1.16</a:t>
            </a:r>
            <a:r>
              <a:rPr sz="1250" spc="325" dirty="0">
                <a:latin typeface="Arial MT"/>
                <a:cs typeface="Arial MT"/>
              </a:rPr>
              <a:t> </a:t>
            </a:r>
            <a:r>
              <a:rPr sz="1250" spc="-50" dirty="0">
                <a:latin typeface="Arial MT"/>
                <a:cs typeface="Arial MT"/>
              </a:rPr>
              <a:t>This</a:t>
            </a:r>
            <a:r>
              <a:rPr sz="1250" spc="-130" dirty="0">
                <a:latin typeface="Arial MT"/>
                <a:cs typeface="Arial MT"/>
              </a:rPr>
              <a:t> </a:t>
            </a:r>
            <a:r>
              <a:rPr sz="1250" dirty="0">
                <a:latin typeface="Arial MT"/>
                <a:cs typeface="Arial MT"/>
              </a:rPr>
              <a:t>200</a:t>
            </a:r>
            <a:r>
              <a:rPr sz="1250" spc="-195" dirty="0">
                <a:latin typeface="Arial MT"/>
                <a:cs typeface="Arial MT"/>
              </a:rPr>
              <a:t> </a:t>
            </a:r>
            <a:r>
              <a:rPr sz="1250" spc="60" dirty="0">
                <a:latin typeface="Arial MT"/>
                <a:cs typeface="Arial MT"/>
              </a:rPr>
              <a:t>mm</a:t>
            </a:r>
            <a:r>
              <a:rPr sz="1250" spc="-190" dirty="0">
                <a:latin typeface="Arial MT"/>
                <a:cs typeface="Arial MT"/>
              </a:rPr>
              <a:t> </a:t>
            </a:r>
            <a:r>
              <a:rPr sz="1250" spc="-30" dirty="0">
                <a:latin typeface="Arial MT"/>
                <a:cs typeface="Arial MT"/>
              </a:rPr>
              <a:t>diametRr</a:t>
            </a:r>
            <a:r>
              <a:rPr sz="1250" spc="-35" dirty="0">
                <a:latin typeface="Arial MT"/>
                <a:cs typeface="Arial MT"/>
              </a:rPr>
              <a:t> </a:t>
            </a:r>
            <a:r>
              <a:rPr sz="1250" spc="-65" dirty="0">
                <a:latin typeface="Arial MT"/>
                <a:cs typeface="Arial MT"/>
              </a:rPr>
              <a:t>Wafer</a:t>
            </a:r>
            <a:r>
              <a:rPr sz="1250" spc="-55" dirty="0">
                <a:latin typeface="Arial MT"/>
                <a:cs typeface="Arial MT"/>
              </a:rPr>
              <a:t> </a:t>
            </a:r>
            <a:r>
              <a:rPr sz="1250" spc="-95" dirty="0">
                <a:latin typeface="Arial MT"/>
                <a:cs typeface="Arial MT"/>
              </a:rPr>
              <a:t>OfRISC-</a:t>
            </a:r>
            <a:r>
              <a:rPr sz="1250" spc="-110" dirty="0">
                <a:latin typeface="Arial MT"/>
                <a:cs typeface="Arial MT"/>
              </a:rPr>
              <a:t>V</a:t>
            </a:r>
            <a:r>
              <a:rPr sz="1250" spc="-5" dirty="0">
                <a:latin typeface="Arial MT"/>
                <a:cs typeface="Arial MT"/>
              </a:rPr>
              <a:t> </a:t>
            </a:r>
            <a:r>
              <a:rPr sz="1250" spc="-35" dirty="0">
                <a:latin typeface="Arial MT"/>
                <a:cs typeface="Arial MT"/>
              </a:rPr>
              <a:t>dies</a:t>
            </a:r>
            <a:r>
              <a:rPr sz="1250" spc="-65" dirty="0">
                <a:latin typeface="Arial MT"/>
                <a:cs typeface="Arial MT"/>
              </a:rPr>
              <a:t> </a:t>
            </a:r>
            <a:r>
              <a:rPr sz="1250" spc="-40" dirty="0">
                <a:latin typeface="Arial MT"/>
                <a:cs typeface="Arial MT"/>
              </a:rPr>
              <a:t>was</a:t>
            </a:r>
            <a:r>
              <a:rPr sz="1250" spc="-125" dirty="0">
                <a:latin typeface="Arial MT"/>
                <a:cs typeface="Arial MT"/>
              </a:rPr>
              <a:t> </a:t>
            </a:r>
            <a:r>
              <a:rPr sz="1250" spc="-140" dirty="0">
                <a:latin typeface="Arial MT"/>
                <a:cs typeface="Arial MT"/>
              </a:rPr>
              <a:t>d¢›sigT</a:t>
            </a:r>
            <a:r>
              <a:rPr sz="1250" spc="55" dirty="0">
                <a:latin typeface="Arial MT"/>
                <a:cs typeface="Arial MT"/>
              </a:rPr>
              <a:t> </a:t>
            </a:r>
            <a:r>
              <a:rPr sz="1250" spc="25" dirty="0">
                <a:latin typeface="Arial MT"/>
                <a:cs typeface="Arial MT"/>
              </a:rPr>
              <a:t>ed</a:t>
            </a:r>
            <a:r>
              <a:rPr sz="1250" spc="-235" dirty="0">
                <a:latin typeface="Arial MT"/>
                <a:cs typeface="Arial MT"/>
              </a:rPr>
              <a:t> </a:t>
            </a:r>
            <a:r>
              <a:rPr sz="1250" spc="45" dirty="0">
                <a:latin typeface="Arial MT"/>
                <a:cs typeface="Arial MT"/>
              </a:rPr>
              <a:t>by</a:t>
            </a:r>
            <a:r>
              <a:rPr sz="1250" spc="-140" dirty="0">
                <a:latin typeface="Arial MT"/>
                <a:cs typeface="Arial MT"/>
              </a:rPr>
              <a:t> </a:t>
            </a:r>
            <a:r>
              <a:rPr sz="1250" spc="-45" dirty="0">
                <a:latin typeface="Arial MT"/>
                <a:cs typeface="Arial MT"/>
              </a:rPr>
              <a:t>SiFive.</a:t>
            </a:r>
            <a:r>
              <a:rPr sz="1250" spc="-130" dirty="0">
                <a:latin typeface="Arial MT"/>
                <a:cs typeface="Arial MT"/>
              </a:rPr>
              <a:t> </a:t>
            </a:r>
            <a:r>
              <a:rPr sz="1250" spc="20" dirty="0">
                <a:latin typeface="Arial MT"/>
                <a:cs typeface="Arial MT"/>
              </a:rPr>
              <a:t>It</a:t>
            </a:r>
            <a:r>
              <a:rPr sz="1250" spc="-80" dirty="0">
                <a:latin typeface="Arial MT"/>
                <a:cs typeface="Arial MT"/>
              </a:rPr>
              <a:t> </a:t>
            </a:r>
            <a:r>
              <a:rPr sz="1250" spc="-90" dirty="0">
                <a:solidFill>
                  <a:srgbClr val="0E0E0E"/>
                </a:solidFill>
                <a:latin typeface="Arial MT"/>
                <a:cs typeface="Arial MT"/>
              </a:rPr>
              <a:t>has</a:t>
            </a:r>
            <a:r>
              <a:rPr sz="1250" spc="-50" dirty="0">
                <a:solidFill>
                  <a:srgbClr val="0E0E0E"/>
                </a:solidFill>
                <a:latin typeface="Arial MT"/>
                <a:cs typeface="Arial MT"/>
              </a:rPr>
              <a:t> </a:t>
            </a:r>
            <a:r>
              <a:rPr sz="1400" spc="-65" dirty="0">
                <a:solidFill>
                  <a:srgbClr val="181818"/>
                </a:solidFill>
                <a:latin typeface="Arial MT"/>
                <a:cs typeface="Arial MT"/>
              </a:rPr>
              <a:t>two</a:t>
            </a:r>
            <a:r>
              <a:rPr sz="1400" spc="125" dirty="0">
                <a:solidFill>
                  <a:srgbClr val="181818"/>
                </a:solidFill>
                <a:latin typeface="Arial MT"/>
                <a:cs typeface="Arial MT"/>
              </a:rPr>
              <a:t> </a:t>
            </a:r>
            <a:r>
              <a:rPr sz="1400" spc="-105" dirty="0">
                <a:solidFill>
                  <a:srgbClr val="111111"/>
                </a:solidFill>
                <a:latin typeface="Arial MT"/>
                <a:cs typeface="Arial MT"/>
              </a:rPr>
              <a:t>types</a:t>
            </a:r>
            <a:r>
              <a:rPr sz="1400" spc="150" dirty="0">
                <a:solidFill>
                  <a:srgbClr val="111111"/>
                </a:solidFill>
                <a:latin typeface="Arial MT"/>
                <a:cs typeface="Arial MT"/>
              </a:rPr>
              <a:t> </a:t>
            </a:r>
            <a:r>
              <a:rPr sz="1400" spc="-75" dirty="0">
                <a:solidFill>
                  <a:srgbClr val="545454"/>
                </a:solidFill>
                <a:latin typeface="Arial MT"/>
                <a:cs typeface="Arial MT"/>
              </a:rPr>
              <a:t>of</a:t>
            </a:r>
            <a:r>
              <a:rPr sz="1400" spc="30" dirty="0">
                <a:solidFill>
                  <a:srgbClr val="545454"/>
                </a:solidFill>
                <a:latin typeface="Arial MT"/>
                <a:cs typeface="Arial MT"/>
              </a:rPr>
              <a:t> </a:t>
            </a:r>
            <a:r>
              <a:rPr sz="1400" spc="-229" dirty="0">
                <a:latin typeface="Arial MT"/>
                <a:cs typeface="Arial MT"/>
              </a:rPr>
              <a:t>RISC-</a:t>
            </a:r>
            <a:r>
              <a:rPr sz="1400" spc="-275" dirty="0">
                <a:latin typeface="Arial MT"/>
                <a:cs typeface="Arial MT"/>
              </a:rPr>
              <a:t>V</a:t>
            </a:r>
            <a:r>
              <a:rPr sz="1400" spc="125" dirty="0">
                <a:latin typeface="Arial MT"/>
                <a:cs typeface="Arial MT"/>
              </a:rPr>
              <a:t> </a:t>
            </a:r>
            <a:r>
              <a:rPr sz="1400" spc="-100" dirty="0">
                <a:solidFill>
                  <a:srgbClr val="1D1D1D"/>
                </a:solidFill>
                <a:latin typeface="Arial MT"/>
                <a:cs typeface="Arial MT"/>
              </a:rPr>
              <a:t>dies</a:t>
            </a:r>
            <a:r>
              <a:rPr sz="1400" spc="70" dirty="0">
                <a:solidFill>
                  <a:srgbClr val="1D1D1D"/>
                </a:solidFill>
                <a:latin typeface="Arial MT"/>
                <a:cs typeface="Arial MT"/>
              </a:rPr>
              <a:t> </a:t>
            </a:r>
            <a:r>
              <a:rPr sz="1400" spc="-100" dirty="0">
                <a:solidFill>
                  <a:srgbClr val="0F0F0F"/>
                </a:solidFill>
                <a:latin typeface="Arial MT"/>
                <a:cs typeface="Arial MT"/>
              </a:rPr>
              <a:t>using</a:t>
            </a:r>
            <a:r>
              <a:rPr sz="1400" spc="80" dirty="0">
                <a:solidFill>
                  <a:srgbClr val="0F0F0F"/>
                </a:solidFill>
                <a:latin typeface="Arial MT"/>
                <a:cs typeface="Arial MT"/>
              </a:rPr>
              <a:t> </a:t>
            </a:r>
            <a:r>
              <a:rPr sz="1400" spc="-105" dirty="0">
                <a:solidFill>
                  <a:srgbClr val="0C0C0C"/>
                </a:solidFill>
                <a:latin typeface="Arial MT"/>
                <a:cs typeface="Arial MT"/>
              </a:rPr>
              <a:t>an</a:t>
            </a:r>
            <a:r>
              <a:rPr sz="1400" spc="55" dirty="0">
                <a:solidFill>
                  <a:srgbClr val="0C0C0C"/>
                </a:solidFill>
                <a:latin typeface="Arial MT"/>
                <a:cs typeface="Arial MT"/>
              </a:rPr>
              <a:t> </a:t>
            </a:r>
            <a:r>
              <a:rPr sz="1400" spc="-80" dirty="0">
                <a:solidFill>
                  <a:srgbClr val="282828"/>
                </a:solidFill>
                <a:latin typeface="Arial MT"/>
                <a:cs typeface="Arial MT"/>
              </a:rPr>
              <a:t>alder,</a:t>
            </a:r>
            <a:r>
              <a:rPr sz="1400" spc="105" dirty="0">
                <a:solidFill>
                  <a:srgbClr val="282828"/>
                </a:solidFill>
                <a:latin typeface="Arial MT"/>
                <a:cs typeface="Arial MT"/>
              </a:rPr>
              <a:t> </a:t>
            </a:r>
            <a:r>
              <a:rPr sz="1400" spc="-105" dirty="0">
                <a:latin typeface="Arial MT"/>
                <a:cs typeface="Arial MT"/>
              </a:rPr>
              <a:t>larger</a:t>
            </a:r>
            <a:r>
              <a:rPr sz="1400" spc="140" dirty="0">
                <a:latin typeface="Arial MT"/>
                <a:cs typeface="Arial MT"/>
              </a:rPr>
              <a:t> </a:t>
            </a:r>
            <a:r>
              <a:rPr sz="1400" spc="-114" dirty="0">
                <a:latin typeface="Arial MT"/>
                <a:cs typeface="Arial MT"/>
              </a:rPr>
              <a:t>processing</a:t>
            </a:r>
            <a:r>
              <a:rPr sz="1400" spc="190" dirty="0">
                <a:latin typeface="Arial MT"/>
                <a:cs typeface="Arial MT"/>
              </a:rPr>
              <a:t> </a:t>
            </a:r>
            <a:r>
              <a:rPr sz="1400" spc="-80" dirty="0">
                <a:solidFill>
                  <a:srgbClr val="424242"/>
                </a:solidFill>
                <a:latin typeface="Arial MT"/>
                <a:cs typeface="Arial MT"/>
              </a:rPr>
              <a:t>line.</a:t>
            </a:r>
            <a:r>
              <a:rPr sz="1400" spc="204" dirty="0">
                <a:solidFill>
                  <a:srgbClr val="424242"/>
                </a:solidFill>
                <a:latin typeface="Arial MT"/>
                <a:cs typeface="Arial MT"/>
              </a:rPr>
              <a:t> </a:t>
            </a:r>
            <a:r>
              <a:rPr sz="1400" spc="-175" dirty="0">
                <a:solidFill>
                  <a:srgbClr val="1A1A1A"/>
                </a:solidFill>
                <a:latin typeface="Arial MT"/>
                <a:cs typeface="Arial MT"/>
              </a:rPr>
              <a:t>An</a:t>
            </a:r>
            <a:r>
              <a:rPr sz="1400" spc="75" dirty="0">
                <a:solidFill>
                  <a:srgbClr val="1A1A1A"/>
                </a:solidFill>
                <a:latin typeface="Arial MT"/>
                <a:cs typeface="Arial MT"/>
              </a:rPr>
              <a:t> </a:t>
            </a:r>
            <a:r>
              <a:rPr sz="1400" spc="-155" dirty="0">
                <a:solidFill>
                  <a:srgbClr val="111111"/>
                </a:solidFill>
                <a:latin typeface="Arial MT"/>
                <a:cs typeface="Arial MT"/>
              </a:rPr>
              <a:t>FE31</a:t>
            </a:r>
            <a:r>
              <a:rPr sz="1400" spc="-155" dirty="0">
                <a:solidFill>
                  <a:srgbClr val="696969"/>
                </a:solidFill>
                <a:latin typeface="Arial MT"/>
                <a:cs typeface="Arial MT"/>
              </a:rPr>
              <a:t>0</a:t>
            </a:r>
            <a:r>
              <a:rPr sz="1400" spc="-114" dirty="0">
                <a:solidFill>
                  <a:srgbClr val="696969"/>
                </a:solidFill>
                <a:latin typeface="Arial MT"/>
                <a:cs typeface="Arial MT"/>
              </a:rPr>
              <a:t> </a:t>
            </a:r>
            <a:r>
              <a:rPr sz="1400" spc="-75" dirty="0">
                <a:solidFill>
                  <a:srgbClr val="626262"/>
                </a:solidFill>
                <a:latin typeface="Arial MT"/>
                <a:cs typeface="Arial MT"/>
              </a:rPr>
              <a:t>die</a:t>
            </a:r>
            <a:r>
              <a:rPr sz="1400" spc="60" dirty="0">
                <a:solidFill>
                  <a:srgbClr val="626262"/>
                </a:solidFill>
                <a:latin typeface="Arial MT"/>
                <a:cs typeface="Arial MT"/>
              </a:rPr>
              <a:t> </a:t>
            </a:r>
            <a:r>
              <a:rPr sz="1400" spc="-105" dirty="0">
                <a:solidFill>
                  <a:srgbClr val="282828"/>
                </a:solidFill>
                <a:latin typeface="Arial MT"/>
                <a:cs typeface="Arial MT"/>
              </a:rPr>
              <a:t>is</a:t>
            </a:r>
            <a:r>
              <a:rPr sz="1400" spc="90" dirty="0">
                <a:solidFill>
                  <a:srgbClr val="282828"/>
                </a:solidFill>
                <a:latin typeface="Arial MT"/>
                <a:cs typeface="Arial MT"/>
              </a:rPr>
              <a:t> </a:t>
            </a:r>
            <a:r>
              <a:rPr sz="1400" spc="-145" dirty="0">
                <a:latin typeface="Arial MT"/>
                <a:cs typeface="Arial MT"/>
              </a:rPr>
              <a:t>2.65</a:t>
            </a:r>
            <a:r>
              <a:rPr sz="1400" spc="-85" dirty="0">
                <a:latin typeface="Arial MT"/>
                <a:cs typeface="Arial MT"/>
              </a:rPr>
              <a:t> </a:t>
            </a:r>
            <a:r>
              <a:rPr sz="1200" spc="40" dirty="0">
                <a:solidFill>
                  <a:srgbClr val="232323"/>
                </a:solidFill>
                <a:latin typeface="Arial MT"/>
                <a:cs typeface="Arial MT"/>
              </a:rPr>
              <a:t>mm</a:t>
            </a:r>
            <a:r>
              <a:rPr sz="1200" spc="229" dirty="0">
                <a:solidFill>
                  <a:srgbClr val="232323"/>
                </a:solidFill>
                <a:latin typeface="Arial MT"/>
                <a:cs typeface="Arial MT"/>
              </a:rPr>
              <a:t> </a:t>
            </a:r>
            <a:r>
              <a:rPr sz="1200" spc="-70" dirty="0">
                <a:solidFill>
                  <a:srgbClr val="4D4D4D"/>
                </a:solidFill>
                <a:latin typeface="Arial MT"/>
                <a:cs typeface="Arial MT"/>
              </a:rPr>
              <a:t>x</a:t>
            </a:r>
            <a:r>
              <a:rPr sz="1200" spc="185" dirty="0">
                <a:solidFill>
                  <a:srgbClr val="4D4D4D"/>
                </a:solidFill>
                <a:latin typeface="Arial MT"/>
                <a:cs typeface="Arial MT"/>
              </a:rPr>
              <a:t> </a:t>
            </a:r>
            <a:r>
              <a:rPr sz="1200" spc="-40" dirty="0">
                <a:latin typeface="Arial MT"/>
                <a:cs typeface="Arial MT"/>
              </a:rPr>
              <a:t>2.73</a:t>
            </a:r>
            <a:r>
              <a:rPr sz="1200" spc="114" dirty="0">
                <a:latin typeface="Arial MT"/>
                <a:cs typeface="Arial MT"/>
              </a:rPr>
              <a:t> </a:t>
            </a:r>
            <a:r>
              <a:rPr sz="1200" spc="40" dirty="0">
                <a:solidFill>
                  <a:srgbClr val="232323"/>
                </a:solidFill>
                <a:latin typeface="Arial MT"/>
                <a:cs typeface="Arial MT"/>
              </a:rPr>
              <a:t>mm</a:t>
            </a:r>
            <a:r>
              <a:rPr sz="1200" spc="25" dirty="0">
                <a:solidFill>
                  <a:srgbClr val="232323"/>
                </a:solidFill>
                <a:latin typeface="Arial MT"/>
                <a:cs typeface="Arial MT"/>
              </a:rPr>
              <a:t> </a:t>
            </a:r>
            <a:r>
              <a:rPr sz="1200" spc="15" dirty="0">
                <a:latin typeface="Arial MT"/>
                <a:cs typeface="Arial MT"/>
              </a:rPr>
              <a:t>and</a:t>
            </a:r>
            <a:r>
              <a:rPr sz="1200" spc="25" dirty="0">
                <a:latin typeface="Arial MT"/>
                <a:cs typeface="Arial MT"/>
              </a:rPr>
              <a:t> </a:t>
            </a:r>
            <a:r>
              <a:rPr sz="1200" spc="-50" dirty="0">
                <a:latin typeface="Arial MT"/>
                <a:cs typeface="Arial MT"/>
              </a:rPr>
              <a:t>an</a:t>
            </a:r>
            <a:r>
              <a:rPr sz="1200" spc="114" dirty="0">
                <a:latin typeface="Arial MT"/>
                <a:cs typeface="Arial MT"/>
              </a:rPr>
              <a:t> </a:t>
            </a:r>
            <a:r>
              <a:rPr sz="1200" spc="-110" dirty="0">
                <a:solidFill>
                  <a:srgbClr val="111111"/>
                </a:solidFill>
                <a:latin typeface="Arial MT"/>
                <a:cs typeface="Arial MT"/>
              </a:rPr>
              <a:t>SiFivE'</a:t>
            </a:r>
            <a:r>
              <a:rPr sz="1200" spc="155" dirty="0">
                <a:solidFill>
                  <a:srgbClr val="111111"/>
                </a:solidFill>
                <a:latin typeface="Arial MT"/>
                <a:cs typeface="Arial MT"/>
              </a:rPr>
              <a:t> </a:t>
            </a:r>
            <a:r>
              <a:rPr sz="1200" spc="-5" dirty="0">
                <a:latin typeface="Arial MT"/>
                <a:cs typeface="Arial MT"/>
              </a:rPr>
              <a:t>tes</a:t>
            </a:r>
            <a:r>
              <a:rPr sz="1200" dirty="0">
                <a:latin typeface="Arial MT"/>
                <a:cs typeface="Arial MT"/>
              </a:rPr>
              <a:t>t</a:t>
            </a:r>
            <a:r>
              <a:rPr sz="1200" spc="20" dirty="0">
                <a:latin typeface="Arial MT"/>
                <a:cs typeface="Arial MT"/>
              </a:rPr>
              <a:t> </a:t>
            </a:r>
            <a:r>
              <a:rPr sz="1200" spc="-65" dirty="0">
                <a:latin typeface="Arial MT"/>
                <a:cs typeface="Arial MT"/>
              </a:rPr>
              <a:t>diR</a:t>
            </a:r>
            <a:r>
              <a:rPr sz="1200" spc="30" dirty="0">
                <a:latin typeface="Arial MT"/>
                <a:cs typeface="Arial MT"/>
              </a:rPr>
              <a:t> </a:t>
            </a:r>
            <a:r>
              <a:rPr sz="1200" spc="35" dirty="0">
                <a:latin typeface="Arial MT"/>
                <a:cs typeface="Arial MT"/>
              </a:rPr>
              <a:t>that</a:t>
            </a:r>
            <a:r>
              <a:rPr sz="1200" spc="40" dirty="0">
                <a:latin typeface="Arial MT"/>
                <a:cs typeface="Arial MT"/>
              </a:rPr>
              <a:t> </a:t>
            </a:r>
            <a:r>
              <a:rPr sz="1200" spc="-25" dirty="0">
                <a:solidFill>
                  <a:srgbClr val="212121"/>
                </a:solidFill>
                <a:latin typeface="Arial MT"/>
                <a:cs typeface="Arial MT"/>
              </a:rPr>
              <a:t>is</a:t>
            </a:r>
            <a:r>
              <a:rPr sz="1200" spc="60" dirty="0">
                <a:solidFill>
                  <a:srgbClr val="212121"/>
                </a:solidFill>
                <a:latin typeface="Arial MT"/>
                <a:cs typeface="Arial MT"/>
              </a:rPr>
              <a:t> </a:t>
            </a:r>
            <a:r>
              <a:rPr sz="1200" spc="-40" dirty="0">
                <a:latin typeface="Arial MT"/>
                <a:cs typeface="Arial MT"/>
              </a:rPr>
              <a:t>2.89</a:t>
            </a:r>
            <a:r>
              <a:rPr sz="1200" spc="20" dirty="0">
                <a:latin typeface="Arial MT"/>
                <a:cs typeface="Arial MT"/>
              </a:rPr>
              <a:t> </a:t>
            </a:r>
            <a:r>
              <a:rPr sz="1200" spc="40" dirty="0">
                <a:solidFill>
                  <a:srgbClr val="5B5B5B"/>
                </a:solidFill>
                <a:latin typeface="Arial MT"/>
                <a:cs typeface="Arial MT"/>
              </a:rPr>
              <a:t>mm</a:t>
            </a:r>
            <a:r>
              <a:rPr sz="1200" spc="254" dirty="0">
                <a:solidFill>
                  <a:srgbClr val="5B5B5B"/>
                </a:solidFill>
                <a:latin typeface="Arial MT"/>
                <a:cs typeface="Arial MT"/>
              </a:rPr>
              <a:t> </a:t>
            </a:r>
            <a:r>
              <a:rPr sz="1200" spc="-70" dirty="0">
                <a:solidFill>
                  <a:srgbClr val="777777"/>
                </a:solidFill>
                <a:latin typeface="Arial MT"/>
                <a:cs typeface="Arial MT"/>
              </a:rPr>
              <a:t>x</a:t>
            </a:r>
            <a:r>
              <a:rPr sz="1200" spc="160" dirty="0">
                <a:solidFill>
                  <a:srgbClr val="777777"/>
                </a:solidFill>
                <a:latin typeface="Arial MT"/>
                <a:cs typeface="Arial MT"/>
              </a:rPr>
              <a:t> </a:t>
            </a:r>
            <a:r>
              <a:rPr sz="1200" spc="-35" dirty="0">
                <a:latin typeface="Arial MT"/>
                <a:cs typeface="Arial MT"/>
              </a:rPr>
              <a:t>2.72</a:t>
            </a:r>
            <a:r>
              <a:rPr sz="1200" spc="185" dirty="0">
                <a:latin typeface="Arial MT"/>
                <a:cs typeface="Arial MT"/>
              </a:rPr>
              <a:t> </a:t>
            </a:r>
            <a:r>
              <a:rPr sz="1200" spc="-125" dirty="0">
                <a:latin typeface="Arial MT"/>
                <a:cs typeface="Arial MT"/>
              </a:rPr>
              <a:t>fTI/Ti.</a:t>
            </a:r>
            <a:r>
              <a:rPr sz="1200" spc="-25" dirty="0">
                <a:latin typeface="Arial MT"/>
                <a:cs typeface="Arial MT"/>
              </a:rPr>
              <a:t> </a:t>
            </a:r>
            <a:r>
              <a:rPr sz="1200" spc="-114" dirty="0">
                <a:solidFill>
                  <a:srgbClr val="212121"/>
                </a:solidFill>
                <a:latin typeface="Arial MT"/>
                <a:cs typeface="Arial MT"/>
              </a:rPr>
              <a:t>ThE'</a:t>
            </a:r>
            <a:r>
              <a:rPr sz="1200" spc="125" dirty="0">
                <a:solidFill>
                  <a:srgbClr val="212121"/>
                </a:solidFill>
                <a:latin typeface="Arial MT"/>
                <a:cs typeface="Arial MT"/>
              </a:rPr>
              <a:t> </a:t>
            </a:r>
            <a:r>
              <a:rPr sz="1200" spc="-15" dirty="0">
                <a:latin typeface="Arial MT"/>
                <a:cs typeface="Arial MT"/>
              </a:rPr>
              <a:t>wafer</a:t>
            </a:r>
            <a:r>
              <a:rPr sz="1200" spc="55" dirty="0">
                <a:latin typeface="Arial MT"/>
                <a:cs typeface="Arial MT"/>
              </a:rPr>
              <a:t> </a:t>
            </a:r>
            <a:r>
              <a:rPr sz="1200" spc="5" dirty="0">
                <a:latin typeface="Arial MT"/>
                <a:cs typeface="Arial MT"/>
              </a:rPr>
              <a:t>contains</a:t>
            </a:r>
            <a:r>
              <a:rPr sz="1200" dirty="0">
                <a:latin typeface="Arial MT"/>
                <a:cs typeface="Arial MT"/>
              </a:rPr>
              <a:t> </a:t>
            </a:r>
            <a:r>
              <a:rPr sz="1400" spc="-130" dirty="0">
                <a:solidFill>
                  <a:srgbClr val="626262"/>
                </a:solidFill>
                <a:latin typeface="Arial MT"/>
                <a:cs typeface="Arial MT"/>
              </a:rPr>
              <a:t>1846</a:t>
            </a:r>
            <a:r>
              <a:rPr sz="1400" spc="50" dirty="0">
                <a:solidFill>
                  <a:srgbClr val="626262"/>
                </a:solidFill>
                <a:latin typeface="Arial MT"/>
                <a:cs typeface="Arial MT"/>
              </a:rPr>
              <a:t> </a:t>
            </a:r>
            <a:r>
              <a:rPr sz="1400" spc="-65" dirty="0">
                <a:solidFill>
                  <a:srgbClr val="565656"/>
                </a:solidFill>
                <a:latin typeface="Arial MT"/>
                <a:cs typeface="Arial MT"/>
              </a:rPr>
              <a:t>of</a:t>
            </a:r>
            <a:r>
              <a:rPr sz="1400" spc="20" dirty="0">
                <a:solidFill>
                  <a:srgbClr val="565656"/>
                </a:solidFill>
                <a:latin typeface="Arial MT"/>
                <a:cs typeface="Arial MT"/>
              </a:rPr>
              <a:t> </a:t>
            </a:r>
            <a:r>
              <a:rPr sz="1400" spc="-70" dirty="0">
                <a:solidFill>
                  <a:srgbClr val="2D2D2D"/>
                </a:solidFill>
                <a:latin typeface="Arial MT"/>
                <a:cs typeface="Arial MT"/>
              </a:rPr>
              <a:t>the</a:t>
            </a:r>
            <a:r>
              <a:rPr sz="1400" spc="5" dirty="0">
                <a:solidFill>
                  <a:srgbClr val="2D2D2D"/>
                </a:solidFill>
                <a:latin typeface="Arial MT"/>
                <a:cs typeface="Arial MT"/>
              </a:rPr>
              <a:t> </a:t>
            </a:r>
            <a:r>
              <a:rPr sz="1400" spc="-90" dirty="0">
                <a:latin typeface="Arial MT"/>
                <a:cs typeface="Arial MT"/>
              </a:rPr>
              <a:t>farmer</a:t>
            </a:r>
            <a:r>
              <a:rPr sz="1400" spc="110" dirty="0">
                <a:latin typeface="Arial MT"/>
                <a:cs typeface="Arial MT"/>
              </a:rPr>
              <a:t> </a:t>
            </a:r>
            <a:r>
              <a:rPr sz="1400" spc="-130" dirty="0">
                <a:solidFill>
                  <a:srgbClr val="333333"/>
                </a:solidFill>
                <a:latin typeface="Arial MT"/>
                <a:cs typeface="Arial MT"/>
              </a:rPr>
              <a:t>and</a:t>
            </a:r>
            <a:r>
              <a:rPr sz="1400" spc="40" dirty="0">
                <a:solidFill>
                  <a:srgbClr val="333333"/>
                </a:solidFill>
                <a:latin typeface="Arial MT"/>
                <a:cs typeface="Arial MT"/>
              </a:rPr>
              <a:t> </a:t>
            </a:r>
            <a:r>
              <a:rPr sz="1400" spc="-114" dirty="0">
                <a:latin typeface="Arial MT"/>
                <a:cs typeface="Arial MT"/>
              </a:rPr>
              <a:t>1</a:t>
            </a:r>
            <a:r>
              <a:rPr sz="1400" spc="-114" dirty="0">
                <a:solidFill>
                  <a:srgbClr val="444444"/>
                </a:solidFill>
                <a:latin typeface="Arial MT"/>
                <a:cs typeface="Arial MT"/>
              </a:rPr>
              <a:t>ga6</a:t>
            </a:r>
            <a:r>
              <a:rPr sz="1400" dirty="0">
                <a:solidFill>
                  <a:srgbClr val="444444"/>
                </a:solidFill>
                <a:latin typeface="Arial MT"/>
                <a:cs typeface="Arial MT"/>
              </a:rPr>
              <a:t> </a:t>
            </a:r>
            <a:r>
              <a:rPr sz="1400" spc="-65" dirty="0">
                <a:solidFill>
                  <a:srgbClr val="2A2A2A"/>
                </a:solidFill>
                <a:latin typeface="Arial MT"/>
                <a:cs typeface="Arial MT"/>
              </a:rPr>
              <a:t>of</a:t>
            </a:r>
            <a:r>
              <a:rPr sz="1400" spc="20" dirty="0">
                <a:solidFill>
                  <a:srgbClr val="2A2A2A"/>
                </a:solidFill>
                <a:latin typeface="Arial MT"/>
                <a:cs typeface="Arial MT"/>
              </a:rPr>
              <a:t> </a:t>
            </a:r>
            <a:r>
              <a:rPr sz="1400" spc="-70" dirty="0">
                <a:latin typeface="Arial MT"/>
                <a:cs typeface="Arial MT"/>
              </a:rPr>
              <a:t>the</a:t>
            </a:r>
            <a:r>
              <a:rPr sz="1400" spc="50" dirty="0">
                <a:latin typeface="Arial MT"/>
                <a:cs typeface="Arial MT"/>
              </a:rPr>
              <a:t> </a:t>
            </a:r>
            <a:r>
              <a:rPr sz="1400" spc="-80" dirty="0">
                <a:latin typeface="Arial MT"/>
                <a:cs typeface="Arial MT"/>
              </a:rPr>
              <a:t>latter,</a:t>
            </a:r>
            <a:r>
              <a:rPr sz="1400" spc="15" dirty="0">
                <a:latin typeface="Arial MT"/>
                <a:cs typeface="Arial MT"/>
              </a:rPr>
              <a:t> </a:t>
            </a:r>
            <a:r>
              <a:rPr sz="1400" spc="-65" dirty="0">
                <a:latin typeface="Arial MT"/>
                <a:cs typeface="Arial MT"/>
              </a:rPr>
              <a:t>totaling</a:t>
            </a:r>
            <a:r>
              <a:rPr sz="1400" spc="75" dirty="0">
                <a:latin typeface="Arial MT"/>
                <a:cs typeface="Arial MT"/>
              </a:rPr>
              <a:t> </a:t>
            </a:r>
            <a:r>
              <a:rPr sz="1400" spc="-140" dirty="0">
                <a:latin typeface="Arial MT"/>
                <a:cs typeface="Arial MT"/>
              </a:rPr>
              <a:t>3712</a:t>
            </a:r>
            <a:r>
              <a:rPr sz="1400" spc="5" dirty="0">
                <a:latin typeface="Arial MT"/>
                <a:cs typeface="Arial MT"/>
              </a:rPr>
              <a:t> </a:t>
            </a:r>
            <a:r>
              <a:rPr sz="1400" spc="-95" dirty="0">
                <a:solidFill>
                  <a:srgbClr val="2B2B2B"/>
                </a:solidFill>
                <a:latin typeface="Arial MT"/>
                <a:cs typeface="Arial MT"/>
              </a:rPr>
              <a:t>chips.</a:t>
            </a:r>
            <a:endParaRPr sz="1400" dirty="0">
              <a:latin typeface="Arial MT"/>
              <a:cs typeface="Arial MT"/>
            </a:endParaRPr>
          </a:p>
        </p:txBody>
      </p:sp>
      <p:sp>
        <p:nvSpPr>
          <p:cNvPr id="7" name="object 7"/>
          <p:cNvSpPr txBox="1"/>
          <p:nvPr/>
        </p:nvSpPr>
        <p:spPr>
          <a:xfrm>
            <a:off x="8254131" y="6345682"/>
            <a:ext cx="781685" cy="383540"/>
          </a:xfrm>
          <a:prstGeom prst="rect">
            <a:avLst/>
          </a:prstGeom>
        </p:spPr>
        <p:txBody>
          <a:bodyPr vert="horz" wrap="square" lIns="0" tIns="12700" rIns="0" bIns="0" rtlCol="0">
            <a:spAutoFit/>
          </a:bodyPr>
          <a:lstStyle/>
          <a:p>
            <a:pPr marL="12700">
              <a:lnSpc>
                <a:spcPct val="100000"/>
              </a:lnSpc>
              <a:spcBef>
                <a:spcPts val="100"/>
              </a:spcBef>
            </a:pPr>
            <a:r>
              <a:rPr sz="2350" spc="-60" dirty="0">
                <a:latin typeface="Cambria"/>
                <a:cs typeface="Cambria"/>
              </a:rPr>
              <a:t>In@er</a:t>
            </a:r>
            <a:endParaRPr sz="2350">
              <a:latin typeface="Cambria"/>
              <a:cs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374823" y="2786291"/>
            <a:ext cx="4762500" cy="1488440"/>
          </a:xfrm>
          <a:prstGeom prst="rect">
            <a:avLst/>
          </a:prstGeom>
        </p:spPr>
        <p:txBody>
          <a:bodyPr vert="horz" wrap="square" lIns="0" tIns="12700" rIns="0" bIns="0" rtlCol="0">
            <a:spAutoFit/>
          </a:bodyPr>
          <a:lstStyle/>
          <a:p>
            <a:pPr marL="1094740" marR="5080" indent="-1082675">
              <a:lnSpc>
                <a:spcPct val="100000"/>
              </a:lnSpc>
              <a:spcBef>
                <a:spcPts val="100"/>
              </a:spcBef>
            </a:pPr>
            <a:r>
              <a:rPr sz="4800" dirty="0"/>
              <a:t>Como</a:t>
            </a:r>
            <a:r>
              <a:rPr sz="4800" spc="-135" dirty="0"/>
              <a:t> </a:t>
            </a:r>
            <a:r>
              <a:rPr sz="4800" dirty="0"/>
              <a:t>tudo</a:t>
            </a:r>
            <a:r>
              <a:rPr sz="4800" spc="-130" dirty="0"/>
              <a:t> </a:t>
            </a:r>
            <a:r>
              <a:rPr sz="4800" dirty="0"/>
              <a:t>isso</a:t>
            </a:r>
            <a:r>
              <a:rPr sz="4800" spc="-135" dirty="0"/>
              <a:t> </a:t>
            </a:r>
            <a:r>
              <a:rPr sz="4800" spc="-50" dirty="0"/>
              <a:t>é </a:t>
            </a:r>
            <a:r>
              <a:rPr sz="4800" spc="-10" dirty="0"/>
              <a:t>possível?</a:t>
            </a:r>
            <a:endParaRPr sz="4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03164" y="3565791"/>
            <a:ext cx="3380397" cy="790562"/>
          </a:xfrm>
          <a:prstGeom prst="rect">
            <a:avLst/>
          </a:prstGeom>
        </p:spPr>
      </p:pic>
      <p:sp>
        <p:nvSpPr>
          <p:cNvPr id="3" name="object 3"/>
          <p:cNvSpPr txBox="1"/>
          <p:nvPr/>
        </p:nvSpPr>
        <p:spPr>
          <a:xfrm>
            <a:off x="554304" y="2131098"/>
            <a:ext cx="174625" cy="203835"/>
          </a:xfrm>
          <a:prstGeom prst="rect">
            <a:avLst/>
          </a:prstGeom>
        </p:spPr>
        <p:txBody>
          <a:bodyPr vert="horz" wrap="square" lIns="0" tIns="15240" rIns="0" bIns="0" rtlCol="0">
            <a:spAutoFit/>
          </a:bodyPr>
          <a:lstStyle/>
          <a:p>
            <a:pPr marL="12700">
              <a:lnSpc>
                <a:spcPct val="100000"/>
              </a:lnSpc>
              <a:spcBef>
                <a:spcPts val="120"/>
              </a:spcBef>
            </a:pPr>
            <a:r>
              <a:rPr sz="1150" spc="415" dirty="0">
                <a:latin typeface="Microsoft Sans Serif"/>
                <a:cs typeface="Microsoft Sans Serif"/>
              </a:rPr>
              <a:t>●</a:t>
            </a:r>
            <a:endParaRPr sz="1150">
              <a:latin typeface="Microsoft Sans Serif"/>
              <a:cs typeface="Microsoft Sans Serif"/>
            </a:endParaRPr>
          </a:p>
        </p:txBody>
      </p:sp>
      <p:sp>
        <p:nvSpPr>
          <p:cNvPr id="4" name="object 4"/>
          <p:cNvSpPr txBox="1"/>
          <p:nvPr/>
        </p:nvSpPr>
        <p:spPr>
          <a:xfrm>
            <a:off x="812634" y="1902279"/>
            <a:ext cx="4103370" cy="2828925"/>
          </a:xfrm>
          <a:prstGeom prst="rect">
            <a:avLst/>
          </a:prstGeom>
        </p:spPr>
        <p:txBody>
          <a:bodyPr vert="horz" wrap="square" lIns="0" tIns="156210" rIns="0" bIns="0" rtlCol="0">
            <a:spAutoFit/>
          </a:bodyPr>
          <a:lstStyle/>
          <a:p>
            <a:pPr marL="76200">
              <a:lnSpc>
                <a:spcPct val="100000"/>
              </a:lnSpc>
              <a:spcBef>
                <a:spcPts val="1230"/>
              </a:spcBef>
            </a:pPr>
            <a:r>
              <a:rPr sz="2600" dirty="0">
                <a:latin typeface="Arial MT"/>
                <a:cs typeface="Arial MT"/>
              </a:rPr>
              <a:t>Partindo</a:t>
            </a:r>
            <a:r>
              <a:rPr sz="2600" spc="-75" dirty="0">
                <a:latin typeface="Arial MT"/>
                <a:cs typeface="Arial MT"/>
              </a:rPr>
              <a:t> </a:t>
            </a:r>
            <a:r>
              <a:rPr sz="2600" dirty="0">
                <a:latin typeface="Arial MT"/>
                <a:cs typeface="Arial MT"/>
              </a:rPr>
              <a:t>da</a:t>
            </a:r>
            <a:r>
              <a:rPr sz="2600" spc="-70" dirty="0">
                <a:latin typeface="Arial MT"/>
                <a:cs typeface="Arial MT"/>
              </a:rPr>
              <a:t> </a:t>
            </a:r>
            <a:r>
              <a:rPr sz="2600" dirty="0">
                <a:latin typeface="Arial MT"/>
                <a:cs typeface="Arial MT"/>
              </a:rPr>
              <a:t>equação</a:t>
            </a:r>
            <a:r>
              <a:rPr sz="2600" spc="-75" dirty="0">
                <a:latin typeface="Arial MT"/>
                <a:cs typeface="Arial MT"/>
              </a:rPr>
              <a:t> </a:t>
            </a:r>
            <a:r>
              <a:rPr sz="2600" spc="-50" dirty="0">
                <a:latin typeface="Arial MT"/>
                <a:cs typeface="Arial MT"/>
              </a:rPr>
              <a:t>:</a:t>
            </a:r>
            <a:endParaRPr sz="2600">
              <a:latin typeface="Arial MT"/>
              <a:cs typeface="Arial MT"/>
            </a:endParaRPr>
          </a:p>
          <a:p>
            <a:pPr marL="186055">
              <a:lnSpc>
                <a:spcPct val="100000"/>
              </a:lnSpc>
              <a:spcBef>
                <a:spcPts val="1135"/>
              </a:spcBef>
              <a:tabLst>
                <a:tab pos="508000" algn="l"/>
              </a:tabLst>
            </a:pPr>
            <a:r>
              <a:rPr sz="2925" baseline="15669" dirty="0">
                <a:latin typeface="Microsoft Sans Serif"/>
                <a:cs typeface="Microsoft Sans Serif"/>
              </a:rPr>
              <a:t>-	</a:t>
            </a:r>
            <a:r>
              <a:rPr sz="2600" dirty="0">
                <a:latin typeface="SimSun-ExtB"/>
                <a:cs typeface="SimSun-ExtB"/>
              </a:rPr>
              <a:t>Q</a:t>
            </a:r>
            <a:r>
              <a:rPr sz="2600" spc="15" dirty="0">
                <a:latin typeface="SimSun-ExtB"/>
                <a:cs typeface="SimSun-ExtB"/>
              </a:rPr>
              <a:t> </a:t>
            </a:r>
            <a:r>
              <a:rPr sz="2600" dirty="0">
                <a:latin typeface="SimSun-ExtB"/>
                <a:cs typeface="SimSun-ExtB"/>
              </a:rPr>
              <a:t>=</a:t>
            </a:r>
            <a:r>
              <a:rPr sz="2600" spc="15" dirty="0">
                <a:latin typeface="SimSun-ExtB"/>
                <a:cs typeface="SimSun-ExtB"/>
              </a:rPr>
              <a:t> </a:t>
            </a:r>
            <a:r>
              <a:rPr sz="2600" dirty="0">
                <a:latin typeface="SimSun-ExtB"/>
                <a:cs typeface="SimSun-ExtB"/>
              </a:rPr>
              <a:t>(A.B)</a:t>
            </a:r>
            <a:r>
              <a:rPr sz="2600" spc="15" dirty="0">
                <a:latin typeface="SimSun-ExtB"/>
                <a:cs typeface="SimSun-ExtB"/>
              </a:rPr>
              <a:t> </a:t>
            </a:r>
            <a:r>
              <a:rPr sz="2600" dirty="0">
                <a:latin typeface="SimSun-ExtB"/>
                <a:cs typeface="SimSun-ExtB"/>
              </a:rPr>
              <a:t>+</a:t>
            </a:r>
            <a:r>
              <a:rPr sz="2600" spc="15" dirty="0">
                <a:latin typeface="SimSun-ExtB"/>
                <a:cs typeface="SimSun-ExtB"/>
              </a:rPr>
              <a:t> </a:t>
            </a:r>
            <a:r>
              <a:rPr sz="2600" spc="-50" dirty="0">
                <a:latin typeface="SimSun-ExtB"/>
                <a:cs typeface="SimSun-ExtB"/>
              </a:rPr>
              <a:t>C</a:t>
            </a:r>
            <a:endParaRPr sz="2600">
              <a:latin typeface="SimSun-ExtB"/>
              <a:cs typeface="SimSun-ExtB"/>
            </a:endParaRPr>
          </a:p>
          <a:p>
            <a:pPr marL="76200">
              <a:lnSpc>
                <a:spcPct val="100000"/>
              </a:lnSpc>
              <a:spcBef>
                <a:spcPts val="1415"/>
              </a:spcBef>
            </a:pPr>
            <a:r>
              <a:rPr sz="2600" dirty="0">
                <a:latin typeface="Arial MT"/>
                <a:cs typeface="Arial MT"/>
              </a:rPr>
              <a:t>Podemos</a:t>
            </a:r>
            <a:r>
              <a:rPr sz="2600" spc="-50" dirty="0">
                <a:latin typeface="Arial MT"/>
                <a:cs typeface="Arial MT"/>
              </a:rPr>
              <a:t> </a:t>
            </a:r>
            <a:r>
              <a:rPr sz="2600" dirty="0">
                <a:latin typeface="Arial MT"/>
                <a:cs typeface="Arial MT"/>
              </a:rPr>
              <a:t>escrever</a:t>
            </a:r>
            <a:r>
              <a:rPr sz="2600" spc="-50" dirty="0">
                <a:latin typeface="Arial MT"/>
                <a:cs typeface="Arial MT"/>
              </a:rPr>
              <a:t> </a:t>
            </a:r>
            <a:r>
              <a:rPr sz="2600" dirty="0">
                <a:latin typeface="Arial MT"/>
                <a:cs typeface="Arial MT"/>
              </a:rPr>
              <a:t>como</a:t>
            </a:r>
            <a:r>
              <a:rPr sz="2600" spc="-50" dirty="0">
                <a:latin typeface="Arial MT"/>
                <a:cs typeface="Arial MT"/>
              </a:rPr>
              <a:t> :</a:t>
            </a:r>
            <a:endParaRPr sz="2600">
              <a:latin typeface="Arial MT"/>
              <a:cs typeface="Arial MT"/>
            </a:endParaRPr>
          </a:p>
          <a:p>
            <a:pPr marL="186055">
              <a:lnSpc>
                <a:spcPct val="100000"/>
              </a:lnSpc>
              <a:spcBef>
                <a:spcPts val="1130"/>
              </a:spcBef>
              <a:tabLst>
                <a:tab pos="508000" algn="l"/>
              </a:tabLst>
            </a:pPr>
            <a:r>
              <a:rPr sz="3150" baseline="15873" dirty="0">
                <a:latin typeface="Microsoft Sans Serif"/>
                <a:cs typeface="Microsoft Sans Serif"/>
              </a:rPr>
              <a:t>-	</a:t>
            </a:r>
            <a:r>
              <a:rPr sz="2800" dirty="0">
                <a:latin typeface="SimSun-ExtB"/>
                <a:cs typeface="SimSun-ExtB"/>
              </a:rPr>
              <a:t>Q =(A and B) or </a:t>
            </a:r>
            <a:r>
              <a:rPr sz="2800" spc="-50" dirty="0">
                <a:latin typeface="SimSun-ExtB"/>
                <a:cs typeface="SimSun-ExtB"/>
              </a:rPr>
              <a:t>C</a:t>
            </a:r>
            <a:endParaRPr sz="2800">
              <a:latin typeface="SimSun-ExtB"/>
              <a:cs typeface="SimSun-ExtB"/>
            </a:endParaRPr>
          </a:p>
          <a:p>
            <a:pPr marL="76200">
              <a:lnSpc>
                <a:spcPct val="100000"/>
              </a:lnSpc>
              <a:spcBef>
                <a:spcPts val="1420"/>
              </a:spcBef>
            </a:pPr>
            <a:r>
              <a:rPr sz="2600" dirty="0">
                <a:latin typeface="Arial MT"/>
                <a:cs typeface="Arial MT"/>
              </a:rPr>
              <a:t>Que</a:t>
            </a:r>
            <a:r>
              <a:rPr sz="2600" spc="-35" dirty="0">
                <a:latin typeface="Arial MT"/>
                <a:cs typeface="Arial MT"/>
              </a:rPr>
              <a:t> </a:t>
            </a:r>
            <a:r>
              <a:rPr sz="2600" dirty="0">
                <a:latin typeface="Arial MT"/>
                <a:cs typeface="Arial MT"/>
              </a:rPr>
              <a:t>por</a:t>
            </a:r>
            <a:r>
              <a:rPr sz="2600" spc="-35" dirty="0">
                <a:latin typeface="Arial MT"/>
                <a:cs typeface="Arial MT"/>
              </a:rPr>
              <a:t> </a:t>
            </a:r>
            <a:r>
              <a:rPr sz="2600" dirty="0">
                <a:latin typeface="Arial MT"/>
                <a:cs typeface="Arial MT"/>
              </a:rPr>
              <a:t>sua</a:t>
            </a:r>
            <a:r>
              <a:rPr sz="2600" spc="-35" dirty="0">
                <a:latin typeface="Arial MT"/>
                <a:cs typeface="Arial MT"/>
              </a:rPr>
              <a:t> </a:t>
            </a:r>
            <a:r>
              <a:rPr sz="2600" dirty="0">
                <a:latin typeface="Arial MT"/>
                <a:cs typeface="Arial MT"/>
              </a:rPr>
              <a:t>vez</a:t>
            </a:r>
            <a:r>
              <a:rPr sz="2600" spc="-30" dirty="0">
                <a:latin typeface="Arial MT"/>
                <a:cs typeface="Arial MT"/>
              </a:rPr>
              <a:t> </a:t>
            </a:r>
            <a:r>
              <a:rPr sz="2600" dirty="0">
                <a:latin typeface="Arial MT"/>
                <a:cs typeface="Arial MT"/>
              </a:rPr>
              <a:t>pode</a:t>
            </a:r>
            <a:r>
              <a:rPr sz="2600" spc="-35" dirty="0">
                <a:latin typeface="Arial MT"/>
                <a:cs typeface="Arial MT"/>
              </a:rPr>
              <a:t> </a:t>
            </a:r>
            <a:r>
              <a:rPr sz="2600" dirty="0">
                <a:latin typeface="Arial MT"/>
                <a:cs typeface="Arial MT"/>
              </a:rPr>
              <a:t>ser</a:t>
            </a:r>
            <a:r>
              <a:rPr sz="2600" spc="-35" dirty="0">
                <a:latin typeface="Arial MT"/>
                <a:cs typeface="Arial MT"/>
              </a:rPr>
              <a:t> </a:t>
            </a:r>
            <a:r>
              <a:rPr sz="2600" spc="-50" dirty="0">
                <a:latin typeface="Arial MT"/>
                <a:cs typeface="Arial MT"/>
              </a:rPr>
              <a:t>:</a:t>
            </a:r>
            <a:endParaRPr sz="2600">
              <a:latin typeface="Arial MT"/>
              <a:cs typeface="Arial MT"/>
            </a:endParaRPr>
          </a:p>
        </p:txBody>
      </p:sp>
      <p:sp>
        <p:nvSpPr>
          <p:cNvPr id="5" name="object 5"/>
          <p:cNvSpPr txBox="1"/>
          <p:nvPr/>
        </p:nvSpPr>
        <p:spPr>
          <a:xfrm>
            <a:off x="554304" y="3247097"/>
            <a:ext cx="174625" cy="203835"/>
          </a:xfrm>
          <a:prstGeom prst="rect">
            <a:avLst/>
          </a:prstGeom>
        </p:spPr>
        <p:txBody>
          <a:bodyPr vert="horz" wrap="square" lIns="0" tIns="15240" rIns="0" bIns="0" rtlCol="0">
            <a:spAutoFit/>
          </a:bodyPr>
          <a:lstStyle/>
          <a:p>
            <a:pPr marL="12700">
              <a:lnSpc>
                <a:spcPct val="100000"/>
              </a:lnSpc>
              <a:spcBef>
                <a:spcPts val="120"/>
              </a:spcBef>
            </a:pPr>
            <a:r>
              <a:rPr sz="1150" spc="415" dirty="0">
                <a:latin typeface="Microsoft Sans Serif"/>
                <a:cs typeface="Microsoft Sans Serif"/>
              </a:rPr>
              <a:t>●</a:t>
            </a:r>
            <a:endParaRPr sz="1150">
              <a:latin typeface="Microsoft Sans Serif"/>
              <a:cs typeface="Microsoft Sans Serif"/>
            </a:endParaRPr>
          </a:p>
        </p:txBody>
      </p:sp>
      <p:sp>
        <p:nvSpPr>
          <p:cNvPr id="6" name="object 6"/>
          <p:cNvSpPr txBox="1"/>
          <p:nvPr/>
        </p:nvSpPr>
        <p:spPr>
          <a:xfrm>
            <a:off x="554304" y="4394060"/>
            <a:ext cx="174625" cy="203835"/>
          </a:xfrm>
          <a:prstGeom prst="rect">
            <a:avLst/>
          </a:prstGeom>
        </p:spPr>
        <p:txBody>
          <a:bodyPr vert="horz" wrap="square" lIns="0" tIns="15240" rIns="0" bIns="0" rtlCol="0">
            <a:spAutoFit/>
          </a:bodyPr>
          <a:lstStyle/>
          <a:p>
            <a:pPr marL="12700">
              <a:lnSpc>
                <a:spcPct val="100000"/>
              </a:lnSpc>
              <a:spcBef>
                <a:spcPts val="120"/>
              </a:spcBef>
            </a:pPr>
            <a:r>
              <a:rPr sz="1150" spc="415" dirty="0">
                <a:latin typeface="Microsoft Sans Serif"/>
                <a:cs typeface="Microsoft Sans Serif"/>
              </a:rPr>
              <a:t>●</a:t>
            </a:r>
            <a:endParaRPr sz="1150">
              <a:latin typeface="Microsoft Sans Serif"/>
              <a:cs typeface="Microsoft Sans Serif"/>
            </a:endParaRPr>
          </a:p>
        </p:txBody>
      </p:sp>
      <p:sp>
        <p:nvSpPr>
          <p:cNvPr id="7" name="object 7"/>
          <p:cNvSpPr txBox="1"/>
          <p:nvPr/>
        </p:nvSpPr>
        <p:spPr>
          <a:xfrm>
            <a:off x="960894" y="4705258"/>
            <a:ext cx="2553970" cy="1105535"/>
          </a:xfrm>
          <a:prstGeom prst="rect">
            <a:avLst/>
          </a:prstGeom>
        </p:spPr>
        <p:txBody>
          <a:bodyPr vert="horz" wrap="square" lIns="0" tIns="156210" rIns="0" bIns="0" rtlCol="0">
            <a:spAutoFit/>
          </a:bodyPr>
          <a:lstStyle/>
          <a:p>
            <a:pPr marL="359410" indent="-321310">
              <a:lnSpc>
                <a:spcPct val="100000"/>
              </a:lnSpc>
              <a:spcBef>
                <a:spcPts val="1230"/>
              </a:spcBef>
              <a:buSzPct val="75000"/>
              <a:buFont typeface="Microsoft Sans Serif"/>
              <a:buChar char="-"/>
              <a:tabLst>
                <a:tab pos="359410" algn="l"/>
              </a:tabLst>
            </a:pPr>
            <a:r>
              <a:rPr sz="2600" dirty="0">
                <a:latin typeface="SimSun-ExtB"/>
                <a:cs typeface="SimSun-ExtB"/>
              </a:rPr>
              <a:t>I =</a:t>
            </a:r>
            <a:r>
              <a:rPr sz="2600" spc="15" dirty="0">
                <a:latin typeface="SimSun-ExtB"/>
                <a:cs typeface="SimSun-ExtB"/>
              </a:rPr>
              <a:t> </a:t>
            </a:r>
            <a:r>
              <a:rPr sz="2600" dirty="0">
                <a:latin typeface="SimSun-ExtB"/>
                <a:cs typeface="SimSun-ExtB"/>
              </a:rPr>
              <a:t>(A</a:t>
            </a:r>
            <a:r>
              <a:rPr sz="2600" spc="15" dirty="0">
                <a:latin typeface="SimSun-ExtB"/>
                <a:cs typeface="SimSun-ExtB"/>
              </a:rPr>
              <a:t> </a:t>
            </a:r>
            <a:r>
              <a:rPr sz="2600" dirty="0">
                <a:latin typeface="SimSun-ExtB"/>
                <a:cs typeface="SimSun-ExtB"/>
              </a:rPr>
              <a:t>and</a:t>
            </a:r>
            <a:r>
              <a:rPr sz="2600" spc="15" dirty="0">
                <a:latin typeface="SimSun-ExtB"/>
                <a:cs typeface="SimSun-ExtB"/>
              </a:rPr>
              <a:t> </a:t>
            </a:r>
            <a:r>
              <a:rPr sz="2600" spc="-25" dirty="0">
                <a:latin typeface="SimSun-ExtB"/>
                <a:cs typeface="SimSun-ExtB"/>
              </a:rPr>
              <a:t>B)</a:t>
            </a:r>
            <a:endParaRPr sz="2600">
              <a:latin typeface="SimSun-ExtB"/>
              <a:cs typeface="SimSun-ExtB"/>
            </a:endParaRPr>
          </a:p>
          <a:p>
            <a:pPr marL="359410" indent="-321310">
              <a:lnSpc>
                <a:spcPct val="100000"/>
              </a:lnSpc>
              <a:spcBef>
                <a:spcPts val="1130"/>
              </a:spcBef>
              <a:buSzPct val="75000"/>
              <a:buFont typeface="Microsoft Sans Serif"/>
              <a:buChar char="-"/>
              <a:tabLst>
                <a:tab pos="359410" algn="l"/>
              </a:tabLst>
            </a:pPr>
            <a:r>
              <a:rPr sz="2600" dirty="0">
                <a:latin typeface="SimSun-ExtB"/>
                <a:cs typeface="SimSun-ExtB"/>
              </a:rPr>
              <a:t>Q</a:t>
            </a:r>
            <a:r>
              <a:rPr sz="2600" spc="10" dirty="0">
                <a:latin typeface="SimSun-ExtB"/>
                <a:cs typeface="SimSun-ExtB"/>
              </a:rPr>
              <a:t> </a:t>
            </a:r>
            <a:r>
              <a:rPr sz="2600" dirty="0">
                <a:latin typeface="SimSun-ExtB"/>
                <a:cs typeface="SimSun-ExtB"/>
              </a:rPr>
              <a:t>=</a:t>
            </a:r>
            <a:r>
              <a:rPr sz="2600" spc="10" dirty="0">
                <a:latin typeface="SimSun-ExtB"/>
                <a:cs typeface="SimSun-ExtB"/>
              </a:rPr>
              <a:t> </a:t>
            </a:r>
            <a:r>
              <a:rPr sz="2600" dirty="0">
                <a:latin typeface="SimSun-ExtB"/>
                <a:cs typeface="SimSun-ExtB"/>
              </a:rPr>
              <a:t>I</a:t>
            </a:r>
            <a:r>
              <a:rPr sz="2600" spc="10" dirty="0">
                <a:latin typeface="SimSun-ExtB"/>
                <a:cs typeface="SimSun-ExtB"/>
              </a:rPr>
              <a:t> </a:t>
            </a:r>
            <a:r>
              <a:rPr sz="2600" dirty="0">
                <a:latin typeface="SimSun-ExtB"/>
                <a:cs typeface="SimSun-ExtB"/>
              </a:rPr>
              <a:t>or</a:t>
            </a:r>
            <a:r>
              <a:rPr sz="2600" spc="15" dirty="0">
                <a:latin typeface="SimSun-ExtB"/>
                <a:cs typeface="SimSun-ExtB"/>
              </a:rPr>
              <a:t> </a:t>
            </a:r>
            <a:r>
              <a:rPr sz="2600" spc="-50" dirty="0">
                <a:latin typeface="SimSun-ExtB"/>
                <a:cs typeface="SimSun-ExtB"/>
              </a:rPr>
              <a:t>C</a:t>
            </a:r>
            <a:endParaRPr sz="2600">
              <a:latin typeface="SimSun-ExtB"/>
              <a:cs typeface="SimSun-ExtB"/>
            </a:endParaRPr>
          </a:p>
        </p:txBody>
      </p:sp>
      <p:sp>
        <p:nvSpPr>
          <p:cNvPr id="8" name="object 8" descr="$PPTXTitle"/>
          <p:cNvSpPr txBox="1">
            <a:spLocks noGrp="1"/>
          </p:cNvSpPr>
          <p:nvPr>
            <p:ph type="title"/>
          </p:nvPr>
        </p:nvSpPr>
        <p:spPr>
          <a:prstGeom prst="rect">
            <a:avLst/>
          </a:prstGeom>
        </p:spPr>
        <p:txBody>
          <a:bodyPr vert="horz" wrap="square" lIns="0" tIns="181178" rIns="0" bIns="0" rtlCol="0">
            <a:spAutoFit/>
          </a:bodyPr>
          <a:lstStyle/>
          <a:p>
            <a:pPr marL="756920">
              <a:lnSpc>
                <a:spcPct val="100000"/>
              </a:lnSpc>
              <a:spcBef>
                <a:spcPts val="100"/>
              </a:spcBef>
            </a:pPr>
            <a:r>
              <a:rPr dirty="0"/>
              <a:t>Da</a:t>
            </a:r>
            <a:r>
              <a:rPr spc="-35" dirty="0"/>
              <a:t> </a:t>
            </a:r>
            <a:r>
              <a:rPr dirty="0"/>
              <a:t>equação</a:t>
            </a:r>
            <a:r>
              <a:rPr spc="-35" dirty="0"/>
              <a:t> </a:t>
            </a:r>
            <a:r>
              <a:rPr dirty="0"/>
              <a:t>para</a:t>
            </a:r>
            <a:r>
              <a:rPr spc="-30" dirty="0"/>
              <a:t> </a:t>
            </a:r>
            <a:r>
              <a:rPr spc="-10" dirty="0"/>
              <a:t>implementação</a:t>
            </a:r>
          </a:p>
        </p:txBody>
      </p:sp>
      <p:sp>
        <p:nvSpPr>
          <p:cNvPr id="10" name="Text Placeholder 9">
            <a:extLst>
              <a:ext uri="{FF2B5EF4-FFF2-40B4-BE49-F238E27FC236}">
                <a16:creationId xmlns:a16="http://schemas.microsoft.com/office/drawing/2014/main" id="{D1BDD8A6-F4C7-8724-0DFD-0C631D4AA725}"/>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61618" y="2669667"/>
            <a:ext cx="6815455" cy="513715"/>
          </a:xfrm>
          <a:prstGeom prst="rect">
            <a:avLst/>
          </a:prstGeom>
        </p:spPr>
        <p:txBody>
          <a:bodyPr vert="horz" wrap="square" lIns="0" tIns="12700" rIns="0" bIns="0" rtlCol="0">
            <a:spAutoFit/>
          </a:bodyPr>
          <a:lstStyle/>
          <a:p>
            <a:pPr marL="12700">
              <a:lnSpc>
                <a:spcPct val="100000"/>
              </a:lnSpc>
              <a:spcBef>
                <a:spcPts val="100"/>
              </a:spcBef>
            </a:pPr>
            <a:r>
              <a:rPr sz="3200" dirty="0"/>
              <a:t>Mas</a:t>
            </a:r>
            <a:r>
              <a:rPr sz="3200" spc="-15" dirty="0"/>
              <a:t> </a:t>
            </a:r>
            <a:r>
              <a:rPr sz="3200" dirty="0"/>
              <a:t>do</a:t>
            </a:r>
            <a:r>
              <a:rPr sz="3200" spc="-25" dirty="0"/>
              <a:t> </a:t>
            </a:r>
            <a:r>
              <a:rPr sz="3200" dirty="0"/>
              <a:t>que</a:t>
            </a:r>
            <a:r>
              <a:rPr sz="3200" spc="-25" dirty="0"/>
              <a:t> </a:t>
            </a:r>
            <a:r>
              <a:rPr sz="3200" dirty="0"/>
              <a:t>é</a:t>
            </a:r>
            <a:r>
              <a:rPr sz="3200" spc="-25" dirty="0"/>
              <a:t> </a:t>
            </a:r>
            <a:r>
              <a:rPr sz="3200" dirty="0"/>
              <a:t>feito</a:t>
            </a:r>
            <a:r>
              <a:rPr sz="3200" spc="-25" dirty="0"/>
              <a:t> </a:t>
            </a:r>
            <a:r>
              <a:rPr sz="3200" dirty="0"/>
              <a:t>uma</a:t>
            </a:r>
            <a:r>
              <a:rPr sz="3200" spc="-25" dirty="0"/>
              <a:t> </a:t>
            </a:r>
            <a:r>
              <a:rPr sz="3200" dirty="0"/>
              <a:t>porta</a:t>
            </a:r>
            <a:r>
              <a:rPr sz="3200" spc="-25" dirty="0"/>
              <a:t> </a:t>
            </a:r>
            <a:r>
              <a:rPr sz="3200" dirty="0"/>
              <a:t>lógica</a:t>
            </a:r>
            <a:r>
              <a:rPr sz="3200" spc="-25" dirty="0"/>
              <a:t> </a:t>
            </a:r>
            <a:r>
              <a:rPr sz="3200" spc="-50" dirty="0"/>
              <a:t>?</a:t>
            </a:r>
            <a:endParaRPr sz="3200"/>
          </a:p>
        </p:txBody>
      </p:sp>
    </p:spTree>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07575" y="557542"/>
            <a:ext cx="2522220" cy="574040"/>
          </a:xfrm>
          <a:prstGeom prst="rect">
            <a:avLst/>
          </a:prstGeom>
        </p:spPr>
        <p:txBody>
          <a:bodyPr vert="horz" wrap="square" lIns="0" tIns="12700" rIns="0" bIns="0" rtlCol="0">
            <a:spAutoFit/>
          </a:bodyPr>
          <a:lstStyle/>
          <a:p>
            <a:pPr marL="12700">
              <a:lnSpc>
                <a:spcPct val="100000"/>
              </a:lnSpc>
              <a:spcBef>
                <a:spcPts val="100"/>
              </a:spcBef>
            </a:pPr>
            <a:r>
              <a:rPr spc="-10" dirty="0"/>
              <a:t>Transistores</a:t>
            </a:r>
          </a:p>
        </p:txBody>
      </p:sp>
      <p:sp>
        <p:nvSpPr>
          <p:cNvPr id="3" name="object 3"/>
          <p:cNvSpPr txBox="1"/>
          <p:nvPr/>
        </p:nvSpPr>
        <p:spPr>
          <a:xfrm>
            <a:off x="554304" y="1669580"/>
            <a:ext cx="162560" cy="190500"/>
          </a:xfrm>
          <a:prstGeom prst="rect">
            <a:avLst/>
          </a:prstGeom>
        </p:spPr>
        <p:txBody>
          <a:bodyPr vert="horz" wrap="square" lIns="0" tIns="16510" rIns="0" bIns="0" rtlCol="0">
            <a:spAutoFit/>
          </a:bodyPr>
          <a:lstStyle/>
          <a:p>
            <a:pPr marL="12700">
              <a:lnSpc>
                <a:spcPct val="100000"/>
              </a:lnSpc>
              <a:spcBef>
                <a:spcPts val="130"/>
              </a:spcBef>
            </a:pPr>
            <a:r>
              <a:rPr sz="1050" spc="385" dirty="0">
                <a:latin typeface="Microsoft Sans Serif"/>
                <a:cs typeface="Microsoft Sans Serif"/>
              </a:rPr>
              <a:t>●</a:t>
            </a:r>
            <a:endParaRPr sz="1050">
              <a:latin typeface="Microsoft Sans Serif"/>
              <a:cs typeface="Microsoft Sans Serif"/>
            </a:endParaRPr>
          </a:p>
        </p:txBody>
      </p:sp>
      <p:sp>
        <p:nvSpPr>
          <p:cNvPr id="4" name="object 4"/>
          <p:cNvSpPr txBox="1"/>
          <p:nvPr/>
        </p:nvSpPr>
        <p:spPr>
          <a:xfrm>
            <a:off x="876134" y="1591830"/>
            <a:ext cx="369951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Vários</a:t>
            </a:r>
            <a:r>
              <a:rPr sz="2400" spc="-50" dirty="0">
                <a:latin typeface="Arial MT"/>
                <a:cs typeface="Arial MT"/>
              </a:rPr>
              <a:t> </a:t>
            </a:r>
            <a:r>
              <a:rPr sz="2400" dirty="0">
                <a:latin typeface="Arial MT"/>
                <a:cs typeface="Arial MT"/>
              </a:rPr>
              <a:t>tipos</a:t>
            </a:r>
            <a:r>
              <a:rPr sz="2400" spc="-50" dirty="0">
                <a:latin typeface="Arial MT"/>
                <a:cs typeface="Arial MT"/>
              </a:rPr>
              <a:t> </a:t>
            </a:r>
            <a:r>
              <a:rPr sz="2400" dirty="0">
                <a:latin typeface="Arial MT"/>
                <a:cs typeface="Arial MT"/>
              </a:rPr>
              <a:t>de</a:t>
            </a:r>
            <a:r>
              <a:rPr sz="2400" spc="-50" dirty="0">
                <a:latin typeface="Arial MT"/>
                <a:cs typeface="Arial MT"/>
              </a:rPr>
              <a:t> </a:t>
            </a:r>
            <a:r>
              <a:rPr sz="2400" spc="-10" dirty="0">
                <a:latin typeface="Arial MT"/>
                <a:cs typeface="Arial MT"/>
              </a:rPr>
              <a:t>transistores</a:t>
            </a:r>
            <a:endParaRPr sz="2400">
              <a:latin typeface="Arial MT"/>
              <a:cs typeface="Arial MT"/>
            </a:endParaRPr>
          </a:p>
        </p:txBody>
      </p:sp>
      <p:sp>
        <p:nvSpPr>
          <p:cNvPr id="5" name="object 5"/>
          <p:cNvSpPr txBox="1"/>
          <p:nvPr/>
        </p:nvSpPr>
        <p:spPr>
          <a:xfrm>
            <a:off x="986294" y="2619616"/>
            <a:ext cx="101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Sans Serif"/>
                <a:cs typeface="Microsoft Sans Serif"/>
              </a:rPr>
              <a:t>-</a:t>
            </a:r>
            <a:endParaRPr sz="1800">
              <a:latin typeface="Microsoft Sans Serif"/>
              <a:cs typeface="Microsoft Sans Serif"/>
            </a:endParaRPr>
          </a:p>
        </p:txBody>
      </p:sp>
      <p:sp>
        <p:nvSpPr>
          <p:cNvPr id="6" name="object 6"/>
          <p:cNvSpPr txBox="1"/>
          <p:nvPr/>
        </p:nvSpPr>
        <p:spPr>
          <a:xfrm>
            <a:off x="986294" y="3129381"/>
            <a:ext cx="101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Sans Serif"/>
                <a:cs typeface="Microsoft Sans Serif"/>
              </a:rPr>
              <a:t>-</a:t>
            </a:r>
            <a:endParaRPr sz="1800">
              <a:latin typeface="Microsoft Sans Serif"/>
              <a:cs typeface="Microsoft Sans Serif"/>
            </a:endParaRPr>
          </a:p>
        </p:txBody>
      </p:sp>
      <p:sp>
        <p:nvSpPr>
          <p:cNvPr id="7" name="object 7"/>
          <p:cNvSpPr txBox="1"/>
          <p:nvPr/>
        </p:nvSpPr>
        <p:spPr>
          <a:xfrm>
            <a:off x="960894" y="1957715"/>
            <a:ext cx="1668145" cy="1555115"/>
          </a:xfrm>
          <a:prstGeom prst="rect">
            <a:avLst/>
          </a:prstGeom>
        </p:spPr>
        <p:txBody>
          <a:bodyPr vert="horz" wrap="square" lIns="0" tIns="12700" rIns="0" bIns="0" rtlCol="0">
            <a:spAutoFit/>
          </a:bodyPr>
          <a:lstStyle/>
          <a:p>
            <a:pPr marL="359410" marR="30480" indent="-321945">
              <a:lnSpc>
                <a:spcPct val="139400"/>
              </a:lnSpc>
              <a:spcBef>
                <a:spcPts val="100"/>
              </a:spcBef>
              <a:tabLst>
                <a:tab pos="359410" algn="l"/>
              </a:tabLst>
            </a:pPr>
            <a:r>
              <a:rPr sz="2700" baseline="16975" dirty="0">
                <a:latin typeface="Microsoft Sans Serif"/>
                <a:cs typeface="Microsoft Sans Serif"/>
              </a:rPr>
              <a:t>-	</a:t>
            </a:r>
            <a:r>
              <a:rPr sz="2400" spc="-25" dirty="0">
                <a:latin typeface="Arial MT"/>
                <a:cs typeface="Arial MT"/>
              </a:rPr>
              <a:t>BJT </a:t>
            </a:r>
            <a:r>
              <a:rPr sz="2400" spc="-10" dirty="0">
                <a:latin typeface="Arial MT"/>
                <a:cs typeface="Arial MT"/>
              </a:rPr>
              <a:t>MOSFET</a:t>
            </a:r>
            <a:endParaRPr sz="2400">
              <a:latin typeface="Arial MT"/>
              <a:cs typeface="Arial MT"/>
            </a:endParaRPr>
          </a:p>
          <a:p>
            <a:pPr marL="359410">
              <a:lnSpc>
                <a:spcPct val="100000"/>
              </a:lnSpc>
              <a:spcBef>
                <a:spcPts val="1130"/>
              </a:spcBef>
            </a:pPr>
            <a:r>
              <a:rPr sz="2400" spc="-25" dirty="0">
                <a:latin typeface="Arial MT"/>
                <a:cs typeface="Arial MT"/>
              </a:rPr>
              <a:t>….</a:t>
            </a:r>
            <a:endParaRPr sz="2400">
              <a:latin typeface="Arial MT"/>
              <a:cs typeface="Arial MT"/>
            </a:endParaRPr>
          </a:p>
        </p:txBody>
      </p:sp>
      <p:sp>
        <p:nvSpPr>
          <p:cNvPr id="8" name="object 8"/>
          <p:cNvSpPr txBox="1"/>
          <p:nvPr/>
        </p:nvSpPr>
        <p:spPr>
          <a:xfrm>
            <a:off x="554304" y="3744620"/>
            <a:ext cx="162560" cy="190500"/>
          </a:xfrm>
          <a:prstGeom prst="rect">
            <a:avLst/>
          </a:prstGeom>
        </p:spPr>
        <p:txBody>
          <a:bodyPr vert="horz" wrap="square" lIns="0" tIns="16510" rIns="0" bIns="0" rtlCol="0">
            <a:spAutoFit/>
          </a:bodyPr>
          <a:lstStyle/>
          <a:p>
            <a:pPr marL="12700">
              <a:lnSpc>
                <a:spcPct val="100000"/>
              </a:lnSpc>
              <a:spcBef>
                <a:spcPts val="130"/>
              </a:spcBef>
            </a:pPr>
            <a:r>
              <a:rPr sz="1050" spc="385" dirty="0">
                <a:latin typeface="Microsoft Sans Serif"/>
                <a:cs typeface="Microsoft Sans Serif"/>
              </a:rPr>
              <a:t>●</a:t>
            </a:r>
            <a:endParaRPr sz="1050">
              <a:latin typeface="Microsoft Sans Serif"/>
              <a:cs typeface="Microsoft Sans Serif"/>
            </a:endParaRPr>
          </a:p>
        </p:txBody>
      </p:sp>
      <p:sp>
        <p:nvSpPr>
          <p:cNvPr id="9" name="object 9"/>
          <p:cNvSpPr txBox="1"/>
          <p:nvPr/>
        </p:nvSpPr>
        <p:spPr>
          <a:xfrm>
            <a:off x="876134" y="3666871"/>
            <a:ext cx="3411854"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Várias</a:t>
            </a:r>
            <a:r>
              <a:rPr sz="2400" spc="-55" dirty="0">
                <a:latin typeface="Arial MT"/>
                <a:cs typeface="Arial MT"/>
              </a:rPr>
              <a:t> </a:t>
            </a:r>
            <a:r>
              <a:rPr sz="2400" dirty="0">
                <a:latin typeface="Arial MT"/>
                <a:cs typeface="Arial MT"/>
              </a:rPr>
              <a:t>formas</a:t>
            </a:r>
            <a:r>
              <a:rPr sz="2400" spc="-55" dirty="0">
                <a:latin typeface="Arial MT"/>
                <a:cs typeface="Arial MT"/>
              </a:rPr>
              <a:t> </a:t>
            </a:r>
            <a:r>
              <a:rPr sz="2400" dirty="0">
                <a:latin typeface="Arial MT"/>
                <a:cs typeface="Arial MT"/>
              </a:rPr>
              <a:t>de</a:t>
            </a:r>
            <a:r>
              <a:rPr sz="2400" spc="-55" dirty="0">
                <a:latin typeface="Arial MT"/>
                <a:cs typeface="Arial MT"/>
              </a:rPr>
              <a:t> </a:t>
            </a:r>
            <a:r>
              <a:rPr sz="2400" spc="-10" dirty="0">
                <a:latin typeface="Arial MT"/>
                <a:cs typeface="Arial MT"/>
              </a:rPr>
              <a:t>realizar</a:t>
            </a:r>
            <a:endParaRPr sz="2400">
              <a:latin typeface="Arial MT"/>
              <a:cs typeface="Arial MT"/>
            </a:endParaRPr>
          </a:p>
        </p:txBody>
      </p:sp>
      <p:sp>
        <p:nvSpPr>
          <p:cNvPr id="10" name="object 10"/>
          <p:cNvSpPr txBox="1"/>
          <p:nvPr/>
        </p:nvSpPr>
        <p:spPr>
          <a:xfrm>
            <a:off x="986294" y="4694656"/>
            <a:ext cx="101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Sans Serif"/>
                <a:cs typeface="Microsoft Sans Serif"/>
              </a:rPr>
              <a:t>-</a:t>
            </a:r>
            <a:endParaRPr sz="1800">
              <a:latin typeface="Microsoft Sans Serif"/>
              <a:cs typeface="Microsoft Sans Serif"/>
            </a:endParaRPr>
          </a:p>
        </p:txBody>
      </p:sp>
      <p:sp>
        <p:nvSpPr>
          <p:cNvPr id="11" name="object 11"/>
          <p:cNvSpPr txBox="1"/>
          <p:nvPr/>
        </p:nvSpPr>
        <p:spPr>
          <a:xfrm>
            <a:off x="986294" y="5204421"/>
            <a:ext cx="101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Sans Serif"/>
                <a:cs typeface="Microsoft Sans Serif"/>
              </a:rPr>
              <a:t>-</a:t>
            </a:r>
            <a:endParaRPr sz="1800">
              <a:latin typeface="Microsoft Sans Serif"/>
              <a:cs typeface="Microsoft Sans Serif"/>
            </a:endParaRPr>
          </a:p>
        </p:txBody>
      </p:sp>
      <p:sp>
        <p:nvSpPr>
          <p:cNvPr id="12" name="object 12"/>
          <p:cNvSpPr txBox="1"/>
          <p:nvPr/>
        </p:nvSpPr>
        <p:spPr>
          <a:xfrm>
            <a:off x="986294" y="5714174"/>
            <a:ext cx="101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Sans Serif"/>
                <a:cs typeface="Microsoft Sans Serif"/>
              </a:rPr>
              <a:t>-</a:t>
            </a:r>
            <a:endParaRPr sz="1800">
              <a:latin typeface="Microsoft Sans Serif"/>
              <a:cs typeface="Microsoft Sans Serif"/>
            </a:endParaRPr>
          </a:p>
        </p:txBody>
      </p:sp>
      <p:sp>
        <p:nvSpPr>
          <p:cNvPr id="13" name="object 13"/>
          <p:cNvSpPr txBox="1"/>
          <p:nvPr/>
        </p:nvSpPr>
        <p:spPr>
          <a:xfrm>
            <a:off x="960894" y="4032755"/>
            <a:ext cx="5104130" cy="2065020"/>
          </a:xfrm>
          <a:prstGeom prst="rect">
            <a:avLst/>
          </a:prstGeom>
        </p:spPr>
        <p:txBody>
          <a:bodyPr vert="horz" wrap="square" lIns="0" tIns="12700" rIns="0" bIns="0" rtlCol="0">
            <a:spAutoFit/>
          </a:bodyPr>
          <a:lstStyle/>
          <a:p>
            <a:pPr marL="359410" marR="4161154" indent="-321945" algn="just">
              <a:lnSpc>
                <a:spcPct val="139400"/>
              </a:lnSpc>
              <a:spcBef>
                <a:spcPts val="100"/>
              </a:spcBef>
            </a:pPr>
            <a:r>
              <a:rPr sz="2700" baseline="16975" dirty="0">
                <a:latin typeface="Microsoft Sans Serif"/>
                <a:cs typeface="Microsoft Sans Serif"/>
              </a:rPr>
              <a:t>-</a:t>
            </a:r>
            <a:r>
              <a:rPr sz="2700" spc="719" baseline="16975" dirty="0">
                <a:latin typeface="Microsoft Sans Serif"/>
                <a:cs typeface="Microsoft Sans Serif"/>
              </a:rPr>
              <a:t>  </a:t>
            </a:r>
            <a:r>
              <a:rPr sz="2400" spc="-25" dirty="0">
                <a:latin typeface="Arial MT"/>
                <a:cs typeface="Arial MT"/>
              </a:rPr>
              <a:t>RTL DTL TTL</a:t>
            </a:r>
            <a:endParaRPr sz="2400">
              <a:latin typeface="Arial MT"/>
              <a:cs typeface="Arial MT"/>
            </a:endParaRPr>
          </a:p>
          <a:p>
            <a:pPr marL="359410">
              <a:lnSpc>
                <a:spcPct val="100000"/>
              </a:lnSpc>
              <a:spcBef>
                <a:spcPts val="1130"/>
              </a:spcBef>
            </a:pPr>
            <a:r>
              <a:rPr sz="2400" dirty="0">
                <a:latin typeface="Arial MT"/>
                <a:cs typeface="Arial MT"/>
              </a:rPr>
              <a:t>CMOS</a:t>
            </a:r>
            <a:r>
              <a:rPr sz="2400" spc="-75" dirty="0">
                <a:latin typeface="Arial MT"/>
                <a:cs typeface="Arial MT"/>
              </a:rPr>
              <a:t> </a:t>
            </a:r>
            <a:r>
              <a:rPr sz="2400" dirty="0">
                <a:latin typeface="Arial MT"/>
                <a:cs typeface="Arial MT"/>
              </a:rPr>
              <a:t>(mais</a:t>
            </a:r>
            <a:r>
              <a:rPr sz="2400" spc="-70" dirty="0">
                <a:latin typeface="Arial MT"/>
                <a:cs typeface="Arial MT"/>
              </a:rPr>
              <a:t> </a:t>
            </a:r>
            <a:r>
              <a:rPr sz="2400" dirty="0">
                <a:latin typeface="Arial MT"/>
                <a:cs typeface="Arial MT"/>
              </a:rPr>
              <a:t>utilizada</a:t>
            </a:r>
            <a:r>
              <a:rPr sz="2400" spc="-65" dirty="0">
                <a:latin typeface="Arial MT"/>
                <a:cs typeface="Arial MT"/>
              </a:rPr>
              <a:t> </a:t>
            </a:r>
            <a:r>
              <a:rPr sz="2400" dirty="0">
                <a:latin typeface="Arial MT"/>
                <a:cs typeface="Arial MT"/>
              </a:rPr>
              <a:t>hoje</a:t>
            </a:r>
            <a:r>
              <a:rPr sz="2400" spc="-70" dirty="0">
                <a:latin typeface="Arial MT"/>
                <a:cs typeface="Arial MT"/>
              </a:rPr>
              <a:t> </a:t>
            </a:r>
            <a:r>
              <a:rPr sz="2400" dirty="0">
                <a:latin typeface="Arial MT"/>
                <a:cs typeface="Arial MT"/>
              </a:rPr>
              <a:t>em</a:t>
            </a:r>
            <a:r>
              <a:rPr sz="2400" spc="-60" dirty="0">
                <a:latin typeface="Arial MT"/>
                <a:cs typeface="Arial MT"/>
              </a:rPr>
              <a:t> </a:t>
            </a:r>
            <a:r>
              <a:rPr sz="2400" spc="-20" dirty="0">
                <a:latin typeface="Arial MT"/>
                <a:cs typeface="Arial MT"/>
              </a:rPr>
              <a:t>dia)</a:t>
            </a:r>
            <a:endParaRPr sz="2400">
              <a:latin typeface="Arial MT"/>
              <a:cs typeface="Arial MT"/>
            </a:endParaRPr>
          </a:p>
        </p:txBody>
      </p:sp>
    </p:spTree>
  </p:cSld>
  <p:clrMapOvr>
    <a:masterClrMapping/>
  </p:clrMapOvr>
  <p:transition>
    <p:dissolv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80466" rIns="0" bIns="0" rtlCol="0">
            <a:spAutoFit/>
          </a:bodyPr>
          <a:lstStyle/>
          <a:p>
            <a:pPr marL="3697604">
              <a:lnSpc>
                <a:spcPct val="100000"/>
              </a:lnSpc>
              <a:spcBef>
                <a:spcPts val="100"/>
              </a:spcBef>
            </a:pPr>
            <a:r>
              <a:rPr spc="-25" dirty="0"/>
              <a:t>RTL</a:t>
            </a:r>
          </a:p>
        </p:txBody>
      </p:sp>
      <p:sp>
        <p:nvSpPr>
          <p:cNvPr id="15" name="Text Placeholder 14">
            <a:extLst>
              <a:ext uri="{FF2B5EF4-FFF2-40B4-BE49-F238E27FC236}">
                <a16:creationId xmlns:a16="http://schemas.microsoft.com/office/drawing/2014/main" id="{7A19E858-424D-023B-EEF3-5F27BC364C69}"/>
              </a:ext>
            </a:extLst>
          </p:cNvPr>
          <p:cNvSpPr>
            <a:spLocks noGrp="1"/>
          </p:cNvSpPr>
          <p:nvPr>
            <p:ph type="body" sz="quarter" idx="13"/>
          </p:nvPr>
        </p:nvSpPr>
        <p:spPr/>
        <p:txBody>
          <a:bodyPr/>
          <a:lstStyle/>
          <a:p>
            <a:endParaRPr lang="en-US"/>
          </a:p>
        </p:txBody>
      </p:sp>
      <p:sp>
        <p:nvSpPr>
          <p:cNvPr id="3" name="object 3"/>
          <p:cNvSpPr txBox="1"/>
          <p:nvPr/>
        </p:nvSpPr>
        <p:spPr>
          <a:xfrm>
            <a:off x="444144" y="1591830"/>
            <a:ext cx="7410450" cy="75755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A</a:t>
            </a:r>
            <a:r>
              <a:rPr sz="2400" spc="-170" dirty="0">
                <a:latin typeface="Arial MT"/>
                <a:cs typeface="Arial MT"/>
              </a:rPr>
              <a:t> </a:t>
            </a:r>
            <a:r>
              <a:rPr sz="2400" spc="-10" dirty="0">
                <a:latin typeface="Arial MT"/>
                <a:cs typeface="Arial MT"/>
              </a:rPr>
              <a:t>implementação</a:t>
            </a:r>
            <a:r>
              <a:rPr sz="2400" spc="-60" dirty="0">
                <a:latin typeface="Arial MT"/>
                <a:cs typeface="Arial MT"/>
              </a:rPr>
              <a:t> </a:t>
            </a:r>
            <a:r>
              <a:rPr sz="2400" dirty="0">
                <a:latin typeface="Arial MT"/>
                <a:cs typeface="Arial MT"/>
              </a:rPr>
              <a:t>de</a:t>
            </a:r>
            <a:r>
              <a:rPr sz="2400" spc="-50" dirty="0">
                <a:latin typeface="Arial MT"/>
                <a:cs typeface="Arial MT"/>
              </a:rPr>
              <a:t> </a:t>
            </a:r>
            <a:r>
              <a:rPr sz="2400" dirty="0">
                <a:latin typeface="Arial MT"/>
                <a:cs typeface="Arial MT"/>
              </a:rPr>
              <a:t>portas</a:t>
            </a:r>
            <a:r>
              <a:rPr sz="2400" spc="-50" dirty="0">
                <a:latin typeface="Arial MT"/>
                <a:cs typeface="Arial MT"/>
              </a:rPr>
              <a:t> </a:t>
            </a:r>
            <a:r>
              <a:rPr sz="2400" dirty="0">
                <a:latin typeface="Arial MT"/>
                <a:cs typeface="Arial MT"/>
              </a:rPr>
              <a:t>lógicas</a:t>
            </a:r>
            <a:r>
              <a:rPr sz="2400" spc="-50" dirty="0">
                <a:latin typeface="Arial MT"/>
                <a:cs typeface="Arial MT"/>
              </a:rPr>
              <a:t> </a:t>
            </a:r>
            <a:r>
              <a:rPr sz="2400" dirty="0">
                <a:latin typeface="Arial MT"/>
                <a:cs typeface="Arial MT"/>
              </a:rPr>
              <a:t>por</a:t>
            </a:r>
            <a:r>
              <a:rPr sz="2400" spc="-50" dirty="0">
                <a:latin typeface="Arial MT"/>
                <a:cs typeface="Arial MT"/>
              </a:rPr>
              <a:t> </a:t>
            </a:r>
            <a:r>
              <a:rPr sz="2400" spc="-10" dirty="0">
                <a:latin typeface="Arial MT"/>
                <a:cs typeface="Arial MT"/>
              </a:rPr>
              <a:t>RTL</a:t>
            </a:r>
            <a:r>
              <a:rPr sz="2400" spc="-125" dirty="0">
                <a:latin typeface="Arial MT"/>
                <a:cs typeface="Arial MT"/>
              </a:rPr>
              <a:t> </a:t>
            </a:r>
            <a:r>
              <a:rPr sz="2400" dirty="0">
                <a:latin typeface="Arial MT"/>
                <a:cs typeface="Arial MT"/>
              </a:rPr>
              <a:t>faz</a:t>
            </a:r>
            <a:r>
              <a:rPr sz="2400" spc="-55" dirty="0">
                <a:latin typeface="Arial MT"/>
                <a:cs typeface="Arial MT"/>
              </a:rPr>
              <a:t> </a:t>
            </a:r>
            <a:r>
              <a:rPr sz="2400" dirty="0">
                <a:latin typeface="Arial MT"/>
                <a:cs typeface="Arial MT"/>
              </a:rPr>
              <a:t>uso</a:t>
            </a:r>
            <a:r>
              <a:rPr sz="2400" spc="-50" dirty="0">
                <a:latin typeface="Arial MT"/>
                <a:cs typeface="Arial MT"/>
              </a:rPr>
              <a:t> </a:t>
            </a:r>
            <a:r>
              <a:rPr sz="2400" spc="-25" dirty="0">
                <a:latin typeface="Arial MT"/>
                <a:cs typeface="Arial MT"/>
              </a:rPr>
              <a:t>de </a:t>
            </a:r>
            <a:r>
              <a:rPr sz="2400" dirty="0">
                <a:latin typeface="Arial MT"/>
                <a:cs typeface="Arial MT"/>
              </a:rPr>
              <a:t>transistores</a:t>
            </a:r>
            <a:r>
              <a:rPr sz="2400" spc="-45" dirty="0">
                <a:latin typeface="Arial MT"/>
                <a:cs typeface="Arial MT"/>
              </a:rPr>
              <a:t> </a:t>
            </a:r>
            <a:r>
              <a:rPr sz="2400" dirty="0">
                <a:latin typeface="Arial MT"/>
                <a:cs typeface="Arial MT"/>
              </a:rPr>
              <a:t>BJT</a:t>
            </a:r>
            <a:r>
              <a:rPr sz="2400" spc="-75" dirty="0">
                <a:latin typeface="Arial MT"/>
                <a:cs typeface="Arial MT"/>
              </a:rPr>
              <a:t> </a:t>
            </a:r>
            <a:r>
              <a:rPr sz="2400" dirty="0">
                <a:latin typeface="Arial MT"/>
                <a:cs typeface="Arial MT"/>
              </a:rPr>
              <a:t>do</a:t>
            </a:r>
            <a:r>
              <a:rPr sz="2400" spc="-40" dirty="0">
                <a:latin typeface="Arial MT"/>
                <a:cs typeface="Arial MT"/>
              </a:rPr>
              <a:t> </a:t>
            </a:r>
            <a:r>
              <a:rPr sz="2400" dirty="0">
                <a:latin typeface="Arial MT"/>
                <a:cs typeface="Arial MT"/>
              </a:rPr>
              <a:t>tipo</a:t>
            </a:r>
            <a:r>
              <a:rPr sz="2400" spc="-40" dirty="0">
                <a:latin typeface="Arial MT"/>
                <a:cs typeface="Arial MT"/>
              </a:rPr>
              <a:t> </a:t>
            </a:r>
            <a:r>
              <a:rPr sz="2400" dirty="0">
                <a:latin typeface="Arial MT"/>
                <a:cs typeface="Arial MT"/>
              </a:rPr>
              <a:t>N</a:t>
            </a:r>
            <a:r>
              <a:rPr sz="2400" spc="-45" dirty="0">
                <a:latin typeface="Arial MT"/>
                <a:cs typeface="Arial MT"/>
              </a:rPr>
              <a:t> </a:t>
            </a:r>
            <a:r>
              <a:rPr sz="2400" dirty="0">
                <a:latin typeface="Arial MT"/>
                <a:cs typeface="Arial MT"/>
              </a:rPr>
              <a:t>e</a:t>
            </a:r>
            <a:r>
              <a:rPr sz="2400" spc="-45" dirty="0">
                <a:latin typeface="Arial MT"/>
                <a:cs typeface="Arial MT"/>
              </a:rPr>
              <a:t> </a:t>
            </a:r>
            <a:r>
              <a:rPr sz="2400" spc="-10" dirty="0">
                <a:latin typeface="Arial MT"/>
                <a:cs typeface="Arial MT"/>
              </a:rPr>
              <a:t>resistores:</a:t>
            </a:r>
            <a:endParaRPr sz="2400">
              <a:latin typeface="Arial MT"/>
              <a:cs typeface="Arial MT"/>
            </a:endParaRPr>
          </a:p>
        </p:txBody>
      </p:sp>
      <p:sp>
        <p:nvSpPr>
          <p:cNvPr id="4" name="object 4"/>
          <p:cNvSpPr txBox="1"/>
          <p:nvPr/>
        </p:nvSpPr>
        <p:spPr>
          <a:xfrm>
            <a:off x="1227137" y="4878616"/>
            <a:ext cx="4318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MT"/>
                <a:cs typeface="Arial MT"/>
              </a:rPr>
              <a:t>BJT</a:t>
            </a:r>
            <a:endParaRPr sz="1800">
              <a:latin typeface="Arial MT"/>
              <a:cs typeface="Arial MT"/>
            </a:endParaRPr>
          </a:p>
        </p:txBody>
      </p:sp>
      <p:pic>
        <p:nvPicPr>
          <p:cNvPr id="5" name="object 5"/>
          <p:cNvPicPr/>
          <p:nvPr/>
        </p:nvPicPr>
        <p:blipFill>
          <a:blip r:embed="rId2" cstate="print"/>
          <a:stretch>
            <a:fillRect/>
          </a:stretch>
        </p:blipFill>
        <p:spPr>
          <a:xfrm>
            <a:off x="924483" y="3607917"/>
            <a:ext cx="949324" cy="949325"/>
          </a:xfrm>
          <a:prstGeom prst="rect">
            <a:avLst/>
          </a:prstGeom>
        </p:spPr>
      </p:pic>
      <p:pic>
        <p:nvPicPr>
          <p:cNvPr id="6" name="object 6"/>
          <p:cNvPicPr/>
          <p:nvPr/>
        </p:nvPicPr>
        <p:blipFill>
          <a:blip r:embed="rId3" cstate="print"/>
          <a:stretch>
            <a:fillRect/>
          </a:stretch>
        </p:blipFill>
        <p:spPr>
          <a:xfrm>
            <a:off x="3204708" y="3125551"/>
            <a:ext cx="1596884" cy="2301578"/>
          </a:xfrm>
          <a:prstGeom prst="rect">
            <a:avLst/>
          </a:prstGeom>
        </p:spPr>
      </p:pic>
      <p:sp>
        <p:nvSpPr>
          <p:cNvPr id="7" name="object 7"/>
          <p:cNvSpPr txBox="1"/>
          <p:nvPr/>
        </p:nvSpPr>
        <p:spPr>
          <a:xfrm>
            <a:off x="4033697" y="5721019"/>
            <a:ext cx="5080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MT"/>
                <a:cs typeface="Arial MT"/>
              </a:rPr>
              <a:t>AND</a:t>
            </a:r>
            <a:endParaRPr sz="1800">
              <a:latin typeface="Arial MT"/>
              <a:cs typeface="Arial MT"/>
            </a:endParaRPr>
          </a:p>
        </p:txBody>
      </p:sp>
      <p:sp>
        <p:nvSpPr>
          <p:cNvPr id="8" name="object 8"/>
          <p:cNvSpPr txBox="1"/>
          <p:nvPr/>
        </p:nvSpPr>
        <p:spPr>
          <a:xfrm>
            <a:off x="6478104" y="5721019"/>
            <a:ext cx="3689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MT"/>
                <a:cs typeface="Arial MT"/>
              </a:rPr>
              <a:t>OR</a:t>
            </a:r>
            <a:endParaRPr sz="1800">
              <a:latin typeface="Arial MT"/>
              <a:cs typeface="Arial MT"/>
            </a:endParaRPr>
          </a:p>
        </p:txBody>
      </p:sp>
      <p:pic>
        <p:nvPicPr>
          <p:cNvPr id="9" name="object 9"/>
          <p:cNvPicPr/>
          <p:nvPr/>
        </p:nvPicPr>
        <p:blipFill>
          <a:blip r:embed="rId4" cstate="print"/>
          <a:stretch>
            <a:fillRect/>
          </a:stretch>
        </p:blipFill>
        <p:spPr>
          <a:xfrm>
            <a:off x="5528157" y="3108591"/>
            <a:ext cx="1967039" cy="2705404"/>
          </a:xfrm>
          <a:prstGeom prst="rect">
            <a:avLst/>
          </a:prstGeom>
        </p:spPr>
      </p:pic>
      <p:grpSp>
        <p:nvGrpSpPr>
          <p:cNvPr id="10" name="object 10"/>
          <p:cNvGrpSpPr/>
          <p:nvPr/>
        </p:nvGrpSpPr>
        <p:grpSpPr>
          <a:xfrm>
            <a:off x="1973520" y="4000677"/>
            <a:ext cx="953135" cy="229235"/>
            <a:chOff x="1973520" y="4000677"/>
            <a:chExt cx="953135" cy="229235"/>
          </a:xfrm>
        </p:grpSpPr>
        <p:sp>
          <p:nvSpPr>
            <p:cNvPr id="11" name="object 11"/>
            <p:cNvSpPr/>
            <p:nvPr/>
          </p:nvSpPr>
          <p:spPr>
            <a:xfrm>
              <a:off x="2011679" y="4114800"/>
              <a:ext cx="701040" cy="635"/>
            </a:xfrm>
            <a:custGeom>
              <a:avLst/>
              <a:gdLst/>
              <a:ahLst/>
              <a:cxnLst/>
              <a:rect l="l" t="t" r="r" b="b"/>
              <a:pathLst>
                <a:path w="701039" h="635">
                  <a:moveTo>
                    <a:pt x="0" y="0"/>
                  </a:moveTo>
                  <a:lnTo>
                    <a:pt x="700557" y="355"/>
                  </a:lnTo>
                </a:path>
              </a:pathLst>
            </a:custGeom>
            <a:ln w="76318">
              <a:solidFill>
                <a:srgbClr val="EC1B23"/>
              </a:solidFill>
            </a:ln>
          </p:spPr>
          <p:txBody>
            <a:bodyPr wrap="square" lIns="0" tIns="0" rIns="0" bIns="0" rtlCol="0"/>
            <a:lstStyle/>
            <a:p>
              <a:endParaRPr/>
            </a:p>
          </p:txBody>
        </p:sp>
        <p:sp>
          <p:nvSpPr>
            <p:cNvPr id="12" name="object 12"/>
            <p:cNvSpPr/>
            <p:nvPr/>
          </p:nvSpPr>
          <p:spPr>
            <a:xfrm>
              <a:off x="2697124" y="4000677"/>
              <a:ext cx="229235" cy="229235"/>
            </a:xfrm>
            <a:custGeom>
              <a:avLst/>
              <a:gdLst/>
              <a:ahLst/>
              <a:cxnLst/>
              <a:rect l="l" t="t" r="r" b="b"/>
              <a:pathLst>
                <a:path w="229235" h="229235">
                  <a:moveTo>
                    <a:pt x="0" y="0"/>
                  </a:moveTo>
                  <a:lnTo>
                    <a:pt x="0" y="228968"/>
                  </a:lnTo>
                  <a:lnTo>
                    <a:pt x="228955" y="114477"/>
                  </a:lnTo>
                  <a:lnTo>
                    <a:pt x="0" y="0"/>
                  </a:lnTo>
                  <a:close/>
                </a:path>
              </a:pathLst>
            </a:custGeom>
            <a:solidFill>
              <a:srgbClr val="EC1B23"/>
            </a:solidFill>
          </p:spPr>
          <p:txBody>
            <a:bodyPr wrap="square" lIns="0" tIns="0" rIns="0" bIns="0" rtlCol="0"/>
            <a:lstStyle/>
            <a:p>
              <a:endParaRPr/>
            </a:p>
          </p:txBody>
        </p:sp>
      </p:grpSp>
      <p:pic>
        <p:nvPicPr>
          <p:cNvPr id="13" name="object 13"/>
          <p:cNvPicPr/>
          <p:nvPr/>
        </p:nvPicPr>
        <p:blipFill>
          <a:blip r:embed="rId5" cstate="print"/>
          <a:stretch>
            <a:fillRect/>
          </a:stretch>
        </p:blipFill>
        <p:spPr>
          <a:xfrm>
            <a:off x="870838" y="5424474"/>
            <a:ext cx="1215720" cy="1215720"/>
          </a:xfrm>
          <a:prstGeom prst="rect">
            <a:avLst/>
          </a:prstGeom>
        </p:spPr>
      </p:pic>
    </p:spTree>
  </p:cSld>
  <p:clrMapOvr>
    <a:masterClrMapping/>
  </p:clrMapOvr>
  <p:transition>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36395" y="1201674"/>
            <a:ext cx="6177597" cy="4632845"/>
          </a:xfrm>
          <a:prstGeom prst="rect">
            <a:avLst/>
          </a:prstGeom>
        </p:spPr>
      </p:pic>
      <p:sp>
        <p:nvSpPr>
          <p:cNvPr id="3" name="object 3"/>
          <p:cNvSpPr txBox="1"/>
          <p:nvPr/>
        </p:nvSpPr>
        <p:spPr>
          <a:xfrm>
            <a:off x="1001064" y="6064821"/>
            <a:ext cx="2502535" cy="193040"/>
          </a:xfrm>
          <a:prstGeom prst="rect">
            <a:avLst/>
          </a:prstGeom>
        </p:spPr>
        <p:txBody>
          <a:bodyPr vert="horz" wrap="square" lIns="0" tIns="12700" rIns="0" bIns="0" rtlCol="0">
            <a:spAutoFit/>
          </a:bodyPr>
          <a:lstStyle/>
          <a:p>
            <a:pPr marL="12700">
              <a:lnSpc>
                <a:spcPct val="100000"/>
              </a:lnSpc>
              <a:spcBef>
                <a:spcPts val="100"/>
              </a:spcBef>
            </a:pPr>
            <a:r>
              <a:rPr sz="1100" spc="-10" dirty="0">
                <a:latin typeface="Arial MT"/>
                <a:cs typeface="Arial MT"/>
                <a:hlinkClick r:id="rId3"/>
              </a:rPr>
              <a:t>https://3.14.by/en/read/homemade-</a:t>
            </a:r>
            <a:r>
              <a:rPr sz="1100" spc="-20" dirty="0">
                <a:latin typeface="Arial MT"/>
                <a:cs typeface="Arial MT"/>
                <a:hlinkClick r:id="rId3"/>
              </a:rPr>
              <a:t>cpus</a:t>
            </a:r>
            <a:endParaRPr sz="1100">
              <a:latin typeface="Arial MT"/>
              <a:cs typeface="Arial M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51502" y="2669667"/>
            <a:ext cx="635635" cy="513715"/>
          </a:xfrm>
          <a:prstGeom prst="rect">
            <a:avLst/>
          </a:prstGeom>
        </p:spPr>
        <p:txBody>
          <a:bodyPr vert="horz" wrap="square" lIns="0" tIns="12700" rIns="0" bIns="0" rtlCol="0">
            <a:spAutoFit/>
          </a:bodyPr>
          <a:lstStyle/>
          <a:p>
            <a:pPr marL="12700">
              <a:lnSpc>
                <a:spcPct val="100000"/>
              </a:lnSpc>
              <a:spcBef>
                <a:spcPts val="100"/>
              </a:spcBef>
            </a:pPr>
            <a:r>
              <a:rPr sz="3200" spc="-25" dirty="0">
                <a:solidFill>
                  <a:srgbClr val="BF0000"/>
                </a:solidFill>
                <a:latin typeface="Arial MT"/>
                <a:cs typeface="Arial MT"/>
              </a:rPr>
              <a:t>CIs</a:t>
            </a:r>
            <a:endParaRPr sz="3200">
              <a:latin typeface="Arial MT"/>
              <a:cs typeface="Arial MT"/>
            </a:endParaRPr>
          </a:p>
        </p:txBody>
      </p:sp>
    </p:spTree>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TTL</a:t>
            </a:r>
            <a:r>
              <a:rPr spc="-200" dirty="0"/>
              <a:t> </a:t>
            </a:r>
            <a:r>
              <a:rPr spc="-20" dirty="0"/>
              <a:t>74xx</a:t>
            </a:r>
          </a:p>
        </p:txBody>
      </p:sp>
      <p:sp>
        <p:nvSpPr>
          <p:cNvPr id="3" name="object 3"/>
          <p:cNvSpPr txBox="1"/>
          <p:nvPr/>
        </p:nvSpPr>
        <p:spPr>
          <a:xfrm>
            <a:off x="638175" y="1317510"/>
            <a:ext cx="7239634" cy="75755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Integra</a:t>
            </a:r>
            <a:r>
              <a:rPr sz="2400" spc="-65" dirty="0">
                <a:latin typeface="Arial MT"/>
                <a:cs typeface="Arial MT"/>
              </a:rPr>
              <a:t> </a:t>
            </a:r>
            <a:r>
              <a:rPr sz="2400" dirty="0">
                <a:latin typeface="Arial MT"/>
                <a:cs typeface="Arial MT"/>
              </a:rPr>
              <a:t>em</a:t>
            </a:r>
            <a:r>
              <a:rPr sz="2400" spc="-60" dirty="0">
                <a:latin typeface="Arial MT"/>
                <a:cs typeface="Arial MT"/>
              </a:rPr>
              <a:t> </a:t>
            </a:r>
            <a:r>
              <a:rPr sz="2400" dirty="0">
                <a:latin typeface="Arial MT"/>
                <a:cs typeface="Arial MT"/>
              </a:rPr>
              <a:t>um</a:t>
            </a:r>
            <a:r>
              <a:rPr sz="2400" spc="-60" dirty="0">
                <a:latin typeface="Arial MT"/>
                <a:cs typeface="Arial MT"/>
              </a:rPr>
              <a:t> </a:t>
            </a:r>
            <a:r>
              <a:rPr sz="2400" dirty="0">
                <a:latin typeface="Arial MT"/>
                <a:cs typeface="Arial MT"/>
              </a:rPr>
              <a:t>único</a:t>
            </a:r>
            <a:r>
              <a:rPr sz="2400" spc="-65" dirty="0">
                <a:latin typeface="Arial MT"/>
                <a:cs typeface="Arial MT"/>
              </a:rPr>
              <a:t> </a:t>
            </a:r>
            <a:r>
              <a:rPr sz="2400" dirty="0">
                <a:latin typeface="Arial MT"/>
                <a:cs typeface="Arial MT"/>
              </a:rPr>
              <a:t>Chip</a:t>
            </a:r>
            <a:r>
              <a:rPr sz="2400" spc="-65" dirty="0">
                <a:latin typeface="Arial MT"/>
                <a:cs typeface="Arial MT"/>
              </a:rPr>
              <a:t> </a:t>
            </a:r>
            <a:r>
              <a:rPr sz="2400" dirty="0">
                <a:latin typeface="Arial MT"/>
                <a:cs typeface="Arial MT"/>
              </a:rPr>
              <a:t>vários</a:t>
            </a:r>
            <a:r>
              <a:rPr sz="2400" spc="-65" dirty="0">
                <a:latin typeface="Arial MT"/>
                <a:cs typeface="Arial MT"/>
              </a:rPr>
              <a:t> </a:t>
            </a:r>
            <a:r>
              <a:rPr sz="2400" dirty="0">
                <a:latin typeface="Arial MT"/>
                <a:cs typeface="Arial MT"/>
              </a:rPr>
              <a:t>transistores</a:t>
            </a:r>
            <a:r>
              <a:rPr sz="2400" spc="-60" dirty="0">
                <a:latin typeface="Arial MT"/>
                <a:cs typeface="Arial MT"/>
              </a:rPr>
              <a:t> </a:t>
            </a:r>
            <a:r>
              <a:rPr sz="2400" dirty="0">
                <a:latin typeface="Arial MT"/>
                <a:cs typeface="Arial MT"/>
              </a:rPr>
              <a:t>a</a:t>
            </a:r>
            <a:r>
              <a:rPr sz="2400" spc="-65" dirty="0">
                <a:latin typeface="Arial MT"/>
                <a:cs typeface="Arial MT"/>
              </a:rPr>
              <a:t> </a:t>
            </a:r>
            <a:r>
              <a:rPr sz="2400" dirty="0">
                <a:latin typeface="Arial MT"/>
                <a:cs typeface="Arial MT"/>
              </a:rPr>
              <a:t>fim</a:t>
            </a:r>
            <a:r>
              <a:rPr sz="2400" spc="-60" dirty="0">
                <a:latin typeface="Arial MT"/>
                <a:cs typeface="Arial MT"/>
              </a:rPr>
              <a:t> </a:t>
            </a:r>
            <a:r>
              <a:rPr sz="2400" spc="-25" dirty="0">
                <a:latin typeface="Arial MT"/>
                <a:cs typeface="Arial MT"/>
              </a:rPr>
              <a:t>de </a:t>
            </a:r>
            <a:r>
              <a:rPr sz="2400" dirty="0">
                <a:latin typeface="Arial MT"/>
                <a:cs typeface="Arial MT"/>
              </a:rPr>
              <a:t>implementar</a:t>
            </a:r>
            <a:r>
              <a:rPr sz="2400" spc="-100" dirty="0">
                <a:latin typeface="Arial MT"/>
                <a:cs typeface="Arial MT"/>
              </a:rPr>
              <a:t> </a:t>
            </a:r>
            <a:r>
              <a:rPr sz="2400" dirty="0">
                <a:latin typeface="Arial MT"/>
                <a:cs typeface="Arial MT"/>
              </a:rPr>
              <a:t>um</a:t>
            </a:r>
            <a:r>
              <a:rPr sz="2400" spc="-100" dirty="0">
                <a:latin typeface="Arial MT"/>
                <a:cs typeface="Arial MT"/>
              </a:rPr>
              <a:t> </a:t>
            </a:r>
            <a:r>
              <a:rPr sz="2400" spc="-10" dirty="0">
                <a:latin typeface="Arial MT"/>
                <a:cs typeface="Arial MT"/>
              </a:rPr>
              <a:t>coponente</a:t>
            </a:r>
            <a:endParaRPr sz="2400">
              <a:latin typeface="Arial MT"/>
              <a:cs typeface="Arial MT"/>
            </a:endParaRPr>
          </a:p>
        </p:txBody>
      </p:sp>
      <p:pic>
        <p:nvPicPr>
          <p:cNvPr id="4" name="object 4"/>
          <p:cNvPicPr/>
          <p:nvPr/>
        </p:nvPicPr>
        <p:blipFill>
          <a:blip r:embed="rId2" cstate="print"/>
          <a:stretch>
            <a:fillRect/>
          </a:stretch>
        </p:blipFill>
        <p:spPr>
          <a:xfrm>
            <a:off x="3508197" y="2074316"/>
            <a:ext cx="5064836" cy="3686403"/>
          </a:xfrm>
          <a:prstGeom prst="rect">
            <a:avLst/>
          </a:prstGeom>
        </p:spPr>
      </p:pic>
      <p:pic>
        <p:nvPicPr>
          <p:cNvPr id="5" name="object 5"/>
          <p:cNvPicPr/>
          <p:nvPr/>
        </p:nvPicPr>
        <p:blipFill>
          <a:blip r:embed="rId3" cstate="print"/>
          <a:stretch>
            <a:fillRect/>
          </a:stretch>
        </p:blipFill>
        <p:spPr>
          <a:xfrm>
            <a:off x="726833" y="2666161"/>
            <a:ext cx="2697124" cy="3334677"/>
          </a:xfrm>
          <a:prstGeom prst="rect">
            <a:avLst/>
          </a:prstGeom>
        </p:spPr>
      </p:pic>
    </p:spTree>
  </p:cSld>
  <p:clrMapOvr>
    <a:masterClrMapping/>
  </p:clrMapOvr>
  <p:transition>
    <p:dissolv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TTL</a:t>
            </a:r>
            <a:r>
              <a:rPr spc="-200" dirty="0"/>
              <a:t> </a:t>
            </a:r>
            <a:r>
              <a:rPr spc="-20" dirty="0"/>
              <a:t>74xx</a:t>
            </a:r>
          </a:p>
        </p:txBody>
      </p:sp>
      <p:sp>
        <p:nvSpPr>
          <p:cNvPr id="3" name="object 3"/>
          <p:cNvSpPr txBox="1"/>
          <p:nvPr/>
        </p:nvSpPr>
        <p:spPr>
          <a:xfrm>
            <a:off x="638175" y="1317510"/>
            <a:ext cx="7239634" cy="75755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MT"/>
                <a:cs typeface="Arial MT"/>
              </a:rPr>
              <a:t>Integra</a:t>
            </a:r>
            <a:r>
              <a:rPr sz="2400" spc="-65" dirty="0">
                <a:latin typeface="Arial MT"/>
                <a:cs typeface="Arial MT"/>
              </a:rPr>
              <a:t> </a:t>
            </a:r>
            <a:r>
              <a:rPr sz="2400" dirty="0">
                <a:latin typeface="Arial MT"/>
                <a:cs typeface="Arial MT"/>
              </a:rPr>
              <a:t>em</a:t>
            </a:r>
            <a:r>
              <a:rPr sz="2400" spc="-60" dirty="0">
                <a:latin typeface="Arial MT"/>
                <a:cs typeface="Arial MT"/>
              </a:rPr>
              <a:t> </a:t>
            </a:r>
            <a:r>
              <a:rPr sz="2400" dirty="0">
                <a:latin typeface="Arial MT"/>
                <a:cs typeface="Arial MT"/>
              </a:rPr>
              <a:t>um</a:t>
            </a:r>
            <a:r>
              <a:rPr sz="2400" spc="-60" dirty="0">
                <a:latin typeface="Arial MT"/>
                <a:cs typeface="Arial MT"/>
              </a:rPr>
              <a:t> </a:t>
            </a:r>
            <a:r>
              <a:rPr sz="2400" dirty="0">
                <a:latin typeface="Arial MT"/>
                <a:cs typeface="Arial MT"/>
              </a:rPr>
              <a:t>único</a:t>
            </a:r>
            <a:r>
              <a:rPr sz="2400" spc="-65" dirty="0">
                <a:latin typeface="Arial MT"/>
                <a:cs typeface="Arial MT"/>
              </a:rPr>
              <a:t> </a:t>
            </a:r>
            <a:r>
              <a:rPr sz="2400" dirty="0">
                <a:latin typeface="Arial MT"/>
                <a:cs typeface="Arial MT"/>
              </a:rPr>
              <a:t>Chip</a:t>
            </a:r>
            <a:r>
              <a:rPr sz="2400" spc="-65" dirty="0">
                <a:latin typeface="Arial MT"/>
                <a:cs typeface="Arial MT"/>
              </a:rPr>
              <a:t> </a:t>
            </a:r>
            <a:r>
              <a:rPr sz="2400" dirty="0">
                <a:latin typeface="Arial MT"/>
                <a:cs typeface="Arial MT"/>
              </a:rPr>
              <a:t>vários</a:t>
            </a:r>
            <a:r>
              <a:rPr sz="2400" spc="-65" dirty="0">
                <a:latin typeface="Arial MT"/>
                <a:cs typeface="Arial MT"/>
              </a:rPr>
              <a:t> </a:t>
            </a:r>
            <a:r>
              <a:rPr sz="2400" dirty="0">
                <a:latin typeface="Arial MT"/>
                <a:cs typeface="Arial MT"/>
              </a:rPr>
              <a:t>transistores</a:t>
            </a:r>
            <a:r>
              <a:rPr sz="2400" spc="-60" dirty="0">
                <a:latin typeface="Arial MT"/>
                <a:cs typeface="Arial MT"/>
              </a:rPr>
              <a:t> </a:t>
            </a:r>
            <a:r>
              <a:rPr sz="2400" dirty="0">
                <a:latin typeface="Arial MT"/>
                <a:cs typeface="Arial MT"/>
              </a:rPr>
              <a:t>a</a:t>
            </a:r>
            <a:r>
              <a:rPr sz="2400" spc="-65" dirty="0">
                <a:latin typeface="Arial MT"/>
                <a:cs typeface="Arial MT"/>
              </a:rPr>
              <a:t> </a:t>
            </a:r>
            <a:r>
              <a:rPr sz="2400" dirty="0">
                <a:latin typeface="Arial MT"/>
                <a:cs typeface="Arial MT"/>
              </a:rPr>
              <a:t>fim</a:t>
            </a:r>
            <a:r>
              <a:rPr sz="2400" spc="-60" dirty="0">
                <a:latin typeface="Arial MT"/>
                <a:cs typeface="Arial MT"/>
              </a:rPr>
              <a:t> </a:t>
            </a:r>
            <a:r>
              <a:rPr sz="2400" spc="-25" dirty="0">
                <a:latin typeface="Arial MT"/>
                <a:cs typeface="Arial MT"/>
              </a:rPr>
              <a:t>de </a:t>
            </a:r>
            <a:r>
              <a:rPr sz="2400" dirty="0">
                <a:latin typeface="Arial MT"/>
                <a:cs typeface="Arial MT"/>
              </a:rPr>
              <a:t>implementar</a:t>
            </a:r>
            <a:r>
              <a:rPr sz="2400" spc="-100" dirty="0">
                <a:latin typeface="Arial MT"/>
                <a:cs typeface="Arial MT"/>
              </a:rPr>
              <a:t> </a:t>
            </a:r>
            <a:r>
              <a:rPr sz="2400" dirty="0">
                <a:latin typeface="Arial MT"/>
                <a:cs typeface="Arial MT"/>
              </a:rPr>
              <a:t>um</a:t>
            </a:r>
            <a:r>
              <a:rPr sz="2400" spc="-100" dirty="0">
                <a:latin typeface="Arial MT"/>
                <a:cs typeface="Arial MT"/>
              </a:rPr>
              <a:t> </a:t>
            </a:r>
            <a:r>
              <a:rPr sz="2400" spc="-10" dirty="0">
                <a:latin typeface="Arial MT"/>
                <a:cs typeface="Arial MT"/>
              </a:rPr>
              <a:t>coponente</a:t>
            </a:r>
            <a:endParaRPr sz="2400">
              <a:latin typeface="Arial MT"/>
              <a:cs typeface="Arial MT"/>
            </a:endParaRPr>
          </a:p>
        </p:txBody>
      </p:sp>
      <p:pic>
        <p:nvPicPr>
          <p:cNvPr id="4" name="object 4"/>
          <p:cNvPicPr/>
          <p:nvPr/>
        </p:nvPicPr>
        <p:blipFill>
          <a:blip r:embed="rId2" cstate="print"/>
          <a:stretch>
            <a:fillRect/>
          </a:stretch>
        </p:blipFill>
        <p:spPr>
          <a:xfrm>
            <a:off x="3508197" y="2074316"/>
            <a:ext cx="5064836" cy="3686403"/>
          </a:xfrm>
          <a:prstGeom prst="rect">
            <a:avLst/>
          </a:prstGeom>
        </p:spPr>
      </p:pic>
      <p:pic>
        <p:nvPicPr>
          <p:cNvPr id="5" name="object 5"/>
          <p:cNvPicPr/>
          <p:nvPr/>
        </p:nvPicPr>
        <p:blipFill>
          <a:blip r:embed="rId3" cstate="print"/>
          <a:stretch>
            <a:fillRect/>
          </a:stretch>
        </p:blipFill>
        <p:spPr>
          <a:xfrm>
            <a:off x="726833" y="2666161"/>
            <a:ext cx="2697124" cy="3334677"/>
          </a:xfrm>
          <a:prstGeom prst="rect">
            <a:avLst/>
          </a:prstGeom>
        </p:spPr>
      </p:pic>
    </p:spTree>
  </p:cSld>
  <p:clrMapOvr>
    <a:masterClrMapping/>
  </p:clrMapOvr>
  <p:transition>
    <p:dissolv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01316" y="438111"/>
            <a:ext cx="4664519" cy="6419532"/>
          </a:xfrm>
          <a:prstGeom prst="rect">
            <a:avLst/>
          </a:prstGeom>
        </p:spPr>
      </p:pic>
      <p:sp>
        <p:nvSpPr>
          <p:cNvPr id="3" name="object 3"/>
          <p:cNvSpPr txBox="1"/>
          <p:nvPr/>
        </p:nvSpPr>
        <p:spPr>
          <a:xfrm>
            <a:off x="562216" y="6034582"/>
            <a:ext cx="1171575" cy="528955"/>
          </a:xfrm>
          <a:prstGeom prst="rect">
            <a:avLst/>
          </a:prstGeom>
        </p:spPr>
        <p:txBody>
          <a:bodyPr vert="horz" wrap="square" lIns="0" tIns="12700" rIns="0" bIns="0" rtlCol="0">
            <a:spAutoFit/>
          </a:bodyPr>
          <a:lstStyle/>
          <a:p>
            <a:pPr marL="12700" marR="5080">
              <a:lnSpc>
                <a:spcPct val="100000"/>
              </a:lnSpc>
              <a:spcBef>
                <a:spcPts val="100"/>
              </a:spcBef>
            </a:pPr>
            <a:r>
              <a:rPr sz="1100" spc="-10" dirty="0">
                <a:latin typeface="Arial MT"/>
                <a:cs typeface="Arial MT"/>
                <a:hlinkClick r:id="rId3"/>
              </a:rPr>
              <a:t>https://github.com/ </a:t>
            </a:r>
            <a:r>
              <a:rPr sz="1100" dirty="0">
                <a:latin typeface="Arial MT"/>
                <a:cs typeface="Arial MT"/>
                <a:hlinkClick r:id="rId3"/>
              </a:rPr>
              <a:t>DutchMaker/TTL-</a:t>
            </a:r>
            <a:r>
              <a:rPr sz="1100" spc="-10" dirty="0">
                <a:latin typeface="Arial MT"/>
                <a:cs typeface="Arial MT"/>
              </a:rPr>
              <a:t>computer</a:t>
            </a:r>
            <a:endParaRPr sz="1100">
              <a:latin typeface="Arial MT"/>
              <a:cs typeface="Arial M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NAND</a:t>
            </a:r>
          </a:p>
        </p:txBody>
      </p:sp>
      <p:sp>
        <p:nvSpPr>
          <p:cNvPr id="3" name="Content Placeholder 2"/>
          <p:cNvSpPr>
            <a:spLocks noGrp="1"/>
          </p:cNvSpPr>
          <p:nvPr>
            <p:ph idx="1"/>
          </p:nvPr>
        </p:nvSpPr>
        <p:spPr/>
        <p:txBody>
          <a:bodyPr>
            <a:normAutofit/>
          </a:bodyPr>
          <a:lstStyle/>
          <a:p>
            <a:r>
              <a:rPr lang="pt-BR" dirty="0"/>
              <a:t>As portas lógicas NAND e NOR podem ser ditas como portas universais, pois delas podem ser criadas quaisquer outras portas.</a:t>
            </a:r>
          </a:p>
          <a:p>
            <a:r>
              <a:rPr lang="pt-BR" dirty="0"/>
              <a:t>Essa propriedade é conhecida como </a:t>
            </a:r>
            <a:r>
              <a:rPr lang="pt-BR" b="1" dirty="0"/>
              <a:t>completude funcional</a:t>
            </a:r>
            <a:r>
              <a:rPr lang="pt-BR" dirty="0"/>
              <a:t>.</a:t>
            </a:r>
          </a:p>
          <a:p>
            <a:endParaRPr lang="pt-BR" dirty="0"/>
          </a:p>
          <a:p>
            <a:r>
              <a:rPr lang="pt-BR" dirty="0"/>
              <a:t>Porém, porque a NAND é preferida a NOR?</a:t>
            </a:r>
          </a:p>
          <a:p>
            <a:pPr marL="285750" indent="-285750">
              <a:buFont typeface="Arial"/>
              <a:buChar char="•"/>
            </a:pPr>
            <a:r>
              <a:rPr lang="pt-BR" dirty="0"/>
              <a:t>NAND acaba sendo mais rápida (menos latência).</a:t>
            </a:r>
          </a:p>
          <a:p>
            <a:pPr marL="285750" indent="-285750">
              <a:buFont typeface="Arial"/>
              <a:buChar char="•"/>
            </a:pPr>
            <a:r>
              <a:rPr lang="pt-BR" dirty="0"/>
              <a:t>NAND ocupa menos área em silício.</a:t>
            </a:r>
          </a:p>
          <a:p>
            <a:pPr marL="285750" indent="-285750">
              <a:buFont typeface="Arial"/>
              <a:buChar char="•"/>
            </a:pPr>
            <a:r>
              <a:rPr lang="pt-BR" dirty="0"/>
              <a:t>NAND usa transistores de tamanhos similares</a:t>
            </a:r>
          </a:p>
          <a:p>
            <a:endParaRPr lang="pt-BR" dirty="0"/>
          </a:p>
          <a:p>
            <a:endParaRPr lang="pt-BR" dirty="0"/>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29</a:t>
            </a:fld>
            <a:endParaRPr lang="pt-BR" dirty="0"/>
          </a:p>
        </p:txBody>
      </p:sp>
      <p:pic>
        <p:nvPicPr>
          <p:cNvPr id="6" name="Picture 5" descr="2000px-Nand-gate-en.sv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6913" y="4977432"/>
            <a:ext cx="2684118" cy="966282"/>
          </a:xfrm>
          <a:prstGeom prst="rect">
            <a:avLst/>
          </a:prstGeom>
        </p:spPr>
      </p:pic>
    </p:spTree>
    <p:extLst>
      <p:ext uri="{BB962C8B-B14F-4D97-AF65-F5344CB8AC3E}">
        <p14:creationId xmlns:p14="http://schemas.microsoft.com/office/powerpoint/2010/main" val="30286720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1000"/>
                                  </p:stCondLst>
                                  <p:childTnLst>
                                    <p:animScale>
                                      <p:cBhvr>
                                        <p:cTn id="6" dur="5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Transistores MOSFET</a:t>
            </a:r>
          </a:p>
        </p:txBody>
      </p:sp>
      <p:sp>
        <p:nvSpPr>
          <p:cNvPr id="8" name="Content Placeholder 7"/>
          <p:cNvSpPr>
            <a:spLocks noGrp="1"/>
          </p:cNvSpPr>
          <p:nvPr>
            <p:ph idx="1"/>
          </p:nvPr>
        </p:nvSpPr>
        <p:spPr>
          <a:xfrm>
            <a:off x="457201" y="1468947"/>
            <a:ext cx="8525814" cy="4724400"/>
          </a:xfrm>
        </p:spPr>
        <p:txBody>
          <a:bodyPr numCol="2">
            <a:normAutofit/>
          </a:bodyPr>
          <a:lstStyle/>
          <a:p>
            <a:r>
              <a:rPr lang="pt-BR" sz="2400" b="1" dirty="0"/>
              <a:t>BS170</a:t>
            </a:r>
          </a:p>
          <a:p>
            <a:r>
              <a:rPr lang="en-US" sz="2000" dirty="0"/>
              <a:t>MOSFET N-Channel</a:t>
            </a:r>
          </a:p>
          <a:p>
            <a:r>
              <a:rPr lang="en-US" sz="2000" dirty="0"/>
              <a:t>Enhancement-mode</a:t>
            </a:r>
          </a:p>
          <a:p>
            <a:r>
              <a:rPr lang="pt-BR" sz="2000" dirty="0"/>
              <a:t>Empacotamento: TO-92</a:t>
            </a:r>
          </a:p>
          <a:p>
            <a:r>
              <a:rPr lang="pt-BR" sz="2000" dirty="0"/>
              <a:t>Material do Transistor: Si</a:t>
            </a:r>
          </a:p>
          <a:p>
            <a:endParaRPr lang="pt-BR" sz="2000" b="1" dirty="0"/>
          </a:p>
          <a:p>
            <a:endParaRPr lang="pt-BR" sz="2000" b="1" dirty="0"/>
          </a:p>
          <a:p>
            <a:endParaRPr lang="pt-BR" sz="2000" b="1" dirty="0"/>
          </a:p>
          <a:p>
            <a:endParaRPr lang="pt-BR" sz="2000" b="1" dirty="0"/>
          </a:p>
          <a:p>
            <a:endParaRPr lang="pt-BR" sz="2000" b="1" dirty="0"/>
          </a:p>
          <a:p>
            <a:endParaRPr lang="pt-BR" sz="2000" b="1" dirty="0"/>
          </a:p>
          <a:p>
            <a:endParaRPr lang="pt-BR" sz="2000" b="1" dirty="0"/>
          </a:p>
          <a:p>
            <a:r>
              <a:rPr lang="pt-BR" sz="2400" b="1" dirty="0"/>
              <a:t>BS250</a:t>
            </a:r>
          </a:p>
          <a:p>
            <a:r>
              <a:rPr lang="en-US" sz="2000" dirty="0"/>
              <a:t>MOSFET P-Channel</a:t>
            </a:r>
          </a:p>
          <a:p>
            <a:r>
              <a:rPr lang="en-US" sz="2000" dirty="0"/>
              <a:t>Enhancement-mode</a:t>
            </a:r>
          </a:p>
          <a:p>
            <a:r>
              <a:rPr lang="pt-BR" sz="2000" dirty="0"/>
              <a:t>Empacotamento: TO-92</a:t>
            </a:r>
          </a:p>
          <a:p>
            <a:r>
              <a:rPr lang="pt-BR" sz="2000" dirty="0"/>
              <a:t>Material do Transistor: Si</a:t>
            </a:r>
          </a:p>
          <a:p>
            <a:endParaRPr lang="pt-BR" sz="2000" dirty="0"/>
          </a:p>
          <a:p>
            <a:endParaRPr lang="pt-BR" sz="2000" dirty="0"/>
          </a:p>
          <a:p>
            <a:endParaRPr lang="pt-BR" sz="2000" dirty="0"/>
          </a:p>
          <a:p>
            <a:endParaRPr lang="pt-BR" sz="2000" dirty="0"/>
          </a:p>
        </p:txBody>
      </p:sp>
      <p:sp>
        <p:nvSpPr>
          <p:cNvPr id="9" name="Text Placeholder 8"/>
          <p:cNvSpPr>
            <a:spLocks noGrp="1"/>
          </p:cNvSpPr>
          <p:nvPr>
            <p:ph type="body" sz="quarter" idx="13"/>
          </p:nvPr>
        </p:nvSpPr>
        <p:spPr/>
        <p:txBody>
          <a:bodyPr/>
          <a:lstStyle/>
          <a:p>
            <a:endParaRPr lang="pt-BR"/>
          </a:p>
        </p:txBody>
      </p:sp>
      <p:sp>
        <p:nvSpPr>
          <p:cNvPr id="5" name="Espaço Reservado para Número de Slide 4"/>
          <p:cNvSpPr>
            <a:spLocks noGrp="1"/>
          </p:cNvSpPr>
          <p:nvPr>
            <p:ph type="sldNum" sz="quarter" idx="4"/>
          </p:nvPr>
        </p:nvSpPr>
        <p:spPr/>
        <p:txBody>
          <a:bodyPr/>
          <a:lstStyle/>
          <a:p>
            <a:fld id="{7FFE5E5C-C80A-4D8D-A711-3102A7BA9258}" type="slidenum">
              <a:rPr lang="pt-BR" smtClean="0"/>
              <a:pPr/>
              <a:t>30</a:t>
            </a:fld>
            <a:endParaRPr lang="pt-BR" dirty="0"/>
          </a:p>
        </p:txBody>
      </p:sp>
      <p:grpSp>
        <p:nvGrpSpPr>
          <p:cNvPr id="16" name="Group 15"/>
          <p:cNvGrpSpPr/>
          <p:nvPr/>
        </p:nvGrpSpPr>
        <p:grpSpPr>
          <a:xfrm>
            <a:off x="1741123" y="3657163"/>
            <a:ext cx="1473622" cy="1732525"/>
            <a:chOff x="1236370" y="3193961"/>
            <a:chExt cx="2540292" cy="2986600"/>
          </a:xfrm>
        </p:grpSpPr>
        <p:pic>
          <p:nvPicPr>
            <p:cNvPr id="12" name="Picture 11"/>
            <p:cNvPicPr>
              <a:picLocks noChangeAspect="1"/>
            </p:cNvPicPr>
            <p:nvPr/>
          </p:nvPicPr>
          <p:blipFill rotWithShape="1">
            <a:blip r:embed="rId3"/>
            <a:srcRect l="8104" t="18514" b="22484"/>
            <a:stretch/>
          </p:blipFill>
          <p:spPr>
            <a:xfrm>
              <a:off x="1236372" y="3193961"/>
              <a:ext cx="2540290" cy="2653047"/>
            </a:xfrm>
            <a:prstGeom prst="rect">
              <a:avLst/>
            </a:prstGeom>
          </p:spPr>
        </p:pic>
        <p:sp>
          <p:nvSpPr>
            <p:cNvPr id="13" name="Rectangle 12"/>
            <p:cNvSpPr/>
            <p:nvPr/>
          </p:nvSpPr>
          <p:spPr>
            <a:xfrm>
              <a:off x="1236370" y="5758279"/>
              <a:ext cx="2540291" cy="422282"/>
            </a:xfrm>
            <a:prstGeom prst="rect">
              <a:avLst/>
            </a:prstGeom>
          </p:spPr>
          <p:txBody>
            <a:bodyPr wrap="square">
              <a:spAutoFit/>
            </a:bodyPr>
            <a:lstStyle/>
            <a:p>
              <a:pPr algn="ctr"/>
              <a:r>
                <a:rPr lang="pt-BR" sz="1400" dirty="0"/>
                <a:t>Vista Superior</a:t>
              </a:r>
            </a:p>
          </p:txBody>
        </p:sp>
      </p:grpSp>
      <p:grpSp>
        <p:nvGrpSpPr>
          <p:cNvPr id="15" name="Group 14"/>
          <p:cNvGrpSpPr/>
          <p:nvPr/>
        </p:nvGrpSpPr>
        <p:grpSpPr>
          <a:xfrm>
            <a:off x="5861536" y="3604866"/>
            <a:ext cx="1506829" cy="1784823"/>
            <a:chOff x="5087154" y="3103808"/>
            <a:chExt cx="2597535" cy="3076753"/>
          </a:xfrm>
        </p:grpSpPr>
        <p:pic>
          <p:nvPicPr>
            <p:cNvPr id="11" name="Picture 10"/>
            <p:cNvPicPr>
              <a:picLocks noChangeAspect="1"/>
            </p:cNvPicPr>
            <p:nvPr/>
          </p:nvPicPr>
          <p:blipFill rotWithShape="1">
            <a:blip r:embed="rId4"/>
            <a:srcRect l="10612" t="17667" b="20466"/>
            <a:stretch/>
          </p:blipFill>
          <p:spPr>
            <a:xfrm>
              <a:off x="5087154" y="3103808"/>
              <a:ext cx="2597535" cy="2781837"/>
            </a:xfrm>
            <a:prstGeom prst="rect">
              <a:avLst/>
            </a:prstGeom>
          </p:spPr>
        </p:pic>
        <p:sp>
          <p:nvSpPr>
            <p:cNvPr id="14" name="Rectangle 13"/>
            <p:cNvSpPr/>
            <p:nvPr/>
          </p:nvSpPr>
          <p:spPr>
            <a:xfrm>
              <a:off x="5087155" y="5758279"/>
              <a:ext cx="2597534" cy="422282"/>
            </a:xfrm>
            <a:prstGeom prst="rect">
              <a:avLst/>
            </a:prstGeom>
          </p:spPr>
          <p:txBody>
            <a:bodyPr wrap="square">
              <a:spAutoFit/>
            </a:bodyPr>
            <a:lstStyle/>
            <a:p>
              <a:pPr algn="ctr"/>
              <a:r>
                <a:rPr lang="pt-BR" sz="1400"/>
                <a:t>Vista Superior</a:t>
              </a:r>
              <a:endParaRPr lang="pt-BR" sz="1400" dirty="0"/>
            </a:p>
          </p:txBody>
        </p:sp>
      </p:grpSp>
      <p:pic>
        <p:nvPicPr>
          <p:cNvPr id="17" name="Picture 16"/>
          <p:cNvPicPr>
            <a:picLocks noChangeAspect="1"/>
          </p:cNvPicPr>
          <p:nvPr/>
        </p:nvPicPr>
        <p:blipFill>
          <a:blip r:embed="rId5">
            <a:clrChange>
              <a:clrFrom>
                <a:srgbClr val="FCFEFC"/>
              </a:clrFrom>
              <a:clrTo>
                <a:srgbClr val="FCFEFC">
                  <a:alpha val="0"/>
                </a:srgbClr>
              </a:clrTo>
            </a:clrChange>
          </a:blip>
          <a:stretch>
            <a:fillRect/>
          </a:stretch>
        </p:blipFill>
        <p:spPr>
          <a:xfrm>
            <a:off x="388754" y="4010745"/>
            <a:ext cx="1219986" cy="1219986"/>
          </a:xfrm>
          <a:prstGeom prst="rect">
            <a:avLst/>
          </a:prstGeom>
        </p:spPr>
      </p:pic>
      <p:pic>
        <p:nvPicPr>
          <p:cNvPr id="18" name="Picture 17"/>
          <p:cNvPicPr>
            <a:picLocks noChangeAspect="1"/>
          </p:cNvPicPr>
          <p:nvPr/>
        </p:nvPicPr>
        <p:blipFill>
          <a:blip r:embed="rId5">
            <a:clrChange>
              <a:clrFrom>
                <a:srgbClr val="FCFEFC"/>
              </a:clrFrom>
              <a:clrTo>
                <a:srgbClr val="FCFEFC">
                  <a:alpha val="0"/>
                </a:srgbClr>
              </a:clrTo>
            </a:clrChange>
          </a:blip>
          <a:stretch>
            <a:fillRect/>
          </a:stretch>
        </p:blipFill>
        <p:spPr>
          <a:xfrm>
            <a:off x="4582182" y="3998622"/>
            <a:ext cx="1219986" cy="1219986"/>
          </a:xfrm>
          <a:prstGeom prst="rect">
            <a:avLst/>
          </a:prstGeom>
        </p:spPr>
      </p:pic>
    </p:spTree>
    <p:extLst>
      <p:ext uri="{BB962C8B-B14F-4D97-AF65-F5344CB8AC3E}">
        <p14:creationId xmlns:p14="http://schemas.microsoft.com/office/powerpoint/2010/main" val="29886490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Revisão de Resistências e </a:t>
            </a:r>
            <a:r>
              <a:rPr lang="pt-BR" dirty="0" err="1"/>
              <a:t>LEDs</a:t>
            </a:r>
            <a:endParaRPr lang="pt-BR" dirty="0"/>
          </a:p>
        </p:txBody>
      </p:sp>
      <p:sp>
        <p:nvSpPr>
          <p:cNvPr id="4" name="Espaço Reservado para Texto 3"/>
          <p:cNvSpPr>
            <a:spLocks noGrp="1"/>
          </p:cNvSpPr>
          <p:nvPr>
            <p:ph type="body" sz="quarter" idx="13"/>
          </p:nvPr>
        </p:nvSpPr>
        <p:spPr/>
        <p:txBody>
          <a:bodyPr/>
          <a:lstStyle/>
          <a:p>
            <a:endParaRPr lang="pt-BR"/>
          </a:p>
        </p:txBody>
      </p:sp>
      <p:sp>
        <p:nvSpPr>
          <p:cNvPr id="5" name="Espaço Reservado para Número de Slide 4"/>
          <p:cNvSpPr>
            <a:spLocks noGrp="1"/>
          </p:cNvSpPr>
          <p:nvPr>
            <p:ph type="sldNum" sz="quarter" idx="4"/>
          </p:nvPr>
        </p:nvSpPr>
        <p:spPr/>
        <p:txBody>
          <a:bodyPr/>
          <a:lstStyle/>
          <a:p>
            <a:fld id="{7FFE5E5C-C80A-4D8D-A711-3102A7BA9258}" type="slidenum">
              <a:rPr lang="pt-BR" smtClean="0"/>
              <a:pPr/>
              <a:t>31</a:t>
            </a:fld>
            <a:endParaRPr lang="pt-BR" dirty="0"/>
          </a:p>
        </p:txBody>
      </p:sp>
      <p:pic>
        <p:nvPicPr>
          <p:cNvPr id="6" name="Image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019" y="1558604"/>
            <a:ext cx="7993962" cy="4685140"/>
          </a:xfrm>
          <a:prstGeom prst="rect">
            <a:avLst/>
          </a:prstGeom>
        </p:spPr>
      </p:pic>
      <p:sp>
        <p:nvSpPr>
          <p:cNvPr id="7" name="TextBox 6">
            <a:extLst>
              <a:ext uri="{FF2B5EF4-FFF2-40B4-BE49-F238E27FC236}">
                <a16:creationId xmlns:a16="http://schemas.microsoft.com/office/drawing/2014/main" id="{DBD9D32A-32CA-66C6-373A-7B4B9A09FAEE}"/>
              </a:ext>
            </a:extLst>
          </p:cNvPr>
          <p:cNvSpPr txBox="1"/>
          <p:nvPr/>
        </p:nvSpPr>
        <p:spPr>
          <a:xfrm>
            <a:off x="1490662" y="6446236"/>
            <a:ext cx="4572000" cy="400110"/>
          </a:xfrm>
          <a:prstGeom prst="rect">
            <a:avLst/>
          </a:prstGeom>
          <a:noFill/>
        </p:spPr>
        <p:txBody>
          <a:bodyPr wrap="square">
            <a:spAutoFit/>
          </a:bodyPr>
          <a:lstStyle/>
          <a:p>
            <a:r>
              <a:rPr lang="en-US" sz="2000" dirty="0">
                <a:solidFill>
                  <a:srgbClr val="FF0000"/>
                </a:solidFill>
              </a:rPr>
              <a:t>Cuidado com o resistor do LED</a:t>
            </a:r>
          </a:p>
        </p:txBody>
      </p:sp>
    </p:spTree>
    <p:extLst>
      <p:ext uri="{BB962C8B-B14F-4D97-AF65-F5344CB8AC3E}">
        <p14:creationId xmlns:p14="http://schemas.microsoft.com/office/powerpoint/2010/main" val="40276306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Resistores </a:t>
            </a:r>
            <a:r>
              <a:rPr lang="en-US" dirty="0"/>
              <a:t>Pull-Up </a:t>
            </a:r>
            <a:r>
              <a:rPr lang="pt-BR" dirty="0"/>
              <a:t>e</a:t>
            </a:r>
            <a:r>
              <a:rPr lang="en-US" dirty="0"/>
              <a:t> Pull-Down</a:t>
            </a:r>
          </a:p>
        </p:txBody>
      </p:sp>
      <p:sp>
        <p:nvSpPr>
          <p:cNvPr id="3" name="Content Placeholder 2"/>
          <p:cNvSpPr>
            <a:spLocks noGrp="1"/>
          </p:cNvSpPr>
          <p:nvPr>
            <p:ph idx="1"/>
          </p:nvPr>
        </p:nvSpPr>
        <p:spPr>
          <a:xfrm>
            <a:off x="657225" y="1485900"/>
            <a:ext cx="5884252" cy="4724400"/>
          </a:xfrm>
        </p:spPr>
        <p:txBody>
          <a:bodyPr>
            <a:normAutofit/>
          </a:bodyPr>
          <a:lstStyle/>
          <a:p>
            <a:r>
              <a:rPr lang="pt-BR" sz="2000" dirty="0"/>
              <a:t>Se um pino não estiver conectado, dizemos que ele está em impedância alta (</a:t>
            </a:r>
            <a:r>
              <a:rPr lang="pt-BR" sz="2000" dirty="0" err="1"/>
              <a:t>hi-Z</a:t>
            </a:r>
            <a:r>
              <a:rPr lang="pt-BR" sz="2000" dirty="0"/>
              <a:t>), ou seja, nem em estado alto (1), nem em estado baixo (0).</a:t>
            </a:r>
          </a:p>
          <a:p>
            <a:endParaRPr lang="pt-BR" sz="2000" dirty="0"/>
          </a:p>
          <a:p>
            <a:r>
              <a:rPr lang="pt-BR" sz="2000" dirty="0"/>
              <a:t>Para botões usamos um resistor que permite "puxar" o botão para a tensão correta: </a:t>
            </a:r>
            <a:r>
              <a:rPr lang="pt-BR" sz="2000" dirty="0" err="1"/>
              <a:t>pull-up</a:t>
            </a:r>
            <a:r>
              <a:rPr lang="pt-BR" sz="2000" dirty="0"/>
              <a:t> (</a:t>
            </a:r>
            <a:r>
              <a:rPr lang="pt-BR" sz="2000" dirty="0" err="1"/>
              <a:t>Vcc</a:t>
            </a:r>
            <a:r>
              <a:rPr lang="pt-BR" sz="2000" dirty="0"/>
              <a:t>) ou </a:t>
            </a:r>
            <a:r>
              <a:rPr lang="pt-BR" sz="2000" dirty="0" err="1"/>
              <a:t>pull-down</a:t>
            </a:r>
            <a:r>
              <a:rPr lang="pt-BR" sz="2000" dirty="0"/>
              <a:t> (Terra). Tipicamente a tensão desse resistor varia de 4.7kΩ a 10kΩ.</a:t>
            </a:r>
            <a:br>
              <a:rPr lang="pt-BR" sz="2000" dirty="0"/>
            </a:br>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32</a:t>
            </a:fld>
            <a:endParaRPr lang="pt-BR" dirty="0"/>
          </a:p>
        </p:txBody>
      </p:sp>
      <p:pic>
        <p:nvPicPr>
          <p:cNvPr id="7" name="Picture 6"/>
          <p:cNvPicPr>
            <a:picLocks noChangeAspect="1"/>
          </p:cNvPicPr>
          <p:nvPr/>
        </p:nvPicPr>
        <p:blipFill rotWithShape="1">
          <a:blip r:embed="rId3"/>
          <a:srcRect r="50674"/>
          <a:stretch/>
        </p:blipFill>
        <p:spPr>
          <a:xfrm>
            <a:off x="7486920" y="1213953"/>
            <a:ext cx="613726" cy="2028092"/>
          </a:xfrm>
          <a:prstGeom prst="rect">
            <a:avLst/>
          </a:prstGeom>
        </p:spPr>
      </p:pic>
      <p:pic>
        <p:nvPicPr>
          <p:cNvPr id="9" name="Picture 8"/>
          <p:cNvPicPr>
            <a:picLocks noChangeAspect="1"/>
          </p:cNvPicPr>
          <p:nvPr/>
        </p:nvPicPr>
        <p:blipFill rotWithShape="1">
          <a:blip r:embed="rId4"/>
          <a:srcRect r="50674"/>
          <a:stretch/>
        </p:blipFill>
        <p:spPr>
          <a:xfrm>
            <a:off x="7486921" y="4009293"/>
            <a:ext cx="613725" cy="2028092"/>
          </a:xfrm>
          <a:prstGeom prst="rect">
            <a:avLst/>
          </a:prstGeom>
        </p:spPr>
      </p:pic>
      <p:sp>
        <p:nvSpPr>
          <p:cNvPr id="10" name="Rectangle 9"/>
          <p:cNvSpPr/>
          <p:nvPr/>
        </p:nvSpPr>
        <p:spPr>
          <a:xfrm>
            <a:off x="7252337" y="3238752"/>
            <a:ext cx="848309" cy="369332"/>
          </a:xfrm>
          <a:prstGeom prst="rect">
            <a:avLst/>
          </a:prstGeom>
        </p:spPr>
        <p:txBody>
          <a:bodyPr wrap="none">
            <a:spAutoFit/>
          </a:bodyPr>
          <a:lstStyle/>
          <a:p>
            <a:r>
              <a:rPr lang="pt-BR"/>
              <a:t>pull-up</a:t>
            </a:r>
            <a:endParaRPr lang="pt-BR" dirty="0"/>
          </a:p>
        </p:txBody>
      </p:sp>
      <p:sp>
        <p:nvSpPr>
          <p:cNvPr id="11" name="Rectangle 10"/>
          <p:cNvSpPr/>
          <p:nvPr/>
        </p:nvSpPr>
        <p:spPr>
          <a:xfrm>
            <a:off x="7252337" y="6014231"/>
            <a:ext cx="1134541" cy="369332"/>
          </a:xfrm>
          <a:prstGeom prst="rect">
            <a:avLst/>
          </a:prstGeom>
        </p:spPr>
        <p:txBody>
          <a:bodyPr wrap="none">
            <a:spAutoFit/>
          </a:bodyPr>
          <a:lstStyle/>
          <a:p>
            <a:r>
              <a:rPr lang="pt-BR" dirty="0" err="1"/>
              <a:t>pull-down</a:t>
            </a:r>
            <a:endParaRPr lang="pt-BR" dirty="0"/>
          </a:p>
        </p:txBody>
      </p:sp>
    </p:spTree>
    <p:extLst>
      <p:ext uri="{BB962C8B-B14F-4D97-AF65-F5344CB8AC3E}">
        <p14:creationId xmlns:p14="http://schemas.microsoft.com/office/powerpoint/2010/main" val="313851539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25659" y="2181860"/>
            <a:ext cx="2289175" cy="1489075"/>
          </a:xfrm>
          <a:prstGeom prst="rect">
            <a:avLst/>
          </a:prstGeom>
        </p:spPr>
        <p:txBody>
          <a:bodyPr vert="horz" wrap="square" lIns="0" tIns="12700" rIns="0" bIns="0" rtlCol="0">
            <a:spAutoFit/>
          </a:bodyPr>
          <a:lstStyle/>
          <a:p>
            <a:pPr algn="ctr">
              <a:lnSpc>
                <a:spcPct val="100000"/>
              </a:lnSpc>
              <a:spcBef>
                <a:spcPts val="100"/>
              </a:spcBef>
            </a:pPr>
            <a:r>
              <a:rPr sz="3200" spc="-10" dirty="0">
                <a:solidFill>
                  <a:srgbClr val="BF0000"/>
                </a:solidFill>
                <a:latin typeface="Arial MT"/>
                <a:cs typeface="Arial MT"/>
              </a:rPr>
              <a:t>Trabalhando</a:t>
            </a:r>
            <a:endParaRPr sz="3200">
              <a:latin typeface="Arial MT"/>
              <a:cs typeface="Arial MT"/>
            </a:endParaRPr>
          </a:p>
          <a:p>
            <a:pPr>
              <a:lnSpc>
                <a:spcPct val="100000"/>
              </a:lnSpc>
              <a:spcBef>
                <a:spcPts val="160"/>
              </a:spcBef>
            </a:pPr>
            <a:endParaRPr sz="3200">
              <a:latin typeface="Arial MT"/>
              <a:cs typeface="Arial MT"/>
            </a:endParaRPr>
          </a:p>
          <a:p>
            <a:pPr algn="ctr">
              <a:lnSpc>
                <a:spcPct val="100000"/>
              </a:lnSpc>
            </a:pPr>
            <a:r>
              <a:rPr sz="3200" dirty="0">
                <a:solidFill>
                  <a:srgbClr val="BF0000"/>
                </a:solidFill>
                <a:latin typeface="Arial MT"/>
                <a:cs typeface="Arial MT"/>
              </a:rPr>
              <a:t>LAB</a:t>
            </a:r>
            <a:r>
              <a:rPr sz="3200" spc="-60" dirty="0">
                <a:solidFill>
                  <a:srgbClr val="BF0000"/>
                </a:solidFill>
                <a:latin typeface="Arial MT"/>
                <a:cs typeface="Arial MT"/>
              </a:rPr>
              <a:t> </a:t>
            </a:r>
            <a:r>
              <a:rPr sz="3200" spc="-50" dirty="0">
                <a:solidFill>
                  <a:srgbClr val="BF0000"/>
                </a:solidFill>
                <a:latin typeface="Arial MT"/>
                <a:cs typeface="Arial MT"/>
              </a:rPr>
              <a:t>3</a:t>
            </a:r>
            <a:endParaRPr sz="3200">
              <a:latin typeface="Arial MT"/>
              <a:cs typeface="Arial MT"/>
            </a:endParaRPr>
          </a:p>
        </p:txBody>
      </p:sp>
    </p:spTree>
  </p:cSld>
  <p:clrMapOvr>
    <a:masterClrMapping/>
  </p:clrMapOvr>
  <p:transition>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80466" rIns="0" bIns="0" rtlCol="0">
            <a:spAutoFit/>
          </a:bodyPr>
          <a:lstStyle/>
          <a:p>
            <a:pPr marL="2613660">
              <a:lnSpc>
                <a:spcPct val="100000"/>
              </a:lnSpc>
              <a:spcBef>
                <a:spcPts val="100"/>
              </a:spcBef>
            </a:pPr>
            <a:r>
              <a:rPr dirty="0"/>
              <a:t>Lab</a:t>
            </a:r>
            <a:r>
              <a:rPr spc="-25" dirty="0"/>
              <a:t> </a:t>
            </a:r>
            <a:r>
              <a:rPr dirty="0"/>
              <a:t>3</a:t>
            </a:r>
            <a:r>
              <a:rPr spc="-15" dirty="0"/>
              <a:t> </a:t>
            </a:r>
            <a:r>
              <a:rPr dirty="0"/>
              <a:t>-</a:t>
            </a:r>
            <a:r>
              <a:rPr spc="-20" dirty="0"/>
              <a:t> </a:t>
            </a:r>
            <a:r>
              <a:rPr dirty="0"/>
              <a:t>Parte</a:t>
            </a:r>
            <a:r>
              <a:rPr spc="-20" dirty="0"/>
              <a:t> </a:t>
            </a:r>
            <a:r>
              <a:rPr spc="-50" dirty="0"/>
              <a:t>1</a:t>
            </a:r>
          </a:p>
        </p:txBody>
      </p:sp>
      <p:sp>
        <p:nvSpPr>
          <p:cNvPr id="9" name="Text Placeholder 8">
            <a:extLst>
              <a:ext uri="{FF2B5EF4-FFF2-40B4-BE49-F238E27FC236}">
                <a16:creationId xmlns:a16="http://schemas.microsoft.com/office/drawing/2014/main" id="{CF1E346A-F9B8-561D-4164-C7857CE53F0F}"/>
              </a:ext>
            </a:extLst>
          </p:cNvPr>
          <p:cNvSpPr>
            <a:spLocks noGrp="1"/>
          </p:cNvSpPr>
          <p:nvPr>
            <p:ph type="body" sz="quarter" idx="13"/>
          </p:nvPr>
        </p:nvSpPr>
        <p:spPr/>
        <p:txBody>
          <a:bodyPr/>
          <a:lstStyle/>
          <a:p>
            <a:endParaRPr lang="en-US"/>
          </a:p>
        </p:txBody>
      </p:sp>
      <p:pic>
        <p:nvPicPr>
          <p:cNvPr id="3" name="object 3"/>
          <p:cNvPicPr/>
          <p:nvPr/>
        </p:nvPicPr>
        <p:blipFill>
          <a:blip r:embed="rId2" cstate="print"/>
          <a:stretch>
            <a:fillRect/>
          </a:stretch>
        </p:blipFill>
        <p:spPr>
          <a:xfrm>
            <a:off x="456844" y="1650961"/>
            <a:ext cx="4014355" cy="3882237"/>
          </a:xfrm>
          <a:prstGeom prst="rect">
            <a:avLst/>
          </a:prstGeom>
        </p:spPr>
      </p:pic>
      <p:sp>
        <p:nvSpPr>
          <p:cNvPr id="5" name="object 5"/>
          <p:cNvSpPr txBox="1"/>
          <p:nvPr/>
        </p:nvSpPr>
        <p:spPr>
          <a:xfrm>
            <a:off x="5106061" y="1707658"/>
            <a:ext cx="3754604" cy="1987275"/>
          </a:xfrm>
          <a:prstGeom prst="rect">
            <a:avLst/>
          </a:prstGeom>
        </p:spPr>
        <p:txBody>
          <a:bodyPr vert="horz" wrap="square" lIns="0" tIns="12700" rIns="0" bIns="0" rtlCol="0">
            <a:spAutoFit/>
          </a:bodyPr>
          <a:lstStyle/>
          <a:p>
            <a:pPr marL="469900" marR="5080" indent="-457200">
              <a:lnSpc>
                <a:spcPct val="136900"/>
              </a:lnSpc>
              <a:spcBef>
                <a:spcPts val="100"/>
              </a:spcBef>
              <a:buFont typeface="Arial" panose="020B0604020202020204" pitchFamily="34" charset="0"/>
              <a:buChar char="•"/>
            </a:pPr>
            <a:r>
              <a:rPr lang="pt-BR" sz="3200" spc="-35" noProof="0">
                <a:latin typeface="Arial MT"/>
                <a:cs typeface="Arial MT"/>
              </a:rPr>
              <a:t>Tabela</a:t>
            </a:r>
            <a:r>
              <a:rPr lang="pt-BR" sz="3200" spc="-180" noProof="0">
                <a:latin typeface="Arial MT"/>
                <a:cs typeface="Arial MT"/>
              </a:rPr>
              <a:t> </a:t>
            </a:r>
            <a:r>
              <a:rPr lang="pt-BR" sz="3200" spc="-30" noProof="0">
                <a:latin typeface="Arial MT"/>
                <a:cs typeface="Arial MT"/>
              </a:rPr>
              <a:t>Verdade</a:t>
            </a:r>
          </a:p>
          <a:p>
            <a:pPr marL="469900" marR="5080" indent="-457200">
              <a:lnSpc>
                <a:spcPct val="136900"/>
              </a:lnSpc>
              <a:spcBef>
                <a:spcPts val="100"/>
              </a:spcBef>
              <a:buFont typeface="Arial" panose="020B0604020202020204" pitchFamily="34" charset="0"/>
              <a:buChar char="•"/>
            </a:pPr>
            <a:r>
              <a:rPr lang="pt-BR" sz="3200" spc="-10" noProof="0" dirty="0">
                <a:latin typeface="Arial MT"/>
                <a:cs typeface="Arial MT"/>
              </a:rPr>
              <a:t>Equação</a:t>
            </a:r>
          </a:p>
          <a:p>
            <a:pPr marL="469900" marR="5080" indent="-457200">
              <a:lnSpc>
                <a:spcPct val="136900"/>
              </a:lnSpc>
              <a:spcBef>
                <a:spcPts val="100"/>
              </a:spcBef>
              <a:buFont typeface="Arial" panose="020B0604020202020204" pitchFamily="34" charset="0"/>
              <a:buChar char="•"/>
            </a:pPr>
            <a:r>
              <a:rPr lang="pt-BR" sz="3200" spc="-10" noProof="0" dirty="0">
                <a:latin typeface="Arial MT"/>
                <a:cs typeface="Arial MT"/>
              </a:rPr>
              <a:t>Diagrama</a:t>
            </a:r>
            <a:endParaRPr lang="pt-BR" sz="3200" noProof="0" dirty="0">
              <a:latin typeface="Arial MT"/>
              <a:cs typeface="Arial MT"/>
            </a:endParaRPr>
          </a:p>
        </p:txBody>
      </p:sp>
      <p:pic>
        <p:nvPicPr>
          <p:cNvPr id="10" name="Picture 9">
            <a:extLst>
              <a:ext uri="{FF2B5EF4-FFF2-40B4-BE49-F238E27FC236}">
                <a16:creationId xmlns:a16="http://schemas.microsoft.com/office/drawing/2014/main" id="{4D5E3FE9-B99D-7F10-0A6C-F3F5088FF400}"/>
              </a:ext>
            </a:extLst>
          </p:cNvPr>
          <p:cNvPicPr/>
          <p:nvPr/>
        </p:nvPicPr>
        <p:blipFill>
          <a:blip r:embed="rId3"/>
          <a:stretch/>
        </p:blipFill>
        <p:spPr bwMode="auto">
          <a:xfrm>
            <a:off x="5106061" y="3904754"/>
            <a:ext cx="3219718" cy="2867521"/>
          </a:xfrm>
          <a:prstGeom prst="rect">
            <a:avLst/>
          </a:prstGeom>
          <a:ln>
            <a:noFill/>
          </a:ln>
        </p:spPr>
      </p:pic>
    </p:spTree>
  </p:cSld>
  <p:clrMapOvr>
    <a:masterClrMapping/>
  </p:clrMapOvr>
  <p:transition>
    <p:dissolve/>
  </p:transition>
</p:sld>
</file>

<file path=ppt/slides/slide3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575" name="CustomShape 1"/>
          <p:cNvSpPr/>
          <p:nvPr/>
        </p:nvSpPr>
        <p:spPr bwMode="auto">
          <a:xfrm>
            <a:off x="457200" y="273600"/>
            <a:ext cx="8227080" cy="1142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defRPr/>
            </a:pPr>
            <a:r>
              <a:rPr lang="pt-BR" sz="3600" b="0" strike="noStrike" spc="-1">
                <a:solidFill>
                  <a:srgbClr val="C00000"/>
                </a:solidFill>
                <a:latin typeface="Arial"/>
                <a:ea typeface="Arial"/>
              </a:rPr>
              <a:t>Q = (A.B) + C</a:t>
            </a:r>
            <a:endParaRPr lang="pt-BR" sz="3600" b="0" strike="noStrike" spc="-1">
              <a:latin typeface="Arial"/>
            </a:endParaRPr>
          </a:p>
        </p:txBody>
      </p:sp>
      <p:pic>
        <p:nvPicPr>
          <p:cNvPr id="576" name="Picture 575"/>
          <p:cNvPicPr/>
          <p:nvPr/>
        </p:nvPicPr>
        <p:blipFill>
          <a:blip r:embed="rId2"/>
          <a:stretch/>
        </p:blipFill>
        <p:spPr bwMode="auto">
          <a:xfrm>
            <a:off x="456840" y="1804680"/>
            <a:ext cx="4015080" cy="3575880"/>
          </a:xfrm>
          <a:prstGeom prst="rect">
            <a:avLst/>
          </a:prstGeom>
          <a:ln>
            <a:noFill/>
          </a:ln>
        </p:spPr>
      </p:pic>
      <p:graphicFrame>
        <p:nvGraphicFramePr>
          <p:cNvPr id="577" name="Table 2"/>
          <p:cNvGraphicFramePr>
            <a:graphicFrameLocks/>
          </p:cNvGraphicFramePr>
          <p:nvPr/>
        </p:nvGraphicFramePr>
        <p:xfrm>
          <a:off x="4840920" y="2424600"/>
          <a:ext cx="4015800" cy="3294000"/>
        </p:xfrm>
        <a:graphic>
          <a:graphicData uri="http://schemas.openxmlformats.org/drawingml/2006/table">
            <a:tbl>
              <a:tblPr/>
              <a:tblGrid>
                <a:gridCol w="1003680">
                  <a:extLst>
                    <a:ext uri="{9D8B030D-6E8A-4147-A177-3AD203B41FA5}">
                      <a16:colId xmlns:a16="http://schemas.microsoft.com/office/drawing/2014/main" val="20000"/>
                    </a:ext>
                  </a:extLst>
                </a:gridCol>
                <a:gridCol w="1003680">
                  <a:extLst>
                    <a:ext uri="{9D8B030D-6E8A-4147-A177-3AD203B41FA5}">
                      <a16:colId xmlns:a16="http://schemas.microsoft.com/office/drawing/2014/main" val="20001"/>
                    </a:ext>
                  </a:extLst>
                </a:gridCol>
                <a:gridCol w="1003680">
                  <a:extLst>
                    <a:ext uri="{9D8B030D-6E8A-4147-A177-3AD203B41FA5}">
                      <a16:colId xmlns:a16="http://schemas.microsoft.com/office/drawing/2014/main" val="20002"/>
                    </a:ext>
                  </a:extLst>
                </a:gridCol>
                <a:gridCol w="1004760">
                  <a:extLst>
                    <a:ext uri="{9D8B030D-6E8A-4147-A177-3AD203B41FA5}">
                      <a16:colId xmlns:a16="http://schemas.microsoft.com/office/drawing/2014/main" val="20003"/>
                    </a:ext>
                  </a:extLst>
                </a:gridCol>
              </a:tblGrid>
              <a:tr h="349920">
                <a:tc>
                  <a:txBody>
                    <a:bodyPr/>
                    <a:lstStyle/>
                    <a:p>
                      <a:pPr algn="ctr">
                        <a:lnSpc>
                          <a:spcPct val="100000"/>
                        </a:lnSpc>
                        <a:defRPr/>
                      </a:pPr>
                      <a:r>
                        <a:rPr lang="pt-BR" sz="1800" b="0" strike="noStrike" spc="-1">
                          <a:latin typeface="Arial"/>
                        </a:rPr>
                        <a:t>A</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9999CC"/>
                    </a:solidFill>
                  </a:tcPr>
                </a:tc>
                <a:tc>
                  <a:txBody>
                    <a:bodyPr/>
                    <a:lstStyle/>
                    <a:p>
                      <a:pPr algn="ctr">
                        <a:lnSpc>
                          <a:spcPct val="100000"/>
                        </a:lnSpc>
                        <a:defRPr/>
                      </a:pPr>
                      <a:r>
                        <a:rPr lang="pt-BR" sz="1800" b="0" strike="noStrike" spc="-1">
                          <a:latin typeface="Arial"/>
                        </a:rPr>
                        <a:t>B</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9999CC"/>
                    </a:solidFill>
                  </a:tcPr>
                </a:tc>
                <a:tc>
                  <a:txBody>
                    <a:bodyPr/>
                    <a:lstStyle/>
                    <a:p>
                      <a:pPr algn="ctr">
                        <a:lnSpc>
                          <a:spcPct val="100000"/>
                        </a:lnSpc>
                        <a:defRPr/>
                      </a:pPr>
                      <a:r>
                        <a:rPr lang="pt-BR" sz="1800" b="0" strike="noStrike" spc="-1">
                          <a:latin typeface="Arial"/>
                        </a:rPr>
                        <a:t>C</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9999CC"/>
                    </a:solidFill>
                  </a:tcPr>
                </a:tc>
                <a:tc>
                  <a:txBody>
                    <a:bodyPr/>
                    <a:lstStyle/>
                    <a:p>
                      <a:pPr algn="ctr">
                        <a:lnSpc>
                          <a:spcPct val="100000"/>
                        </a:lnSpc>
                        <a:defRPr/>
                      </a:pPr>
                      <a:r>
                        <a:rPr lang="pt-BR" sz="1800" b="0" strike="noStrike" spc="-1">
                          <a:latin typeface="Arial"/>
                        </a:rPr>
                        <a:t>Q</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9999CC"/>
                    </a:solidFill>
                  </a:tcPr>
                </a:tc>
                <a:extLst>
                  <a:ext uri="{0D108BD9-81ED-4DB2-BD59-A6C34878D82A}">
                    <a16:rowId xmlns:a16="http://schemas.microsoft.com/office/drawing/2014/main" val="10000"/>
                  </a:ext>
                </a:extLst>
              </a:tr>
              <a:tr h="349920">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extLst>
                  <a:ext uri="{0D108BD9-81ED-4DB2-BD59-A6C34878D82A}">
                    <a16:rowId xmlns:a16="http://schemas.microsoft.com/office/drawing/2014/main" val="10001"/>
                  </a:ext>
                </a:extLst>
              </a:tr>
              <a:tr h="366120">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extLst>
                  <a:ext uri="{0D108BD9-81ED-4DB2-BD59-A6C34878D82A}">
                    <a16:rowId xmlns:a16="http://schemas.microsoft.com/office/drawing/2014/main" val="10002"/>
                  </a:ext>
                </a:extLst>
              </a:tr>
              <a:tr h="366120">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extLst>
                  <a:ext uri="{0D108BD9-81ED-4DB2-BD59-A6C34878D82A}">
                    <a16:rowId xmlns:a16="http://schemas.microsoft.com/office/drawing/2014/main" val="10003"/>
                  </a:ext>
                </a:extLst>
              </a:tr>
              <a:tr h="366120">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extLst>
                  <a:ext uri="{0D108BD9-81ED-4DB2-BD59-A6C34878D82A}">
                    <a16:rowId xmlns:a16="http://schemas.microsoft.com/office/drawing/2014/main" val="10004"/>
                  </a:ext>
                </a:extLst>
              </a:tr>
              <a:tr h="366120">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extLst>
                  <a:ext uri="{0D108BD9-81ED-4DB2-BD59-A6C34878D82A}">
                    <a16:rowId xmlns:a16="http://schemas.microsoft.com/office/drawing/2014/main" val="10005"/>
                  </a:ext>
                </a:extLst>
              </a:tr>
              <a:tr h="366120">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extLst>
                  <a:ext uri="{0D108BD9-81ED-4DB2-BD59-A6C34878D82A}">
                    <a16:rowId xmlns:a16="http://schemas.microsoft.com/office/drawing/2014/main" val="10006"/>
                  </a:ext>
                </a:extLst>
              </a:tr>
              <a:tr h="366120">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0</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E6E6FF"/>
                    </a:solidFill>
                  </a:tcPr>
                </a:tc>
                <a:extLst>
                  <a:ext uri="{0D108BD9-81ED-4DB2-BD59-A6C34878D82A}">
                    <a16:rowId xmlns:a16="http://schemas.microsoft.com/office/drawing/2014/main" val="10007"/>
                  </a:ext>
                </a:extLst>
              </a:tr>
              <a:tr h="365400">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tc>
                  <a:txBody>
                    <a:bodyPr/>
                    <a:lstStyle/>
                    <a:p>
                      <a:pPr algn="ctr">
                        <a:lnSpc>
                          <a:spcPct val="100000"/>
                        </a:lnSpc>
                        <a:defRPr/>
                      </a:pPr>
                      <a:r>
                        <a:rPr lang="pt-BR" sz="1800" b="0" strike="noStrike" spc="-1">
                          <a:latin typeface="Arial"/>
                        </a:rPr>
                        <a:t>1</a:t>
                      </a:r>
                    </a:p>
                  </a:txBody>
                  <a:tcPr marL="90000" marR="90000">
                    <a:lnL w="720" algn="ctr">
                      <a:solidFill>
                        <a:srgbClr val="FFFFFF"/>
                      </a:solidFill>
                    </a:lnL>
                    <a:lnR w="720" algn="ctr">
                      <a:solidFill>
                        <a:srgbClr val="FFFFFF"/>
                      </a:solidFill>
                    </a:lnR>
                    <a:lnT w="720" algn="ctr">
                      <a:solidFill>
                        <a:srgbClr val="FFFFFF"/>
                      </a:solidFill>
                    </a:lnT>
                    <a:lnB w="720" algn="ctr">
                      <a:solidFill>
                        <a:srgbClr val="FFFFFF"/>
                      </a:solidFill>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fade/>
      </p:transition>
    </mc:Choice>
    <mc:Fallback xmlns:w="http://schemas.openxmlformats.org/wordprocessingml/2006/main" xmlns:m="http://schemas.openxmlformats.org/officeDocument/2006/math" xmlns="">
      <p:transition spd="med" advClick="1">
        <p:fade thruBlk="0"/>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37870" y="1863712"/>
            <a:ext cx="8224202" cy="4089959"/>
            <a:chOff x="734402" y="1863724"/>
            <a:chExt cx="8224202" cy="4089959"/>
          </a:xfrm>
        </p:grpSpPr>
        <p:pic>
          <p:nvPicPr>
            <p:cNvPr id="3" name="object 3"/>
            <p:cNvPicPr/>
            <p:nvPr/>
          </p:nvPicPr>
          <p:blipFill>
            <a:blip r:embed="rId2" cstate="print"/>
            <a:stretch>
              <a:fillRect/>
            </a:stretch>
          </p:blipFill>
          <p:spPr>
            <a:xfrm>
              <a:off x="1543684" y="2970720"/>
              <a:ext cx="7414920" cy="2982963"/>
            </a:xfrm>
            <a:prstGeom prst="rect">
              <a:avLst/>
            </a:prstGeom>
          </p:spPr>
        </p:pic>
        <p:pic>
          <p:nvPicPr>
            <p:cNvPr id="4" name="object 4"/>
            <p:cNvPicPr/>
            <p:nvPr/>
          </p:nvPicPr>
          <p:blipFill>
            <a:blip r:embed="rId3" cstate="print"/>
            <a:stretch>
              <a:fillRect/>
            </a:stretch>
          </p:blipFill>
          <p:spPr>
            <a:xfrm>
              <a:off x="734402" y="1863724"/>
              <a:ext cx="2217242" cy="1823758"/>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180466" rIns="0" bIns="0" rtlCol="0">
            <a:spAutoFit/>
          </a:bodyPr>
          <a:lstStyle/>
          <a:p>
            <a:pPr marL="2004695">
              <a:lnSpc>
                <a:spcPct val="100000"/>
              </a:lnSpc>
              <a:spcBef>
                <a:spcPts val="100"/>
              </a:spcBef>
            </a:pPr>
            <a:r>
              <a:rPr dirty="0"/>
              <a:t>Lab</a:t>
            </a:r>
            <a:r>
              <a:rPr spc="-20" dirty="0"/>
              <a:t> </a:t>
            </a:r>
            <a:r>
              <a:rPr dirty="0"/>
              <a:t>3</a:t>
            </a:r>
            <a:r>
              <a:rPr spc="-15" dirty="0"/>
              <a:t> </a:t>
            </a:r>
            <a:r>
              <a:rPr dirty="0"/>
              <a:t>-</a:t>
            </a:r>
            <a:r>
              <a:rPr spc="-20" dirty="0"/>
              <a:t> </a:t>
            </a:r>
            <a:r>
              <a:rPr dirty="0"/>
              <a:t>Parte</a:t>
            </a:r>
            <a:r>
              <a:rPr spc="-20" dirty="0"/>
              <a:t> </a:t>
            </a:r>
            <a:r>
              <a:rPr dirty="0"/>
              <a:t>2</a:t>
            </a:r>
            <a:r>
              <a:rPr spc="-15" dirty="0"/>
              <a:t> </a:t>
            </a:r>
            <a:r>
              <a:rPr dirty="0"/>
              <a:t>-</a:t>
            </a:r>
            <a:r>
              <a:rPr spc="-20" dirty="0"/>
              <a:t> </a:t>
            </a:r>
            <a:r>
              <a:rPr spc="-25" dirty="0"/>
              <a:t>BJT</a:t>
            </a:r>
          </a:p>
        </p:txBody>
      </p:sp>
      <p:sp>
        <p:nvSpPr>
          <p:cNvPr id="7" name="Text Placeholder 6">
            <a:extLst>
              <a:ext uri="{FF2B5EF4-FFF2-40B4-BE49-F238E27FC236}">
                <a16:creationId xmlns:a16="http://schemas.microsoft.com/office/drawing/2014/main" id="{194332DD-AE1C-898A-7B95-2670A0030F4F}"/>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70446" y="12"/>
            <a:ext cx="8769985" cy="6782434"/>
            <a:chOff x="370446" y="12"/>
            <a:chExt cx="8769985" cy="6782434"/>
          </a:xfrm>
        </p:grpSpPr>
        <p:pic>
          <p:nvPicPr>
            <p:cNvPr id="3" name="object 3"/>
            <p:cNvPicPr/>
            <p:nvPr/>
          </p:nvPicPr>
          <p:blipFill>
            <a:blip r:embed="rId2" cstate="print"/>
            <a:stretch>
              <a:fillRect/>
            </a:stretch>
          </p:blipFill>
          <p:spPr>
            <a:xfrm>
              <a:off x="878395" y="2761208"/>
              <a:ext cx="8181365" cy="3434397"/>
            </a:xfrm>
            <a:prstGeom prst="rect">
              <a:avLst/>
            </a:prstGeom>
          </p:spPr>
        </p:pic>
        <p:pic>
          <p:nvPicPr>
            <p:cNvPr id="4" name="object 4"/>
            <p:cNvPicPr/>
            <p:nvPr/>
          </p:nvPicPr>
          <p:blipFill>
            <a:blip r:embed="rId3" cstate="print"/>
            <a:stretch>
              <a:fillRect/>
            </a:stretch>
          </p:blipFill>
          <p:spPr>
            <a:xfrm>
              <a:off x="370446" y="1511642"/>
              <a:ext cx="4199394" cy="1322997"/>
            </a:xfrm>
            <a:prstGeom prst="rect">
              <a:avLst/>
            </a:prstGeom>
          </p:spPr>
        </p:pic>
      </p:grpSp>
      <p:sp>
        <p:nvSpPr>
          <p:cNvPr id="5" name="object 5" descr="$PPTXTitle"/>
          <p:cNvSpPr txBox="1">
            <a:spLocks noGrp="1"/>
          </p:cNvSpPr>
          <p:nvPr>
            <p:ph type="title"/>
          </p:nvPr>
        </p:nvSpPr>
        <p:spPr>
          <a:prstGeom prst="rect">
            <a:avLst/>
          </a:prstGeom>
        </p:spPr>
        <p:txBody>
          <a:bodyPr vert="horz" wrap="square" lIns="0" tIns="180466" rIns="0" bIns="0" rtlCol="0">
            <a:spAutoFit/>
          </a:bodyPr>
          <a:lstStyle/>
          <a:p>
            <a:pPr marL="2181860">
              <a:lnSpc>
                <a:spcPct val="100000"/>
              </a:lnSpc>
              <a:spcBef>
                <a:spcPts val="100"/>
              </a:spcBef>
            </a:pPr>
            <a:r>
              <a:rPr dirty="0"/>
              <a:t>Lab</a:t>
            </a:r>
            <a:r>
              <a:rPr spc="-20" dirty="0"/>
              <a:t> </a:t>
            </a:r>
            <a:r>
              <a:rPr dirty="0"/>
              <a:t>3</a:t>
            </a:r>
            <a:r>
              <a:rPr spc="-15" dirty="0"/>
              <a:t> </a:t>
            </a:r>
            <a:r>
              <a:rPr dirty="0"/>
              <a:t>-</a:t>
            </a:r>
            <a:r>
              <a:rPr spc="-20" dirty="0"/>
              <a:t> </a:t>
            </a:r>
            <a:r>
              <a:rPr dirty="0"/>
              <a:t>Parte</a:t>
            </a:r>
            <a:r>
              <a:rPr spc="-20" dirty="0"/>
              <a:t> </a:t>
            </a:r>
            <a:r>
              <a:rPr dirty="0"/>
              <a:t>3</a:t>
            </a:r>
            <a:r>
              <a:rPr spc="-15" dirty="0"/>
              <a:t> </a:t>
            </a:r>
            <a:r>
              <a:rPr dirty="0"/>
              <a:t>-</a:t>
            </a:r>
            <a:r>
              <a:rPr spc="-20" dirty="0"/>
              <a:t> </a:t>
            </a:r>
            <a:r>
              <a:rPr spc="-25" dirty="0"/>
              <a:t>CI</a:t>
            </a:r>
          </a:p>
        </p:txBody>
      </p:sp>
      <p:sp>
        <p:nvSpPr>
          <p:cNvPr id="7" name="Text Placeholder 6">
            <a:extLst>
              <a:ext uri="{FF2B5EF4-FFF2-40B4-BE49-F238E27FC236}">
                <a16:creationId xmlns:a16="http://schemas.microsoft.com/office/drawing/2014/main" id="{F333D087-026F-5D45-5129-DF326CECB616}"/>
              </a:ext>
            </a:extLst>
          </p:cNvPr>
          <p:cNvSpPr>
            <a:spLocks noGrp="1"/>
          </p:cNvSpPr>
          <p:nvPr>
            <p:ph type="body" sz="quarter" idx="13"/>
          </p:nvPr>
        </p:nvSpPr>
        <p:spPr/>
        <p:txBody>
          <a:bodyPr/>
          <a:lstStyle/>
          <a:p>
            <a:endParaRPr lang="en-US"/>
          </a:p>
        </p:txBody>
      </p:sp>
    </p:spTree>
  </p:cSld>
  <p:clrMapOvr>
    <a:masterClrMapping/>
  </p:clrMapOvr>
  <p:transition>
    <p:dissolv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Animação de um transistor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38</a:t>
            </a:fld>
            <a:endParaRPr lang="pt-BR" dirty="0"/>
          </a:p>
        </p:txBody>
      </p:sp>
      <p:sp>
        <p:nvSpPr>
          <p:cNvPr id="3" name="Rectangle 2"/>
          <p:cNvSpPr/>
          <p:nvPr/>
        </p:nvSpPr>
        <p:spPr>
          <a:xfrm>
            <a:off x="495034" y="5862158"/>
            <a:ext cx="3613326" cy="307777"/>
          </a:xfrm>
          <a:prstGeom prst="rect">
            <a:avLst/>
          </a:prstGeom>
        </p:spPr>
        <p:txBody>
          <a:bodyPr wrap="square">
            <a:spAutoFit/>
          </a:bodyPr>
          <a:lstStyle/>
          <a:p>
            <a:pPr algn="ctr"/>
            <a:r>
              <a:rPr lang="pt-BR" sz="1400" dirty="0">
                <a:hlinkClick r:id="rId2"/>
              </a:rPr>
              <a:t>www.falstad.com/circuit/e-cmosinverter.html</a:t>
            </a:r>
            <a:r>
              <a:rPr lang="pt-BR" sz="1400" dirty="0"/>
              <a:t> </a:t>
            </a:r>
          </a:p>
        </p:txBody>
      </p:sp>
      <p:pic>
        <p:nvPicPr>
          <p:cNvPr id="8" name="Picture 7"/>
          <p:cNvPicPr>
            <a:picLocks noChangeAspect="1"/>
          </p:cNvPicPr>
          <p:nvPr/>
        </p:nvPicPr>
        <p:blipFill rotWithShape="1">
          <a:blip r:embed="rId3"/>
          <a:srcRect l="4433" t="6024" r="4433" b="6024"/>
          <a:stretch/>
        </p:blipFill>
        <p:spPr>
          <a:xfrm>
            <a:off x="495034" y="1622737"/>
            <a:ext cx="3613326" cy="4244066"/>
          </a:xfrm>
          <a:prstGeom prst="rect">
            <a:avLst/>
          </a:prstGeom>
        </p:spPr>
      </p:pic>
      <p:pic>
        <p:nvPicPr>
          <p:cNvPr id="9" name="Picture 8"/>
          <p:cNvPicPr>
            <a:picLocks noChangeAspect="1"/>
          </p:cNvPicPr>
          <p:nvPr/>
        </p:nvPicPr>
        <p:blipFill>
          <a:blip r:embed="rId4"/>
          <a:stretch>
            <a:fillRect/>
          </a:stretch>
        </p:blipFill>
        <p:spPr>
          <a:xfrm>
            <a:off x="4378814" y="1607657"/>
            <a:ext cx="4394200" cy="4254500"/>
          </a:xfrm>
          <a:prstGeom prst="rect">
            <a:avLst/>
          </a:prstGeom>
        </p:spPr>
      </p:pic>
      <p:sp>
        <p:nvSpPr>
          <p:cNvPr id="10" name="Rectangle 9"/>
          <p:cNvSpPr/>
          <p:nvPr/>
        </p:nvSpPr>
        <p:spPr>
          <a:xfrm>
            <a:off x="4378814" y="5862157"/>
            <a:ext cx="4394200" cy="307777"/>
          </a:xfrm>
          <a:prstGeom prst="rect">
            <a:avLst/>
          </a:prstGeom>
        </p:spPr>
        <p:txBody>
          <a:bodyPr wrap="square">
            <a:spAutoFit/>
          </a:bodyPr>
          <a:lstStyle/>
          <a:p>
            <a:pPr algn="ctr"/>
            <a:r>
              <a:rPr lang="pt-BR" sz="1400" dirty="0">
                <a:hlinkClick r:id="rId5"/>
              </a:rPr>
              <a:t>www.falstad.com/circuit/e-cmosnand.html</a:t>
            </a:r>
            <a:endParaRPr lang="pt-BR" sz="1400" dirty="0"/>
          </a:p>
        </p:txBody>
      </p:sp>
    </p:spTree>
    <p:extLst>
      <p:ext uri="{BB962C8B-B14F-4D97-AF65-F5344CB8AC3E}">
        <p14:creationId xmlns:p14="http://schemas.microsoft.com/office/powerpoint/2010/main" val="22815917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Formar Trios</a:t>
            </a:r>
          </a:p>
        </p:txBody>
      </p:sp>
      <p:sp>
        <p:nvSpPr>
          <p:cNvPr id="3" name="Content Placeholder 2"/>
          <p:cNvSpPr>
            <a:spLocks noGrp="1"/>
          </p:cNvSpPr>
          <p:nvPr>
            <p:ph idx="1"/>
          </p:nvPr>
        </p:nvSpPr>
        <p:spPr>
          <a:xfrm>
            <a:off x="657226" y="1485900"/>
            <a:ext cx="5958224" cy="1643666"/>
          </a:xfrm>
        </p:spPr>
        <p:txBody>
          <a:bodyPr>
            <a:noAutofit/>
          </a:bodyPr>
          <a:lstStyle/>
          <a:p>
            <a:r>
              <a:rPr lang="pt-BR" sz="2000" dirty="0"/>
              <a:t>Claude Shannon ficou intrigado com as descoberta do transistor por William Shockley, John Bardeen e Walter Brattain. Ajude eles a criar portas lógicas usando tal tecnologia*.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39</a:t>
            </a:fld>
            <a:endParaRPr lang="pt-BR" dirty="0"/>
          </a:p>
        </p:txBody>
      </p:sp>
      <p:sp>
        <p:nvSpPr>
          <p:cNvPr id="7" name="Content Placeholder 2"/>
          <p:cNvSpPr txBox="1">
            <a:spLocks/>
          </p:cNvSpPr>
          <p:nvPr/>
        </p:nvSpPr>
        <p:spPr>
          <a:xfrm>
            <a:off x="657224" y="3129566"/>
            <a:ext cx="5555355" cy="3001314"/>
          </a:xfrm>
          <a:prstGeom prst="rect">
            <a:avLst/>
          </a:prstGeom>
        </p:spPr>
        <p:txBody>
          <a:bodyPr>
            <a:no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pt-BR" sz="2000" dirty="0"/>
          </a:p>
          <a:p>
            <a:r>
              <a:rPr lang="pt-BR" sz="2000" dirty="0"/>
              <a:t>Formem trios para resolver as atividades. </a:t>
            </a:r>
          </a:p>
          <a:p>
            <a:endParaRPr lang="pt-BR" sz="2000" dirty="0"/>
          </a:p>
          <a:p>
            <a:r>
              <a:rPr lang="pt-BR" sz="2000" dirty="0"/>
              <a:t>Mantenha um ambiente em que todos participem de tudo.</a:t>
            </a:r>
          </a:p>
          <a:p>
            <a:r>
              <a:rPr lang="pt-BR" sz="2000" dirty="0"/>
              <a:t> </a:t>
            </a:r>
            <a:endParaRPr lang="en-US" sz="2000" dirty="0"/>
          </a:p>
          <a:p>
            <a:endParaRPr lang="pt-BR" sz="2000" dirty="0"/>
          </a:p>
        </p:txBody>
      </p:sp>
      <p:sp>
        <p:nvSpPr>
          <p:cNvPr id="8" name="Rectangle 7"/>
          <p:cNvSpPr/>
          <p:nvPr/>
        </p:nvSpPr>
        <p:spPr>
          <a:xfrm>
            <a:off x="725688" y="6446236"/>
            <a:ext cx="4764959" cy="276999"/>
          </a:xfrm>
          <a:prstGeom prst="rect">
            <a:avLst/>
          </a:prstGeom>
        </p:spPr>
        <p:txBody>
          <a:bodyPr wrap="none">
            <a:spAutoFit/>
          </a:bodyPr>
          <a:lstStyle/>
          <a:p>
            <a:r>
              <a:rPr lang="pt-BR" sz="1200" dirty="0"/>
              <a:t>* Isso é uma obra de ficção, George Boole não escreveu </a:t>
            </a:r>
            <a:r>
              <a:rPr lang="pt-BR" sz="1200"/>
              <a:t>esse documento.</a:t>
            </a:r>
          </a:p>
        </p:txBody>
      </p:sp>
      <p:sp>
        <p:nvSpPr>
          <p:cNvPr id="9" name="Rectangle 8"/>
          <p:cNvSpPr/>
          <p:nvPr/>
        </p:nvSpPr>
        <p:spPr>
          <a:xfrm>
            <a:off x="657224" y="5552747"/>
            <a:ext cx="2555876" cy="707886"/>
          </a:xfrm>
          <a:prstGeom prst="rect">
            <a:avLst/>
          </a:prstGeom>
        </p:spPr>
        <p:txBody>
          <a:bodyPr wrap="square">
            <a:spAutoFit/>
          </a:bodyPr>
          <a:lstStyle/>
          <a:p>
            <a:r>
              <a:rPr lang="en-US" sz="2000" dirty="0">
                <a:hlinkClick r:id="rId3"/>
              </a:rPr>
              <a:t>http://bit.ly/2jFFNy3</a:t>
            </a:r>
            <a:endParaRPr lang="en-US" sz="2000" dirty="0"/>
          </a:p>
          <a:p>
            <a:endParaRPr lang="en-US" sz="2000" dirty="0"/>
          </a:p>
        </p:txBody>
      </p:sp>
      <p:pic>
        <p:nvPicPr>
          <p:cNvPr id="10" name="Picture 9"/>
          <p:cNvPicPr>
            <a:picLocks noChangeAspect="1"/>
          </p:cNvPicPr>
          <p:nvPr/>
        </p:nvPicPr>
        <p:blipFill>
          <a:blip r:embed="rId4"/>
          <a:stretch>
            <a:fillRect/>
          </a:stretch>
        </p:blipFill>
        <p:spPr>
          <a:xfrm>
            <a:off x="7097497" y="1324715"/>
            <a:ext cx="1772955" cy="2720647"/>
          </a:xfrm>
          <a:prstGeom prst="rect">
            <a:avLst/>
          </a:prstGeom>
        </p:spPr>
      </p:pic>
      <p:pic>
        <p:nvPicPr>
          <p:cNvPr id="11" name="Picture 10"/>
          <p:cNvPicPr>
            <a:picLocks noChangeAspect="1"/>
          </p:cNvPicPr>
          <p:nvPr/>
        </p:nvPicPr>
        <p:blipFill>
          <a:blip r:embed="rId5"/>
          <a:stretch>
            <a:fillRect/>
          </a:stretch>
        </p:blipFill>
        <p:spPr>
          <a:xfrm>
            <a:off x="6212580" y="4175865"/>
            <a:ext cx="2657872" cy="2084768"/>
          </a:xfrm>
          <a:prstGeom prst="rect">
            <a:avLst/>
          </a:prstGeom>
        </p:spPr>
      </p:pic>
    </p:spTree>
    <p:extLst>
      <p:ext uri="{BB962C8B-B14F-4D97-AF65-F5344CB8AC3E}">
        <p14:creationId xmlns:p14="http://schemas.microsoft.com/office/powerpoint/2010/main" val="10046228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948320" y="1887415"/>
            <a:ext cx="7213042" cy="4247449"/>
          </a:xfrm>
          <a:prstGeom prst="rect">
            <a:avLst/>
          </a:prstGeom>
        </p:spPr>
      </p:pic>
      <p:sp>
        <p:nvSpPr>
          <p:cNvPr id="2" name="Title 1"/>
          <p:cNvSpPr>
            <a:spLocks noGrp="1"/>
          </p:cNvSpPr>
          <p:nvPr>
            <p:ph type="title"/>
          </p:nvPr>
        </p:nvSpPr>
        <p:spPr/>
        <p:txBody>
          <a:bodyPr/>
          <a:lstStyle/>
          <a:p>
            <a:r>
              <a:rPr lang="pt-BR" dirty="0"/>
              <a:t>Inversor com CMOS</a:t>
            </a:r>
          </a:p>
        </p:txBody>
      </p:sp>
      <p:sp>
        <p:nvSpPr>
          <p:cNvPr id="3" name="Content Placeholder 2"/>
          <p:cNvSpPr>
            <a:spLocks noGrp="1"/>
          </p:cNvSpPr>
          <p:nvPr>
            <p:ph idx="1"/>
          </p:nvPr>
        </p:nvSpPr>
        <p:spPr>
          <a:xfrm>
            <a:off x="657225" y="1485900"/>
            <a:ext cx="8029575" cy="495300"/>
          </a:xfrm>
        </p:spPr>
        <p:txBody>
          <a:bodyPr/>
          <a:lstStyle/>
          <a:p>
            <a:r>
              <a:rPr lang="pt-BR" dirty="0"/>
              <a:t>Implemente um inversor usando componentes CMOS.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40</a:t>
            </a:fld>
            <a:endParaRPr lang="pt-BR" dirty="0"/>
          </a:p>
        </p:txBody>
      </p:sp>
      <p:sp>
        <p:nvSpPr>
          <p:cNvPr id="7" name="Rectangle 6"/>
          <p:cNvSpPr/>
          <p:nvPr/>
        </p:nvSpPr>
        <p:spPr>
          <a:xfrm>
            <a:off x="1629508" y="6088555"/>
            <a:ext cx="6531854" cy="369332"/>
          </a:xfrm>
          <a:prstGeom prst="rect">
            <a:avLst/>
          </a:prstGeom>
        </p:spPr>
        <p:txBody>
          <a:bodyPr wrap="square">
            <a:spAutoFit/>
          </a:bodyPr>
          <a:lstStyle/>
          <a:p>
            <a:r>
              <a:rPr lang="pt-BR" dirty="0">
                <a:hlinkClick r:id="rId4"/>
              </a:rPr>
              <a:t>https://circuits.io/circuits/3756851-not-cmos-transistor-protoboard</a:t>
            </a:r>
            <a:endParaRPr lang="pt-BR" dirty="0"/>
          </a:p>
        </p:txBody>
      </p:sp>
      <p:grpSp>
        <p:nvGrpSpPr>
          <p:cNvPr id="29" name="Group 28"/>
          <p:cNvGrpSpPr/>
          <p:nvPr/>
        </p:nvGrpSpPr>
        <p:grpSpPr>
          <a:xfrm>
            <a:off x="4177892" y="5208800"/>
            <a:ext cx="3307577" cy="804375"/>
            <a:chOff x="4177892" y="4143317"/>
            <a:chExt cx="3307577" cy="804375"/>
          </a:xfrm>
        </p:grpSpPr>
        <p:sp>
          <p:nvSpPr>
            <p:cNvPr id="9" name="Rounded Rectangle 8"/>
            <p:cNvSpPr/>
            <p:nvPr/>
          </p:nvSpPr>
          <p:spPr>
            <a:xfrm>
              <a:off x="4601871" y="4387754"/>
              <a:ext cx="409379" cy="289730"/>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ctangle 7"/>
            <p:cNvSpPr/>
            <p:nvPr/>
          </p:nvSpPr>
          <p:spPr>
            <a:xfrm>
              <a:off x="4472373" y="4456445"/>
              <a:ext cx="668374" cy="32888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ctangle 9"/>
            <p:cNvSpPr/>
            <p:nvPr/>
          </p:nvSpPr>
          <p:spPr>
            <a:xfrm>
              <a:off x="4177892" y="4404589"/>
              <a:ext cx="340158" cy="461665"/>
            </a:xfrm>
            <a:prstGeom prst="rect">
              <a:avLst/>
            </a:prstGeom>
          </p:spPr>
          <p:txBody>
            <a:bodyPr wrap="none">
              <a:spAutoFit/>
            </a:bodyPr>
            <a:lstStyle/>
            <a:p>
              <a:r>
                <a:rPr lang="pt-BR" sz="2400" b="1" dirty="0"/>
                <a:t>1</a:t>
              </a:r>
            </a:p>
          </p:txBody>
        </p:sp>
        <p:cxnSp>
          <p:nvCxnSpPr>
            <p:cNvPr id="12" name="Straight Arrow Connector 11"/>
            <p:cNvCxnSpPr/>
            <p:nvPr/>
          </p:nvCxnSpPr>
          <p:spPr>
            <a:xfrm>
              <a:off x="5457539" y="4620885"/>
              <a:ext cx="118674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5"/>
            <a:stretch>
              <a:fillRect/>
            </a:stretch>
          </p:blipFill>
          <p:spPr>
            <a:xfrm>
              <a:off x="6844655" y="4143317"/>
              <a:ext cx="416866" cy="804375"/>
            </a:xfrm>
            <a:prstGeom prst="rect">
              <a:avLst/>
            </a:prstGeom>
          </p:spPr>
        </p:pic>
        <p:sp>
          <p:nvSpPr>
            <p:cNvPr id="21" name="Rectangle 20"/>
            <p:cNvSpPr/>
            <p:nvPr/>
          </p:nvSpPr>
          <p:spPr>
            <a:xfrm>
              <a:off x="7145311" y="4398617"/>
              <a:ext cx="340158" cy="461665"/>
            </a:xfrm>
            <a:prstGeom prst="rect">
              <a:avLst/>
            </a:prstGeom>
          </p:spPr>
          <p:txBody>
            <a:bodyPr wrap="none">
              <a:spAutoFit/>
            </a:bodyPr>
            <a:lstStyle/>
            <a:p>
              <a:r>
                <a:rPr lang="pt-BR" sz="2400" b="1" dirty="0"/>
                <a:t>0</a:t>
              </a:r>
            </a:p>
          </p:txBody>
        </p:sp>
      </p:grpSp>
      <p:grpSp>
        <p:nvGrpSpPr>
          <p:cNvPr id="30" name="Group 29"/>
          <p:cNvGrpSpPr/>
          <p:nvPr/>
        </p:nvGrpSpPr>
        <p:grpSpPr>
          <a:xfrm>
            <a:off x="4164113" y="4166184"/>
            <a:ext cx="3321356" cy="878703"/>
            <a:chOff x="4191246" y="5155300"/>
            <a:chExt cx="3321356" cy="878703"/>
          </a:xfrm>
        </p:grpSpPr>
        <p:pic>
          <p:nvPicPr>
            <p:cNvPr id="28" name="Picture 27"/>
            <p:cNvPicPr>
              <a:picLocks noChangeAspect="1"/>
            </p:cNvPicPr>
            <p:nvPr/>
          </p:nvPicPr>
          <p:blipFill>
            <a:blip r:embed="rId6"/>
            <a:stretch>
              <a:fillRect/>
            </a:stretch>
          </p:blipFill>
          <p:spPr>
            <a:xfrm>
              <a:off x="6751088" y="5155300"/>
              <a:ext cx="591435" cy="878703"/>
            </a:xfrm>
            <a:prstGeom prst="rect">
              <a:avLst/>
            </a:prstGeom>
          </p:spPr>
        </p:pic>
        <p:sp>
          <p:nvSpPr>
            <p:cNvPr id="22" name="Rounded Rectangle 21"/>
            <p:cNvSpPr/>
            <p:nvPr/>
          </p:nvSpPr>
          <p:spPr>
            <a:xfrm>
              <a:off x="4615225" y="5229543"/>
              <a:ext cx="409379" cy="289730"/>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ctangle 22"/>
            <p:cNvSpPr/>
            <p:nvPr/>
          </p:nvSpPr>
          <p:spPr>
            <a:xfrm>
              <a:off x="4485727" y="5430212"/>
              <a:ext cx="668374" cy="32888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ctangle 23"/>
            <p:cNvSpPr/>
            <p:nvPr/>
          </p:nvSpPr>
          <p:spPr>
            <a:xfrm>
              <a:off x="4191246" y="5378356"/>
              <a:ext cx="307835" cy="417796"/>
            </a:xfrm>
            <a:prstGeom prst="rect">
              <a:avLst/>
            </a:prstGeom>
          </p:spPr>
          <p:txBody>
            <a:bodyPr wrap="none">
              <a:spAutoFit/>
            </a:bodyPr>
            <a:lstStyle/>
            <a:p>
              <a:r>
                <a:rPr lang="pt-BR" sz="2400" b="1" dirty="0"/>
                <a:t>0</a:t>
              </a:r>
            </a:p>
          </p:txBody>
        </p:sp>
        <p:cxnSp>
          <p:nvCxnSpPr>
            <p:cNvPr id="25" name="Straight Arrow Connector 24"/>
            <p:cNvCxnSpPr/>
            <p:nvPr/>
          </p:nvCxnSpPr>
          <p:spPr>
            <a:xfrm>
              <a:off x="5470893" y="5594652"/>
              <a:ext cx="118674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172444" y="5379939"/>
              <a:ext cx="340158" cy="461665"/>
            </a:xfrm>
            <a:prstGeom prst="rect">
              <a:avLst/>
            </a:prstGeom>
          </p:spPr>
          <p:txBody>
            <a:bodyPr wrap="none">
              <a:spAutoFit/>
            </a:bodyPr>
            <a:lstStyle/>
            <a:p>
              <a:r>
                <a:rPr lang="pt-BR" sz="2400" b="1" dirty="0"/>
                <a:t>1</a:t>
              </a:r>
            </a:p>
          </p:txBody>
        </p:sp>
      </p:grpSp>
    </p:spTree>
    <p:extLst>
      <p:ext uri="{BB962C8B-B14F-4D97-AF65-F5344CB8AC3E}">
        <p14:creationId xmlns:p14="http://schemas.microsoft.com/office/powerpoint/2010/main" val="20184557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Group 9"/>
          <p:cNvGrpSpPr/>
          <p:nvPr/>
        </p:nvGrpSpPr>
        <p:grpSpPr>
          <a:xfrm>
            <a:off x="375139" y="2133600"/>
            <a:ext cx="6842115" cy="4200701"/>
            <a:chOff x="457200" y="2133600"/>
            <a:chExt cx="6842115" cy="4200701"/>
          </a:xfrm>
        </p:grpSpPr>
        <p:pic>
          <p:nvPicPr>
            <p:cNvPr id="6" name="Picture 5"/>
            <p:cNvPicPr>
              <a:picLocks noChangeAspect="1"/>
            </p:cNvPicPr>
            <p:nvPr/>
          </p:nvPicPr>
          <p:blipFill>
            <a:blip r:embed="rId2"/>
            <a:stretch>
              <a:fillRect/>
            </a:stretch>
          </p:blipFill>
          <p:spPr>
            <a:xfrm>
              <a:off x="457200" y="2133600"/>
              <a:ext cx="6842115" cy="4200701"/>
            </a:xfrm>
            <a:prstGeom prst="rect">
              <a:avLst/>
            </a:prstGeom>
          </p:spPr>
        </p:pic>
        <p:pic>
          <p:nvPicPr>
            <p:cNvPr id="8" name="Picture 7"/>
            <p:cNvPicPr>
              <a:picLocks noChangeAspect="1"/>
            </p:cNvPicPr>
            <p:nvPr/>
          </p:nvPicPr>
          <p:blipFill rotWithShape="1">
            <a:blip r:embed="rId2">
              <a:clrChange>
                <a:clrFrom>
                  <a:srgbClr val="FFFFFF"/>
                </a:clrFrom>
                <a:clrTo>
                  <a:srgbClr val="FFFFFF">
                    <a:alpha val="0"/>
                  </a:srgbClr>
                </a:clrTo>
              </a:clrChange>
            </a:blip>
            <a:srcRect l="43006" t="43535" r="52368" b="45049"/>
            <a:stretch/>
          </p:blipFill>
          <p:spPr>
            <a:xfrm>
              <a:off x="3083170" y="2552887"/>
              <a:ext cx="316523" cy="479537"/>
            </a:xfrm>
            <a:prstGeom prst="rect">
              <a:avLst/>
            </a:prstGeom>
          </p:spPr>
        </p:pic>
        <p:sp>
          <p:nvSpPr>
            <p:cNvPr id="9" name="Rectangle 8"/>
            <p:cNvSpPr/>
            <p:nvPr/>
          </p:nvSpPr>
          <p:spPr>
            <a:xfrm>
              <a:off x="3399693" y="3812741"/>
              <a:ext cx="468923" cy="5194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itle 1"/>
          <p:cNvSpPr>
            <a:spLocks noGrp="1"/>
          </p:cNvSpPr>
          <p:nvPr>
            <p:ph type="title"/>
          </p:nvPr>
        </p:nvSpPr>
        <p:spPr/>
        <p:txBody>
          <a:bodyPr/>
          <a:lstStyle/>
          <a:p>
            <a:r>
              <a:rPr lang="pt-BR" dirty="0"/>
              <a:t>Diagrama do Inversor CMOS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41</a:t>
            </a:fld>
            <a:endParaRPr lang="pt-BR" dirty="0"/>
          </a:p>
        </p:txBody>
      </p:sp>
      <p:graphicFrame>
        <p:nvGraphicFramePr>
          <p:cNvPr id="7" name="Table 6"/>
          <p:cNvGraphicFramePr>
            <a:graphicFrameLocks noGrp="1"/>
          </p:cNvGraphicFramePr>
          <p:nvPr/>
        </p:nvGraphicFramePr>
        <p:xfrm>
          <a:off x="6772250" y="4312985"/>
          <a:ext cx="2114259" cy="1719580"/>
        </p:xfrm>
        <a:graphic>
          <a:graphicData uri="http://schemas.openxmlformats.org/drawingml/2006/table">
            <a:tbl>
              <a:tblPr firstRow="1">
                <a:tableStyleId>{7DF18680-E054-41AD-8BC1-D1AEF772440D}</a:tableStyleId>
              </a:tblPr>
              <a:tblGrid>
                <a:gridCol w="752561">
                  <a:extLst>
                    <a:ext uri="{9D8B030D-6E8A-4147-A177-3AD203B41FA5}">
                      <a16:colId xmlns:a16="http://schemas.microsoft.com/office/drawing/2014/main" val="20000"/>
                    </a:ext>
                  </a:extLst>
                </a:gridCol>
                <a:gridCol w="1361698">
                  <a:extLst>
                    <a:ext uri="{9D8B030D-6E8A-4147-A177-3AD203B41FA5}">
                      <a16:colId xmlns:a16="http://schemas.microsoft.com/office/drawing/2014/main" val="20001"/>
                    </a:ext>
                  </a:extLst>
                </a:gridCol>
              </a:tblGrid>
              <a:tr h="128758">
                <a:tc>
                  <a:txBody>
                    <a:bodyPr/>
                    <a:lstStyle/>
                    <a:p>
                      <a:pPr algn="ctr" fontAlgn="b"/>
                      <a:r>
                        <a:rPr lang="pt-BR" sz="1400" u="none" strike="noStrike" noProof="0">
                          <a:effectLst/>
                        </a:rPr>
                        <a:t>IDs</a:t>
                      </a:r>
                      <a:endParaRPr lang="pt-BR" sz="1400" b="1" i="0" u="none" strike="noStrike" noProof="0">
                        <a:solidFill>
                          <a:srgbClr val="34495E"/>
                        </a:solidFill>
                        <a:effectLst/>
                        <a:latin typeface="Arial"/>
                      </a:endParaRPr>
                    </a:p>
                  </a:txBody>
                  <a:tcPr marL="12700" marR="12700" marT="12700" marB="0" anchor="b"/>
                </a:tc>
                <a:tc>
                  <a:txBody>
                    <a:bodyPr/>
                    <a:lstStyle/>
                    <a:p>
                      <a:pPr algn="ctr" fontAlgn="b"/>
                      <a:r>
                        <a:rPr lang="pt-BR" sz="1400" u="none" strike="noStrike" noProof="0" dirty="0">
                          <a:effectLst/>
                        </a:rPr>
                        <a:t>Componente</a:t>
                      </a:r>
                      <a:endParaRPr lang="pt-BR" sz="1400" b="1" i="0" u="none" strike="noStrike" noProof="0" dirty="0">
                        <a:solidFill>
                          <a:srgbClr val="34495E"/>
                        </a:solidFill>
                        <a:effectLst/>
                        <a:latin typeface="Arial"/>
                      </a:endParaRPr>
                    </a:p>
                  </a:txBody>
                  <a:tcPr marL="12700" marR="12700" marT="12700" marB="0" anchor="b"/>
                </a:tc>
                <a:extLst>
                  <a:ext uri="{0D108BD9-81ED-4DB2-BD59-A6C34878D82A}">
                    <a16:rowId xmlns:a16="http://schemas.microsoft.com/office/drawing/2014/main" val="10000"/>
                  </a:ext>
                </a:extLst>
              </a:tr>
              <a:tr h="0">
                <a:tc>
                  <a:txBody>
                    <a:bodyPr/>
                    <a:lstStyle/>
                    <a:p>
                      <a:pPr algn="l" fontAlgn="b"/>
                      <a:r>
                        <a:rPr lang="pt-BR" sz="1400" u="none" strike="noStrike" kern="1200" noProof="0" dirty="0">
                          <a:solidFill>
                            <a:schemeClr val="dk1"/>
                          </a:solidFill>
                          <a:effectLst/>
                          <a:latin typeface="+mn-lt"/>
                          <a:ea typeface="+mn-ea"/>
                          <a:cs typeface="+mn-cs"/>
                        </a:rPr>
                        <a:t>T1</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Transistor NMOS</a:t>
                      </a:r>
                    </a:p>
                  </a:txBody>
                  <a:tcPr marL="12700" marR="12700" marT="0" marB="0" anchor="b"/>
                </a:tc>
                <a:extLst>
                  <a:ext uri="{0D108BD9-81ED-4DB2-BD59-A6C34878D82A}">
                    <a16:rowId xmlns:a16="http://schemas.microsoft.com/office/drawing/2014/main" val="10001"/>
                  </a:ext>
                </a:extLst>
              </a:tr>
              <a:tr h="0">
                <a:tc>
                  <a:txBody>
                    <a:bodyPr/>
                    <a:lstStyle/>
                    <a:p>
                      <a:pPr algn="l" fontAlgn="b"/>
                      <a:r>
                        <a:rPr lang="pt-BR" sz="1400" u="none" strike="noStrike" kern="1200" noProof="0" dirty="0">
                          <a:solidFill>
                            <a:schemeClr val="dk1"/>
                          </a:solidFill>
                          <a:effectLst/>
                          <a:latin typeface="+mn-lt"/>
                          <a:ea typeface="+mn-ea"/>
                          <a:cs typeface="+mn-cs"/>
                        </a:rPr>
                        <a:t>T2</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Transistor</a:t>
                      </a:r>
                      <a:r>
                        <a:rPr lang="pt-BR" sz="1400" u="none" strike="noStrike" kern="1200" baseline="0" noProof="0" dirty="0">
                          <a:solidFill>
                            <a:schemeClr val="dk1"/>
                          </a:solidFill>
                          <a:effectLst/>
                          <a:latin typeface="+mn-lt"/>
                          <a:ea typeface="+mn-ea"/>
                          <a:cs typeface="+mn-cs"/>
                        </a:rPr>
                        <a:t> PMOS</a:t>
                      </a:r>
                      <a:endParaRPr lang="pt-BR" sz="1400" u="none" strike="noStrike" kern="1200" noProof="0" dirty="0">
                        <a:solidFill>
                          <a:schemeClr val="dk1"/>
                        </a:solidFill>
                        <a:effectLst/>
                        <a:latin typeface="+mn-lt"/>
                        <a:ea typeface="+mn-ea"/>
                        <a:cs typeface="+mn-cs"/>
                      </a:endParaRPr>
                    </a:p>
                  </a:txBody>
                  <a:tcPr marL="12700" marR="12700" marT="0" marB="0" anchor="b"/>
                </a:tc>
                <a:extLst>
                  <a:ext uri="{0D108BD9-81ED-4DB2-BD59-A6C34878D82A}">
                    <a16:rowId xmlns:a16="http://schemas.microsoft.com/office/drawing/2014/main" val="10002"/>
                  </a:ext>
                </a:extLst>
              </a:tr>
              <a:tr h="0">
                <a:tc>
                  <a:txBody>
                    <a:bodyPr/>
                    <a:lstStyle/>
                    <a:p>
                      <a:pPr algn="l" fontAlgn="b"/>
                      <a:r>
                        <a:rPr lang="pt-BR" sz="1400" u="none" strike="noStrike" kern="1200" noProof="0" dirty="0">
                          <a:solidFill>
                            <a:schemeClr val="dk1"/>
                          </a:solidFill>
                          <a:effectLst/>
                          <a:latin typeface="+mn-lt"/>
                          <a:ea typeface="+mn-ea"/>
                          <a:cs typeface="+mn-cs"/>
                        </a:rPr>
                        <a:t>S1</a:t>
                      </a:r>
                    </a:p>
                  </a:txBody>
                  <a:tcPr marL="12700" marR="12700" marT="0" marB="0" anchor="b"/>
                </a:tc>
                <a:tc>
                  <a:txBody>
                    <a:bodyPr/>
                    <a:lstStyle/>
                    <a:p>
                      <a:pPr algn="l" fontAlgn="b"/>
                      <a:r>
                        <a:rPr lang="en-US" sz="1400" u="none" strike="noStrike" kern="1200" noProof="0" dirty="0">
                          <a:solidFill>
                            <a:schemeClr val="dk1"/>
                          </a:solidFill>
                          <a:effectLst/>
                          <a:latin typeface="+mn-lt"/>
                          <a:ea typeface="+mn-ea"/>
                          <a:cs typeface="+mn-cs"/>
                        </a:rPr>
                        <a:t>Push Button</a:t>
                      </a:r>
                    </a:p>
                  </a:txBody>
                  <a:tcPr marL="12700" marR="12700" marT="0" marB="0" anchor="b"/>
                </a:tc>
                <a:extLst>
                  <a:ext uri="{0D108BD9-81ED-4DB2-BD59-A6C34878D82A}">
                    <a16:rowId xmlns:a16="http://schemas.microsoft.com/office/drawing/2014/main" val="10003"/>
                  </a:ext>
                </a:extLst>
              </a:tr>
              <a:tr h="0">
                <a:tc>
                  <a:txBody>
                    <a:bodyPr/>
                    <a:lstStyle/>
                    <a:p>
                      <a:pPr algn="l" fontAlgn="b"/>
                      <a:r>
                        <a:rPr lang="pt-BR" sz="1400" u="none" strike="noStrike" kern="1200" noProof="0" dirty="0">
                          <a:solidFill>
                            <a:schemeClr val="dk1"/>
                          </a:solidFill>
                          <a:effectLst/>
                          <a:latin typeface="+mn-lt"/>
                          <a:ea typeface="+mn-ea"/>
                          <a:cs typeface="+mn-cs"/>
                        </a:rPr>
                        <a:t>D1</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LED</a:t>
                      </a:r>
                    </a:p>
                  </a:txBody>
                  <a:tcPr marL="12700" marR="12700" marT="0" marB="0" anchor="b"/>
                </a:tc>
                <a:extLst>
                  <a:ext uri="{0D108BD9-81ED-4DB2-BD59-A6C34878D82A}">
                    <a16:rowId xmlns:a16="http://schemas.microsoft.com/office/drawing/2014/main" val="10004"/>
                  </a:ext>
                </a:extLst>
              </a:tr>
              <a:tr h="0">
                <a:tc>
                  <a:txBody>
                    <a:bodyPr/>
                    <a:lstStyle/>
                    <a:p>
                      <a:pPr algn="l" fontAlgn="b"/>
                      <a:r>
                        <a:rPr lang="pt-BR" sz="1400" u="none" strike="noStrike" kern="1200" noProof="0" dirty="0">
                          <a:solidFill>
                            <a:schemeClr val="dk1"/>
                          </a:solidFill>
                          <a:effectLst/>
                          <a:latin typeface="+mn-lt"/>
                          <a:ea typeface="+mn-ea"/>
                          <a:cs typeface="+mn-cs"/>
                        </a:rPr>
                        <a:t>R1</a:t>
                      </a:r>
                    </a:p>
                  </a:txBody>
                  <a:tcPr marL="12700" marR="12700" marT="0" marB="0" anchor="b"/>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pt-BR" sz="1400" u="none" strike="noStrike" kern="1200" noProof="0" dirty="0">
                          <a:solidFill>
                            <a:schemeClr val="dk1"/>
                          </a:solidFill>
                          <a:effectLst/>
                          <a:latin typeface="+mn-lt"/>
                          <a:ea typeface="+mn-ea"/>
                          <a:cs typeface="+mn-cs"/>
                        </a:rPr>
                        <a:t>Resistor 10 </a:t>
                      </a:r>
                      <a:r>
                        <a:rPr lang="pt-BR" sz="1400" u="none" strike="noStrike" kern="1200" noProof="0" dirty="0" err="1">
                          <a:solidFill>
                            <a:schemeClr val="dk1"/>
                          </a:solidFill>
                          <a:effectLst/>
                          <a:latin typeface="+mn-lt"/>
                          <a:ea typeface="+mn-ea"/>
                          <a:cs typeface="+mn-cs"/>
                        </a:rPr>
                        <a:t>kΩ</a:t>
                      </a:r>
                      <a:endParaRPr lang="pt-BR" sz="1400" u="none" strike="noStrike" kern="1200" noProof="0" dirty="0">
                        <a:solidFill>
                          <a:schemeClr val="dk1"/>
                        </a:solidFill>
                        <a:effectLst/>
                        <a:latin typeface="+mn-lt"/>
                        <a:ea typeface="+mn-ea"/>
                        <a:cs typeface="+mn-cs"/>
                      </a:endParaRPr>
                    </a:p>
                  </a:txBody>
                  <a:tcPr marL="12700" marR="12700" marT="0" marB="0" anchor="b"/>
                </a:tc>
                <a:extLst>
                  <a:ext uri="{0D108BD9-81ED-4DB2-BD59-A6C34878D82A}">
                    <a16:rowId xmlns:a16="http://schemas.microsoft.com/office/drawing/2014/main" val="10005"/>
                  </a:ext>
                </a:extLst>
              </a:tr>
              <a:tr h="0">
                <a:tc>
                  <a:txBody>
                    <a:bodyPr/>
                    <a:lstStyle/>
                    <a:p>
                      <a:pPr algn="l" fontAlgn="b"/>
                      <a:r>
                        <a:rPr lang="pt-BR" sz="1400" u="none" strike="noStrike" kern="1200" noProof="0" dirty="0">
                          <a:solidFill>
                            <a:schemeClr val="dk1"/>
                          </a:solidFill>
                          <a:effectLst/>
                          <a:latin typeface="+mn-lt"/>
                          <a:ea typeface="+mn-ea"/>
                          <a:cs typeface="+mn-cs"/>
                        </a:rPr>
                        <a:t>R2</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Resistor 200 </a:t>
                      </a:r>
                      <a:r>
                        <a:rPr lang="pt-BR" sz="1400" u="none" strike="noStrike" kern="1200" noProof="0" dirty="0" err="1">
                          <a:solidFill>
                            <a:schemeClr val="dk1"/>
                          </a:solidFill>
                          <a:effectLst/>
                          <a:latin typeface="+mn-lt"/>
                          <a:ea typeface="+mn-ea"/>
                          <a:cs typeface="+mn-cs"/>
                        </a:rPr>
                        <a:t>Ω</a:t>
                      </a:r>
                      <a:endParaRPr lang="pt-BR" sz="1400" u="none" strike="noStrike" kern="1200" noProof="0" dirty="0">
                        <a:solidFill>
                          <a:schemeClr val="dk1"/>
                        </a:solidFill>
                        <a:effectLst/>
                        <a:latin typeface="+mn-lt"/>
                        <a:ea typeface="+mn-ea"/>
                        <a:cs typeface="+mn-cs"/>
                      </a:endParaRPr>
                    </a:p>
                  </a:txBody>
                  <a:tcPr marL="12700" marR="12700" marT="0" marB="0" anchor="b"/>
                </a:tc>
                <a:extLst>
                  <a:ext uri="{0D108BD9-81ED-4DB2-BD59-A6C34878D82A}">
                    <a16:rowId xmlns:a16="http://schemas.microsoft.com/office/drawing/2014/main" val="10006"/>
                  </a:ext>
                </a:extLst>
              </a:tr>
              <a:tr h="0">
                <a:tc>
                  <a:txBody>
                    <a:bodyPr/>
                    <a:lstStyle/>
                    <a:p>
                      <a:pPr algn="l" fontAlgn="b"/>
                      <a:r>
                        <a:rPr lang="pt-BR" sz="1400" u="none" strike="noStrike" kern="1200" noProof="0" dirty="0">
                          <a:solidFill>
                            <a:schemeClr val="dk1"/>
                          </a:solidFill>
                          <a:effectLst/>
                          <a:latin typeface="+mn-lt"/>
                          <a:ea typeface="+mn-ea"/>
                          <a:cs typeface="+mn-cs"/>
                        </a:rPr>
                        <a:t>Bat1</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Pilhas</a:t>
                      </a:r>
                      <a:r>
                        <a:rPr lang="pt-BR" sz="1400" u="none" strike="noStrike" kern="1200" baseline="0" noProof="0" dirty="0">
                          <a:solidFill>
                            <a:schemeClr val="dk1"/>
                          </a:solidFill>
                          <a:effectLst/>
                          <a:latin typeface="+mn-lt"/>
                          <a:ea typeface="+mn-ea"/>
                          <a:cs typeface="+mn-cs"/>
                        </a:rPr>
                        <a:t> ou fonte 5V</a:t>
                      </a:r>
                      <a:endParaRPr lang="pt-BR" sz="1400" u="none" strike="noStrike" kern="1200" noProof="0" dirty="0">
                        <a:solidFill>
                          <a:schemeClr val="dk1"/>
                        </a:solidFill>
                        <a:effectLst/>
                        <a:latin typeface="+mn-lt"/>
                        <a:ea typeface="+mn-ea"/>
                        <a:cs typeface="+mn-cs"/>
                      </a:endParaRPr>
                    </a:p>
                  </a:txBody>
                  <a:tcPr marL="12700" marR="12700" marT="0" marB="0" anchor="b"/>
                </a:tc>
                <a:extLst>
                  <a:ext uri="{0D108BD9-81ED-4DB2-BD59-A6C34878D82A}">
                    <a16:rowId xmlns:a16="http://schemas.microsoft.com/office/drawing/2014/main" val="10007"/>
                  </a:ext>
                </a:extLst>
              </a:tr>
            </a:tbl>
          </a:graphicData>
        </a:graphic>
      </p:graphicFrame>
      <p:sp>
        <p:nvSpPr>
          <p:cNvPr id="11" name="Content Placeholder 2"/>
          <p:cNvSpPr>
            <a:spLocks noGrp="1"/>
          </p:cNvSpPr>
          <p:nvPr>
            <p:ph idx="1"/>
          </p:nvPr>
        </p:nvSpPr>
        <p:spPr>
          <a:xfrm>
            <a:off x="657225" y="1485900"/>
            <a:ext cx="8029575" cy="495300"/>
          </a:xfrm>
        </p:spPr>
        <p:txBody>
          <a:bodyPr/>
          <a:lstStyle/>
          <a:p>
            <a:r>
              <a:rPr lang="pt-BR" dirty="0"/>
              <a:t>Implemente um inversor usando os componentes CMOS.</a:t>
            </a:r>
          </a:p>
        </p:txBody>
      </p:sp>
      <p:sp>
        <p:nvSpPr>
          <p:cNvPr id="12" name="Rectangle 11"/>
          <p:cNvSpPr/>
          <p:nvPr/>
        </p:nvSpPr>
        <p:spPr>
          <a:xfrm>
            <a:off x="1629508" y="6088555"/>
            <a:ext cx="6531854" cy="369332"/>
          </a:xfrm>
          <a:prstGeom prst="rect">
            <a:avLst/>
          </a:prstGeom>
        </p:spPr>
        <p:txBody>
          <a:bodyPr wrap="square">
            <a:spAutoFit/>
          </a:bodyPr>
          <a:lstStyle/>
          <a:p>
            <a:r>
              <a:rPr lang="pt-BR" dirty="0">
                <a:hlinkClick r:id="rId3"/>
              </a:rPr>
              <a:t>https://circuits.io/circuits/3756851-not-cmos-transistor-protoboard</a:t>
            </a:r>
            <a:endParaRPr lang="pt-BR" dirty="0"/>
          </a:p>
        </p:txBody>
      </p:sp>
    </p:spTree>
    <p:extLst>
      <p:ext uri="{BB962C8B-B14F-4D97-AF65-F5344CB8AC3E}">
        <p14:creationId xmlns:p14="http://schemas.microsoft.com/office/powerpoint/2010/main" val="154195083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Implementação de portas lógicas</a:t>
            </a:r>
          </a:p>
        </p:txBody>
      </p:sp>
      <p:sp>
        <p:nvSpPr>
          <p:cNvPr id="3" name="Content Placeholder 2"/>
          <p:cNvSpPr>
            <a:spLocks noGrp="1"/>
          </p:cNvSpPr>
          <p:nvPr>
            <p:ph idx="1"/>
          </p:nvPr>
        </p:nvSpPr>
        <p:spPr/>
        <p:txBody>
          <a:bodyPr/>
          <a:lstStyle/>
          <a:p>
            <a:r>
              <a:rPr lang="pt-BR" dirty="0"/>
              <a:t>Usando transistores, implemente a porta lógica NAND.</a:t>
            </a:r>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42</a:t>
            </a:fld>
            <a:endParaRPr lang="pt-BR" dirty="0"/>
          </a:p>
        </p:txBody>
      </p:sp>
      <p:graphicFrame>
        <p:nvGraphicFramePr>
          <p:cNvPr id="15" name="Table 14"/>
          <p:cNvGraphicFramePr>
            <a:graphicFrameLocks noGrp="1"/>
          </p:cNvGraphicFramePr>
          <p:nvPr/>
        </p:nvGraphicFramePr>
        <p:xfrm>
          <a:off x="6737081" y="4704080"/>
          <a:ext cx="2114259" cy="1506220"/>
        </p:xfrm>
        <a:graphic>
          <a:graphicData uri="http://schemas.openxmlformats.org/drawingml/2006/table">
            <a:tbl>
              <a:tblPr firstRow="1">
                <a:tableStyleId>{7DF18680-E054-41AD-8BC1-D1AEF772440D}</a:tableStyleId>
              </a:tblPr>
              <a:tblGrid>
                <a:gridCol w="752561">
                  <a:extLst>
                    <a:ext uri="{9D8B030D-6E8A-4147-A177-3AD203B41FA5}">
                      <a16:colId xmlns:a16="http://schemas.microsoft.com/office/drawing/2014/main" val="20000"/>
                    </a:ext>
                  </a:extLst>
                </a:gridCol>
                <a:gridCol w="1361698">
                  <a:extLst>
                    <a:ext uri="{9D8B030D-6E8A-4147-A177-3AD203B41FA5}">
                      <a16:colId xmlns:a16="http://schemas.microsoft.com/office/drawing/2014/main" val="20001"/>
                    </a:ext>
                  </a:extLst>
                </a:gridCol>
              </a:tblGrid>
              <a:tr h="128758">
                <a:tc>
                  <a:txBody>
                    <a:bodyPr/>
                    <a:lstStyle/>
                    <a:p>
                      <a:pPr algn="ctr" fontAlgn="b"/>
                      <a:r>
                        <a:rPr lang="pt-BR" sz="1400" u="none" strike="noStrike" noProof="0" dirty="0" err="1">
                          <a:effectLst/>
                        </a:rPr>
                        <a:t>IDs</a:t>
                      </a:r>
                      <a:endParaRPr lang="pt-BR" sz="1400" b="1" i="0" u="none" strike="noStrike" noProof="0" dirty="0">
                        <a:solidFill>
                          <a:srgbClr val="34495E"/>
                        </a:solidFill>
                        <a:effectLst/>
                        <a:latin typeface="Arial"/>
                      </a:endParaRPr>
                    </a:p>
                  </a:txBody>
                  <a:tcPr marL="12700" marR="12700" marT="12700" marB="0" anchor="b"/>
                </a:tc>
                <a:tc>
                  <a:txBody>
                    <a:bodyPr/>
                    <a:lstStyle/>
                    <a:p>
                      <a:pPr algn="ctr" fontAlgn="b"/>
                      <a:r>
                        <a:rPr lang="pt-BR" sz="1400" u="none" strike="noStrike" noProof="0" dirty="0">
                          <a:effectLst/>
                        </a:rPr>
                        <a:t>Componente</a:t>
                      </a:r>
                      <a:endParaRPr lang="pt-BR" sz="1400" b="1" i="0" u="none" strike="noStrike" noProof="0" dirty="0">
                        <a:solidFill>
                          <a:srgbClr val="34495E"/>
                        </a:solidFill>
                        <a:effectLst/>
                        <a:latin typeface="Arial"/>
                      </a:endParaRPr>
                    </a:p>
                  </a:txBody>
                  <a:tcPr marL="12700" marR="12700" marT="12700" marB="0" anchor="b"/>
                </a:tc>
                <a:extLst>
                  <a:ext uri="{0D108BD9-81ED-4DB2-BD59-A6C34878D82A}">
                    <a16:rowId xmlns:a16="http://schemas.microsoft.com/office/drawing/2014/main" val="10000"/>
                  </a:ext>
                </a:extLst>
              </a:tr>
              <a:tr h="0">
                <a:tc>
                  <a:txBody>
                    <a:bodyPr/>
                    <a:lstStyle/>
                    <a:p>
                      <a:pPr algn="l" fontAlgn="b"/>
                      <a:r>
                        <a:rPr lang="pt-BR" sz="1400" u="none" strike="noStrike" kern="1200" noProof="0" dirty="0">
                          <a:solidFill>
                            <a:schemeClr val="dk1"/>
                          </a:solidFill>
                          <a:effectLst/>
                          <a:latin typeface="+mn-lt"/>
                          <a:ea typeface="+mn-ea"/>
                          <a:cs typeface="+mn-cs"/>
                        </a:rPr>
                        <a:t>T1, T2</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Transistor PMOS</a:t>
                      </a:r>
                    </a:p>
                  </a:txBody>
                  <a:tcPr marL="12700" marR="12700" marT="0" marB="0" anchor="b"/>
                </a:tc>
                <a:extLst>
                  <a:ext uri="{0D108BD9-81ED-4DB2-BD59-A6C34878D82A}">
                    <a16:rowId xmlns:a16="http://schemas.microsoft.com/office/drawing/2014/main" val="10001"/>
                  </a:ext>
                </a:extLst>
              </a:tr>
              <a:tr h="0">
                <a:tc>
                  <a:txBody>
                    <a:bodyPr/>
                    <a:lstStyle/>
                    <a:p>
                      <a:pPr algn="l" fontAlgn="b"/>
                      <a:r>
                        <a:rPr lang="pt-BR" sz="1400" u="none" strike="noStrike" kern="1200" noProof="0" dirty="0">
                          <a:solidFill>
                            <a:schemeClr val="dk1"/>
                          </a:solidFill>
                          <a:effectLst/>
                          <a:latin typeface="+mn-lt"/>
                          <a:ea typeface="+mn-ea"/>
                          <a:cs typeface="+mn-cs"/>
                        </a:rPr>
                        <a:t>T3,</a:t>
                      </a:r>
                      <a:r>
                        <a:rPr lang="pt-BR" sz="1400" u="none" strike="noStrike" kern="1200" baseline="0" noProof="0" dirty="0">
                          <a:solidFill>
                            <a:schemeClr val="dk1"/>
                          </a:solidFill>
                          <a:effectLst/>
                          <a:latin typeface="+mn-lt"/>
                          <a:ea typeface="+mn-ea"/>
                          <a:cs typeface="+mn-cs"/>
                        </a:rPr>
                        <a:t> T4</a:t>
                      </a:r>
                      <a:endParaRPr lang="pt-BR" sz="1400" u="none" strike="noStrike" kern="1200" noProof="0" dirty="0">
                        <a:solidFill>
                          <a:schemeClr val="dk1"/>
                        </a:solidFill>
                        <a:effectLst/>
                        <a:latin typeface="+mn-lt"/>
                        <a:ea typeface="+mn-ea"/>
                        <a:cs typeface="+mn-cs"/>
                      </a:endParaRP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Transistor</a:t>
                      </a:r>
                      <a:r>
                        <a:rPr lang="pt-BR" sz="1400" u="none" strike="noStrike" kern="1200" baseline="0" noProof="0" dirty="0">
                          <a:solidFill>
                            <a:schemeClr val="dk1"/>
                          </a:solidFill>
                          <a:effectLst/>
                          <a:latin typeface="+mn-lt"/>
                          <a:ea typeface="+mn-ea"/>
                          <a:cs typeface="+mn-cs"/>
                        </a:rPr>
                        <a:t> NMOS</a:t>
                      </a:r>
                      <a:endParaRPr lang="pt-BR" sz="1400" u="none" strike="noStrike" kern="1200" noProof="0" dirty="0">
                        <a:solidFill>
                          <a:schemeClr val="dk1"/>
                        </a:solidFill>
                        <a:effectLst/>
                        <a:latin typeface="+mn-lt"/>
                        <a:ea typeface="+mn-ea"/>
                        <a:cs typeface="+mn-cs"/>
                      </a:endParaRPr>
                    </a:p>
                  </a:txBody>
                  <a:tcPr marL="12700" marR="12700" marT="0" marB="0" anchor="b"/>
                </a:tc>
                <a:extLst>
                  <a:ext uri="{0D108BD9-81ED-4DB2-BD59-A6C34878D82A}">
                    <a16:rowId xmlns:a16="http://schemas.microsoft.com/office/drawing/2014/main" val="10002"/>
                  </a:ext>
                </a:extLst>
              </a:tr>
              <a:tr h="0">
                <a:tc>
                  <a:txBody>
                    <a:bodyPr/>
                    <a:lstStyle/>
                    <a:p>
                      <a:pPr algn="l" fontAlgn="b"/>
                      <a:r>
                        <a:rPr lang="pt-BR" sz="1400" u="none" strike="noStrike" kern="1200" noProof="0" dirty="0">
                          <a:solidFill>
                            <a:schemeClr val="dk1"/>
                          </a:solidFill>
                          <a:effectLst/>
                          <a:latin typeface="+mn-lt"/>
                          <a:ea typeface="+mn-ea"/>
                          <a:cs typeface="+mn-cs"/>
                        </a:rPr>
                        <a:t>S1, S2</a:t>
                      </a:r>
                    </a:p>
                  </a:txBody>
                  <a:tcPr marL="12700" marR="12700" marT="0" marB="0" anchor="b"/>
                </a:tc>
                <a:tc>
                  <a:txBody>
                    <a:bodyPr/>
                    <a:lstStyle/>
                    <a:p>
                      <a:pPr algn="l" fontAlgn="b"/>
                      <a:r>
                        <a:rPr lang="en-US" sz="1400" u="none" strike="noStrike" kern="1200" noProof="0" dirty="0">
                          <a:solidFill>
                            <a:schemeClr val="dk1"/>
                          </a:solidFill>
                          <a:effectLst/>
                          <a:latin typeface="+mn-lt"/>
                          <a:ea typeface="+mn-ea"/>
                          <a:cs typeface="+mn-cs"/>
                        </a:rPr>
                        <a:t>Switches</a:t>
                      </a:r>
                    </a:p>
                  </a:txBody>
                  <a:tcPr marL="12700" marR="12700" marT="0" marB="0" anchor="b"/>
                </a:tc>
                <a:extLst>
                  <a:ext uri="{0D108BD9-81ED-4DB2-BD59-A6C34878D82A}">
                    <a16:rowId xmlns:a16="http://schemas.microsoft.com/office/drawing/2014/main" val="10003"/>
                  </a:ext>
                </a:extLst>
              </a:tr>
              <a:tr h="0">
                <a:tc>
                  <a:txBody>
                    <a:bodyPr/>
                    <a:lstStyle/>
                    <a:p>
                      <a:pPr algn="l" fontAlgn="b"/>
                      <a:r>
                        <a:rPr lang="pt-BR" sz="1400" u="none" strike="noStrike" kern="1200" noProof="0" dirty="0">
                          <a:solidFill>
                            <a:schemeClr val="dk1"/>
                          </a:solidFill>
                          <a:effectLst/>
                          <a:latin typeface="+mn-lt"/>
                          <a:ea typeface="+mn-ea"/>
                          <a:cs typeface="+mn-cs"/>
                        </a:rPr>
                        <a:t>D1</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LED</a:t>
                      </a:r>
                    </a:p>
                  </a:txBody>
                  <a:tcPr marL="12700" marR="12700" marT="0" marB="0" anchor="b"/>
                </a:tc>
                <a:extLst>
                  <a:ext uri="{0D108BD9-81ED-4DB2-BD59-A6C34878D82A}">
                    <a16:rowId xmlns:a16="http://schemas.microsoft.com/office/drawing/2014/main" val="10004"/>
                  </a:ext>
                </a:extLst>
              </a:tr>
              <a:tr h="0">
                <a:tc>
                  <a:txBody>
                    <a:bodyPr/>
                    <a:lstStyle/>
                    <a:p>
                      <a:pPr algn="l" fontAlgn="b"/>
                      <a:r>
                        <a:rPr lang="pt-BR" sz="1400" u="none" strike="noStrike" kern="1200" noProof="0" dirty="0">
                          <a:solidFill>
                            <a:schemeClr val="dk1"/>
                          </a:solidFill>
                          <a:effectLst/>
                          <a:latin typeface="+mn-lt"/>
                          <a:ea typeface="+mn-ea"/>
                          <a:cs typeface="+mn-cs"/>
                        </a:rPr>
                        <a:t>R1</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Resistor 200 </a:t>
                      </a:r>
                      <a:r>
                        <a:rPr lang="pt-BR" sz="1400" u="none" strike="noStrike" kern="1200" noProof="0" dirty="0" err="1">
                          <a:solidFill>
                            <a:schemeClr val="dk1"/>
                          </a:solidFill>
                          <a:effectLst/>
                          <a:latin typeface="+mn-lt"/>
                          <a:ea typeface="+mn-ea"/>
                          <a:cs typeface="+mn-cs"/>
                        </a:rPr>
                        <a:t>Ω</a:t>
                      </a:r>
                      <a:endParaRPr lang="pt-BR" sz="1400" u="none" strike="noStrike" kern="1200" noProof="0" dirty="0">
                        <a:solidFill>
                          <a:schemeClr val="dk1"/>
                        </a:solidFill>
                        <a:effectLst/>
                        <a:latin typeface="+mn-lt"/>
                        <a:ea typeface="+mn-ea"/>
                        <a:cs typeface="+mn-cs"/>
                      </a:endParaRPr>
                    </a:p>
                  </a:txBody>
                  <a:tcPr marL="12700" marR="12700" marT="0" marB="0" anchor="b"/>
                </a:tc>
                <a:extLst>
                  <a:ext uri="{0D108BD9-81ED-4DB2-BD59-A6C34878D82A}">
                    <a16:rowId xmlns:a16="http://schemas.microsoft.com/office/drawing/2014/main" val="10005"/>
                  </a:ext>
                </a:extLst>
              </a:tr>
              <a:tr h="0">
                <a:tc>
                  <a:txBody>
                    <a:bodyPr/>
                    <a:lstStyle/>
                    <a:p>
                      <a:pPr algn="l" fontAlgn="b"/>
                      <a:r>
                        <a:rPr lang="pt-BR" sz="1400" u="none" strike="noStrike" kern="1200" noProof="0" dirty="0">
                          <a:solidFill>
                            <a:schemeClr val="dk1"/>
                          </a:solidFill>
                          <a:effectLst/>
                          <a:latin typeface="+mn-lt"/>
                          <a:ea typeface="+mn-ea"/>
                          <a:cs typeface="+mn-cs"/>
                        </a:rPr>
                        <a:t>Bat1</a:t>
                      </a:r>
                    </a:p>
                  </a:txBody>
                  <a:tcPr marL="12700" marR="12700" marT="0" marB="0" anchor="b"/>
                </a:tc>
                <a:tc>
                  <a:txBody>
                    <a:bodyPr/>
                    <a:lstStyle/>
                    <a:p>
                      <a:pPr algn="l" fontAlgn="b"/>
                      <a:r>
                        <a:rPr lang="pt-BR" sz="1400" u="none" strike="noStrike" kern="1200" noProof="0" dirty="0">
                          <a:solidFill>
                            <a:schemeClr val="dk1"/>
                          </a:solidFill>
                          <a:effectLst/>
                          <a:latin typeface="+mn-lt"/>
                          <a:ea typeface="+mn-ea"/>
                          <a:cs typeface="+mn-cs"/>
                        </a:rPr>
                        <a:t>Pilhas</a:t>
                      </a:r>
                      <a:r>
                        <a:rPr lang="pt-BR" sz="1400" u="none" strike="noStrike" kern="1200" baseline="0" noProof="0" dirty="0">
                          <a:solidFill>
                            <a:schemeClr val="dk1"/>
                          </a:solidFill>
                          <a:effectLst/>
                          <a:latin typeface="+mn-lt"/>
                          <a:ea typeface="+mn-ea"/>
                          <a:cs typeface="+mn-cs"/>
                        </a:rPr>
                        <a:t> ou fonte 5V</a:t>
                      </a:r>
                      <a:endParaRPr lang="pt-BR" sz="1400" u="none" strike="noStrike" kern="1200" noProof="0" dirty="0">
                        <a:solidFill>
                          <a:schemeClr val="dk1"/>
                        </a:solidFill>
                        <a:effectLst/>
                        <a:latin typeface="+mn-lt"/>
                        <a:ea typeface="+mn-ea"/>
                        <a:cs typeface="+mn-cs"/>
                      </a:endParaRPr>
                    </a:p>
                  </a:txBody>
                  <a:tcPr marL="12700" marR="12700" marT="0" marB="0" anchor="b"/>
                </a:tc>
                <a:extLst>
                  <a:ext uri="{0D108BD9-81ED-4DB2-BD59-A6C34878D82A}">
                    <a16:rowId xmlns:a16="http://schemas.microsoft.com/office/drawing/2014/main" val="10006"/>
                  </a:ext>
                </a:extLst>
              </a:tr>
            </a:tbl>
          </a:graphicData>
        </a:graphic>
      </p:graphicFrame>
      <p:pic>
        <p:nvPicPr>
          <p:cNvPr id="16" name="Picture 15" descr="2016-01-08 14.10.06.jpg"/>
          <p:cNvPicPr>
            <a:picLocks noChangeAspect="1"/>
          </p:cNvPicPr>
          <p:nvPr/>
        </p:nvPicPr>
        <p:blipFill rotWithShape="1">
          <a:blip r:embed="rId3" cstate="print">
            <a:extLst>
              <a:ext uri="{28A0092B-C50C-407E-A947-70E740481C1C}">
                <a14:useLocalDpi xmlns:a14="http://schemas.microsoft.com/office/drawing/2010/main"/>
              </a:ext>
            </a:extLst>
          </a:blip>
          <a:srcRect l="17473" r="16047"/>
          <a:stretch/>
        </p:blipFill>
        <p:spPr>
          <a:xfrm>
            <a:off x="6691340" y="2475870"/>
            <a:ext cx="2160000" cy="1827621"/>
          </a:xfrm>
          <a:prstGeom prst="rect">
            <a:avLst/>
          </a:prstGeom>
        </p:spPr>
      </p:pic>
      <p:sp>
        <p:nvSpPr>
          <p:cNvPr id="17" name="Rectangle 16"/>
          <p:cNvSpPr/>
          <p:nvPr/>
        </p:nvSpPr>
        <p:spPr>
          <a:xfrm>
            <a:off x="6691340" y="4235327"/>
            <a:ext cx="2160000" cy="307777"/>
          </a:xfrm>
          <a:prstGeom prst="rect">
            <a:avLst/>
          </a:prstGeom>
        </p:spPr>
        <p:txBody>
          <a:bodyPr wrap="square">
            <a:spAutoFit/>
          </a:bodyPr>
          <a:lstStyle/>
          <a:p>
            <a:pPr algn="ctr"/>
            <a:r>
              <a:rPr lang="pt-BR" sz="1400" dirty="0"/>
              <a:t>circuito BJT e </a:t>
            </a:r>
            <a:r>
              <a:rPr lang="en-US" sz="1400" dirty="0"/>
              <a:t>push buttons</a:t>
            </a:r>
          </a:p>
        </p:txBody>
      </p:sp>
      <p:grpSp>
        <p:nvGrpSpPr>
          <p:cNvPr id="28" name="Group 27"/>
          <p:cNvGrpSpPr/>
          <p:nvPr/>
        </p:nvGrpSpPr>
        <p:grpSpPr>
          <a:xfrm>
            <a:off x="205470" y="2475870"/>
            <a:ext cx="6561687" cy="3926304"/>
            <a:chOff x="141970" y="2475870"/>
            <a:chExt cx="6561687" cy="3926304"/>
          </a:xfrm>
        </p:grpSpPr>
        <p:pic>
          <p:nvPicPr>
            <p:cNvPr id="14" name="Picture 13"/>
            <p:cNvPicPr>
              <a:picLocks noChangeAspect="1"/>
            </p:cNvPicPr>
            <p:nvPr/>
          </p:nvPicPr>
          <p:blipFill>
            <a:blip r:embed="rId4">
              <a:clrChange>
                <a:clrFrom>
                  <a:srgbClr val="F4F5F6"/>
                </a:clrFrom>
                <a:clrTo>
                  <a:srgbClr val="F4F5F6">
                    <a:alpha val="0"/>
                  </a:srgbClr>
                </a:clrTo>
              </a:clrChange>
            </a:blip>
            <a:stretch>
              <a:fillRect/>
            </a:stretch>
          </p:blipFill>
          <p:spPr>
            <a:xfrm>
              <a:off x="141970" y="2475870"/>
              <a:ext cx="6561687" cy="3926304"/>
            </a:xfrm>
            <a:prstGeom prst="rect">
              <a:avLst/>
            </a:prstGeom>
          </p:spPr>
        </p:pic>
        <p:pic>
          <p:nvPicPr>
            <p:cNvPr id="18" name="Picture 17"/>
            <p:cNvPicPr>
              <a:picLocks noChangeAspect="1"/>
            </p:cNvPicPr>
            <p:nvPr/>
          </p:nvPicPr>
          <p:blipFill rotWithShape="1">
            <a:blip r:embed="rId4">
              <a:clrChange>
                <a:clrFrom>
                  <a:srgbClr val="F4F5F6"/>
                </a:clrFrom>
                <a:clrTo>
                  <a:srgbClr val="F4F5F6">
                    <a:alpha val="0"/>
                  </a:srgbClr>
                </a:clrTo>
              </a:clrChange>
            </a:blip>
            <a:srcRect l="41372" t="47646" r="54951" b="46548"/>
            <a:stretch/>
          </p:blipFill>
          <p:spPr>
            <a:xfrm>
              <a:off x="2578100" y="3161709"/>
              <a:ext cx="241300" cy="227971"/>
            </a:xfrm>
            <a:prstGeom prst="rect">
              <a:avLst/>
            </a:prstGeom>
          </p:spPr>
        </p:pic>
        <p:pic>
          <p:nvPicPr>
            <p:cNvPr id="19" name="Picture 18"/>
            <p:cNvPicPr>
              <a:picLocks noChangeAspect="1"/>
            </p:cNvPicPr>
            <p:nvPr/>
          </p:nvPicPr>
          <p:blipFill rotWithShape="1">
            <a:blip r:embed="rId4">
              <a:clrChange>
                <a:clrFrom>
                  <a:srgbClr val="F4F5F6"/>
                </a:clrFrom>
                <a:clrTo>
                  <a:srgbClr val="F4F5F6">
                    <a:alpha val="0"/>
                  </a:srgbClr>
                </a:clrTo>
              </a:clrChange>
            </a:blip>
            <a:srcRect l="65277" t="45889" r="30223" b="44812"/>
            <a:stretch/>
          </p:blipFill>
          <p:spPr>
            <a:xfrm>
              <a:off x="4179510" y="3098170"/>
              <a:ext cx="295276" cy="365125"/>
            </a:xfrm>
            <a:prstGeom prst="rect">
              <a:avLst/>
            </a:prstGeom>
          </p:spPr>
        </p:pic>
        <p:sp>
          <p:nvSpPr>
            <p:cNvPr id="20" name="Rectangle 19"/>
            <p:cNvSpPr/>
            <p:nvPr/>
          </p:nvSpPr>
          <p:spPr>
            <a:xfrm>
              <a:off x="4179510" y="4235327"/>
              <a:ext cx="595690" cy="4687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ctangle 20"/>
            <p:cNvSpPr/>
            <p:nvPr/>
          </p:nvSpPr>
          <p:spPr>
            <a:xfrm>
              <a:off x="2521555" y="4154838"/>
              <a:ext cx="595690" cy="4687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88248188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Desafio 2</a:t>
            </a:r>
          </a:p>
        </p:txBody>
      </p:sp>
      <p:sp>
        <p:nvSpPr>
          <p:cNvPr id="3" name="Content Placeholder 2"/>
          <p:cNvSpPr>
            <a:spLocks noGrp="1"/>
          </p:cNvSpPr>
          <p:nvPr>
            <p:ph idx="1"/>
          </p:nvPr>
        </p:nvSpPr>
        <p:spPr>
          <a:xfrm>
            <a:off x="657225" y="1485900"/>
            <a:ext cx="8029575" cy="905608"/>
          </a:xfrm>
        </p:spPr>
        <p:txBody>
          <a:bodyPr>
            <a:normAutofit/>
          </a:bodyPr>
          <a:lstStyle/>
          <a:p>
            <a:r>
              <a:rPr lang="pt-BR" sz="2000" dirty="0"/>
              <a:t>Crie uma porta XOR ou XNOR com circuitos CMOS</a:t>
            </a:r>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43</a:t>
            </a:fld>
            <a:endParaRPr lang="pt-BR" dirty="0"/>
          </a:p>
        </p:txBody>
      </p:sp>
      <p:pic>
        <p:nvPicPr>
          <p:cNvPr id="12" name="Picture 11"/>
          <p:cNvPicPr>
            <a:picLocks noChangeAspect="1"/>
          </p:cNvPicPr>
          <p:nvPr/>
        </p:nvPicPr>
        <p:blipFill>
          <a:blip r:embed="rId3"/>
          <a:stretch>
            <a:fillRect/>
          </a:stretch>
        </p:blipFill>
        <p:spPr>
          <a:xfrm>
            <a:off x="1852612" y="2477233"/>
            <a:ext cx="5638800" cy="3111500"/>
          </a:xfrm>
          <a:prstGeom prst="rect">
            <a:avLst/>
          </a:prstGeom>
        </p:spPr>
      </p:pic>
    </p:spTree>
    <p:extLst>
      <p:ext uri="{BB962C8B-B14F-4D97-AF65-F5344CB8AC3E}">
        <p14:creationId xmlns:p14="http://schemas.microsoft.com/office/powerpoint/2010/main" val="11024222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Portas Lógicas</a:t>
            </a:r>
          </a:p>
        </p:txBody>
      </p:sp>
      <p:sp>
        <p:nvSpPr>
          <p:cNvPr id="3" name="Content Placeholder 2"/>
          <p:cNvSpPr>
            <a:spLocks noGrp="1"/>
          </p:cNvSpPr>
          <p:nvPr>
            <p:ph idx="1"/>
          </p:nvPr>
        </p:nvSpPr>
        <p:spPr/>
        <p:txBody>
          <a:bodyPr/>
          <a:lstStyle/>
          <a:p>
            <a:r>
              <a:rPr lang="pt-BR" dirty="0"/>
              <a:t>Dispositivo eletrônico que implementa uma lógica booleana.</a:t>
            </a:r>
          </a:p>
          <a:p>
            <a:r>
              <a:rPr lang="pt-BR" dirty="0" err="1"/>
              <a:t>Ex</a:t>
            </a:r>
            <a:r>
              <a:rPr lang="pt-BR" dirty="0"/>
              <a:t>: Tabela verdade de uma porta AND</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44</a:t>
            </a:fld>
            <a:endParaRPr lang="pt-BR" dirty="0"/>
          </a:p>
        </p:txBody>
      </p:sp>
      <p:graphicFrame>
        <p:nvGraphicFramePr>
          <p:cNvPr id="6" name="Table 5"/>
          <p:cNvGraphicFramePr>
            <a:graphicFrameLocks noGrp="1"/>
          </p:cNvGraphicFramePr>
          <p:nvPr/>
        </p:nvGraphicFramePr>
        <p:xfrm>
          <a:off x="1406161" y="2758780"/>
          <a:ext cx="6096000" cy="1854200"/>
        </p:xfrm>
        <a:graphic>
          <a:graphicData uri="http://schemas.openxmlformats.org/drawingml/2006/table">
            <a:tbl>
              <a:tblPr first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pt-BR" b="1" dirty="0"/>
                        <a:t>A (Entrada)</a:t>
                      </a:r>
                    </a:p>
                  </a:txBody>
                  <a:tcPr>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tc>
                  <a:txBody>
                    <a:bodyPr/>
                    <a:lstStyle/>
                    <a:p>
                      <a:pPr algn="ctr"/>
                      <a:r>
                        <a:rPr lang="pt-BR" b="1" dirty="0"/>
                        <a:t>B (Entrada)</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tc>
                  <a:txBody>
                    <a:bodyPr/>
                    <a:lstStyle/>
                    <a:p>
                      <a:pPr algn="ctr"/>
                      <a:r>
                        <a:rPr lang="pt-BR" b="1" dirty="0"/>
                        <a:t>Q (Saída)</a:t>
                      </a:r>
                    </a:p>
                  </a:txBody>
                  <a:tcPr>
                    <a:lnL w="12700" cap="flat" cmpd="sng" algn="ctr">
                      <a:solidFill>
                        <a:scrgbClr r="0" g="0" b="0"/>
                      </a:solidFill>
                      <a:prstDash val="solid"/>
                      <a:round/>
                      <a:headEnd type="none" w="med" len="med"/>
                      <a:tailEnd type="none" w="med" len="med"/>
                    </a:lnL>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pt-BR" dirty="0"/>
                        <a:t>0 (Falso)</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0 (Falso)</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0 (Falso)</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0 (Falso)</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1</a:t>
                      </a:r>
                      <a:r>
                        <a:rPr lang="pt-BR" baseline="0" dirty="0"/>
                        <a:t> (Verdade)</a:t>
                      </a:r>
                      <a:endParaRPr lang="pt-BR"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0 (Falso)</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1</a:t>
                      </a:r>
                      <a:r>
                        <a:rPr lang="pt-BR" baseline="0" dirty="0"/>
                        <a:t> (Verdade)</a:t>
                      </a:r>
                      <a:endParaRPr lang="pt-BR"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0 (Falso)</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0 (Falso)</a:t>
                      </a:r>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1</a:t>
                      </a:r>
                      <a:r>
                        <a:rPr lang="pt-BR" baseline="0" dirty="0"/>
                        <a:t> (Verdade)</a:t>
                      </a:r>
                      <a:endParaRPr lang="pt-BR" dirty="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1</a:t>
                      </a:r>
                      <a:r>
                        <a:rPr lang="pt-BR" baseline="0" dirty="0"/>
                        <a:t> (Verdade)</a:t>
                      </a:r>
                      <a:endParaRPr lang="pt-BR"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1</a:t>
                      </a:r>
                      <a:r>
                        <a:rPr lang="pt-BR" baseline="0" dirty="0"/>
                        <a:t> (Verdade)</a:t>
                      </a:r>
                      <a:endParaRPr lang="pt-BR" dirty="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4"/>
                  </a:ext>
                </a:extLst>
              </a:tr>
            </a:tbl>
          </a:graphicData>
        </a:graphic>
      </p:graphicFrame>
      <p:grpSp>
        <p:nvGrpSpPr>
          <p:cNvPr id="9" name="Group 8"/>
          <p:cNvGrpSpPr/>
          <p:nvPr/>
        </p:nvGrpSpPr>
        <p:grpSpPr>
          <a:xfrm>
            <a:off x="3411140" y="5091012"/>
            <a:ext cx="1642855" cy="1382584"/>
            <a:chOff x="3411140" y="5091012"/>
            <a:chExt cx="1642855" cy="1382584"/>
          </a:xfrm>
        </p:grpSpPr>
        <p:pic>
          <p:nvPicPr>
            <p:cNvPr id="7" name="Picture 6" descr="and-gate-hi.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11140" y="5091012"/>
              <a:ext cx="1642855" cy="985714"/>
            </a:xfrm>
            <a:prstGeom prst="rect">
              <a:avLst/>
            </a:prstGeom>
          </p:spPr>
        </p:pic>
        <p:sp>
          <p:nvSpPr>
            <p:cNvPr id="8" name="Rectangle 7"/>
            <p:cNvSpPr/>
            <p:nvPr/>
          </p:nvSpPr>
          <p:spPr>
            <a:xfrm>
              <a:off x="3858004" y="6104264"/>
              <a:ext cx="622098" cy="369332"/>
            </a:xfrm>
            <a:prstGeom prst="rect">
              <a:avLst/>
            </a:prstGeom>
          </p:spPr>
          <p:txBody>
            <a:bodyPr wrap="none">
              <a:spAutoFit/>
            </a:bodyPr>
            <a:lstStyle/>
            <a:p>
              <a:r>
                <a:rPr lang="en-US" b="1" dirty="0"/>
                <a:t>AND</a:t>
              </a:r>
            </a:p>
          </p:txBody>
        </p:sp>
      </p:grpSp>
    </p:spTree>
    <p:custDataLst>
      <p:tags r:id="rId1"/>
    </p:custDataLst>
    <p:extLst>
      <p:ext uri="{BB962C8B-B14F-4D97-AF65-F5344CB8AC3E}">
        <p14:creationId xmlns:p14="http://schemas.microsoft.com/office/powerpoint/2010/main" val="1106648325"/>
      </p:ext>
    </p:extLst>
  </p:cSld>
  <p:clrMapOvr>
    <a:masterClrMapping/>
  </p:clrMapOvr>
  <mc:AlternateContent xmlns:mc="http://schemas.openxmlformats.org/markup-compatibility/2006">
    <mc:Choice xmlns:p14="http://schemas.microsoft.com/office/powerpoint/2010/main" Requires="p14">
      <p:transition spd="slow" p14:dur="1200" advTm="23696">
        <p14:prism/>
      </p:transition>
    </mc:Choice>
    <mc:Fallback>
      <p:transition spd="slow" advTm="2369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heel(1)">
                                      <p:cBhvr>
                                        <p:cTn id="11"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Portas Lógicas</a:t>
            </a:r>
          </a:p>
        </p:txBody>
      </p:sp>
      <p:sp>
        <p:nvSpPr>
          <p:cNvPr id="3" name="Content Placeholder 2"/>
          <p:cNvSpPr>
            <a:spLocks noGrp="1"/>
          </p:cNvSpPr>
          <p:nvPr>
            <p:ph idx="1"/>
          </p:nvPr>
        </p:nvSpPr>
        <p:spPr/>
        <p:txBody>
          <a:bodyPr/>
          <a:lstStyle/>
          <a:p>
            <a:pPr marL="285750" indent="-285750">
              <a:buFontTx/>
              <a:buChar char="•"/>
            </a:pPr>
            <a:r>
              <a:rPr lang="pt-BR" dirty="0"/>
              <a:t>Blocos básicos de construção de qualquer sistema digita.</a:t>
            </a:r>
          </a:p>
          <a:p>
            <a:pPr marL="285750" indent="-285750">
              <a:buFontTx/>
              <a:buChar char="•"/>
            </a:pPr>
            <a:r>
              <a:rPr lang="pt-BR" dirty="0"/>
              <a:t>As combinações das entradas definem a saída em função de uma lógica booleana.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45</a:t>
            </a:fld>
            <a:endParaRPr lang="pt-BR" dirty="0"/>
          </a:p>
        </p:txBody>
      </p:sp>
      <p:pic>
        <p:nvPicPr>
          <p:cNvPr id="6" name="Picture 5"/>
          <p:cNvPicPr>
            <a:picLocks noChangeAspect="1"/>
          </p:cNvPicPr>
          <p:nvPr/>
        </p:nvPicPr>
        <p:blipFill rotWithShape="1">
          <a:blip r:embed="rId3"/>
          <a:srcRect l="35674" t="67361" r="36729"/>
          <a:stretch/>
        </p:blipFill>
        <p:spPr>
          <a:xfrm>
            <a:off x="1152093" y="2573565"/>
            <a:ext cx="1545259" cy="1912841"/>
          </a:xfrm>
          <a:prstGeom prst="rect">
            <a:avLst/>
          </a:prstGeom>
        </p:spPr>
      </p:pic>
      <p:pic>
        <p:nvPicPr>
          <p:cNvPr id="8" name="Picture 7"/>
          <p:cNvPicPr>
            <a:picLocks noChangeAspect="1"/>
          </p:cNvPicPr>
          <p:nvPr/>
        </p:nvPicPr>
        <p:blipFill rotWithShape="1">
          <a:blip r:embed="rId3"/>
          <a:srcRect r="71249" b="73378"/>
          <a:stretch/>
        </p:blipFill>
        <p:spPr>
          <a:xfrm>
            <a:off x="6646232" y="3965895"/>
            <a:ext cx="1609920" cy="1560228"/>
          </a:xfrm>
          <a:prstGeom prst="rect">
            <a:avLst/>
          </a:prstGeom>
        </p:spPr>
      </p:pic>
      <p:pic>
        <p:nvPicPr>
          <p:cNvPr id="9" name="Picture 8"/>
          <p:cNvPicPr>
            <a:picLocks noChangeAspect="1"/>
          </p:cNvPicPr>
          <p:nvPr/>
        </p:nvPicPr>
        <p:blipFill rotWithShape="1">
          <a:blip r:embed="rId3"/>
          <a:srcRect l="34506" r="36363" b="67731"/>
          <a:stretch/>
        </p:blipFill>
        <p:spPr>
          <a:xfrm>
            <a:off x="2941736" y="4693551"/>
            <a:ext cx="1631149" cy="1891185"/>
          </a:xfrm>
          <a:prstGeom prst="rect">
            <a:avLst/>
          </a:prstGeom>
        </p:spPr>
      </p:pic>
      <p:pic>
        <p:nvPicPr>
          <p:cNvPr id="10" name="Picture 9"/>
          <p:cNvPicPr>
            <a:picLocks noChangeAspect="1"/>
          </p:cNvPicPr>
          <p:nvPr/>
        </p:nvPicPr>
        <p:blipFill rotWithShape="1">
          <a:blip r:embed="rId3"/>
          <a:srcRect t="31865" r="68949" b="32638"/>
          <a:stretch/>
        </p:blipFill>
        <p:spPr>
          <a:xfrm>
            <a:off x="4857705" y="4583081"/>
            <a:ext cx="1738713" cy="2080306"/>
          </a:xfrm>
          <a:prstGeom prst="rect">
            <a:avLst/>
          </a:prstGeom>
        </p:spPr>
      </p:pic>
      <p:pic>
        <p:nvPicPr>
          <p:cNvPr id="11" name="Picture 10"/>
          <p:cNvPicPr>
            <a:picLocks noChangeAspect="1"/>
          </p:cNvPicPr>
          <p:nvPr/>
        </p:nvPicPr>
        <p:blipFill rotWithShape="1">
          <a:blip r:embed="rId3"/>
          <a:srcRect l="32318" t="33883" r="37285" b="33445"/>
          <a:stretch/>
        </p:blipFill>
        <p:spPr>
          <a:xfrm>
            <a:off x="954850" y="4669909"/>
            <a:ext cx="1702066" cy="1914827"/>
          </a:xfrm>
          <a:prstGeom prst="rect">
            <a:avLst/>
          </a:prstGeom>
        </p:spPr>
      </p:pic>
      <p:pic>
        <p:nvPicPr>
          <p:cNvPr id="12" name="Picture 11"/>
          <p:cNvPicPr>
            <a:picLocks noChangeAspect="1"/>
          </p:cNvPicPr>
          <p:nvPr/>
        </p:nvPicPr>
        <p:blipFill rotWithShape="1">
          <a:blip r:embed="rId3"/>
          <a:srcRect l="70969" t="32507" b="32638"/>
          <a:stretch/>
        </p:blipFill>
        <p:spPr>
          <a:xfrm>
            <a:off x="2914944" y="2560166"/>
            <a:ext cx="1625590" cy="2042669"/>
          </a:xfrm>
          <a:prstGeom prst="rect">
            <a:avLst/>
          </a:prstGeom>
        </p:spPr>
      </p:pic>
      <p:pic>
        <p:nvPicPr>
          <p:cNvPr id="13" name="Picture 12"/>
          <p:cNvPicPr>
            <a:picLocks noChangeAspect="1"/>
          </p:cNvPicPr>
          <p:nvPr/>
        </p:nvPicPr>
        <p:blipFill rotWithShape="1">
          <a:blip r:embed="rId3"/>
          <a:srcRect t="66152" r="71348"/>
          <a:stretch/>
        </p:blipFill>
        <p:spPr>
          <a:xfrm>
            <a:off x="4758127" y="2525722"/>
            <a:ext cx="1604358" cy="1983758"/>
          </a:xfrm>
          <a:prstGeom prst="rect">
            <a:avLst/>
          </a:prstGeom>
        </p:spPr>
      </p:pic>
    </p:spTree>
    <p:extLst>
      <p:ext uri="{BB962C8B-B14F-4D97-AF65-F5344CB8AC3E}">
        <p14:creationId xmlns:p14="http://schemas.microsoft.com/office/powerpoint/2010/main" val="1981783341"/>
      </p:ext>
    </p:extLst>
  </p:cSld>
  <p:clrMapOvr>
    <a:masterClrMapping/>
  </p:clrMapOvr>
  <mc:AlternateContent xmlns:mc="http://schemas.openxmlformats.org/markup-compatibility/2006">
    <mc:Choice xmlns:p14="http://schemas.microsoft.com/office/powerpoint/2010/main" Requires="p14">
      <p:transition spd="slow" p14:dur="1200" advTm="67142">
        <p14:prism/>
      </p:transition>
    </mc:Choice>
    <mc:Fallback>
      <p:transition spd="slow" advTm="6714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400"/>
                                  </p:stCondLst>
                                  <p:childTnLst>
                                    <p:set>
                                      <p:cBhvr>
                                        <p:cTn id="9" dur="1" fill="hold">
                                          <p:stCondLst>
                                            <p:cond delay="0"/>
                                          </p:stCondLst>
                                        </p:cTn>
                                        <p:tgtEl>
                                          <p:spTgt spid="11"/>
                                        </p:tgtEl>
                                        <p:attrNameLst>
                                          <p:attrName>style.visibility</p:attrName>
                                        </p:attrNameLst>
                                      </p:cBhvr>
                                      <p:to>
                                        <p:strVal val="visible"/>
                                      </p:to>
                                    </p:set>
                                    <p:animEffect transition="in" filter="dissolve">
                                      <p:cBhvr>
                                        <p:cTn id="10" dur="500"/>
                                        <p:tgtEl>
                                          <p:spTgt spid="11"/>
                                        </p:tgtEl>
                                      </p:cBhvr>
                                    </p:animEffect>
                                  </p:childTnLst>
                                </p:cTn>
                              </p:par>
                              <p:par>
                                <p:cTn id="11" presetID="9" presetClass="entr" presetSubtype="0" fill="hold" nodeType="withEffect">
                                  <p:stCondLst>
                                    <p:cond delay="60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par>
                                <p:cTn id="14" presetID="9" presetClass="entr" presetSubtype="0" fill="hold" nodeType="withEffect">
                                  <p:stCondLst>
                                    <p:cond delay="80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par>
                                <p:cTn id="17" presetID="9" presetClass="entr" presetSubtype="0" fill="hold" nodeType="withEffect">
                                  <p:stCondLst>
                                    <p:cond delay="1000"/>
                                  </p:stCondLst>
                                  <p:childTnLst>
                                    <p:set>
                                      <p:cBhvr>
                                        <p:cTn id="18" dur="1" fill="hold">
                                          <p:stCondLst>
                                            <p:cond delay="0"/>
                                          </p:stCondLst>
                                        </p:cTn>
                                        <p:tgtEl>
                                          <p:spTgt spid="13"/>
                                        </p:tgtEl>
                                        <p:attrNameLst>
                                          <p:attrName>style.visibility</p:attrName>
                                        </p:attrNameLst>
                                      </p:cBhvr>
                                      <p:to>
                                        <p:strVal val="visible"/>
                                      </p:to>
                                    </p:set>
                                    <p:animEffect transition="in" filter="dissolve">
                                      <p:cBhvr>
                                        <p:cTn id="19" dur="500"/>
                                        <p:tgtEl>
                                          <p:spTgt spid="13"/>
                                        </p:tgtEl>
                                      </p:cBhvr>
                                    </p:animEffect>
                                  </p:childTnLst>
                                </p:cTn>
                              </p:par>
                              <p:par>
                                <p:cTn id="20" presetID="9" presetClass="entr" presetSubtype="0" fill="hold" nodeType="withEffect">
                                  <p:stCondLst>
                                    <p:cond delay="120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nodeType="withEffect">
                                  <p:stCondLst>
                                    <p:cond delay="140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Notação de Algebra Booleana</a:t>
            </a:r>
          </a:p>
        </p:txBody>
      </p:sp>
      <p:sp>
        <p:nvSpPr>
          <p:cNvPr id="3" name="Content Placeholder 2"/>
          <p:cNvSpPr>
            <a:spLocks noGrp="1"/>
          </p:cNvSpPr>
          <p:nvPr>
            <p:ph idx="1"/>
          </p:nvPr>
        </p:nvSpPr>
        <p:spPr>
          <a:xfrm>
            <a:off x="657225" y="1485900"/>
            <a:ext cx="8029575" cy="552135"/>
          </a:xfrm>
        </p:spPr>
        <p:txBody>
          <a:bodyPr>
            <a:normAutofit/>
          </a:bodyPr>
          <a:lstStyle/>
          <a:p>
            <a:r>
              <a:rPr lang="pt-BR" sz="2000" dirty="0"/>
              <a:t>As seguintes notações são as normalmente usadas:</a:t>
            </a:r>
          </a:p>
        </p:txBody>
      </p:sp>
      <p:sp>
        <p:nvSpPr>
          <p:cNvPr id="6" name="Text Placeholder 5"/>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46</a:t>
            </a:fld>
            <a:endParaRPr lang="pt-BR" dirty="0"/>
          </a:p>
        </p:txBody>
      </p:sp>
      <p:graphicFrame>
        <p:nvGraphicFramePr>
          <p:cNvPr id="7" name="Table 6"/>
          <p:cNvGraphicFramePr>
            <a:graphicFrameLocks noGrp="1"/>
          </p:cNvGraphicFramePr>
          <p:nvPr/>
        </p:nvGraphicFramePr>
        <p:xfrm>
          <a:off x="999760" y="2585454"/>
          <a:ext cx="7255240" cy="2740152"/>
        </p:xfrm>
        <a:graphic>
          <a:graphicData uri="http://schemas.openxmlformats.org/drawingml/2006/table">
            <a:tbl>
              <a:tblPr>
                <a:tableStyleId>{35758FB7-9AC5-4552-8A53-C91805E547FA}</a:tableStyleId>
              </a:tblPr>
              <a:tblGrid>
                <a:gridCol w="3353223">
                  <a:extLst>
                    <a:ext uri="{9D8B030D-6E8A-4147-A177-3AD203B41FA5}">
                      <a16:colId xmlns:a16="http://schemas.microsoft.com/office/drawing/2014/main" val="20000"/>
                    </a:ext>
                  </a:extLst>
                </a:gridCol>
                <a:gridCol w="3902017">
                  <a:extLst>
                    <a:ext uri="{9D8B030D-6E8A-4147-A177-3AD203B41FA5}">
                      <a16:colId xmlns:a16="http://schemas.microsoft.com/office/drawing/2014/main" val="20001"/>
                    </a:ext>
                  </a:extLst>
                </a:gridCol>
              </a:tblGrid>
              <a:tr h="370840">
                <a:tc>
                  <a:txBody>
                    <a:bodyPr/>
                    <a:lstStyle/>
                    <a:p>
                      <a:pPr algn="ctr">
                        <a:lnSpc>
                          <a:spcPts val="2320"/>
                        </a:lnSpc>
                      </a:pPr>
                      <a:r>
                        <a:rPr lang="en-US" sz="2000" b="1" kern="1800" spc="0" dirty="0"/>
                        <a:t>A AND B</a:t>
                      </a:r>
                      <a:endParaRPr lang="pt-BR" sz="2000" b="1" kern="1800" spc="0" dirty="0"/>
                    </a:p>
                  </a:txBody>
                  <a:tcPr/>
                </a:tc>
                <a:tc>
                  <a:txBody>
                    <a:bodyPr/>
                    <a:lstStyle/>
                    <a:p>
                      <a:pPr marL="0" marR="0" indent="0" algn="ctr" defTabSz="914400" rtl="0" eaLnBrk="1" fontAlgn="auto" latinLnBrk="0" hangingPunct="1">
                        <a:lnSpc>
                          <a:spcPts val="2320"/>
                        </a:lnSpc>
                        <a:spcBef>
                          <a:spcPts val="0"/>
                        </a:spcBef>
                        <a:spcAft>
                          <a:spcPts val="0"/>
                        </a:spcAft>
                        <a:buClrTx/>
                        <a:buSzTx/>
                        <a:buFontTx/>
                        <a:buNone/>
                        <a:tabLst/>
                        <a:defRPr/>
                      </a:pPr>
                      <a:r>
                        <a:rPr lang="en-US" sz="2000" b="1" kern="1800" spc="0" dirty="0"/>
                        <a:t>AB </a:t>
                      </a:r>
                      <a:r>
                        <a:rPr lang="en-US" sz="2000" b="0" kern="1800" spc="0" dirty="0"/>
                        <a:t>ou</a:t>
                      </a:r>
                      <a:r>
                        <a:rPr lang="en-US" sz="2000" b="1" kern="1800" spc="0" dirty="0"/>
                        <a:t> A</a:t>
                      </a:r>
                      <a:r>
                        <a:rPr lang="en-US" sz="1200" b="1" kern="1800" spc="0" dirty="0"/>
                        <a:t> </a:t>
                      </a:r>
                      <a:r>
                        <a:rPr lang="en-US" sz="2000" b="1" kern="1800" spc="0" dirty="0"/>
                        <a:t>•</a:t>
                      </a:r>
                      <a:r>
                        <a:rPr lang="en-US" sz="1200" b="1" kern="1800" spc="0" dirty="0"/>
                        <a:t> </a:t>
                      </a:r>
                      <a:r>
                        <a:rPr lang="en-US" sz="2000" b="1" kern="1800" spc="0" dirty="0"/>
                        <a:t>B</a:t>
                      </a:r>
                    </a:p>
                  </a:txBody>
                  <a:tcPr/>
                </a:tc>
                <a:extLst>
                  <a:ext uri="{0D108BD9-81ED-4DB2-BD59-A6C34878D82A}">
                    <a16:rowId xmlns:a16="http://schemas.microsoft.com/office/drawing/2014/main" val="10000"/>
                  </a:ext>
                </a:extLst>
              </a:tr>
              <a:tr h="370840">
                <a:tc>
                  <a:txBody>
                    <a:bodyPr/>
                    <a:lstStyle/>
                    <a:p>
                      <a:pPr algn="ctr">
                        <a:lnSpc>
                          <a:spcPts val="2320"/>
                        </a:lnSpc>
                      </a:pPr>
                      <a:r>
                        <a:rPr lang="en-US" sz="2000" b="1" kern="1800" spc="0" dirty="0"/>
                        <a:t>A OR B </a:t>
                      </a:r>
                      <a:endParaRPr lang="pt-BR" sz="2000" b="1" kern="1800" spc="0" dirty="0"/>
                    </a:p>
                  </a:txBody>
                  <a:tcPr/>
                </a:tc>
                <a:tc>
                  <a:txBody>
                    <a:bodyPr/>
                    <a:lstStyle/>
                    <a:p>
                      <a:pPr marL="0" marR="0" indent="0" algn="ctr" defTabSz="914400" rtl="0" eaLnBrk="1" fontAlgn="auto" latinLnBrk="0" hangingPunct="1">
                        <a:lnSpc>
                          <a:spcPts val="2320"/>
                        </a:lnSpc>
                        <a:spcBef>
                          <a:spcPts val="0"/>
                        </a:spcBef>
                        <a:spcAft>
                          <a:spcPts val="0"/>
                        </a:spcAft>
                        <a:buClrTx/>
                        <a:buSzTx/>
                        <a:buFontTx/>
                        <a:buNone/>
                        <a:tabLst/>
                        <a:defRPr/>
                      </a:pPr>
                      <a:r>
                        <a:rPr lang="en-US" sz="2000" b="1" kern="1800" spc="0" dirty="0"/>
                        <a:t>A + B</a:t>
                      </a:r>
                    </a:p>
                  </a:txBody>
                  <a:tcPr/>
                </a:tc>
                <a:extLst>
                  <a:ext uri="{0D108BD9-81ED-4DB2-BD59-A6C34878D82A}">
                    <a16:rowId xmlns:a16="http://schemas.microsoft.com/office/drawing/2014/main" val="10001"/>
                  </a:ext>
                </a:extLst>
              </a:tr>
              <a:tr h="370840">
                <a:tc>
                  <a:txBody>
                    <a:bodyPr/>
                    <a:lstStyle/>
                    <a:p>
                      <a:pPr algn="ctr">
                        <a:lnSpc>
                          <a:spcPts val="2320"/>
                        </a:lnSpc>
                      </a:pPr>
                      <a:r>
                        <a:rPr lang="en-US" sz="2000" b="1" kern="1800" spc="0" dirty="0"/>
                        <a:t>A XOR B </a:t>
                      </a:r>
                      <a:endParaRPr lang="pt-BR" sz="2000" b="1" kern="1800" spc="0" dirty="0"/>
                    </a:p>
                  </a:txBody>
                  <a:tcPr/>
                </a:tc>
                <a:tc>
                  <a:txBody>
                    <a:bodyPr/>
                    <a:lstStyle/>
                    <a:p>
                      <a:pPr marL="0" marR="0" indent="0" algn="ctr" defTabSz="914400" rtl="0" eaLnBrk="1" fontAlgn="auto" latinLnBrk="0" hangingPunct="1">
                        <a:lnSpc>
                          <a:spcPts val="2320"/>
                        </a:lnSpc>
                        <a:spcBef>
                          <a:spcPts val="0"/>
                        </a:spcBef>
                        <a:spcAft>
                          <a:spcPts val="0"/>
                        </a:spcAft>
                        <a:buClrTx/>
                        <a:buSzTx/>
                        <a:buFontTx/>
                        <a:buNone/>
                        <a:tabLst/>
                        <a:defRPr/>
                      </a:pPr>
                      <a:r>
                        <a:rPr lang="en-US" sz="2000" b="1" kern="1800" spc="0" dirty="0"/>
                        <a:t>A </a:t>
                      </a:r>
                      <a:r>
                        <a:rPr lang="en-US" sz="4000" b="1" kern="1800" spc="0" baseline="-1000" dirty="0"/>
                        <a:t>⊕</a:t>
                      </a:r>
                      <a:r>
                        <a:rPr kumimoji="0" lang="en-US" sz="2000" b="1" i="0" u="none" strike="noStrike" kern="1800" cap="none" spc="0" normalizeH="0" baseline="0" noProof="0" dirty="0">
                          <a:ln>
                            <a:noFill/>
                          </a:ln>
                          <a:solidFill>
                            <a:prstClr val="black"/>
                          </a:solidFill>
                          <a:effectLst/>
                          <a:uLnTx/>
                          <a:uFillTx/>
                          <a:latin typeface="+mn-lt"/>
                          <a:ea typeface="+mn-ea"/>
                          <a:cs typeface="+mn-cs"/>
                        </a:rPr>
                        <a:t> </a:t>
                      </a:r>
                      <a:r>
                        <a:rPr lang="en-US" sz="2000" b="1" kern="1800" spc="0" dirty="0"/>
                        <a:t>B</a:t>
                      </a:r>
                    </a:p>
                  </a:txBody>
                  <a:tcPr/>
                </a:tc>
                <a:extLst>
                  <a:ext uri="{0D108BD9-81ED-4DB2-BD59-A6C34878D82A}">
                    <a16:rowId xmlns:a16="http://schemas.microsoft.com/office/drawing/2014/main" val="10002"/>
                  </a:ext>
                </a:extLst>
              </a:tr>
              <a:tr h="370840">
                <a:tc>
                  <a:txBody>
                    <a:bodyPr/>
                    <a:lstStyle/>
                    <a:p>
                      <a:pPr algn="ctr">
                        <a:lnSpc>
                          <a:spcPts val="2320"/>
                        </a:lnSpc>
                      </a:pPr>
                      <a:r>
                        <a:rPr lang="en-US" sz="2000" b="1" kern="1800" spc="0" dirty="0"/>
                        <a:t>NOT A </a:t>
                      </a:r>
                      <a:endParaRPr lang="pt-BR" sz="2000" b="1" kern="1800" spc="0" dirty="0"/>
                    </a:p>
                  </a:txBody>
                  <a:tcPr/>
                </a:tc>
                <a:tc>
                  <a:txBody>
                    <a:bodyPr/>
                    <a:lstStyle/>
                    <a:p>
                      <a:pPr marL="0" marR="0" indent="0" algn="ctr" defTabSz="914400" rtl="0" eaLnBrk="1" fontAlgn="auto" latinLnBrk="0" hangingPunct="1">
                        <a:lnSpc>
                          <a:spcPts val="2320"/>
                        </a:lnSpc>
                        <a:spcBef>
                          <a:spcPts val="0"/>
                        </a:spcBef>
                        <a:spcAft>
                          <a:spcPts val="0"/>
                        </a:spcAft>
                        <a:buClrTx/>
                        <a:buSzTx/>
                        <a:buFontTx/>
                        <a:buNone/>
                        <a:tabLst/>
                        <a:defRPr/>
                      </a:pPr>
                      <a:r>
                        <a:rPr lang="en-US" sz="2000" b="1" kern="1800" spc="0" dirty="0"/>
                        <a:t>A' </a:t>
                      </a:r>
                      <a:r>
                        <a:rPr lang="en-US" sz="2000" b="0" kern="1800" spc="0" dirty="0"/>
                        <a:t>ou</a:t>
                      </a:r>
                      <a:r>
                        <a:rPr lang="en-US" sz="2000" b="1" kern="1800" spc="0" dirty="0"/>
                        <a:t> Ā</a:t>
                      </a:r>
                    </a:p>
                  </a:txBody>
                  <a:tcPr/>
                </a:tc>
                <a:extLst>
                  <a:ext uri="{0D108BD9-81ED-4DB2-BD59-A6C34878D82A}">
                    <a16:rowId xmlns:a16="http://schemas.microsoft.com/office/drawing/2014/main" val="10003"/>
                  </a:ext>
                </a:extLst>
              </a:tr>
              <a:tr h="370840">
                <a:tc>
                  <a:txBody>
                    <a:bodyPr/>
                    <a:lstStyle/>
                    <a:p>
                      <a:pPr algn="ctr"/>
                      <a:r>
                        <a:rPr lang="en-US" sz="2000" b="1" dirty="0"/>
                        <a:t>A NAND B </a:t>
                      </a:r>
                      <a:endParaRPr lang="pt-BR"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t>(AB)’ </a:t>
                      </a:r>
                      <a:r>
                        <a:rPr lang="en-US" sz="2000" b="0" dirty="0"/>
                        <a:t>ou</a:t>
                      </a:r>
                      <a:r>
                        <a:rPr lang="en-US" sz="2000" b="1" dirty="0"/>
                        <a:t> (A • B)’ </a:t>
                      </a:r>
                      <a:r>
                        <a:rPr lang="en-US" sz="2000" b="0" dirty="0"/>
                        <a:t>ou</a:t>
                      </a:r>
                      <a:r>
                        <a:rPr lang="en-US" sz="2000" b="1" dirty="0"/>
                        <a:t> (AB) </a:t>
                      </a:r>
                      <a:r>
                        <a:rPr lang="en-US" sz="2000" b="0" dirty="0"/>
                        <a:t>ou</a:t>
                      </a:r>
                      <a:r>
                        <a:rPr lang="en-US" sz="2000" b="1" dirty="0"/>
                        <a:t> (A • B)</a:t>
                      </a:r>
                    </a:p>
                  </a:txBody>
                  <a:tcPr/>
                </a:tc>
                <a:extLst>
                  <a:ext uri="{0D108BD9-81ED-4DB2-BD59-A6C34878D82A}">
                    <a16:rowId xmlns:a16="http://schemas.microsoft.com/office/drawing/2014/main" val="10004"/>
                  </a:ext>
                </a:extLst>
              </a:tr>
              <a:tr h="370840">
                <a:tc>
                  <a:txBody>
                    <a:bodyPr/>
                    <a:lstStyle/>
                    <a:p>
                      <a:pPr algn="ctr"/>
                      <a:r>
                        <a:rPr lang="en-US" sz="2000" b="1" dirty="0"/>
                        <a:t>A NOR B </a:t>
                      </a:r>
                      <a:endParaRPr lang="pt-BR"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t>(A + B)' </a:t>
                      </a:r>
                      <a:r>
                        <a:rPr lang="en-US" sz="2000" b="0" dirty="0"/>
                        <a:t>ou</a:t>
                      </a:r>
                      <a:r>
                        <a:rPr lang="en-US" sz="2000" b="1" dirty="0"/>
                        <a:t> (A + B)</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2000" b="1" kern="1800" spc="0" dirty="0"/>
                        <a:t>A </a:t>
                      </a:r>
                      <a:r>
                        <a:rPr lang="pt-BR" sz="2000" b="1" kern="1800" spc="0" dirty="0">
                          <a:solidFill>
                            <a:schemeClr val="dk1"/>
                          </a:solidFill>
                          <a:latin typeface="+mn-lt"/>
                          <a:ea typeface="+mn-ea"/>
                          <a:cs typeface="+mn-cs"/>
                        </a:rPr>
                        <a:t>XNOR</a:t>
                      </a:r>
                      <a:r>
                        <a:rPr lang="pt-BR" sz="2000" b="1" kern="1800" spc="0" dirty="0"/>
                        <a:t> B</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kern="1800" spc="0" dirty="0"/>
                        <a:t>A </a:t>
                      </a:r>
                      <a:r>
                        <a:rPr lang="en-US" sz="2800" b="1" kern="1800" spc="0" baseline="-1000" dirty="0">
                          <a:latin typeface="Wingdings"/>
                          <a:ea typeface="Wingdings"/>
                          <a:cs typeface="Wingdings"/>
                          <a:sym typeface="Wingdings"/>
                        </a:rPr>
                        <a:t></a:t>
                      </a:r>
                      <a:r>
                        <a:rPr kumimoji="0" lang="en-US" sz="2000" b="1" i="0" u="none" strike="noStrike" kern="1800" cap="none" spc="0" normalizeH="0" baseline="0" noProof="0" dirty="0">
                          <a:ln>
                            <a:noFill/>
                          </a:ln>
                          <a:solidFill>
                            <a:prstClr val="black"/>
                          </a:solidFill>
                          <a:effectLst/>
                          <a:uLnTx/>
                          <a:uFillTx/>
                          <a:latin typeface="+mn-lt"/>
                          <a:ea typeface="+mn-ea"/>
                          <a:cs typeface="+mn-cs"/>
                        </a:rPr>
                        <a:t> </a:t>
                      </a:r>
                      <a:r>
                        <a:rPr lang="en-US" sz="2000" b="1" kern="1800" spc="0" dirty="0"/>
                        <a:t>B</a:t>
                      </a:r>
                    </a:p>
                  </a:txBody>
                  <a:tcPr/>
                </a:tc>
                <a:extLst>
                  <a:ext uri="{0D108BD9-81ED-4DB2-BD59-A6C34878D82A}">
                    <a16:rowId xmlns:a16="http://schemas.microsoft.com/office/drawing/2014/main" val="10006"/>
                  </a:ext>
                </a:extLst>
              </a:tr>
            </a:tbl>
          </a:graphicData>
        </a:graphic>
      </p:graphicFrame>
      <p:cxnSp>
        <p:nvCxnSpPr>
          <p:cNvPr id="10" name="Straight Connector 9"/>
          <p:cNvCxnSpPr/>
          <p:nvPr/>
        </p:nvCxnSpPr>
        <p:spPr>
          <a:xfrm>
            <a:off x="6588741" y="4185339"/>
            <a:ext cx="373133"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6526143" y="4586525"/>
            <a:ext cx="63319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7391400" y="4172639"/>
            <a:ext cx="685800" cy="703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0184558"/>
      </p:ext>
    </p:extLst>
  </p:cSld>
  <p:clrMapOvr>
    <a:masterClrMapping/>
  </p:clrMapOvr>
  <mc:AlternateContent xmlns:mc="http://schemas.openxmlformats.org/markup-compatibility/2006">
    <mc:Choice xmlns:p14="http://schemas.microsoft.com/office/powerpoint/2010/main" Requires="p14">
      <p:transition spd="slow" p14:dur="1200" advTm="26018">
        <p14:prism/>
      </p:transition>
    </mc:Choice>
    <mc:Fallback>
      <p:transition spd="slow" advTm="26018">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Combinações de Portas</a:t>
            </a:r>
          </a:p>
        </p:txBody>
      </p:sp>
      <p:sp>
        <p:nvSpPr>
          <p:cNvPr id="3" name="Content Placeholder 2"/>
          <p:cNvSpPr>
            <a:spLocks noGrp="1"/>
          </p:cNvSpPr>
          <p:nvPr>
            <p:ph idx="1"/>
          </p:nvPr>
        </p:nvSpPr>
        <p:spPr/>
        <p:txBody>
          <a:bodyPr/>
          <a:lstStyle/>
          <a:p>
            <a:r>
              <a:rPr lang="pt-BR" sz="2000" noProof="1"/>
              <a:t>Portas lógicas podem ser contruidas da combinação de outras portas lógicas :</a:t>
            </a:r>
          </a:p>
          <a:p>
            <a:endParaRPr lang="pt-BR" noProof="1"/>
          </a:p>
          <a:p>
            <a:r>
              <a:rPr lang="pt-BR" noProof="1"/>
              <a:t>And(a,b) = Not(Nand(a,b))</a:t>
            </a:r>
          </a:p>
          <a:p>
            <a:endParaRPr lang="pt-BR" noProof="1"/>
          </a:p>
          <a:p>
            <a:r>
              <a:rPr lang="pt-BR" noProof="1"/>
              <a:t>Nor(a,b) = Not(Or(a,b))</a:t>
            </a:r>
          </a:p>
          <a:p>
            <a:endParaRPr lang="pt-BR" noProof="1"/>
          </a:p>
          <a:p>
            <a:r>
              <a:rPr lang="pt-BR" noProof="1"/>
              <a:t>Nor(a,b) = Or(Not(a),Not(b))</a:t>
            </a:r>
          </a:p>
          <a:p>
            <a:endParaRPr lang="pt-BR" noProof="1"/>
          </a:p>
          <a:p>
            <a:r>
              <a:rPr lang="pt-BR" noProof="1"/>
              <a:t>Xnor(a,b) = Or(Nand(Not(a),Not(b)),Nand(a,b))</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47</a:t>
            </a:fld>
            <a:endParaRPr lang="pt-BR" dirty="0"/>
          </a:p>
        </p:txBody>
      </p:sp>
    </p:spTree>
    <p:extLst>
      <p:ext uri="{BB962C8B-B14F-4D97-AF65-F5344CB8AC3E}">
        <p14:creationId xmlns:p14="http://schemas.microsoft.com/office/powerpoint/2010/main" val="545706050"/>
      </p:ext>
    </p:extLst>
  </p:cSld>
  <p:clrMapOvr>
    <a:masterClrMapping/>
  </p:clrMapOvr>
  <mc:AlternateContent xmlns:mc="http://schemas.openxmlformats.org/markup-compatibility/2006">
    <mc:Choice xmlns:p14="http://schemas.microsoft.com/office/powerpoint/2010/main" Requires="p14">
      <p:transition spd="slow" p14:dur="1200" advTm="41224">
        <p14:prism/>
      </p:transition>
    </mc:Choice>
    <mc:Fallback>
      <p:transition spd="slow" advTm="41224">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Teorema</a:t>
            </a:r>
          </a:p>
        </p:txBody>
      </p:sp>
      <p:sp>
        <p:nvSpPr>
          <p:cNvPr id="3" name="Content Placeholder 2"/>
          <p:cNvSpPr>
            <a:spLocks noGrp="1"/>
          </p:cNvSpPr>
          <p:nvPr>
            <p:ph idx="1"/>
          </p:nvPr>
        </p:nvSpPr>
        <p:spPr/>
        <p:txBody>
          <a:bodyPr/>
          <a:lstStyle/>
          <a:p>
            <a:r>
              <a:rPr lang="pt-BR" dirty="0"/>
              <a:t>Qualquer função booleana por ser representada por expressões contendo AND e NOT, ou senão OR e NOT somente.</a:t>
            </a:r>
          </a:p>
          <a:p>
            <a:endParaRPr lang="pt-BR" dirty="0"/>
          </a:p>
          <a:p>
            <a:r>
              <a:rPr lang="pt-BR" dirty="0"/>
              <a:t>Prova:  </a:t>
            </a:r>
          </a:p>
          <a:p>
            <a:r>
              <a:rPr lang="pt-BR" dirty="0"/>
              <a:t>     (x OR y)      =   NOT(NOT(x) AND NOT(y))</a:t>
            </a:r>
          </a:p>
          <a:p>
            <a:endParaRPr lang="pt-BR" dirty="0"/>
          </a:p>
          <a:p>
            <a:endParaRPr lang="pt-BR" dirty="0"/>
          </a:p>
          <a:p>
            <a:endParaRPr lang="pt-BR" dirty="0"/>
          </a:p>
          <a:p>
            <a:endParaRPr lang="pt-BR" dirty="0"/>
          </a:p>
          <a:p>
            <a:r>
              <a:rPr lang="pt-BR" dirty="0"/>
              <a:t>Logo, construímos qualquer porta lógica com </a:t>
            </a:r>
            <a:r>
              <a:rPr lang="pt-BR" dirty="0" err="1"/>
              <a:t>NANDs</a:t>
            </a:r>
            <a:r>
              <a:rPr lang="pt-BR" dirty="0"/>
              <a:t> ou </a:t>
            </a:r>
            <a:r>
              <a:rPr lang="pt-BR" dirty="0" err="1"/>
              <a:t>NORs</a:t>
            </a:r>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48</a:t>
            </a:fld>
            <a:endParaRPr lang="pt-BR" dirty="0"/>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b="65190"/>
          <a:stretch/>
        </p:blipFill>
        <p:spPr>
          <a:xfrm>
            <a:off x="3317874" y="3268876"/>
            <a:ext cx="2569033" cy="825500"/>
          </a:xfrm>
          <a:prstGeom prst="rect">
            <a:avLst/>
          </a:prstGeom>
        </p:spPr>
      </p:pic>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4125" t="69621" r="36266"/>
          <a:stretch/>
        </p:blipFill>
        <p:spPr>
          <a:xfrm>
            <a:off x="1092200" y="3285061"/>
            <a:ext cx="1531364" cy="720415"/>
          </a:xfrm>
          <a:prstGeom prst="rect">
            <a:avLst/>
          </a:prstGeom>
        </p:spPr>
      </p:pic>
      <p:pic>
        <p:nvPicPr>
          <p:cNvPr id="9" name="Imagem 8"/>
          <p:cNvPicPr>
            <a:picLocks noChangeAspect="1"/>
          </p:cNvPicPr>
          <p:nvPr/>
        </p:nvPicPr>
        <p:blipFill rotWithShape="1">
          <a:blip r:embed="rId4"/>
          <a:srcRect r="61642" b="52571"/>
          <a:stretch/>
        </p:blipFill>
        <p:spPr>
          <a:xfrm>
            <a:off x="901081" y="4890884"/>
            <a:ext cx="1948981" cy="1319416"/>
          </a:xfrm>
          <a:prstGeom prst="rect">
            <a:avLst/>
          </a:prstGeom>
        </p:spPr>
      </p:pic>
      <p:pic>
        <p:nvPicPr>
          <p:cNvPr id="10" name="Imagem 9"/>
          <p:cNvPicPr>
            <a:picLocks noChangeAspect="1"/>
          </p:cNvPicPr>
          <p:nvPr/>
        </p:nvPicPr>
        <p:blipFill rotWithShape="1">
          <a:blip r:embed="rId4"/>
          <a:srcRect l="48508" t="29720" r="18179" b="28734"/>
          <a:stretch/>
        </p:blipFill>
        <p:spPr>
          <a:xfrm>
            <a:off x="3739152" y="5037975"/>
            <a:ext cx="1692656" cy="1155738"/>
          </a:xfrm>
          <a:prstGeom prst="rect">
            <a:avLst/>
          </a:prstGeom>
        </p:spPr>
      </p:pic>
    </p:spTree>
    <p:extLst>
      <p:ext uri="{BB962C8B-B14F-4D97-AF65-F5344CB8AC3E}">
        <p14:creationId xmlns:p14="http://schemas.microsoft.com/office/powerpoint/2010/main" val="1926409660"/>
      </p:ext>
    </p:extLst>
  </p:cSld>
  <p:clrMapOvr>
    <a:masterClrMapping/>
  </p:clrMapOvr>
  <mc:AlternateContent xmlns:mc="http://schemas.openxmlformats.org/markup-compatibility/2006">
    <mc:Choice xmlns:p14="http://schemas.microsoft.com/office/powerpoint/2010/main" Requires="p14">
      <p:transition spd="slow" p14:dur="1200" advTm="29789">
        <p14:prism/>
      </p:transition>
    </mc:Choice>
    <mc:Fallback>
      <p:transition spd="slow" advTm="29789">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Implementação eletrônica das lógicas</a:t>
            </a:r>
          </a:p>
        </p:txBody>
      </p:sp>
      <p:sp>
        <p:nvSpPr>
          <p:cNvPr id="3" name="Content Placeholder 2"/>
          <p:cNvSpPr>
            <a:spLocks noGrp="1"/>
          </p:cNvSpPr>
          <p:nvPr>
            <p:ph idx="1"/>
          </p:nvPr>
        </p:nvSpPr>
        <p:spPr>
          <a:xfrm>
            <a:off x="657225" y="1485900"/>
            <a:ext cx="8029575" cy="617846"/>
          </a:xfrm>
        </p:spPr>
        <p:txBody>
          <a:bodyPr/>
          <a:lstStyle/>
          <a:p>
            <a:r>
              <a:rPr lang="pt-BR" dirty="0"/>
              <a:t>chaves de liga e desliga podem implementar a lógica.</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49</a:t>
            </a:fld>
            <a:endParaRPr lang="pt-BR" dirty="0"/>
          </a:p>
        </p:txBody>
      </p:sp>
      <p:pic>
        <p:nvPicPr>
          <p:cNvPr id="6" name="Picture 5"/>
          <p:cNvPicPr>
            <a:picLocks noChangeAspect="1"/>
          </p:cNvPicPr>
          <p:nvPr/>
        </p:nvPicPr>
        <p:blipFill rotWithShape="1">
          <a:blip r:embed="rId4"/>
          <a:srcRect r="3699" b="56871"/>
          <a:stretch/>
        </p:blipFill>
        <p:spPr>
          <a:xfrm>
            <a:off x="1041983" y="1831426"/>
            <a:ext cx="6544880" cy="1990573"/>
          </a:xfrm>
          <a:prstGeom prst="rect">
            <a:avLst/>
          </a:prstGeom>
        </p:spPr>
      </p:pic>
      <p:grpSp>
        <p:nvGrpSpPr>
          <p:cNvPr id="12" name="Group 11"/>
          <p:cNvGrpSpPr/>
          <p:nvPr/>
        </p:nvGrpSpPr>
        <p:grpSpPr>
          <a:xfrm>
            <a:off x="965021" y="4544704"/>
            <a:ext cx="3349402" cy="2034928"/>
            <a:chOff x="965021" y="4544704"/>
            <a:chExt cx="3349402" cy="2034928"/>
          </a:xfrm>
        </p:grpSpPr>
        <p:pic>
          <p:nvPicPr>
            <p:cNvPr id="9" name="Picture 8"/>
            <p:cNvPicPr>
              <a:picLocks noChangeAspect="1"/>
            </p:cNvPicPr>
            <p:nvPr/>
          </p:nvPicPr>
          <p:blipFill>
            <a:blip r:embed="rId5"/>
            <a:stretch>
              <a:fillRect/>
            </a:stretch>
          </p:blipFill>
          <p:spPr>
            <a:xfrm>
              <a:off x="965021" y="4544704"/>
              <a:ext cx="3349402" cy="1718458"/>
            </a:xfrm>
            <a:prstGeom prst="rect">
              <a:avLst/>
            </a:prstGeom>
          </p:spPr>
        </p:pic>
        <p:sp>
          <p:nvSpPr>
            <p:cNvPr id="10" name="Rectangle 9"/>
            <p:cNvSpPr/>
            <p:nvPr/>
          </p:nvSpPr>
          <p:spPr>
            <a:xfrm>
              <a:off x="1920754" y="6210300"/>
              <a:ext cx="1764009" cy="369332"/>
            </a:xfrm>
            <a:prstGeom prst="rect">
              <a:avLst/>
            </a:prstGeom>
          </p:spPr>
          <p:txBody>
            <a:bodyPr wrap="none">
              <a:spAutoFit/>
            </a:bodyPr>
            <a:lstStyle/>
            <a:p>
              <a:r>
                <a:rPr lang="pt-BR"/>
                <a:t>diagrama de relé</a:t>
              </a:r>
              <a:endParaRPr lang="pt-BR" dirty="0"/>
            </a:p>
          </p:txBody>
        </p:sp>
      </p:grpSp>
      <p:grpSp>
        <p:nvGrpSpPr>
          <p:cNvPr id="13" name="Group 12"/>
          <p:cNvGrpSpPr/>
          <p:nvPr/>
        </p:nvGrpSpPr>
        <p:grpSpPr>
          <a:xfrm>
            <a:off x="5552827" y="4205521"/>
            <a:ext cx="1922072" cy="2374111"/>
            <a:chOff x="5552827" y="4205521"/>
            <a:chExt cx="1922072" cy="2374111"/>
          </a:xfrm>
        </p:grpSpPr>
        <p:pic>
          <p:nvPicPr>
            <p:cNvPr id="7" name="Picture 6" descr="121197-5911883.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52827" y="4205521"/>
              <a:ext cx="1922072" cy="2196653"/>
            </a:xfrm>
            <a:prstGeom prst="rect">
              <a:avLst/>
            </a:prstGeom>
          </p:spPr>
        </p:pic>
        <p:sp>
          <p:nvSpPr>
            <p:cNvPr id="11" name="Rectangle 10"/>
            <p:cNvSpPr/>
            <p:nvPr/>
          </p:nvSpPr>
          <p:spPr>
            <a:xfrm>
              <a:off x="5719433" y="6210300"/>
              <a:ext cx="1632113" cy="369332"/>
            </a:xfrm>
            <a:prstGeom prst="rect">
              <a:avLst/>
            </a:prstGeom>
          </p:spPr>
          <p:txBody>
            <a:bodyPr wrap="none">
              <a:spAutoFit/>
            </a:bodyPr>
            <a:lstStyle/>
            <a:p>
              <a:r>
                <a:rPr lang="pt-BR" dirty="0"/>
                <a:t>foto de um relé</a:t>
              </a:r>
            </a:p>
          </p:txBody>
        </p:sp>
      </p:grpSp>
      <p:sp>
        <p:nvSpPr>
          <p:cNvPr id="14" name="Content Placeholder 2"/>
          <p:cNvSpPr txBox="1">
            <a:spLocks/>
          </p:cNvSpPr>
          <p:nvPr/>
        </p:nvSpPr>
        <p:spPr>
          <a:xfrm>
            <a:off x="657225" y="4028063"/>
            <a:ext cx="8029575" cy="617846"/>
          </a:xfrm>
          <a:prstGeom prst="rect">
            <a:avLst/>
          </a:prstGeom>
        </p:spPr>
        <p:txBody>
          <a:bodyPr>
            <a:norm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dirty="0"/>
              <a:t>Relés podem fazer o papel das chaves automaticamente.</a:t>
            </a:r>
          </a:p>
        </p:txBody>
      </p:sp>
    </p:spTree>
    <p:custDataLst>
      <p:tags r:id="rId1"/>
    </p:custDataLst>
    <p:extLst>
      <p:ext uri="{BB962C8B-B14F-4D97-AF65-F5344CB8AC3E}">
        <p14:creationId xmlns:p14="http://schemas.microsoft.com/office/powerpoint/2010/main" val="1769364203"/>
      </p:ext>
    </p:extLst>
  </p:cSld>
  <p:clrMapOvr>
    <a:masterClrMapping/>
  </p:clrMapOvr>
  <mc:AlternateContent xmlns:mc="http://schemas.openxmlformats.org/markup-compatibility/2006">
    <mc:Choice xmlns:p14="http://schemas.microsoft.com/office/powerpoint/2010/main" Requires="p14">
      <p:transition spd="slow" p14:dur="1200" advTm="88935">
        <p14:prism/>
      </p:transition>
    </mc:Choice>
    <mc:Fallback>
      <p:transition spd="slow" advTm="8893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Transistores</a:t>
            </a:r>
          </a:p>
        </p:txBody>
      </p:sp>
      <p:sp>
        <p:nvSpPr>
          <p:cNvPr id="3" name="Content Placeholder 2"/>
          <p:cNvSpPr>
            <a:spLocks noGrp="1"/>
          </p:cNvSpPr>
          <p:nvPr>
            <p:ph idx="1"/>
          </p:nvPr>
        </p:nvSpPr>
        <p:spPr>
          <a:xfrm>
            <a:off x="657225" y="1485900"/>
            <a:ext cx="7332615" cy="4724400"/>
          </a:xfrm>
        </p:spPr>
        <p:txBody>
          <a:bodyPr>
            <a:noAutofit/>
          </a:bodyPr>
          <a:lstStyle/>
          <a:p>
            <a:r>
              <a:rPr lang="pt-BR" sz="2400" dirty="0"/>
              <a:t>Categorias:</a:t>
            </a:r>
          </a:p>
          <a:p>
            <a:pPr marL="342900" indent="-342900">
              <a:buFont typeface="Arial" charset="0"/>
              <a:buChar char="•"/>
            </a:pPr>
            <a:r>
              <a:rPr lang="pt-BR" sz="2000" dirty="0"/>
              <a:t>Transistor de Ponto de Contato (</a:t>
            </a:r>
            <a:r>
              <a:rPr lang="en-US" sz="2000" dirty="0"/>
              <a:t> Point-Contact Transistor </a:t>
            </a:r>
            <a:r>
              <a:rPr lang="pt-BR" sz="2000" dirty="0"/>
              <a:t>);</a:t>
            </a:r>
          </a:p>
          <a:p>
            <a:pPr marL="342900" indent="-342900">
              <a:buFont typeface="Arial" charset="0"/>
              <a:buChar char="•"/>
            </a:pPr>
            <a:r>
              <a:rPr lang="pt-BR" sz="2000" dirty="0"/>
              <a:t>BJT - Transistor de Junção Bipolar (</a:t>
            </a:r>
            <a:r>
              <a:rPr lang="en-US" sz="2000" dirty="0"/>
              <a:t> Bipolar Junction Transistor </a:t>
            </a:r>
            <a:r>
              <a:rPr lang="pt-BR" sz="2000" dirty="0"/>
              <a:t>) : acionado por corrente;</a:t>
            </a:r>
          </a:p>
          <a:p>
            <a:pPr marL="342900" indent="-342900">
              <a:buFont typeface="Arial" charset="0"/>
              <a:buChar char="•"/>
            </a:pPr>
            <a:r>
              <a:rPr lang="pt-BR" sz="2000" dirty="0"/>
              <a:t>FET - Transistor de Efeito de Campo (</a:t>
            </a:r>
            <a:r>
              <a:rPr lang="en-US" sz="2000" dirty="0"/>
              <a:t> Field Effect Transistor </a:t>
            </a:r>
            <a:r>
              <a:rPr lang="pt-BR" sz="2000" dirty="0"/>
              <a:t>) : acionado por tensão.</a:t>
            </a:r>
          </a:p>
          <a:p>
            <a:endParaRPr lang="pt-BR" sz="2000" dirty="0"/>
          </a:p>
          <a:p>
            <a:r>
              <a:rPr lang="pt-BR" sz="2000" dirty="0"/>
              <a:t>Circuitos analógicos: usado como amplificadores e fontes elétricas.</a:t>
            </a:r>
          </a:p>
          <a:p>
            <a:endParaRPr lang="pt-BR" sz="900" dirty="0"/>
          </a:p>
          <a:p>
            <a:r>
              <a:rPr lang="pt-BR" sz="2000" dirty="0"/>
              <a:t>Circuitos digitais: usado para as portas lógicas e subsequente componentes.</a:t>
            </a:r>
          </a:p>
          <a:p>
            <a:endParaRPr lang="pt-BR" sz="2000" dirty="0"/>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50</a:t>
            </a:fld>
            <a:endParaRPr lang="pt-BR" dirty="0"/>
          </a:p>
        </p:txBody>
      </p:sp>
      <p:pic>
        <p:nvPicPr>
          <p:cNvPr id="10" name="Picture 9" descr="13689_01__59967.1441224305.1280.1280.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989840" y="2543444"/>
            <a:ext cx="998946" cy="998946"/>
          </a:xfrm>
          <a:prstGeom prst="rect">
            <a:avLst/>
          </a:prstGeom>
        </p:spPr>
      </p:pic>
      <p:pic>
        <p:nvPicPr>
          <p:cNvPr id="11" name="Picture 10"/>
          <p:cNvPicPr>
            <a:picLocks noChangeAspect="1"/>
          </p:cNvPicPr>
          <p:nvPr/>
        </p:nvPicPr>
        <p:blipFill>
          <a:blip r:embed="rId4">
            <a:clrChange>
              <a:clrFrom>
                <a:srgbClr val="FCFEFC"/>
              </a:clrFrom>
              <a:clrTo>
                <a:srgbClr val="FCFEFC">
                  <a:alpha val="0"/>
                </a:srgbClr>
              </a:clrTo>
            </a:clrChange>
          </a:blip>
          <a:stretch>
            <a:fillRect/>
          </a:stretch>
        </p:blipFill>
        <p:spPr>
          <a:xfrm>
            <a:off x="7989840" y="3482883"/>
            <a:ext cx="1032511" cy="1032511"/>
          </a:xfrm>
          <a:prstGeom prst="rect">
            <a:avLst/>
          </a:prstGeom>
        </p:spPr>
      </p:pic>
      <p:pic>
        <p:nvPicPr>
          <p:cNvPr id="12" name="Picture 11"/>
          <p:cNvPicPr>
            <a:picLocks noChangeAspect="1"/>
          </p:cNvPicPr>
          <p:nvPr/>
        </p:nvPicPr>
        <p:blipFill rotWithShape="1">
          <a:blip r:embed="rId5">
            <a:extLst>
              <a:ext uri="{BEBA8EAE-BF5A-486C-A8C5-ECC9F3942E4B}">
                <a14:imgProps xmlns:a14="http://schemas.microsoft.com/office/drawing/2010/main">
                  <a14:imgLayer r:embed="rId6">
                    <a14:imgEffect>
                      <a14:backgroundRemoval t="9945" b="89871" l="10000" r="64000">
                        <a14:backgroundMark x1="49000" y1="66298" x2="49000" y2="66298"/>
                        <a14:backgroundMark x1="46000" y1="63720" x2="46000" y2="63720"/>
                        <a14:backgroundMark x1="46500" y1="64641" x2="46500" y2="64641"/>
                        <a14:backgroundMark x1="46500" y1="65378" x2="46500" y2="65378"/>
                      </a14:backgroundRemoval>
                    </a14:imgEffect>
                  </a14:imgLayer>
                </a14:imgProps>
              </a:ext>
            </a:extLst>
          </a:blip>
          <a:srcRect l="28725" t="9142" r="34545" b="11802"/>
          <a:stretch/>
        </p:blipFill>
        <p:spPr>
          <a:xfrm rot="12476109">
            <a:off x="8229174" y="1594909"/>
            <a:ext cx="382248" cy="1116839"/>
          </a:xfrm>
          <a:prstGeom prst="rect">
            <a:avLst/>
          </a:prstGeom>
        </p:spPr>
      </p:pic>
    </p:spTree>
    <p:extLst>
      <p:ext uri="{BB962C8B-B14F-4D97-AF65-F5344CB8AC3E}">
        <p14:creationId xmlns:p14="http://schemas.microsoft.com/office/powerpoint/2010/main" val="1944530630"/>
      </p:ext>
    </p:extLst>
  </p:cSld>
  <p:clrMapOvr>
    <a:masterClrMapping/>
  </p:clrMapOvr>
  <mc:AlternateContent xmlns:mc="http://schemas.openxmlformats.org/markup-compatibility/2006">
    <mc:Choice xmlns:p14="http://schemas.microsoft.com/office/powerpoint/2010/main" Requires="p14">
      <p:transition spd="slow" p14:dur="1200" advTm="87462">
        <p14:prism/>
      </p:transition>
    </mc:Choice>
    <mc:Fallback>
      <p:transition spd="slow" advTm="87462">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MOSFET</a:t>
            </a:r>
            <a:endParaRPr lang="pt-BR" dirty="0"/>
          </a:p>
        </p:txBody>
      </p:sp>
      <p:sp>
        <p:nvSpPr>
          <p:cNvPr id="3" name="Content Placeholder 2"/>
          <p:cNvSpPr>
            <a:spLocks noGrp="1"/>
          </p:cNvSpPr>
          <p:nvPr>
            <p:ph idx="1"/>
          </p:nvPr>
        </p:nvSpPr>
        <p:spPr/>
        <p:txBody>
          <a:bodyPr>
            <a:normAutofit/>
          </a:bodyPr>
          <a:lstStyle/>
          <a:p>
            <a:r>
              <a:rPr lang="pt-BR" sz="2000" dirty="0"/>
              <a:t>MOSFET (</a:t>
            </a:r>
            <a:r>
              <a:rPr lang="en-US" sz="2000" dirty="0"/>
              <a:t>Metal Oxide Silicon Field Effect Transistor</a:t>
            </a:r>
            <a:r>
              <a:rPr lang="pt-BR" sz="2000" dirty="0"/>
              <a:t> – Transistor de Efeito de Campo formado por Metal, Óxido e Silício) foi originalmente inviável de se construir, porém foram evoluindo e hoje são o padrão em circuitos digitais.</a:t>
            </a:r>
          </a:p>
          <a:p>
            <a:endParaRPr lang="pt-BR" sz="2000" dirty="0"/>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51</a:t>
            </a:fld>
            <a:endParaRPr lang="pt-BR" dirty="0"/>
          </a:p>
        </p:txBody>
      </p:sp>
      <p:pic>
        <p:nvPicPr>
          <p:cNvPr id="8" name="Picture 7"/>
          <p:cNvPicPr>
            <a:picLocks noChangeAspect="1"/>
          </p:cNvPicPr>
          <p:nvPr/>
        </p:nvPicPr>
        <p:blipFill>
          <a:blip r:embed="rId3"/>
          <a:stretch>
            <a:fillRect/>
          </a:stretch>
        </p:blipFill>
        <p:spPr>
          <a:xfrm>
            <a:off x="1196109" y="2784391"/>
            <a:ext cx="6510976" cy="3521846"/>
          </a:xfrm>
          <a:prstGeom prst="rect">
            <a:avLst/>
          </a:prstGeom>
        </p:spPr>
      </p:pic>
    </p:spTree>
    <p:extLst>
      <p:ext uri="{BB962C8B-B14F-4D97-AF65-F5344CB8AC3E}">
        <p14:creationId xmlns:p14="http://schemas.microsoft.com/office/powerpoint/2010/main" val="1516333357"/>
      </p:ext>
    </p:extLst>
  </p:cSld>
  <p:clrMapOvr>
    <a:masterClrMapping/>
  </p:clrMapOvr>
  <mc:AlternateContent xmlns:mc="http://schemas.openxmlformats.org/markup-compatibility/2006">
    <mc:Choice xmlns:p14="http://schemas.microsoft.com/office/powerpoint/2010/main" Requires="p14">
      <p:transition spd="slow" p14:dur="1200" advTm="84683">
        <p14:prism/>
      </p:transition>
    </mc:Choice>
    <mc:Fallback>
      <p:transition spd="slow" advTm="84683">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pic>
        <p:nvPicPr>
          <p:cNvPr id="17" name="Picture 16" descr="image212.gif"/>
          <p:cNvPicPr>
            <a:picLocks noChangeAspect="1"/>
          </p:cNvPicPr>
          <p:nvPr/>
        </p:nvPicPr>
        <p:blipFill rotWithShape="1">
          <a:blip r:embed="rId3" cstate="print">
            <a:extLst>
              <a:ext uri="{28A0092B-C50C-407E-A947-70E740481C1C}">
                <a14:useLocalDpi xmlns:a14="http://schemas.microsoft.com/office/drawing/2010/main"/>
              </a:ext>
            </a:extLst>
          </a:blip>
          <a:srcRect l="8718" t="22522" r="50052" b="30675"/>
          <a:stretch/>
        </p:blipFill>
        <p:spPr>
          <a:xfrm>
            <a:off x="2802577" y="1769421"/>
            <a:ext cx="1968802" cy="1162180"/>
          </a:xfrm>
          <a:prstGeom prst="rect">
            <a:avLst/>
          </a:prstGeom>
        </p:spPr>
      </p:pic>
      <p:pic>
        <p:nvPicPr>
          <p:cNvPr id="24" name="Picture 23" descr="image212.gif"/>
          <p:cNvPicPr>
            <a:picLocks noChangeAspect="1"/>
          </p:cNvPicPr>
          <p:nvPr/>
        </p:nvPicPr>
        <p:blipFill rotWithShape="1">
          <a:blip r:embed="rId3" cstate="print">
            <a:extLst>
              <a:ext uri="{28A0092B-C50C-407E-A947-70E740481C1C}">
                <a14:useLocalDpi xmlns:a14="http://schemas.microsoft.com/office/drawing/2010/main"/>
              </a:ext>
            </a:extLst>
          </a:blip>
          <a:srcRect l="49891" t="22522" b="30675"/>
          <a:stretch/>
        </p:blipFill>
        <p:spPr>
          <a:xfrm>
            <a:off x="4951926" y="1795496"/>
            <a:ext cx="2392820" cy="1162180"/>
          </a:xfrm>
          <a:prstGeom prst="rect">
            <a:avLst/>
          </a:prstGeom>
        </p:spPr>
      </p:pic>
      <p:sp>
        <p:nvSpPr>
          <p:cNvPr id="2" name="Title 1"/>
          <p:cNvSpPr>
            <a:spLocks noGrp="1"/>
          </p:cNvSpPr>
          <p:nvPr>
            <p:ph type="title"/>
          </p:nvPr>
        </p:nvSpPr>
        <p:spPr/>
        <p:txBody>
          <a:bodyPr/>
          <a:lstStyle/>
          <a:p>
            <a:r>
              <a:rPr lang="pt-BR" dirty="0"/>
              <a:t>Representações de Transistores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52</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1497072208"/>
              </p:ext>
            </p:extLst>
          </p:nvPr>
        </p:nvGraphicFramePr>
        <p:xfrm>
          <a:off x="482244" y="3316253"/>
          <a:ext cx="8204556" cy="3108960"/>
        </p:xfrm>
        <a:graphic>
          <a:graphicData uri="http://schemas.openxmlformats.org/drawingml/2006/table">
            <a:tbl>
              <a:tblPr/>
              <a:tblGrid>
                <a:gridCol w="847792">
                  <a:extLst>
                    <a:ext uri="{9D8B030D-6E8A-4147-A177-3AD203B41FA5}">
                      <a16:colId xmlns:a16="http://schemas.microsoft.com/office/drawing/2014/main" val="20000"/>
                    </a:ext>
                  </a:extLst>
                </a:gridCol>
                <a:gridCol w="1839191">
                  <a:extLst>
                    <a:ext uri="{9D8B030D-6E8A-4147-A177-3AD203B41FA5}">
                      <a16:colId xmlns:a16="http://schemas.microsoft.com/office/drawing/2014/main" val="20001"/>
                    </a:ext>
                  </a:extLst>
                </a:gridCol>
                <a:gridCol w="1839191">
                  <a:extLst>
                    <a:ext uri="{9D8B030D-6E8A-4147-A177-3AD203B41FA5}">
                      <a16:colId xmlns:a16="http://schemas.microsoft.com/office/drawing/2014/main" val="20002"/>
                    </a:ext>
                  </a:extLst>
                </a:gridCol>
                <a:gridCol w="1839191">
                  <a:extLst>
                    <a:ext uri="{9D8B030D-6E8A-4147-A177-3AD203B41FA5}">
                      <a16:colId xmlns:a16="http://schemas.microsoft.com/office/drawing/2014/main" val="20003"/>
                    </a:ext>
                  </a:extLst>
                </a:gridCol>
                <a:gridCol w="1839191">
                  <a:extLst>
                    <a:ext uri="{9D8B030D-6E8A-4147-A177-3AD203B41FA5}">
                      <a16:colId xmlns:a16="http://schemas.microsoft.com/office/drawing/2014/main" val="20004"/>
                    </a:ext>
                  </a:extLst>
                </a:gridCol>
              </a:tblGrid>
              <a:tr h="0">
                <a:tc>
                  <a:txBody>
                    <a:bodyPr/>
                    <a:lstStyle/>
                    <a:p>
                      <a:r>
                        <a:rPr lang="en-US" dirty="0">
                          <a:effectLst/>
                        </a:rPr>
                        <a:t>PMOS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dirty="0">
                        <a:effectLst/>
                      </a:endParaRPr>
                    </a:p>
                    <a:p>
                      <a:endParaRPr lang="en-US" dirty="0">
                        <a:effectLst/>
                      </a:endParaRPr>
                    </a:p>
                    <a:p>
                      <a:endParaRPr lang="en-US" dirty="0">
                        <a:effectLst/>
                      </a:endParaRPr>
                    </a:p>
                    <a:p>
                      <a:endParaRPr lang="en-US" sz="1200" dirty="0">
                        <a:effectLst/>
                      </a:endParaRPr>
                    </a:p>
                    <a:p>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r>
                        <a:rPr lang="en-US" dirty="0">
                          <a:effectLst/>
                        </a:rPr>
                        <a:t>NMOS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dirty="0">
                        <a:effectLst/>
                      </a:endParaRPr>
                    </a:p>
                    <a:p>
                      <a:endParaRPr lang="en-US" dirty="0">
                        <a:effectLst/>
                      </a:endParaRPr>
                    </a:p>
                    <a:p>
                      <a:endParaRPr lang="en-US" dirty="0">
                        <a:effectLst/>
                      </a:endParaRPr>
                    </a:p>
                    <a:p>
                      <a:endParaRPr lang="en-US" sz="1200" dirty="0">
                        <a:effectLst/>
                      </a:endParaRPr>
                    </a:p>
                    <a:p>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endParaRPr lang="pt-BR"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gridSpan="3">
                  <a:txBody>
                    <a:bodyPr/>
                    <a:lstStyle/>
                    <a:p>
                      <a:r>
                        <a:rPr lang="en-US" sz="1800" b="0" i="0" kern="1200" dirty="0">
                          <a:solidFill>
                            <a:schemeClr val="tx1"/>
                          </a:solidFill>
                          <a:effectLst/>
                          <a:latin typeface="+mn-lt"/>
                          <a:ea typeface="+mn-ea"/>
                          <a:cs typeface="+mn-cs"/>
                        </a:rPr>
                        <a:t>enhancement-mode</a:t>
                      </a:r>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hMerge="1">
                  <a:txBody>
                    <a:bodyPr/>
                    <a:lstStyle/>
                    <a:p>
                      <a:endParaRPr lang="en-US" dirty="0">
                        <a:effectLst/>
                      </a:endParaRP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hMerge="1">
                  <a:txBody>
                    <a:bodyPr/>
                    <a:lstStyle/>
                    <a:p>
                      <a:endParaRPr lang="pt-BR"/>
                    </a:p>
                  </a:txBody>
                  <a:tcPr/>
                </a:tc>
                <a:tc>
                  <a:txBody>
                    <a:bodyPr/>
                    <a:lstStyle/>
                    <a:p>
                      <a:r>
                        <a:rPr lang="en-US" sz="1800" b="0" i="0" kern="1200" dirty="0">
                          <a:solidFill>
                            <a:schemeClr val="tx1"/>
                          </a:solidFill>
                          <a:effectLst/>
                          <a:latin typeface="+mn-lt"/>
                          <a:ea typeface="+mn-ea"/>
                          <a:cs typeface="+mn-cs"/>
                        </a:rPr>
                        <a:t>depletion-mode</a:t>
                      </a:r>
                      <a:endParaRPr lang="pt-BR"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1027"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804" y="3316253"/>
            <a:ext cx="1379338" cy="13793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FET P-Ch Enh Labelled simplifi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6911" y="3316253"/>
            <a:ext cx="1379338" cy="1379338"/>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osfet P-Ch Sedra.sv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6957" y="3319293"/>
            <a:ext cx="1379338" cy="13793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FET P-Ch Dep Labelled.sv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7555" y="3316253"/>
            <a:ext cx="1379338" cy="1379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FET N-Ch Enh Labelled.sv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4743" y="4695591"/>
            <a:ext cx="1379338" cy="1379338"/>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GFET N-Ch Enh Labelled simplified.sv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96911" y="4695591"/>
            <a:ext cx="1379338" cy="137933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osfet N-Ch Sedra.sv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2003" y="4696339"/>
            <a:ext cx="1379338" cy="1379338"/>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GFET N-Ch Dep Labelled.sv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37555" y="4695591"/>
            <a:ext cx="1379338" cy="1379338"/>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a:xfrm>
            <a:off x="2682655" y="1649523"/>
            <a:ext cx="562975" cy="338554"/>
          </a:xfrm>
          <a:prstGeom prst="rect">
            <a:avLst/>
          </a:prstGeom>
        </p:spPr>
        <p:txBody>
          <a:bodyPr wrap="none">
            <a:spAutoFit/>
          </a:bodyPr>
          <a:lstStyle/>
          <a:p>
            <a:r>
              <a:rPr lang="en-US" sz="1600" dirty="0"/>
              <a:t>NPN</a:t>
            </a:r>
          </a:p>
        </p:txBody>
      </p:sp>
      <p:sp>
        <p:nvSpPr>
          <p:cNvPr id="21" name="Rectangle 20"/>
          <p:cNvSpPr/>
          <p:nvPr/>
        </p:nvSpPr>
        <p:spPr>
          <a:xfrm>
            <a:off x="5098293" y="1663752"/>
            <a:ext cx="537327" cy="338554"/>
          </a:xfrm>
          <a:prstGeom prst="rect">
            <a:avLst/>
          </a:prstGeom>
        </p:spPr>
        <p:txBody>
          <a:bodyPr wrap="none">
            <a:spAutoFit/>
          </a:bodyPr>
          <a:lstStyle/>
          <a:p>
            <a:r>
              <a:rPr lang="en-US" sz="1600" dirty="0"/>
              <a:t>PNP</a:t>
            </a:r>
          </a:p>
        </p:txBody>
      </p:sp>
      <p:sp>
        <p:nvSpPr>
          <p:cNvPr id="7" name="Rectangle 6"/>
          <p:cNvSpPr/>
          <p:nvPr/>
        </p:nvSpPr>
        <p:spPr>
          <a:xfrm>
            <a:off x="404930" y="2964334"/>
            <a:ext cx="1130438" cy="363736"/>
          </a:xfrm>
          <a:prstGeom prst="rect">
            <a:avLst/>
          </a:prstGeom>
        </p:spPr>
        <p:txBody>
          <a:bodyPr wrap="none">
            <a:spAutoFit/>
          </a:bodyPr>
          <a:lstStyle/>
          <a:p>
            <a:r>
              <a:rPr lang="en-US" sz="2000" b="1" dirty="0"/>
              <a:t>MOSFET </a:t>
            </a:r>
            <a:endParaRPr lang="pt-BR" sz="2000" b="1" dirty="0"/>
          </a:p>
        </p:txBody>
      </p:sp>
      <p:sp>
        <p:nvSpPr>
          <p:cNvPr id="23" name="Rectangle 22"/>
          <p:cNvSpPr/>
          <p:nvPr/>
        </p:nvSpPr>
        <p:spPr>
          <a:xfrm>
            <a:off x="2609920" y="1303357"/>
            <a:ext cx="540533" cy="400110"/>
          </a:xfrm>
          <a:prstGeom prst="rect">
            <a:avLst/>
          </a:prstGeom>
        </p:spPr>
        <p:txBody>
          <a:bodyPr wrap="none">
            <a:spAutoFit/>
          </a:bodyPr>
          <a:lstStyle/>
          <a:p>
            <a:r>
              <a:rPr lang="en-US" sz="2000" b="1" dirty="0"/>
              <a:t>BJT</a:t>
            </a:r>
            <a:endParaRPr lang="pt-BR" sz="2000" b="1" dirty="0"/>
          </a:p>
        </p:txBody>
      </p:sp>
      <p:graphicFrame>
        <p:nvGraphicFramePr>
          <p:cNvPr id="25" name="Table 24"/>
          <p:cNvGraphicFramePr>
            <a:graphicFrameLocks noGrp="1"/>
          </p:cNvGraphicFramePr>
          <p:nvPr>
            <p:extLst>
              <p:ext uri="{D42A27DB-BD31-4B8C-83A1-F6EECF244321}">
                <p14:modId xmlns:p14="http://schemas.microsoft.com/office/powerpoint/2010/main" val="1403804625"/>
              </p:ext>
            </p:extLst>
          </p:nvPr>
        </p:nvGraphicFramePr>
        <p:xfrm>
          <a:off x="2682655" y="1656772"/>
          <a:ext cx="4311912" cy="1371600"/>
        </p:xfrm>
        <a:graphic>
          <a:graphicData uri="http://schemas.openxmlformats.org/drawingml/2006/table">
            <a:tbl>
              <a:tblPr/>
              <a:tblGrid>
                <a:gridCol w="2245605">
                  <a:extLst>
                    <a:ext uri="{9D8B030D-6E8A-4147-A177-3AD203B41FA5}">
                      <a16:colId xmlns:a16="http://schemas.microsoft.com/office/drawing/2014/main" val="20000"/>
                    </a:ext>
                  </a:extLst>
                </a:gridCol>
                <a:gridCol w="2066307">
                  <a:extLst>
                    <a:ext uri="{9D8B030D-6E8A-4147-A177-3AD203B41FA5}">
                      <a16:colId xmlns:a16="http://schemas.microsoft.com/office/drawing/2014/main" val="20001"/>
                    </a:ext>
                  </a:extLst>
                </a:gridCol>
              </a:tblGrid>
              <a:tr h="0">
                <a:tc>
                  <a:txBody>
                    <a:bodyPr/>
                    <a:lstStyle/>
                    <a:p>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US" dirty="0">
                        <a:effectLst/>
                      </a:endParaRPr>
                    </a:p>
                    <a:p>
                      <a:endParaRPr lang="en-US" dirty="0">
                        <a:effectLst/>
                      </a:endParaRPr>
                    </a:p>
                    <a:p>
                      <a:endParaRPr lang="en-US" dirty="0">
                        <a:effectLst/>
                      </a:endParaRPr>
                    </a:p>
                    <a:p>
                      <a:endParaRPr lang="en-US" sz="1200" dirty="0">
                        <a:effectLst/>
                      </a:endParaRPr>
                    </a:p>
                    <a:p>
                      <a:endParaRPr lang="en-US" dirty="0">
                        <a:effectLs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95320693"/>
      </p:ext>
    </p:extLst>
  </p:cSld>
  <p:clrMapOvr>
    <a:masterClrMapping/>
  </p:clrMapOvr>
  <mc:AlternateContent xmlns:mc="http://schemas.openxmlformats.org/markup-compatibility/2006">
    <mc:Choice xmlns:p14="http://schemas.microsoft.com/office/powerpoint/2010/main" Requires="p14">
      <p:transition spd="slow" p14:dur="1200" advTm="99454">
        <p14:prism/>
      </p:transition>
    </mc:Choice>
    <mc:Fallback>
      <p:transition spd="slow" advTm="99454">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CMOS</a:t>
            </a:r>
          </a:p>
        </p:txBody>
      </p:sp>
      <p:sp>
        <p:nvSpPr>
          <p:cNvPr id="3" name="Content Placeholder 2"/>
          <p:cNvSpPr>
            <a:spLocks noGrp="1"/>
          </p:cNvSpPr>
          <p:nvPr>
            <p:ph idx="1"/>
          </p:nvPr>
        </p:nvSpPr>
        <p:spPr>
          <a:xfrm>
            <a:off x="657225" y="1485900"/>
            <a:ext cx="8029575" cy="1721176"/>
          </a:xfrm>
        </p:spPr>
        <p:txBody>
          <a:bodyPr>
            <a:normAutofit/>
          </a:bodyPr>
          <a:lstStyle/>
          <a:p>
            <a:r>
              <a:rPr lang="pt-BR" dirty="0"/>
              <a:t>CMOS é uma técnicas de circuitos integrados que usa pares complementares e simétricos de transistores MOSFET tipo </a:t>
            </a:r>
            <a:r>
              <a:rPr lang="pt-BR" dirty="0" err="1"/>
              <a:t>p</a:t>
            </a:r>
            <a:r>
              <a:rPr lang="pt-BR" dirty="0"/>
              <a:t> e tipo </a:t>
            </a:r>
            <a:r>
              <a:rPr lang="pt-BR" dirty="0" err="1"/>
              <a:t>n</a:t>
            </a:r>
            <a:r>
              <a:rPr lang="pt-BR" dirty="0"/>
              <a:t> para funções lógicas. Para montar circuitos CMOS:</a:t>
            </a:r>
          </a:p>
          <a:p>
            <a:r>
              <a:rPr lang="pt-BR" dirty="0"/>
              <a:t>- Use NFET para </a:t>
            </a:r>
            <a:r>
              <a:rPr lang="pt-BR" dirty="0" err="1"/>
              <a:t>pulldown</a:t>
            </a:r>
            <a:r>
              <a:rPr lang="pt-BR" dirty="0"/>
              <a:t>;</a:t>
            </a:r>
          </a:p>
          <a:p>
            <a:r>
              <a:rPr lang="pt-BR" dirty="0"/>
              <a:t>- Use PFET para </a:t>
            </a:r>
            <a:r>
              <a:rPr lang="pt-BR" dirty="0" err="1"/>
              <a:t>pullup</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53</a:t>
            </a:fld>
            <a:endParaRPr lang="pt-BR" dirty="0"/>
          </a:p>
        </p:txBody>
      </p:sp>
      <p:pic>
        <p:nvPicPr>
          <p:cNvPr id="7"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9465" y="3799868"/>
            <a:ext cx="1932010" cy="19320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GFET N-Ch Enh Labell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6225" y="3765865"/>
            <a:ext cx="1932010" cy="193201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800881" y="4175438"/>
            <a:ext cx="1965355" cy="707887"/>
          </a:xfrm>
          <a:prstGeom prst="rect">
            <a:avLst/>
          </a:prstGeom>
        </p:spPr>
        <p:txBody>
          <a:bodyPr wrap="square">
            <a:spAutoFit/>
          </a:bodyPr>
          <a:lstStyle/>
          <a:p>
            <a:r>
              <a:rPr lang="pt-BR" sz="2000" dirty="0"/>
              <a:t>0 : desligado</a:t>
            </a:r>
          </a:p>
          <a:p>
            <a:r>
              <a:rPr lang="pt-BR" sz="2000" dirty="0"/>
              <a:t>1 : ligado</a:t>
            </a:r>
          </a:p>
        </p:txBody>
      </p:sp>
      <p:sp>
        <p:nvSpPr>
          <p:cNvPr id="10" name="Rectangle 9"/>
          <p:cNvSpPr/>
          <p:nvPr/>
        </p:nvSpPr>
        <p:spPr>
          <a:xfrm>
            <a:off x="5104131" y="4175438"/>
            <a:ext cx="1965355" cy="707887"/>
          </a:xfrm>
          <a:prstGeom prst="rect">
            <a:avLst/>
          </a:prstGeom>
        </p:spPr>
        <p:txBody>
          <a:bodyPr wrap="square">
            <a:spAutoFit/>
          </a:bodyPr>
          <a:lstStyle/>
          <a:p>
            <a:r>
              <a:rPr lang="pt-BR" sz="2000" dirty="0"/>
              <a:t>0 : ligado</a:t>
            </a:r>
          </a:p>
          <a:p>
            <a:r>
              <a:rPr lang="pt-BR" sz="2000" dirty="0"/>
              <a:t>1 : desliga</a:t>
            </a:r>
          </a:p>
        </p:txBody>
      </p:sp>
      <p:pic>
        <p:nvPicPr>
          <p:cNvPr id="11" name="Picture 10"/>
          <p:cNvPicPr>
            <a:picLocks noChangeAspect="1"/>
          </p:cNvPicPr>
          <p:nvPr/>
        </p:nvPicPr>
        <p:blipFill>
          <a:blip r:embed="rId6">
            <a:clrChange>
              <a:clrFrom>
                <a:srgbClr val="F4F5F6"/>
              </a:clrFrom>
              <a:clrTo>
                <a:srgbClr val="F4F5F6">
                  <a:alpha val="0"/>
                </a:srgbClr>
              </a:clrTo>
            </a:clrChange>
          </a:blip>
          <a:stretch>
            <a:fillRect/>
          </a:stretch>
        </p:blipFill>
        <p:spPr>
          <a:xfrm>
            <a:off x="2910925" y="3184481"/>
            <a:ext cx="1214248" cy="747122"/>
          </a:xfrm>
          <a:prstGeom prst="rect">
            <a:avLst/>
          </a:prstGeom>
        </p:spPr>
      </p:pic>
      <p:pic>
        <p:nvPicPr>
          <p:cNvPr id="12" name="Picture 11"/>
          <p:cNvPicPr>
            <a:picLocks noChangeAspect="1"/>
          </p:cNvPicPr>
          <p:nvPr/>
        </p:nvPicPr>
        <p:blipFill>
          <a:blip r:embed="rId7">
            <a:clrChange>
              <a:clrFrom>
                <a:srgbClr val="F4F5F6"/>
              </a:clrFrom>
              <a:clrTo>
                <a:srgbClr val="F4F5F6">
                  <a:alpha val="0"/>
                </a:srgbClr>
              </a:clrTo>
            </a:clrChange>
          </a:blip>
          <a:stretch>
            <a:fillRect/>
          </a:stretch>
        </p:blipFill>
        <p:spPr>
          <a:xfrm>
            <a:off x="2910926" y="5552793"/>
            <a:ext cx="1330683" cy="711545"/>
          </a:xfrm>
          <a:prstGeom prst="rect">
            <a:avLst/>
          </a:prstGeom>
        </p:spPr>
      </p:pic>
      <p:sp>
        <p:nvSpPr>
          <p:cNvPr id="16" name="Rectangle 15"/>
          <p:cNvSpPr/>
          <p:nvPr/>
        </p:nvSpPr>
        <p:spPr>
          <a:xfrm>
            <a:off x="697030" y="3318374"/>
            <a:ext cx="3787060" cy="29934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000" b="1">
                <a:solidFill>
                  <a:schemeClr val="tx1"/>
                </a:solidFill>
              </a:rPr>
              <a:t>NMOS</a:t>
            </a:r>
          </a:p>
        </p:txBody>
      </p:sp>
      <p:sp>
        <p:nvSpPr>
          <p:cNvPr id="17" name="Rectangle 16"/>
          <p:cNvSpPr/>
          <p:nvPr/>
        </p:nvSpPr>
        <p:spPr>
          <a:xfrm>
            <a:off x="4867640" y="3318373"/>
            <a:ext cx="3787060" cy="29934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000" b="1" dirty="0">
                <a:solidFill>
                  <a:schemeClr val="tx1"/>
                </a:solidFill>
              </a:rPr>
              <a:t>PMOS</a:t>
            </a:r>
          </a:p>
        </p:txBody>
      </p:sp>
      <p:pic>
        <p:nvPicPr>
          <p:cNvPr id="18" name="Picture 17"/>
          <p:cNvPicPr>
            <a:picLocks noChangeAspect="1"/>
          </p:cNvPicPr>
          <p:nvPr/>
        </p:nvPicPr>
        <p:blipFill>
          <a:blip r:embed="rId6">
            <a:clrChange>
              <a:clrFrom>
                <a:srgbClr val="F4F5F6"/>
              </a:clrFrom>
              <a:clrTo>
                <a:srgbClr val="F4F5F6">
                  <a:alpha val="0"/>
                </a:srgbClr>
              </a:clrTo>
            </a:clrChange>
          </a:blip>
          <a:stretch>
            <a:fillRect/>
          </a:stretch>
        </p:blipFill>
        <p:spPr>
          <a:xfrm>
            <a:off x="6841537" y="3210810"/>
            <a:ext cx="1214248" cy="747122"/>
          </a:xfrm>
          <a:prstGeom prst="rect">
            <a:avLst/>
          </a:prstGeom>
        </p:spPr>
      </p:pic>
      <p:pic>
        <p:nvPicPr>
          <p:cNvPr id="19" name="Picture 18"/>
          <p:cNvPicPr>
            <a:picLocks noChangeAspect="1"/>
          </p:cNvPicPr>
          <p:nvPr/>
        </p:nvPicPr>
        <p:blipFill>
          <a:blip r:embed="rId7">
            <a:clrChange>
              <a:clrFrom>
                <a:srgbClr val="F4F5F6"/>
              </a:clrFrom>
              <a:clrTo>
                <a:srgbClr val="F4F5F6">
                  <a:alpha val="0"/>
                </a:srgbClr>
              </a:clrTo>
            </a:clrChange>
          </a:blip>
          <a:stretch>
            <a:fillRect/>
          </a:stretch>
        </p:blipFill>
        <p:spPr>
          <a:xfrm>
            <a:off x="6841538" y="5579122"/>
            <a:ext cx="1330683" cy="711545"/>
          </a:xfrm>
          <a:prstGeom prst="rect">
            <a:avLst/>
          </a:prstGeom>
        </p:spPr>
      </p:pic>
      <mc:AlternateContent xmlns:mc="http://schemas.openxmlformats.org/markup-compatibility/2006" xmlns:p14="http://schemas.microsoft.com/office/powerpoint/2010/main" xmlns:iact="http://schemas.microsoft.com/office/powerpoint/2014/inkAction">
        <mc:Choice Requires="p14 iact">
          <p:contentPart p14:bwMode="auto" r:id="rId8">
            <p14:nvContentPartPr>
              <p14:cNvPr id="13" name="Tinta 12"/>
              <p14:cNvContentPartPr/>
              <p14:nvPr>
                <p:custDataLst>
                  <p:tags r:id="rId1"/>
                </p:custDataLst>
                <p:extLst>
                  <p:ext uri="{42D2F446-02D8-4167-A562-619A0277C38B}">
                    <p15:isNarration xmlns:p15="http://schemas.microsoft.com/office/powerpoint/2012/main" val="1"/>
                  </p:ext>
                </p:extLst>
              </p14:nvPr>
            </p14:nvContentPartPr>
            <p14:xfrm>
              <a:off x="2448895" y="4203149"/>
              <a:ext cx="5435673" cy="1115300"/>
            </p14:xfrm>
          </p:contentPart>
        </mc:Choice>
        <mc:Fallback xmlns="">
          <p:pic>
            <p:nvPicPr>
              <p:cNvPr id="13" name="Tinta 12"/>
              <p:cNvPicPr>
                <a:picLocks noGrp="1" noRot="1" noChangeAspect="1" noMove="1" noResize="1" noEditPoints="1" noAdjustHandles="1" noChangeArrowheads="1" noChangeShapeType="1"/>
              </p:cNvPicPr>
              <p:nvPr/>
            </p:nvPicPr>
            <p:blipFill>
              <a:blip r:embed="rId13"/>
              <a:stretch>
                <a:fillRect/>
              </a:stretch>
            </p:blipFill>
            <p:spPr>
              <a:xfrm>
                <a:off x="2439895" y="4194149"/>
                <a:ext cx="5453673" cy="1133300"/>
              </a:xfrm>
              <a:prstGeom prst="rect">
                <a:avLst/>
              </a:prstGeom>
            </p:spPr>
          </p:pic>
        </mc:Fallback>
      </mc:AlternateContent>
    </p:spTree>
    <p:extLst>
      <p:ext uri="{BB962C8B-B14F-4D97-AF65-F5344CB8AC3E}">
        <p14:creationId xmlns:p14="http://schemas.microsoft.com/office/powerpoint/2010/main" val="1375575946"/>
      </p:ext>
    </p:extLst>
  </p:cSld>
  <p:clrMapOvr>
    <a:masterClrMapping/>
  </p:clrMapOvr>
  <mc:AlternateContent xmlns:mc="http://schemas.openxmlformats.org/markup-compatibility/2006">
    <mc:Choice xmlns:p14="http://schemas.microsoft.com/office/powerpoint/2010/main" Requires="p14">
      <p:transition spd="slow" p14:dur="1200" advTm="76922">
        <p14:prism/>
      </p:transition>
    </mc:Choice>
    <mc:Fallback>
      <p:transition spd="slow" advTm="7692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md type="call" cmd="playFrom(0.0)">
                                      <p:cBhvr>
                                        <p:cTn id="7"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Complementos CMOS</a:t>
            </a: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224395208"/>
              </p:ext>
            </p:extLst>
          </p:nvPr>
        </p:nvGraphicFramePr>
        <p:xfrm>
          <a:off x="142507" y="1435800"/>
          <a:ext cx="8841176" cy="4968240"/>
        </p:xfrm>
        <a:graphic>
          <a:graphicData uri="http://schemas.openxmlformats.org/drawingml/2006/table">
            <a:tbl>
              <a:tblPr>
                <a:tableStyleId>{5C22544A-7EE6-4342-B048-85BDC9FD1C3A}</a:tableStyleId>
              </a:tblPr>
              <a:tblGrid>
                <a:gridCol w="4370120">
                  <a:extLst>
                    <a:ext uri="{9D8B030D-6E8A-4147-A177-3AD203B41FA5}">
                      <a16:colId xmlns:a16="http://schemas.microsoft.com/office/drawing/2014/main" val="20000"/>
                    </a:ext>
                  </a:extLst>
                </a:gridCol>
                <a:gridCol w="4471056">
                  <a:extLst>
                    <a:ext uri="{9D8B030D-6E8A-4147-A177-3AD203B41FA5}">
                      <a16:colId xmlns:a16="http://schemas.microsoft.com/office/drawing/2014/main" val="20001"/>
                    </a:ext>
                  </a:extLst>
                </a:gridCol>
              </a:tblGrid>
              <a:tr h="966016">
                <a:tc>
                  <a:txBody>
                    <a:bodyPr/>
                    <a:lstStyle/>
                    <a:p>
                      <a:pPr marL="0" marR="0" indent="0" algn="ctr" defTabSz="914400" rtl="0" eaLnBrk="1" fontAlgn="auto" latinLnBrk="0" hangingPunct="1">
                        <a:lnSpc>
                          <a:spcPct val="80000"/>
                        </a:lnSpc>
                        <a:spcBef>
                          <a:spcPts val="0"/>
                        </a:spcBef>
                        <a:spcAft>
                          <a:spcPts val="0"/>
                        </a:spcAft>
                        <a:buClrTx/>
                        <a:buSzTx/>
                        <a:buFontTx/>
                        <a:buNone/>
                        <a:tabLst/>
                        <a:defRPr/>
                      </a:pPr>
                      <a:endParaRPr lang="pt-BR" sz="1800" b="0" kern="1200" dirty="0">
                        <a:solidFill>
                          <a:schemeClr val="dk1"/>
                        </a:solidFill>
                        <a:latin typeface="Courier"/>
                        <a:ea typeface="+mn-ea"/>
                        <a:cs typeface="Courier"/>
                      </a:endParaRPr>
                    </a:p>
                    <a:p>
                      <a:pPr marL="0" marR="0" indent="0" algn="ctr" defTabSz="914400" rtl="0" eaLnBrk="1" fontAlgn="auto" latinLnBrk="0" hangingPunct="1">
                        <a:lnSpc>
                          <a:spcPct val="80000"/>
                        </a:lnSpc>
                        <a:spcBef>
                          <a:spcPts val="0"/>
                        </a:spcBef>
                        <a:spcAft>
                          <a:spcPts val="0"/>
                        </a:spcAft>
                        <a:buClrTx/>
                        <a:buSzTx/>
                        <a:buFontTx/>
                        <a:buNone/>
                        <a:tabLst/>
                        <a:defRPr/>
                      </a:pPr>
                      <a:endParaRPr lang="pt-BR" sz="1400" b="0" kern="1200" dirty="0">
                        <a:solidFill>
                          <a:schemeClr val="dk1"/>
                        </a:solidFill>
                        <a:latin typeface="Courier"/>
                        <a:ea typeface="+mn-ea"/>
                        <a:cs typeface="Courier"/>
                      </a:endParaRPr>
                    </a:p>
                    <a:p>
                      <a:pPr marL="0" marR="0" indent="0" algn="ctr" defTabSz="914400" rtl="0" eaLnBrk="1" fontAlgn="auto" latinLnBrk="0" hangingPunct="1">
                        <a:lnSpc>
                          <a:spcPct val="80000"/>
                        </a:lnSpc>
                        <a:spcBef>
                          <a:spcPts val="0"/>
                        </a:spcBef>
                        <a:spcAft>
                          <a:spcPts val="0"/>
                        </a:spcAft>
                        <a:buClrTx/>
                        <a:buSzTx/>
                        <a:buFontTx/>
                        <a:buNone/>
                        <a:tabLst/>
                        <a:defRPr/>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r>
                        <a:rPr lang="pt-BR" sz="1800" b="0" kern="1200" dirty="0">
                          <a:solidFill>
                            <a:schemeClr val="dk1"/>
                          </a:solidFill>
                          <a:latin typeface="Courier"/>
                          <a:ea typeface="+mn-ea"/>
                          <a:cs typeface="Courier"/>
                        </a:rPr>
                        <a:t> </a:t>
                      </a:r>
                    </a:p>
                    <a:p>
                      <a:pPr marL="0" algn="ctr" defTabSz="914400" rtl="0" eaLnBrk="1" latinLnBrk="0" hangingPunct="1">
                        <a:lnSpc>
                          <a:spcPct val="80000"/>
                        </a:lnSpc>
                        <a:spcBef>
                          <a:spcPts val="0"/>
                        </a:spcBef>
                      </a:pPr>
                      <a:r>
                        <a:rPr lang="pt-BR" sz="1600" b="0" kern="1200" dirty="0">
                          <a:solidFill>
                            <a:schemeClr val="dk1"/>
                          </a:solidFill>
                          <a:latin typeface="Courier"/>
                          <a:ea typeface="+mn-ea"/>
                          <a:cs typeface="Courier"/>
                        </a:rPr>
                        <a:t>Conduz se </a:t>
                      </a:r>
                      <a:r>
                        <a:rPr lang="pt-BR" sz="1600" b="0" kern="1200" dirty="0" err="1">
                          <a:solidFill>
                            <a:schemeClr val="dk1"/>
                          </a:solidFill>
                          <a:latin typeface="Courier"/>
                          <a:ea typeface="+mn-ea"/>
                          <a:cs typeface="Courier"/>
                        </a:rPr>
                        <a:t>G</a:t>
                      </a:r>
                      <a:r>
                        <a:rPr lang="pt-BR" sz="1600" b="0" kern="1200" dirty="0">
                          <a:solidFill>
                            <a:schemeClr val="dk1"/>
                          </a:solidFill>
                          <a:latin typeface="Courier"/>
                          <a:ea typeface="+mn-ea"/>
                          <a:cs typeface="Courier"/>
                        </a:rPr>
                        <a:t> é 1: </a:t>
                      </a:r>
                      <a:r>
                        <a:rPr lang="pt-BR" sz="1600" b="0" kern="1200" dirty="0" err="1">
                          <a:solidFill>
                            <a:schemeClr val="dk1"/>
                          </a:solidFill>
                          <a:latin typeface="Courier"/>
                          <a:ea typeface="+mn-ea"/>
                          <a:cs typeface="Courier"/>
                        </a:rPr>
                        <a:t>G</a:t>
                      </a:r>
                      <a:endParaRPr lang="pt-BR" sz="1600" b="0" kern="1200" dirty="0">
                        <a:solidFill>
                          <a:schemeClr val="dk1"/>
                        </a:solidFill>
                        <a:latin typeface="Courier"/>
                        <a:ea typeface="+mn-ea"/>
                        <a:cs typeface="Courier"/>
                      </a:endParaRPr>
                    </a:p>
                  </a:txBody>
                  <a:tcPr/>
                </a:tc>
                <a:tc>
                  <a:txBody>
                    <a:bodyPr/>
                    <a:lstStyle/>
                    <a:p>
                      <a:pPr marL="0" marR="0" indent="0" algn="ctr" defTabSz="914400" rtl="0" eaLnBrk="1" fontAlgn="auto" latinLnBrk="0" hangingPunct="1">
                        <a:lnSpc>
                          <a:spcPct val="80000"/>
                        </a:lnSpc>
                        <a:spcBef>
                          <a:spcPts val="0"/>
                        </a:spcBef>
                        <a:spcAft>
                          <a:spcPts val="0"/>
                        </a:spcAft>
                        <a:buClrTx/>
                        <a:buSzTx/>
                        <a:buFontTx/>
                        <a:buNone/>
                        <a:tabLst/>
                        <a:defRPr/>
                      </a:pPr>
                      <a:endParaRPr lang="pt-BR" sz="1800" b="0" kern="1200" dirty="0">
                        <a:solidFill>
                          <a:schemeClr val="dk1"/>
                        </a:solidFill>
                        <a:latin typeface="Courier"/>
                        <a:ea typeface="+mn-ea"/>
                        <a:cs typeface="Courier"/>
                      </a:endParaRPr>
                    </a:p>
                    <a:p>
                      <a:pPr marL="0" marR="0" indent="0" algn="ctr" defTabSz="914400" rtl="0" eaLnBrk="1" fontAlgn="auto" latinLnBrk="0" hangingPunct="1">
                        <a:lnSpc>
                          <a:spcPct val="80000"/>
                        </a:lnSpc>
                        <a:spcBef>
                          <a:spcPts val="0"/>
                        </a:spcBef>
                        <a:spcAft>
                          <a:spcPts val="0"/>
                        </a:spcAft>
                        <a:buClrTx/>
                        <a:buSzTx/>
                        <a:buFontTx/>
                        <a:buNone/>
                        <a:tabLst/>
                        <a:defRPr/>
                      </a:pPr>
                      <a:endParaRPr lang="pt-BR" sz="1800" b="0" kern="1200" dirty="0">
                        <a:solidFill>
                          <a:schemeClr val="dk1"/>
                        </a:solidFill>
                        <a:latin typeface="Courier"/>
                        <a:ea typeface="+mn-ea"/>
                        <a:cs typeface="Courier"/>
                      </a:endParaRPr>
                    </a:p>
                    <a:p>
                      <a:pPr marL="0" marR="0" indent="0" algn="ctr" defTabSz="914400" rtl="0" eaLnBrk="1" fontAlgn="auto" latinLnBrk="0" hangingPunct="1">
                        <a:lnSpc>
                          <a:spcPct val="80000"/>
                        </a:lnSpc>
                        <a:spcBef>
                          <a:spcPts val="0"/>
                        </a:spcBef>
                        <a:spcAft>
                          <a:spcPts val="0"/>
                        </a:spcAft>
                        <a:buClrTx/>
                        <a:buSzTx/>
                        <a:buFontTx/>
                        <a:buNone/>
                        <a:tabLst/>
                        <a:defRPr/>
                      </a:pPr>
                      <a:endParaRPr lang="pt-BR" sz="14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r>
                        <a:rPr lang="pt-BR" sz="1800" b="0" kern="1200" dirty="0">
                          <a:solidFill>
                            <a:schemeClr val="dk1"/>
                          </a:solidFill>
                          <a:latin typeface="Courier"/>
                          <a:ea typeface="+mn-ea"/>
                          <a:cs typeface="Courier"/>
                        </a:rPr>
                        <a:t>         </a:t>
                      </a:r>
                      <a:r>
                        <a:rPr lang="pt-BR" sz="1600" b="0" kern="1200" dirty="0">
                          <a:solidFill>
                            <a:schemeClr val="dk1"/>
                          </a:solidFill>
                          <a:latin typeface="Courier"/>
                          <a:ea typeface="+mn-ea"/>
                          <a:cs typeface="Courier"/>
                        </a:rPr>
                        <a:t>     </a:t>
                      </a:r>
                      <a:r>
                        <a:rPr lang="pt-BR" sz="1600" b="0" kern="1200" baseline="0" dirty="0">
                          <a:solidFill>
                            <a:schemeClr val="dk1"/>
                          </a:solidFill>
                          <a:latin typeface="Courier"/>
                          <a:ea typeface="+mn-ea"/>
                          <a:cs typeface="Courier"/>
                        </a:rPr>
                        <a:t> </a:t>
                      </a:r>
                      <a:r>
                        <a:rPr lang="pt-BR" sz="1600" b="0" kern="1200" dirty="0">
                          <a:solidFill>
                            <a:schemeClr val="dk1"/>
                          </a:solidFill>
                          <a:latin typeface="Courier"/>
                          <a:ea typeface="+mn-ea"/>
                          <a:cs typeface="Courier"/>
                        </a:rPr>
                        <a:t> _  </a:t>
                      </a:r>
                    </a:p>
                    <a:p>
                      <a:pPr marL="0" algn="ctr" defTabSz="914400" rtl="0" eaLnBrk="1" latinLnBrk="0" hangingPunct="1">
                        <a:lnSpc>
                          <a:spcPct val="80000"/>
                        </a:lnSpc>
                        <a:spcBef>
                          <a:spcPts val="0"/>
                        </a:spcBef>
                      </a:pPr>
                      <a:r>
                        <a:rPr lang="pt-BR" sz="1600" b="0" kern="1200" dirty="0">
                          <a:solidFill>
                            <a:schemeClr val="dk1"/>
                          </a:solidFill>
                          <a:latin typeface="Courier"/>
                          <a:ea typeface="+mn-ea"/>
                          <a:cs typeface="Courier"/>
                        </a:rPr>
                        <a:t>Conduz se </a:t>
                      </a:r>
                      <a:r>
                        <a:rPr lang="pt-BR" sz="1600" b="0" kern="1200" dirty="0" err="1">
                          <a:solidFill>
                            <a:schemeClr val="dk1"/>
                          </a:solidFill>
                          <a:latin typeface="Courier"/>
                          <a:ea typeface="+mn-ea"/>
                          <a:cs typeface="Courier"/>
                        </a:rPr>
                        <a:t>G</a:t>
                      </a:r>
                      <a:r>
                        <a:rPr lang="pt-BR" sz="1600" b="0" kern="1200" dirty="0">
                          <a:solidFill>
                            <a:schemeClr val="dk1"/>
                          </a:solidFill>
                          <a:latin typeface="Courier"/>
                          <a:ea typeface="+mn-ea"/>
                          <a:cs typeface="Courier"/>
                        </a:rPr>
                        <a:t> é 0:</a:t>
                      </a:r>
                      <a:r>
                        <a:rPr lang="pt-BR" sz="1600" b="0" kern="1200" baseline="0" dirty="0">
                          <a:solidFill>
                            <a:schemeClr val="dk1"/>
                          </a:solidFill>
                          <a:latin typeface="Courier"/>
                          <a:ea typeface="+mn-ea"/>
                          <a:cs typeface="Courier"/>
                        </a:rPr>
                        <a:t> </a:t>
                      </a:r>
                      <a:r>
                        <a:rPr lang="pt-BR" sz="1600" b="0" kern="1200" baseline="0" dirty="0" err="1">
                          <a:solidFill>
                            <a:schemeClr val="dk1"/>
                          </a:solidFill>
                          <a:latin typeface="Courier"/>
                          <a:ea typeface="+mn-ea"/>
                          <a:cs typeface="Courier"/>
                        </a:rPr>
                        <a:t>G</a:t>
                      </a:r>
                      <a:endParaRPr lang="pt-BR" sz="1600" b="0" kern="1200" dirty="0">
                        <a:solidFill>
                          <a:schemeClr val="dk1"/>
                        </a:solidFill>
                        <a:latin typeface="Courier"/>
                        <a:ea typeface="+mn-ea"/>
                        <a:cs typeface="Courier"/>
                      </a:endParaRPr>
                    </a:p>
                  </a:txBody>
                  <a:tcPr/>
                </a:tc>
                <a:extLst>
                  <a:ext uri="{0D108BD9-81ED-4DB2-BD59-A6C34878D82A}">
                    <a16:rowId xmlns:a16="http://schemas.microsoft.com/office/drawing/2014/main" val="10000"/>
                  </a:ext>
                </a:extLst>
              </a:tr>
              <a:tr h="1675629">
                <a:tc>
                  <a:txBody>
                    <a:bodyPr/>
                    <a:lstStyle/>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2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2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marR="0" indent="0" algn="ctr" defTabSz="914400" rtl="0" eaLnBrk="1" fontAlgn="auto" latinLnBrk="0" hangingPunct="1">
                        <a:lnSpc>
                          <a:spcPct val="80000"/>
                        </a:lnSpc>
                        <a:spcBef>
                          <a:spcPts val="0"/>
                        </a:spcBef>
                        <a:spcAft>
                          <a:spcPts val="0"/>
                        </a:spcAft>
                        <a:buClrTx/>
                        <a:buSzTx/>
                        <a:buFontTx/>
                        <a:buNone/>
                        <a:tabLst/>
                        <a:defRPr/>
                      </a:pPr>
                      <a:r>
                        <a:rPr lang="pt-BR" sz="1600" b="0" kern="1200" dirty="0">
                          <a:solidFill>
                            <a:schemeClr val="dk1"/>
                          </a:solidFill>
                          <a:latin typeface="Courier"/>
                          <a:ea typeface="+mn-ea"/>
                          <a:cs typeface="Courier"/>
                        </a:rPr>
                        <a:t>Conduz se ambos </a:t>
                      </a:r>
                      <a:r>
                        <a:rPr lang="pt-BR" sz="1600" b="0" kern="1200" dirty="0" err="1">
                          <a:solidFill>
                            <a:schemeClr val="dk1"/>
                          </a:solidFill>
                          <a:latin typeface="Courier"/>
                          <a:ea typeface="+mn-ea"/>
                          <a:cs typeface="Courier"/>
                        </a:rPr>
                        <a:t>G</a:t>
                      </a:r>
                      <a:r>
                        <a:rPr lang="pt-BR" sz="1600" b="0" kern="1200" dirty="0">
                          <a:solidFill>
                            <a:schemeClr val="dk1"/>
                          </a:solidFill>
                          <a:latin typeface="Courier"/>
                          <a:ea typeface="+mn-ea"/>
                          <a:cs typeface="Courier"/>
                        </a:rPr>
                        <a:t> são 1: (A*B)</a:t>
                      </a:r>
                    </a:p>
                  </a:txBody>
                  <a:tcPr/>
                </a:tc>
                <a:tc>
                  <a:txBody>
                    <a:bodyPr/>
                    <a:lstStyle/>
                    <a:p>
                      <a:pPr marL="0" algn="ctr" defTabSz="914400" rtl="0" eaLnBrk="1" latinLnBrk="0" hangingPunct="1">
                        <a:lnSpc>
                          <a:spcPct val="80000"/>
                        </a:lnSpc>
                        <a:spcBef>
                          <a:spcPts val="0"/>
                        </a:spcBef>
                      </a:pPr>
                      <a:endParaRPr lang="pt-BR" sz="24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20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4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20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20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r>
                        <a:rPr lang="pt-BR" sz="1400" b="0" kern="1200" dirty="0">
                          <a:solidFill>
                            <a:schemeClr val="dk1"/>
                          </a:solidFill>
                          <a:latin typeface="Courier"/>
                          <a:ea typeface="+mn-ea"/>
                          <a:cs typeface="Courier"/>
                        </a:rPr>
                        <a:t> </a:t>
                      </a:r>
                    </a:p>
                    <a:p>
                      <a:pPr marL="0" algn="ctr" defTabSz="914400" rtl="0" eaLnBrk="1" latinLnBrk="0" hangingPunct="1">
                        <a:lnSpc>
                          <a:spcPct val="80000"/>
                        </a:lnSpc>
                        <a:spcBef>
                          <a:spcPts val="0"/>
                        </a:spcBef>
                      </a:pPr>
                      <a:r>
                        <a:rPr lang="pt-BR" sz="2000" b="0" kern="1200" dirty="0">
                          <a:solidFill>
                            <a:schemeClr val="dk1"/>
                          </a:solidFill>
                          <a:latin typeface="Courier"/>
                          <a:ea typeface="+mn-ea"/>
                          <a:cs typeface="Courier"/>
                        </a:rPr>
                        <a:t>             </a:t>
                      </a:r>
                      <a:r>
                        <a:rPr lang="pt-BR" sz="1200" b="0" kern="1200" dirty="0">
                          <a:solidFill>
                            <a:schemeClr val="dk1"/>
                          </a:solidFill>
                          <a:latin typeface="Courier"/>
                          <a:ea typeface="+mn-ea"/>
                          <a:cs typeface="Courier"/>
                        </a:rPr>
                        <a:t> </a:t>
                      </a:r>
                      <a:r>
                        <a:rPr lang="pt-BR" sz="1600" b="0" kern="1200" dirty="0">
                          <a:solidFill>
                            <a:schemeClr val="dk1"/>
                          </a:solidFill>
                          <a:latin typeface="Courier"/>
                          <a:ea typeface="+mn-ea"/>
                          <a:cs typeface="Courier"/>
                        </a:rPr>
                        <a:t> </a:t>
                      </a:r>
                      <a:r>
                        <a:rPr lang="pt-BR" sz="1600" b="0" kern="1200" baseline="0" dirty="0">
                          <a:solidFill>
                            <a:schemeClr val="dk1"/>
                          </a:solidFill>
                          <a:latin typeface="Courier"/>
                          <a:ea typeface="+mn-ea"/>
                          <a:cs typeface="Courier"/>
                        </a:rPr>
                        <a:t> </a:t>
                      </a:r>
                      <a:r>
                        <a:rPr lang="pt-BR" sz="1600" b="0" kern="1200" dirty="0">
                          <a:solidFill>
                            <a:schemeClr val="dk1"/>
                          </a:solidFill>
                          <a:latin typeface="Courier"/>
                          <a:ea typeface="+mn-ea"/>
                          <a:cs typeface="Courier"/>
                        </a:rPr>
                        <a:t> _ _   ___</a:t>
                      </a:r>
                    </a:p>
                    <a:p>
                      <a:pPr marL="0" marR="0" indent="0" algn="ctr" defTabSz="914400" rtl="0" eaLnBrk="1" fontAlgn="auto" latinLnBrk="0" hangingPunct="1">
                        <a:lnSpc>
                          <a:spcPct val="80000"/>
                        </a:lnSpc>
                        <a:spcBef>
                          <a:spcPts val="0"/>
                        </a:spcBef>
                        <a:spcAft>
                          <a:spcPts val="0"/>
                        </a:spcAft>
                        <a:buClrTx/>
                        <a:buSzTx/>
                        <a:buFontTx/>
                        <a:buNone/>
                        <a:tabLst/>
                        <a:defRPr/>
                      </a:pPr>
                      <a:r>
                        <a:rPr lang="pt-BR" sz="1600" b="0" kern="1200" dirty="0">
                          <a:solidFill>
                            <a:schemeClr val="dk1"/>
                          </a:solidFill>
                          <a:latin typeface="Courier"/>
                          <a:ea typeface="+mn-ea"/>
                          <a:cs typeface="Courier"/>
                        </a:rPr>
                        <a:t>Conduz se um</a:t>
                      </a:r>
                      <a:r>
                        <a:rPr lang="pt-BR" sz="1600" b="0" kern="1200" baseline="0" dirty="0">
                          <a:solidFill>
                            <a:schemeClr val="dk1"/>
                          </a:solidFill>
                          <a:latin typeface="Courier"/>
                          <a:ea typeface="+mn-ea"/>
                          <a:cs typeface="Courier"/>
                        </a:rPr>
                        <a:t> </a:t>
                      </a:r>
                      <a:r>
                        <a:rPr lang="pt-BR" sz="1600" b="0" kern="1200" dirty="0" err="1">
                          <a:solidFill>
                            <a:schemeClr val="dk1"/>
                          </a:solidFill>
                          <a:latin typeface="Courier"/>
                          <a:ea typeface="+mn-ea"/>
                          <a:cs typeface="Courier"/>
                        </a:rPr>
                        <a:t>G</a:t>
                      </a:r>
                      <a:r>
                        <a:rPr lang="pt-BR" sz="1600" b="0" kern="1200" dirty="0">
                          <a:solidFill>
                            <a:schemeClr val="dk1"/>
                          </a:solidFill>
                          <a:latin typeface="Courier"/>
                          <a:ea typeface="+mn-ea"/>
                          <a:cs typeface="Courier"/>
                        </a:rPr>
                        <a:t> é 0: A+B = A*B</a:t>
                      </a:r>
                    </a:p>
                  </a:txBody>
                  <a:tcPr/>
                </a:tc>
                <a:extLst>
                  <a:ext uri="{0D108BD9-81ED-4DB2-BD59-A6C34878D82A}">
                    <a16:rowId xmlns:a16="http://schemas.microsoft.com/office/drawing/2014/main" val="10001"/>
                  </a:ext>
                </a:extLst>
              </a:tr>
              <a:tr h="1498226">
                <a:tc>
                  <a:txBody>
                    <a:bodyPr/>
                    <a:lstStyle/>
                    <a:p>
                      <a:pPr marL="0" algn="ctr" defTabSz="914400" rtl="0" eaLnBrk="1" latinLnBrk="0" hangingPunct="1">
                        <a:lnSpc>
                          <a:spcPct val="80000"/>
                        </a:lnSpc>
                        <a:spcBef>
                          <a:spcPts val="0"/>
                        </a:spcBef>
                      </a:pPr>
                      <a:endParaRPr lang="pt-BR" sz="2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24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6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r>
                        <a:rPr lang="pt-BR" sz="2400" b="0" kern="1200" dirty="0">
                          <a:solidFill>
                            <a:schemeClr val="dk1"/>
                          </a:solidFill>
                          <a:latin typeface="Courier"/>
                          <a:ea typeface="+mn-ea"/>
                          <a:cs typeface="Courier"/>
                        </a:rPr>
                        <a:t>    </a:t>
                      </a:r>
                    </a:p>
                    <a:p>
                      <a:pPr marL="0" algn="ctr" defTabSz="914400" rtl="0" eaLnBrk="1" latinLnBrk="0" hangingPunct="1">
                        <a:lnSpc>
                          <a:spcPct val="80000"/>
                        </a:lnSpc>
                        <a:spcBef>
                          <a:spcPts val="0"/>
                        </a:spcBef>
                      </a:pPr>
                      <a:r>
                        <a:rPr lang="pt-BR" sz="2400" b="0" kern="1200" dirty="0">
                          <a:solidFill>
                            <a:schemeClr val="dk1"/>
                          </a:solidFill>
                          <a:latin typeface="Courier"/>
                          <a:ea typeface="+mn-ea"/>
                          <a:cs typeface="Courier"/>
                        </a:rPr>
                        <a:t> </a:t>
                      </a:r>
                      <a:endParaRPr lang="pt-BR" sz="1600" b="0" kern="1200" dirty="0">
                        <a:solidFill>
                          <a:schemeClr val="dk1"/>
                        </a:solidFill>
                        <a:latin typeface="Courier"/>
                        <a:ea typeface="+mn-ea"/>
                        <a:cs typeface="Courier"/>
                      </a:endParaRPr>
                    </a:p>
                    <a:p>
                      <a:pPr marL="0" marR="0" indent="0" algn="ctr" defTabSz="914400" rtl="0" eaLnBrk="1" fontAlgn="auto" latinLnBrk="0" hangingPunct="1">
                        <a:lnSpc>
                          <a:spcPct val="80000"/>
                        </a:lnSpc>
                        <a:spcBef>
                          <a:spcPts val="0"/>
                        </a:spcBef>
                        <a:spcAft>
                          <a:spcPts val="0"/>
                        </a:spcAft>
                        <a:buClrTx/>
                        <a:buSzTx/>
                        <a:buFontTx/>
                        <a:buNone/>
                        <a:tabLst/>
                        <a:defRPr/>
                      </a:pPr>
                      <a:r>
                        <a:rPr lang="pt-BR" sz="1600" b="0" kern="1200" dirty="0">
                          <a:solidFill>
                            <a:schemeClr val="dk1"/>
                          </a:solidFill>
                          <a:latin typeface="Courier"/>
                          <a:ea typeface="+mn-ea"/>
                          <a:cs typeface="Courier"/>
                        </a:rPr>
                        <a:t>Conduz se um </a:t>
                      </a:r>
                      <a:r>
                        <a:rPr lang="pt-BR" sz="1600" b="0" kern="1200" dirty="0" err="1">
                          <a:solidFill>
                            <a:schemeClr val="dk1"/>
                          </a:solidFill>
                          <a:latin typeface="Courier"/>
                          <a:ea typeface="+mn-ea"/>
                          <a:cs typeface="Courier"/>
                        </a:rPr>
                        <a:t>G</a:t>
                      </a:r>
                      <a:r>
                        <a:rPr lang="pt-BR" sz="1600" b="0" kern="1200" dirty="0">
                          <a:solidFill>
                            <a:schemeClr val="dk1"/>
                          </a:solidFill>
                          <a:latin typeface="Courier"/>
                          <a:ea typeface="+mn-ea"/>
                          <a:cs typeface="Courier"/>
                        </a:rPr>
                        <a:t> é 1: (A+B)</a:t>
                      </a:r>
                    </a:p>
                  </a:txBody>
                  <a:tcPr/>
                </a:tc>
                <a:tc>
                  <a:txBody>
                    <a:bodyPr/>
                    <a:lstStyle/>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4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8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endParaRPr lang="pt-BR" sz="1200" b="0" kern="1200" dirty="0">
                        <a:solidFill>
                          <a:schemeClr val="dk1"/>
                        </a:solidFill>
                        <a:latin typeface="Courier"/>
                        <a:ea typeface="+mn-ea"/>
                        <a:cs typeface="Courier"/>
                      </a:endParaRPr>
                    </a:p>
                    <a:p>
                      <a:pPr marL="0" algn="ctr" defTabSz="914400" rtl="0" eaLnBrk="1" latinLnBrk="0" hangingPunct="1">
                        <a:lnSpc>
                          <a:spcPct val="80000"/>
                        </a:lnSpc>
                        <a:spcBef>
                          <a:spcPts val="0"/>
                        </a:spcBef>
                      </a:pPr>
                      <a:r>
                        <a:rPr lang="pt-BR" sz="1800" b="0" kern="1200" dirty="0">
                          <a:solidFill>
                            <a:schemeClr val="dk1"/>
                          </a:solidFill>
                          <a:latin typeface="Courier"/>
                          <a:ea typeface="+mn-ea"/>
                          <a:cs typeface="Courier"/>
                        </a:rPr>
                        <a:t>                </a:t>
                      </a:r>
                      <a:r>
                        <a:rPr lang="pt-BR" sz="1600" b="0" kern="1200" dirty="0">
                          <a:solidFill>
                            <a:schemeClr val="dk1"/>
                          </a:solidFill>
                          <a:latin typeface="Courier"/>
                          <a:ea typeface="+mn-ea"/>
                          <a:cs typeface="Courier"/>
                        </a:rPr>
                        <a:t>       _ _   ___</a:t>
                      </a:r>
                    </a:p>
                    <a:p>
                      <a:pPr marL="0" marR="0" indent="0" algn="ctr" defTabSz="914400" rtl="0" eaLnBrk="1" fontAlgn="auto" latinLnBrk="0" hangingPunct="1">
                        <a:lnSpc>
                          <a:spcPct val="80000"/>
                        </a:lnSpc>
                        <a:spcBef>
                          <a:spcPts val="0"/>
                        </a:spcBef>
                        <a:spcAft>
                          <a:spcPts val="0"/>
                        </a:spcAft>
                        <a:buClrTx/>
                        <a:buSzTx/>
                        <a:buFontTx/>
                        <a:buNone/>
                        <a:tabLst/>
                        <a:defRPr/>
                      </a:pPr>
                      <a:r>
                        <a:rPr lang="pt-BR" sz="1600" b="0" kern="1200" dirty="0">
                          <a:solidFill>
                            <a:schemeClr val="dk1"/>
                          </a:solidFill>
                          <a:latin typeface="Courier"/>
                          <a:ea typeface="+mn-ea"/>
                          <a:cs typeface="Courier"/>
                        </a:rPr>
                        <a:t>Conduz se ambos </a:t>
                      </a:r>
                      <a:r>
                        <a:rPr lang="pt-BR" sz="1600" b="0" kern="1200" dirty="0" err="1">
                          <a:solidFill>
                            <a:schemeClr val="dk1"/>
                          </a:solidFill>
                          <a:latin typeface="Courier"/>
                          <a:ea typeface="+mn-ea"/>
                          <a:cs typeface="Courier"/>
                        </a:rPr>
                        <a:t>G</a:t>
                      </a:r>
                      <a:r>
                        <a:rPr lang="pt-BR" sz="1600" b="0" kern="1200" dirty="0">
                          <a:solidFill>
                            <a:schemeClr val="dk1"/>
                          </a:solidFill>
                          <a:latin typeface="Courier"/>
                          <a:ea typeface="+mn-ea"/>
                          <a:cs typeface="Courier"/>
                        </a:rPr>
                        <a:t> são 0: A*B</a:t>
                      </a:r>
                      <a:r>
                        <a:rPr lang="pt-BR" sz="1600" b="0" kern="1200" baseline="0" dirty="0">
                          <a:solidFill>
                            <a:schemeClr val="dk1"/>
                          </a:solidFill>
                          <a:latin typeface="Courier"/>
                          <a:ea typeface="+mn-ea"/>
                          <a:cs typeface="Courier"/>
                        </a:rPr>
                        <a:t> = A+B</a:t>
                      </a:r>
                      <a:endParaRPr lang="pt-BR" sz="1600" b="0" kern="1200" dirty="0">
                        <a:solidFill>
                          <a:schemeClr val="dk1"/>
                        </a:solidFill>
                        <a:latin typeface="Courier"/>
                        <a:ea typeface="+mn-ea"/>
                        <a:cs typeface="Courier"/>
                      </a:endParaRPr>
                    </a:p>
                  </a:txBody>
                  <a:tcPr/>
                </a:tc>
                <a:extLst>
                  <a:ext uri="{0D108BD9-81ED-4DB2-BD59-A6C34878D82A}">
                    <a16:rowId xmlns:a16="http://schemas.microsoft.com/office/drawing/2014/main" val="10002"/>
                  </a:ext>
                </a:extLst>
              </a:tr>
            </a:tbl>
          </a:graphicData>
        </a:graphic>
      </p:graphicFrame>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54</a:t>
            </a:fld>
            <a:endParaRPr lang="pt-BR" dirty="0"/>
          </a:p>
        </p:txBody>
      </p:sp>
      <p:pic>
        <p:nvPicPr>
          <p:cNvPr id="8"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4386" y="1450258"/>
            <a:ext cx="900515" cy="9005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GFET N-Ch Enh Labell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6548" y="1413757"/>
            <a:ext cx="967371" cy="96737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GFET N-Ch Enh Labell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6548" y="2553916"/>
            <a:ext cx="967371" cy="96737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GFET N-Ch Enh Labell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6548" y="3313641"/>
            <a:ext cx="967371" cy="96737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5970852" y="2994117"/>
            <a:ext cx="13404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958977" y="3716534"/>
            <a:ext cx="13404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6626434" y="2660073"/>
            <a:ext cx="0" cy="33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6612579" y="3716534"/>
            <a:ext cx="0" cy="33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Picture 29" descr="GFET N-Ch Enh Labell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7572" y="4807721"/>
            <a:ext cx="967371" cy="96737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GFET N-Ch Enh Labell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151" y="4807721"/>
            <a:ext cx="967371" cy="96737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Straight Connector 31"/>
          <p:cNvCxnSpPr/>
          <p:nvPr/>
        </p:nvCxnSpPr>
        <p:spPr>
          <a:xfrm>
            <a:off x="1824385" y="4902722"/>
            <a:ext cx="13404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824385" y="5684514"/>
            <a:ext cx="13404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2479967" y="4568678"/>
            <a:ext cx="0" cy="33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2477987" y="5684514"/>
            <a:ext cx="0" cy="33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9845" y="2901851"/>
            <a:ext cx="900515" cy="90051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3226" y="2913726"/>
            <a:ext cx="900515" cy="900515"/>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552" y="4426504"/>
            <a:ext cx="900515" cy="90051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551" y="5129918"/>
            <a:ext cx="900515" cy="900515"/>
          </a:xfrm>
          <a:prstGeom prst="rect">
            <a:avLst/>
          </a:prstGeom>
          <a:noFill/>
          <a:extLst>
            <a:ext uri="{909E8E84-426E-40DD-AFC4-6F175D3DCCD1}">
              <a14:hiddenFill xmlns:a14="http://schemas.microsoft.com/office/drawing/2010/main">
                <a:solidFill>
                  <a:srgbClr val="FFFFFF"/>
                </a:solidFill>
              </a14:hiddenFill>
            </a:ext>
          </a:extLst>
        </p:spPr>
      </p:pic>
      <p:cxnSp>
        <p:nvCxnSpPr>
          <p:cNvPr id="41" name="Straight Arrow Connector 40"/>
          <p:cNvCxnSpPr/>
          <p:nvPr/>
        </p:nvCxnSpPr>
        <p:spPr>
          <a:xfrm>
            <a:off x="3797300" y="1905000"/>
            <a:ext cx="1325045" cy="0"/>
          </a:xfrm>
          <a:prstGeom prst="straightConnector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3797300" y="3508587"/>
            <a:ext cx="1325045" cy="0"/>
          </a:xfrm>
          <a:prstGeom prst="straightConnector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3797300" y="5327019"/>
            <a:ext cx="1325045" cy="0"/>
          </a:xfrm>
          <a:prstGeom prst="straightConnector1">
            <a:avLst/>
          </a:prstGeom>
          <a:ln w="762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10027621"/>
      </p:ext>
    </p:extLst>
  </p:cSld>
  <p:clrMapOvr>
    <a:masterClrMapping/>
  </p:clrMapOvr>
  <mc:AlternateContent xmlns:mc="http://schemas.openxmlformats.org/markup-compatibility/2006">
    <mc:Choice xmlns:p14="http://schemas.microsoft.com/office/powerpoint/2010/main" Requires="p14">
      <p:transition spd="slow" p14:dur="1200" advTm="195411">
        <p14:prism/>
      </p:transition>
    </mc:Choice>
    <mc:Fallback>
      <p:transition spd="slow" advTm="19541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1000" fill="hold"/>
                                        <p:tgtEl>
                                          <p:spTgt spid="41"/>
                                        </p:tgtEl>
                                        <p:attrNameLst>
                                          <p:attrName>ppt_w</p:attrName>
                                        </p:attrNameLst>
                                      </p:cBhvr>
                                      <p:tavLst>
                                        <p:tav tm="0">
                                          <p:val>
                                            <p:strVal val="#ppt_w*0.70"/>
                                          </p:val>
                                        </p:tav>
                                        <p:tav tm="100000">
                                          <p:val>
                                            <p:strVal val="#ppt_w"/>
                                          </p:val>
                                        </p:tav>
                                      </p:tavLst>
                                    </p:anim>
                                    <p:anim calcmode="lin" valueType="num">
                                      <p:cBhvr>
                                        <p:cTn id="8" dur="1000" fill="hold"/>
                                        <p:tgtEl>
                                          <p:spTgt spid="41"/>
                                        </p:tgtEl>
                                        <p:attrNameLst>
                                          <p:attrName>ppt_h</p:attrName>
                                        </p:attrNameLst>
                                      </p:cBhvr>
                                      <p:tavLst>
                                        <p:tav tm="0">
                                          <p:val>
                                            <p:strVal val="#ppt_h"/>
                                          </p:val>
                                        </p:tav>
                                        <p:tav tm="100000">
                                          <p:val>
                                            <p:strVal val="#ppt_h"/>
                                          </p:val>
                                        </p:tav>
                                      </p:tavLst>
                                    </p:anim>
                                    <p:animEffect transition="in" filter="fade">
                                      <p:cBhvr>
                                        <p:cTn id="9" dur="1000"/>
                                        <p:tgtEl>
                                          <p:spTgt spid="41"/>
                                        </p:tgtEl>
                                      </p:cBhvr>
                                    </p:animEffect>
                                  </p:childTnLst>
                                </p:cTn>
                              </p:par>
                              <p:par>
                                <p:cTn id="10" presetID="55" presetClass="entr" presetSubtype="0" fill="hold" nodeType="with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p:cTn id="12" dur="1000" fill="hold"/>
                                        <p:tgtEl>
                                          <p:spTgt spid="42"/>
                                        </p:tgtEl>
                                        <p:attrNameLst>
                                          <p:attrName>ppt_w</p:attrName>
                                        </p:attrNameLst>
                                      </p:cBhvr>
                                      <p:tavLst>
                                        <p:tav tm="0">
                                          <p:val>
                                            <p:strVal val="#ppt_w*0.70"/>
                                          </p:val>
                                        </p:tav>
                                        <p:tav tm="100000">
                                          <p:val>
                                            <p:strVal val="#ppt_w"/>
                                          </p:val>
                                        </p:tav>
                                      </p:tavLst>
                                    </p:anim>
                                    <p:anim calcmode="lin" valueType="num">
                                      <p:cBhvr>
                                        <p:cTn id="13" dur="1000" fill="hold"/>
                                        <p:tgtEl>
                                          <p:spTgt spid="42"/>
                                        </p:tgtEl>
                                        <p:attrNameLst>
                                          <p:attrName>ppt_h</p:attrName>
                                        </p:attrNameLst>
                                      </p:cBhvr>
                                      <p:tavLst>
                                        <p:tav tm="0">
                                          <p:val>
                                            <p:strVal val="#ppt_h"/>
                                          </p:val>
                                        </p:tav>
                                        <p:tav tm="100000">
                                          <p:val>
                                            <p:strVal val="#ppt_h"/>
                                          </p:val>
                                        </p:tav>
                                      </p:tavLst>
                                    </p:anim>
                                    <p:animEffect transition="in" filter="fade">
                                      <p:cBhvr>
                                        <p:cTn id="14" dur="1000"/>
                                        <p:tgtEl>
                                          <p:spTgt spid="42"/>
                                        </p:tgtEl>
                                      </p:cBhvr>
                                    </p:animEffect>
                                  </p:childTnLst>
                                </p:cTn>
                              </p:par>
                              <p:par>
                                <p:cTn id="15" presetID="55"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p:cTn id="17" dur="1000" fill="hold"/>
                                        <p:tgtEl>
                                          <p:spTgt spid="43"/>
                                        </p:tgtEl>
                                        <p:attrNameLst>
                                          <p:attrName>ppt_w</p:attrName>
                                        </p:attrNameLst>
                                      </p:cBhvr>
                                      <p:tavLst>
                                        <p:tav tm="0">
                                          <p:val>
                                            <p:strVal val="#ppt_w*0.70"/>
                                          </p:val>
                                        </p:tav>
                                        <p:tav tm="100000">
                                          <p:val>
                                            <p:strVal val="#ppt_w"/>
                                          </p:val>
                                        </p:tav>
                                      </p:tavLst>
                                    </p:anim>
                                    <p:anim calcmode="lin" valueType="num">
                                      <p:cBhvr>
                                        <p:cTn id="18" dur="1000" fill="hold"/>
                                        <p:tgtEl>
                                          <p:spTgt spid="43"/>
                                        </p:tgtEl>
                                        <p:attrNameLst>
                                          <p:attrName>ppt_h</p:attrName>
                                        </p:attrNameLst>
                                      </p:cBhvr>
                                      <p:tavLst>
                                        <p:tav tm="0">
                                          <p:val>
                                            <p:strVal val="#ppt_h"/>
                                          </p:val>
                                        </p:tav>
                                        <p:tav tm="100000">
                                          <p:val>
                                            <p:strVal val="#ppt_h"/>
                                          </p:val>
                                        </p:tav>
                                      </p:tavLst>
                                    </p:anim>
                                    <p:animEffect transition="in" filter="fade">
                                      <p:cBhvr>
                                        <p:cTn id="19"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Inversor CMOS</a:t>
            </a:r>
          </a:p>
        </p:txBody>
      </p:sp>
      <p:sp>
        <p:nvSpPr>
          <p:cNvPr id="3" name="Content Placeholder 2"/>
          <p:cNvSpPr>
            <a:spLocks noGrp="1"/>
          </p:cNvSpPr>
          <p:nvPr>
            <p:ph idx="1"/>
          </p:nvPr>
        </p:nvSpPr>
        <p:spPr>
          <a:xfrm>
            <a:off x="657225" y="1485900"/>
            <a:ext cx="8029575" cy="1190033"/>
          </a:xfrm>
        </p:spPr>
        <p:txBody>
          <a:bodyPr>
            <a:normAutofit/>
          </a:bodyPr>
          <a:lstStyle/>
          <a:p>
            <a:r>
              <a:rPr lang="pt-BR" sz="2000" dirty="0"/>
              <a:t>Para criarmos um inversor usamos um </a:t>
            </a:r>
            <a:r>
              <a:rPr lang="pt-BR" sz="2000"/>
              <a:t>transistor NMOS </a:t>
            </a:r>
            <a:r>
              <a:rPr lang="pt-BR" sz="2000" dirty="0"/>
              <a:t>e </a:t>
            </a:r>
            <a:r>
              <a:rPr lang="pt-BR" sz="2000"/>
              <a:t>outro PMOS:</a:t>
            </a:r>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55</a:t>
            </a:fld>
            <a:endParaRPr lang="pt-BR" dirty="0"/>
          </a:p>
        </p:txBody>
      </p:sp>
      <p:pic>
        <p:nvPicPr>
          <p:cNvPr id="7" name="Picture 3" descr="GFET P-Ch Enh Labelled.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2734" y="2411510"/>
            <a:ext cx="1693909" cy="16939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GFET N-Ch Enh Labelled.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2734" y="4335556"/>
            <a:ext cx="1693909" cy="16939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6">
            <a:clrChange>
              <a:clrFrom>
                <a:srgbClr val="F4F5F6"/>
              </a:clrFrom>
              <a:clrTo>
                <a:srgbClr val="F4F5F6">
                  <a:alpha val="0"/>
                </a:srgbClr>
              </a:clrTo>
            </a:clrChange>
          </a:blip>
          <a:stretch>
            <a:fillRect/>
          </a:stretch>
        </p:blipFill>
        <p:spPr>
          <a:xfrm>
            <a:off x="4212022" y="5805679"/>
            <a:ext cx="1166689" cy="623854"/>
          </a:xfrm>
          <a:prstGeom prst="rect">
            <a:avLst/>
          </a:prstGeom>
        </p:spPr>
      </p:pic>
      <p:pic>
        <p:nvPicPr>
          <p:cNvPr id="18" name="Picture 17"/>
          <p:cNvPicPr>
            <a:picLocks noChangeAspect="1"/>
          </p:cNvPicPr>
          <p:nvPr/>
        </p:nvPicPr>
        <p:blipFill>
          <a:blip r:embed="rId7">
            <a:clrChange>
              <a:clrFrom>
                <a:srgbClr val="F4F5F6"/>
              </a:clrFrom>
              <a:clrTo>
                <a:srgbClr val="F4F5F6">
                  <a:alpha val="0"/>
                </a:srgbClr>
              </a:clrTo>
            </a:clrChange>
          </a:blip>
          <a:stretch>
            <a:fillRect/>
          </a:stretch>
        </p:blipFill>
        <p:spPr>
          <a:xfrm>
            <a:off x="4212022" y="1977016"/>
            <a:ext cx="1064604" cy="655047"/>
          </a:xfrm>
          <a:prstGeom prst="rect">
            <a:avLst/>
          </a:prstGeom>
        </p:spPr>
      </p:pic>
      <p:grpSp>
        <p:nvGrpSpPr>
          <p:cNvPr id="36" name="Group 35"/>
          <p:cNvGrpSpPr/>
          <p:nvPr/>
        </p:nvGrpSpPr>
        <p:grpSpPr>
          <a:xfrm>
            <a:off x="4741021" y="3831636"/>
            <a:ext cx="1655478" cy="799974"/>
            <a:chOff x="4753721" y="3488736"/>
            <a:chExt cx="1655478" cy="799974"/>
          </a:xfrm>
        </p:grpSpPr>
        <p:cxnSp>
          <p:nvCxnSpPr>
            <p:cNvPr id="23" name="Straight Connector 22"/>
            <p:cNvCxnSpPr/>
            <p:nvPr/>
          </p:nvCxnSpPr>
          <p:spPr>
            <a:xfrm flipV="1">
              <a:off x="4767436" y="3488736"/>
              <a:ext cx="1463" cy="799974"/>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753721" y="3888721"/>
              <a:ext cx="1655478" cy="1"/>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2271012" y="3043296"/>
            <a:ext cx="1655478" cy="2386300"/>
            <a:chOff x="2271012" y="2700396"/>
            <a:chExt cx="1655478" cy="2386300"/>
          </a:xfrm>
        </p:grpSpPr>
        <p:cxnSp>
          <p:nvCxnSpPr>
            <p:cNvPr id="20" name="Straight Connector 19"/>
            <p:cNvCxnSpPr/>
            <p:nvPr/>
          </p:nvCxnSpPr>
          <p:spPr>
            <a:xfrm flipV="1">
              <a:off x="3926345" y="2700396"/>
              <a:ext cx="0" cy="238630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271012" y="3888721"/>
              <a:ext cx="1655478" cy="1"/>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Rectangle 29"/>
          <p:cNvSpPr/>
          <p:nvPr/>
        </p:nvSpPr>
        <p:spPr>
          <a:xfrm>
            <a:off x="1811340" y="3557958"/>
            <a:ext cx="458463" cy="956829"/>
          </a:xfrm>
          <a:prstGeom prst="rect">
            <a:avLst/>
          </a:prstGeom>
        </p:spPr>
        <p:txBody>
          <a:bodyPr wrap="square">
            <a:spAutoFit/>
          </a:bodyPr>
          <a:lstStyle/>
          <a:p>
            <a:pPr algn="ctr" defTabSz="914400">
              <a:lnSpc>
                <a:spcPct val="80000"/>
              </a:lnSpc>
            </a:pPr>
            <a:endParaRPr lang="pt-BR" sz="4000" b="1" dirty="0">
              <a:solidFill>
                <a:schemeClr val="dk1"/>
              </a:solidFill>
              <a:latin typeface="Courier"/>
              <a:cs typeface="Courier"/>
            </a:endParaRPr>
          </a:p>
          <a:p>
            <a:pPr algn="ctr" defTabSz="914400">
              <a:lnSpc>
                <a:spcPct val="80000"/>
              </a:lnSpc>
              <a:defRPr/>
            </a:pPr>
            <a:r>
              <a:rPr lang="pt-BR" sz="4000" b="1" dirty="0">
                <a:solidFill>
                  <a:schemeClr val="dk1"/>
                </a:solidFill>
                <a:latin typeface="Courier"/>
                <a:cs typeface="Courier"/>
              </a:rPr>
              <a:t>A</a:t>
            </a:r>
          </a:p>
        </p:txBody>
      </p:sp>
      <p:sp>
        <p:nvSpPr>
          <p:cNvPr id="31" name="Rectangle 30"/>
          <p:cNvSpPr/>
          <p:nvPr/>
        </p:nvSpPr>
        <p:spPr>
          <a:xfrm>
            <a:off x="6428871" y="3557958"/>
            <a:ext cx="458463" cy="956829"/>
          </a:xfrm>
          <a:prstGeom prst="rect">
            <a:avLst/>
          </a:prstGeom>
        </p:spPr>
        <p:txBody>
          <a:bodyPr wrap="square">
            <a:spAutoFit/>
          </a:bodyPr>
          <a:lstStyle/>
          <a:p>
            <a:pPr algn="ctr" defTabSz="914400">
              <a:lnSpc>
                <a:spcPct val="80000"/>
              </a:lnSpc>
            </a:pPr>
            <a:r>
              <a:rPr lang="pt-BR" sz="4000" b="1" dirty="0">
                <a:solidFill>
                  <a:schemeClr val="dk1"/>
                </a:solidFill>
                <a:latin typeface="Courier"/>
                <a:cs typeface="Courier"/>
              </a:rPr>
              <a:t>_</a:t>
            </a:r>
          </a:p>
          <a:p>
            <a:pPr algn="ctr" defTabSz="914400">
              <a:lnSpc>
                <a:spcPct val="80000"/>
              </a:lnSpc>
              <a:defRPr/>
            </a:pPr>
            <a:r>
              <a:rPr lang="pt-BR" sz="4000" b="1" dirty="0">
                <a:solidFill>
                  <a:schemeClr val="dk1"/>
                </a:solidFill>
                <a:latin typeface="Courier"/>
                <a:cs typeface="Courier"/>
              </a:rPr>
              <a:t>A</a:t>
            </a:r>
          </a:p>
        </p:txBody>
      </p:sp>
      <p:grpSp>
        <p:nvGrpSpPr>
          <p:cNvPr id="39" name="Group 38"/>
          <p:cNvGrpSpPr/>
          <p:nvPr/>
        </p:nvGrpSpPr>
        <p:grpSpPr>
          <a:xfrm>
            <a:off x="6428872" y="1977016"/>
            <a:ext cx="1724528" cy="1184752"/>
            <a:chOff x="6428872" y="1977016"/>
            <a:chExt cx="1724528" cy="1184752"/>
          </a:xfrm>
        </p:grpSpPr>
        <p:pic>
          <p:nvPicPr>
            <p:cNvPr id="37" name="Picture 36"/>
            <p:cNvPicPr>
              <a:picLocks noChangeAspect="1"/>
            </p:cNvPicPr>
            <p:nvPr/>
          </p:nvPicPr>
          <p:blipFill rotWithShape="1">
            <a:blip r:embed="rId8"/>
            <a:srcRect l="26635" t="30470" r="33695" b="1"/>
            <a:stretch/>
          </p:blipFill>
          <p:spPr>
            <a:xfrm>
              <a:off x="6428872" y="1977016"/>
              <a:ext cx="1724528" cy="945631"/>
            </a:xfrm>
            <a:prstGeom prst="rect">
              <a:avLst/>
            </a:prstGeom>
          </p:spPr>
        </p:pic>
        <p:sp>
          <p:nvSpPr>
            <p:cNvPr id="38" name="Rectangle 37"/>
            <p:cNvSpPr/>
            <p:nvPr/>
          </p:nvSpPr>
          <p:spPr>
            <a:xfrm>
              <a:off x="7095293" y="2761658"/>
              <a:ext cx="647357" cy="400110"/>
            </a:xfrm>
            <a:prstGeom prst="rect">
              <a:avLst/>
            </a:prstGeom>
          </p:spPr>
          <p:txBody>
            <a:bodyPr wrap="none">
              <a:spAutoFit/>
            </a:bodyPr>
            <a:lstStyle/>
            <a:p>
              <a:r>
                <a:rPr lang="pt-BR" sz="2000" b="1"/>
                <a:t>NOT</a:t>
              </a:r>
            </a:p>
          </p:txBody>
        </p:sp>
      </p:grpSp>
      <p:graphicFrame>
        <p:nvGraphicFramePr>
          <p:cNvPr id="6" name="Table 5"/>
          <p:cNvGraphicFramePr>
            <a:graphicFrameLocks noGrp="1"/>
          </p:cNvGraphicFramePr>
          <p:nvPr>
            <p:extLst>
              <p:ext uri="{D42A27DB-BD31-4B8C-83A1-F6EECF244321}">
                <p14:modId xmlns:p14="http://schemas.microsoft.com/office/powerpoint/2010/main" val="339658273"/>
              </p:ext>
            </p:extLst>
          </p:nvPr>
        </p:nvGraphicFramePr>
        <p:xfrm>
          <a:off x="1481771" y="4514787"/>
          <a:ext cx="328360" cy="741680"/>
        </p:xfrm>
        <a:graphic>
          <a:graphicData uri="http://schemas.openxmlformats.org/drawingml/2006/table">
            <a:tbl>
              <a:tblPr>
                <a:tableStyleId>{5C22544A-7EE6-4342-B048-85BDC9FD1C3A}</a:tableStyleId>
              </a:tblPr>
              <a:tblGrid>
                <a:gridCol w="328360">
                  <a:extLst>
                    <a:ext uri="{9D8B030D-6E8A-4147-A177-3AD203B41FA5}">
                      <a16:colId xmlns:a16="http://schemas.microsoft.com/office/drawing/2014/main" val="20000"/>
                    </a:ext>
                  </a:extLst>
                </a:gridCol>
              </a:tblGrid>
              <a:tr h="370840">
                <a:tc>
                  <a:txBody>
                    <a:bodyPr/>
                    <a:lstStyle/>
                    <a:p>
                      <a:pPr algn="ctr"/>
                      <a:r>
                        <a:rPr lang="pt-BR" dirty="0"/>
                        <a:t>0</a:t>
                      </a:r>
                    </a:p>
                  </a:txBody>
                  <a:tcPr anchor="ctr"/>
                </a:tc>
                <a:extLst>
                  <a:ext uri="{0D108BD9-81ED-4DB2-BD59-A6C34878D82A}">
                    <a16:rowId xmlns:a16="http://schemas.microsoft.com/office/drawing/2014/main" val="10000"/>
                  </a:ext>
                </a:extLst>
              </a:tr>
              <a:tr h="370840">
                <a:tc>
                  <a:txBody>
                    <a:bodyPr/>
                    <a:lstStyle/>
                    <a:p>
                      <a:pPr algn="ctr"/>
                      <a:r>
                        <a:rPr lang="pt-BR" dirty="0"/>
                        <a:t>1</a:t>
                      </a:r>
                    </a:p>
                  </a:txBody>
                  <a:tcPr anchor="ctr"/>
                </a:tc>
                <a:extLst>
                  <a:ext uri="{0D108BD9-81ED-4DB2-BD59-A6C34878D82A}">
                    <a16:rowId xmlns:a16="http://schemas.microsoft.com/office/drawing/2014/main" val="10001"/>
                  </a:ext>
                </a:extLst>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1620764933"/>
              </p:ext>
            </p:extLst>
          </p:nvPr>
        </p:nvGraphicFramePr>
        <p:xfrm>
          <a:off x="6948740" y="4514787"/>
          <a:ext cx="328360" cy="741680"/>
        </p:xfrm>
        <a:graphic>
          <a:graphicData uri="http://schemas.openxmlformats.org/drawingml/2006/table">
            <a:tbl>
              <a:tblPr>
                <a:tableStyleId>{5C22544A-7EE6-4342-B048-85BDC9FD1C3A}</a:tableStyleId>
              </a:tblPr>
              <a:tblGrid>
                <a:gridCol w="328360">
                  <a:extLst>
                    <a:ext uri="{9D8B030D-6E8A-4147-A177-3AD203B41FA5}">
                      <a16:colId xmlns:a16="http://schemas.microsoft.com/office/drawing/2014/main" val="20000"/>
                    </a:ext>
                  </a:extLst>
                </a:gridCol>
              </a:tblGrid>
              <a:tr h="370840">
                <a:tc>
                  <a:txBody>
                    <a:bodyPr/>
                    <a:lstStyle/>
                    <a:p>
                      <a:pPr algn="ctr"/>
                      <a:r>
                        <a:rPr lang="pt-BR" dirty="0"/>
                        <a:t>1</a:t>
                      </a:r>
                    </a:p>
                  </a:txBody>
                  <a:tcPr anchor="ctr"/>
                </a:tc>
                <a:extLst>
                  <a:ext uri="{0D108BD9-81ED-4DB2-BD59-A6C34878D82A}">
                    <a16:rowId xmlns:a16="http://schemas.microsoft.com/office/drawing/2014/main" val="10000"/>
                  </a:ext>
                </a:extLst>
              </a:tr>
              <a:tr h="370840">
                <a:tc>
                  <a:txBody>
                    <a:bodyPr/>
                    <a:lstStyle/>
                    <a:p>
                      <a:pPr algn="ctr"/>
                      <a:r>
                        <a:rPr lang="pt-BR" dirty="0"/>
                        <a:t>0</a:t>
                      </a:r>
                    </a:p>
                  </a:txBody>
                  <a:tcPr anchor="ctr"/>
                </a:tc>
                <a:extLst>
                  <a:ext uri="{0D108BD9-81ED-4DB2-BD59-A6C34878D82A}">
                    <a16:rowId xmlns:a16="http://schemas.microsoft.com/office/drawing/2014/main" val="10001"/>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1260428"/>
              </p:ext>
            </p:extLst>
          </p:nvPr>
        </p:nvGraphicFramePr>
        <p:xfrm>
          <a:off x="5103834" y="2887624"/>
          <a:ext cx="1093765" cy="609600"/>
        </p:xfrm>
        <a:graphic>
          <a:graphicData uri="http://schemas.openxmlformats.org/drawingml/2006/table">
            <a:tbl>
              <a:tblPr>
                <a:tableStyleId>{5C22544A-7EE6-4342-B048-85BDC9FD1C3A}</a:tableStyleId>
              </a:tblPr>
              <a:tblGrid>
                <a:gridCol w="1093765">
                  <a:extLst>
                    <a:ext uri="{9D8B030D-6E8A-4147-A177-3AD203B41FA5}">
                      <a16:colId xmlns:a16="http://schemas.microsoft.com/office/drawing/2014/main" val="20000"/>
                    </a:ext>
                  </a:extLst>
                </a:gridCol>
              </a:tblGrid>
              <a:tr h="213538">
                <a:tc>
                  <a:txBody>
                    <a:bodyPr/>
                    <a:lstStyle/>
                    <a:p>
                      <a:pPr algn="ctr"/>
                      <a:r>
                        <a:rPr lang="pt-BR" sz="1400" b="1" dirty="0">
                          <a:solidFill>
                            <a:srgbClr val="7030A0"/>
                          </a:solidFill>
                        </a:rPr>
                        <a:t>conduzindo</a:t>
                      </a:r>
                    </a:p>
                  </a:txBody>
                  <a:tcPr anchor="ctr"/>
                </a:tc>
                <a:extLst>
                  <a:ext uri="{0D108BD9-81ED-4DB2-BD59-A6C34878D82A}">
                    <a16:rowId xmlns:a16="http://schemas.microsoft.com/office/drawing/2014/main" val="10000"/>
                  </a:ext>
                </a:extLst>
              </a:tr>
              <a:tr h="213538">
                <a:tc>
                  <a:txBody>
                    <a:bodyPr/>
                    <a:lstStyle/>
                    <a:p>
                      <a:pPr algn="ctr"/>
                      <a:r>
                        <a:rPr lang="pt-BR" sz="1400" b="1" dirty="0">
                          <a:solidFill>
                            <a:srgbClr val="7030A0"/>
                          </a:solidFill>
                        </a:rPr>
                        <a:t>desativado</a:t>
                      </a:r>
                    </a:p>
                  </a:txBody>
                  <a:tcPr anchor="ctr"/>
                </a:tc>
                <a:extLst>
                  <a:ext uri="{0D108BD9-81ED-4DB2-BD59-A6C34878D82A}">
                    <a16:rowId xmlns:a16="http://schemas.microsoft.com/office/drawing/2014/main" val="10001"/>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1096474770"/>
              </p:ext>
            </p:extLst>
          </p:nvPr>
        </p:nvGraphicFramePr>
        <p:xfrm>
          <a:off x="5103834" y="4877710"/>
          <a:ext cx="1093765" cy="609600"/>
        </p:xfrm>
        <a:graphic>
          <a:graphicData uri="http://schemas.openxmlformats.org/drawingml/2006/table">
            <a:tbl>
              <a:tblPr>
                <a:tableStyleId>{5C22544A-7EE6-4342-B048-85BDC9FD1C3A}</a:tableStyleId>
              </a:tblPr>
              <a:tblGrid>
                <a:gridCol w="1093765">
                  <a:extLst>
                    <a:ext uri="{9D8B030D-6E8A-4147-A177-3AD203B41FA5}">
                      <a16:colId xmlns:a16="http://schemas.microsoft.com/office/drawing/2014/main" val="20000"/>
                    </a:ext>
                  </a:extLst>
                </a:gridCol>
              </a:tblGrid>
              <a:tr h="213538">
                <a:tc>
                  <a:txBody>
                    <a:bodyPr/>
                    <a:lstStyle/>
                    <a:p>
                      <a:pPr algn="ctr"/>
                      <a:r>
                        <a:rPr lang="pt-BR" sz="1400" b="1" dirty="0">
                          <a:solidFill>
                            <a:srgbClr val="7030A0"/>
                          </a:solidFill>
                        </a:rPr>
                        <a:t>desativado</a:t>
                      </a:r>
                    </a:p>
                  </a:txBody>
                  <a:tcPr anchor="ctr"/>
                </a:tc>
                <a:extLst>
                  <a:ext uri="{0D108BD9-81ED-4DB2-BD59-A6C34878D82A}">
                    <a16:rowId xmlns:a16="http://schemas.microsoft.com/office/drawing/2014/main" val="10000"/>
                  </a:ext>
                </a:extLst>
              </a:tr>
              <a:tr h="213538">
                <a:tc>
                  <a:txBody>
                    <a:bodyPr/>
                    <a:lstStyle/>
                    <a:p>
                      <a:pPr algn="ctr"/>
                      <a:r>
                        <a:rPr lang="pt-BR" sz="1400" b="1" dirty="0">
                          <a:solidFill>
                            <a:srgbClr val="7030A0"/>
                          </a:solidFill>
                        </a:rPr>
                        <a:t>conduzindo</a:t>
                      </a:r>
                    </a:p>
                  </a:txBody>
                  <a:tcPr anchor="ct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33482344"/>
      </p:ext>
    </p:extLst>
  </p:cSld>
  <p:clrMapOvr>
    <a:masterClrMapping/>
  </p:clrMapOvr>
  <mc:AlternateContent xmlns:mc="http://schemas.openxmlformats.org/markup-compatibility/2006">
    <mc:Choice xmlns:p14="http://schemas.microsoft.com/office/powerpoint/2010/main" Requires="p14">
      <p:transition spd="slow" p14:dur="1200" advTm="61682">
        <p14:prism/>
      </p:transition>
    </mc:Choice>
    <mc:Fallback>
      <p:transition spd="slow" advTm="6168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0-#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fill="hold"/>
                                        <p:tgtEl>
                                          <p:spTgt spid="36"/>
                                        </p:tgtEl>
                                        <p:attrNameLst>
                                          <p:attrName>ppt_x</p:attrName>
                                        </p:attrNameLst>
                                      </p:cBhvr>
                                      <p:tavLst>
                                        <p:tav tm="0">
                                          <p:val>
                                            <p:strVal val="1+#ppt_w/2"/>
                                          </p:val>
                                        </p:tav>
                                        <p:tav tm="100000">
                                          <p:val>
                                            <p:strVal val="#ppt_x"/>
                                          </p:val>
                                        </p:tav>
                                      </p:tavLst>
                                    </p:anim>
                                    <p:anim calcmode="lin" valueType="num">
                                      <p:cBhvr additive="base">
                                        <p:cTn id="14"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dissolve">
                                      <p:cBhvr>
                                        <p:cTn id="29" dur="200"/>
                                        <p:tgtEl>
                                          <p:spTgt spid="3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2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52"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Scale>
                                      <p:cBhvr>
                                        <p:cTn id="37" dur="500" decel="50000" fill="hold">
                                          <p:stCondLst>
                                            <p:cond delay="0"/>
                                          </p:stCondLst>
                                        </p:cTn>
                                        <p:tgtEl>
                                          <p:spTgt spid="3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500" decel="50000" fill="hold">
                                          <p:stCondLst>
                                            <p:cond delay="0"/>
                                          </p:stCondLst>
                                        </p:cTn>
                                        <p:tgtEl>
                                          <p:spTgt spid="39"/>
                                        </p:tgtEl>
                                        <p:attrNameLst>
                                          <p:attrName>ppt_x</p:attrName>
                                          <p:attrName>ppt_y</p:attrName>
                                        </p:attrNameLst>
                                      </p:cBhvr>
                                    </p:animMotion>
                                    <p:animEffect transition="in" filter="fade">
                                      <p:cBhvr>
                                        <p:cTn id="3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Consumo de Energia</a:t>
            </a:r>
          </a:p>
        </p:txBody>
      </p:sp>
      <p:sp>
        <p:nvSpPr>
          <p:cNvPr id="3" name="Content Placeholder 2"/>
          <p:cNvSpPr>
            <a:spLocks noGrp="1"/>
          </p:cNvSpPr>
          <p:nvPr>
            <p:ph idx="1"/>
          </p:nvPr>
        </p:nvSpPr>
        <p:spPr>
          <a:xfrm>
            <a:off x="657225" y="1498600"/>
            <a:ext cx="8029575" cy="1400120"/>
          </a:xfrm>
        </p:spPr>
        <p:txBody>
          <a:bodyPr>
            <a:normAutofit/>
          </a:bodyPr>
          <a:lstStyle/>
          <a:p>
            <a:r>
              <a:rPr lang="pt-BR" sz="2000" dirty="0"/>
              <a:t>Como no conjunto CMOS um transistor está sempre desligado, somente nas transições existe um consumo de energia momentâneo, levando a circuitos mais eficiente que outras tecnologias.</a:t>
            </a:r>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56</a:t>
            </a:fld>
            <a:endParaRPr lang="pt-BR" dirty="0"/>
          </a:p>
        </p:txBody>
      </p:sp>
      <p:sp>
        <p:nvSpPr>
          <p:cNvPr id="8" name="Content Placeholder 2"/>
          <p:cNvSpPr txBox="1">
            <a:spLocks/>
          </p:cNvSpPr>
          <p:nvPr/>
        </p:nvSpPr>
        <p:spPr>
          <a:xfrm>
            <a:off x="657224" y="3315057"/>
            <a:ext cx="7472555" cy="3202543"/>
          </a:xfrm>
          <a:prstGeom prst="rect">
            <a:avLst/>
          </a:prstGeom>
        </p:spPr>
        <p:txBody>
          <a:bodyPr>
            <a:norm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pt-BR" sz="2400" dirty="0"/>
              <a:t>Energia dissipada = </a:t>
            </a:r>
            <a:r>
              <a:rPr lang="pt-BR" sz="2400" dirty="0" err="1"/>
              <a:t>f</a:t>
            </a:r>
            <a:r>
              <a:rPr lang="pt-BR" sz="2400" dirty="0"/>
              <a:t> N C V</a:t>
            </a:r>
            <a:r>
              <a:rPr lang="pt-BR" sz="2400" baseline="-25000" dirty="0"/>
              <a:t>DD</a:t>
            </a:r>
            <a:r>
              <a:rPr lang="pt-BR" sz="2400" baseline="30000" dirty="0"/>
              <a:t>2</a:t>
            </a:r>
          </a:p>
          <a:p>
            <a:endParaRPr lang="pt-BR" sz="2400" dirty="0"/>
          </a:p>
          <a:p>
            <a:r>
              <a:rPr lang="pt-BR" sz="1600" dirty="0"/>
              <a:t>Sendo:</a:t>
            </a:r>
          </a:p>
          <a:p>
            <a:r>
              <a:rPr lang="pt-BR" sz="1600" dirty="0" err="1"/>
              <a:t>f</a:t>
            </a:r>
            <a:r>
              <a:rPr lang="pt-BR" sz="1600" dirty="0"/>
              <a:t>: frequência do sistema</a:t>
            </a:r>
          </a:p>
          <a:p>
            <a:r>
              <a:rPr lang="pt-BR" sz="1600" dirty="0"/>
              <a:t>N: Número de transistores comutando</a:t>
            </a:r>
          </a:p>
          <a:p>
            <a:r>
              <a:rPr lang="pt-BR" sz="1600" dirty="0"/>
              <a:t>C: Capacitância</a:t>
            </a:r>
          </a:p>
          <a:p>
            <a:r>
              <a:rPr lang="pt-BR" sz="1600" dirty="0"/>
              <a:t>V</a:t>
            </a:r>
            <a:r>
              <a:rPr lang="pt-BR" sz="1600" baseline="-25000" dirty="0"/>
              <a:t>DD</a:t>
            </a:r>
            <a:r>
              <a:rPr lang="pt-BR" sz="1600" dirty="0"/>
              <a:t>: Tensão do circuito</a:t>
            </a:r>
          </a:p>
        </p:txBody>
      </p:sp>
      <p:grpSp>
        <p:nvGrpSpPr>
          <p:cNvPr id="11" name="Group 10"/>
          <p:cNvGrpSpPr/>
          <p:nvPr/>
        </p:nvGrpSpPr>
        <p:grpSpPr>
          <a:xfrm>
            <a:off x="5727700" y="4368953"/>
            <a:ext cx="3214880" cy="1978550"/>
            <a:chOff x="5727700" y="3937153"/>
            <a:chExt cx="3214880" cy="1978550"/>
          </a:xfrm>
        </p:grpSpPr>
        <p:sp>
          <p:nvSpPr>
            <p:cNvPr id="9" name="Rectangle 8"/>
            <p:cNvSpPr/>
            <p:nvPr/>
          </p:nvSpPr>
          <p:spPr>
            <a:xfrm>
              <a:off x="5727700" y="3937153"/>
              <a:ext cx="3214880" cy="1754326"/>
            </a:xfrm>
            <a:prstGeom prst="rect">
              <a:avLst/>
            </a:prstGeom>
            <a:ln>
              <a:solidFill>
                <a:schemeClr val="tx1"/>
              </a:solidFill>
            </a:ln>
          </p:spPr>
          <p:txBody>
            <a:bodyPr wrap="square">
              <a:spAutoFit/>
            </a:bodyPr>
            <a:lstStyle/>
            <a:p>
              <a:r>
                <a:rPr lang="pt-BR" dirty="0" err="1"/>
                <a:t>f</a:t>
              </a:r>
              <a:r>
                <a:rPr lang="pt-BR" dirty="0"/>
                <a:t> = 1GHz = 1*10</a:t>
              </a:r>
              <a:r>
                <a:rPr lang="pt-BR" baseline="30000" dirty="0"/>
                <a:t>9</a:t>
              </a:r>
              <a:r>
                <a:rPr lang="pt-BR" dirty="0"/>
                <a:t> ciclos/segundo</a:t>
              </a:r>
            </a:p>
            <a:p>
              <a:r>
                <a:rPr lang="pt-BR" dirty="0"/>
                <a:t>N = 1*10</a:t>
              </a:r>
              <a:r>
                <a:rPr lang="pt-BR" baseline="30000" dirty="0"/>
                <a:t>8</a:t>
              </a:r>
              <a:r>
                <a:rPr lang="pt-BR" dirty="0"/>
                <a:t> transistores</a:t>
              </a:r>
            </a:p>
            <a:p>
              <a:r>
                <a:rPr lang="pt-BR" dirty="0"/>
                <a:t>C = 1*10</a:t>
              </a:r>
              <a:r>
                <a:rPr lang="pt-BR" baseline="30000" dirty="0"/>
                <a:t>-15</a:t>
              </a:r>
              <a:r>
                <a:rPr lang="pt-BR" dirty="0"/>
                <a:t> </a:t>
              </a:r>
              <a:r>
                <a:rPr lang="pt-BR" dirty="0" err="1"/>
                <a:t>farads</a:t>
              </a:r>
              <a:endParaRPr lang="pt-BR" dirty="0"/>
            </a:p>
            <a:p>
              <a:r>
                <a:rPr lang="pt-BR" dirty="0"/>
                <a:t>V = 1 Volt</a:t>
              </a:r>
            </a:p>
            <a:p>
              <a:endParaRPr lang="pt-BR" dirty="0"/>
            </a:p>
            <a:p>
              <a:r>
                <a:rPr lang="pt-BR" dirty="0"/>
                <a:t>=&gt; 100 Watts</a:t>
              </a:r>
            </a:p>
          </p:txBody>
        </p:sp>
        <p:sp>
          <p:nvSpPr>
            <p:cNvPr id="10" name="Rectangle 9"/>
            <p:cNvSpPr/>
            <p:nvPr/>
          </p:nvSpPr>
          <p:spPr>
            <a:xfrm>
              <a:off x="5790549" y="5638704"/>
              <a:ext cx="2339230" cy="276999"/>
            </a:xfrm>
            <a:prstGeom prst="rect">
              <a:avLst/>
            </a:prstGeom>
          </p:spPr>
          <p:txBody>
            <a:bodyPr wrap="none">
              <a:spAutoFit/>
            </a:bodyPr>
            <a:lstStyle/>
            <a:p>
              <a:r>
                <a:rPr lang="pt-BR" sz="1200" dirty="0" err="1"/>
                <a:t>http</a:t>
              </a:r>
              <a:r>
                <a:rPr lang="pt-BR" sz="1200" dirty="0"/>
                <a:t>://</a:t>
              </a:r>
              <a:r>
                <a:rPr lang="pt-BR" sz="1200" dirty="0" err="1"/>
                <a:t>computationstructures.org</a:t>
              </a:r>
              <a:r>
                <a:rPr lang="pt-BR" sz="1200" dirty="0"/>
                <a:t>/</a:t>
              </a:r>
            </a:p>
          </p:txBody>
        </p:sp>
      </p:grpSp>
    </p:spTree>
    <p:custDataLst>
      <p:tags r:id="rId1"/>
    </p:custDataLst>
    <p:extLst>
      <p:ext uri="{BB962C8B-B14F-4D97-AF65-F5344CB8AC3E}">
        <p14:creationId xmlns:p14="http://schemas.microsoft.com/office/powerpoint/2010/main" val="1840024455"/>
      </p:ext>
    </p:extLst>
  </p:cSld>
  <p:clrMapOvr>
    <a:masterClrMapping/>
  </p:clrMapOvr>
  <mc:AlternateContent xmlns:mc="http://schemas.openxmlformats.org/markup-compatibility/2006" xmlns:p14="http://schemas.microsoft.com/office/powerpoint/2010/main">
    <mc:Choice Requires="p14">
      <p:transition spd="slow" p14:dur="1200" advTm="84692">
        <p14:prism/>
      </p:transition>
    </mc:Choice>
    <mc:Fallback xmlns="">
      <p:transition spd="slow" advTm="8469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checkerboard(across)">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Atraso de Propagação</a:t>
            </a:r>
          </a:p>
        </p:txBody>
      </p:sp>
      <p:sp>
        <p:nvSpPr>
          <p:cNvPr id="3" name="Content Placeholder 2"/>
          <p:cNvSpPr>
            <a:spLocks noGrp="1"/>
          </p:cNvSpPr>
          <p:nvPr>
            <p:ph idx="1"/>
          </p:nvPr>
        </p:nvSpPr>
        <p:spPr/>
        <p:txBody>
          <a:bodyPr/>
          <a:lstStyle/>
          <a:p>
            <a:r>
              <a:rPr lang="pt-BR" dirty="0"/>
              <a:t>Tempo que demora entre uma entrada válida em um circuito e sua saída válida. Conhecido como</a:t>
            </a:r>
            <a:r>
              <a:rPr lang="pt-BR" noProof="1"/>
              <a:t> t</a:t>
            </a:r>
            <a:r>
              <a:rPr lang="pt-BR" baseline="-25000" noProof="1"/>
              <a:t>PD</a:t>
            </a:r>
            <a:r>
              <a:rPr lang="pt-BR" noProof="1"/>
              <a:t> </a:t>
            </a:r>
            <a:r>
              <a:rPr lang="pt-BR" dirty="0"/>
              <a:t>(</a:t>
            </a:r>
            <a:r>
              <a:rPr lang="en-US" dirty="0"/>
              <a:t>time of propagation delay</a:t>
            </a:r>
            <a:r>
              <a:rPr lang="pt-BR"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57</a:t>
            </a:fld>
            <a:endParaRPr lang="pt-BR" dirty="0"/>
          </a:p>
        </p:txBody>
      </p:sp>
      <p:pic>
        <p:nvPicPr>
          <p:cNvPr id="6" name="Picture 5"/>
          <p:cNvPicPr>
            <a:picLocks noChangeAspect="1"/>
          </p:cNvPicPr>
          <p:nvPr/>
        </p:nvPicPr>
        <p:blipFill rotWithShape="1">
          <a:blip r:embed="rId3"/>
          <a:srcRect l="7513" t="30339" r="25691" b="10505"/>
          <a:stretch/>
        </p:blipFill>
        <p:spPr>
          <a:xfrm>
            <a:off x="1333500" y="2203735"/>
            <a:ext cx="6057900" cy="4102502"/>
          </a:xfrm>
          <a:prstGeom prst="rect">
            <a:avLst/>
          </a:prstGeom>
        </p:spPr>
      </p:pic>
      <p:sp>
        <p:nvSpPr>
          <p:cNvPr id="7" name="Rectangle 6"/>
          <p:cNvSpPr/>
          <p:nvPr/>
        </p:nvSpPr>
        <p:spPr>
          <a:xfrm>
            <a:off x="5996219" y="6210300"/>
            <a:ext cx="2339230" cy="276999"/>
          </a:xfrm>
          <a:prstGeom prst="rect">
            <a:avLst/>
          </a:prstGeom>
        </p:spPr>
        <p:txBody>
          <a:bodyPr wrap="none">
            <a:spAutoFit/>
          </a:bodyPr>
          <a:lstStyle/>
          <a:p>
            <a:r>
              <a:rPr lang="pt-BR" sz="1200"/>
              <a:t>http://computationstructures.org/</a:t>
            </a:r>
            <a:endParaRPr lang="pt-BR" sz="1200" dirty="0"/>
          </a:p>
        </p:txBody>
      </p:sp>
    </p:spTree>
    <p:extLst>
      <p:ext uri="{BB962C8B-B14F-4D97-AF65-F5344CB8AC3E}">
        <p14:creationId xmlns:p14="http://schemas.microsoft.com/office/powerpoint/2010/main" val="1252874658"/>
      </p:ext>
    </p:extLst>
  </p:cSld>
  <p:clrMapOvr>
    <a:masterClrMapping/>
  </p:clrMapOvr>
  <mc:AlternateContent xmlns:mc="http://schemas.openxmlformats.org/markup-compatibility/2006">
    <mc:Choice xmlns:p14="http://schemas.microsoft.com/office/powerpoint/2010/main" Requires="p14">
      <p:transition spd="slow" p14:dur="1200" advTm="33696">
        <p14:prism/>
      </p:transition>
    </mc:Choice>
    <mc:Fallback>
      <p:transition spd="slow" advTm="33696">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Abstração</a:t>
            </a:r>
          </a:p>
        </p:txBody>
      </p:sp>
      <p:sp>
        <p:nvSpPr>
          <p:cNvPr id="3" name="Content Placeholder 2"/>
          <p:cNvSpPr>
            <a:spLocks noGrp="1"/>
          </p:cNvSpPr>
          <p:nvPr>
            <p:ph idx="1"/>
          </p:nvPr>
        </p:nvSpPr>
        <p:spPr/>
        <p:txBody>
          <a:bodyPr/>
          <a:lstStyle/>
          <a:p>
            <a:r>
              <a:rPr lang="pt-BR" dirty="0"/>
              <a:t>Os usuários não precisam saber do funcionamento interno das portas lógicas e circuitos integrados. Portas mais complexas podem ser feitas da interconexão de outras portas lógicas, e os usuários abstraírem o seu funcionamento.</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58</a:t>
            </a:fld>
            <a:endParaRPr lang="pt-BR" dirty="0"/>
          </a:p>
        </p:txBody>
      </p:sp>
      <p:pic>
        <p:nvPicPr>
          <p:cNvPr id="8" name="Picture 7"/>
          <p:cNvPicPr>
            <a:picLocks noChangeAspect="1"/>
          </p:cNvPicPr>
          <p:nvPr/>
        </p:nvPicPr>
        <p:blipFill rotWithShape="1">
          <a:blip r:embed="rId4"/>
          <a:srcRect r="68521"/>
          <a:stretch/>
        </p:blipFill>
        <p:spPr>
          <a:xfrm>
            <a:off x="725687" y="3057607"/>
            <a:ext cx="2820513" cy="2860896"/>
          </a:xfrm>
          <a:prstGeom prst="rect">
            <a:avLst/>
          </a:prstGeom>
        </p:spPr>
      </p:pic>
      <p:pic>
        <p:nvPicPr>
          <p:cNvPr id="10" name="Picture 9"/>
          <p:cNvPicPr>
            <a:picLocks noChangeAspect="1"/>
          </p:cNvPicPr>
          <p:nvPr/>
        </p:nvPicPr>
        <p:blipFill rotWithShape="1">
          <a:blip r:embed="rId4"/>
          <a:srcRect l="34897" t="5267" r="201" b="6077"/>
          <a:stretch/>
        </p:blipFill>
        <p:spPr>
          <a:xfrm>
            <a:off x="3835967" y="3452049"/>
            <a:ext cx="4353060" cy="1898635"/>
          </a:xfrm>
          <a:prstGeom prst="rect">
            <a:avLst/>
          </a:prstGeom>
        </p:spPr>
      </p:pic>
      <p:pic>
        <p:nvPicPr>
          <p:cNvPr id="9" name="Picture 8" descr="black-box-you-quantifiable.gif"/>
          <p:cNvPicPr>
            <a:picLocks noChangeAspect="1"/>
          </p:cNvPicPr>
          <p:nvPr/>
        </p:nvPicPr>
        <p:blipFill rotWithShape="1">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t="8324" b="9201"/>
          <a:stretch/>
        </p:blipFill>
        <p:spPr>
          <a:xfrm>
            <a:off x="3684915" y="2408349"/>
            <a:ext cx="4465475" cy="3714231"/>
          </a:xfrm>
          <a:prstGeom prst="rect">
            <a:avLst/>
          </a:prstGeom>
        </p:spPr>
      </p:pic>
      <p:sp>
        <p:nvSpPr>
          <p:cNvPr id="11" name="Rectangle 10"/>
          <p:cNvSpPr/>
          <p:nvPr/>
        </p:nvSpPr>
        <p:spPr>
          <a:xfrm>
            <a:off x="704529" y="6208305"/>
            <a:ext cx="7484498" cy="379591"/>
          </a:xfrm>
          <a:prstGeom prst="rect">
            <a:avLst/>
          </a:prstGeom>
        </p:spPr>
        <p:txBody>
          <a:bodyPr wrap="square">
            <a:spAutoFit/>
          </a:bodyPr>
          <a:lstStyle/>
          <a:p>
            <a:pPr algn="ctr"/>
            <a:r>
              <a:rPr lang="pt-BR" sz="2800" b="1" baseline="30000" dirty="0">
                <a:solidFill>
                  <a:srgbClr val="FF0000"/>
                </a:solidFill>
              </a:rPr>
              <a:t>Interface (o que) x Implementação (como)</a:t>
            </a:r>
          </a:p>
        </p:txBody>
      </p:sp>
    </p:spTree>
    <p:custDataLst>
      <p:tags r:id="rId1"/>
    </p:custDataLst>
    <p:extLst>
      <p:ext uri="{BB962C8B-B14F-4D97-AF65-F5344CB8AC3E}">
        <p14:creationId xmlns:p14="http://schemas.microsoft.com/office/powerpoint/2010/main" val="1310462296"/>
      </p:ext>
    </p:extLst>
  </p:cSld>
  <p:clrMapOvr>
    <a:masterClrMapping/>
  </p:clrMapOvr>
  <mc:AlternateContent xmlns:mc="http://schemas.openxmlformats.org/markup-compatibility/2006">
    <mc:Choice xmlns:p14="http://schemas.microsoft.com/office/powerpoint/2010/main" Requires="p14">
      <p:transition spd="slow" p14:dur="1200" advTm="36012">
        <p14:prism/>
      </p:transition>
    </mc:Choice>
    <mc:Fallback>
      <p:transition spd="slow" advTm="3601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XOR</a:t>
            </a:r>
          </a:p>
        </p:txBody>
      </p:sp>
      <p:sp>
        <p:nvSpPr>
          <p:cNvPr id="3" name="Content Placeholder 2"/>
          <p:cNvSpPr>
            <a:spLocks noGrp="1"/>
          </p:cNvSpPr>
          <p:nvPr>
            <p:ph idx="1"/>
          </p:nvPr>
        </p:nvSpPr>
        <p:spPr>
          <a:xfrm>
            <a:off x="657225" y="1485900"/>
            <a:ext cx="8029575" cy="652163"/>
          </a:xfrm>
        </p:spPr>
        <p:txBody>
          <a:bodyPr/>
          <a:lstStyle/>
          <a:p>
            <a:r>
              <a:rPr lang="pt-BR" dirty="0"/>
              <a:t>Retorna 1 se somente uma das entradas é 1.</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59</a:t>
            </a:fld>
            <a:endParaRPr lang="pt-BR" dirty="0"/>
          </a:p>
        </p:txBody>
      </p:sp>
      <p:pic>
        <p:nvPicPr>
          <p:cNvPr id="8" name="Picture 7" descr="exerc_1.jpeg"/>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l="10564" r="25969" b="66326"/>
          <a:stretch/>
        </p:blipFill>
        <p:spPr>
          <a:xfrm>
            <a:off x="3387141" y="2766694"/>
            <a:ext cx="5080371" cy="2283842"/>
          </a:xfrm>
          <a:prstGeom prst="rect">
            <a:avLst/>
          </a:prstGeom>
        </p:spPr>
      </p:pic>
      <p:sp>
        <p:nvSpPr>
          <p:cNvPr id="7" name="Rectangle 6"/>
          <p:cNvSpPr/>
          <p:nvPr/>
        </p:nvSpPr>
        <p:spPr>
          <a:xfrm>
            <a:off x="4409567" y="5608528"/>
            <a:ext cx="3035520" cy="733534"/>
          </a:xfrm>
          <a:prstGeom prst="rect">
            <a:avLst/>
          </a:prstGeom>
          <a:ln>
            <a:solidFill>
              <a:srgbClr val="000000"/>
            </a:solidFill>
          </a:ln>
        </p:spPr>
        <p:txBody>
          <a:bodyPr wrap="square">
            <a:spAutoFit/>
          </a:bodyPr>
          <a:lstStyle/>
          <a:p>
            <a:pPr>
              <a:lnSpc>
                <a:spcPts val="1720"/>
              </a:lnSpc>
            </a:pPr>
            <a:r>
              <a:rPr lang="en-US" b="1" kern="1800" dirty="0">
                <a:latin typeface="Courier"/>
                <a:cs typeface="Courier"/>
              </a:rPr>
              <a:t>           _       _</a:t>
            </a:r>
          </a:p>
          <a:p>
            <a:pPr>
              <a:lnSpc>
                <a:spcPts val="1720"/>
              </a:lnSpc>
            </a:pPr>
            <a:r>
              <a:rPr lang="en-US" b="1" kern="1800" dirty="0">
                <a:latin typeface="Courier"/>
                <a:cs typeface="Courier"/>
              </a:rPr>
              <a:t>  A </a:t>
            </a:r>
            <a:r>
              <a:rPr lang="en-US" sz="3600" b="1" kern="1800" baseline="-1000" dirty="0">
                <a:latin typeface="Courier"/>
                <a:cs typeface="Courier"/>
              </a:rPr>
              <a:t>⊕</a:t>
            </a:r>
            <a:r>
              <a:rPr lang="en-US" b="1" kern="1800" dirty="0">
                <a:solidFill>
                  <a:prstClr val="black"/>
                </a:solidFill>
                <a:latin typeface="Courier"/>
                <a:cs typeface="Courier"/>
              </a:rPr>
              <a:t> </a:t>
            </a:r>
            <a:r>
              <a:rPr lang="en-US" b="1" kern="1800" dirty="0">
                <a:latin typeface="Courier"/>
                <a:cs typeface="Courier"/>
              </a:rPr>
              <a:t>B = A*B + A*B</a:t>
            </a:r>
            <a:endParaRPr lang="en-US" sz="700" b="1" kern="1800" dirty="0">
              <a:latin typeface="Courier"/>
              <a:cs typeface="Courier"/>
            </a:endParaRPr>
          </a:p>
          <a:p>
            <a:pPr>
              <a:lnSpc>
                <a:spcPts val="1620"/>
              </a:lnSpc>
            </a:pPr>
            <a:endParaRPr lang="pt-BR" sz="1050" dirty="0">
              <a:latin typeface="Courier"/>
              <a:cs typeface="Courier"/>
            </a:endParaRPr>
          </a:p>
        </p:txBody>
      </p:sp>
      <p:sp>
        <p:nvSpPr>
          <p:cNvPr id="13" name="Content Placeholder 2"/>
          <p:cNvSpPr txBox="1">
            <a:spLocks/>
          </p:cNvSpPr>
          <p:nvPr/>
        </p:nvSpPr>
        <p:spPr>
          <a:xfrm>
            <a:off x="238023" y="2223788"/>
            <a:ext cx="2601059" cy="3241626"/>
          </a:xfrm>
          <a:prstGeom prst="rect">
            <a:avLst/>
          </a:prstGeom>
          <a:ln>
            <a:solidFill>
              <a:srgbClr val="000000"/>
            </a:solidFill>
          </a:ln>
        </p:spPr>
        <p:txBody>
          <a:bodyPr numCol="1" spcCol="360000">
            <a:no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spcAft>
                <a:spcPts val="600"/>
              </a:spcAft>
            </a:pPr>
            <a:r>
              <a:rPr lang="is-IS" sz="4000" b="1" dirty="0"/>
              <a:t>0</a:t>
            </a:r>
            <a:r>
              <a:rPr lang="is-IS" sz="1000" b="1" dirty="0"/>
              <a:t> </a:t>
            </a:r>
            <a:r>
              <a:rPr lang="is-IS" sz="5400" b="1" baseline="8000" dirty="0"/>
              <a:t>⊕</a:t>
            </a:r>
            <a:r>
              <a:rPr lang="is-IS" sz="1000" b="1" dirty="0"/>
              <a:t> </a:t>
            </a:r>
            <a:r>
              <a:rPr lang="is-IS" sz="4000" b="1" dirty="0"/>
              <a:t>0 = 0</a:t>
            </a:r>
          </a:p>
          <a:p>
            <a:pPr algn="ctr">
              <a:spcAft>
                <a:spcPts val="600"/>
              </a:spcAft>
            </a:pPr>
            <a:r>
              <a:rPr lang="is-IS" sz="4000" b="1" dirty="0"/>
              <a:t>0</a:t>
            </a:r>
            <a:r>
              <a:rPr lang="is-IS" sz="1000" b="1" dirty="0"/>
              <a:t> </a:t>
            </a:r>
            <a:r>
              <a:rPr lang="is-IS" sz="5400" b="1" baseline="8000" dirty="0"/>
              <a:t>⊕</a:t>
            </a:r>
            <a:r>
              <a:rPr lang="is-IS" sz="1000" b="1" dirty="0"/>
              <a:t> </a:t>
            </a:r>
            <a:r>
              <a:rPr lang="is-IS" sz="4000" b="1" dirty="0"/>
              <a:t>1 = 1</a:t>
            </a:r>
          </a:p>
          <a:p>
            <a:pPr algn="ctr">
              <a:spcAft>
                <a:spcPts val="600"/>
              </a:spcAft>
            </a:pPr>
            <a:r>
              <a:rPr lang="is-IS" sz="4000" b="1" dirty="0"/>
              <a:t>1</a:t>
            </a:r>
            <a:r>
              <a:rPr lang="is-IS" sz="1000" b="1" dirty="0"/>
              <a:t> </a:t>
            </a:r>
            <a:r>
              <a:rPr lang="is-IS" sz="5400" b="1" baseline="8000" dirty="0"/>
              <a:t>⊕</a:t>
            </a:r>
            <a:r>
              <a:rPr lang="is-IS" sz="1000" b="1" dirty="0"/>
              <a:t> </a:t>
            </a:r>
            <a:r>
              <a:rPr lang="is-IS" sz="4000" b="1" dirty="0"/>
              <a:t>0 = 1</a:t>
            </a:r>
          </a:p>
          <a:p>
            <a:pPr algn="ctr">
              <a:spcAft>
                <a:spcPts val="600"/>
              </a:spcAft>
            </a:pPr>
            <a:r>
              <a:rPr lang="is-IS" sz="4000" b="1" dirty="0"/>
              <a:t>1</a:t>
            </a:r>
            <a:r>
              <a:rPr lang="is-IS" sz="1000" b="1" dirty="0"/>
              <a:t> </a:t>
            </a:r>
            <a:r>
              <a:rPr lang="is-IS" sz="5400" b="1" baseline="8000" dirty="0"/>
              <a:t>⊕</a:t>
            </a:r>
            <a:r>
              <a:rPr lang="is-IS" sz="1000" b="1" dirty="0"/>
              <a:t> </a:t>
            </a:r>
            <a:r>
              <a:rPr lang="is-IS" sz="4000" b="1" dirty="0"/>
              <a:t>1 = 0</a:t>
            </a:r>
          </a:p>
          <a:p>
            <a:pPr algn="ctr">
              <a:spcAft>
                <a:spcPts val="600"/>
              </a:spcAft>
            </a:pPr>
            <a:endParaRPr lang="is-IS" sz="4000" b="1" dirty="0"/>
          </a:p>
        </p:txBody>
      </p:sp>
      <p:pic>
        <p:nvPicPr>
          <p:cNvPr id="14" name="Picture 13" descr="51e5c089ce395f8d16000000.png"/>
          <p:cNvPicPr>
            <a:picLocks noChangeAspect="1"/>
          </p:cNvPicPr>
          <p:nvPr/>
        </p:nvPicPr>
        <p:blipFill rotWithShape="1">
          <a:blip r:embed="rId5">
            <a:extLst>
              <a:ext uri="{28A0092B-C50C-407E-A947-70E740481C1C}">
                <a14:useLocalDpi xmlns:a14="http://schemas.microsoft.com/office/drawing/2010/main" val="0"/>
              </a:ext>
            </a:extLst>
          </a:blip>
          <a:srcRect l="67533" b="53101"/>
          <a:stretch/>
        </p:blipFill>
        <p:spPr>
          <a:xfrm>
            <a:off x="883139" y="5608528"/>
            <a:ext cx="1184225" cy="848906"/>
          </a:xfrm>
          <a:prstGeom prst="rect">
            <a:avLst/>
          </a:prstGeom>
        </p:spPr>
      </p:pic>
      <p:grpSp>
        <p:nvGrpSpPr>
          <p:cNvPr id="41" name="Group 40"/>
          <p:cNvGrpSpPr/>
          <p:nvPr/>
        </p:nvGrpSpPr>
        <p:grpSpPr>
          <a:xfrm>
            <a:off x="2884567" y="2039122"/>
            <a:ext cx="1005147" cy="2069239"/>
            <a:chOff x="2884567" y="2039122"/>
            <a:chExt cx="1005147" cy="2069239"/>
          </a:xfrm>
        </p:grpSpPr>
        <p:sp>
          <p:nvSpPr>
            <p:cNvPr id="11" name="Rectangle 10"/>
            <p:cNvSpPr/>
            <p:nvPr/>
          </p:nvSpPr>
          <p:spPr>
            <a:xfrm>
              <a:off x="2884567" y="2039122"/>
              <a:ext cx="1005147" cy="369332"/>
            </a:xfrm>
            <a:prstGeom prst="rect">
              <a:avLst/>
            </a:prstGeom>
          </p:spPr>
          <p:txBody>
            <a:bodyPr wrap="none">
              <a:spAutoFit/>
            </a:bodyPr>
            <a:lstStyle/>
            <a:p>
              <a:r>
                <a:rPr lang="en-US" u="sng"/>
                <a:t>entradas</a:t>
              </a:r>
              <a:endParaRPr lang="en-US" u="sng" dirty="0"/>
            </a:p>
          </p:txBody>
        </p:sp>
        <p:cxnSp>
          <p:nvCxnSpPr>
            <p:cNvPr id="17" name="Straight Arrow Connector 16"/>
            <p:cNvCxnSpPr>
              <a:stCxn id="11" idx="2"/>
            </p:cNvCxnSpPr>
            <p:nvPr/>
          </p:nvCxnSpPr>
          <p:spPr>
            <a:xfrm>
              <a:off x="3387141" y="2408454"/>
              <a:ext cx="257580" cy="823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235609" y="2408453"/>
              <a:ext cx="402819" cy="1699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a:off x="7964938" y="2112475"/>
            <a:ext cx="670376" cy="1570883"/>
            <a:chOff x="7964938" y="2112475"/>
            <a:chExt cx="670376" cy="1570883"/>
          </a:xfrm>
        </p:grpSpPr>
        <p:sp>
          <p:nvSpPr>
            <p:cNvPr id="22" name="Rectangle 21"/>
            <p:cNvSpPr/>
            <p:nvPr/>
          </p:nvSpPr>
          <p:spPr>
            <a:xfrm>
              <a:off x="7964938" y="2112475"/>
              <a:ext cx="670376" cy="369332"/>
            </a:xfrm>
            <a:prstGeom prst="rect">
              <a:avLst/>
            </a:prstGeom>
          </p:spPr>
          <p:txBody>
            <a:bodyPr wrap="none">
              <a:spAutoFit/>
            </a:bodyPr>
            <a:lstStyle/>
            <a:p>
              <a:r>
                <a:rPr lang="pt-BR" u="sng" dirty="0"/>
                <a:t>saída</a:t>
              </a:r>
            </a:p>
          </p:txBody>
        </p:sp>
        <p:cxnSp>
          <p:nvCxnSpPr>
            <p:cNvPr id="24" name="Straight Arrow Connector 23"/>
            <p:cNvCxnSpPr/>
            <p:nvPr/>
          </p:nvCxnSpPr>
          <p:spPr>
            <a:xfrm flipH="1">
              <a:off x="8291846" y="2481806"/>
              <a:ext cx="24134" cy="120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5444516" y="2033576"/>
            <a:ext cx="1554350" cy="2255890"/>
            <a:chOff x="5444516" y="2033576"/>
            <a:chExt cx="1554350" cy="2255890"/>
          </a:xfrm>
        </p:grpSpPr>
        <p:sp>
          <p:nvSpPr>
            <p:cNvPr id="26" name="Rectangle 25"/>
            <p:cNvSpPr/>
            <p:nvPr/>
          </p:nvSpPr>
          <p:spPr>
            <a:xfrm>
              <a:off x="5467228" y="2033576"/>
              <a:ext cx="1531638" cy="369332"/>
            </a:xfrm>
            <a:prstGeom prst="rect">
              <a:avLst/>
            </a:prstGeom>
          </p:spPr>
          <p:txBody>
            <a:bodyPr wrap="none">
              <a:spAutoFit/>
            </a:bodyPr>
            <a:lstStyle/>
            <a:p>
              <a:r>
                <a:rPr lang="pt-BR" u="sng" dirty="0"/>
                <a:t>sinais internos</a:t>
              </a:r>
            </a:p>
          </p:txBody>
        </p:sp>
        <p:cxnSp>
          <p:nvCxnSpPr>
            <p:cNvPr id="27" name="Straight Arrow Connector 26"/>
            <p:cNvCxnSpPr/>
            <p:nvPr/>
          </p:nvCxnSpPr>
          <p:spPr>
            <a:xfrm flipH="1">
              <a:off x="5444516" y="2402908"/>
              <a:ext cx="183552" cy="188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741155" y="2402908"/>
              <a:ext cx="28580" cy="6880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663004" y="2422950"/>
              <a:ext cx="24837" cy="17092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822497" y="2402908"/>
              <a:ext cx="16876" cy="874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59705408"/>
      </p:ext>
    </p:extLst>
  </p:cSld>
  <p:clrMapOvr>
    <a:masterClrMapping/>
  </p:clrMapOvr>
  <mc:AlternateContent xmlns:mc="http://schemas.openxmlformats.org/markup-compatibility/2006">
    <mc:Choice xmlns:p14="http://schemas.microsoft.com/office/powerpoint/2010/main" Requires="p14">
      <p:transition spd="slow" p14:dur="1200" advTm="44686">
        <p14:prism/>
      </p:transition>
    </mc:Choice>
    <mc:Fallback>
      <p:transition spd="slow" advTm="4468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par>
                                <p:cTn id="12" presetID="1" presetClass="entr" presetSubtype="0"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1"/>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Outro Design de Lógica</a:t>
            </a:r>
          </a:p>
        </p:txBody>
      </p:sp>
      <p:sp>
        <p:nvSpPr>
          <p:cNvPr id="3" name="Content Placeholder 2"/>
          <p:cNvSpPr>
            <a:spLocks noGrp="1"/>
          </p:cNvSpPr>
          <p:nvPr>
            <p:ph idx="1"/>
          </p:nvPr>
        </p:nvSpPr>
        <p:spPr>
          <a:xfrm>
            <a:off x="657225" y="1485900"/>
            <a:ext cx="4713265" cy="2158821"/>
          </a:xfrm>
        </p:spPr>
        <p:txBody>
          <a:bodyPr>
            <a:noAutofit/>
          </a:bodyPr>
          <a:lstStyle/>
          <a:p>
            <a:r>
              <a:rPr lang="pt-BR" sz="2400" dirty="0"/>
              <a:t>Só existe uma única forma?</a:t>
            </a:r>
          </a:p>
          <a:p>
            <a:pPr marL="285750" indent="-285750">
              <a:buFont typeface="Arial"/>
              <a:buChar char="•"/>
            </a:pPr>
            <a:endParaRPr lang="pt-BR" sz="2400" dirty="0"/>
          </a:p>
          <a:p>
            <a:r>
              <a:rPr lang="pt-BR" sz="2400" dirty="0"/>
              <a:t>Outras formas podem ser mais rápidas, eficientes, baratas, simples e elegantes.</a:t>
            </a:r>
          </a:p>
          <a:p>
            <a:endParaRPr lang="pt-BR" sz="2400" dirty="0"/>
          </a:p>
          <a:p>
            <a:endParaRPr lang="pt-BR" sz="2400" dirty="0"/>
          </a:p>
          <a:p>
            <a:endParaRPr lang="pt-BR" sz="2400" dirty="0"/>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60</a:t>
            </a:fld>
            <a:endParaRPr lang="pt-BR" dirty="0"/>
          </a:p>
        </p:txBody>
      </p:sp>
      <p:pic>
        <p:nvPicPr>
          <p:cNvPr id="10" name="Picture 9"/>
          <p:cNvPicPr>
            <a:picLocks noChangeAspect="1"/>
          </p:cNvPicPr>
          <p:nvPr/>
        </p:nvPicPr>
        <p:blipFill rotWithShape="1">
          <a:blip r:embed="rId4"/>
          <a:srcRect l="33326"/>
          <a:stretch/>
        </p:blipFill>
        <p:spPr>
          <a:xfrm>
            <a:off x="4891212" y="4076235"/>
            <a:ext cx="4252788" cy="2036636"/>
          </a:xfrm>
          <a:prstGeom prst="rect">
            <a:avLst/>
          </a:prstGeom>
        </p:spPr>
      </p:pic>
      <p:pic>
        <p:nvPicPr>
          <p:cNvPr id="11" name="Picture 10"/>
          <p:cNvPicPr>
            <a:picLocks noChangeAspect="1"/>
          </p:cNvPicPr>
          <p:nvPr/>
        </p:nvPicPr>
        <p:blipFill rotWithShape="1">
          <a:blip r:embed="rId4"/>
          <a:srcRect r="68521" b="52065"/>
          <a:stretch/>
        </p:blipFill>
        <p:spPr>
          <a:xfrm>
            <a:off x="5544841" y="1831689"/>
            <a:ext cx="2820513" cy="1371375"/>
          </a:xfrm>
          <a:prstGeom prst="rect">
            <a:avLst/>
          </a:prstGeom>
        </p:spPr>
      </p:pic>
      <p:pic>
        <p:nvPicPr>
          <p:cNvPr id="8" name="Picture 7" descr="04117.png"/>
          <p:cNvPicPr>
            <a:picLocks noChangeAspect="1"/>
          </p:cNvPicPr>
          <p:nvPr/>
        </p:nvPicPr>
        <p:blipFill rotWithShape="1">
          <a:blip r:embed="rId5">
            <a:extLst>
              <a:ext uri="{28A0092B-C50C-407E-A947-70E740481C1C}">
                <a14:useLocalDpi xmlns:a14="http://schemas.microsoft.com/office/drawing/2010/main" val="0"/>
              </a:ext>
            </a:extLst>
          </a:blip>
          <a:srcRect l="17433" t="10458" r="24463" b="48242"/>
          <a:stretch/>
        </p:blipFill>
        <p:spPr>
          <a:xfrm>
            <a:off x="1384033" y="4364041"/>
            <a:ext cx="2413012" cy="1846259"/>
          </a:xfrm>
          <a:prstGeom prst="rect">
            <a:avLst/>
          </a:prstGeom>
        </p:spPr>
      </p:pic>
    </p:spTree>
    <p:custDataLst>
      <p:tags r:id="rId1"/>
    </p:custDataLst>
    <p:extLst>
      <p:ext uri="{BB962C8B-B14F-4D97-AF65-F5344CB8AC3E}">
        <p14:creationId xmlns:p14="http://schemas.microsoft.com/office/powerpoint/2010/main" val="1848672487"/>
      </p:ext>
    </p:extLst>
  </p:cSld>
  <p:clrMapOvr>
    <a:masterClrMapping/>
  </p:clrMapOvr>
  <mc:AlternateContent xmlns:mc="http://schemas.openxmlformats.org/markup-compatibility/2006">
    <mc:Choice xmlns:p14="http://schemas.microsoft.com/office/powerpoint/2010/main" Requires="p14">
      <p:transition spd="slow" p14:dur="1200" advTm="26444">
        <p14:prism/>
      </p:transition>
    </mc:Choice>
    <mc:Fallback>
      <p:transition spd="slow" advTm="2644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noProof="1"/>
              <a:t>Portas Multi-way</a:t>
            </a:r>
          </a:p>
        </p:txBody>
      </p:sp>
      <p:sp>
        <p:nvSpPr>
          <p:cNvPr id="3" name="Content Placeholder 2"/>
          <p:cNvSpPr>
            <a:spLocks noGrp="1"/>
          </p:cNvSpPr>
          <p:nvPr>
            <p:ph idx="1"/>
          </p:nvPr>
        </p:nvSpPr>
        <p:spPr/>
        <p:txBody>
          <a:bodyPr/>
          <a:lstStyle/>
          <a:p>
            <a:r>
              <a:rPr lang="pt-BR" dirty="0"/>
              <a:t>As portas lógicas podem ter mais de duas entradas.</a:t>
            </a:r>
          </a:p>
          <a:p>
            <a:endParaRPr lang="pt-BR" dirty="0"/>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61</a:t>
            </a:fld>
            <a:endParaRPr lang="pt-BR" dirty="0"/>
          </a:p>
        </p:txBody>
      </p:sp>
      <p:pic>
        <p:nvPicPr>
          <p:cNvPr id="7" name="Picture 6"/>
          <p:cNvPicPr>
            <a:picLocks noChangeAspect="1"/>
          </p:cNvPicPr>
          <p:nvPr/>
        </p:nvPicPr>
        <p:blipFill>
          <a:blip r:embed="rId4"/>
          <a:stretch>
            <a:fillRect/>
          </a:stretch>
        </p:blipFill>
        <p:spPr>
          <a:xfrm>
            <a:off x="6956840" y="1030074"/>
            <a:ext cx="1617822" cy="5372100"/>
          </a:xfrm>
          <a:prstGeom prst="rect">
            <a:avLst/>
          </a:prstGeom>
        </p:spPr>
      </p:pic>
      <p:grpSp>
        <p:nvGrpSpPr>
          <p:cNvPr id="19" name="Group 18"/>
          <p:cNvGrpSpPr/>
          <p:nvPr/>
        </p:nvGrpSpPr>
        <p:grpSpPr>
          <a:xfrm>
            <a:off x="1120699" y="2353999"/>
            <a:ext cx="4888040" cy="1937917"/>
            <a:chOff x="832648" y="2543880"/>
            <a:chExt cx="4888040" cy="1937917"/>
          </a:xfrm>
        </p:grpSpPr>
        <p:sp>
          <p:nvSpPr>
            <p:cNvPr id="8" name="Delay 7"/>
            <p:cNvSpPr/>
            <p:nvPr/>
          </p:nvSpPr>
          <p:spPr>
            <a:xfrm>
              <a:off x="2199666" y="2596256"/>
              <a:ext cx="2225853" cy="1885541"/>
            </a:xfrm>
            <a:prstGeom prst="flowChartDelay">
              <a:avLst/>
            </a:prstGeom>
            <a:noFill/>
            <a:ln w="3810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0" name="Straight Connector 9"/>
            <p:cNvCxnSpPr/>
            <p:nvPr/>
          </p:nvCxnSpPr>
          <p:spPr>
            <a:xfrm>
              <a:off x="1204579" y="3539027"/>
              <a:ext cx="995087"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1204579" y="3870015"/>
              <a:ext cx="995087"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1204579" y="4228282"/>
              <a:ext cx="995087"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1204579" y="3180760"/>
              <a:ext cx="995087"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1204579" y="2835587"/>
              <a:ext cx="995087"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4425519" y="3539027"/>
              <a:ext cx="995087"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32648" y="2543880"/>
              <a:ext cx="411210" cy="1878976"/>
            </a:xfrm>
            <a:prstGeom prst="rect">
              <a:avLst/>
            </a:prstGeom>
          </p:spPr>
          <p:txBody>
            <a:bodyPr wrap="square">
              <a:spAutoFit/>
            </a:bodyPr>
            <a:lstStyle/>
            <a:p>
              <a:pPr>
                <a:lnSpc>
                  <a:spcPct val="130000"/>
                </a:lnSpc>
              </a:pPr>
              <a:r>
                <a:rPr lang="pt-BR" dirty="0"/>
                <a:t>A</a:t>
              </a:r>
            </a:p>
            <a:p>
              <a:pPr>
                <a:lnSpc>
                  <a:spcPct val="130000"/>
                </a:lnSpc>
              </a:pPr>
              <a:r>
                <a:rPr lang="pt-BR" dirty="0" err="1"/>
                <a:t>B</a:t>
              </a:r>
              <a:endParaRPr lang="pt-BR" dirty="0"/>
            </a:p>
            <a:p>
              <a:pPr>
                <a:lnSpc>
                  <a:spcPct val="130000"/>
                </a:lnSpc>
              </a:pPr>
              <a:r>
                <a:rPr lang="pt-BR" dirty="0"/>
                <a:t>C</a:t>
              </a:r>
            </a:p>
            <a:p>
              <a:pPr>
                <a:lnSpc>
                  <a:spcPct val="130000"/>
                </a:lnSpc>
              </a:pPr>
              <a:r>
                <a:rPr lang="pt-BR" dirty="0" err="1"/>
                <a:t>D</a:t>
              </a:r>
              <a:endParaRPr lang="pt-BR" dirty="0"/>
            </a:p>
            <a:p>
              <a:pPr>
                <a:lnSpc>
                  <a:spcPct val="130000"/>
                </a:lnSpc>
              </a:pPr>
              <a:r>
                <a:rPr lang="pt-BR" dirty="0"/>
                <a:t>E</a:t>
              </a:r>
            </a:p>
          </p:txBody>
        </p:sp>
        <p:sp>
          <p:nvSpPr>
            <p:cNvPr id="18" name="Rectangle 17"/>
            <p:cNvSpPr/>
            <p:nvPr/>
          </p:nvSpPr>
          <p:spPr>
            <a:xfrm>
              <a:off x="5420606" y="3315079"/>
              <a:ext cx="300082" cy="369332"/>
            </a:xfrm>
            <a:prstGeom prst="rect">
              <a:avLst/>
            </a:prstGeom>
          </p:spPr>
          <p:txBody>
            <a:bodyPr wrap="none">
              <a:spAutoFit/>
            </a:bodyPr>
            <a:lstStyle/>
            <a:p>
              <a:r>
                <a:rPr lang="pt-BR" dirty="0" err="1"/>
                <a:t>Y</a:t>
              </a:r>
              <a:endParaRPr lang="pt-BR" dirty="0"/>
            </a:p>
          </p:txBody>
        </p:sp>
      </p:grpSp>
      <p:grpSp>
        <p:nvGrpSpPr>
          <p:cNvPr id="22" name="Group 21"/>
          <p:cNvGrpSpPr/>
          <p:nvPr/>
        </p:nvGrpSpPr>
        <p:grpSpPr>
          <a:xfrm>
            <a:off x="1174878" y="4584945"/>
            <a:ext cx="5109887" cy="2056650"/>
            <a:chOff x="1174878" y="4584945"/>
            <a:chExt cx="5109887" cy="2056650"/>
          </a:xfrm>
        </p:grpSpPr>
        <p:pic>
          <p:nvPicPr>
            <p:cNvPr id="20" name="Picture 19"/>
            <p:cNvPicPr>
              <a:picLocks noChangeAspect="1"/>
            </p:cNvPicPr>
            <p:nvPr/>
          </p:nvPicPr>
          <p:blipFill rotWithShape="1">
            <a:blip r:embed="rId5"/>
            <a:srcRect l="36506" t="18319" r="4494" b="9638"/>
            <a:stretch/>
          </p:blipFill>
          <p:spPr>
            <a:xfrm>
              <a:off x="1715217" y="5112080"/>
              <a:ext cx="3731577" cy="1529515"/>
            </a:xfrm>
            <a:prstGeom prst="rect">
              <a:avLst/>
            </a:prstGeom>
          </p:spPr>
        </p:pic>
        <p:sp>
          <p:nvSpPr>
            <p:cNvPr id="21" name="Rectangle 20"/>
            <p:cNvSpPr/>
            <p:nvPr/>
          </p:nvSpPr>
          <p:spPr>
            <a:xfrm>
              <a:off x="1174878" y="4584945"/>
              <a:ext cx="5109887" cy="646331"/>
            </a:xfrm>
            <a:prstGeom prst="rect">
              <a:avLst/>
            </a:prstGeom>
          </p:spPr>
          <p:txBody>
            <a:bodyPr wrap="square">
              <a:spAutoFit/>
            </a:bodyPr>
            <a:lstStyle/>
            <a:p>
              <a:r>
                <a:rPr lang="pt-BR" dirty="0"/>
                <a:t>Portas lógicas podem ser simplesmente combinadas para permitir portas com mais entradas.</a:t>
              </a:r>
            </a:p>
          </p:txBody>
        </p:sp>
      </p:grpSp>
    </p:spTree>
    <p:custDataLst>
      <p:tags r:id="rId1"/>
    </p:custDataLst>
    <p:extLst>
      <p:ext uri="{BB962C8B-B14F-4D97-AF65-F5344CB8AC3E}">
        <p14:creationId xmlns:p14="http://schemas.microsoft.com/office/powerpoint/2010/main" val="1826306813"/>
      </p:ext>
    </p:extLst>
  </p:cSld>
  <p:clrMapOvr>
    <a:masterClrMapping/>
  </p:clrMapOvr>
  <mc:AlternateContent xmlns:mc="http://schemas.openxmlformats.org/markup-compatibility/2006">
    <mc:Choice xmlns:p14="http://schemas.microsoft.com/office/powerpoint/2010/main" Requires="p14">
      <p:transition spd="slow" p14:dur="1200" advTm="36219">
        <p14:prism/>
      </p:transition>
    </mc:Choice>
    <mc:Fallback>
      <p:transition spd="slow" advTm="3621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Multiplexadores Simples</a:t>
            </a:r>
          </a:p>
        </p:txBody>
      </p:sp>
      <p:sp>
        <p:nvSpPr>
          <p:cNvPr id="3" name="Content Placeholder 2"/>
          <p:cNvSpPr>
            <a:spLocks noGrp="1"/>
          </p:cNvSpPr>
          <p:nvPr>
            <p:ph idx="1"/>
          </p:nvPr>
        </p:nvSpPr>
        <p:spPr/>
        <p:txBody>
          <a:bodyPr/>
          <a:lstStyle/>
          <a:p>
            <a:r>
              <a:rPr lang="pt-BR" dirty="0"/>
              <a:t>Um multiplexador é um componente lógico que possui uma porta “bit de seleção” que seleciona qual entrada ira aparecer na saída “bits de dados”.</a:t>
            </a:r>
          </a:p>
          <a:p>
            <a:endParaRPr lang="pt-BR" dirty="0"/>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62</a:t>
            </a:fld>
            <a:endParaRPr lang="pt-BR" dirty="0"/>
          </a:p>
        </p:txBody>
      </p:sp>
      <p:pic>
        <p:nvPicPr>
          <p:cNvPr id="6" name="Picture 5"/>
          <p:cNvPicPr>
            <a:picLocks noChangeAspect="1"/>
          </p:cNvPicPr>
          <p:nvPr/>
        </p:nvPicPr>
        <p:blipFill>
          <a:blip r:embed="rId5"/>
          <a:stretch>
            <a:fillRect/>
          </a:stretch>
        </p:blipFill>
        <p:spPr>
          <a:xfrm>
            <a:off x="725688" y="2775922"/>
            <a:ext cx="6168389" cy="3215437"/>
          </a:xfrm>
          <a:prstGeom prst="rect">
            <a:avLst/>
          </a:prstGeom>
        </p:spPr>
      </p:pic>
      <p:pic>
        <p:nvPicPr>
          <p:cNvPr id="8" name="Picture 7"/>
          <p:cNvPicPr>
            <a:picLocks noChangeAspect="1"/>
          </p:cNvPicPr>
          <p:nvPr/>
        </p:nvPicPr>
        <p:blipFill rotWithShape="1">
          <a:blip r:embed="rId6"/>
          <a:srcRect l="71157" t="18779" r="3371" b="32770"/>
          <a:stretch/>
        </p:blipFill>
        <p:spPr>
          <a:xfrm>
            <a:off x="6962540" y="3134931"/>
            <a:ext cx="2003819" cy="2920823"/>
          </a:xfrm>
          <a:prstGeom prst="rect">
            <a:avLst/>
          </a:prstGeom>
        </p:spPr>
      </p:pic>
      <p:sp>
        <p:nvSpPr>
          <p:cNvPr id="9" name="Rectangle 8"/>
          <p:cNvSpPr/>
          <p:nvPr/>
        </p:nvSpPr>
        <p:spPr>
          <a:xfrm>
            <a:off x="6894078" y="2509330"/>
            <a:ext cx="2072282" cy="646331"/>
          </a:xfrm>
          <a:prstGeom prst="rect">
            <a:avLst/>
          </a:prstGeom>
        </p:spPr>
        <p:txBody>
          <a:bodyPr wrap="square">
            <a:spAutoFit/>
          </a:bodyPr>
          <a:lstStyle/>
          <a:p>
            <a:pPr algn="ctr"/>
            <a:r>
              <a:rPr lang="pt-BR"/>
              <a:t>Multiplexadores </a:t>
            </a:r>
            <a:r>
              <a:rPr lang="pt-BR" dirty="0"/>
              <a:t>Universais</a:t>
            </a:r>
          </a:p>
        </p:txBody>
      </p:sp>
      <mc:AlternateContent xmlns:mc="http://schemas.openxmlformats.org/markup-compatibility/2006" xmlns:p14="http://schemas.microsoft.com/office/powerpoint/2010/main" xmlns:iact="http://schemas.microsoft.com/office/powerpoint/2014/inkAction">
        <mc:Choice Requires="p14 iact">
          <p:contentPart p14:bwMode="auto" r:id="rId7">
            <p14:nvContentPartPr>
              <p14:cNvPr id="14" name="Tinta 13"/>
              <p14:cNvContentPartPr/>
              <p14:nvPr>
                <p:custDataLst>
                  <p:tags r:id="rId2"/>
                </p:custDataLst>
                <p:extLst>
                  <p:ext uri="{42D2F446-02D8-4167-A562-619A0277C38B}">
                    <p15:isNarration xmlns:p15="http://schemas.microsoft.com/office/powerpoint/2012/main" val="1"/>
                  </p:ext>
                </p:extLst>
              </p14:nvPr>
            </p14:nvContentPartPr>
            <p14:xfrm>
              <a:off x="795885" y="3910728"/>
              <a:ext cx="5816139" cy="2152228"/>
            </p14:xfrm>
          </p:contentPart>
        </mc:Choice>
        <mc:Fallback xmlns="">
          <p:pic>
            <p:nvPicPr>
              <p:cNvPr id="14" name="Tinta 13"/>
              <p:cNvPicPr>
                <a:picLocks noGrp="1" noRot="1" noChangeAspect="1" noMove="1" noResize="1" noEditPoints="1" noAdjustHandles="1" noChangeArrowheads="1" noChangeShapeType="1"/>
              </p:cNvPicPr>
              <p:nvPr/>
            </p:nvPicPr>
            <p:blipFill>
              <a:blip r:embed="rId13"/>
              <a:stretch>
                <a:fillRect/>
              </a:stretch>
            </p:blipFill>
            <p:spPr>
              <a:xfrm>
                <a:off x="751451" y="3866319"/>
                <a:ext cx="5903421" cy="2239459"/>
              </a:xfrm>
              <a:prstGeom prst="rect">
                <a:avLst/>
              </a:prstGeom>
            </p:spPr>
          </p:pic>
        </mc:Fallback>
      </mc:AlternateContent>
    </p:spTree>
    <p:custDataLst>
      <p:tags r:id="rId1"/>
    </p:custDataLst>
    <p:extLst>
      <p:ext uri="{BB962C8B-B14F-4D97-AF65-F5344CB8AC3E}">
        <p14:creationId xmlns:p14="http://schemas.microsoft.com/office/powerpoint/2010/main" val="1401909811"/>
      </p:ext>
    </p:extLst>
  </p:cSld>
  <p:clrMapOvr>
    <a:masterClrMapping/>
  </p:clrMapOvr>
  <mc:AlternateContent xmlns:mc="http://schemas.openxmlformats.org/markup-compatibility/2006">
    <mc:Choice xmlns:p14="http://schemas.microsoft.com/office/powerpoint/2010/main" Requires="p14">
      <p:transition spd="slow" p14:dur="1200" advTm="73399">
        <p14:prism/>
      </p:transition>
    </mc:Choice>
    <mc:Fallback>
      <p:transition spd="slow" advTm="7339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md type="call" cmd="playFrom(0.0)">
                                      <p:cBhvr>
                                        <p:cTn id="7" dur="1" fill="hold"/>
                                        <p:tgtEl>
                                          <p:spTgt spid="14"/>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1+#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Demultiplexadores Simples</a:t>
            </a:r>
          </a:p>
        </p:txBody>
      </p:sp>
      <p:sp>
        <p:nvSpPr>
          <p:cNvPr id="3" name="Content Placeholder 2"/>
          <p:cNvSpPr>
            <a:spLocks noGrp="1"/>
          </p:cNvSpPr>
          <p:nvPr>
            <p:ph idx="1"/>
          </p:nvPr>
        </p:nvSpPr>
        <p:spPr/>
        <p:txBody>
          <a:bodyPr/>
          <a:lstStyle/>
          <a:p>
            <a:r>
              <a:rPr lang="pt-BR" dirty="0"/>
              <a:t>O Demultiplexador faz exatamente o inverso do multiplexador. Ele possui uma entrada, e o porta de seleção informa para qual saída esse sinal será encaminhado.</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63</a:t>
            </a:fld>
            <a:endParaRPr lang="pt-BR" dirty="0"/>
          </a:p>
        </p:txBody>
      </p:sp>
      <p:pic>
        <p:nvPicPr>
          <p:cNvPr id="6" name="Picture 5"/>
          <p:cNvPicPr>
            <a:picLocks noChangeAspect="1"/>
          </p:cNvPicPr>
          <p:nvPr/>
        </p:nvPicPr>
        <p:blipFill>
          <a:blip r:embed="rId3"/>
          <a:stretch>
            <a:fillRect/>
          </a:stretch>
        </p:blipFill>
        <p:spPr>
          <a:xfrm>
            <a:off x="992387" y="2728304"/>
            <a:ext cx="7370009" cy="2823440"/>
          </a:xfrm>
          <a:prstGeom prst="rect">
            <a:avLst/>
          </a:prstGeom>
        </p:spPr>
      </p:pic>
      <mc:AlternateContent xmlns:mc="http://schemas.openxmlformats.org/markup-compatibility/2006" xmlns:p14="http://schemas.microsoft.com/office/powerpoint/2010/main" xmlns:iact="http://schemas.microsoft.com/office/powerpoint/2014/inkAction">
        <mc:Choice Requires="p14 iact">
          <p:contentPart p14:bwMode="auto" r:id="rId4">
            <p14:nvContentPartPr>
              <p14:cNvPr id="13" name="Tinta 12"/>
              <p14:cNvContentPartPr/>
              <p14:nvPr>
                <p:custDataLst>
                  <p:tags r:id="rId1"/>
                </p:custDataLst>
                <p:extLst>
                  <p:ext uri="{42D2F446-02D8-4167-A562-619A0277C38B}">
                    <p15:isNarration xmlns:p15="http://schemas.microsoft.com/office/powerpoint/2012/main" val="1"/>
                  </p:ext>
                </p:extLst>
              </p14:nvPr>
            </p14:nvContentPartPr>
            <p14:xfrm>
              <a:off x="4289933" y="3670134"/>
              <a:ext cx="3625253" cy="1732284"/>
            </p14:xfrm>
          </p:contentPart>
        </mc:Choice>
        <mc:Fallback xmlns="">
          <p:pic>
            <p:nvPicPr>
              <p:cNvPr id="13" name="Tinta 12"/>
              <p:cNvPicPr>
                <a:picLocks noGrp="1" noRot="1" noChangeAspect="1" noMove="1" noResize="1" noEditPoints="1" noAdjustHandles="1" noChangeArrowheads="1" noChangeShapeType="1"/>
              </p:cNvPicPr>
              <p:nvPr/>
            </p:nvPicPr>
            <p:blipFill>
              <a:blip r:embed="rId10"/>
              <a:stretch>
                <a:fillRect/>
              </a:stretch>
            </p:blipFill>
            <p:spPr>
              <a:xfrm>
                <a:off x="4280933" y="3661134"/>
                <a:ext cx="3643253" cy="1750284"/>
              </a:xfrm>
              <a:prstGeom prst="rect">
                <a:avLst/>
              </a:prstGeom>
            </p:spPr>
          </p:pic>
        </mc:Fallback>
      </mc:AlternateContent>
    </p:spTree>
    <p:extLst>
      <p:ext uri="{BB962C8B-B14F-4D97-AF65-F5344CB8AC3E}">
        <p14:creationId xmlns:p14="http://schemas.microsoft.com/office/powerpoint/2010/main" val="1535760534"/>
      </p:ext>
    </p:extLst>
  </p:cSld>
  <p:clrMapOvr>
    <a:masterClrMapping/>
  </p:clrMapOvr>
  <mc:AlternateContent xmlns:mc="http://schemas.openxmlformats.org/markup-compatibility/2006">
    <mc:Choice xmlns:p14="http://schemas.microsoft.com/office/powerpoint/2010/main" Requires="p14">
      <p:transition spd="slow" p14:dur="1200" advTm="29544">
        <p14:prism/>
      </p:transition>
    </mc:Choice>
    <mc:Fallback>
      <p:transition spd="slow" advTm="2954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md type="call" cmd="playFrom(0.0)">
                                      <p:cBhvr>
                                        <p:cTn id="7"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err="1"/>
              <a:t>Multi-way</a:t>
            </a:r>
            <a:r>
              <a:rPr lang="pt-BR" dirty="0"/>
              <a:t> Multiplexadores</a:t>
            </a:r>
          </a:p>
        </p:txBody>
      </p:sp>
      <p:sp>
        <p:nvSpPr>
          <p:cNvPr id="3" name="Content Placeholder 2"/>
          <p:cNvSpPr>
            <a:spLocks noGrp="1"/>
          </p:cNvSpPr>
          <p:nvPr>
            <p:ph idx="1"/>
          </p:nvPr>
        </p:nvSpPr>
        <p:spPr/>
        <p:txBody>
          <a:bodyPr>
            <a:normAutofit/>
          </a:bodyPr>
          <a:lstStyle/>
          <a:p>
            <a:r>
              <a:rPr lang="pt-BR" sz="2000" dirty="0"/>
              <a:t>Os multiplexadores podem possuir </a:t>
            </a:r>
            <a:r>
              <a:rPr lang="pt-BR" sz="2000" b="1" dirty="0"/>
              <a:t>2</a:t>
            </a:r>
            <a:r>
              <a:rPr lang="pt-BR" sz="2000" b="1" baseline="30000" dirty="0"/>
              <a:t>n</a:t>
            </a:r>
            <a:r>
              <a:rPr lang="pt-BR" sz="2000" dirty="0"/>
              <a:t> entradas, para isso são necessários </a:t>
            </a:r>
            <a:r>
              <a:rPr lang="pt-BR" sz="2000" b="1" dirty="0" err="1"/>
              <a:t>n</a:t>
            </a:r>
            <a:r>
              <a:rPr lang="pt-BR" sz="2000" dirty="0"/>
              <a:t> bits de seleção.</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64</a:t>
            </a:fld>
            <a:endParaRPr lang="pt-BR" dirty="0"/>
          </a:p>
        </p:txBody>
      </p:sp>
      <p:pic>
        <p:nvPicPr>
          <p:cNvPr id="6" name="Picture 5"/>
          <p:cNvPicPr>
            <a:picLocks noChangeAspect="1"/>
          </p:cNvPicPr>
          <p:nvPr/>
        </p:nvPicPr>
        <p:blipFill>
          <a:blip r:embed="rId2"/>
          <a:stretch>
            <a:fillRect/>
          </a:stretch>
        </p:blipFill>
        <p:spPr>
          <a:xfrm>
            <a:off x="990713" y="2193645"/>
            <a:ext cx="6438787" cy="2255717"/>
          </a:xfrm>
          <a:prstGeom prst="rect">
            <a:avLst/>
          </a:prstGeom>
        </p:spPr>
      </p:pic>
      <p:pic>
        <p:nvPicPr>
          <p:cNvPr id="7" name="Picture 6"/>
          <p:cNvPicPr>
            <a:picLocks noChangeAspect="1"/>
          </p:cNvPicPr>
          <p:nvPr/>
        </p:nvPicPr>
        <p:blipFill>
          <a:blip r:embed="rId3"/>
          <a:stretch>
            <a:fillRect/>
          </a:stretch>
        </p:blipFill>
        <p:spPr>
          <a:xfrm>
            <a:off x="1101922" y="4355285"/>
            <a:ext cx="6896100" cy="2108200"/>
          </a:xfrm>
          <a:prstGeom prst="rect">
            <a:avLst/>
          </a:prstGeom>
        </p:spPr>
      </p:pic>
      <p:sp>
        <p:nvSpPr>
          <p:cNvPr id="8" name="Rectangle 7"/>
          <p:cNvSpPr/>
          <p:nvPr/>
        </p:nvSpPr>
        <p:spPr>
          <a:xfrm>
            <a:off x="6284890" y="3361386"/>
            <a:ext cx="1313645" cy="772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921341645"/>
      </p:ext>
    </p:extLst>
  </p:cSld>
  <p:clrMapOvr>
    <a:masterClrMapping/>
  </p:clrMapOvr>
  <mc:AlternateContent xmlns:mc="http://schemas.openxmlformats.org/markup-compatibility/2006">
    <mc:Choice xmlns:p14="http://schemas.microsoft.com/office/powerpoint/2010/main" Requires="p14">
      <p:transition spd="slow" p14:dur="1200" advTm="21680">
        <p14:prism/>
      </p:transition>
    </mc:Choice>
    <mc:Fallback>
      <p:transition spd="slow" advTm="2168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Nascendo o Vale do Silício</a:t>
            </a:r>
          </a:p>
        </p:txBody>
      </p:sp>
      <p:sp>
        <p:nvSpPr>
          <p:cNvPr id="3" name="Content Placeholder 2"/>
          <p:cNvSpPr>
            <a:spLocks noGrp="1"/>
          </p:cNvSpPr>
          <p:nvPr>
            <p:ph idx="1"/>
          </p:nvPr>
        </p:nvSpPr>
        <p:spPr>
          <a:xfrm>
            <a:off x="457201" y="1485900"/>
            <a:ext cx="8435280" cy="4724400"/>
          </a:xfrm>
        </p:spPr>
        <p:txBody>
          <a:bodyPr>
            <a:normAutofit/>
          </a:bodyPr>
          <a:lstStyle/>
          <a:p>
            <a:r>
              <a:rPr lang="pt-BR" sz="2100" dirty="0"/>
              <a:t>William Shockley fundou em 1956 a Shockley Semiconductor Laboratory em Mountain View, Califórnia, EUA. Ele contratou diversos alunos de Ph.D., sendo que 8 saíram da empresa para fundar a Fairchild Semiconductor, que posteriormente formaram empresas como a Intel e AMD.</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65</a:t>
            </a:fld>
            <a:endParaRPr lang="pt-BR" dirty="0"/>
          </a:p>
        </p:txBody>
      </p:sp>
      <p:pic>
        <p:nvPicPr>
          <p:cNvPr id="7" name="Picture 6"/>
          <p:cNvPicPr>
            <a:picLocks noChangeAspect="1"/>
          </p:cNvPicPr>
          <p:nvPr/>
        </p:nvPicPr>
        <p:blipFill>
          <a:blip r:embed="rId3"/>
          <a:stretch>
            <a:fillRect/>
          </a:stretch>
        </p:blipFill>
        <p:spPr>
          <a:xfrm>
            <a:off x="3180596" y="3345516"/>
            <a:ext cx="2316693" cy="574684"/>
          </a:xfrm>
          <a:prstGeom prst="rect">
            <a:avLst/>
          </a:prstGeom>
        </p:spPr>
      </p:pic>
      <p:pic>
        <p:nvPicPr>
          <p:cNvPr id="8" name="Picture 7" descr="images-11.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5722" y="4431697"/>
            <a:ext cx="2536313" cy="815472"/>
          </a:xfrm>
          <a:prstGeom prst="rect">
            <a:avLst/>
          </a:prstGeom>
        </p:spPr>
      </p:pic>
      <p:pic>
        <p:nvPicPr>
          <p:cNvPr id="10" name="Picture 9" descr="AMD_Logo-old.png"/>
          <p:cNvPicPr>
            <a:picLocks noChangeAspect="1"/>
          </p:cNvPicPr>
          <p:nvPr/>
        </p:nvPicPr>
        <p:blipFill rotWithShape="1">
          <a:blip r:embed="rId5">
            <a:extLst>
              <a:ext uri="{28A0092B-C50C-407E-A947-70E740481C1C}">
                <a14:useLocalDpi xmlns:a14="http://schemas.microsoft.com/office/drawing/2010/main" val="0"/>
              </a:ext>
            </a:extLst>
          </a:blip>
          <a:srcRect l="4784" t="34929" r="4003" b="36143"/>
          <a:stretch/>
        </p:blipFill>
        <p:spPr>
          <a:xfrm>
            <a:off x="4661190" y="5800503"/>
            <a:ext cx="2710304" cy="644681"/>
          </a:xfrm>
          <a:prstGeom prst="rect">
            <a:avLst/>
          </a:prstGeom>
        </p:spPr>
      </p:pic>
      <p:pic>
        <p:nvPicPr>
          <p:cNvPr id="11" name="Picture 10" descr="Intel_old_logo.svg.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23728" y="5781185"/>
            <a:ext cx="1738781" cy="907427"/>
          </a:xfrm>
          <a:prstGeom prst="rect">
            <a:avLst/>
          </a:prstGeom>
        </p:spPr>
      </p:pic>
      <p:cxnSp>
        <p:nvCxnSpPr>
          <p:cNvPr id="13" name="Straight Arrow Connector 12"/>
          <p:cNvCxnSpPr/>
          <p:nvPr/>
        </p:nvCxnSpPr>
        <p:spPr>
          <a:xfrm>
            <a:off x="4355976" y="4011208"/>
            <a:ext cx="4077" cy="355817"/>
          </a:xfrm>
          <a:prstGeom prst="straightConnector1">
            <a:avLst/>
          </a:prstGeom>
          <a:ln w="38100" cmpd="sng">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5093275" y="5303084"/>
            <a:ext cx="178586" cy="342840"/>
          </a:xfrm>
          <a:prstGeom prst="straightConnector1">
            <a:avLst/>
          </a:prstGeom>
          <a:ln w="38100" cmpd="sng">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H="1">
            <a:off x="3347154" y="5303084"/>
            <a:ext cx="131604" cy="384518"/>
          </a:xfrm>
          <a:prstGeom prst="straightConnector1">
            <a:avLst/>
          </a:prstGeom>
          <a:ln w="38100" cmpd="sng">
            <a:solidFill>
              <a:schemeClr val="tx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1485368"/>
      </p:ext>
    </p:extLst>
  </p:cSld>
  <p:clrMapOvr>
    <a:masterClrMapping/>
  </p:clrMapOvr>
  <mc:AlternateContent xmlns:mc="http://schemas.openxmlformats.org/markup-compatibility/2006">
    <mc:Choice xmlns:p14="http://schemas.microsoft.com/office/powerpoint/2010/main" Requires="p14">
      <p:transition spd="slow" p14:dur="1200" advTm="25084">
        <p14:prism/>
      </p:transition>
    </mc:Choice>
    <mc:Fallback>
      <p:transition spd="slow" advTm="2508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000"/>
                                        <p:tgtEl>
                                          <p:spTgt spid="7"/>
                                        </p:tgtEl>
                                        <p:attrNameLst>
                                          <p:attrName>ppt_y</p:attrName>
                                        </p:attrNameLst>
                                      </p:cBhvr>
                                      <p:tavLst>
                                        <p:tav tm="0">
                                          <p:val>
                                            <p:strVal val="#ppt_y-#ppt_h*1.125000"/>
                                          </p:val>
                                        </p:tav>
                                        <p:tav tm="100000">
                                          <p:val>
                                            <p:strVal val="#ppt_y"/>
                                          </p:val>
                                        </p:tav>
                                      </p:tavLst>
                                    </p:anim>
                                    <p:animEffect transition="in" filter="wipe(down)">
                                      <p:cBhvr>
                                        <p:cTn id="8" dur="2000"/>
                                        <p:tgtEl>
                                          <p:spTgt spid="7"/>
                                        </p:tgtEl>
                                      </p:cBhvr>
                                    </p:animEffect>
                                  </p:childTnLst>
                                </p:cTn>
                              </p:par>
                              <p:par>
                                <p:cTn id="9" presetID="12" presetClass="entr" presetSubtype="1" fill="hold" nodeType="withEffect">
                                  <p:stCondLst>
                                    <p:cond delay="10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2000"/>
                                        <p:tgtEl>
                                          <p:spTgt spid="13"/>
                                        </p:tgtEl>
                                        <p:attrNameLst>
                                          <p:attrName>ppt_y</p:attrName>
                                        </p:attrNameLst>
                                      </p:cBhvr>
                                      <p:tavLst>
                                        <p:tav tm="0">
                                          <p:val>
                                            <p:strVal val="#ppt_y-#ppt_h*1.125000"/>
                                          </p:val>
                                        </p:tav>
                                        <p:tav tm="100000">
                                          <p:val>
                                            <p:strVal val="#ppt_y"/>
                                          </p:val>
                                        </p:tav>
                                      </p:tavLst>
                                    </p:anim>
                                    <p:animEffect transition="in" filter="wipe(down)">
                                      <p:cBhvr>
                                        <p:cTn id="12" dur="2000"/>
                                        <p:tgtEl>
                                          <p:spTgt spid="13"/>
                                        </p:tgtEl>
                                      </p:cBhvr>
                                    </p:animEffect>
                                  </p:childTnLst>
                                </p:cTn>
                              </p:par>
                              <p:par>
                                <p:cTn id="13" presetID="12" presetClass="entr" presetSubtype="1" fill="hold" nodeType="withEffect">
                                  <p:stCondLst>
                                    <p:cond delay="20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p:tgtEl>
                                          <p:spTgt spid="8"/>
                                        </p:tgtEl>
                                        <p:attrNameLst>
                                          <p:attrName>ppt_y</p:attrName>
                                        </p:attrNameLst>
                                      </p:cBhvr>
                                      <p:tavLst>
                                        <p:tav tm="0">
                                          <p:val>
                                            <p:strVal val="#ppt_y-#ppt_h*1.125000"/>
                                          </p:val>
                                        </p:tav>
                                        <p:tav tm="100000">
                                          <p:val>
                                            <p:strVal val="#ppt_y"/>
                                          </p:val>
                                        </p:tav>
                                      </p:tavLst>
                                    </p:anim>
                                    <p:animEffect transition="in" filter="wipe(down)">
                                      <p:cBhvr>
                                        <p:cTn id="16" dur="2000"/>
                                        <p:tgtEl>
                                          <p:spTgt spid="8"/>
                                        </p:tgtEl>
                                      </p:cBhvr>
                                    </p:animEffect>
                                  </p:childTnLst>
                                </p:cTn>
                              </p:par>
                              <p:par>
                                <p:cTn id="17" presetID="12" presetClass="entr" presetSubtype="1" fill="hold" nodeType="withEffect">
                                  <p:stCondLst>
                                    <p:cond delay="400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2000"/>
                                        <p:tgtEl>
                                          <p:spTgt spid="16"/>
                                        </p:tgtEl>
                                        <p:attrNameLst>
                                          <p:attrName>ppt_y</p:attrName>
                                        </p:attrNameLst>
                                      </p:cBhvr>
                                      <p:tavLst>
                                        <p:tav tm="0">
                                          <p:val>
                                            <p:strVal val="#ppt_y-#ppt_h*1.125000"/>
                                          </p:val>
                                        </p:tav>
                                        <p:tav tm="100000">
                                          <p:val>
                                            <p:strVal val="#ppt_y"/>
                                          </p:val>
                                        </p:tav>
                                      </p:tavLst>
                                    </p:anim>
                                    <p:animEffect transition="in" filter="wipe(down)">
                                      <p:cBhvr>
                                        <p:cTn id="20" dur="2000"/>
                                        <p:tgtEl>
                                          <p:spTgt spid="16"/>
                                        </p:tgtEl>
                                      </p:cBhvr>
                                    </p:animEffect>
                                  </p:childTnLst>
                                </p:cTn>
                              </p:par>
                              <p:par>
                                <p:cTn id="21" presetID="12" presetClass="entr" presetSubtype="1" fill="hold" nodeType="withEffect">
                                  <p:stCondLst>
                                    <p:cond delay="400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2000"/>
                                        <p:tgtEl>
                                          <p:spTgt spid="14"/>
                                        </p:tgtEl>
                                        <p:attrNameLst>
                                          <p:attrName>ppt_y</p:attrName>
                                        </p:attrNameLst>
                                      </p:cBhvr>
                                      <p:tavLst>
                                        <p:tav tm="0">
                                          <p:val>
                                            <p:strVal val="#ppt_y-#ppt_h*1.125000"/>
                                          </p:val>
                                        </p:tav>
                                        <p:tav tm="100000">
                                          <p:val>
                                            <p:strVal val="#ppt_y"/>
                                          </p:val>
                                        </p:tav>
                                      </p:tavLst>
                                    </p:anim>
                                    <p:animEffect transition="in" filter="wipe(down)">
                                      <p:cBhvr>
                                        <p:cTn id="24" dur="2000"/>
                                        <p:tgtEl>
                                          <p:spTgt spid="14"/>
                                        </p:tgtEl>
                                      </p:cBhvr>
                                    </p:animEffect>
                                  </p:childTnLst>
                                </p:cTn>
                              </p:par>
                              <p:par>
                                <p:cTn id="25" presetID="12" presetClass="entr" presetSubtype="1" fill="hold" nodeType="withEffect">
                                  <p:stCondLst>
                                    <p:cond delay="500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2000"/>
                                        <p:tgtEl>
                                          <p:spTgt spid="11"/>
                                        </p:tgtEl>
                                        <p:attrNameLst>
                                          <p:attrName>ppt_y</p:attrName>
                                        </p:attrNameLst>
                                      </p:cBhvr>
                                      <p:tavLst>
                                        <p:tav tm="0">
                                          <p:val>
                                            <p:strVal val="#ppt_y-#ppt_h*1.125000"/>
                                          </p:val>
                                        </p:tav>
                                        <p:tav tm="100000">
                                          <p:val>
                                            <p:strVal val="#ppt_y"/>
                                          </p:val>
                                        </p:tav>
                                      </p:tavLst>
                                    </p:anim>
                                    <p:animEffect transition="in" filter="wipe(down)">
                                      <p:cBhvr>
                                        <p:cTn id="28" dur="2000"/>
                                        <p:tgtEl>
                                          <p:spTgt spid="11"/>
                                        </p:tgtEl>
                                      </p:cBhvr>
                                    </p:animEffect>
                                  </p:childTnLst>
                                </p:cTn>
                              </p:par>
                              <p:par>
                                <p:cTn id="29" presetID="12" presetClass="entr" presetSubtype="1" fill="hold" nodeType="withEffect">
                                  <p:stCondLst>
                                    <p:cond delay="500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2000"/>
                                        <p:tgtEl>
                                          <p:spTgt spid="10"/>
                                        </p:tgtEl>
                                        <p:attrNameLst>
                                          <p:attrName>ppt_y</p:attrName>
                                        </p:attrNameLst>
                                      </p:cBhvr>
                                      <p:tavLst>
                                        <p:tav tm="0">
                                          <p:val>
                                            <p:strVal val="#ppt_y-#ppt_h*1.125000"/>
                                          </p:val>
                                        </p:tav>
                                        <p:tav tm="100000">
                                          <p:val>
                                            <p:strVal val="#ppt_y"/>
                                          </p:val>
                                        </p:tav>
                                      </p:tavLst>
                                    </p:anim>
                                    <p:animEffect transition="in" filter="wipe(down)">
                                      <p:cBhvr>
                                        <p:cTn id="3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Primeiro Circuito Integrado</a:t>
            </a:r>
          </a:p>
        </p:txBody>
      </p:sp>
      <p:sp>
        <p:nvSpPr>
          <p:cNvPr id="3" name="Content Placeholder 2"/>
          <p:cNvSpPr>
            <a:spLocks noGrp="1"/>
          </p:cNvSpPr>
          <p:nvPr>
            <p:ph idx="1"/>
          </p:nvPr>
        </p:nvSpPr>
        <p:spPr>
          <a:xfrm>
            <a:off x="457201" y="1485900"/>
            <a:ext cx="4763068" cy="4724400"/>
          </a:xfrm>
        </p:spPr>
        <p:txBody>
          <a:bodyPr>
            <a:normAutofit/>
          </a:bodyPr>
          <a:lstStyle/>
          <a:p>
            <a:r>
              <a:rPr lang="pt-BR" sz="2000" dirty="0"/>
              <a:t>Em 1958 Jack Kilby, na Texas Instruments, desenvolveu o primeiro circuito integrado do mundo, gerando um sinal senoidal. Kilby foi agraciado com o Prêmio Nobel de Física em 2000 por seu trabalho.</a:t>
            </a:r>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66</a:t>
            </a:fld>
            <a:endParaRPr lang="pt-BR" dirty="0"/>
          </a:p>
        </p:txBody>
      </p:sp>
      <p:pic>
        <p:nvPicPr>
          <p:cNvPr id="6" name="Picture 5" descr="FisrtIntegratedCircuit.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434" y="3838327"/>
            <a:ext cx="3731577" cy="2272870"/>
          </a:xfrm>
          <a:prstGeom prst="rect">
            <a:avLst/>
          </a:prstGeom>
        </p:spPr>
      </p:pic>
      <p:pic>
        <p:nvPicPr>
          <p:cNvPr id="9" name="Picture 8" descr="Macintosh HD:Users:lpsoares:Desktop:Kilby001.jpg"/>
          <p:cNvPicPr/>
          <p:nvPr/>
        </p:nvPicPr>
        <p:blipFill>
          <a:blip r:embed="rId4">
            <a:extLst>
              <a:ext uri="{28A0092B-C50C-407E-A947-70E740481C1C}">
                <a14:useLocalDpi xmlns:a14="http://schemas.microsoft.com/office/drawing/2010/main" val="0"/>
              </a:ext>
            </a:extLst>
          </a:blip>
          <a:srcRect/>
          <a:stretch>
            <a:fillRect/>
          </a:stretch>
        </p:blipFill>
        <p:spPr bwMode="auto">
          <a:xfrm>
            <a:off x="5220268" y="1649849"/>
            <a:ext cx="3466532" cy="4360312"/>
          </a:xfrm>
          <a:prstGeom prst="rect">
            <a:avLst/>
          </a:prstGeom>
          <a:noFill/>
          <a:ln>
            <a:noFill/>
          </a:ln>
        </p:spPr>
      </p:pic>
    </p:spTree>
    <p:extLst>
      <p:ext uri="{BB962C8B-B14F-4D97-AF65-F5344CB8AC3E}">
        <p14:creationId xmlns:p14="http://schemas.microsoft.com/office/powerpoint/2010/main" val="1817468961"/>
      </p:ext>
    </p:extLst>
  </p:cSld>
  <p:clrMapOvr>
    <a:masterClrMapping/>
  </p:clrMapOvr>
  <mc:AlternateContent xmlns:mc="http://schemas.openxmlformats.org/markup-compatibility/2006">
    <mc:Choice xmlns:p14="http://schemas.microsoft.com/office/powerpoint/2010/main" Requires="p14">
      <p:transition spd="slow" p14:dur="1200" advTm="29927">
        <p14:prism/>
      </p:transition>
    </mc:Choice>
    <mc:Fallback>
      <p:transition spd="slow" advTm="2992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0" fill="hold"/>
                                        <p:tgtEl>
                                          <p:spTgt spid="9"/>
                                        </p:tgtEl>
                                        <p:attrNameLst>
                                          <p:attrName>ppt_w</p:attrName>
                                        </p:attrNameLst>
                                      </p:cBhvr>
                                      <p:tavLst>
                                        <p:tav tm="0">
                                          <p:val>
                                            <p:strVal val="2/3*#ppt_w"/>
                                          </p:val>
                                        </p:tav>
                                        <p:tav tm="100000">
                                          <p:val>
                                            <p:strVal val="#ppt_w"/>
                                          </p:val>
                                        </p:tav>
                                      </p:tavLst>
                                    </p:anim>
                                    <p:anim calcmode="lin" valueType="num">
                                      <p:cBhvr>
                                        <p:cTn id="8" dur="5000" fill="hold"/>
                                        <p:tgtEl>
                                          <p:spTgt spid="9"/>
                                        </p:tgtEl>
                                        <p:attrNameLst>
                                          <p:attrName>ppt_h</p:attrName>
                                        </p:attrNameLst>
                                      </p:cBhvr>
                                      <p:tavLst>
                                        <p:tav tm="0">
                                          <p:val>
                                            <p:strVal val="2/3*#ppt_h"/>
                                          </p:val>
                                        </p:tav>
                                        <p:tav tm="100000">
                                          <p:val>
                                            <p:strVal val="#ppt_h"/>
                                          </p:val>
                                        </p:tav>
                                      </p:tavLst>
                                    </p:anim>
                                  </p:childTnLst>
                                </p:cTn>
                              </p:par>
                              <p:par>
                                <p:cTn id="9" presetID="23" presetClass="entr" presetSubtype="28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0" fill="hold"/>
                                        <p:tgtEl>
                                          <p:spTgt spid="6"/>
                                        </p:tgtEl>
                                        <p:attrNameLst>
                                          <p:attrName>ppt_w</p:attrName>
                                        </p:attrNameLst>
                                      </p:cBhvr>
                                      <p:tavLst>
                                        <p:tav tm="0">
                                          <p:val>
                                            <p:strVal val="4/3*#ppt_w"/>
                                          </p:val>
                                        </p:tav>
                                        <p:tav tm="100000">
                                          <p:val>
                                            <p:strVal val="#ppt_w"/>
                                          </p:val>
                                        </p:tav>
                                      </p:tavLst>
                                    </p:anim>
                                    <p:anim calcmode="lin" valueType="num">
                                      <p:cBhvr>
                                        <p:cTn id="12" dur="5000" fill="hold"/>
                                        <p:tgtEl>
                                          <p:spTgt spid="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Evolução dos Circuitos Integrados</a:t>
            </a:r>
          </a:p>
        </p:txBody>
      </p:sp>
      <p:graphicFrame>
        <p:nvGraphicFramePr>
          <p:cNvPr id="9" name="Content Placeholder 8"/>
          <p:cNvGraphicFramePr>
            <a:graphicFrameLocks noGrp="1"/>
          </p:cNvGraphicFramePr>
          <p:nvPr>
            <p:ph idx="1"/>
          </p:nvPr>
        </p:nvGraphicFramePr>
        <p:xfrm>
          <a:off x="7855043" y="3898478"/>
          <a:ext cx="975936" cy="350520"/>
        </p:xfrm>
        <a:graphic>
          <a:graphicData uri="http://schemas.openxmlformats.org/drawingml/2006/table">
            <a:tbl>
              <a:tblPr/>
              <a:tblGrid>
                <a:gridCol w="975936">
                  <a:extLst>
                    <a:ext uri="{9D8B030D-6E8A-4147-A177-3AD203B41FA5}">
                      <a16:colId xmlns:a16="http://schemas.microsoft.com/office/drawing/2014/main" val="20000"/>
                    </a:ext>
                  </a:extLst>
                </a:gridCol>
              </a:tblGrid>
              <a:tr h="303853">
                <a:tc>
                  <a:txBody>
                    <a:bodyPr/>
                    <a:lstStyle/>
                    <a:p>
                      <a:pPr algn="ctr" fontAlgn="t"/>
                      <a:r>
                        <a:rPr lang="nb-NO" sz="900" b="1" dirty="0">
                          <a:effectLst/>
                        </a:rPr>
                        <a:t>15.300.000.000</a:t>
                      </a:r>
                    </a:p>
                    <a:p>
                      <a:pPr algn="ctr" fontAlgn="t"/>
                      <a:r>
                        <a:rPr lang="pt-BR" sz="900" b="1" noProof="0" dirty="0">
                          <a:effectLst/>
                        </a:rPr>
                        <a:t>Transistores</a:t>
                      </a:r>
                    </a:p>
                  </a:txBody>
                  <a:tcPr marR="63500" marT="38100" marB="38100">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67</a:t>
            </a:fld>
            <a:endParaRPr lang="pt-BR" dirty="0"/>
          </a:p>
        </p:txBody>
      </p:sp>
      <p:pic>
        <p:nvPicPr>
          <p:cNvPr id="6" name="Picture 5"/>
          <p:cNvPicPr>
            <a:picLocks noChangeAspect="1"/>
          </p:cNvPicPr>
          <p:nvPr/>
        </p:nvPicPr>
        <p:blipFill>
          <a:blip r:embed="rId3"/>
          <a:stretch>
            <a:fillRect/>
          </a:stretch>
        </p:blipFill>
        <p:spPr>
          <a:xfrm>
            <a:off x="0" y="2469012"/>
            <a:ext cx="7855041" cy="1902330"/>
          </a:xfrm>
          <a:prstGeom prst="rect">
            <a:avLst/>
          </a:prstGeom>
        </p:spPr>
      </p:pic>
      <p:sp>
        <p:nvSpPr>
          <p:cNvPr id="7" name="Rectangle 6"/>
          <p:cNvSpPr/>
          <p:nvPr/>
        </p:nvSpPr>
        <p:spPr>
          <a:xfrm>
            <a:off x="309093" y="5202583"/>
            <a:ext cx="8377707" cy="646331"/>
          </a:xfrm>
          <a:prstGeom prst="rect">
            <a:avLst/>
          </a:prstGeom>
        </p:spPr>
        <p:txBody>
          <a:bodyPr wrap="square">
            <a:spAutoFit/>
          </a:bodyPr>
          <a:lstStyle/>
          <a:p>
            <a:r>
              <a:rPr lang="pt-BR" dirty="0"/>
              <a:t>Lei de Moore "A densidade do transistor nos circuitos integrados duplica a cada dois anos." Fonte: "</a:t>
            </a:r>
            <a:r>
              <a:rPr lang="en-US" dirty="0"/>
              <a:t>Moore’s Law: Raising the Bar</a:t>
            </a:r>
            <a:r>
              <a:rPr lang="pt-BR" dirty="0"/>
              <a:t>" (Intel Corporation 2005)</a:t>
            </a:r>
          </a:p>
        </p:txBody>
      </p:sp>
      <p:sp>
        <p:nvSpPr>
          <p:cNvPr id="8" name="Rectangle 7"/>
          <p:cNvSpPr/>
          <p:nvPr/>
        </p:nvSpPr>
        <p:spPr>
          <a:xfrm>
            <a:off x="309092" y="4359237"/>
            <a:ext cx="8654603" cy="276999"/>
          </a:xfrm>
          <a:prstGeom prst="rect">
            <a:avLst/>
          </a:prstGeom>
        </p:spPr>
        <p:txBody>
          <a:bodyPr wrap="square">
            <a:spAutoFit/>
          </a:bodyPr>
          <a:lstStyle/>
          <a:p>
            <a:r>
              <a:rPr lang="pt-BR" sz="1200" noProof="1"/>
              <a:t>Fotos: Computer History Museum, Fairchild Camera and Instrument Corporation, Intel Corporation, Nvidia Corporation</a:t>
            </a:r>
          </a:p>
        </p:txBody>
      </p:sp>
      <p:pic>
        <p:nvPicPr>
          <p:cNvPr id="10" name="Picture 9"/>
          <p:cNvPicPr>
            <a:picLocks noChangeAspect="1"/>
          </p:cNvPicPr>
          <p:nvPr/>
        </p:nvPicPr>
        <p:blipFill>
          <a:blip r:embed="rId4"/>
          <a:stretch>
            <a:fillRect/>
          </a:stretch>
        </p:blipFill>
        <p:spPr>
          <a:xfrm>
            <a:off x="7855042" y="3099441"/>
            <a:ext cx="975936" cy="807522"/>
          </a:xfrm>
          <a:prstGeom prst="rect">
            <a:avLst/>
          </a:prstGeom>
        </p:spPr>
      </p:pic>
      <p:sp>
        <p:nvSpPr>
          <p:cNvPr id="11" name="Rectangle 10"/>
          <p:cNvSpPr/>
          <p:nvPr/>
        </p:nvSpPr>
        <p:spPr>
          <a:xfrm>
            <a:off x="8071140" y="2586989"/>
            <a:ext cx="543739" cy="530915"/>
          </a:xfrm>
          <a:prstGeom prst="rect">
            <a:avLst/>
          </a:prstGeom>
        </p:spPr>
        <p:txBody>
          <a:bodyPr wrap="none">
            <a:spAutoFit/>
          </a:bodyPr>
          <a:lstStyle/>
          <a:p>
            <a:pPr algn="ctr"/>
            <a:r>
              <a:rPr lang="is-IS" sz="1050" b="1" dirty="0">
                <a:solidFill>
                  <a:srgbClr val="444444"/>
                </a:solidFill>
                <a:latin typeface="Arial" charset="0"/>
                <a:ea typeface="Arial" charset="0"/>
                <a:cs typeface="Arial" charset="0"/>
              </a:rPr>
              <a:t>2016</a:t>
            </a:r>
            <a:endParaRPr lang="is-IS" sz="900" b="1" dirty="0">
              <a:solidFill>
                <a:srgbClr val="444444"/>
              </a:solidFill>
              <a:latin typeface="Arial" charset="0"/>
              <a:ea typeface="Arial" charset="0"/>
              <a:cs typeface="Arial" charset="0"/>
            </a:endParaRPr>
          </a:p>
          <a:p>
            <a:pPr algn="ctr"/>
            <a:r>
              <a:rPr lang="is-IS" sz="900" dirty="0">
                <a:solidFill>
                  <a:srgbClr val="444444"/>
                </a:solidFill>
                <a:latin typeface="Arial" charset="0"/>
                <a:ea typeface="Arial" charset="0"/>
                <a:cs typeface="Arial" charset="0"/>
              </a:rPr>
              <a:t>GP100</a:t>
            </a:r>
          </a:p>
          <a:p>
            <a:pPr algn="ctr"/>
            <a:r>
              <a:rPr lang="is-IS" sz="900" dirty="0">
                <a:solidFill>
                  <a:srgbClr val="444444"/>
                </a:solidFill>
                <a:latin typeface="Arial" charset="0"/>
                <a:ea typeface="Arial" charset="0"/>
                <a:cs typeface="Arial" charset="0"/>
              </a:rPr>
              <a:t>GPU</a:t>
            </a:r>
            <a:endParaRPr lang="pt-BR" sz="900" dirty="0">
              <a:latin typeface="Arial" charset="0"/>
              <a:ea typeface="Arial" charset="0"/>
              <a:cs typeface="Arial" charset="0"/>
            </a:endParaRPr>
          </a:p>
        </p:txBody>
      </p:sp>
    </p:spTree>
    <p:extLst>
      <p:ext uri="{BB962C8B-B14F-4D97-AF65-F5344CB8AC3E}">
        <p14:creationId xmlns:p14="http://schemas.microsoft.com/office/powerpoint/2010/main" val="2109164527"/>
      </p:ext>
    </p:extLst>
  </p:cSld>
  <p:clrMapOvr>
    <a:masterClrMapping/>
  </p:clrMapOvr>
  <mc:AlternateContent xmlns:mc="http://schemas.openxmlformats.org/markup-compatibility/2006">
    <mc:Choice xmlns:p14="http://schemas.microsoft.com/office/powerpoint/2010/main" Requires="p14">
      <p:transition spd="slow" p14:dur="1200" advTm="29416">
        <p14:prism/>
      </p:transition>
    </mc:Choice>
    <mc:Fallback>
      <p:transition spd="slow" advTm="29416">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Circuitos Integrados</a:t>
            </a:r>
            <a:br>
              <a:rPr lang="pt-BR" dirty="0"/>
            </a:br>
            <a:endParaRPr lang="pt-BR" dirty="0"/>
          </a:p>
        </p:txBody>
      </p:sp>
      <p:sp>
        <p:nvSpPr>
          <p:cNvPr id="3" name="Content Placeholder 2"/>
          <p:cNvSpPr>
            <a:spLocks noGrp="1"/>
          </p:cNvSpPr>
          <p:nvPr>
            <p:ph idx="1"/>
          </p:nvPr>
        </p:nvSpPr>
        <p:spPr/>
        <p:txBody>
          <a:bodyPr/>
          <a:lstStyle/>
          <a:p>
            <a:r>
              <a:rPr lang="pt-BR"/>
              <a:t>O chip 7400 consiste de 4 (</a:t>
            </a:r>
            <a:r>
              <a:rPr lang="pt-BR" dirty="0" err="1"/>
              <a:t>quad</a:t>
            </a:r>
            <a:r>
              <a:rPr lang="pt-BR" dirty="0"/>
              <a:t>) portas NAND de duas entradas: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68</a:t>
            </a:fld>
            <a:endParaRPr lang="pt-BR" dirty="0"/>
          </a:p>
        </p:txBody>
      </p:sp>
      <p:pic>
        <p:nvPicPr>
          <p:cNvPr id="10" name="Picture 9" descr="7400_Quad_2-input_NAND_Gates.PNG"/>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4835947" y="2278362"/>
            <a:ext cx="3850853" cy="2591811"/>
          </a:xfrm>
          <a:prstGeom prst="rect">
            <a:avLst/>
          </a:prstGeom>
        </p:spPr>
      </p:pic>
      <p:pic>
        <p:nvPicPr>
          <p:cNvPr id="13" name="Picture 12" descr="Conrad-SN-7400-N.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563657" y="2278362"/>
            <a:ext cx="2658089" cy="2658089"/>
          </a:xfrm>
          <a:prstGeom prst="rect">
            <a:avLst/>
          </a:prstGeom>
        </p:spPr>
      </p:pic>
      <mc:AlternateContent xmlns:mc="http://schemas.openxmlformats.org/markup-compatibility/2006" xmlns:p14="http://schemas.microsoft.com/office/powerpoint/2010/main" xmlns:iact="http://schemas.microsoft.com/office/powerpoint/2014/inkAction">
        <mc:Choice Requires="p14 iact">
          <p:contentPart p14:bwMode="auto" r:id="rId6">
            <p14:nvContentPartPr>
              <p14:cNvPr id="8" name="Tinta 7"/>
              <p14:cNvContentPartPr/>
              <p14:nvPr>
                <p:custDataLst>
                  <p:tags r:id="rId1"/>
                </p:custDataLst>
                <p:extLst>
                  <p:ext uri="{42D2F446-02D8-4167-A562-619A0277C38B}">
                    <p15:isNarration xmlns:p15="http://schemas.microsoft.com/office/powerpoint/2012/main" val="1"/>
                  </p:ext>
                </p:extLst>
              </p14:nvPr>
            </p14:nvContentPartPr>
            <p14:xfrm>
              <a:off x="5418175" y="1985982"/>
              <a:ext cx="2781258" cy="3477678"/>
            </p14:xfrm>
          </p:contentPart>
        </mc:Choice>
        <mc:Fallback xmlns="">
          <p:pic>
            <p:nvPicPr>
              <p:cNvPr id="8" name="Tinta 7"/>
              <p:cNvPicPr>
                <a:picLocks noGrp="1" noRot="1" noChangeAspect="1" noMove="1" noResize="1" noEditPoints="1" noAdjustHandles="1" noChangeArrowheads="1" noChangeShapeType="1"/>
              </p:cNvPicPr>
              <p:nvPr/>
            </p:nvPicPr>
            <p:blipFill>
              <a:blip r:embed="rId12"/>
              <a:stretch>
                <a:fillRect/>
              </a:stretch>
            </p:blipFill>
            <p:spPr>
              <a:xfrm>
                <a:off x="5373751" y="1941559"/>
                <a:ext cx="2870106" cy="3564937"/>
              </a:xfrm>
              <a:prstGeom prst="rect">
                <a:avLst/>
              </a:prstGeom>
            </p:spPr>
          </p:pic>
        </mc:Fallback>
      </mc:AlternateContent>
    </p:spTree>
    <p:extLst>
      <p:ext uri="{BB962C8B-B14F-4D97-AF65-F5344CB8AC3E}">
        <p14:creationId xmlns:p14="http://schemas.microsoft.com/office/powerpoint/2010/main" val="1935352225"/>
      </p:ext>
    </p:extLst>
  </p:cSld>
  <p:clrMapOvr>
    <a:masterClrMapping/>
  </p:clrMapOvr>
  <mc:AlternateContent xmlns:mc="http://schemas.openxmlformats.org/markup-compatibility/2006">
    <mc:Choice xmlns:p14="http://schemas.microsoft.com/office/powerpoint/2010/main" Requires="p14">
      <p:transition spd="slow" p14:dur="1200" advTm="34399">
        <p14:prism/>
      </p:transition>
    </mc:Choice>
    <mc:Fallback>
      <p:transition spd="slow" advTm="3439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md type="call" cmd="playFrom(0.0)">
                                      <p:cBhvr>
                                        <p:cTn id="7"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Famílias Lógicas Mais Comuns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69</a:t>
            </a:fld>
            <a:endParaRPr lang="pt-BR" dirty="0"/>
          </a:p>
        </p:txBody>
      </p:sp>
      <p:graphicFrame>
        <p:nvGraphicFramePr>
          <p:cNvPr id="7" name="Table 6"/>
          <p:cNvGraphicFramePr>
            <a:graphicFrameLocks noGrp="1"/>
          </p:cNvGraphicFramePr>
          <p:nvPr/>
        </p:nvGraphicFramePr>
        <p:xfrm>
          <a:off x="630989" y="1464009"/>
          <a:ext cx="7753684" cy="4815840"/>
        </p:xfrm>
        <a:graphic>
          <a:graphicData uri="http://schemas.openxmlformats.org/drawingml/2006/table">
            <a:tbl>
              <a:tblPr firstRow="1" bandRow="1">
                <a:tableStyleId>{5C22544A-7EE6-4342-B048-85BDC9FD1C3A}</a:tableStyleId>
              </a:tblPr>
              <a:tblGrid>
                <a:gridCol w="1735222">
                  <a:extLst>
                    <a:ext uri="{9D8B030D-6E8A-4147-A177-3AD203B41FA5}">
                      <a16:colId xmlns:a16="http://schemas.microsoft.com/office/drawing/2014/main" val="20000"/>
                    </a:ext>
                  </a:extLst>
                </a:gridCol>
                <a:gridCol w="2727157">
                  <a:extLst>
                    <a:ext uri="{9D8B030D-6E8A-4147-A177-3AD203B41FA5}">
                      <a16:colId xmlns:a16="http://schemas.microsoft.com/office/drawing/2014/main" val="20001"/>
                    </a:ext>
                  </a:extLst>
                </a:gridCol>
                <a:gridCol w="1684421">
                  <a:extLst>
                    <a:ext uri="{9D8B030D-6E8A-4147-A177-3AD203B41FA5}">
                      <a16:colId xmlns:a16="http://schemas.microsoft.com/office/drawing/2014/main" val="20002"/>
                    </a:ext>
                  </a:extLst>
                </a:gridCol>
                <a:gridCol w="1606884">
                  <a:extLst>
                    <a:ext uri="{9D8B030D-6E8A-4147-A177-3AD203B41FA5}">
                      <a16:colId xmlns:a16="http://schemas.microsoft.com/office/drawing/2014/main" val="20003"/>
                    </a:ext>
                  </a:extLst>
                </a:gridCol>
              </a:tblGrid>
              <a:tr h="370840">
                <a:tc>
                  <a:txBody>
                    <a:bodyPr/>
                    <a:lstStyle/>
                    <a:p>
                      <a:pPr algn="ctr"/>
                      <a:r>
                        <a:rPr lang="pt-BR" dirty="0"/>
                        <a:t>Família</a:t>
                      </a:r>
                    </a:p>
                  </a:txBody>
                  <a:tcPr/>
                </a:tc>
                <a:tc>
                  <a:txBody>
                    <a:bodyPr/>
                    <a:lstStyle/>
                    <a:p>
                      <a:pPr algn="ctr"/>
                      <a:r>
                        <a:rPr lang="pt-BR" dirty="0"/>
                        <a:t>Tecnologia de Transistor</a:t>
                      </a:r>
                    </a:p>
                  </a:txBody>
                  <a:tcPr/>
                </a:tc>
                <a:tc>
                  <a:txBody>
                    <a:bodyPr/>
                    <a:lstStyle/>
                    <a:p>
                      <a:pPr algn="ctr"/>
                      <a:r>
                        <a:rPr lang="pt-BR" dirty="0"/>
                        <a:t>Semicondutor</a:t>
                      </a:r>
                    </a:p>
                  </a:txBody>
                  <a:tcPr/>
                </a:tc>
                <a:tc>
                  <a:txBody>
                    <a:bodyPr/>
                    <a:lstStyle/>
                    <a:p>
                      <a:pPr algn="ctr"/>
                      <a:r>
                        <a:rPr lang="pt-BR" dirty="0"/>
                        <a:t>Dissipação por porta lógica</a:t>
                      </a:r>
                    </a:p>
                  </a:txBody>
                  <a:tcPr/>
                </a:tc>
                <a:extLst>
                  <a:ext uri="{0D108BD9-81ED-4DB2-BD59-A6C34878D82A}">
                    <a16:rowId xmlns:a16="http://schemas.microsoft.com/office/drawing/2014/main" val="10000"/>
                  </a:ext>
                </a:extLst>
              </a:tr>
              <a:tr h="370840">
                <a:tc>
                  <a:txBody>
                    <a:bodyPr/>
                    <a:lstStyle/>
                    <a:p>
                      <a:r>
                        <a:rPr lang="pt-BR" dirty="0"/>
                        <a:t>TTL </a:t>
                      </a:r>
                      <a:r>
                        <a:rPr lang="pt-BR" sz="1400" dirty="0"/>
                        <a:t>(Transistor–Transistor </a:t>
                      </a:r>
                      <a:r>
                        <a:rPr lang="pt-BR" sz="1400" dirty="0" err="1"/>
                        <a:t>Logic</a:t>
                      </a:r>
                      <a:r>
                        <a:rPr lang="pt-BR" sz="1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BJT</a:t>
                      </a:r>
                      <a:r>
                        <a:rPr lang="pt-BR" sz="1400" dirty="0"/>
                        <a:t> (transistores de junção bipolar)</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Si</a:t>
                      </a:r>
                      <a:r>
                        <a:rPr lang="pt-BR" sz="1400" dirty="0"/>
                        <a:t> (Silício)</a:t>
                      </a:r>
                      <a:endParaRPr lang="pt-BR" dirty="0"/>
                    </a:p>
                  </a:txBody>
                  <a:tcPr/>
                </a:tc>
                <a:tc>
                  <a:txBody>
                    <a:bodyPr/>
                    <a:lstStyle/>
                    <a:p>
                      <a:r>
                        <a:rPr lang="pt-BR" dirty="0"/>
                        <a:t>1</a:t>
                      </a:r>
                      <a:r>
                        <a:rPr lang="pt-BR" baseline="0" dirty="0"/>
                        <a:t> - 22 mW</a:t>
                      </a:r>
                      <a:endParaRPr lang="pt-BR"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CMOS </a:t>
                      </a:r>
                      <a:r>
                        <a:rPr lang="pt-BR" sz="1400" dirty="0"/>
                        <a:t>(</a:t>
                      </a:r>
                      <a:r>
                        <a:rPr lang="pt-BR" sz="1400" dirty="0" err="1"/>
                        <a:t>Complementary</a:t>
                      </a:r>
                      <a:r>
                        <a:rPr lang="pt-BR" sz="1400" dirty="0"/>
                        <a:t> Metal Oxide Semiconductor)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mn-lt"/>
                          <a:ea typeface="+mn-ea"/>
                          <a:cs typeface="+mn-cs"/>
                        </a:rPr>
                        <a:t>MOSFET</a:t>
                      </a:r>
                      <a:br>
                        <a:rPr kumimoji="0" lang="pt-BR" sz="1800" b="0" i="0" u="none" strike="noStrike" kern="1200" cap="none" spc="0" normalizeH="0" baseline="0" noProof="0" dirty="0">
                          <a:ln>
                            <a:noFill/>
                          </a:ln>
                          <a:solidFill>
                            <a:prstClr val="black"/>
                          </a:solidFill>
                          <a:effectLst/>
                          <a:uLnTx/>
                          <a:uFillTx/>
                          <a:latin typeface="+mn-lt"/>
                          <a:ea typeface="+mn-ea"/>
                          <a:cs typeface="+mn-cs"/>
                        </a:rPr>
                      </a:br>
                      <a:r>
                        <a:rPr kumimoji="0" lang="pt-BR" sz="1400" b="0" i="0" u="none" strike="noStrike" kern="1200" cap="none" spc="0" normalizeH="0" baseline="0" noProof="0" dirty="0">
                          <a:ln>
                            <a:noFill/>
                          </a:ln>
                          <a:solidFill>
                            <a:prstClr val="black"/>
                          </a:solidFill>
                          <a:effectLst/>
                          <a:uLnTx/>
                          <a:uFillTx/>
                          <a:latin typeface="+mn-lt"/>
                          <a:ea typeface="+mn-ea"/>
                          <a:cs typeface="+mn-cs"/>
                        </a:rPr>
                        <a:t>(transistor de efeito de campo metal - óxido – semicondutor)</a:t>
                      </a:r>
                      <a:endParaRPr kumimoji="0" lang="pt-BR"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a:t>Si</a:t>
                      </a:r>
                      <a:r>
                        <a:rPr lang="pt-BR" sz="1400"/>
                        <a:t> (Silício)</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5</a:t>
                      </a:r>
                      <a:r>
                        <a:rPr lang="el-GR" dirty="0"/>
                        <a:t>μ</a:t>
                      </a:r>
                      <a:r>
                        <a:rPr lang="pt-BR" dirty="0"/>
                        <a:t>W – 1 mW</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NMOS </a:t>
                      </a:r>
                      <a:r>
                        <a:rPr lang="pt-BR" sz="1400" dirty="0"/>
                        <a:t>(N-</a:t>
                      </a:r>
                      <a:r>
                        <a:rPr lang="pt-BR" sz="1400" dirty="0" err="1"/>
                        <a:t>type</a:t>
                      </a:r>
                      <a:r>
                        <a:rPr lang="pt-BR" sz="1400" dirty="0"/>
                        <a:t> metal-oxide-</a:t>
                      </a:r>
                      <a:r>
                        <a:rPr lang="pt-BR" sz="1400" dirty="0" err="1"/>
                        <a:t>semiconductor</a:t>
                      </a:r>
                      <a:r>
                        <a:rPr lang="pt-BR" sz="1400" dirty="0"/>
                        <a:t> </a:t>
                      </a:r>
                      <a:r>
                        <a:rPr lang="pt-BR" sz="1400" dirty="0" err="1"/>
                        <a:t>logic</a:t>
                      </a:r>
                      <a:r>
                        <a:rPr lang="pt-BR" sz="1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MOSFET</a:t>
                      </a:r>
                      <a:br>
                        <a:rPr lang="pt-BR" dirty="0"/>
                      </a:br>
                      <a:r>
                        <a:rPr lang="pt-BR" sz="1400" dirty="0"/>
                        <a:t>(transistor de efeito de campo metal - óxido – semicondutor)</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a:t>Si</a:t>
                      </a:r>
                      <a:r>
                        <a:rPr lang="pt-BR" sz="1400"/>
                        <a:t> (Silício)</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~0.25 mW</a:t>
                      </a:r>
                    </a:p>
                  </a:txBody>
                  <a:tcPr/>
                </a:tc>
                <a:extLst>
                  <a:ext uri="{0D108BD9-81ED-4DB2-BD59-A6C34878D82A}">
                    <a16:rowId xmlns:a16="http://schemas.microsoft.com/office/drawing/2014/main" val="10003"/>
                  </a:ext>
                </a:extLst>
              </a:tr>
              <a:tr h="370840">
                <a:tc>
                  <a:txBody>
                    <a:bodyPr/>
                    <a:lstStyle/>
                    <a:p>
                      <a:r>
                        <a:rPr lang="pt-BR" dirty="0" err="1"/>
                        <a:t>BiCMOS</a:t>
                      </a:r>
                      <a:r>
                        <a:rPr lang="pt-BR" dirty="0"/>
                        <a:t> </a:t>
                      </a:r>
                      <a:r>
                        <a:rPr lang="pt-BR" sz="1400" dirty="0"/>
                        <a:t>(</a:t>
                      </a:r>
                      <a:r>
                        <a:rPr lang="pt-BR" sz="1400" dirty="0" err="1"/>
                        <a:t>BIpolarCMOS</a:t>
                      </a:r>
                      <a:r>
                        <a:rPr lang="pt-BR" sz="1400" dirty="0"/>
                        <a:t>)</a:t>
                      </a:r>
                    </a:p>
                  </a:txBody>
                  <a:tcPr/>
                </a:tc>
                <a:tc>
                  <a:txBody>
                    <a:bodyPr/>
                    <a:lstStyle/>
                    <a:p>
                      <a:r>
                        <a:rPr lang="pt-BR" dirty="0"/>
                        <a:t>BJT/FET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a:t>Si</a:t>
                      </a:r>
                      <a:r>
                        <a:rPr lang="pt-BR" sz="1400"/>
                        <a:t> (Silício)</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Depende</a:t>
                      </a:r>
                      <a:r>
                        <a:rPr lang="pt-BR" baseline="0" dirty="0"/>
                        <a:t> da porta</a:t>
                      </a:r>
                      <a:endParaRPr lang="pt-BR" dirty="0"/>
                    </a:p>
                  </a:txBody>
                  <a:tcPr/>
                </a:tc>
                <a:extLst>
                  <a:ext uri="{0D108BD9-81ED-4DB2-BD59-A6C34878D82A}">
                    <a16:rowId xmlns:a16="http://schemas.microsoft.com/office/drawing/2014/main" val="10004"/>
                  </a:ext>
                </a:extLst>
              </a:tr>
              <a:tr h="370840">
                <a:tc>
                  <a:txBody>
                    <a:bodyPr/>
                    <a:lstStyle/>
                    <a:p>
                      <a:r>
                        <a:rPr lang="pt-BR" dirty="0"/>
                        <a:t>ECL</a:t>
                      </a:r>
                      <a:r>
                        <a:rPr lang="pt-BR" sz="1400" dirty="0"/>
                        <a:t> (</a:t>
                      </a:r>
                      <a:r>
                        <a:rPr lang="pt-BR" sz="1400" dirty="0" err="1"/>
                        <a:t>Emitter-coupled</a:t>
                      </a:r>
                      <a:r>
                        <a:rPr lang="pt-BR" sz="1400" dirty="0"/>
                        <a:t> </a:t>
                      </a:r>
                      <a:r>
                        <a:rPr lang="pt-BR" sz="1400" dirty="0" err="1"/>
                        <a:t>logic</a:t>
                      </a:r>
                      <a:r>
                        <a:rPr lang="pt-BR" sz="1400" dirty="0"/>
                        <a:t>)</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BJT </a:t>
                      </a:r>
                      <a:r>
                        <a:rPr lang="pt-BR" sz="1400" dirty="0"/>
                        <a:t>(transistores de junção bipolar)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Si</a:t>
                      </a:r>
                      <a:r>
                        <a:rPr lang="pt-BR" sz="1400" dirty="0"/>
                        <a:t> (Silício)</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4 – 60 </a:t>
                      </a:r>
                      <a:r>
                        <a:rPr lang="pt-BR" dirty="0" err="1"/>
                        <a:t>mw</a:t>
                      </a:r>
                      <a:endParaRPr lang="pt-BR" dirty="0"/>
                    </a:p>
                  </a:txBody>
                  <a:tcPr/>
                </a:tc>
                <a:extLst>
                  <a:ext uri="{0D108BD9-81ED-4DB2-BD59-A6C34878D82A}">
                    <a16:rowId xmlns:a16="http://schemas.microsoft.com/office/drawing/2014/main" val="10005"/>
                  </a:ext>
                </a:extLst>
              </a:tr>
              <a:tr h="370840">
                <a:tc>
                  <a:txBody>
                    <a:bodyPr/>
                    <a:lstStyle/>
                    <a:p>
                      <a:r>
                        <a:rPr lang="pt-BR" dirty="0" err="1"/>
                        <a:t>GaAs</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baseline="0" dirty="0"/>
                        <a:t>FET </a:t>
                      </a:r>
                      <a:r>
                        <a:rPr lang="pt-BR" sz="1400" baseline="0" dirty="0"/>
                        <a:t>(</a:t>
                      </a:r>
                      <a:r>
                        <a:rPr lang="pt-BR" sz="1400" dirty="0"/>
                        <a:t>transistor de efeito de campo)</a:t>
                      </a:r>
                      <a:endParaRPr lang="pt-BR" sz="1400" baseline="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GaAs</a:t>
                      </a:r>
                      <a:r>
                        <a:rPr lang="pt-BR" dirty="0"/>
                        <a:t> </a:t>
                      </a:r>
                      <a:r>
                        <a:rPr lang="pt-BR" sz="1400" dirty="0"/>
                        <a:t>(</a:t>
                      </a:r>
                      <a:r>
                        <a:rPr lang="pt-BR" sz="1400" dirty="0" err="1"/>
                        <a:t>Arseneto</a:t>
                      </a:r>
                      <a:r>
                        <a:rPr lang="pt-BR" sz="1400" dirty="0"/>
                        <a:t> de gálio)</a:t>
                      </a:r>
                      <a:endParaRPr lang="pt-B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10 </a:t>
                      </a:r>
                      <a:r>
                        <a:rPr lang="pt-BR" dirty="0" err="1"/>
                        <a:t>mw</a:t>
                      </a:r>
                      <a:endParaRPr lang="pt-BR" dirty="0"/>
                    </a:p>
                  </a:txBody>
                  <a:tcPr/>
                </a:tc>
                <a:extLst>
                  <a:ext uri="{0D108BD9-81ED-4DB2-BD59-A6C34878D82A}">
                    <a16:rowId xmlns:a16="http://schemas.microsoft.com/office/drawing/2014/main" val="10006"/>
                  </a:ext>
                </a:extLst>
              </a:tr>
            </a:tbl>
          </a:graphicData>
        </a:graphic>
      </p:graphicFrame>
      <p:sp>
        <p:nvSpPr>
          <p:cNvPr id="8" name="Rounded Rectangle 7"/>
          <p:cNvSpPr/>
          <p:nvPr/>
        </p:nvSpPr>
        <p:spPr>
          <a:xfrm>
            <a:off x="417096" y="2112211"/>
            <a:ext cx="8202863" cy="1577474"/>
          </a:xfrm>
          <a:prstGeom prst="roundRect">
            <a:avLst/>
          </a:prstGeom>
          <a:noFill/>
          <a:ln w="57150" cmpd="sng">
            <a:solidFill>
              <a:srgbClr val="FF00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014243304"/>
      </p:ext>
    </p:extLst>
  </p:cSld>
  <p:clrMapOvr>
    <a:masterClrMapping/>
  </p:clrMapOvr>
  <mc:AlternateContent xmlns:mc="http://schemas.openxmlformats.org/markup-compatibility/2006">
    <mc:Choice xmlns:p14="http://schemas.microsoft.com/office/powerpoint/2010/main" Requires="p14">
      <p:transition spd="slow" p14:dur="1200" advTm="23981">
        <p14:prism/>
      </p:transition>
    </mc:Choice>
    <mc:Fallback>
      <p:transition spd="slow" advTm="2398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Otimizações</a:t>
            </a:r>
          </a:p>
        </p:txBody>
      </p:sp>
      <p:sp>
        <p:nvSpPr>
          <p:cNvPr id="3" name="Content Placeholder 2"/>
          <p:cNvSpPr>
            <a:spLocks noGrp="1"/>
          </p:cNvSpPr>
          <p:nvPr>
            <p:ph idx="1"/>
          </p:nvPr>
        </p:nvSpPr>
        <p:spPr/>
        <p:txBody>
          <a:bodyPr>
            <a:normAutofit/>
          </a:bodyPr>
          <a:lstStyle/>
          <a:p>
            <a:r>
              <a:rPr lang="pt-BR" sz="3300" baseline="30000" dirty="0">
                <a:solidFill>
                  <a:srgbClr val="000000"/>
                </a:solidFill>
                <a:latin typeface="Helvetica"/>
              </a:rPr>
              <a:t>Diversas outras otimizações existem </a:t>
            </a:r>
            <a:r>
              <a:rPr lang="pt-BR" sz="3300" baseline="30000">
                <a:solidFill>
                  <a:srgbClr val="000000"/>
                </a:solidFill>
                <a:latin typeface="Helvetica"/>
              </a:rPr>
              <a:t>para circuitos integrados.</a:t>
            </a:r>
            <a:endParaRPr lang="pt-BR" sz="3300" baseline="30000" dirty="0">
              <a:solidFill>
                <a:srgbClr val="000000"/>
              </a:solidFill>
              <a:latin typeface="Helvetica"/>
            </a:endParaRPr>
          </a:p>
          <a:p>
            <a:endParaRPr lang="pt-BR" sz="3300" baseline="30000" dirty="0">
              <a:solidFill>
                <a:srgbClr val="000000"/>
              </a:solidFill>
              <a:latin typeface="Helvetica"/>
            </a:endParaRPr>
          </a:p>
          <a:p>
            <a:endParaRPr lang="pt-BR" sz="3300" baseline="30000" dirty="0">
              <a:solidFill>
                <a:srgbClr val="000000"/>
              </a:solidFill>
              <a:latin typeface="Helvetica"/>
            </a:endParaRPr>
          </a:p>
          <a:p>
            <a:endParaRPr lang="pt-BR" sz="3300" baseline="30000" dirty="0">
              <a:solidFill>
                <a:srgbClr val="000000"/>
              </a:solidFill>
              <a:latin typeface="Helvetica"/>
            </a:endParaRP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70</a:t>
            </a:fld>
            <a:endParaRPr lang="pt-BR" dirty="0"/>
          </a:p>
        </p:txBody>
      </p:sp>
      <p:pic>
        <p:nvPicPr>
          <p:cNvPr id="7" name="Picture 6" descr="chart.gif"/>
          <p:cNvPicPr>
            <a:picLocks noChangeAspect="1"/>
          </p:cNvPicPr>
          <p:nvPr/>
        </p:nvPicPr>
        <p:blipFill rotWithShape="1">
          <a:blip r:embed="rId3">
            <a:extLst>
              <a:ext uri="{28A0092B-C50C-407E-A947-70E740481C1C}">
                <a14:useLocalDpi xmlns:a14="http://schemas.microsoft.com/office/drawing/2010/main" val="0"/>
              </a:ext>
            </a:extLst>
          </a:blip>
          <a:srcRect l="2855" t="4425" r="4400" b="3120"/>
          <a:stretch/>
        </p:blipFill>
        <p:spPr>
          <a:xfrm>
            <a:off x="457199" y="1800479"/>
            <a:ext cx="5819283" cy="4700189"/>
          </a:xfrm>
          <a:prstGeom prst="rect">
            <a:avLst/>
          </a:prstGeom>
        </p:spPr>
      </p:pic>
      <p:pic>
        <p:nvPicPr>
          <p:cNvPr id="9" name="Picture 8" descr="53.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2783" y="1996224"/>
            <a:ext cx="2514043" cy="2665118"/>
          </a:xfrm>
          <a:prstGeom prst="rect">
            <a:avLst/>
          </a:prstGeom>
        </p:spPr>
      </p:pic>
    </p:spTree>
    <p:extLst>
      <p:ext uri="{BB962C8B-B14F-4D97-AF65-F5344CB8AC3E}">
        <p14:creationId xmlns:p14="http://schemas.microsoft.com/office/powerpoint/2010/main" val="1763377620"/>
      </p:ext>
    </p:extLst>
  </p:cSld>
  <p:clrMapOvr>
    <a:masterClrMapping/>
  </p:clrMapOvr>
  <mc:AlternateContent xmlns:mc="http://schemas.openxmlformats.org/markup-compatibility/2006">
    <mc:Choice xmlns:p14="http://schemas.microsoft.com/office/powerpoint/2010/main" Requires="p14">
      <p:transition spd="slow" p14:dur="1200" advTm="31930">
        <p14:prism/>
      </p:transition>
    </mc:Choice>
    <mc:Fallback>
      <p:transition spd="slow" advTm="31930">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Ciclo de Vida das tecnologias</a:t>
            </a:r>
          </a:p>
        </p:txBody>
      </p:sp>
      <p:sp>
        <p:nvSpPr>
          <p:cNvPr id="3" name="Content Placeholder 2"/>
          <p:cNvSpPr>
            <a:spLocks noGrp="1"/>
          </p:cNvSpPr>
          <p:nvPr>
            <p:ph idx="1"/>
          </p:nvPr>
        </p:nvSpPr>
        <p:spPr>
          <a:xfrm>
            <a:off x="6416842" y="6176208"/>
            <a:ext cx="2269958" cy="319542"/>
          </a:xfrm>
        </p:spPr>
        <p:txBody>
          <a:bodyPr>
            <a:normAutofit/>
          </a:bodyPr>
          <a:lstStyle/>
          <a:p>
            <a:r>
              <a:rPr lang="pt-BR" sz="1200" dirty="0"/>
              <a:t>Fonte: </a:t>
            </a:r>
            <a:r>
              <a:rPr lang="pt-BR" sz="1200" dirty="0" err="1"/>
              <a:t>http</a:t>
            </a:r>
            <a:r>
              <a:rPr lang="pt-BR" sz="1200" dirty="0"/>
              <a:t>://</a:t>
            </a:r>
            <a:r>
              <a:rPr lang="pt-BR" sz="1200" dirty="0" err="1"/>
              <a:t>www.ti.com</a:t>
            </a:r>
            <a:r>
              <a:rPr lang="pt-BR" sz="1200"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71</a:t>
            </a:fld>
            <a:endParaRPr lang="pt-BR" dirty="0"/>
          </a:p>
        </p:txBody>
      </p:sp>
      <p:pic>
        <p:nvPicPr>
          <p:cNvPr id="6" name="Picture 5"/>
          <p:cNvPicPr>
            <a:picLocks noChangeAspect="1"/>
          </p:cNvPicPr>
          <p:nvPr/>
        </p:nvPicPr>
        <p:blipFill>
          <a:blip r:embed="rId2"/>
          <a:stretch>
            <a:fillRect/>
          </a:stretch>
        </p:blipFill>
        <p:spPr>
          <a:xfrm>
            <a:off x="850006" y="1360961"/>
            <a:ext cx="7552500" cy="4885021"/>
          </a:xfrm>
          <a:prstGeom prst="rect">
            <a:avLst/>
          </a:prstGeom>
        </p:spPr>
      </p:pic>
    </p:spTree>
    <p:extLst>
      <p:ext uri="{BB962C8B-B14F-4D97-AF65-F5344CB8AC3E}">
        <p14:creationId xmlns:p14="http://schemas.microsoft.com/office/powerpoint/2010/main" val="276248566"/>
      </p:ext>
    </p:extLst>
  </p:cSld>
  <p:clrMapOvr>
    <a:masterClrMapping/>
  </p:clrMapOvr>
  <mc:AlternateContent xmlns:mc="http://schemas.openxmlformats.org/markup-compatibility/2006">
    <mc:Choice xmlns:p14="http://schemas.microsoft.com/office/powerpoint/2010/main" Requires="p14">
      <p:transition spd="slow" p14:dur="1200" advTm="29555">
        <p14:prism/>
      </p:transition>
    </mc:Choice>
    <mc:Fallback>
      <p:transition spd="slow" advTm="29555">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Produção de Circuitos Integrados</a:t>
            </a:r>
          </a:p>
        </p:txBody>
      </p:sp>
      <p:sp>
        <p:nvSpPr>
          <p:cNvPr id="3" name="Content Placeholder 2"/>
          <p:cNvSpPr>
            <a:spLocks noGrp="1"/>
          </p:cNvSpPr>
          <p:nvPr>
            <p:ph idx="1"/>
          </p:nvPr>
        </p:nvSpPr>
        <p:spPr>
          <a:xfrm>
            <a:off x="3662947" y="5882105"/>
            <a:ext cx="5023853" cy="328194"/>
          </a:xfrm>
        </p:spPr>
        <p:txBody>
          <a:bodyPr>
            <a:normAutofit/>
          </a:bodyPr>
          <a:lstStyle/>
          <a:p>
            <a:pPr algn="r"/>
            <a:r>
              <a:rPr lang="pt-BR" sz="1200" dirty="0"/>
              <a:t>Mais detalhes em: </a:t>
            </a:r>
            <a:r>
              <a:rPr lang="pt-BR" sz="1200" dirty="0">
                <a:hlinkClick r:id="rId3"/>
              </a:rPr>
              <a:t>http://www.circuitstoday.com/monolithic-ic</a:t>
            </a:r>
            <a:r>
              <a:rPr lang="pt-BR" sz="1200" dirty="0"/>
              <a:t>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72</a:t>
            </a:fld>
            <a:endParaRPr lang="pt-BR" dirty="0"/>
          </a:p>
        </p:txBody>
      </p:sp>
      <p:pic>
        <p:nvPicPr>
          <p:cNvPr id="7" name="Picture 6" descr="Basic-Monolithic-IC.jpg"/>
          <p:cNvPicPr>
            <a:picLocks noChangeAspect="1"/>
          </p:cNvPicPr>
          <p:nvPr/>
        </p:nvPicPr>
        <p:blipFill rotWithShape="1">
          <a:blip r:embed="rId4">
            <a:extLst>
              <a:ext uri="{28A0092B-C50C-407E-A947-70E740481C1C}">
                <a14:useLocalDpi xmlns:a14="http://schemas.microsoft.com/office/drawing/2010/main" val="0"/>
              </a:ext>
            </a:extLst>
          </a:blip>
          <a:srcRect b="18939"/>
          <a:stretch/>
        </p:blipFill>
        <p:spPr>
          <a:xfrm>
            <a:off x="935789" y="2649171"/>
            <a:ext cx="7272422" cy="3032408"/>
          </a:xfrm>
          <a:prstGeom prst="rect">
            <a:avLst/>
          </a:prstGeom>
        </p:spPr>
      </p:pic>
      <p:pic>
        <p:nvPicPr>
          <p:cNvPr id="6" name="Picture 5" descr="Basic-Monolithic-IC-Circuit.jpg"/>
          <p:cNvPicPr>
            <a:picLocks noChangeAspect="1"/>
          </p:cNvPicPr>
          <p:nvPr/>
        </p:nvPicPr>
        <p:blipFill rotWithShape="1">
          <a:blip r:embed="rId5">
            <a:extLst>
              <a:ext uri="{28A0092B-C50C-407E-A947-70E740481C1C}">
                <a14:useLocalDpi xmlns:a14="http://schemas.microsoft.com/office/drawing/2010/main" val="0"/>
              </a:ext>
            </a:extLst>
          </a:blip>
          <a:srcRect l="5353" t="26675" b="7236"/>
          <a:stretch/>
        </p:blipFill>
        <p:spPr>
          <a:xfrm>
            <a:off x="2761564" y="1848422"/>
            <a:ext cx="3615174" cy="1882549"/>
          </a:xfrm>
          <a:prstGeom prst="rect">
            <a:avLst/>
          </a:prstGeom>
        </p:spPr>
      </p:pic>
      <p:sp>
        <p:nvSpPr>
          <p:cNvPr id="8" name="Rectangle 7"/>
          <p:cNvSpPr/>
          <p:nvPr/>
        </p:nvSpPr>
        <p:spPr>
          <a:xfrm>
            <a:off x="242133" y="4527702"/>
            <a:ext cx="1208114" cy="923330"/>
          </a:xfrm>
          <a:prstGeom prst="rect">
            <a:avLst/>
          </a:prstGeom>
        </p:spPr>
        <p:txBody>
          <a:bodyPr wrap="square">
            <a:spAutoFit/>
          </a:bodyPr>
          <a:lstStyle/>
          <a:p>
            <a:r>
              <a:rPr lang="pt-BR" dirty="0"/>
              <a:t>Visão de corte lateral</a:t>
            </a:r>
          </a:p>
        </p:txBody>
      </p:sp>
      <p:sp>
        <p:nvSpPr>
          <p:cNvPr id="9" name="Rectangle 8"/>
          <p:cNvSpPr/>
          <p:nvPr/>
        </p:nvSpPr>
        <p:spPr>
          <a:xfrm>
            <a:off x="242133" y="1543020"/>
            <a:ext cx="3737690" cy="400110"/>
          </a:xfrm>
          <a:prstGeom prst="rect">
            <a:avLst/>
          </a:prstGeom>
        </p:spPr>
        <p:txBody>
          <a:bodyPr wrap="none">
            <a:spAutoFit/>
          </a:bodyPr>
          <a:lstStyle/>
          <a:p>
            <a:r>
              <a:rPr lang="pt-BR" sz="2000" b="1" dirty="0"/>
              <a:t>BJT (Transistor de Junção Bipolar)</a:t>
            </a:r>
          </a:p>
        </p:txBody>
      </p:sp>
    </p:spTree>
    <p:extLst>
      <p:ext uri="{BB962C8B-B14F-4D97-AF65-F5344CB8AC3E}">
        <p14:creationId xmlns:p14="http://schemas.microsoft.com/office/powerpoint/2010/main" val="2346881393"/>
      </p:ext>
    </p:extLst>
  </p:cSld>
  <p:clrMapOvr>
    <a:masterClrMapping/>
  </p:clrMapOvr>
  <mc:AlternateContent xmlns:mc="http://schemas.openxmlformats.org/markup-compatibility/2006">
    <mc:Choice xmlns:p14="http://schemas.microsoft.com/office/powerpoint/2010/main" Requires="p14">
      <p:transition spd="slow" p14:dur="1200" advTm="26332">
        <p14:prism/>
      </p:transition>
    </mc:Choice>
    <mc:Fallback>
      <p:transition spd="slow" advTm="26332">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DM7438N (TTL)</a:t>
            </a:r>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73</a:t>
            </a:fld>
            <a:endParaRPr lang="pt-BR" dirty="0"/>
          </a:p>
        </p:txBody>
      </p:sp>
      <p:pic>
        <p:nvPicPr>
          <p:cNvPr id="6" name="Picture 5" descr="7489.jpg"/>
          <p:cNvPicPr>
            <a:picLocks noChangeAspect="1"/>
          </p:cNvPicPr>
          <p:nvPr/>
        </p:nvPicPr>
        <p:blipFill rotWithShape="1">
          <a:blip r:embed="rId4">
            <a:extLst>
              <a:ext uri="{28A0092B-C50C-407E-A947-70E740481C1C}">
                <a14:useLocalDpi xmlns:a14="http://schemas.microsoft.com/office/drawing/2010/main" val="0"/>
              </a:ext>
            </a:extLst>
          </a:blip>
          <a:srcRect l="4813" b="7416"/>
          <a:stretch/>
        </p:blipFill>
        <p:spPr>
          <a:xfrm>
            <a:off x="457200" y="2066059"/>
            <a:ext cx="5891686" cy="4297948"/>
          </a:xfrm>
          <a:prstGeom prst="rect">
            <a:avLst/>
          </a:prstGeom>
        </p:spPr>
      </p:pic>
      <p:pic>
        <p:nvPicPr>
          <p:cNvPr id="7" name="Picture 6" descr="7438_b.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79500" y="887997"/>
            <a:ext cx="4128170" cy="2683310"/>
          </a:xfrm>
          <a:prstGeom prst="rect">
            <a:avLst/>
          </a:prstGeom>
        </p:spPr>
      </p:pic>
      <p:pic>
        <p:nvPicPr>
          <p:cNvPr id="8" name="Picture 7" descr="DM7438N Diagra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04108" y="4291266"/>
            <a:ext cx="2279476" cy="2112211"/>
          </a:xfrm>
          <a:prstGeom prst="rect">
            <a:avLst/>
          </a:prstGeom>
        </p:spPr>
      </p:pic>
      <p:sp>
        <p:nvSpPr>
          <p:cNvPr id="9" name="Content Placeholder 2"/>
          <p:cNvSpPr>
            <a:spLocks noGrp="1"/>
          </p:cNvSpPr>
          <p:nvPr>
            <p:ph idx="1"/>
          </p:nvPr>
        </p:nvSpPr>
        <p:spPr>
          <a:xfrm>
            <a:off x="657225" y="1485900"/>
            <a:ext cx="3543145" cy="580159"/>
          </a:xfrm>
        </p:spPr>
        <p:txBody>
          <a:bodyPr/>
          <a:lstStyle/>
          <a:p>
            <a:r>
              <a:rPr lang="pt-BR"/>
              <a:t>Tipo: BJT</a:t>
            </a:r>
            <a:endParaRPr lang="pt-BR" dirty="0"/>
          </a:p>
        </p:txBody>
      </p:sp>
    </p:spTree>
    <p:custDataLst>
      <p:tags r:id="rId1"/>
    </p:custDataLst>
    <p:extLst>
      <p:ext uri="{BB962C8B-B14F-4D97-AF65-F5344CB8AC3E}">
        <p14:creationId xmlns:p14="http://schemas.microsoft.com/office/powerpoint/2010/main" val="611890204"/>
      </p:ext>
    </p:extLst>
  </p:cSld>
  <p:clrMapOvr>
    <a:masterClrMapping/>
  </p:clrMapOvr>
  <mc:AlternateContent xmlns:mc="http://schemas.openxmlformats.org/markup-compatibility/2006">
    <mc:Choice xmlns:p14="http://schemas.microsoft.com/office/powerpoint/2010/main" Requires="p14">
      <p:transition spd="slow" p14:dur="1200" advTm="33855">
        <p14:prism/>
      </p:transition>
    </mc:Choice>
    <mc:Fallback>
      <p:transition spd="slow" advTm="3385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Scale>
                                      <p:cBhvr>
                                        <p:cTn id="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7"/>
                                        </p:tgtEl>
                                        <p:attrNameLst>
                                          <p:attrName>ppt_x</p:attrName>
                                          <p:attrName>ppt_y</p:attrName>
                                        </p:attrNameLst>
                                      </p:cBhvr>
                                    </p:animMotion>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04141.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3660" y="2052849"/>
            <a:ext cx="2283777" cy="2255087"/>
          </a:xfrm>
          <a:prstGeom prst="rect">
            <a:avLst/>
          </a:prstGeom>
        </p:spPr>
      </p:pic>
      <p:sp>
        <p:nvSpPr>
          <p:cNvPr id="2" name="Title 1"/>
          <p:cNvSpPr>
            <a:spLocks noGrp="1"/>
          </p:cNvSpPr>
          <p:nvPr>
            <p:ph type="title"/>
          </p:nvPr>
        </p:nvSpPr>
        <p:spPr/>
        <p:txBody>
          <a:bodyPr/>
          <a:lstStyle/>
          <a:p>
            <a:r>
              <a:rPr lang="pt-BR" dirty="0"/>
              <a:t>74AHC00 (CMOS emulando TTL)</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74</a:t>
            </a:fld>
            <a:endParaRPr lang="pt-BR" dirty="0"/>
          </a:p>
        </p:txBody>
      </p:sp>
      <p:sp>
        <p:nvSpPr>
          <p:cNvPr id="8" name="Rectangle 7"/>
          <p:cNvSpPr/>
          <p:nvPr/>
        </p:nvSpPr>
        <p:spPr>
          <a:xfrm>
            <a:off x="6763660" y="5755843"/>
            <a:ext cx="1460556" cy="646331"/>
          </a:xfrm>
          <a:prstGeom prst="rect">
            <a:avLst/>
          </a:prstGeom>
        </p:spPr>
        <p:txBody>
          <a:bodyPr wrap="none">
            <a:spAutoFit/>
          </a:bodyPr>
          <a:lstStyle/>
          <a:p>
            <a:r>
              <a:rPr lang="pt-BR" dirty="0"/>
              <a:t>Tamanho:</a:t>
            </a:r>
          </a:p>
          <a:p>
            <a:r>
              <a:rPr lang="pt-BR" dirty="0"/>
              <a:t> 944x854 µm.</a:t>
            </a:r>
          </a:p>
        </p:txBody>
      </p:sp>
      <p:pic>
        <p:nvPicPr>
          <p:cNvPr id="10" name="Picture 9" descr="NXP-74AHC00D-HD.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22321" y="1400175"/>
            <a:ext cx="5762781" cy="5303462"/>
          </a:xfrm>
          <a:prstGeom prst="rect">
            <a:avLst/>
          </a:prstGeom>
        </p:spPr>
      </p:pic>
      <p:sp>
        <p:nvSpPr>
          <p:cNvPr id="6" name="Oval 5"/>
          <p:cNvSpPr/>
          <p:nvPr/>
        </p:nvSpPr>
        <p:spPr>
          <a:xfrm>
            <a:off x="1308345" y="2891189"/>
            <a:ext cx="3290109" cy="3211041"/>
          </a:xfrm>
          <a:prstGeom prst="ellipse">
            <a:avLst/>
          </a:prstGeom>
          <a:blipFill rotWithShape="1">
            <a:blip r:embed="rId6"/>
            <a:stretch>
              <a:fillRect/>
            </a:stretch>
          </a:blipFill>
          <a:ln w="571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custDataLst>
      <p:tags r:id="rId1"/>
    </p:custDataLst>
    <p:extLst>
      <p:ext uri="{BB962C8B-B14F-4D97-AF65-F5344CB8AC3E}">
        <p14:creationId xmlns:p14="http://schemas.microsoft.com/office/powerpoint/2010/main" val="1104153629"/>
      </p:ext>
    </p:extLst>
  </p:cSld>
  <p:clrMapOvr>
    <a:masterClrMapping/>
  </p:clrMapOvr>
  <mc:AlternateContent xmlns:mc="http://schemas.openxmlformats.org/markup-compatibility/2006">
    <mc:Choice xmlns:p14="http://schemas.microsoft.com/office/powerpoint/2010/main" Requires="p14">
      <p:transition spd="slow" p14:dur="1200" advTm="35821">
        <p14:prism/>
      </p:transition>
    </mc:Choice>
    <mc:Fallback>
      <p:transition spd="slow" advTm="3582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 calcmode="lin" valueType="num">
                                      <p:cBhvr>
                                        <p:cTn id="14" dur="500" fill="hold"/>
                                        <p:tgtEl>
                                          <p:spTgt spid="6"/>
                                        </p:tgtEl>
                                        <p:attrNameLst>
                                          <p:attrName>ppt_x</p:attrName>
                                        </p:attrNameLst>
                                      </p:cBhvr>
                                      <p:tavLst>
                                        <p:tav tm="0" fmla="#ppt_x+(cos(-2*pi*(1-$))*-#ppt_x-sin(-2*pi*(1-$))*(1-#ppt_y))*(1-$)">
                                          <p:val>
                                            <p:fltVal val="0"/>
                                          </p:val>
                                        </p:tav>
                                        <p:tav tm="100000">
                                          <p:val>
                                            <p:fltVal val="1"/>
                                          </p:val>
                                        </p:tav>
                                      </p:tavLst>
                                    </p:anim>
                                    <p:anim calcmode="lin" valueType="num">
                                      <p:cBhvr>
                                        <p:cTn id="15" dur="5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Comportamento dos Circuitos TTL</a:t>
            </a:r>
          </a:p>
        </p:txBody>
      </p:sp>
      <p:sp>
        <p:nvSpPr>
          <p:cNvPr id="3" name="Content Placeholder 2"/>
          <p:cNvSpPr>
            <a:spLocks noGrp="1"/>
          </p:cNvSpPr>
          <p:nvPr>
            <p:ph idx="1"/>
          </p:nvPr>
        </p:nvSpPr>
        <p:spPr>
          <a:xfrm>
            <a:off x="657225" y="1485900"/>
            <a:ext cx="8192897" cy="4724400"/>
          </a:xfrm>
        </p:spPr>
        <p:txBody>
          <a:bodyPr/>
          <a:lstStyle/>
          <a:p>
            <a:r>
              <a:rPr lang="pt-BR" dirty="0"/>
              <a:t>Para definir o Nível lógico 1 (verdadeiro) e 0 (falso), os circuitos TTL tem a seguinte faixa de operação:</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75</a:t>
            </a:fld>
            <a:endParaRPr lang="pt-BR" dirty="0"/>
          </a:p>
        </p:txBody>
      </p:sp>
      <p:pic>
        <p:nvPicPr>
          <p:cNvPr id="7" name="Picture 6" descr="04313.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245078" y="2334657"/>
            <a:ext cx="6756400" cy="3048000"/>
          </a:xfrm>
          <a:prstGeom prst="rect">
            <a:avLst/>
          </a:prstGeom>
        </p:spPr>
      </p:pic>
      <p:sp>
        <p:nvSpPr>
          <p:cNvPr id="9" name="Rectangle 8"/>
          <p:cNvSpPr/>
          <p:nvPr/>
        </p:nvSpPr>
        <p:spPr>
          <a:xfrm>
            <a:off x="1031706" y="2335346"/>
            <a:ext cx="2848422" cy="646331"/>
          </a:xfrm>
          <a:prstGeom prst="rect">
            <a:avLst/>
          </a:prstGeom>
          <a:solidFill>
            <a:schemeClr val="bg1"/>
          </a:solidFill>
        </p:spPr>
        <p:txBody>
          <a:bodyPr wrap="square">
            <a:spAutoFit/>
          </a:bodyPr>
          <a:lstStyle/>
          <a:p>
            <a:pPr algn="ctr"/>
            <a:r>
              <a:rPr lang="pt-BR" b="1" dirty="0"/>
              <a:t>Nível de sinal de entrada aceitável para portas TTL</a:t>
            </a:r>
          </a:p>
        </p:txBody>
      </p:sp>
      <p:sp>
        <p:nvSpPr>
          <p:cNvPr id="11" name="Rectangle 10"/>
          <p:cNvSpPr/>
          <p:nvPr/>
        </p:nvSpPr>
        <p:spPr>
          <a:xfrm>
            <a:off x="5437091" y="2334657"/>
            <a:ext cx="2848422" cy="646331"/>
          </a:xfrm>
          <a:prstGeom prst="rect">
            <a:avLst/>
          </a:prstGeom>
          <a:solidFill>
            <a:schemeClr val="bg1"/>
          </a:solidFill>
        </p:spPr>
        <p:txBody>
          <a:bodyPr wrap="square">
            <a:spAutoFit/>
          </a:bodyPr>
          <a:lstStyle/>
          <a:p>
            <a:pPr algn="ctr"/>
            <a:r>
              <a:rPr lang="pt-BR" b="1" dirty="0"/>
              <a:t>Nível de sinal de saída aceitável para portas TTL</a:t>
            </a:r>
          </a:p>
        </p:txBody>
      </p:sp>
      <p:sp>
        <p:nvSpPr>
          <p:cNvPr id="12" name="Rectangle 11"/>
          <p:cNvSpPr/>
          <p:nvPr/>
        </p:nvSpPr>
        <p:spPr>
          <a:xfrm>
            <a:off x="2724445" y="3325364"/>
            <a:ext cx="2848422" cy="369332"/>
          </a:xfrm>
          <a:prstGeom prst="rect">
            <a:avLst/>
          </a:prstGeom>
          <a:solidFill>
            <a:schemeClr val="bg1"/>
          </a:solidFill>
        </p:spPr>
        <p:txBody>
          <a:bodyPr wrap="square">
            <a:spAutoFit/>
          </a:bodyPr>
          <a:lstStyle/>
          <a:p>
            <a:pPr algn="ctr"/>
            <a:r>
              <a:rPr lang="pt-BR" b="1" dirty="0"/>
              <a:t>Margem de ruído alto</a:t>
            </a:r>
          </a:p>
        </p:txBody>
      </p:sp>
      <p:sp>
        <p:nvSpPr>
          <p:cNvPr id="13" name="Rectangle 12"/>
          <p:cNvSpPr/>
          <p:nvPr/>
        </p:nvSpPr>
        <p:spPr>
          <a:xfrm>
            <a:off x="3457850" y="5092845"/>
            <a:ext cx="2848422" cy="369332"/>
          </a:xfrm>
          <a:prstGeom prst="rect">
            <a:avLst/>
          </a:prstGeom>
          <a:solidFill>
            <a:schemeClr val="bg1"/>
          </a:solidFill>
        </p:spPr>
        <p:txBody>
          <a:bodyPr wrap="square">
            <a:spAutoFit/>
          </a:bodyPr>
          <a:lstStyle/>
          <a:p>
            <a:pPr algn="ctr"/>
            <a:r>
              <a:rPr lang="pt-BR" b="1" dirty="0"/>
              <a:t>Margem de ruído baixo</a:t>
            </a:r>
          </a:p>
        </p:txBody>
      </p:sp>
      <p:sp>
        <p:nvSpPr>
          <p:cNvPr id="14" name="Rectangle 13"/>
          <p:cNvSpPr/>
          <p:nvPr/>
        </p:nvSpPr>
        <p:spPr>
          <a:xfrm>
            <a:off x="1031706" y="5702371"/>
            <a:ext cx="7149768" cy="646331"/>
          </a:xfrm>
          <a:prstGeom prst="rect">
            <a:avLst/>
          </a:prstGeom>
        </p:spPr>
        <p:txBody>
          <a:bodyPr wrap="square">
            <a:spAutoFit/>
          </a:bodyPr>
          <a:lstStyle/>
          <a:p>
            <a:r>
              <a:rPr lang="pt-BR" dirty="0"/>
              <a:t>TTL opera com a tensão de alimentação de 5 volts. Sendo 0V até 0,8V para um estado “baixo” e 2 V até 5 V para um estado “alto“.</a:t>
            </a:r>
          </a:p>
        </p:txBody>
      </p:sp>
    </p:spTree>
    <p:extLst>
      <p:ext uri="{BB962C8B-B14F-4D97-AF65-F5344CB8AC3E}">
        <p14:creationId xmlns:p14="http://schemas.microsoft.com/office/powerpoint/2010/main" val="1496799617"/>
      </p:ext>
    </p:extLst>
  </p:cSld>
  <p:clrMapOvr>
    <a:masterClrMapping/>
  </p:clrMapOvr>
  <mc:AlternateContent xmlns:mc="http://schemas.openxmlformats.org/markup-compatibility/2006">
    <mc:Choice xmlns:p14="http://schemas.microsoft.com/office/powerpoint/2010/main" Requires="p14">
      <p:transition spd="slow" p14:dur="1200" advTm="112430">
        <p14:prism/>
      </p:transition>
    </mc:Choice>
    <mc:Fallback>
      <p:transition spd="slow" advTm="112430">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Comportamento dos Circuitos CMOS</a:t>
            </a:r>
          </a:p>
        </p:txBody>
      </p:sp>
      <p:sp>
        <p:nvSpPr>
          <p:cNvPr id="3" name="Content Placeholder 2"/>
          <p:cNvSpPr>
            <a:spLocks noGrp="1"/>
          </p:cNvSpPr>
          <p:nvPr>
            <p:ph idx="1"/>
          </p:nvPr>
        </p:nvSpPr>
        <p:spPr/>
        <p:txBody>
          <a:bodyPr/>
          <a:lstStyle/>
          <a:p>
            <a:r>
              <a:rPr lang="pt-BR"/>
              <a:t>Os circuitos CMOS tem a seguinte faixa de operação: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76</a:t>
            </a:fld>
            <a:endParaRPr lang="pt-BR" dirty="0"/>
          </a:p>
        </p:txBody>
      </p:sp>
      <p:pic>
        <p:nvPicPr>
          <p:cNvPr id="7" name="Picture 6"/>
          <p:cNvPicPr>
            <a:picLocks noChangeAspect="1"/>
          </p:cNvPicPr>
          <p:nvPr/>
        </p:nvPicPr>
        <p:blipFill>
          <a:blip r:embed="rId3"/>
          <a:stretch>
            <a:fillRect/>
          </a:stretch>
        </p:blipFill>
        <p:spPr>
          <a:xfrm>
            <a:off x="1031706" y="2295242"/>
            <a:ext cx="7391400" cy="3136900"/>
          </a:xfrm>
          <a:prstGeom prst="rect">
            <a:avLst/>
          </a:prstGeom>
        </p:spPr>
      </p:pic>
      <p:sp>
        <p:nvSpPr>
          <p:cNvPr id="8" name="Rectangle 7"/>
          <p:cNvSpPr/>
          <p:nvPr/>
        </p:nvSpPr>
        <p:spPr>
          <a:xfrm>
            <a:off x="1031706" y="2321978"/>
            <a:ext cx="2848422" cy="646331"/>
          </a:xfrm>
          <a:prstGeom prst="rect">
            <a:avLst/>
          </a:prstGeom>
          <a:solidFill>
            <a:schemeClr val="bg1"/>
          </a:solidFill>
        </p:spPr>
        <p:txBody>
          <a:bodyPr wrap="square">
            <a:spAutoFit/>
          </a:bodyPr>
          <a:lstStyle/>
          <a:p>
            <a:pPr algn="ctr"/>
            <a:r>
              <a:rPr lang="pt-BR" b="1" dirty="0"/>
              <a:t>Nível de sinal de entrada aceitável para portas CMOS</a:t>
            </a:r>
          </a:p>
        </p:txBody>
      </p:sp>
      <p:sp>
        <p:nvSpPr>
          <p:cNvPr id="9" name="Rectangle 8"/>
          <p:cNvSpPr/>
          <p:nvPr/>
        </p:nvSpPr>
        <p:spPr>
          <a:xfrm>
            <a:off x="5437091" y="2321289"/>
            <a:ext cx="2848422" cy="646331"/>
          </a:xfrm>
          <a:prstGeom prst="rect">
            <a:avLst/>
          </a:prstGeom>
          <a:solidFill>
            <a:schemeClr val="bg1"/>
          </a:solidFill>
        </p:spPr>
        <p:txBody>
          <a:bodyPr wrap="square">
            <a:spAutoFit/>
          </a:bodyPr>
          <a:lstStyle/>
          <a:p>
            <a:pPr algn="ctr"/>
            <a:r>
              <a:rPr lang="pt-BR" b="1" dirty="0"/>
              <a:t>Nível de sinal de saída aceitável para portas CMOS</a:t>
            </a:r>
          </a:p>
        </p:txBody>
      </p:sp>
      <p:sp>
        <p:nvSpPr>
          <p:cNvPr id="12" name="Rectangle 11"/>
          <p:cNvSpPr/>
          <p:nvPr/>
        </p:nvSpPr>
        <p:spPr>
          <a:xfrm>
            <a:off x="1031706" y="5702371"/>
            <a:ext cx="7149768" cy="923330"/>
          </a:xfrm>
          <a:prstGeom prst="rect">
            <a:avLst/>
          </a:prstGeom>
        </p:spPr>
        <p:txBody>
          <a:bodyPr wrap="square">
            <a:spAutoFit/>
          </a:bodyPr>
          <a:lstStyle/>
          <a:p>
            <a:r>
              <a:rPr lang="pt-BR" dirty="0"/>
              <a:t>CMOS pode operar sobre uma ampla gama de tensão de alimentação, tipicamente 3 a 15 volts. Sendo 0V até 1/3V</a:t>
            </a:r>
            <a:r>
              <a:rPr lang="pt-BR" baseline="-25000" dirty="0"/>
              <a:t>DD</a:t>
            </a:r>
            <a:r>
              <a:rPr lang="pt-BR" dirty="0"/>
              <a:t> para um estado “baixo” e 2/3 V</a:t>
            </a:r>
            <a:r>
              <a:rPr lang="pt-BR" baseline="-25000" dirty="0"/>
              <a:t>DD</a:t>
            </a:r>
            <a:r>
              <a:rPr lang="pt-BR" dirty="0"/>
              <a:t> até V</a:t>
            </a:r>
            <a:r>
              <a:rPr lang="pt-BR" baseline="-25000" dirty="0"/>
              <a:t>DD</a:t>
            </a:r>
            <a:r>
              <a:rPr lang="pt-BR" dirty="0"/>
              <a:t> para um estado “alto“.</a:t>
            </a:r>
          </a:p>
        </p:txBody>
      </p:sp>
    </p:spTree>
    <p:extLst>
      <p:ext uri="{BB962C8B-B14F-4D97-AF65-F5344CB8AC3E}">
        <p14:creationId xmlns:p14="http://schemas.microsoft.com/office/powerpoint/2010/main" val="323184571"/>
      </p:ext>
    </p:extLst>
  </p:cSld>
  <p:clrMapOvr>
    <a:masterClrMapping/>
  </p:clrMapOvr>
  <mc:AlternateContent xmlns:mc="http://schemas.openxmlformats.org/markup-compatibility/2006">
    <mc:Choice xmlns:p14="http://schemas.microsoft.com/office/powerpoint/2010/main" Requires="p14">
      <p:transition spd="slow" p14:dur="1200" advTm="39725">
        <p14:prism/>
      </p:transition>
    </mc:Choice>
    <mc:Fallback>
      <p:transition spd="slow" advTm="39725">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Fan-in e Fan-out</a:t>
            </a:r>
          </a:p>
        </p:txBody>
      </p:sp>
      <p:sp>
        <p:nvSpPr>
          <p:cNvPr id="3" name="Content Placeholder 2"/>
          <p:cNvSpPr>
            <a:spLocks noGrp="1"/>
          </p:cNvSpPr>
          <p:nvPr>
            <p:ph idx="1"/>
          </p:nvPr>
        </p:nvSpPr>
        <p:spPr/>
        <p:txBody>
          <a:bodyPr/>
          <a:lstStyle/>
          <a:p>
            <a:r>
              <a:rPr lang="pt-BR" dirty="0"/>
              <a:t>Define o numero máximo de portas lógicas que podem ser conectadas.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77</a:t>
            </a:fld>
            <a:endParaRPr lang="pt-BR" dirty="0"/>
          </a:p>
        </p:txBody>
      </p:sp>
      <p:pic>
        <p:nvPicPr>
          <p:cNvPr id="6" name="Picture 5"/>
          <p:cNvPicPr>
            <a:picLocks noChangeAspect="1"/>
          </p:cNvPicPr>
          <p:nvPr/>
        </p:nvPicPr>
        <p:blipFill rotWithShape="1">
          <a:blip r:embed="rId3"/>
          <a:srcRect l="67993"/>
          <a:stretch/>
        </p:blipFill>
        <p:spPr>
          <a:xfrm>
            <a:off x="6291847" y="2725153"/>
            <a:ext cx="2199105" cy="2705100"/>
          </a:xfrm>
          <a:prstGeom prst="rect">
            <a:avLst/>
          </a:prstGeom>
        </p:spPr>
      </p:pic>
      <p:graphicFrame>
        <p:nvGraphicFramePr>
          <p:cNvPr id="8" name="Table 7"/>
          <p:cNvGraphicFramePr>
            <a:graphicFrameLocks noGrp="1"/>
          </p:cNvGraphicFramePr>
          <p:nvPr/>
        </p:nvGraphicFramePr>
        <p:xfrm>
          <a:off x="831015" y="3375526"/>
          <a:ext cx="5198144" cy="1483360"/>
        </p:xfrm>
        <a:graphic>
          <a:graphicData uri="http://schemas.openxmlformats.org/drawingml/2006/table">
            <a:tbl>
              <a:tblPr firstRow="1" bandRow="1">
                <a:tableStyleId>{5C22544A-7EE6-4342-B048-85BDC9FD1C3A}</a:tableStyleId>
              </a:tblPr>
              <a:tblGrid>
                <a:gridCol w="2599072">
                  <a:extLst>
                    <a:ext uri="{9D8B030D-6E8A-4147-A177-3AD203B41FA5}">
                      <a16:colId xmlns:a16="http://schemas.microsoft.com/office/drawing/2014/main" val="20000"/>
                    </a:ext>
                  </a:extLst>
                </a:gridCol>
                <a:gridCol w="2599072">
                  <a:extLst>
                    <a:ext uri="{9D8B030D-6E8A-4147-A177-3AD203B41FA5}">
                      <a16:colId xmlns:a16="http://schemas.microsoft.com/office/drawing/2014/main" val="20001"/>
                    </a:ext>
                  </a:extLst>
                </a:gridCol>
              </a:tblGrid>
              <a:tr h="370840">
                <a:tc>
                  <a:txBody>
                    <a:bodyPr/>
                    <a:lstStyle/>
                    <a:p>
                      <a:pPr algn="ctr"/>
                      <a:r>
                        <a:rPr lang="pt-BR" dirty="0"/>
                        <a:t>Tipo de Família Lógica</a:t>
                      </a:r>
                    </a:p>
                  </a:txBody>
                  <a:tcPr/>
                </a:tc>
                <a:tc>
                  <a:txBody>
                    <a:bodyPr/>
                    <a:lstStyle/>
                    <a:p>
                      <a:pPr algn="ctr"/>
                      <a:r>
                        <a:rPr lang="pt-BR" dirty="0" err="1"/>
                        <a:t>Fan</a:t>
                      </a:r>
                      <a:r>
                        <a:rPr lang="pt-BR" dirty="0"/>
                        <a:t> out</a:t>
                      </a:r>
                    </a:p>
                  </a:txBody>
                  <a:tcPr/>
                </a:tc>
                <a:extLst>
                  <a:ext uri="{0D108BD9-81ED-4DB2-BD59-A6C34878D82A}">
                    <a16:rowId xmlns:a16="http://schemas.microsoft.com/office/drawing/2014/main" val="10000"/>
                  </a:ext>
                </a:extLst>
              </a:tr>
              <a:tr h="370840">
                <a:tc>
                  <a:txBody>
                    <a:bodyPr/>
                    <a:lstStyle/>
                    <a:p>
                      <a:pPr algn="ctr"/>
                      <a:r>
                        <a:rPr lang="pt-BR" dirty="0"/>
                        <a:t>TTL</a:t>
                      </a:r>
                    </a:p>
                  </a:txBody>
                  <a:tcPr/>
                </a:tc>
                <a:tc>
                  <a:txBody>
                    <a:bodyPr/>
                    <a:lstStyle/>
                    <a:p>
                      <a:pPr algn="ctr"/>
                      <a:r>
                        <a:rPr lang="pt-BR" dirty="0"/>
                        <a:t>10</a:t>
                      </a:r>
                    </a:p>
                  </a:txBody>
                  <a:tcPr/>
                </a:tc>
                <a:extLst>
                  <a:ext uri="{0D108BD9-81ED-4DB2-BD59-A6C34878D82A}">
                    <a16:rowId xmlns:a16="http://schemas.microsoft.com/office/drawing/2014/main" val="10001"/>
                  </a:ext>
                </a:extLst>
              </a:tr>
              <a:tr h="370840">
                <a:tc>
                  <a:txBody>
                    <a:bodyPr/>
                    <a:lstStyle/>
                    <a:p>
                      <a:pPr algn="ctr"/>
                      <a:r>
                        <a:rPr lang="pt-BR" dirty="0"/>
                        <a:t>ECL</a:t>
                      </a:r>
                    </a:p>
                  </a:txBody>
                  <a:tcPr/>
                </a:tc>
                <a:tc>
                  <a:txBody>
                    <a:bodyPr/>
                    <a:lstStyle/>
                    <a:p>
                      <a:pPr algn="ctr"/>
                      <a:r>
                        <a:rPr lang="pt-BR" dirty="0"/>
                        <a:t>25</a:t>
                      </a:r>
                    </a:p>
                  </a:txBody>
                  <a:tcPr/>
                </a:tc>
                <a:extLst>
                  <a:ext uri="{0D108BD9-81ED-4DB2-BD59-A6C34878D82A}">
                    <a16:rowId xmlns:a16="http://schemas.microsoft.com/office/drawing/2014/main" val="10002"/>
                  </a:ext>
                </a:extLst>
              </a:tr>
              <a:tr h="370840">
                <a:tc>
                  <a:txBody>
                    <a:bodyPr/>
                    <a:lstStyle/>
                    <a:p>
                      <a:pPr algn="ctr"/>
                      <a:r>
                        <a:rPr lang="pt-BR" dirty="0"/>
                        <a:t>CMOS</a:t>
                      </a:r>
                    </a:p>
                  </a:txBody>
                  <a:tcPr/>
                </a:tc>
                <a:tc>
                  <a:txBody>
                    <a:bodyPr/>
                    <a:lstStyle/>
                    <a:p>
                      <a:pPr algn="ctr"/>
                      <a:r>
                        <a:rPr lang="pt-BR" dirty="0"/>
                        <a:t>&gt;50</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07520357"/>
      </p:ext>
    </p:extLst>
  </p:cSld>
  <p:clrMapOvr>
    <a:masterClrMapping/>
  </p:clrMapOvr>
  <mc:AlternateContent xmlns:mc="http://schemas.openxmlformats.org/markup-compatibility/2006">
    <mc:Choice xmlns:p14="http://schemas.microsoft.com/office/powerpoint/2010/main" Requires="p14">
      <p:transition spd="slow" p14:dur="1200" advTm="52072">
        <p14:prism/>
      </p:transition>
    </mc:Choice>
    <mc:Fallback>
      <p:transition spd="slow" advTm="52072">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Encapsulamento</a:t>
            </a:r>
          </a:p>
        </p:txBody>
      </p:sp>
      <p:sp>
        <p:nvSpPr>
          <p:cNvPr id="3" name="Content Placeholder 2"/>
          <p:cNvSpPr>
            <a:spLocks noGrp="1"/>
          </p:cNvSpPr>
          <p:nvPr>
            <p:ph idx="1"/>
          </p:nvPr>
        </p:nvSpPr>
        <p:spPr>
          <a:xfrm>
            <a:off x="457200" y="1485900"/>
            <a:ext cx="8472905" cy="4724400"/>
          </a:xfrm>
        </p:spPr>
        <p:txBody>
          <a:bodyPr/>
          <a:lstStyle/>
          <a:p>
            <a:r>
              <a:rPr lang="pt-BR" dirty="0"/>
              <a:t>Dual </a:t>
            </a:r>
            <a:r>
              <a:rPr lang="pt-BR" dirty="0" err="1"/>
              <a:t>In-Line</a:t>
            </a:r>
            <a:r>
              <a:rPr lang="pt-BR" dirty="0"/>
              <a:t> </a:t>
            </a:r>
            <a:r>
              <a:rPr lang="pt-BR" dirty="0" err="1"/>
              <a:t>Package</a:t>
            </a:r>
            <a:r>
              <a:rPr lang="pt-BR" dirty="0"/>
              <a:t> ("DIP" ou "DIL”)               Land Grid </a:t>
            </a:r>
            <a:r>
              <a:rPr lang="pt-BR" dirty="0" err="1"/>
              <a:t>Array</a:t>
            </a:r>
            <a:r>
              <a:rPr lang="pt-BR" dirty="0"/>
              <a:t> (LGA) </a:t>
            </a:r>
          </a:p>
          <a:p>
            <a:endParaRPr lang="pt-BR" dirty="0"/>
          </a:p>
          <a:p>
            <a:endParaRPr lang="pt-BR" dirty="0"/>
          </a:p>
          <a:p>
            <a:endParaRPr lang="pt-BR" dirty="0"/>
          </a:p>
          <a:p>
            <a:endParaRPr lang="pt-BR" dirty="0"/>
          </a:p>
          <a:p>
            <a:endParaRPr lang="pt-BR" dirty="0"/>
          </a:p>
          <a:p>
            <a:endParaRPr lang="pt-BR" dirty="0"/>
          </a:p>
          <a:p>
            <a:r>
              <a:rPr lang="pt-BR" dirty="0"/>
              <a:t>Tecnologia de montagem superficial (conhecido como “SMT” ou “SMD”)</a:t>
            </a:r>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78</a:t>
            </a:fld>
            <a:endParaRPr lang="pt-BR" dirty="0"/>
          </a:p>
        </p:txBody>
      </p:sp>
      <p:pic>
        <p:nvPicPr>
          <p:cNvPr id="10" name="Picture 9" descr="circuitos-integrados-en-pecas-componentes-eletricos-119101-MLB20282978174_042015-Y.jpg"/>
          <p:cNvPicPr>
            <a:picLocks noChangeAspect="1"/>
          </p:cNvPicPr>
          <p:nvPr/>
        </p:nvPicPr>
        <p:blipFill rotWithShape="1">
          <a:blip r:embed="rId3">
            <a:extLst>
              <a:ext uri="{28A0092B-C50C-407E-A947-70E740481C1C}">
                <a14:useLocalDpi xmlns:a14="http://schemas.microsoft.com/office/drawing/2010/main" val="0"/>
              </a:ext>
            </a:extLst>
          </a:blip>
          <a:srcRect t="14225" b="11587"/>
          <a:stretch/>
        </p:blipFill>
        <p:spPr>
          <a:xfrm>
            <a:off x="725688" y="2098841"/>
            <a:ext cx="1734101" cy="1286486"/>
          </a:xfrm>
          <a:prstGeom prst="rect">
            <a:avLst/>
          </a:prstGeom>
        </p:spPr>
      </p:pic>
      <p:pic>
        <p:nvPicPr>
          <p:cNvPr id="11" name="Picture 10" descr="026115.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680" y="4165169"/>
            <a:ext cx="1884947" cy="1884947"/>
          </a:xfrm>
          <a:prstGeom prst="rect">
            <a:avLst/>
          </a:prstGeom>
        </p:spPr>
      </p:pic>
      <p:pic>
        <p:nvPicPr>
          <p:cNvPr id="12" name="Picture 11" descr="64-QFP-PG.jpg"/>
          <p:cNvPicPr>
            <a:picLocks noChangeAspect="1"/>
          </p:cNvPicPr>
          <p:nvPr/>
        </p:nvPicPr>
        <p:blipFill rotWithShape="1">
          <a:blip r:embed="rId5">
            <a:extLst>
              <a:ext uri="{28A0092B-C50C-407E-A947-70E740481C1C}">
                <a14:useLocalDpi xmlns:a14="http://schemas.microsoft.com/office/drawing/2010/main" val="0"/>
              </a:ext>
            </a:extLst>
          </a:blip>
          <a:srcRect t="7999" b="12431"/>
          <a:stretch/>
        </p:blipFill>
        <p:spPr>
          <a:xfrm>
            <a:off x="3943682" y="4138433"/>
            <a:ext cx="2368922" cy="1884947"/>
          </a:xfrm>
          <a:prstGeom prst="rect">
            <a:avLst/>
          </a:prstGeom>
        </p:spPr>
      </p:pic>
      <p:sp>
        <p:nvSpPr>
          <p:cNvPr id="14" name="Rectangle 13"/>
          <p:cNvSpPr/>
          <p:nvPr/>
        </p:nvSpPr>
        <p:spPr>
          <a:xfrm>
            <a:off x="6850515" y="6063771"/>
            <a:ext cx="2137950" cy="369332"/>
          </a:xfrm>
          <a:prstGeom prst="rect">
            <a:avLst/>
          </a:prstGeom>
        </p:spPr>
        <p:txBody>
          <a:bodyPr wrap="none">
            <a:spAutoFit/>
          </a:bodyPr>
          <a:lstStyle/>
          <a:p>
            <a:r>
              <a:rPr lang="pt-BR" dirty="0"/>
              <a:t>Ball Grid </a:t>
            </a:r>
            <a:r>
              <a:rPr lang="pt-BR" dirty="0" err="1"/>
              <a:t>Array</a:t>
            </a:r>
            <a:r>
              <a:rPr lang="pt-BR" dirty="0"/>
              <a:t> (BGA)</a:t>
            </a:r>
          </a:p>
        </p:txBody>
      </p:sp>
      <p:pic>
        <p:nvPicPr>
          <p:cNvPr id="15" name="Picture 14" descr="LGA775socket.jpg"/>
          <p:cNvPicPr>
            <a:picLocks noChangeAspect="1"/>
          </p:cNvPicPr>
          <p:nvPr/>
        </p:nvPicPr>
        <p:blipFill rotWithShape="1">
          <a:blip r:embed="rId6">
            <a:extLst>
              <a:ext uri="{28A0092B-C50C-407E-A947-70E740481C1C}">
                <a14:useLocalDpi xmlns:a14="http://schemas.microsoft.com/office/drawing/2010/main" val="0"/>
              </a:ext>
            </a:extLst>
          </a:blip>
          <a:srcRect l="16665" t="13792" r="12075"/>
          <a:stretch/>
        </p:blipFill>
        <p:spPr>
          <a:xfrm>
            <a:off x="7272420" y="2098841"/>
            <a:ext cx="1657685" cy="1504057"/>
          </a:xfrm>
          <a:prstGeom prst="rect">
            <a:avLst/>
          </a:prstGeom>
        </p:spPr>
      </p:pic>
      <p:pic>
        <p:nvPicPr>
          <p:cNvPr id="13" name="Picture 12" descr="intel-celeron-skt-lga-775-4_2456132.jp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46143" y="1848519"/>
            <a:ext cx="2026277" cy="1754380"/>
          </a:xfrm>
          <a:prstGeom prst="rect">
            <a:avLst/>
          </a:prstGeom>
        </p:spPr>
      </p:pic>
      <p:pic>
        <p:nvPicPr>
          <p:cNvPr id="16" name="Picture 15" descr="dc14.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32789" y="1848519"/>
            <a:ext cx="2121123" cy="1590842"/>
          </a:xfrm>
          <a:prstGeom prst="rect">
            <a:avLst/>
          </a:prstGeom>
        </p:spPr>
      </p:pic>
      <p:pic>
        <p:nvPicPr>
          <p:cNvPr id="17" name="Picture 16" descr="9194.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48750" y="4394914"/>
            <a:ext cx="1838050" cy="1668857"/>
          </a:xfrm>
          <a:prstGeom prst="rect">
            <a:avLst/>
          </a:prstGeom>
        </p:spPr>
      </p:pic>
      <p:sp>
        <p:nvSpPr>
          <p:cNvPr id="18" name="Rectangle 17"/>
          <p:cNvSpPr/>
          <p:nvPr/>
        </p:nvSpPr>
        <p:spPr>
          <a:xfrm>
            <a:off x="-2356" y="6072946"/>
            <a:ext cx="3764485" cy="369332"/>
          </a:xfrm>
          <a:prstGeom prst="rect">
            <a:avLst/>
          </a:prstGeom>
        </p:spPr>
        <p:txBody>
          <a:bodyPr wrap="none">
            <a:spAutoFit/>
          </a:bodyPr>
          <a:lstStyle/>
          <a:p>
            <a:r>
              <a:rPr lang="pt-BR" dirty="0" err="1"/>
              <a:t>Small</a:t>
            </a:r>
            <a:r>
              <a:rPr lang="pt-BR" dirty="0"/>
              <a:t> </a:t>
            </a:r>
            <a:r>
              <a:rPr lang="pt-BR" dirty="0" err="1"/>
              <a:t>Outline</a:t>
            </a:r>
            <a:r>
              <a:rPr lang="pt-BR" dirty="0"/>
              <a:t> </a:t>
            </a:r>
            <a:r>
              <a:rPr lang="pt-BR" dirty="0" err="1"/>
              <a:t>Integrated</a:t>
            </a:r>
            <a:r>
              <a:rPr lang="pt-BR" dirty="0"/>
              <a:t> </a:t>
            </a:r>
            <a:r>
              <a:rPr lang="pt-BR" dirty="0" err="1"/>
              <a:t>Circuit</a:t>
            </a:r>
            <a:r>
              <a:rPr lang="pt-BR" dirty="0"/>
              <a:t> (SOIC)</a:t>
            </a:r>
          </a:p>
        </p:txBody>
      </p:sp>
      <p:sp>
        <p:nvSpPr>
          <p:cNvPr id="19" name="Rectangle 18"/>
          <p:cNvSpPr/>
          <p:nvPr/>
        </p:nvSpPr>
        <p:spPr>
          <a:xfrm>
            <a:off x="3895809" y="6067168"/>
            <a:ext cx="2483635" cy="369332"/>
          </a:xfrm>
          <a:prstGeom prst="rect">
            <a:avLst/>
          </a:prstGeom>
        </p:spPr>
        <p:txBody>
          <a:bodyPr wrap="none">
            <a:spAutoFit/>
          </a:bodyPr>
          <a:lstStyle/>
          <a:p>
            <a:r>
              <a:rPr lang="pt-BR" dirty="0" err="1"/>
              <a:t>Quad</a:t>
            </a:r>
            <a:r>
              <a:rPr lang="pt-BR" dirty="0"/>
              <a:t> Flat </a:t>
            </a:r>
            <a:r>
              <a:rPr lang="pt-BR" dirty="0" err="1"/>
              <a:t>Package</a:t>
            </a:r>
            <a:r>
              <a:rPr lang="pt-BR" dirty="0"/>
              <a:t> (QFP)</a:t>
            </a:r>
          </a:p>
        </p:txBody>
      </p:sp>
    </p:spTree>
    <p:extLst>
      <p:ext uri="{BB962C8B-B14F-4D97-AF65-F5344CB8AC3E}">
        <p14:creationId xmlns:p14="http://schemas.microsoft.com/office/powerpoint/2010/main" val="3138484103"/>
      </p:ext>
    </p:extLst>
  </p:cSld>
  <p:clrMapOvr>
    <a:masterClrMapping/>
  </p:clrMapOvr>
  <mc:AlternateContent xmlns:mc="http://schemas.openxmlformats.org/markup-compatibility/2006">
    <mc:Choice xmlns:p14="http://schemas.microsoft.com/office/powerpoint/2010/main" Requires="p14">
      <p:transition spd="slow" p14:dur="1200" advTm="59715">
        <p14:prism/>
      </p:transition>
    </mc:Choice>
    <mc:Fallback>
      <p:transition spd="slow" advTm="59715">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Computar em chips TTL</a:t>
            </a:r>
          </a:p>
        </p:txBody>
      </p:sp>
      <p:sp>
        <p:nvSpPr>
          <p:cNvPr id="3" name="Content Placeholder 2"/>
          <p:cNvSpPr>
            <a:spLocks noGrp="1"/>
          </p:cNvSpPr>
          <p:nvPr>
            <p:ph idx="1"/>
          </p:nvPr>
        </p:nvSpPr>
        <p:spPr/>
        <p:txBody>
          <a:bodyPr/>
          <a:lstStyle/>
          <a:p>
            <a:r>
              <a:rPr lang="pt-BR" dirty="0"/>
              <a:t>Seria possível fazer todo um computador em TTL?</a:t>
            </a:r>
          </a:p>
          <a:p>
            <a:r>
              <a:rPr lang="pt-BR" dirty="0"/>
              <a:t>Sim, já foi feito e inclusive já simulara o computador do curso no </a:t>
            </a:r>
            <a:r>
              <a:rPr lang="pt-BR" dirty="0" err="1"/>
              <a:t>logisim</a:t>
            </a:r>
            <a:r>
              <a:rPr lang="pt-BR" dirty="0"/>
              <a:t>.</a:t>
            </a:r>
          </a:p>
        </p:txBody>
      </p:sp>
      <p:sp>
        <p:nvSpPr>
          <p:cNvPr id="5" name="Text Placeholder 4"/>
          <p:cNvSpPr>
            <a:spLocks noGrp="1"/>
          </p:cNvSpPr>
          <p:nvPr>
            <p:ph type="body" sz="quarter" idx="13"/>
          </p:nvPr>
        </p:nvSpPr>
        <p:spPr/>
        <p:txBody>
          <a:bodyPr/>
          <a:lstStyle/>
          <a:p>
            <a:endParaRPr lang="pt-BR"/>
          </a:p>
        </p:txBody>
      </p:sp>
      <p:pic>
        <p:nvPicPr>
          <p:cNvPr id="4" name="Picture 3"/>
          <p:cNvPicPr>
            <a:picLocks noChangeAspect="1"/>
          </p:cNvPicPr>
          <p:nvPr/>
        </p:nvPicPr>
        <p:blipFill rotWithShape="1">
          <a:blip r:embed="rId3"/>
          <a:srcRect l="4323" t="35352" r="31689" b="1578"/>
          <a:stretch/>
        </p:blipFill>
        <p:spPr>
          <a:xfrm>
            <a:off x="1287886" y="2470296"/>
            <a:ext cx="6890198" cy="4235640"/>
          </a:xfrm>
          <a:prstGeom prst="rect">
            <a:avLst/>
          </a:prstGeom>
        </p:spPr>
      </p:pic>
      <p:pic>
        <p:nvPicPr>
          <p:cNvPr id="6" name="Picture 5"/>
          <p:cNvPicPr>
            <a:picLocks noChangeAspect="1"/>
          </p:cNvPicPr>
          <p:nvPr/>
        </p:nvPicPr>
        <p:blipFill rotWithShape="1">
          <a:blip r:embed="rId3"/>
          <a:srcRect t="7685" r="85760" b="86437"/>
          <a:stretch/>
        </p:blipFill>
        <p:spPr>
          <a:xfrm>
            <a:off x="7391400" y="6400464"/>
            <a:ext cx="1186600" cy="305472"/>
          </a:xfrm>
          <a:prstGeom prst="rect">
            <a:avLst/>
          </a:prstGeom>
        </p:spPr>
      </p:pic>
    </p:spTree>
    <p:extLst>
      <p:ext uri="{BB962C8B-B14F-4D97-AF65-F5344CB8AC3E}">
        <p14:creationId xmlns:p14="http://schemas.microsoft.com/office/powerpoint/2010/main" val="1524657045"/>
      </p:ext>
    </p:extLst>
  </p:cSld>
  <p:clrMapOvr>
    <a:masterClrMapping/>
  </p:clrMapOvr>
  <mc:AlternateContent xmlns:mc="http://schemas.openxmlformats.org/markup-compatibility/2006">
    <mc:Choice xmlns:p14="http://schemas.microsoft.com/office/powerpoint/2010/main" Requires="p14">
      <p:transition spd="slow" p14:dur="1200" advTm="36171">
        <p14:prism/>
      </p:transition>
    </mc:Choice>
    <mc:Fallback>
      <p:transition spd="slow" advTm="36171">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Filme</a:t>
            </a:r>
          </a:p>
        </p:txBody>
      </p:sp>
      <p:sp>
        <p:nvSpPr>
          <p:cNvPr id="3" name="Content Placeholder 2"/>
          <p:cNvSpPr>
            <a:spLocks noGrp="1"/>
          </p:cNvSpPr>
          <p:nvPr>
            <p:ph idx="1"/>
          </p:nvPr>
        </p:nvSpPr>
        <p:spPr/>
        <p:txBody>
          <a:bodyPr/>
          <a:lstStyle/>
          <a:p>
            <a:r>
              <a:rPr lang="pt-BR" dirty="0"/>
              <a:t>Filme interessante sobre produção de circuitos integrados.</a:t>
            </a:r>
          </a:p>
        </p:txBody>
      </p:sp>
      <p:sp>
        <p:nvSpPr>
          <p:cNvPr id="4" name="Text Placeholder 3"/>
          <p:cNvSpPr>
            <a:spLocks noGrp="1"/>
          </p:cNvSpPr>
          <p:nvPr>
            <p:ph type="body" sz="quarter" idx="13"/>
          </p:nvPr>
        </p:nvSpPr>
        <p:spPr/>
        <p:txBody>
          <a:bodyPr/>
          <a:lstStyle/>
          <a:p>
            <a:endParaRPr lang="en-US"/>
          </a:p>
        </p:txBody>
      </p:sp>
      <p:sp>
        <p:nvSpPr>
          <p:cNvPr id="5" name="Slide Number Placeholder 4"/>
          <p:cNvSpPr>
            <a:spLocks noGrp="1"/>
          </p:cNvSpPr>
          <p:nvPr>
            <p:ph type="sldNum" sz="quarter" idx="4"/>
          </p:nvPr>
        </p:nvSpPr>
        <p:spPr/>
        <p:txBody>
          <a:bodyPr/>
          <a:lstStyle/>
          <a:p>
            <a:fld id="{7FFE5E5C-C80A-4D8D-A711-3102A7BA9258}" type="slidenum">
              <a:rPr lang="pt-BR" smtClean="0"/>
              <a:pPr/>
              <a:t>80</a:t>
            </a:fld>
            <a:endParaRPr lang="pt-BR" dirty="0"/>
          </a:p>
        </p:txBody>
      </p:sp>
      <p:sp>
        <p:nvSpPr>
          <p:cNvPr id="6" name="Rectangle 5"/>
          <p:cNvSpPr/>
          <p:nvPr/>
        </p:nvSpPr>
        <p:spPr>
          <a:xfrm>
            <a:off x="725688" y="5395030"/>
            <a:ext cx="5841419" cy="1200329"/>
          </a:xfrm>
          <a:prstGeom prst="rect">
            <a:avLst/>
          </a:prstGeom>
        </p:spPr>
        <p:txBody>
          <a:bodyPr wrap="square">
            <a:spAutoFit/>
          </a:bodyPr>
          <a:lstStyle/>
          <a:p>
            <a:r>
              <a:rPr lang="pt-BR" dirty="0"/>
              <a:t>Outros:</a:t>
            </a:r>
          </a:p>
          <a:p>
            <a:r>
              <a:rPr lang="pt-BR" dirty="0">
                <a:hlinkClick r:id="rId3"/>
              </a:rPr>
              <a:t>https://www.youtube.com/watch?v=35jWSQXku74</a:t>
            </a:r>
            <a:endParaRPr lang="pt-BR" dirty="0">
              <a:hlinkClick r:id="" action="ppaction://noaction"/>
            </a:endParaRPr>
          </a:p>
          <a:p>
            <a:r>
              <a:rPr lang="pt-BR" dirty="0">
                <a:hlinkClick r:id="" action="ppaction://noaction"/>
              </a:rPr>
              <a:t>https://www.youtube.com/watch?v=s6uLhgLi-mo</a:t>
            </a:r>
            <a:endParaRPr lang="pt-BR" dirty="0"/>
          </a:p>
          <a:p>
            <a:endParaRPr lang="pt-BR" dirty="0"/>
          </a:p>
        </p:txBody>
      </p:sp>
      <p:grpSp>
        <p:nvGrpSpPr>
          <p:cNvPr id="9" name="Group 8"/>
          <p:cNvGrpSpPr/>
          <p:nvPr/>
        </p:nvGrpSpPr>
        <p:grpSpPr>
          <a:xfrm>
            <a:off x="2286000" y="2097623"/>
            <a:ext cx="5105400" cy="3297407"/>
            <a:chOff x="2308066" y="1485900"/>
            <a:chExt cx="5105400" cy="3297407"/>
          </a:xfrm>
        </p:grpSpPr>
        <p:pic>
          <p:nvPicPr>
            <p:cNvPr id="7" name="Picture 6"/>
            <p:cNvPicPr>
              <a:picLocks noChangeAspect="1"/>
            </p:cNvPicPr>
            <p:nvPr/>
          </p:nvPicPr>
          <p:blipFill>
            <a:blip r:embed="rId4"/>
            <a:stretch>
              <a:fillRect/>
            </a:stretch>
          </p:blipFill>
          <p:spPr>
            <a:xfrm>
              <a:off x="2308066" y="1485900"/>
              <a:ext cx="5083334" cy="2975222"/>
            </a:xfrm>
            <a:prstGeom prst="rect">
              <a:avLst/>
            </a:prstGeom>
          </p:spPr>
        </p:pic>
        <p:sp>
          <p:nvSpPr>
            <p:cNvPr id="8" name="Rectangle 7"/>
            <p:cNvSpPr/>
            <p:nvPr/>
          </p:nvSpPr>
          <p:spPr>
            <a:xfrm>
              <a:off x="2308066" y="4413975"/>
              <a:ext cx="5105400" cy="369332"/>
            </a:xfrm>
            <a:prstGeom prst="rect">
              <a:avLst/>
            </a:prstGeom>
          </p:spPr>
          <p:txBody>
            <a:bodyPr wrap="square">
              <a:spAutoFit/>
            </a:bodyPr>
            <a:lstStyle/>
            <a:p>
              <a:r>
                <a:rPr lang="en-US" dirty="0">
                  <a:hlinkClick r:id="rId5"/>
                </a:rPr>
                <a:t>https://www.youtube.com/watch?v=aWVywhzuHnQ</a:t>
              </a:r>
              <a:endParaRPr lang="en-US" dirty="0"/>
            </a:p>
          </p:txBody>
        </p:sp>
      </p:grpSp>
    </p:spTree>
    <p:extLst>
      <p:ext uri="{BB962C8B-B14F-4D97-AF65-F5344CB8AC3E}">
        <p14:creationId xmlns:p14="http://schemas.microsoft.com/office/powerpoint/2010/main" val="2411762210"/>
      </p:ext>
    </p:extLst>
  </p:cSld>
  <p:clrMapOvr>
    <a:masterClrMapping/>
  </p:clrMapOvr>
  <mc:AlternateContent xmlns:mc="http://schemas.openxmlformats.org/markup-compatibility/2006">
    <mc:Choice xmlns:p14="http://schemas.microsoft.com/office/powerpoint/2010/main" Requires="p14">
      <p:transition spd="slow" p14:dur="1200" advTm="13443">
        <p14:prism/>
      </p:transition>
    </mc:Choice>
    <mc:Fallback>
      <p:transition spd="slow" advTm="13443">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Software Adicional</a:t>
            </a:r>
          </a:p>
        </p:txBody>
      </p:sp>
      <p:sp>
        <p:nvSpPr>
          <p:cNvPr id="3" name="Content Placeholder 2"/>
          <p:cNvSpPr>
            <a:spLocks noGrp="1"/>
          </p:cNvSpPr>
          <p:nvPr>
            <p:ph idx="1"/>
          </p:nvPr>
        </p:nvSpPr>
        <p:spPr/>
        <p:txBody>
          <a:bodyPr>
            <a:normAutofit/>
          </a:bodyPr>
          <a:lstStyle/>
          <a:p>
            <a:r>
              <a:rPr lang="pt-BR" sz="2800" noProof="1"/>
              <a:t>Logisim</a:t>
            </a:r>
          </a:p>
          <a:p>
            <a:r>
              <a:rPr lang="pt-BR" noProof="1">
                <a:hlinkClick r:id="rId3"/>
              </a:rPr>
              <a:t>http://www.cburch.com/logisim/</a:t>
            </a:r>
            <a:endParaRPr lang="pt-BR" noProof="1"/>
          </a:p>
          <a:p>
            <a:endParaRPr lang="pt-BR" sz="2800" noProof="1"/>
          </a:p>
          <a:p>
            <a:endParaRPr lang="pt-BR" sz="2800" noProof="1"/>
          </a:p>
          <a:p>
            <a:endParaRPr lang="pt-BR" sz="2800" noProof="1"/>
          </a:p>
          <a:p>
            <a:r>
              <a:rPr lang="en-US" sz="2800" dirty="0"/>
              <a:t>Proteus</a:t>
            </a:r>
            <a:br>
              <a:rPr lang="en-US" sz="2800" dirty="0"/>
            </a:br>
            <a:r>
              <a:rPr lang="pt-BR" dirty="0">
                <a:hlinkClick r:id="rId4"/>
              </a:rPr>
              <a:t>www.labcenter.com/download/prodemo_autodl_general.cfm</a:t>
            </a:r>
            <a:r>
              <a:rPr lang="pt-BR" dirty="0"/>
              <a:t> </a:t>
            </a:r>
          </a:p>
          <a:p>
            <a:endParaRPr lang="pt-BR" sz="2800" noProof="1"/>
          </a:p>
          <a:p>
            <a:endParaRPr lang="pt-BR" sz="2800" noProof="1"/>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81</a:t>
            </a:fld>
            <a:endParaRPr lang="pt-BR" dirty="0"/>
          </a:p>
        </p:txBody>
      </p:sp>
      <p:pic>
        <p:nvPicPr>
          <p:cNvPr id="6" name="Picture 5" descr="61.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3056" y="1743075"/>
            <a:ext cx="3163817" cy="1683818"/>
          </a:xfrm>
          <a:prstGeom prst="rect">
            <a:avLst/>
          </a:prstGeom>
        </p:spPr>
      </p:pic>
      <p:pic>
        <p:nvPicPr>
          <p:cNvPr id="7" name="Picture 6"/>
          <p:cNvPicPr>
            <a:picLocks noChangeAspect="1"/>
          </p:cNvPicPr>
          <p:nvPr/>
        </p:nvPicPr>
        <p:blipFill>
          <a:blip r:embed="rId6"/>
          <a:stretch>
            <a:fillRect/>
          </a:stretch>
        </p:blipFill>
        <p:spPr>
          <a:xfrm>
            <a:off x="5268891" y="4878174"/>
            <a:ext cx="2032000" cy="1524000"/>
          </a:xfrm>
          <a:prstGeom prst="rect">
            <a:avLst/>
          </a:prstGeom>
        </p:spPr>
      </p:pic>
    </p:spTree>
    <p:extLst>
      <p:ext uri="{BB962C8B-B14F-4D97-AF65-F5344CB8AC3E}">
        <p14:creationId xmlns:p14="http://schemas.microsoft.com/office/powerpoint/2010/main" val="1556589024"/>
      </p:ext>
    </p:extLst>
  </p:cSld>
  <p:clrMapOvr>
    <a:masterClrMapping/>
  </p:clrMapOvr>
  <mc:AlternateContent xmlns:mc="http://schemas.openxmlformats.org/markup-compatibility/2006">
    <mc:Choice xmlns:p14="http://schemas.microsoft.com/office/powerpoint/2010/main" Requires="p14">
      <p:transition spd="slow" p14:dur="1200" advTm="20827">
        <p14:prism/>
      </p:transition>
    </mc:Choice>
    <mc:Fallback>
      <p:transition spd="slow" advTm="20827">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5675">
        <p14:prism/>
      </p:transition>
    </mc:Choice>
    <mc:Fallback xmlns="">
      <p:transition spd="slow" advTm="5675">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1.199|4.918"/>
</p:tagLst>
</file>

<file path=ppt/tags/tag2.xml><?xml version="1.0" encoding="utf-8"?>
<p:tagLst xmlns:a="http://schemas.openxmlformats.org/drawingml/2006/main" xmlns:r="http://schemas.openxmlformats.org/officeDocument/2006/relationships" xmlns:p="http://schemas.openxmlformats.org/presentationml/2006/main">
  <p:tag name="TIMING" val="|11.289"/>
</p:tagLst>
</file>

<file path=ppt/tags/tag3.xml><?xml version="1.0" encoding="utf-8"?>
<p:tagLst xmlns:a="http://schemas.openxmlformats.org/drawingml/2006/main" xmlns:r="http://schemas.openxmlformats.org/officeDocument/2006/relationships" xmlns:p="http://schemas.openxmlformats.org/presentationml/2006/main">
  <p:tag name="ATHENA.MIXSHAPE" val="AAEAAAD/////AQAAAAAAAAAMAgAAAE9BdXRob3JQUFQsIFZlcnNpb249MC4xLjU3MjAuMCwgQ3VsdHVyZT1uZXV0cmFsLCBQdWJsaWNLZXlUb2tlbj0zMWJmMzg1NmFkMzY0ZTM1BQEAAAALSW5rTWF0dGVyVjEEAAAABVNjYWxlDUxpc3RgMStfaXRlbXMMTGlzdGAxK19zaXplD0xpc3RgMStfdmVyc2lvbgAEAAALF1NoYXJlZC5JbmtpbmcuSW5rQXRvbVtdAgAAAAgIAgAAAGVMMD8JAwAAAAMAAAAEAAAABwMAAAAAAQAAAAQAAAAECUlua0F0b21WMQIAAAAJBAAAAAkFAAAACQYAAAAKBQQAAAALUGVuU3Ryb2tlVjEEAAAACkF0dHJpYnV0ZXMFVHJhY2UJU3RhcnRUaW1lBFR5cGUEBAAED1BlbkF0dHJpYnV0ZXNWMQIAAAAKSW5rVHJhY2VWMQIAAAAQDEFjdGlvblR5cGVWMQIAAAACAAAACQcAAAAJCAAAAG6UAAAAAAAABff///8MQWN0aW9uVHlwZVYxAQAAAAd2YWx1ZV9fAAgCAAAAAAAAAAEFAAAABAAAAAkKAAAACQsAAAAl7wAAAAAAAAH0////9////wAAAAABBgAAAAQAAAAJDQAAAAkOAAAA5voAAAAAAAAB8f////f///8AAAAABQcAAAAPUGVuQXR0cmlidXRlc1YxCgAAAAdfY29sb3JBB19jb2xvclIHX2NvbG9yRwdfY29sb3JCCkZpdFRvQ3VydmUGSGVpZ2h0Dklnbm9yZVByZXNzdXJlDUlzSGlnaGxpZ2h0ZXIFU2hhcGUFV2lkdGgAAAAAAAAAAAQAAgICAgEGAQEMQnJ1c2hTaGFwZVYxAgAAAAYCAAAA//8AAAAAAAAAAAAIQAAABfD///8MQnJ1c2hTaGFwZVYxAQAAAAd2YWx1ZV9fAAgCAAAAAQAAAAAAAAAAAAhABQgAAAAKSW5rVHJhY2VWMQMAAAANTGlzdGAxK19pdGVtcwxMaXN0YDErX3NpemUPTGlzdGAxK192ZXJzaW9uBAAAGFNoYXJlZC5JbmtpbmcuSW5rUG9pbnRbXQIAAAAICAIAAAAJEQAAADwAAAA8AAAAAQoAAAAHAAAA//8AAAAAAAAAAAAIQAAAAe7////w////AQAAAAAAAAAAAAhAAQsAAAAIAAAACRMAAAAwAAAAMAAAAAENAAAABwAAAP//AAAAAAAAAAAACEAAAAHs////8P///wEAAAAAAAAAAAAIQAEOAAAACAAAAAkVAAAAXgAAAF4AAAAHEQAAAAABAAAAQAAAAAQKSW5rUG9pbnRWMQIAAAAJFgAAAAkXAAAACRgAAAAJGQAAAAkaAAAACRsAAAAJHAAAAAkdAAAACR4AAAAJHwAAAAkgAAAACSEAAAAJIgAAAAkjAAAACSQAAAAJJQAAAAkmAAAACScAAAAJKAAAAAkpAAAACSoAAAAJKwAAAAksAAAACS0AAAAJLgAAAAkvAAAACTAAAAAJMQAAAAkyAAAACTMAAAAJNAAAAAk1AAAACTYAAAAJNwAAAAk4AAAACTkAAAAJOgAAAAk7AAAACTwAAAAJPQAAAAk+AAAACT8AAAAJQAAAAAlBAAAACUIAAAAJQwAAAAlEAAAACUUAAAAJRgAAAAlHAAAACUgAAAAJSQAAAAlKAAAACUsAAAAJTAAAAAlNAAAACU4AAAAJTwAAAAlQAAAACVEAAAANBAcTAAAAAAEAAABAAAAABApJbmtQb2ludFYxAgAAAAlSAAAACVMAAAAJVAAAAAlVAAAACVYAAAAJVwAAAAlYAAAACVkAAAAJWgAAAAlbAAAACVwAAAAJXQAAAAleAAAACV8AAAAJYAAAAAlhAAAACWIAAAAJYwAAAAlkAAAACWUAAAAJZgAAAAlnAAAACWgAAAAJaQAAAAlqAAAACWsAAAAJbAAAAAltAAAACW4AAAAJbwAAAAlwAAAACXEAAAAJcgAAAAlzAAAACXQAAAAJdQAAAAl2AAAACXcAAAAJeAAAAAl5AAAACXoAAAAJewAAAAl8AAAACX0AAAAJfgAAAAl/AAAACYAAAAAJgQAAAA0QBxUAAAAAAQAAAIAAAAAECklua1BvaW50VjECAAAACYIAAAAJgwAAAAmEAAAACYUAAAAJhgAAAAmHAAAACYgAAAAJiQAAAAmKAAAACYsAAAAJjAAAAAmNAAAACY4AAAAJjwAAAAmQAAAACZEAAAAJkgAAAAmTAAAACZQAAAAJlQAAAAmWAAAACZcAAAAJmAAAAAmZAAAACZoAAAAJmwAAAAmcAAAACZ0AAAAJngAAAAmfAAAACaAAAAAJoQAAAAmiAAAACaMAAAAJpAAAAAmlAAAACaYAAAAJpwAAAAmoAAAACakAAAAJqgAAAAmrAAAACawAAAAJrQAAAAmuAAAACa8AAAAJsAAAAAmxAAAACbIAAAAJswAAAAm0AAAACbUAAAAJtgAAAAm3AAAACbgAAAAJuQAAAAm6AAAACbsAAAAJvAAAAAm9AAAACb4AAAAJvwAAAAnAAAAACcEAAAAJwgAAAAnDAAAACcQAAAAJxQAAAAnGAAAACccAAAAJyAAAAAnJAAAACcoAAAAJywAAAAnMAAAACc0AAAAJzgAAAAnPAAAACdAAAAAJ0QAAAAnSAAAACdMAAAAJ1AAAAAnVAAAACdYAAAAJ1wAAAAnYAAAACdkAAAAJ2gAAAAnbAAAACdwAAAAJ3QAAAAneAAAACd8AAAANIgUWAAAACklua1BvaW50VjEEAAAAAVgBWQ5QcmVzc3VyZUZhY3RvcglUaW1lU3RhbXAAAAAABgYLEAIAAACAnlNegsVjPxgaGhoaGuo/AAAAPwAAAAAAAAAAARcAAAAWAAAAACga061caj8YGhoaGhrqPwAAAD8AAAAAAAAAAAEYAAAAFgAAAADjthgYEXc/GBoaGhoa6j8AAAA/6wAAAAAAAAABGQAAABYAAACA+yGBtx+CPxgaGhoaGuo/AAAAP+sAAAAAAAAAARoAAAAWAAAAgECFO01rhT8YGhoaGhrqPwAAAD/6AAAAAAAAAAEbAAAAFgAAACAoGtOtXIo/GBoaGhoa6j8AAAA/+gAAAAAAAAABHAAAABYAAAAAWfCj7HmQPxgaGhoaGuo/AAAAPwoBAAAAAAAAAR0AAAAWAAAAAJ5TXoLFkz8YGhoaGhrqPwAAAD8KAQAAAAAAAAEeAAAAFgAAABDjthgYEZc/+Pn5+fn56T8AAAA/GQEAAAAAAAABHwAAABYAAADAVoFkyImZP9jZ2dnZ2ek/AAAAPxkBAAAAAAAAASAAAAAWAAAAkMpLsHgCnD/Y2dnZ2dnpPwAAAD8pAQAAAAAAAAEhAAAAFgAAAIAPr2oOTp8/uLm5ubm56T8AAAA/OQEAAAAAAAABIgAAABYAAAAAWfCj7HmgP7i5ubm5uek/AAAAPzkBAAAAAAAAASMAAAAWAAAA2JLVyUS2oT+YmZmZmZnpPwAAAD85AQAAAAAAAAEkAAAAFgAAAMDMuu+c8qI/mJmZmZmZ6T8AAAA/SAEAAAAAAAABJQAAABYAAABYNQenD1yjP5iZmZmZmek/AAAAP0gBAAAAAAAAASYAAAAWAAAAQG/szGeYpD+YmZmZmZnpPwAAAD9YAQAAAAAAAAEnAAAAFgAAAODXOITaAaU/mJmZmZmZ6T8AAAA/aAEAAAAAAAABKAAAABYAAAC4ER6qMj6mP5iZmZmZmek/AAAAP2gBAAAAAAAAASkAAAAWAAAAoEsD0Ip6pz+YmZmZmZnpPwAAAD93AQAAAAAAAAEqAAAAFgAAAEC0T4f946c/mJmZmZmZ6T8AAAA/dwEAAAAAAAABKwAAABYAAAB4hej14raoP5iZmZmZmek/AAAAP3cBAAAAAAAAASwAAAAWAAAAuFaBZMiJqT94eXl5eXnpPwAAAD+HAQAAAAAAAAEtAAAAFgAAAPgnGtOtXKo/eHl5eXl56T8AAAA/hwEAAAAAAAABLgAAABYAAAA4+bJBky+rP3h5eXl5eek/AAAAP5YBAAAAAAAAAS8AAAAWAAAA2GH/+AWZqz9YWVlZWVnpPwAAAD+mAQAAAAAAAAEwAAAAFgAAABgzmGfra6w/WFlZWVlZ6T8AAAA/pgEAAAAAAAABMQAAABYAAAC4m+QeXtWsP1hZWVlZWek/AAAAP6YBAAAAAAAAATIAAAAWAAAA+Gx9jUOorT9YWVlZWVnpPwAAAD+2AQAAAAAAAAEzAAAAFgAAADg+Fvwoe64/WFlZWVlZ6T8AAAA/tgEAAAAAAAABNAAAABYAAADYpmKzm+SuP1hZWVlZWek/AAAAP8UBAAAAAAAAATUAAAAWAAAAGHj7IYG3rz9YWVlZWVnpPwAAAD/VAQAAAAAAAAE2AAAAFgAAAFzwo+x5ELA/WFlZWVlZ6T8AAAA/1QEAAAAAAAABNwAAABYAAAD8WPCj7HmwP1hZWVlZWek/AAAAP9gBAAAAAAAAATgAAAAWAAAAnME8W1/jsD9YWVlZWVnpPwAAAD/YAQAAAAAAAAE5AAAAFgAAADwqiRLSTLE/WFlZWVlZ6T8AAAA/5wEAAAAAAAABOgAAABYAAADcktXJRLaxP1hZWVlZWek/AAAAP+cBAAAAAAAAATsAAAAWAAAA3JLVyUS2sT84OTk5OTnpPwAAAD/3AQAAAAAAAAE8AAAAFgAAAHz7IYG3H7I/ODk5OTk56T8AAAA/9wEAAAAAAAABPQAAABYAAAAUZG44KomyPzg5OTk5Oek/AAAAPwYCAAAAAAAAAT4AAAAWAAAAbJgUlOO9sj84OTk5OTnpPwAAAD8GAgAAAAAAAAE/AAAAFgAAAAwBYUtWJ7M/GBkZGRkZ6T8AAAA/FgIAAAAAAAABQAAAABYAAABcNQenD1yzPxgZGRkZGek/AAAAPxYCAAAAAAAAAUEAAAAWAAAA9J1TXoLFsz/4+Pj4+PjoPwAAAD8mAgAAAAAAAAFCAAAAFgAAAEzS+bk7+rM/+Pj4+Pj46D8AAAA/JgIAAAAAAAABQwAAABYAAACcBqAV9S60P/j4+Pj4+Og/AAAAPzUCAAAAAAAAAUQAAAAWAAAAPG/szGeYtD/4+Pj4+PjoPwAAAD81AgAAAAAAAAFFAAAAFgAAAIyjkighzbQ/+Pj4+Pj46D8AAAA/RQIAAAAAAAABRgAAABYAAAAkDN/fkza1P/j4+Pj4+Og/AAAAP0UCAAAAAAAAAUcAAAAWAAAAfECFO01rtT/4+Pj4+PjoPwAAAD9VAgAAAAAAAAFIAAAAFgAAAMx0K5cGoLU/+Pj4+Pj46D8AAAA/VQIAAAAAAAABSQAAABYAAAAcqdHyv9S1P/j4+Pj4+Og/AAAAP2QCAAAAAAAAAUoAAAAWAAAAtBEeqjI+tj/4+Pj4+PjoPwAAAD9kAgAAAAAAAAFLAAAAFgAAAARGxAXscrY/+Pj4+Pj46D8AAAA/dAIAAAAAAAABTAAAABYAAABUemphpae2P/j4+Pj4+Og/AAAAP4MCAAAAAAAAAU0AAAAWAAAArK4QvV7ctj/4+Pj4+PjoPwAAAD+TAgAAAAAAAAFOAAAAFgAAAPzithgYEbc/+Pj4+Pj46D8AAAA/kwIAAAAAAAABTwAAABYAAABMF1100UW3P/j4+Pj4+Og/AAAAP9ICAAAAAAAAAVAAAAAWAAAA/OK2GBgRtz/4+Pj4+PjoPwAAAD8pBAAAAAAAAAFRAAAAFgAAAPzithgYEbc/GBkZGRkZ6T8AAAA/ZwQAAAAAAAABUgAAABYAAAD6IYG3HxLoP9jS0tLS0uI/AAAAPwAAAAAAAAAAAVMAAAAWAAAAhOj14rYY6D/Y0tLS0tLiPwAAAD8AAAAAAAAAAAFUAAAAFgAAAJp13znlJeg/2NLS0tLS4j8AAAA/CgEAAAAAAAABVQAAABYAAAAkPFRlfCzoP9jS0tLS0uI/AAAAPwoBAAAAAAAAAVYAAAAWAAAAOMk9vKo56D/Y0tLS0tLiPwAAAD8ZAQAAAAAAAAFXAAAAFgAAAExWJxPZRug/2NLS0tLS4j8AAAA/KQEAAAAAAAABWAAAABYAAADoqYWVnlroP9jS0tLS0uI/AAAAPykBAAAAAAAAAVkAAAAWAAAAhv3jF2Ru6D/Y0tLS0tLiPwAAAD84AQAAAAAAAAFaAAAAFgAAAJyKzW6Se+g/2NLS0tLS4j8AAAA/OAEAAAAAAAABWwAAABYAAACwF7fFwIjoP9jS0tLS0uI/AAAAP0gBAAAAAAAAAVwAAAAWAAAAxKSgHO+V6D/Y0tLS0tLiPwAAAD9IAQAAAAAAAAFdAAAAFgAAAE5rFUiGnOg/2NLS0tLS4j8AAAA/WAEAAAAAAAABXgAAABYAAABg+P6etKnoP9jS0tLS0uI/AAAAP1gBAAAAAAAAAV8AAAAWAAAAYPj+nrSp6D+wsrKysrLiPwAAAD9nAQAAAAAAAAFgAAAAFgAAAOq+c8pLsOg/sLKysrKy4j8AAAA/ZwEAAAAAAAABYQAAABYAAAB0hej14rboP7CysrKysuI/AAAAP3cBAAAAAAAAAWIAAAAWAAAA/ktdIXq96D+wsrKysrLiPwAAAD93AQAAAAAAAAFjAAAAFgAAAIgS0kwRxOg/sLKysrKy4j8AAAA/mwEAAAAAAAABZAAAABYAAACIEtJMEcToP5CSkpKSkuI/AAAAP5sBAAAAAAAAAWUAAAAWAAAAEtlGeKjK6D+QkpKSkpLiPwAAAD+qAQAAAAAAAAFmAAAAFgAAAJ6fu6M/0eg/eHJycnJy4j8AAAA/ygEAAAAAAAABZwAAABYAAAA88xkmBeXoP3hycnJycuI/AAAAP8oBAAAAAAAAAWgAAAAWAAAAxrmOUZzr6D94cnJycnLiPwAAAD/ZAQAAAAAAAAFpAAAAFgAAAGIN7dNh/+g/eHJycnJy4j8AAAA/2QEAAAAAAAABagAAABYAAAAAYUtWJxPpP3hycnJycuI/AAAAP+kBAAAAAAAAAWsAAAAWAAAAiifAgb4Z6T9QUlJSUlLiPwAAAD/pAQAAAAAAAAFsAAAAFgAAAKC0qdjsJuk/UFJSUlJS4j8AAAA/+QEAAAAAAAABbQAAABYAAAAqex4EhC3pP1BSUlJSUuI/AAAAP/kBAAAAAAAAAW4AAAAWAAAAtEGTLxs06T9QUlJSUlLiPwAAAD8IAgAAAAAAAAFvAAAAFgAAAD4ICFuyOuk/UFJSUlJS4j8AAAA/CAIAAAAAAAABcAAAABYAAADIznyGSUHpPzAyMjIyMuI/AAAAPycCAAAAAAAAAXEAAAAWAAAAUpXxseBH6T8wMjIyMjLiPwAAAD8nAgAAAAAAAAFyAAAAFgAAANpbZt13Tuk/MDIyMjIy4j8AAAA/hQIAAAAAAAABcwAAABYAAADaW2bdd07pPxASEhISEuI/AAAAP6QCAAAAAAAAAXQAAAAWAAAAZCLbCA9V6T8QEhISEhLiPwAAAD+0AgAAAAAAAAF1AAAAFgAAAO7oTzSmW+k/EBISEhIS4j8AAAA/xAIAAAAAAAABdgAAABYAAAB4r8RfPWLpPxASEhISEuI/AAAAP+MCAAAAAAAAAXcAAAAWAAAAAnY5i9Ro6T8QEhISEhLiPwAAAD8CAwAAAAAAAAF4AAAAFgAAAIw8rrZrb+k/EBISEhIS4j8AAAA/EgMAAAAAAAABeQAAABYAAAAWAyPiAnbpPxASEhISEuI/AAAAPzEDAAAAAAAAAXoAAAAWAAAAosmXDZp86T8QEhISEhLiPwAAAD9BAwAAAAAAAAF7AAAAFgAAACyQDDkxg+k/EBISEhIS4j8AAAA/UAMAAAAAAAABfAAAABYAAAC2VoFkyInpPxASEhISEuI/AAAAP2ADAAAAAAAAAX0AAAAWAAAAQB32j1+Q6T8QEhISEhLiPwAAAD9wAwAAAAAAAAF+AAAAFgAAAEAd9o9fkOk/8PHx8fHx4T8AAAA/cAMAAAAAAAABfwAAABYAAADK42q79pbpP/Dx8fHx8eE/AAAAP38DAAAAAAAAAYAAAAAWAAAAUqrf5o2d6T/w8fHx8fHhPwAAAD+eAwAAAAAAAAGBAAAAFgAAAFKq3+aNnek/0NHR0dHR4T8AAAA/rQMAAAAAAAABggAAABYAAACIsYb26bDvPwAZGBgYGIg/AAAAPwAAAAAAAAAAAYMAAAAWAAAAiLGG9umw7z8AHBwcHBycPwAAAD/LAAAAAAAAAAGEAAAAFgAAAIixhvbpsO8/QBQUFBQUpD8AAAA/ywAAAAAAAAABhQAAABYAAACIsYb26bDvPwAcHBwcHKw/AAAAP9oAAAAAAAAAAYYAAAAWAAAAiLGG9umw7z8gERERERGxPwAAAD/aAAAAAAAAAAGHAAAAFgAAAIixhvbpsO8/IBMTExMTsz8AAAA/6gAAAAAAAAABiAAAABYAAACIsYb26bDvPyAXFxcXF7c/AAAAP+oAAAAAAAAAAYkAAAAWAAAAiLGG9umw7z8gGxsbGxu7PwAAAD/6AAAAAAAAAAGKAAAAFgAAAIixhvbpsO8/IB8fHx8fvz8AAAA/+gAAAAAAAAABiwAAABYAAACIsYb26bDvPxASEhISEsI/AAAAPwkBAAAAAAAAAYwAAAAWAAAAiLGG9umw7z+QlJSUlJTEPwAAAD8JAQAAAAAAAAGNAAAAFgAAAIixhvbpsO8/kJaWlpaWxj8AAAA/GQEAAAAAAAABjgAAABYAAACIsYb26bDvPxAZGRkZGck/AAAAPxkBAAAAAAAAAY8AAAAWAAAAiLGG9umw7z8QGxsbGxvLPwAAAD8oAQAAAAAAAAGQAAAAFgAAAIixhvbpsO8/EB0dHR0dzT8AAAA/KAEAAAAAAAABkQAAABYAAACIsYb26bDvP6Cfn5+fn88/AAAAPzgBAAAAAAAAAZIAAAAWAAAAiLGG9umw7z9QUFBQUFDQPwAAAD84AQAAAAAAAAGTAAAAFgAAABJ4+yGBt+8/UFFRUVFR0T8AAAA/SAEAAAAAAAABlAAAABYAAAASePshgbfvPxASEhISEtI/AAAAP0gBAAAAAAAAAZUAAAAWAAAAnD5wTRi+7z+QkpKSkpLSPwAAAD9XAQAAAAAAAAGWAAAAFgAAAJw+cE0Yvu8/EBMTExMT0z8AAAA/VwEAAAAAAAABlwAAABYAAAAmBeV4r8TvP9DT09PT09M/AAAAP2cBAAAAAAAAAZgAAAAWAAAAJgXleK/E7z8QFBQUFBTUPwAAAD9nAQAAAAAAAAGZAAAAFgAAACYF5XivxO8/kJSUlJSU1D8AAAA/dwEAAAAAAAABmgAAABYAAACwy1mkRsvvP9DU1NTU1NQ/AAAAP3cBAAAAAAAAAZsAAAAWAAAAsMtZpEbL7z9gVVVVVVXVPwAAAD+GAQAAAAAAAAGcAAAAFgAAADqSzs/d0e8/0NXV1dXV1T8AAAA/hgEAAAAAAAABnQAAABYAAAA6ks7P3dHvPyAWFhYWFtY/AAAAP5YBAAAAAAAAAZ4AAAAWAAAAOpLOz93R7z+QlpaWlpbWPwAAAD+WAQAAAAAAAAGfAAAAFgAAADqSzs/d0e8/IBcXFxcX1z8AAAA/pQEAAAAAAAABoAAAABYAAADEWEP7dNjvP5CXl5eXl9c/AAAAP7UBAAAAAAAAAaEAAAAWAAAAxFhD+3TY7z9QWFhYWFjYPwAAAD+1AQAAAAAAAAGiAAAAFgAAAMRYQ/t02O8/4NjY2NjY2D8AAAA/tQEAAAAAAAABowAAABYAAABOH7gmDN/vP9DZ2dnZ2dk/AAAAP8UBAAAAAAAAAaQAAAAWAAAATh+4Jgzf7z/Q2tra2traPwAAAD/UAQAAAAAAAAGlAAAAFgAAANjlLFKj5e8/4Nvb29vb2z8AAAA/1AEAAAAAAAABpgAAABYAAADY5SxSo+XvPyAdHR0dHd0/AAAAP+QBAAAAAAAAAacAAAAWAAAA2OUsUqPl7z9gXl5eXl7ePwAAAD/kAQAAAAAAAAGoAAAAFgAAANjlLFKj5e8/oJ+fn5+f3z8AAAA/9AEAAAAAAAABqQAAABYAAADY5SxSo+XvP3BwcHBwcOA/AAAAP/QBAAAAAAAAAaoAAAAWAAAAYqyhfTrs7z/w8PDw8PDgPwAAAD8DAgAAAAAAAAGrAAAAFgAAAGKsoX067O8/mJGRkZGR4T8AAAA/AwIAAAAAAAABrAAAABYAAABirKF9OuzvP1BSUlJSUuI/AAAAPxICAAAAAAAAAa0AAAAWAAAAYqyhfTrs7z+wsrKysrLiPwAAAD8SAgAAAAAAAAGuAAAAFgAAAGKsoX067O8/ODMzMzMz4z8AAAA/IQIAAAAAAAABrwAAABYAAABirKF9OuzvP7izs7Ozs+M/AAAAPyECAAAAAAAAAbAAAAAWAAAAYqyhfTrs7z8YFBQUFBTkPwAAAD8xAgAAAAAAAAGxAAAAFgAAAGKsoX067O8/UFRUVFRU5D8AAAA/MQIAAAAAAAABsgAAABYAAABirKF9OuzvP7C0tLS0tOQ/AAAAP0ECAAAAAAAAAbMAAAAWAAAAYqyhfTrs7z/Q1NTU1NTkPwAAAD9QAgAAAAAAAAG0AAAAFgAAAGKsoX067O8/MDU1NTU15T8AAAA/UAIAAAAAAAABtQAAABYAAABirKF9OuzvP3h1dXV1deU/AAAAP1ACAAAAAAAAAbYAAAAWAAAAYqyhfTrs7z+QlZWVlZXlPwAAAD9gAgAAAAAAAAG3AAAAFgAAAGKsoX067O8/2NXV1dXV5T8AAAA/cAIAAAAAAAABuAAAABYAAABirKF9OuzvPxgWFhYWFuY/AAAAP3ACAAAAAAAAAbkAAAAWAAAAYqyhfTrs7z9YVlZWVlbmPwAAAD9/AgAAAAAAAAG6AAAAFgAAAGKsoX067O8/mJaWlpaW5j8AAAA/fwIAAAAAAAABuwAAABYAAABirKF9OuzvP9jW1tbW1uY/AAAAP48CAAAAAAAAAbwAAAAWAAAAYqyhfTrs7z8YFxcXFxfnPwAAAD+PAgAAAAAAAAG9AAAAFgAAAGKsoX067O8/WFdXV1dX5z8AAAA/ngIAAAAAAAABvgAAABYAAABirKF9OuzvP7i3t7e3t+c/AAAAP54CAAAAAAAAAb8AAAAWAAAAYqyhfTrs7z8YGBgYGBjoPwAAAD+uAgAAAAAAAAHAAAAAFgAAAGKsoX067O8/WFhYWFhY6D8AAAA/rgIAAAAAAAABwQAAABYAAABirKF9OuzvP7i4uLi4uOg/AAAAP74CAAAAAAAAAcIAAAAWAAAAYqyhfTrs7z8YGRkZGRnpPwAAAD++AgAAAAAAAAHDAAAAFgAAAGKsoX067O8/WFlZWVlZ6T8AAAA/zQIAAAAAAAABxAAAABYAAABirKF9OuzvP9jZ2dnZ2ek/AAAAP80CAAAAAAAAAcUAAAAWAAAAYqyhfTrs7z9AOjo6OjrqPwAAAD/dAgAAAAAAAAHGAAAAFgAAAGKsoX067O8/eHp6enp66j8AAAA/3QIAAAAAAAABxwAAABYAAABirKF9OuzvP7i6urq6uuo/AAAAP+0CAAAAAAAAAcgAAAAWAAAAYqyhfTrs7z8gGxsbGxvrPwAAAD/tAgAAAAAAAAHJAAAAFgAAAGKsoX067O8/WFtbW1tb6z8AAAA//AIAAAAAAAABygAAABYAAABirKF9OuzvP5ibm5ubm+s/AAAAP/wCAAAAAAAAAcsAAAAWAAAAYqyhfTrs7z/g29vb29vrPwAAAD8MAwAAAAAAAAHMAAAAFgAAAGKsoX067O8/GBwcHBwc7D8AAAA/DAMAAAAAAAABzQAAABYAAABirKF9OuzvP2BcXFxcXOw/AAAAPxsDAAAAAAAAAc4AAAAWAAAAYqyhfTrs7z94fHx8fHzsPwAAAD8bAwAAAAAAAAHPAAAAFgAAAGKsoX067O8/wLy8vLy87D8AAAA/KwMAAAAAAAAB0AAAABYAAABirKF9OuzvP+Dc3Nzc3Ow/AAAAPysDAAAAAAAAAdEAAAAWAAAAYqyhfTrs7z8gHR0dHR3tPwAAAD87AwAAAAAAAAHSAAAAFgAAAGKsoX067O8/QD09PT097T8AAAA/OwMAAAAAAAAB0wAAABYAAABirKF9OuzvP4B9fX19fe0/AAAAP0oDAAAAAAAAAdQAAAAWAAAAYqyhfTrs7z/Avb29vb3tPwAAAD9KAwAAAAAAAAHVAAAAFgAAAGKsoX067O8/2N3d3d3d7T8AAAA/WgMAAAAAAAAB1gAAABYAAABirKF9OuzvPyAeHh4eHu4/AAAAP1oDAAAAAAAAAdcAAAAWAAAAYqyhfTrs7z84Pj4+Pj7uPwAAAD9qAwAAAAAAAAHYAAAAFgAAAGKsoX067O8/gH5+fn5+7j8AAAA/eQMAAAAAAAAB2QAAABYAAABirKF9OuzvP8C+vr6+vu4/AAAAP3kDAAAAAAAAAdoAAAAWAAAAYqyhfTrs7z8A//7+/v7uPwAAAD+JAwAAAAAAAAHbAAAAFgAAAGKsoX067O8/IB8fHx8f7z8AAAA/iQMAAAAAAAAB3AAAABYAAABirKF9OuzvP0A/Pz8/P+8/AAAAP5gDAAAAAAAAAd0AAAAWAAAAYqyhfTrs7z9gX19fX1/vPwAAAD+oAwAAAAAAAAHeAAAAFgAAAGKsoX067O8/gH9/f39/7z8AAAA/5wMAAAAAAAAB3wAAABYAAABirKF9OuzvP6Cfn5+fn+8/AAAAPxUEAAAAAAAACw=="/>
</p:tagLst>
</file>

<file path=ppt/tags/tag4.xml><?xml version="1.0" encoding="utf-8"?>
<p:tagLst xmlns:a="http://schemas.openxmlformats.org/drawingml/2006/main" xmlns:r="http://schemas.openxmlformats.org/officeDocument/2006/relationships" xmlns:p="http://schemas.openxmlformats.org/presentationml/2006/main">
  <p:tag name="TIMING" val="|171.585"/>
</p:tagLst>
</file>

<file path=ppt/tags/tag5.xml><?xml version="1.0" encoding="utf-8"?>
<p:tagLst xmlns:a="http://schemas.openxmlformats.org/drawingml/2006/main" xmlns:r="http://schemas.openxmlformats.org/officeDocument/2006/relationships" xmlns:p="http://schemas.openxmlformats.org/presentationml/2006/main">
  <p:tag name="TIMING" val="|17.063|2.552|25.891|12.007|1.445"/>
</p:tagLst>
</file>

<file path=ppt/tags/tag6.xml><?xml version="1.0" encoding="utf-8"?>
<p:tagLst xmlns:a="http://schemas.openxmlformats.org/drawingml/2006/main" xmlns:r="http://schemas.openxmlformats.org/officeDocument/2006/relationships" xmlns:p="http://schemas.openxmlformats.org/presentationml/2006/main">
  <p:tag name="TIMING" val="|28.208|24.753"/>
</p:tagLst>
</file>

<file path=ppt/tags/tag7.xml><?xml version="1.0" encoding="utf-8"?>
<p:tagLst xmlns:a="http://schemas.openxmlformats.org/drawingml/2006/main" xmlns:r="http://schemas.openxmlformats.org/officeDocument/2006/relationships" xmlns:p="http://schemas.openxmlformats.org/presentationml/2006/main">
  <p:tag name="TIMING" val="|24.258"/>
</p:tagLst>
</file>

<file path=ppt/tags/tag8.xml><?xml version="1.0" encoding="utf-8"?>
<p:tagLst xmlns:a="http://schemas.openxmlformats.org/drawingml/2006/main" xmlns:r="http://schemas.openxmlformats.org/officeDocument/2006/relationships" xmlns:p="http://schemas.openxmlformats.org/presentationml/2006/main">
  <p:tag name="TIMING" val="|8.525|18.197|5.653|3.958"/>
</p:tagLst>
</file>

<file path=ppt/tags/tag9.xml><?xml version="1.0" encoding="utf-8"?>
<p:tagLst xmlns:a="http://schemas.openxmlformats.org/drawingml/2006/main" xmlns:r="http://schemas.openxmlformats.org/officeDocument/2006/relationships" xmlns:p="http://schemas.openxmlformats.org/presentationml/2006/main">
  <p:tag name="TIMING" val="|10.396"/>
</p:tagLst>
</file>

<file path=ppt/tags/tag10.xml><?xml version="1.0" encoding="utf-8"?>
<p:tagLst xmlns:a="http://schemas.openxmlformats.org/drawingml/2006/main" xmlns:r="http://schemas.openxmlformats.org/officeDocument/2006/relationships" xmlns:p="http://schemas.openxmlformats.org/presentationml/2006/main">
  <p:tag name="TIMING" val="|25.302"/>
</p:tagLst>
</file>

<file path=ppt/tags/tag11.xml><?xml version="1.0" encoding="utf-8"?>
<p:tagLst xmlns:a="http://schemas.openxmlformats.org/drawingml/2006/main" xmlns:r="http://schemas.openxmlformats.org/officeDocument/2006/relationships" xmlns:p="http://schemas.openxmlformats.org/presentationml/2006/main">
  <p:tag name="TIMING" val="|46.832"/>
</p:tagLst>
</file>

<file path=ppt/tags/tag12.xml><?xml version="1.0" encoding="utf-8"?>
<p:tagLst xmlns:a="http://schemas.openxmlformats.org/drawingml/2006/main" xmlns:r="http://schemas.openxmlformats.org/officeDocument/2006/relationships" xmlns:p="http://schemas.openxmlformats.org/presentationml/2006/main">
  <p:tag name="ATHENA.MIXSHAPE" val="AAEAAAD/////AQAAAAAAAAAMAgAAAE9BdXRob3JQUFQsIFZlcnNpb249MC4xLjU3MjAuMCwgQ3VsdHVyZT1uZXV0cmFsLCBQdWJsaWNLZXlUb2tlbj0zMWJmMzg1NmFkMzY0ZTM1BQEAAAALSW5rTWF0dGVyVjEEAAAABVNjYWxlDUxpc3RgMStfaXRlbXMMTGlzdGAxK19zaXplD0xpc3RgMStfdmVyc2lvbgAEAAALF1NoYXJlZC5JbmtpbmcuSW5rQXRvbVtdAgAAAAgIAgAAAP5hMD8JAwAAAAYAAAAOAAAABwMAAAAAAQAAAAgAAAAECUlua0F0b21WMQIAAAAJBAAAAAkFAAAACQYAAAAJBwAAAAkIAAAACQkAAAANAgUEAAAAC1BlblN0cm9rZVYxBAAAAApBdHRyaWJ1dGVzBVRyYWNlCVN0YXJ0VGltZQRUeXBlBAQABA9QZW5BdHRyaWJ1dGVzVjECAAAACklua1RyYWNlVjECAAAAEAxBY3Rpb25UeXBlVjECAAAAAgAAAAkKAAAACQsAAACdKwAAAAAAAAX0////DEFjdGlvblR5cGVWMQEAAAAHdmFsdWVfXwAIAgAAAAAAAAABBQAAAAQAAAAJDQAAAAkOAAAABzIAAAAAAAAB8f////T///8AAAAAAQYAAAAEAAAACRAAAAAJEQAAAI85AAAAAAAAAe7////0////AAAAAAEHAAAABAAAAAkTAAAACRQAAAAuSAAAAAAAAAHr////9P///wAAAAABCAAAAAQAAAAJFgAAAAkXAAAAlZgAAAAAAAAB6P////T///8AAAAAAQkAAAAEAAAACRkAAAAJGgAAACymAAAAAAAAAeX////0////AAAAAAUKAAAAD1BlbkF0dHJpYnV0ZXNWMQoAAAAHX2NvbG9yQQdfY29sb3JSB19jb2xvckcHX2NvbG9yQgpGaXRUb0N1cnZlBkhlaWdodA5JZ25vcmVQcmVzc3VyZQ1Jc0hpZ2hsaWdodGVyBVNoYXBlBVdpZHRoAAAAAAAAAAAEAAICAgIBBgEBDEJydXNoU2hhcGVWMQIAAAAGAgAAAP//AAAAAAAAAAAACEAAAAXk////DEJydXNoU2hhcGVWMQEAAAAHdmFsdWVfXwAIAgAAAAEAAAAAAAAAAAAIQAULAAAACklua1RyYWNlVjEDAAAADUxpc3RgMStfaXRlbXMMTGlzdGAxK19zaXplD0xpc3RgMStfdmVyc2lvbgQAABhTaGFyZWQuSW5raW5nLklua1BvaW50W10CAAAACAgCAAAACR0AAAATAAAAEwAAAAENAAAACgAAAP//AAAAAAAAAAAACEAAAAHi////5P///wEAAAAAAAAAAAAIQAEOAAAACwAAAAkfAAAAIAAAACAAAAABEAAAAAoAAAD//wAAAAAAAAAAAAhAAAAB4P///+T///8BAAAAAAAAAAAACEABEQAAAAsAAAAJIQAAACIAAAAiAAAAARMAAAAKAAAA//8AAAAAAAAAAAAIQAAAAd7////k////AQAAAAAAAAAAAAhAARQAAAALAAAACSMAAAAlAAAAJQAAAAEWAAAACgAAAP//AAAAAAAAAAAACEAAAAHc////5P///wEAAAAAAAAAAAAIQAEXAAAACwAAAAklAAAAywAAAMsAAAABGQAAAAoAAAD//wAAAAAAAAAAAAhAAAAB2v///+T///8BAAAAAAAAAAAACEABGgAAAAsAAAAJJwAAAKcAAACnAAAABx0AAAAAAQAAACAAAAAECklua1BvaW50VjECAAAACSgAAAAJKQAAAAkqAAAACSsAAAAJLAAAAAktAAAACS4AAAAJLwAAAAkwAAAACTEAAAAJMgAAAAkzAAAACTQAAAAJNQAAAAk2AAAACTcAAAAJOAAAAAk5AAAACToAAAANDQcfAAAAAAEAAAAgAAAABApJbmtQb2ludFYxAgAAAAk7AAAACTwAAAAJPQAAAAk+AAAACT8AAAAJQAAAAAlBAAAACUIAAAAJQwAAAAlEAAAACUUAAAAJRgAAAAlHAAAACUgAAAAJSQAAAAlKAAAACUsAAAAJTAAAAAlNAAAACU4AAAAJTwAAAAlQAAAACVEAAAAJUgAAAAlTAAAACVQAAAAJVQAAAAlWAAAACVcAAAAJWAAAAAlZAAAACVoAAAAHIQAAAAABAAAAQAAAAAQKSW5rUG9pbnRWMQIAAAAJWwAAAAlcAAAACV0AAAAJXgAAAAlfAAAACWAAAAAJYQAAAAliAAAACWMAAAAJZAAAAAllAAAACWYAAAAJZwAAAAloAAAACWkAAAAJagAAAAlrAAAACWwAAAAJbQAAAAluAAAACW8AAAAJcAAAAAlxAAAACXIAAAAJcwAAAAl0AAAACXUAAAAJdgAAAAl3AAAACXgAAAAJeQAAAAl6AAAACXsAAAAJfAAAAA0eByMAAAAAAQAAAEAAAAAECklua1BvaW50VjECAAAACX0AAAAJfgAAAAl/AAAACYAAAAAJgQAAAAmCAAAACYMAAAAJhAAAAAmFAAAACYYAAAAJhwAAAAmIAAAACYkAAAAJigAAAAmLAAAACYwAAAAJjQAAAAmOAAAACY8AAAAJkAAAAAmRAAAACZIAAAAJkwAAAAmUAAAACZUAAAAJlgAAAAmXAAAACZgAAAAJmQAAAAmaAAAACZsAAAAJnAAAAAmdAAAACZ4AAAAJnwAAAAmgAAAACaEAAAANGwclAAAAAAEAAAAAAQAABApJbmtQb2ludFYxAgAAAAmiAAAACaMAAAAJpAAAAAmlAAAACaYAAAAJpwAAAAmoAAAACakAAAAJqgAAAAmrAAAACawAAAAJrQAAAAmuAAAACa8AAAAJsAAAAAmxAAAACbIAAAAJswAAAAm0AAAACbUAAAAJtgAAAAm3AAAACbgAAAAJuQAAAAm6AAAACbsAAAAJvAAAAAm9AAAACb4AAAAJvwAAAAnAAAAACcEAAAAJwgAAAAnDAAAACcQAAAAJxQAAAAnGAAAACccAAAAJyAAAAAnJAAAACcoAAAAJywAAAAnMAAAACc0AAAAJzgAAAAnPAAAACdAAAAAJ0QAAAAnSAAAACdMAAAAJ1AAAAAnVAAAACdYAAAAJ1wAAAAnYAAAACdkAAAAJ2gAAAAnbAAAACdwAAAAJ3QAAAAneAAAACd8AAAAJ4AAAAAnhAAAACeIAAAAJ4wAAAAnkAAAACeUAAAAJ5gAAAAnnAAAACegAAAAJ6QAAAAnqAAAACesAAAAJ7AAAAAntAAAACe4AAAAJ7wAAAAnwAAAACfEAAAAJ8gAAAAnzAAAACfQAAAAJ9QAAAAn2AAAACfcAAAAJ+AAAAAn5AAAACfoAAAAJ+wAAAAn8AAAACf0AAAAJ/gAAAAn/AAAACQABAAAJAQEAAAkCAQAACQMBAAAJBAEAAAkFAQAACQYBAAAJBwEAAAkIAQAACQkBAAAJCgEAAAkLAQAACQwBAAAJDQEAAAkOAQAACQ8BAAAJEAEAAAkRAQAACRIBAAAJEwEAAAkUAQAACRUBAAAJFgEAAAkXAQAACRgBAAAJGQEAAAkaAQAACRsBAAAJHAEAAAkdAQAACR4BAAAJHwEAAAkgAQAACSEBAAAJIgEAAAkjAQAACSQBAAAJJQEAAAkmAQAACScBAAAJKAEAAAkpAQAACSoBAAAJKwEAAAksAQAACS0BAAAJLgEAAAkvAQAACTABAAAJMQEAAAkyAQAACTMBAAAJNAEAAAk1AQAACTYBAAAJNwEAAAk4AQAACTkBAAAJOgEAAAk7AQAACTwBAAAJPQEAAAk+AQAACT8BAAAJQAEAAAlBAQAACUIBAAAJQwEAAAlEAQAACUUBAAAJRgEAAAlHAQAACUgBAAAJSQEAAAlKAQAACUsBAAAJTAEAAAlNAQAACU4BAAAJTwEAAAlQAQAACVEBAAAJUgEAAAlTAQAACVQBAAAJVQEAAAlWAQAACVcBAAAJWAEAAAlZAQAACVoBAAAJWwEAAAlcAQAACV0BAAAJXgEAAAlfAQAACWABAAAJYQEAAAliAQAACWMBAAAJZAEAAAllAQAACWYBAAAJZwEAAAloAQAACWkBAAAJagEAAAlrAQAACWwBAAANNQcnAAAAAAEAAAAAAQAABApJbmtQb2ludFYxAgAAAAltAQAACW4BAAAJbwEAAAlwAQAACXEBAAAJcgEAAAlzAQAACXQBAAAJdQEAAAl2AQAACXcBAAAJeAEAAAl5AQAACXoBAAAJewEAAAl8AQAACX0BAAAJfgEAAAl/AQAACYABAAAJgQEAAAmCAQAACYMBAAAJhAEAAAmFAQAACYYBAAAJhwEAAAmIAQAACYkBAAAJigEAAAmLAQAACYwBAAAJjQEAAAmOAQAACY8BAAAJkAEAAAmRAQAACZIBAAAJkwEAAAmUAQAACZUBAAAJlgEAAAmXAQAACZgBAAAJmQEAAAmaAQAACZsBAAAJnAEAAAmdAQAACZ4BAAAJnwEAAAmgAQAACaEBAAAJogEAAAmjAQAACaQBAAAJpQEAAAmmAQAACacBAAAJqAEAAAmpAQAACaoBAAAJqwEAAAmsAQAACa0BAAAJrgEAAAmvAQAACbABAAAJsQEAAAmyAQAACbMBAAAJtAEAAAm1AQAACbYBAAAJtwEAAAm4AQAACbkBAAAJugEAAAm7AQAACbwBAAAJvQEAAAm+AQAACb8BAAAJwAEAAAnBAQAACcIBAAAJwwEAAAnEAQAACcUBAAAJxgEAAAnHAQAACcgBAAAJyQEAAAnKAQAACcsBAAAJzAEAAAnNAQAACc4BAAAJzwEAAAnQAQAACdEBAAAJ0gEAAAnTAQAACdQBAAAJ1QEAAAnWAQAACdcBAAAJ2AEAAAnZAQAACdoBAAAJ2wEAAAncAQAACd0BAAAJ3gEAAAnfAQAACeABAAAJ4QEAAAniAQAACeMBAAAJ5AEAAAnlAQAACeYBAAAJ5wEAAAnoAQAACekBAAAJ6gEAAAnrAQAACewBAAAJ7QEAAAnuAQAACe8BAAAJ8AEAAAnxAQAACfIBAAAJ8wEAAAn0AQAACfUBAAAJ9gEAAAn3AQAACfgBAAAJ+QEAAAn6AQAACfsBAAAJ/AEAAAn9AQAACf4BAAAJ/wEAAAkAAgAACQECAAAJAgIAAAkDAgAACQQCAAAJBQIAAAkGAgAACQcCAAAJCAIAAAkJAgAACQoCAAAJCwIAAAkMAgAACQ0CAAAJDgIAAAkPAgAACRACAAAJEQIAAAkSAgAACRMCAAANWQUoAAAACklua1BvaW50VjEEAAAAAVgBWQ5QcmVzc3VyZUZhY3RvcglUaW1lU3RhbXAAAAAABgYLEAIAAAASXYbh8L7gP0gf51O8eNI/AAAAPwAAAAAAAAAAASkAAAAoAAAAC0J2fELL4D9IH+dTvHjSPwAAAD/qAAAAAAAAAAEqAAAAKAAAAP0LVrLl4+A/SB/nU7x40j8AAAA/+gAAAAAAAAABKwAAACgAAABy470aYPbgP0gf51O8eNI/AAAAPwoBAAAAAAAAASwAAAAoAAAAa8ittbEC4T9IH+dTvHjSPwAAAD8KAQAAAAAAAAEtAAAAKAAAAOGfFR4sFeE/SB/nU7x40j8AAAA/CgEAAAAAAAABLgAAACgAAABWd32GpifhP0gf51O8eNI/AAAAPxkBAAAAAAAAAS8AAAAoAAAAT1xtIfgz4T9IH+dTvHjSPwAAAD8ZAQAAAAAAAAEwAAAAKAAAAEhBXbxJQOE/SB/nU7x40j8AAAA/KQEAAAAAAAABMQAAACgAAABAJk1Xm0zhP0gf51O8eNI/AAAAPykBAAAAAAAAATIAAAAoAAAAvRjFJMRS4T9IH+dTvHjSPwAAAD85AQAAAAAAAAEzAAAAKAAAADoLPfLsWOE/SB/nU7x40j8AAAA/SAEAAAAAAAABNAAAACgAAAC2/bS/FV/hP0gf51O8eNI/AAAAP1gBAAAAAAAAATUAAAAoAAAAM/AsjT5l4T9IH+dTvHjSPwAAAD9nAQAAAAAAAAE2AAAAKAAAAK/ipFpna+E/SB/nU7x40j8AAAA/hwEAAAAAAAABNwAAACgAAAAr1RwokHHhP0gf51O8eNI/AAAAP6UBAAAAAAAAATgAAAAoAAAAqMeU9bh34T9IH+dTvHjSPwAAAD+1AQAAAAAAAAE5AAAAKAAAACS6DMPhfeE/SB/nU7x40j8AAAA/EgIAAAAAAAABOgAAACgAAAChrISQCoThP0gf51O8eNI/AAAAP0ECAAAAAAAAATsAAAAoAAAAJ662EPyZ4D84h+ZKHDbiPwAAAD8AAAAAAAAAAAE8AAAAKAAAACCTpqtNpuA/OIfmShw24j8AAAA/2gAAAAAAAAABPQAAACgAAACVag4UyLjgPziH5kocNuI/AAAAP9oAAAAAAAAAAT4AAAAoAAAAC0J2fELL4D84h+ZKHDbiPwAAAD/qAAAAAAAAAAE/AAAAKAAAAIAZ3uS83eA/OIfmShw24j8AAAA/6gAAAAAAAAABQAAAACgAAABy470aYPbgPziH5kocNuI/AAAAP/oAAAAAAAAAAUEAAAAoAAAA79U16Ij84D84h+ZKHDbiPwAAAD/6AAAAAAAAAAFCAAAAKAAAAGStnVADD+E/OIfmShw24j8AAAA/+gAAAAAAAAABQwAAACgAAADahAW5fSHhPziH5kocNuI/AAAAPwkBAAAAAAAAAUQAAAAoAAAAVnd9hqYn4T84h+ZKHDbiPwAAAD8JAQAAAAAAAAFFAAAAKAAAAE9cbSH4M+E/nPSSxcJG4j8AAAA/GQEAAAAAAAABRgAAACgAAADLTuXuIDrhP5z0ksXCRuI/AAAAPykBAAAAAAAAAUcAAAAoAAAAy07l7iA64T8AYj9AaVfiPwAAAD84AQAAAAAAAAFIAAAAKAAAAEhBXbxJQOE/AGI/QGlX4j8AAAA/OAEAAAAAAAABSQAAACgAAADFM9WJckbhPwBiP0BpV+I/AAAAPzgBAAAAAAAAAUoAAAAoAAAAQCZNV5tM4T8AYj9AaVfiPwAAAD9MAQAAAAAAAAFLAAAAKAAAAL0YxSTEUuE/AGI/QGlX4j8AAAA/ewEAAAAAAAABTAAAACgAAAA6Cz3y7FjhPwBiP0BpV+I/AAAAP5sBAAAAAAAAAU0AAAAoAAAAtv20vxVf4T8AYj9AaVfiPwAAAD+bAQAAAAAAAAFOAAAAKAAAADPwLI0+ZeE/AGI/QGlX4j8AAAA/mwEAAAAAAAABTwAAACgAAACv4qRaZ2vhPwBiP0BpV+I/AAAAP6oBAAAAAAAAAVAAAAAoAAAAqMeU9bh34T8AYj9AaVfiPwAAAD+qAQAAAAAAAAFRAAAAKAAAACS6DMPhfeE/AGI/QGlX4j8AAAA/ugEAAAAAAAABUgAAACgAAAAen/xdM4rhPwBiP0BpV+I/AAAAP8kBAAAAAAAAAVMAAAAoAAAAmpF0K1yQ4T8AYj9AaVfiPwAAAD/JAQAAAAAAAAFUAAAAKAAAABeE7PiEluE/AGI/QGlX4j8AAAA/2QEAAAAAAAABVQAAACgAAACSdmTGrZzhPwBiP0BpV+I/AAAAP9kBAAAAAAAAAVYAAAAoAAAAD2nck9ai4T8AYj9AaVfiPwAAAD/pAQAAAAAAAAFXAAAAKAAAAIxbVGH/qOE/AGI/QGlX4j8AAAA/GAIAAAAAAAABWAAAACgAAACMW1Rh/6jhP2DP67oPaOI/AAAAP1YCAAAAAAAAAVkAAAAoAAAAjFtUYf+o4T/EPJg1tnjiPwAAAD91AgAAAAAAAAFaAAAAKAAAAIxbVGH/qOE/KKpEsFyJ4j8AAAA/hQIAAAAAAAABWwAAACgAAAA2iWHqq5fmP9iaXOHC4Ow/AAAAPwAAAAAAAAAAAVwAAAAoAAAAL25Rhf2j5j/YmlzhwuDsPwAAAD/bAAAAAAAAAAFdAAAAKAAAAChTQSBPsOY/2Jpc4cLg7D8AAAA/6wAAAAAAAAABXgAAACgAAACeKqmIycLmP9iaXOHC4Ow/AAAAP+sAAAAAAAAAAV8AAAAoAAAAj/SIvmzb5j/YmlzhwuDsPwAAAD/6AAAAAAAAAAFgAAAAKAAAAAvnAIyV4eY/2Jpc4cLg7D8AAAA/CgEAAAAAAAABYQAAACgAAACBvmj0D/TmP9iaXOHC4Ow/AAAAPwoBAAAAAAAAAWIAAAAoAAAA95XQXIoG5z/YmlzhwuDsPwAAAD8KAQAAAAAAAAFjAAAAKAAAAO96wPfbEuc/2Jpc4cLg7D8AAAA/GQEAAAAAAAABZAAAACgAAABkUihgViXnP9iaXOHC4Ow/AAAAPxkBAAAAAAAAAWUAAAAoAAAAXTcY+6cx5z/YmlzhwuDsPwAAAD8pAQAAAAAAAAFmAAAAKAAAAFccCJb5Pec/2Jpc4cLg7D8AAAA/OQEAAAAAAAABZwAAACgAAABQAfgwS0rnP9iaXOHC4Ow/AAAAPzkBAAAAAAAAAWgAAAAoAAAAzPNv/nNQ5z/YmlzhwuDsPwAAAD85AQAAAAAAAAFpAAAAKAAAAMbYX5nFXOc/2Jpc4cLg7D8AAAA/SAEAAAAAAAABagAAACgAAABBy9dm7mLnP9iaXOHC4Ow/AAAAP1gBAAAAAAAAAWsAAAAoAAAAOrDHAUBv5z/YmlzhwuDsPwAAAD9YAQAAAAAAAAFsAAAAKAAAADOVt5yRe+c/2Jpc4cLg7D8AAAA/aAEAAAAAAAABbQAAACgAAACwhy9quoHnP9iaXOHC4Ow/AAAAP2gBAAAAAAAAAW4AAAAoAAAAqWwfBQyO5z/YmlzhwuDsPwAAAD93AQAAAAAAAAFvAAAAKAAAACVfl9I0lOc/2Jpc4cLg7D8AAAA/dwEAAAAAAAABcAAAACgAAAAfRIdthqDnP9iaXOHC4Ow/AAAAP4cBAAAAAAAAAXEAAAAoAAAAFil3CNis5z/YmlzhwuDsPwAAAD+HAQAAAAAAAAFyAAAAKAAAAJMb79UAs+c/dC2wZhzQ7D8AAAA/lgEAAAAAAAABcwAAACgAAACMAN9wUr/nP3QtsGYc0Ow/AAAAP5YBAAAAAAAAAXQAAAAoAAAAheXOC6TL5z90LbBmHNDsPwAAAD+mAQAAAAAAAAF1AAAAKAAAAH7Kvqb11+c/FMAD7HW/7D8AAAA/pgEAAAAAAAABdgAAACgAAAB4r65BR+TnPxTAA+x1v+w/AAAAP7YBAAAAAAAAAXcAAAAoAAAA9KEmD3Dq5z8UwAPsdb/sPwAAAD+2AQAAAAAAAAF4AAAAKAAAAO2GFqrB9uc/sFJXcc+u7D8AAAA/xQEAAAAAAAABeQAAACgAAABoeY536vznP7BSV3HPruw/AAAAP9UBAAAAAAAAAXoAAAAoAAAA5WsGRRMD6D+wUldxz67sPwAAAD/VAQAAAAAAAAF7AAAAKAAAAGJefhI8Ceg/sFJXcc+u7D8AAAA/5QEAAAAAAAABfAAAACgAAADeUPbfZA/oP7BSV3HPruw/AAAAPwMCAAAAAAAAAX0AAAAoAAAAQXy4KCdd7j9QEkgqlVvcPwAAAD8AAAAAAAAAAAF+AAAAKAAAALdTIJGhb+4/UBJIKpVb3D8AAAA/uwAAAAAAAAABfwAAACgAAACvOBAs83vuP1ASSCqVW9w/AAAAP7sAAAAAAAAAAYAAAAAoAAAAoQLwYZaU7j9QEkgqlVvcPwAAAD/LAAAAAAAAAAGBAAAAKAAAAJPMz5c5re4/UBJIKpVb3D8AAAA/ywAAAAAAAAABggAAACgAAACFlq/N3MXuP1ASSCqVW9w/AAAAP9oAAAAAAAAAAYMAAAAoAAAAdWCPA4De7j9QEkgqlVvcPwAAAD/qAAAAAAAAAAGEAAAAKAAAAOs392v68O4/UBJIKpVb3D8AAAA/6gAAAAAAAAABhQAAACgAAABhD1/UdAPvP1ASSCqVW9w/AAAAP/oAAAAAAAAAAYYAAAAoAAAAU9k+Chgc7z9QEkgqlVvcPwAAAD/6AAAAAAAAAAGHAAAAKAAAAE2+LqVpKO8/UBJIKpVb3D8AAAA/CQEAAAAAAAABiAAAACgAAABFox5AuzTvP1ASSCqVW9w/AAAAPwkBAAAAAAAAAYkAAAAoAAAAu3qGqDVH7z9QEkgqlVvcPwAAAD8ZAQAAAAAAAAGKAAAAKAAAALNfdkOHU+8/UBJIKpVb3D8AAAA/GQEAAAAAAAABiwAAACgAAACtRGbe2F/vP1ASSCqVW9w/AAAAPygBAAAAAAAAAYwAAAAoAAAAKTfeqwFm7z9QEkgqlVvcPwAAAD8oAQAAAAAAAAGNAAAAKAAAAKUpVnkqbO8/UBJIKpVb3D8AAAA/OAEAAAAAAAABjgAAACgAAAAjHM5GU3LvP1ASSCqVW9w/AAAAPzgBAAAAAAAAAY8AAAAoAAAAnQ5GFHx47z9QEkgqlVvcPwAAAD9IAQAAAAAAAAGQAAAAKAAAABsBvuGkfu8/UBJIKpVb3D8AAAA/VwEAAAAAAAABkQAAACgAAACX8zWvzYTvP1ASSCqVW9w/AAAAP1cBAAAAAAAAAZIAAAAoAAAAj9glSh+R7z9QEkgqlVvcPwAAAD9nAQAAAAAAAAGTAAAAKAAAAA3LnRdIl+8/UBJIKpVb3D8AAAA/dwEAAAAAAAABlAAAACgAAACJvRXlcJ3vP1ASSCqVW9w/AAAAP3cBAAAAAAAAAZUAAAAoAAAAg6IFgMKp7z9QEkgqlVvcPwAAAD+GAQAAAAAAAAGWAAAAKAAAAP+UfU3rr+8/iDfvNEg63D8AAAA/hgEAAAAAAAABlwAAACgAAAB7h/UaFLbvP4g37zRIOtw/AAAAP5YBAAAAAAAAAZgAAAAoAAAA+Xlt6Dy87z+IN+80SDrcPwAAAD+lAQAAAAAAAAGZAAAAKAAAAHVs5bVlwu8/iDfvNEg63D8AAAA/tQEAAAAAAAABmgAAACgAAAB1bOW1ZcLvP8Bclj/7GNw/AAAAP7oBAAAAAAAAAZsAAAAoAAAA715dg47I7z/AXJY/+xjcPwAAAD/ZAQAAAAAAAAGcAAAAKAAAAG1R1VC3zu8/wFyWP/sY3D8AAAA/2QEAAAAAAAABnQAAACgAAADpQ00e4NTvP8Bclj/7GNw/AAAAP/gBAAAAAAAAAZ4AAAAoAAAAZTbF6wjb7z/AXJY/+xjcPwAAAD/4AQAAAAAAAAGfAAAAKAAAAOMoPbkx4e8/wFyWP/sY3D8AAAA/CAIAAAAAAAABoAAAACgAAABfG7WGWufvP8Bclj/7GNw/AAAAPxcCAAAAAAAAAaEAAAAoAAAA2w0tVIPt7z/AXJY/+xjcPwAAAD83AgAAAAAAAAGiAAAAKAAAAEAk8tKrfGI/VNWrcQbO7z8AAAA/AAAAAAAAAAABowAAACgAAABAHdfCRs5uP1TVq3EGzu8/AAAAP8sAAAAAAAAAAaQAAAAoAAAAQElXlVekeD9U1atxBs7vPwAAAD/LAAAAAAAAAAGlAAAAKAAAAMDFSQ0lzX4/VNWrcQbO7z8AAAA/ywAAAAAAAAABpgAAACgAAABAwJqgLAWEP1TVq3EGzu8/AAAAP9oAAAAAAAAAAacAAAAoAAAAsDyNGPotij9U1atxBs7vPwAAAD/qAAAAAAAAAAGoAAAAKAAAAJjcP8hjK5A/VNWrcQbO7z8AAAA/6gAAAAAAAAABqQAAACgAAABAyzrVsHqSP1TVq3EGzu8/AAAAP/oAAAAAAAAAAaoAAAAoAAAAmKgw70oZlz9U1atxBs7vPwAAAD/6AAAAAAAAAAGrAAAAKAAAALhHLU1+o5g/VNWrcQbO7z8AAAA/CQEAAAAAAAABrAAAACgAAACI1SS4/nycP1TVq3EGzu8/AAAAPwkBAAAAAAAAAa0AAAAoAAAAwBMedGWRnz9U1atxBs7vPwAAAD8ZAQAAAAAAAAGuAAAAKAAAAMjQiu9ytaE/VNWrcQbO7z8AAAA/GQEAAAAAAAABrwAAACgAAAB0v4X8vwSkP1TVq3EGzu8/AAAAPykBAAAAAAAAAbAAAAAoAAAABA+Eq9nJpD9U1atxBs7vPwAAAD8pAQAAAAAAAAGxAAAAKAAAACCugAkNVKY/VNWrcQbO7z8AAAA/OAEAAAAAAAABsgAAACgAAAA8TX1nQN6nP1TVq3EGzu8/AAAAPzgBAAAAAAAAAbMAAAAoAAAAXOx5xXNoqT9U1atxBs7vPwAAAD9IAQAAAAAAAAG0AAAAKAAAALBj90sakKo/VNWrcQbO7z8AAAA/SAEAAAAAAAABtQAAACgAAAAI23TSwLerP1TVq3EGzu8/AAAAP1cBAAAAAAAAAbYAAAAoAAAAJHpxMPRBrT9U1atxBs7vPwAAAD9XAQAAAAAAAAG3AAAAKAAAAHzx7raaaa4/VNWrcQbO7z8AAAA/XQEAAAAAAAABuAAAACgAAAAMQe1ltC6vP+xn//Zfve8/AAAAP10BAAAAAAAAAbkAAAAoAAAAMlw1di0rsD/sZ//2X73vPwAAAD9tAQAAAAAAAAG6AAAAKAAAAPiDtE26jbA/7Gf/9l+97z8AAAA/bQEAAAAAAAABuwAAACgAAACkP/OQjSGxP+xn//Zfve8/AAAAP3wBAAAAAAAAAbwAAAAoAAAATvsx1GC1sT/sZ//2X73vPwAAAD+MAQAAAAAAAAG9AAAAKAAAABQjsavtF7I/7Gf/9l+97z8AAAA/jAEAAAAAAAABvgAAACgAAADA3u/uwKuyP+xn//Zfve8/AAAAP4wBAAAAAAAAAb8AAAAoAAAAbpouMpQ/sz+I+lJ8uazvPwAAAD+cAQAAAAAAAAHAAAAAKAAAADTCrQkhorM/iPpSfLms7z8AAAA/nAEAAAAAAAABwQAAACgAAADgfexM9DW0PyiNpgETnO8/AAAAP6sBAAAAAAAAAcIAAAAoAAAAxBGsuDpntD8ojaYBE5zvPwAAAD+7AQAAAAAAAAHDAAAAKAAAAHDN6vsN+7Q/KI2mAROc7z8AAAA/uwEAAAAAAAABxAAAACgAAAAaiSk/4Y61P8Qf+oZsi+8/AAAAP7sBAAAAAAAAAcUAAAAoAAAA4LCoFm7xtT/EH/qGbIvvPwAAAD/KAQAAAAAAAAHGAAAAKAAAAKbYJ+76U7Y/xB/6hmyL7z8AAAA/ygEAAAAAAAABxwAAACgAAABwAKfFh7a2P8Qf+oZsi+8/AAAAP9oBAAAAAAAAAcgAAAAoAAAAHLzlCFtKtz/EH/qGbIvvPwAAAD/aAQAAAAAAAAHJAAAAKAAAAMZ3JEwu3rc/xB/6hmyL7z8AAAA/6gEAAAAAAAABygAAACgAAACMn6Mju0C4P8Qf+oZsi+8/AAAAP+oBAAAAAAAAAcsAAAAoAAAAOFviZo7UuD/EH/qGbIvvPwAAAD/5AQAAAAAAAAHMAAAAKAAAAMiq4BWombk/xB/6hmyL7z8AAAA/+QEAAAAAAAABzQAAACgAAACO0l/tNPy5P8Qf+oZsi+8/AAAAPwkCAAAAAAAAAc4AAAAoAAAAHiJenE7Buj9gsk0MxnrvPwAAAD8JAgAAAAAAAAHPAAAAKAAAAMrdnN8hVbs/YLJNDMZ67z8AAAA/GQIAAAAAAAAB0AAAACgAAABaLZuOOxq8P2CyTQzGeu8/AAAAPygCAAAAAAAAAdEAAAAoAAAAIFUaZsh8vD9gsk0MxnrvPwAAAD8oAgAAAAAAAAHSAAAAKAAAALCkGBXiQb0/YLJNDMZ67z8AAAA/KAIAAAAAAAAB0wAAACgAAABcYFdYtdW9P2CyTQzGeu8/AAAAPzgCAAAAAAAAAdQAAAAoAAAAIIjWL0I4vj9gsk0MxnrvPwAAAD84AgAAAAAAAAHVAAAAKAAAALDX1N5b/b4/YLJNDMZ67z8AAAA/RwIAAAAAAAAB1gAAACgAAABckxMiL5G/P2CyTQzGeu8/AAAAP1cCAAAAAAAAAdcAAAAoAAAAdvGIaCQrwD9gsk0MxnrvPwAAAD9XAgAAAAAAAAHYAAAAKAAAAFiFSNRqXMA/YLJNDMZ67z8AAAA/ZwIAAAAAAAAB2QAAACgAAAAu4+d1VKbAP2CyTQzGeu8/AAAAP2cCAAAAAAAAAdoAAAAoAAAABEGHFz7wwD9gsk0MxnrvPwAAAD92AgAAAAAAAAHbAAAAKAAAAOjURoOEIcE/YLJNDMZ67z8AAAA/dgIAAAAAAAAB3AAAACgAAAC+MuYkbmvBP2CyTQzGeu8/AAAAP4YCAAAAAAAAAd0AAAAoAAAAsPzFWhGEwT9gsk0MxnrvPwAAAD+GAgAAAAAAAAHeAAAAKAAAAJSQhcZXtcE/YLJNDMZ67z8AAAA/lgIAAAAAAAAB3wAAACgAAAB2JEUynubBP2CyTQzGeu8/AAAAP5YCAAAAAAAAAeAAAAAoAAAAau4kaEH/wT9gsk0MxnrvPwAAAD+lAgAAAAAAAAHhAAAAKAAAAD5MxAkrScI/YLJNDMZ67z8AAAA/pQIAAAAAAAAB4gAAACgAAAAwFqQ/zmHCP2CyTQzGeu8/AAAAP7UCAAAAAAAAAeMAAAAoAAAAFKpjqxSTwj9gsk0MxnrvPwAAAD+1AgAAAAAAAAHkAAAAKAAAAOoHA03+3MI/YLJNDMZ67z8AAAA/xAIAAAAAAAAB5QAAACgAAADOm8K4RA7DP2CyTQzGeu8/AAAAP9QCAAAAAAAAAeYAAAAoAAAAovlhWi5Ywz9gsk0MxnrvPwAAAD/UAgAAAAAAAAHnAAAAKAAAAIaNIcZ0icM/YLJNDMZ67z8AAAA/1AIAAAAAAAAB6AAAACgAAABa68BnXtPDP2CyTQzGeu8/AAAAP+QCAAAAAAAAAekAAAAoAAAAMElgCUgdxD9gsk0MxnrvPwAAAD/kAgAAAAAAAAHqAAAAKAAAACATQD/rNcQ/YLJNDMZ67z8AAAA/8wIAAAAAAAAB6wAAACgAAAD2cN/g1H/EP2CyTQzGeu8/AAAAP/MCAAAAAAAAAewAAAAoAAAA6Dq/FniYxD9gsk0MxnrvPwAAAD8DAwAAAAAAAAHtAAAAKAAAAL6YXrhh4sQ/YLJNDMZ67z8AAAA/AwMAAAAAAAAB7gAAACgAAACgLB4kqBPFP2CyTQzGeu8/AAAAPxMDAAAAAAAAAe8AAAAoAAAAlPb9WUssxT9gsk0MxnrvPwAAAD8TAwAAAAAAAAHwAAAAKAAAAGhUnfs0dsU/YLJNDMZ67z8AAAA/IgMAAAAAAAAB8QAAACgAAABcHn0x2I7FP2CyTQzGeu8/AAAAPyIDAAAAAAAAAfIAAAAoAAAAMHwc08HYxT9gsk0MxnrvPwAAAD8yAwAAAAAAAAHzAAAAKAAAABQQ3D4ICsY/YLJNDMZ67z8AAAA/MgMAAAAAAAAB9AAAACgAAAD4o5uqTjvGP2CyTQzGeu8/AAAAP0EDAAAAAAAAAfUAAAAoAAAA3DdbFpVsxj9gsk0MxnrvPwAAAD9BAwAAAAAAAAH2AAAAKAAAALKV+rd+tsY/YLJNDMZ67z8AAAA/UQMAAAAAAAAB9wAAACgAAACUKbojxefGP2CyTQzGeu8/AAAAP2EDAAAAAAAAAfgAAAAoAAAAaodZxa4xxz9gsk0MxnrvPwAAAD9hAwAAAAAAAAH5AAAAKAAAAE4bGTH1Ysc/YLJNDMZ67z8AAAA/bwMAAAAAAAAB+gAAACgAAAAkebjS3qzHP2CyTQzGeu8/AAAAP28DAAAAAAAAAfsAAAAoAAAA+tZXdMj2xz9gsk0MxnrvPwAAAD9/AwAAAAAAAAH8AAAAKAAAANA09xWyQMg/YLJNDMZ67z8AAAA/fwMAAAAAAAAB/QAAACgAAACkkpa3m4rIP2CyTQzGeu8/AAAAP48DAAAAAAAAAf4AAAAoAAAAbLoVjyjtyD9gsk0MxnrvPwAAAD+PAwAAAAAAAAH/AAAAKAAAAEIYtTASN8k/YLJNDMZ67z8AAAA/ngMAAAAAAAABAAEAACgAAAAYdlTS+4DJP2CyTQzGeu8/AAAAP54DAAAAAAAAAQEBAAAoAAAA7tPzc+XKyT9gsk0MxnrvPwAAAD+uAwAAAAAAAAECAQAAKAAAALT7cktyLco/YLJNDMZ67z8AAAA/rgMAAAAAAAABAwEAACgAAAB8I/Ii/4/KP2CyTQzGeu8/AAAAP70DAAAAAAAAAQQBAAAoAAAAXrexjkXByj9gsk0MxnrvPwAAAD+9AwAAAAAAAAEFAQAAKAAAACbfMGbSI8s/YLJNDMZ67z8AAAA/zQMAAAAAAAABBgEAACgAAADuBrA9X4bLP2CyTQzGeu8/AAAAP80DAAAAAAAAAQcBAAAoAAAAti4vFezoyz9gsk0MxnrvPwAAAD/dAwAAAAAAAAEIAQAAKAAAAH5Wrux4S8w/YLJNDMZ67z8AAAA/7AMAAAAAAAABCQEAACgAAABStE2OYpXMP2CyTQzGeu8/AAAAP+wDAAAAAAAAAQoBAAAoAAAAGtzMZe/3zD9gsk0MxnrvPwAAAD/sAwAAAAAAAAELAQAAKAAAAOIDTD18Ws0/YLJNDMZ67z8AAAA//AMAAAAAAAABDAEAACgAAACoK8sUCb3NP2CyTQzGeu8/AAAAP/wDAAAAAAAAAQ0BAAAoAAAAcFNK7JUfzj9gsk0MxnrvPwAAAD8MBAAAAAAAAAEOAQAAKAAAAEax6Y1/ac4/YLJNDMZ67z8AAAA/DAQAAAAAAAABDwEAACgAAAAO2WhlDMzOP2CyTQzGeu8/AAAAPxsEAAAAAAAAARABAAAoAAAA5DYIB/YVzz9gsk0MxnrvPwAAAD8rBAAAAAAAAAERAQAAKAAAAKxeh96CeM8/YLJNDMZ67z8AAAA/KwQAAAAAAAABEgEAACgAAAB0hga2D9vPP2CyTQzGeu8/AAAAPzoEAAAAAAAAARMBAAAoAAAALA3jECsG0D/8RKGRH2rvPwAAAD86BAAAAAAAAAEUAQAAKAAAABe8suEfK9A//EShkR9q7z8AAAA/SgQAAAAAAAABFQEAACgAAAAJhpIXw0PQP/xEoZEfau8/AAAAP0oEAAAAAAAAARYBAAAoAAAA8zRi6Ldo0D+Y1/QWeVnvPwAAAD9aBAAAAAAAAAEXAQAAKAAAAN/jMbmsjdA/mNf0FnlZ7z8AAAA/WgQAAAAAAAABGAEAACgAAADQrRHvT6bQP5jX9BZ5We8/AAAAP2kEAAAAAAAAARkBAAAoAAAAu1zhv0TL0D+Y1/QWeVnvPwAAAD9pBAAAAAAAAAEaAQAAKAAAAKULsZA58NA/mNf0FnlZ7z8AAAA/eQQAAAAAAAABGwEAACgAAACY1ZDG3AjRPzhqSJzSSO8/AAAAP3kEAAAAAAAAARwBAAAoAAAAe2lQMiM60T84akic0kjvPwAAAD+JBAAAAAAAAAEdAQAAKAAAAGYYIAMYX9E/OGpInNJI7z8AAAA/iQQAAAAAAAABHgEAACgAAABQx+/TDITRP9T8myEsOO8/AAAAP5gEAAAAAAAAAR8BAAAoAAAAPHa/pAGp0T/U/JshLDjvPwAAAD+YBAAAAAAAAAEgAQAAKAAAAB8KfxBI2tE/1PybISw47z8AAAA/qAQAAAAAAAABIQEAACgAAAAEnj58jgvSP9T8myEsOO8/AAAAP6gEAAAAAAAAASIBAAAoAAAA9WcesjEk0j9wj++mhSfvPwAAAD+3BAAAAAAAAAEjAQAAKAAAANn73R14VdI/cI/vpoUn7z8AAAA/twQAAAAAAAABJAEAACgAAAC8j52JvobSP3CP76aFJ+8/AAAAP8cEAAAAAAAAASUBAAAoAAAAqD5tWrOr0j9wj++mhSfvPwAAAD/HBAAAAAAAAAEmAQAAKAAAAJLtPCuo0NI/cI/vpoUn7z8AAAA/1wQAAAAAAAABJwEAACgAAAB+nAz8nPXSP3CP76aFJ+8/AAAAP9cEAAAAAAAAASgBAAAoAAAAYTDMZ+Mm0z8MIkMs3xbvPwAAAD/mBAAAAAAAAAEpAQAAKAAAAETEi9MpWNM/DCJDLN8W7z8AAAA/5gQAAAAAAAABKgEAACgAAAAwc1ukHn3TPwwiQyzfFu8/AAAAP/YEAAAAAAAAASsBAAAoAAAAEwcbEGWu0z8MIkMs3xbvPwAAAD/2BAAAAAAAAAEsAQAAKAAAAPSa2nur39M/DCJDLN8W7z8AAAA/BgUAAAAAAAABLQEAACgAAADXLprn8RDUPwwiQyzfFu8/AAAAPwYFAAAAAAAAAS4BAAAoAAAAwd1puOY11D8MIkMs3xbvPwAAAD8VBQAAAAAAAAEvAQAAKAAAALSnSe6JTtQ/DCJDLN8W7z8AAAA/FQUAAAAAAAABMAEAACgAAACfVhm/fnPUPwwiQyzfFu8/AAAAPyUFAAAAAAAAATEBAAAoAAAAlzsJWtB/1D8MIkMs3xbvPwAAAD8lBQAAAAAAAAEyAQAAKAAAAIPq2CrFpNQ/DCJDLN8W7z8AAAA/NAUAAAAAAAABMwEAACgAAAB1tLhgaL3UPwwiQyzfFu8/AAAAPzQFAAAAAAAAATQBAAAoAAAAbpmo+7nJ1D8MIkMs3xbvPwAAAD9EBQAAAAAAAAE1AQAAKAAAAF9jiDFd4tQ/DCJDLN8W7z8AAAA/RAUAAAAAAAABNgEAACgAAABYSHjMru7UPwwiQyzfFu8/AAAAP1QFAAAAAAAAATcBAAAoAAAAShJYAlIH1T8MIkMs3xbvPwAAAD9UBQAAAAAAAAE4AQAAKAAAADvcNzj1H9U/qLSWsTgG7z8AAAA/YwUAAAAAAAABOQEAACgAAAA0wSfTRizVP6i0lrE4Bu8/AAAAP3MFAAAAAAAAAToBAAAoAAAAIHD3oztR1T+otJaxOAbvPwAAAD9zBQAAAAAAAAE7AQAAKAAAAAofx3QwdtU/SEfqNpL17j8AAAA/gQUAAAAAAAABPAEAACgAAAD86Kaq047VP0hH6jaS9e4/AAAAP5EFAAAAAAAAAT0BAAAoAAAA5pd2e8iz1T9IR+o2kvXuPwAAAD+gBQAAAAAAAAE+AQAAKAAAANlhVrFrzNU/SEfqNpL17j8AAAA/oAUAAAAAAAABPwEAACgAAADEECaCYPHVP0hH6jaS9e4/AAAAP7AFAAAAAAAAAUABAAAoAAAAp6Tl7aYi1j/k2T286+TuPwAAAD+wBQAAAAAAAAFBAQAAKAAAAJpuxSNKO9Y/5Nk9vOvk7j8AAAA/vwUAAAAAAAABQgEAACgAAAB9AoWPkGzWP4BskUFF1O4/AAAAP78FAAAAAAAAAUMBAAAoAAAAabFUYIWR1j8c/+TGnsPuPwAAAD/PBQAAAAAAAAFEAQAAKAAAAExFFMzLwtY/HP/kxp7D7j8AAAA/zwUAAAAAAAABRQEAACgAAAAv2dM3EvTWP7iROEz4su4/AAAAP98FAAAAAAAAAUYBAAAoAAAAIaOzbbUM1z+4kThM+LLuPwAAAD/fBQAAAAAAAAFHAQAAKAAAAAQ3c9n7Pdc/WCSM0VGi7j8AAAA/7gUAAAAAAAABSAEAACgAAADqyjJFQm/XP1gkjNFRou4/AAAAP+4FAAAAAAAAAUkBAAAoAAAA2pQSe+WH1z/0tt9Wq5HuPwAAAD/+BQAAAAAAAAFKAQAAKAAAAMZD4kvarNc/9LbfVquR7j8AAAA//gUAAAAAAAABSwEAACgAAACo16G3IN7XP/S231arke4/AAAAPw4GAAAAAAAAAUwBAAAoAAAAlIZxiBUD2D+QSTPcBIHuPwAAAD8OBgAAAAAAAAFNAQAAKAAAAIZQUb64G9g/kEkz3ASB7j8AAAA/HQYAAAAAAAABTgEAACgAAABw/yCPrUDYP5BJM9wEge4/AAAAPx0GAAAAAAAAAU8BAAAoAAAAauQQKv9M2D+QSTPcBIHuPwAAAD8tBgAAAAAAAAFQAQAAKAAAAFST4Przcdg/LNyGYV5w7j8AAAA/LQYAAAAAAAABUQEAACgAAAA4J6BmOqPYPyzchmFecO4/AAAAPzwGAAAAAAAAAVIBAAAoAAAAKvF/nN272D8s3IZhXnDuPwAAAD88BgAAAAAAAAFTAQAAKAAAABSgT23S4Ng/LNyGYV5w7j8AAAA/TAYAAAAAAAABVAEAACgAAAD+Th8+xwXZPyzchmFecO4/AAAAP0wGAAAAAAAAAVUBAAAoAAAA5OLeqQ032T8s3IZhXnDuPwAAAD9cBgAAAAAAAAFWAQAAKAAAANSsvt+wT9k/LNyGYV5w7j8AAAA/XAYAAAAAAAABVwEAACgAAADAW46wpXTZPyzchmFecO4/AAAAP2sGAAAAAAAAAVgBAAAoAAAAsiVu5kiN2T8s3IZhXnDuPwAAAD97BgAAAAAAAAFZAQAAKAAAAJa5LVKPvtk/LNyGYV5w7j8AAAA/ewYAAAAAAAABWgEAACgAAACIgw2IMtfZPyzchmFecO4/AAAAP3sGAAAAAAAAAVsBAAAoAAAAeE3tvdXv2T8s3IZhXnDuPwAAAD+LBgAAAAAAAAFcAQAAKAAAAGT8vI7KFNo/LNyGYV5w7j8AAAA/iwYAAAAAAAABXQEAACgAAABWxpzEbS3aPyzchmFecO4/AAAAP5oGAAAAAAAAAV4BAAAoAAAASJB8+hBG2j8s3IZhXnDuPwAAAD+aBgAAAAAAAAFfAQAAKAAAADpaXDC0Xto/LNyGYV5w7j8AAAA/qgYAAAAAAAABYAEAACgAAAAsJDxmV3faPyzchmFecO4/AAAAP6oGAAAAAAAAAWEBAAAoAAAAHu4bnPqP2j8s3IZhXnDuPwAAAD+5BgAAAAAAAAFiAQAAKAAAAAid62zvtNo/LNyGYV5w7j8AAAA/uQYAAAAAAAABYwEAACgAAAACgtsHQcHaPyzchmFecO4/AAAAP8kGAAAAAAAAAWQBAAAoAAAA8ku7PeTZ2j8s3IZhXnDuPwAAAD/ZBgAAAAAAAAFlAQAAKAAAAOwwq9g15to/LNyGYV5w7j8AAAA/2QYAAAAAAAABZgEAACgAAADY33qpKgvbPyzchmFecO4/AAAAP+gGAAAAAAAAAWcBAAAoAAAAzsRqRHwX2z8s3IZhXnDuPwAAAD/oBgAAAAAAAAFoAQAAKAAAAMKOSnofMNs/LNyGYV5w7j8AAAA/+AYAAAAAAAABaQEAACgAAAC0WCqwwkjbPyzchmFecO4/AAAAPwgHAAAAAAAAAWoBAAAoAAAArD0aSxRV2z8s3IZhXnDuPwAAAD8XBwAAAAAAAAFrAQAAKAAAAKYiCuZlYds/LNyGYV5w7j8AAAA/JwcAAAAAAAABbAEAACgAAACeB/qAt23bPyzchmFecO4/AAAAP3UHAAAAAAAAAW0BAAAoAAAARIzF6o7D5D8AVxUqx/x4PwAAAD8AAAAAAAAAAAFuAQAAKAAAAMB+Pbi3yeQ/AFcVKsf8eD8AAAA/AAAAAAAAAAABbwEAACgAAAA9cbWF4M/kPwBXFSrH/Hg/AAAAP7oAAAAAAAAAAXABAAAoAAAAs0gd7lri5D8AVxUqx/x4PwAAAD/JAAAAAAAAAAFxAQAAKAAAAKMS/SP++uQ/AFcVKsf8eD8AAAA/2QAAAAAAAAABcgEAACgAAAAZ6mSMeA3lPwBXFSrH/Hg/AAAAP+gAAAAAAAAAAXMBAAAoAAAAj8HM9PIf5T8AVxUqx/x4PwAAAD/oAAAAAAAAAAF0AQAAKAAAAIGLrCqWOOU/AFcVKsf8eD8AAAA/+AAAAAAAAAABdQEAACgAAAByVYxgOVHlPwBXFSrH/Hg/AAAAP/gAAAAAAAAAAXYBAAAoAAAAazp8+4pd5T8AVxUqx/x4PwAAAD8IAQAAAAAAAAF3AQAAKAAAAF4EXDEuduU/AFcVKsf8eD8AAAA/CAEAAAAAAAABeAEAACgAAABQzjtn0Y7lPwBXFSrH/Hg/AAAAPxcBAAAAAAAAAXkBAAAoAAAAQZgbnXSn5T8AVxUqx/x4PwAAAD8XAQAAAAAAAAF6AQAAKAAAADNi+9IXwOU/AFcVKsf8eD8AAAA/JwEAAAAAAAABewEAACgAAAAsR+ttaczlPwBXFSrH/Hg/AAAAPycBAAAAAAAAAXwBAAAoAAAAHRHLowzl5T8AVxUqx/x4PwAAAD83AQAAAAAAAAF9AQAAKAAAAJPoMgyH9+U/AFcVKsf8eD8AAAA/NwEAAAAAAAABfgEAACgAAACMzSKn2APmPwBXFSrH/Hg/AAAAP0YBAAAAAAAAAX8BAAAoAAAAAqWKD1MW5j8AVxUqx/x4PwAAAD9GAQAAAAAAAAGAAQAAKAAAAPFuakX2LuY/AFcVKsf8eD8AAAA/VgEAAAAAAAABgQEAACgAAADqU1rgRzvmPwBXFSrH/Hg/AAAAP1YBAAAAAAAAAYIBAAAoAAAAYCvCSMJN5j8AVxUqx/x4PwAAAD9lAQAAAAAAAAGDAQAAKAAAANYCKrE8YOY/AFcVKsf8eD8AAAA/ZQEAAAAAAAABhAEAACgAAADP5xlMjmzmPwBXFSrH/Hg/AAAAP3UBAAAAAAAAAYUBAAAoAAAAQ7+BtAh/5j8AVxUqx/x4PwAAAD+FAQAAAAAAAAGGAQAAKAAAAD2kcU9ai+Y/AFcVKsf8eD8AAAA/hQEAAAAAAAABhwEAACgAAAA2iWHqq5fmPwBXFSrH/Hg/AAAAP4UBAAAAAAAAAYgBAAAoAAAArGDJUiaq5j8AVxUqx/x4PwAAAD+UAQAAAAAAAAGJAQAAKAAAAChTQSBPsOY/AFcVKsf8eD8AAAA/lAEAAAAAAAABigEAACgAAAAhODG7oLzmPwBXFSrH/Hg/AAAAP6QBAAAAAAAAAYsBAAAoAAAAGR0hVvLI5j8AVxUqx/x4PwAAAD+0AQAAAAAAAAGMAQAAKAAAABICEfFD1eY/AFcVKsf8eD8AAAA/tAEAAAAAAAABjQEAACgAAAAL5wCMleHmPwBXFSrH/Hg/AAAAP8MBAAAAAAAAAY4BAAAoAAAABczwJuft5j8AVxUqx/x4PwAAAD/DAQAAAAAAAAGPAQAAKAAAAP6w4ME4+uY/AFcVKsf8eD8AAAA/0wEAAAAAAAABkAEAACgAAAD3ldBcigbnPwBXFSrH/Hg/AAAAP9MBAAAAAAAAAZEBAAAoAAAA73rA99sS5z8AVxUqx/x4PwAAAD/iAQAAAAAAAAGSAQAAKAAAAGRSKGBWJec/AFcVKsf8eD8AAAA/4gEAAAAAAAABkwEAACgAAADhRKAtfyvnPwBXFSrH/Hg/AAAAP/IBAAAAAAAAAZQBAAAoAAAAVxwIlvk95z8AVxUqx/x4PwAAAD/yAQAAAAAAAAGVAQAAKAAAANMOgGMiROc/AFcVKsf8eD8AAAA/AgIAAAAAAAABlgEAACgAAABJ5ufLnFbnPwBXFSrH/Hg/AAAAPwICAAAAAAAAAZcBAAAoAAAAQcvXZu5i5z8AVxUqx/x4PwAAAD8RAgAAAAAAAAGYAQAAKAAAAL29TzQXaec/AFcVKsf8eD8AAAA/EQIAAAAAAAABmQEAACgAAAC2oj/PaHXnPwBXFSrH/Hg/AAAAPyECAAAAAAAAAZoBAAAoAAAALHqnN+OH5z8AVxUqx/x4PwAAAD8hAgAAAAAAAAGbAQAAKAAAAKlsHwUMjuc/AFcVKsf8eD8AAAA/JQIAAAAAAAABnAEAACgAAACiUQ+gXZrnPwBXFSrH/Hg/AAAAPyUCAAAAAAAAAZ0BAAAoAAAAH0SHbYag5z8AVxUqx/x4PwAAAD80AgAAAAAAAAGeAQAAKAAAABYpdwjYrOc/AFcVKsf8eD8AAAA/NAIAAAAAAAABnwEAACgAAACTG+/VALPnPwBXFSrH/Hg/AAAAP0QCAAAAAAAAAaABAAAoAAAAjADfcFK/5z8AVxUqx/x4PwAAAD9EAgAAAAAAAAGhAQAAKAAAAAnzVj57xec/AFcVKsf8eD8AAAA/UwIAAAAAAAABogEAACgAAACF5c4LpMvnPwBXFSrH/Hg/AAAAP2MCAAAAAAAAAaMBAAAoAAAAAthG2czR5z8AVxUqx/x4PwAAAD9jAgAAAAAAAAGkAQAAKAAAAH7Kvqb11+c/AFcVKsf8eD8AAAA/cwIAAAAAAAABpQEAACgAAAD7vDZ0Ht7nPwBXFSrH/Hg/AAAAP5ICAAAAAAAAAaYBAAAoAAAAeK+uQUfk5z8AVxUqx/x4PwAAAD+xAgAAAAAAAAGnAQAAKAAAAPShJg9w6uc/AFcVKsf8eD8AAAA/sQIAAAAAAAABqAEAACgAAADthhaqwfbnPwBXFSrH/Hg/AAAAP8ECAAAAAAAAAakBAAAoAAAAYl5+EjwJ6D8AVxUqx/x4PwAAAD/BAgAAAAAAAAGqAQAAKAAAAFtDbq2NFeg/AFcVKsf8eD8AAAA/0AIAAAAAAAABqwEAACgAAABNDU7jMC7oPwBXFSrH/Hg/AAAAP+ACAAAAAAAAAawBAAAoAAAAw+S1S6tA6D8AVxUqx/x4PwAAAD/gAgAAAAAAAAGtAQAAKAAAADe8HbQlU+g/AFcVKsf8eD8AAAA/8AIAAAAAAAABrgEAACgAAAAphv3pyGvoPwBXFSrH/Hg/AAAAP/ACAAAAAAAAAa8BAAAoAAAAHFDdH2yE6D8AVxUqx/x4PwAAAD//AgAAAAAAAAGwAQAAKAAAAJAnRYjmlug/AFcVKsf8eD8AAAA//wIAAAAAAAABsQEAACgAAACJDDUjOKPoPwBXFSrH/Hg/AAAAPw8DAAAAAAAAAbIBAAAoAAAA/+Oci7K16D8ABCZAAqiAPwAAAD8PAwAAAAAAAAGzAQAAKAAAAHW7BPQsyOg/AAQmQAKogD8AAAA/HwMAAAAAAAABtAEAACgAAABuoPSOftToPwAEJkACqIA/AAAAPx8DAAAAAAAAAbUBAAAoAAAAX2rUxCHt6D8ABCZAAqiAPwAAAD8uAwAAAAAAAAG2AQAAKAAAANVBPC2c/+g/AAQmQAKogD8AAAA/LgMAAAAAAAABtwEAACgAAADOJizI7QvpPwAEJkACqIA/AAAAPz4DAAAAAAAAAbgBAAAoAAAAQ/6TMGge6T8ABCZAAqiAPwAAAD8+AwAAAAAAAAG5AQAAKAAAAD3jg8u5Kuk/AAQmQAKogD8AAAA/TQMAAAAAAAABugEAACgAAACxuuszND3pPwAEJkACqIA/AAAAP00DAAAAAAAAAbsBAAAoAAAAJ5JTnK5P6T8ABCZAAqiAPwAAAD9dAwAAAAAAAAG8AQAAKAAAACB3QzcAXOk/AAQmQAKogD8AAAA/XQMAAAAAAAABvQEAACgAAACWTqufem7pPwAEJkACqIA/AAAAP20DAAAAAAAAAb4BAAAoAAAACiYTCPWA6T8ABCZAAqiAPwAAAD9tAwAAAAAAAAG/AQAAKAAAAAMLA6NGjek/AAQmQAKogD8AAAA/fAMAAAAAAAABwAEAACgAAAB54moLwZ/pPwAEJkACqIA/AAAAP3wDAAAAAAAAAcEBAAAoAAAAcsdaphKs6T8ABCZAAqiAPwAAAD+MAwAAAAAAAAHCAQAAKAAAAOiewg6Nvuk/AAQmQAKogD8AAAA/jAMAAAAAAAABwwEAACgAAABcdip3B9HpPwAEJkACqIA/AAAAP5wDAAAAAAAAAcQBAAAoAAAAVVsaElnd6T8ABCZAAqiAPwAAAD+rAwAAAAAAAAHFAQAAKAAAAMsygnrT7+k/AAQmQAKogD8AAAA/qwMAAAAAAAABxgEAACgAAABBCuriTQLqPwAEJkACqIA/AAAAP6sDAAAAAAAAAccBAAAoAAAAteFRS8gU6j8ABCZAAqiAPwAAAD+7AwAAAAAAAAHIAQAAKAAAAK7GQeYZIeo/AF1B66DRhD8AAAA/uwMAAAAAAAAByQEAACgAAAAknqlOlDPqPwBdQeug0YQ/AAAAP8oDAAAAAAAAAcoBAAAoAAAAHYOZ6eU/6j8AXUHroNGEPwAAAD/KAwAAAAAAAAHLAQAAKAAAAJNaAVJgUuo/AF1B66DRhD8AAAA/2gMAAAAAAAABzAEAACgAAAAPTXkfiVjqPwBdQeug0YQ/AAAAP9oDAAAAAAAAAc0BAAAoAAAAhCThhwNr6j8AXUHroNGEPwAAAD/qAwAAAAAAAAHOAQAAKAAAAH0J0SJVd+o/AF1B66DRhD8AAAA/6gMAAAAAAAABzwEAACgAAAB27sC9poPqPwBdQeug0YQ/AAAAP/kDAAAAAAAAAdABAAAoAAAA7MUoJiGW6j8AXUHroNGEPwAAAD/5AwAAAAAAAAHRAQAAKAAAAOWqGMFyouo/AF1B66DRhD8AAAA/CQQAAAAAAAAB0gEAACgAAADdjwhcxK7qPwBdQeug0YQ/AAAAPwkEAAAAAAAAAdMBAAAoAAAA1nT49hW76j8AXUHroNGEPwAAAD8ZBAAAAAAAAAHUAQAAKAAAAM9Z6JFnx+o/AF1B66DRhD8AAAA/KAQAAAAAAAAB1QEAACgAAABMTGBfkM3qPwBdQeug0YQ/AAAAP0cEAAAAAAAAAdYBAAAoAAAAyD7YLLnT6j8AXUHroNGEPwAAAD9HBAAAAAAAAAHXAQAAKAAAAMg+2Cy50+o/ALZclj/7iD8AAAA/VgQAAAAAAAAB2AEAACgAAABFMVD64dnqPwC2XJY/+4g/AAAAP2YEAAAAAAAAAdkBAAAoAAAAwSPIxwrg6j+ADnhB3iSNPwAAAD+FBAAAAAAAAAHaAQAAKAAAAD4WQJUz5uo/gA54Qd4kjT8AAAA/hQQAAAAAAAAB2wEAACgAAAA3+y8whfLqP4AOeEHeJI0/AAAAP5UEAAAAAAAAAdwBAAAoAAAAL+Afy9b+6j+ADnhB3iSNPwAAAD+VBAAAAAAAAAHdAQAAKAAAAKW3hzNREes/wLNJdj6nkD8AAAA/pQQAAAAAAAAB3gEAACgAAAAaj++byyPrP8CzSXY+p5A/AAAAP6UEAAAAAAAAAd8BAAAoAAAAkGZXBEY26z/As0l2PqeQPwAAAD+0BAAAAAAAAAHgAQAAKAAAAAQ+v2zASOs/wLNJdj6nkD8AAAA/tAQAAAAAAAAB4QEAACgAAAD9Iq8HElXrP8CzSXY+p5A/AAAAP8QEAAAAAAAAAeIBAAAoAAAAehUn1Tpb6z/As0l2PqeQPwAAAD/EBAAAAAAAAAHjAQAAKAAAAHP6FnCMZ+s/wLNJdj6nkD8AAAA/0wQAAAAAAAAB5AEAACgAAADw7I49tW3rP8CzSXY+p5A/AAAAP9MEAAAAAAAAAeUBAAAoAAAAbN8GC95z6z/As0l2PqeQPwAAAD/jBAAAAAAAAAHmAQAAKAAAAOnRftgGeus/wLNJdj6nkD8AAAA/4wQAAAAAAAAB5wEAACgAAABmxPalL4DrP8CzSXY+p5A/AAAAP/MEAAAAAAAAAegBAAAoAAAAZsT2pS+A6z8AYNfLDbySPwAAAD8CBQAAAAAAAAHpAQAAKAAAAOK2bnNYhus/AGDXyw28kj8AAAA/EgUAAAAAAAAB6gEAACgAAADam14OqpLrPwBg18sNvJI/AAAAPxIFAAAAAAAAAesBAAAoAAAA04BOqfue6z8AYNfLDbySPwAAAD8iBQAAAAAAAAHsAQAAKAAAAElYthF2ses/AGDXyw28kj8AAAA/IgUAAAAAAAAB7QEAACgAAAA7IpZHGcrrP4AMZSHd0JQ/AAAAPzEFAAAAAAAAAe4BAAAoAAAANQeG4mrW6z+ADGUh3dCUPwAAAD8xBQAAAAAAAAHvAQAAKAAAACXRZRgO7+s/gAxlId3QlD8AAAA/QQUAAAAAAAAB8AEAACgAAACVjb0b2g3sP4AMZSHd0JQ/AAAAP0EFAAAAAAAAAfEBAAAoAAAAh1edUX0m7D8AufJ2rOWWPwAAAD9QBQAAAAAAAAHyAQAAKAAAAHchfYcgP+w/ALnydqzllj8AAAA/YAUAAAAAAAAB8wEAACgAAABp61y9w1fsPwC58nas5ZY/AAAAP2AFAAAAAAAAAfQBAAAoAAAAY9BMWBVk7D8AufJ2rOWWPwAAAD9gBQAAAAAAAAH1AQAAKAAAANmntMCPduw/ALnydqzllj8AAAA/cAUAAAAAAAAB9gEAACgAAADJcZT2Mo/sPwC58nas5ZY/AAAAP3AFAAAAAAAAAfcBAAAoAAAAR2QMxFuV7D8AufJ2rOWWPwAAAD9/BQAAAAAAAAH4AQAAKAAAALs7dCzWp+w/ALnydqzllj8AAAA/fwUAAAAAAAAB+QEAACgAAAAxE9yUULrsPwC58nas5ZY/AAAAP48FAAAAAAAAAfoBAAAoAAAAKfjLL6LG7D8AufJ2rOWWPwAAAD+PBQAAAAAAAAH7AQAAKAAAAJ/PM5gc2ew/ALnydqzllj8AAAA/nwUAAAAAAAAB/AEAACgAAAAbwqtlRd/sPwC58nas5ZY/AAAAP64FAAAAAAAAAf0BAAAoAAAAFaebAJfr7D8AufJ2rOWWPwAAAD+uBQAAAAAAAAH+AQAAKAAAAJGZE86/8ew/ALnydqzllj8AAAA/vgUAAAAAAAAB/wEAACgAAAANjIub6PfsPwC58nas5ZY/AAAAP74FAAAAAAAAAQACAAAoAAAAi34DaRH+7D8AufJ2rOWWPwAAAD/NBQAAAAAAAAEBAgAAKAAAAAdxezY6BO0/ALnydqzllj8AAAA/zQUAAAAAAAABAgIAACgAAACDY/MDYwrtPwC58nas5ZY/AAAAP+0FAAAAAAAAAQMCAAAoAAAAAVZr0YsQ7T8AufJ2rOWWPwAAAD8cBgAAAAAAAAEEAgAAKAAAAHtI4560Fu0/ALnydqzllj8AAAA/KwYAAAAAAAABBQIAACgAAADxH0sHLyntPwC58nas5ZY/AAAAPzsGAAAAAAAAAQYCAAAoAAAAZ/eyb6k77T8AufJ2rOWWPwAAAD87BgAAAAAAAAEHAgAAKAAAAGHcogr7R+0/ALnydqzllj8AAAA/SgYAAAAAAAABCAIAACgAAABRpoJAnmDtPwC58nas5ZY/AAAAP1oGAAAAAAAAAQkCAAAoAAAAx33qqBhz7T+ADGUh3dCUPwAAAD9aBgAAAAAAAAEKAgAAKAAAAD1VUhGThe0/gAxlId3QlD8AAAA/WgYAAAAAAAABCwIAACgAAAAvHzJHNp7tPwBg18sNvJI/AAAAP2oGAAAAAAAAAQwCAAAoAAAAJwQi4oeq7T8AYNfLDbySPwAAAD9qBgAAAAAAAAENAgAAKAAAAKP2ma+wsO0/AGDXyw28kj8AAAA/eQYAAAAAAAABDgIAACgAAACd24lKAr3tP8CzSXY+p5A/AAAAP3kGAAAAAAAAAQ8CAAAoAAAAGc4BGCvD7T/As0l2PqeQPwAAAD+JBgAAAAAAAAEQAgAAKAAAAJXAeeVTye0/wLNJdj6nkD8AAAA/mQYAAAAAAAABEQIAACgAAAATs/GyfM/tP8CzSXY+p5A/AAAAP5kGAAAAAAAAARICAAAoAAAAlcB55VPJ7T/As0l2PqeQPwAAAD+DBwAAAAAAAAETAgAAKAAAAJ3biUoCve0/wLNJdj6nkD8AAAA/sgcAAAAAAAAL"/>
</p:tagLst>
</file>

<file path=ppt/tags/tag13.xml><?xml version="1.0" encoding="utf-8"?>
<p:tagLst xmlns:a="http://schemas.openxmlformats.org/drawingml/2006/main" xmlns:r="http://schemas.openxmlformats.org/officeDocument/2006/relationships" xmlns:p="http://schemas.openxmlformats.org/presentationml/2006/main">
  <p:tag name="ATHENA.MIXSHAPE" val="AAEAAAD/////AQAAAAAAAAAMAgAAAE9BdXRob3JQUFQsIFZlcnNpb249MC4xLjU3MjAuMCwgQ3VsdHVyZT1uZXV0cmFsLCBQdWJsaWNLZXlUb2tlbj0zMWJmMzg1NmFkMzY0ZTM1BQEAAAALSW5rTWF0dGVyVjEEAAAABVNjYWxlDUxpc3RgMStfaXRlbXMMTGlzdGAxK19zaXplD0xpc3RgMStfdmVyc2lvbgAEAAALF1NoYXJlZC5JbmtpbmcuSW5rQXRvbVtdAgAAAAgIAgAAAP5hMD8JAwAAAAQAAAAIAAAABwMAAAAAAQAAAAQAAAAECUlua0F0b21WMQIAAAAJBAAAAAkFAAAACQYAAAAJBwAAAAUEAAAAC1BlblN0cm9rZVYxBAAAAApBdHRyaWJ1dGVzBVRyYWNlCVN0YXJ0VGltZQRUeXBlBAQABA9QZW5BdHRyaWJ1dGVzVjECAAAACklua1RyYWNlVjECAAAAEAxBY3Rpb25UeXBlVjECAAAAAgAAAAkIAAAACQkAAACUJQAAAAAAAAX2////DEFjdGlvblR5cGVWMQEAAAAHdmFsdWVfXwAIAgAAAAAAAAABBQAAAAQAAAAJCwAAAAkMAAAARC4AAAAAAAAB8/////b///8AAAAAAQYAAAAEAAAACQ4AAAAJDwAAAItEAAAAAAAAAfD////2////AAAAAAEHAAAABAAAAAkRAAAACRIAAAAdVgAAAAAAAAHt////9v///wAAAAAFCAAAAA9QZW5BdHRyaWJ1dGVzVjEKAAAAB19jb2xvckEHX2NvbG9yUgdfY29sb3JHB19jb2xvckIKRml0VG9DdXJ2ZQZIZWlnaHQOSWdub3JlUHJlc3N1cmUNSXNIaWdobGlnaHRlcgVTaGFwZQVXaWR0aAAAAAAAAAAABAACAgICAQYBAQxCcnVzaFNoYXBlVjECAAAABgIAAAD//wAAAAAAAAAAAAhAAAAF7P///wxCcnVzaFNoYXBlVjEBAAAAB3ZhbHVlX18ACAIAAAABAAAAAAAAAAAACEAFCQAAAApJbmtUcmFjZVYxAwAAAA1MaXN0YDErX2l0ZW1zDExpc3RgMStfc2l6ZQ9MaXN0YDErX3ZlcnNpb24EAAAYU2hhcmVkLklua2luZy5JbmtQb2ludFtdAgAAAAgIAgAAAAkVAAAAJgAAACYAAAABCwAAAAgAAAD//wAAAAAAAAAAAAhAAAAB6v///+z///8BAAAAAAAAAAAACEABDAAAAAkAAAAJFwAAACIAAAAiAAAAAQ4AAAAIAAAA//8AAAAAAAAAAAAIQAAAAej////s////AQAAAAAAAAAAAAhAAQ8AAAAJAAAACRkAAAAeAAAAHgAAAAERAAAACAAAAP//AAAAAAAAAAAACEAAAAHm////7P///wEAAAAAAAAAAAAIQAESAAAACQAAAAkbAAAAKQAAACkAAAAHFQAAAAABAAAAQAAAAAQKSW5rUG9pbnRWMQIAAAAJHAAAAAkdAAAACR4AAAAJHwAAAAkgAAAACSEAAAAJIgAAAAkjAAAACSQAAAAJJQAAAAkmAAAACScAAAAJKAAAAAkpAAAACSoAAAAJKwAAAAksAAAACS0AAAAJLgAAAAkvAAAACTAAAAAJMQAAAAkyAAAACTMAAAAJNAAAAAk1AAAACTYAAAAJNwAAAAk4AAAACTkAAAAJOgAAAAk7AAAACTwAAAAJPQAAAAk+AAAACT8AAAAJQAAAAAlBAAAADRoHFwAAAAABAAAAQAAAAAQKSW5rUG9pbnRWMQIAAAAJQgAAAAlDAAAACUQAAAAJRQAAAAlGAAAACUcAAAAJSAAAAAlJAAAACUoAAAAJSwAAAAlMAAAACU0AAAAJTgAAAAlPAAAACVAAAAAJUQAAAAlSAAAACVMAAAAJVAAAAAlVAAAACVYAAAAJVwAAAAlYAAAACVkAAAAJWgAAAAlbAAAACVwAAAAJXQAAAAleAAAACV8AAAAJYAAAAAlhAAAACWIAAAAJYwAAAA0eBxkAAAAAAQAAACAAAAAECklua1BvaW50VjECAAAACWQAAAAJZQAAAAlmAAAACWcAAAAJaAAAAAlpAAAACWoAAAAJawAAAAlsAAAACW0AAAAJbgAAAAlvAAAACXAAAAAJcQAAAAlyAAAACXMAAAAJdAAAAAl1AAAACXYAAAAJdwAAAAl4AAAACXkAAAAJegAAAAl7AAAACXwAAAAJfQAAAAl+AAAACX8AAAAJgAAAAAmBAAAADQIHGwAAAAABAAAAQAAAAAQKSW5rUG9pbnRWMQIAAAAJggAAAAmDAAAACYQAAAAJhQAAAAmGAAAACYcAAAAJiAAAAAmJAAAACYoAAAAJiwAAAAmMAAAACY0AAAAJjgAAAAmPAAAACZAAAAAJkQAAAAmSAAAACZMAAAAJlAAAAAmVAAAACZYAAAAJlwAAAAmYAAAACZkAAAAJmgAAAAmbAAAACZwAAAAJnQAAAAmeAAAACZ8AAAAJoAAAAAmhAAAACaIAAAAJowAAAAmkAAAACaUAAAAJpgAAAAmnAAAACagAAAAJqQAAAAmqAAAADRcFHAAAAApJbmtQb2ludFYxBAAAAAFYAVkOUHJlc3N1cmVGYWN0b3IJVGltZVN0YW1wAAAAAAYGCxACAAAAALy65dCobT+oea1mWlXVPwAAAD8AAAAAAAAAAAEdAAAAHAAAAAC86OIitng/qHmtZlpV1T8AAAA/dwEAAAAAAAABHgAAABwAAAAAa+4aAKd9P6h5rWZaVdU/AAAAP3cBAAAAAAAAAR8AAAAcAAAAAOR8RV3Egz+oea1mWlXVPwAAAD+LAQAAAAAAAAEgAAAAHAAAAACTgn06tYg/qHmtZlpV1T8AAAA/iwEAAAAAAAABIQAAABwAAACAaoUZqS2LP6h5rWZaVdU/AAAAP5sBAAAAAAAAASIAAAAcAAAAQPjGdnpLkT+oea1mWlXVPwAAAD+bAQAAAAAAAAEjAAAAHAAAAABkyMSxh5I/qHmtZlpV1T8AAAA/qwEAAAAAAAABJAAAABwAAADAz8kS6cOTP6h5rWZaVdU/AAAAP6sBAAAAAAAAASUAAAAcAAAAQKfMrlc8lj+oea1mWlXVPwAAAD+6AQAAAAAAAAEmAAAAHAAAAAATzvyOeJc/wPMUzfor1T8AAAA/ygEAAAAAAAABJwAAABwAAADAfs9KxrSYP8DzFM36K9U/AAAAP8oBAAAAAAAAASgAAAAcAAAAgOrQmP3wmT/A8xTN+ivVPwAAAD/ZAQAAAAAAAAEpAAAAHAAAAADC0zRsaZw/wPMUzfor1T8AAAA/6QEAAAAAAAABKgAAABwAAADALdWCo6WdP8DzFM36K9U/AAAAP+kBAAAAAAAAASsAAAAcAAAAYLhstiStoD/A8xTN+ivVPwAAAD/5AQAAAAAAAAEsAAAAHAAAAADabqt3h6I/wPMUzfor1T8AAAA/+QEAAAAAAAABLQAAABwAAADARXD5rsOjP8DzFM36K9U/AAAAPwgCAAAAAAAAAS4AAAAcAAAAYGdy7gGepT/A8xTN+ivVPwAAAD8IAgAAAAAAAAEvAAAAHAAAAACJdONUeKc/wPMUzfor1T8AAAA/GAIAAAAAAAABMAAAABwAAACg9HUxjLSoP8DzFM36K9U/AAAAPxgCAAAAAAAAATEAAAAcAAAAQBZ4Jt+Oqj/A8xTN+ivVPwAAAD8oAgAAAAAAAAEyAAAAHAAAACDMeM36LKs/wPMUzfor1T8AAAA/NwIAAAAAAAABMwAAABwAAADAN3obMmmsP8DzFM36K9U/AAAAPzcCAAAAAAAAATQAAAAcAAAAgKN7aWmlrT/A8xTN+ivVPwAAAD9HAgAAAAAAAAE1AAAAHAAAAGBZfBCFQ64/wPMUzfor1T8AAAA/VgIAAAAAAAABNgAAABwAAABAD323oOGuP8DzFM36K9U/AAAAP1YCAAAAAAAAATcAAAAcAAAAIMV9Xrx/rz/A8xTN+ivVPwAAAD9WAgAAAAAAAAE4AAAAHAAAAIA9vwLsDrA/wPMUzfor1T8AAAA/ZgIAAAAAAAABOQAAABwAAABg87+pB62wP8DzFM36K9U/AAAAP3YCAAAAAAAAAToAAAAcAAAAQKnAUCNLsT/A8xTN+ivVPwAAAD+FAgAAAAAAAAE7AAAAHAAAACAEQSQxmrE/wPMUzfor1T8AAAA/hQIAAAAAAAABPAAAABwAAAAQX8H3PumxP8DzFM36K9U/AAAAP5UCAAAAAAAAAT0AAAAcAAAAALpBy0w4sj/A8xTN+ivVPwAAAD+VAgAAAAAAAAE+AAAAHAAAAPAUwp5ah7I/wPMUzfor1T8AAAA/pQIAAAAAAAABPwAAABwAAADgb0JyaNayP8DzFM36K9U/AAAAP7QCAAAAAAAAAUAAAAAcAAAA0MrCRXYlsz/A8xTN+ivVPwAAAD+0AgAAAAAAAAFBAAAAHAAAAMAlQxmEdLM/wPMUzfor1T8AAAA/8wIAAAAAAAABQgAAABwAAAA0HikeVATaP6gAl//owe8/AAAAPwAAAAAAAAAAAUMAAAAcAAAA8DQJkxcY2j+oAJf/6MHvPwAAAD8AAAAAAAAAAAFEAAAAHAAAAOCPiWYlZ9o/qACX/+jB7z8AAAA/nQAAAAAAAAABRQAAABwAAAAU1CnFb6LaP6gAl//owe8/AAAAP50AAAAAAAAAAUYAAAAcAAAAiAHqrvbJ2j+oAJf/6MHvPwAAAD+sAAAAAAAAAAFHAAAAHAAAAHhcaoIEGds/qACX/+jB7z8AAAA/rAAAAAAAAAABSAAAABwAAADMPysTp97bP6gAl//owe8/AAAAP7wAAAAAAAAAAUkAAAAcAAAAAITLcfEZ3D+oAJf/6MHvPwAAAD/MAAAAAAAAAAFKAAAAHAAAANw5zBgNuNw/qACX/+jB7z8AAAA/zAAAAAAAAAABSwAAABwAAABEwgzWoS7dP6gAl//owe8/AAAAP8wAAAAAAAAAAUwAAAAcAAAA8DNtHnOR3T+oAJf/6MHvPwAAAD/bAAAAAAAAAAFNAAAAHAAAAJSlzWZE9N0/qACX/+jB7z8AAAA/6wAAAAAAAAABTgAAABwAAAC4RO6YnH7eP6gAl//owe8/AAAAP+sAAAAAAAAAAU8AAAAcAAAAYLZO4W3h3j+oAJf/6MHvPwAAAD/6AAAAAAAAAAFQAAAAHAAAAFARz7R7MN8/qACX/+jB7z8AAAA/+gAAAAAAAAABUQAAABwAAAD8gi/9TJPfP6gAl//owe8/AAAAPwoBAAAAAAAAAVIAAAAcAAAApPSPRR723z+oAJf/6MHvPwAAAD8KAQAAAAAAAAFTAAAAHAAAACgz+MZ3LOA/qACX/+jB7z8AAAA/GgEAAAAAAAABVAAAABwAAACeYLiw/lPgP6gAl//owe8/AAAAPxoBAAAAAAAAAVUAAAAcAAAAFo54moV74D+oAJf/6MHvPwAAAD8pAQAAAAAAAAFWAAAAHAAAAI67OIQMo+A/qACX/+jB7z8AAAA/KQEAAAAAAAABVwAAABwAAACk3YizscDgP6gAl//owe8/AAAAPzkBAAAAAAAAAVgAAAAcAAAAHAtJnTjo4D+oAJf/6MHvPwAAAD85AQAAAAAAAAFZAAAAHAAAADYtmczdBeE/qACX/+jB7z8AAAA/SQEAAAAAAAABWgAAABwAAADyQ3lBoRnhP6gAl//owe8/AAAAP0kBAAAAAAAAAVsAAAAcAAAADGbJcEY34T+oAJf/6MHvPwAAAD9YAQAAAAAAAAFcAAAAHAAAAMZ8qeUJS+E/qACX/+jB7z8AAAA/WAEAAAAAAAABXQAAABwAAAAkiBmg61ThP6gAl//owe8/AAAAP2gBAAAAAAAAAV4AAAAcAAAAgpOJWs1e4T+oAJf/6MHvPwAAAD93AQAAAAAAAAFfAAAAHAAAAOCe+RSvaOE/qACX/+jB7z8AAAA/dwEAAAAAAAABYAAAABwAAAA+qmnPkHLhP6gAl//owe8/AAAAP4cBAAAAAAAAAWEAAAAcAAAAnLXZiXJ84T+oAJf/6MHvPwAAAD+HAQAAAAAAAAFiAAAAHAAAAPrASURUhuE/qACX/+jB7z8AAAA/lwEAAAAAAAABYwAAABwAAABYzLn+NZDhP6gAl//owe8/AAAAP9UBAAAAAAAAAWQAAAAcAAAASka2o/to7D8ArH80gAt/PwAAAD8AAAAAAAAAAAFlAAAAHAAAAAZdlhi/fOw/AKx/NIALfz8AAAA/uwAAAAAAAAABZgAAABwAAAAef+ZHZJrsPwCsfzSAC38/AAAAP8sAAAAAAAAAAWcAAAAcAAAAUsOGpq7V7D8ArH80gAt/PwAAAD/LAAAAAAAAAAFoAAAAHAAAAGrl1tVT8+w/AKx/NIALfz8AAAA/2gAAAAAAAAABaQAAABwAAABaQFepYULtPwCsfzSAC38/AAAAP9oAAAAAAAAAAWoAAAAcAAAAcmKn2AZg7T8ArH80gAt/PwAAAD/qAAAAAAAAAAFrAAAAHAAAAEqb13xvke0/AKx/NIALfz8AAAA/6gAAAAAAAAABbAAAABwAAADW6ueVm9btPwCsfzSAC38/AAAAP/oAAAAAAAAAAW0AAAAcAAAAThiofyL+7T8ArH80gAt/PwAAAD/6AAAAAAAAAAFuAAAAHAAAACZR2COLL+4/AKx/NIALfz8AAAA/CQEAAAAAAAABbwAAABwAAAD6iQjI82DuPwCsfzSAC38/AAAAPxkBAAAAAAAAAXAAAAAcAAAAzsI4bFyS7j8ArH80gAt/PwAAAD8ZAQAAAAAAAAFxAAAAHAAAAEbw+FXjue4/AKx/NIALfz8AAAA/GQEAAAAAAAABcgAAABwAAAC+Hbk/auHuPwCsfzSAC38/AAAAPygBAAAAAAAAAXMAAAAcAAAANkt5KfEI7z8ArH80gAt/PwAAAD8oAQAAAAAAAAF0AAAAHAAAAK54ORN4MO8/AKx/NIALfz8AAAA/OAEAAAAAAAABdQAAABwAAABmjxmIO0TvPwCsfzSAC38/AAAAPzgBAAAAAAAAAXYAAAAcAAAAgrFpt+Bh7z8ArH80gAt/PwAAAD9IAQAAAAAAAAF3AAAAHAAAAD7ISSykde8/AKx/NIALfz8AAAA/WwEAAAAAAAABeAAAABwAAABW6plbSZPvPwCsfzSAC38/AAAAP1sBAAAAAAAAAXkAAAAcAAAAEgF60Ayn7z8ArH80gAt/PwAAAD9rAQAAAAAAAAF6AAAAHAAAAG4M6orusO8/AKx/NIALfz8AAAA/awEAAAAAAAABewAAABwAAAAqI8r/scTvPwCsfzSAC38/AAAAP3sBAAAAAAAAAXwAAAAcAAAAhi46upPO7z8ArH80gAt/PwAAAD+KAQAAAAAAAAF9AAAAHAAAAOY5qnR12O8/AKx/NIALfz8AAAA/igEAAAAAAAABfgAAABwAAABCRRovV+LvPwCsfzSAC38/AAAAP5oBAAAAAAAAAX8AAAAcAAAAQkUaL1fi7z8Ak1BNs7GEPwAAAD8XAgAAAAAAAAGAAAAAHAAAAEJFGi9X4u8/AFBhgKbdiT8AAAA/VQIAAAAAAAABgQAAABwAAABCRRovV+LvPwAOcrOZCY8/AAAAP2UCAAAAAAAAAYIAAAAcAAAAAuDFFQwQ7D/8RiYze/DhPwAAAD8AAAAAAAAAAAGDAAAAHAAAAF7rNdDtGew//EYmM3vw4T8AAAA/AAAAAAAAAAABhAAAABwAAAAaAhZFsS3sP/xGJjN78OE/AAAAP4UBAAAAAAAAAYUAAAAcAAAAeg2G/5I37D/8RiYze/DhPwAAAD+FAQAAAAAAAAGGAAAAHAAAAI4v1i44Vew//EYmM3vw4T8AAAA/lQEAAAAAAAABhwAAABwAAACqUSZe3XLsP/xGJjN78OE/AAAAP5UBAAAAAAAAAYgAAAAcAAAABl2WGL987D8IBFpmy9vhPwAAAD+kAQAAAAAAAAGJAAAAHAAAAB5/5kdkmuw/CARaZsvb4T8AAAA/pAEAAAAAAAABigAAABwAAADalca8J67sPwgEWmbL2+E/AAAAP7QBAAAAAAAAAYsAAAAcAAAAUsOGpq7V7D8IBFpmy9vhPwAAAD/EAQAAAAAAAAGMAAAAHAAAAGrl1tVT8+w/CARaZsvb4T8AAAA/xAEAAAAAAAABjQAAABwAAAAm/LZKFwftPwgEWmbL2+E/AAAAP8QBAAAAAAAAAY4AAAAcAAAAQh4Herwk7T8IBFpmy9vhPwAAAD/TAQAAAAAAAAGPAAAAHAAAALZLx2NDTO0/CARaZsvb4T8AAAA/4wEAAAAAAAABkAAAABwAAADSbReT6GntPwgEWmbL2+E/AAAAP+MBAAAAAAAAAZEAAAAcAAAAjoT3B6x97T8IBFpmy9vhPwAAAD/zAQAAAAAAAAGSAAAAHAAAAEqb13xvke0/CARaZsvb4T8AAAA/8wEAAAAAAAABkwAAABwAAAAGsrfxMqXtPwgEWmbL2+E/AAAAPwICAAAAAAAAAZQAAAAcAAAAYr0nrBSv7T8IBFpmy9vhPwAAAD8CAgAAAAAAAAGVAAAAHAAAABrUByHYwu0/CARaZsvb4T8AAAA/EgIAAAAAAAABlgAAABwAAAB633fbucztPwgEWmbL2+E/AAAAPyECAAAAAAAAAZcAAAAcAAAA1urnlZvW7T8IBFpmy9vhPwAAAD8hAgAAAAAAAAGYAAAAHAAAADb2V1B94O0/CARaZsvb4T8AAAA/TwIAAAAAAAABmQAAABwAAACSAcgKX+rtPwgEWmbL2+E/AAAAP08CAAAAAAAAAZoAAAAcAAAA8gw4xUD07T8IBFpmy9vhPwAAAD9eAgAAAAAAAAGbAAAAHAAAAK4jGDoECO4/CARaZsvb4T8AAAA/XgIAAAAAAAABnAAAABwAAADGRWhpqSXuPwgEWmbL2+E/AAAAP24CAAAAAAAAAZ0AAAAcAAAAJlHYI4sv7j8IBFpmy9vhPwAAAD9uAgAAAAAAAAGeAAAAHAAAAD5zKFMwTe4/CARaZsvb4T8AAAA/fgIAAAAAAAABnwAAABwAAABWlXiC1WruPwgEWmbL2+E/AAAAP40CAAAAAAAAAaAAAAAcAAAAEqxY95h+7j8IBFpmy9vhPwAAAD+NAgAAAAAAAAGhAAAAHAAAAC7OqCY+nO4/CARaZsvb4T8AAAA/jQIAAAAAAAABogAAABwAAADq5IibAbDuPwgEWmbL2+E/AAAAP50CAAAAAAAAAaMAAAAcAAAAAgfZyqbN7j8IBFpmy9vhPwAAAD+sAgAAAAAAAAGkAAAAHAAAAL4duT9q4e4/CARaZsvb4T8AAAA/rAIAAAAAAAABpQAAABwAAAB6NJm0LfXuPwgEWmbL2+E/AAAAP6wCAAAAAAAAAaYAAAAcAAAANkt5KfEI7z8IBFpmy9vhPwAAAD+8AgAAAAAAAAGnAAAAHAAAAJJW6ePSEu8/CARaZsvb4T8AAAA/zAIAAAAAAAABqAAAABwAAADyYVmetBzvPwgEWmbL2+E/AAAAP8wCAAAAAAAAAakAAAAcAAAATm3JWJYm7z8IBFpmy9vhPwAAAD/bAgAAAAAAAAGqAAAAHAAAAK54ORN4MO8/CARaZsvb4T8AAAA/6wIAAAAAAAAL"/>
</p:tagLst>
</file>

<file path=ppt/tags/tag14.xml><?xml version="1.0" encoding="utf-8"?>
<p:tagLst xmlns:a="http://schemas.openxmlformats.org/drawingml/2006/main" xmlns:r="http://schemas.openxmlformats.org/officeDocument/2006/relationships" xmlns:p="http://schemas.openxmlformats.org/presentationml/2006/main">
  <p:tag name="ATHENA.MIXSHAPE" val="AAEAAAD/////AQAAAAAAAAAMAgAAAE9BdXRob3JQUFQsIFZlcnNpb249MC4xLjU3MjAuMCwgQ3VsdHVyZT1uZXV0cmFsLCBQdWJsaWNLZXlUb2tlbj0zMWJmMzg1NmFkMzY0ZTM1BQEAAAALSW5rTWF0dGVyVjEEAAAABVNjYWxlDUxpc3RgMStfaXRlbXMMTGlzdGAxK19zaXplD0xpc3RgMStfdmVyc2lvbgAEAAALF1NoYXJlZC5JbmtpbmcuSW5rQXRvbVtdAgAAAAgIAgAAAP5hMD8JAwAAAAQAAAAVAAAABwMAAAAAAQAAAAQAAAAECUlua0F0b21WMQIAAAAJBAAAAAkFAAAACQYAAAAJBwAAAAUEAAAAC1BlblN0cm9rZVYxBAAAAApBdHRyaWJ1dGVzBVRyYWNlCVN0YXJ0VGltZQRUeXBlBAQABA9QZW5BdHRyaWJ1dGVzVjECAAAACklua1RyYWNlVjECAAAAEAxBY3Rpb25UeXBlVjECAAAAAgAAAAkIAAAACQkAAACfTwAAAAAAAAX2////DEFjdGlvblR5cGVWMQEAAAAHdmFsdWVfXwAIAgAAAAAAAAABBQAAAAQAAAAJCwAAAAkMAAAAY1UAAAAAAAAB8/////b///8AAAAAAQYAAAAEAAAACQ4AAAAJDwAAAGpfAAAAAAAAAfD////2////AAAAAAEHAAAABAAAAAkRAAAACRIAAAD5ZAAAAAAAAAHt////9v///wAAAAAFCAAAAA9QZW5BdHRyaWJ1dGVzVjEKAAAAB19jb2xvckEHX2NvbG9yUgdfY29sb3JHB19jb2xvckIKRml0VG9DdXJ2ZQZIZWlnaHQOSWdub3JlUHJlc3N1cmUNSXNIaWdobGlnaHRlcgVTaGFwZQVXaWR0aAAAAAAAAAAABAACAgICAQYBAQxCcnVzaFNoYXBlVjECAAAABgIAAAD/AAAAAAAAAAAAAAhAAAAF7P///wxCcnVzaFNoYXBlVjEBAAAAB3ZhbHVlX18ACAIAAAABAAAAAAAAAAAACEAFCQAAAApJbmtUcmFjZVYxAwAAAA1MaXN0YDErX2l0ZW1zDExpc3RgMStfc2l6ZQ9MaXN0YDErX3ZlcnNpb24EAAAYU2hhcmVkLklua2luZy5JbmtQb2ludFtdAgAAAAgIAgAAAAkVAAAAJQAAACUAAAABCwAAAAgAAAD/AAAAAAAAAAAAAAhAAAAB6v///+z///8BAAAAAAAAAAAACEABDAAAAAkAAAAJFwAAACYAAAAmAAAAAQ4AAAAIAAAA/wAAAAAAAAAAAAAIQAAAAej////s////AQAAAAAAAAAAAAhAAQ8AAAAJAAAACRkAAAAXAAAAFwAAAAERAAAACAAAAP8AAAAAAAAAAAAACEAAAAHm////7P///wEAAAAAAAAAAAAIQAESAAAACQAAAAkbAAAANgAAADYAAAAHFQAAAAABAAAAQAAAAAQKSW5rUG9pbnRWMQIAAAAJHAAAAAkdAAAACR4AAAAJHwAAAAkgAAAACSEAAAAJIgAAAAkjAAAACSQAAAAJJQAAAAkmAAAACScAAAAJKAAAAAkpAAAACSoAAAAJKwAAAAksAAAACS0AAAAJLgAAAAkvAAAACTAAAAAJMQAAAAkyAAAACTMAAAAJNAAAAAk1AAAACTYAAAAJNwAAAAk4AAAACTkAAAAJOgAAAAk7AAAACTwAAAAJPQAAAAk+AAAACT8AAAAJQAAAAA0bBxcAAAAAAQAAAEAAAAAECklua1BvaW50VjECAAAACUEAAAAJQgAAAAlDAAAACUQAAAAJRQAAAAlGAAAACUcAAAAJSAAAAAlJAAAACUoAAAAJSwAAAAlMAAAACU0AAAAJTgAAAAlPAAAACVAAAAAJUQAAAAlSAAAACVMAAAAJVAAAAAlVAAAACVYAAAAJVwAAAAlYAAAACVkAAAAJWgAAAAlbAAAACVwAAAAJXQAAAAleAAAACV8AAAAJYAAAAAlhAAAACWIAAAAJYwAAAAlkAAAACWUAAAAJZgAAAA0aBxkAAAAAAQAAACAAAAAECklua1BvaW50VjECAAAACWcAAAAJaAAAAAlpAAAACWoAAAAJawAAAAlsAAAACW0AAAAJbgAAAAlvAAAACXAAAAAJcQAAAAlyAAAACXMAAAAJdAAAAAl1AAAACXYAAAAJdwAAAAl4AAAACXkAAAAJegAAAAl7AAAACXwAAAAJfQAAAA0JBxsAAAAAAQAAAEAAAAAECklua1BvaW50VjECAAAACX4AAAAJfwAAAAmAAAAACYEAAAAJggAAAAmDAAAACYQAAAAJhQAAAAmGAAAACYcAAAAJiAAAAAmJAAAACYoAAAAJiwAAAAmMAAAACY0AAAAJjgAAAAmPAAAACZAAAAAJkQAAAAmSAAAACZMAAAAJlAAAAAmVAAAACZYAAAAJlwAAAAmYAAAACZkAAAAJmgAAAAmbAAAACZwAAAAJnQAAAAmeAAAACZ8AAAAJoAAAAAmhAAAACaIAAAAJowAAAAmkAAAACaUAAAAJpgAAAAmnAAAACagAAAAJqQAAAAmqAAAACasAAAAJrAAAAAmtAAAACa4AAAAJrwAAAAmwAAAACbEAAAAJsgAAAAmzAAAADQoFHAAAAApJbmtQb2ludFYxBAAAAAFYAVkOUHJlc3N1cmVGYWN0b3IJVGltZVN0YW1wAAAAAAYGCxACAAAAwIqX9uaXnj8A8Hr+ie1uPwAAAD8AAAAAAAAAAAEdAAAAHAAAAMCKl/bml54/AM634a/EeT8AAAA/MgEAAAAAAAABHgAAABwAAADAipf25peeP8ARGWJNCYI/AAAAP0EBAAAAAAAAAR8AAAAcAAAAwIqX9uaXnj/APFbTQjCHPwAAAD9BAQAAAAAAAAEgAAAAHAAAAMCKl/bml54/gGeTRDhXjD8AAAA/UQEAAAAAAAABIQAAABwAAADAipf25peePyBJ6NoWv5A/AAAAP1EBAAAAAAAAASIAAAAcAAAAwIqX9uaXnj8AlDc31AiSPwAAAD9hAQAAAAAAAAEjAAAAHAAAAMCKl/bml54/YCnW706clD8AAAA/cAEAAAAAAAABJAAAABwAAADAipf25peePwB0JUwM5pU/AAAAP3ABAAAAAAAAASUAAAAcAAAAwIqX9uaXnj+ACcQEh3mYPwAAAD+AAQAAAAAAAAEmAAAAHAAAAMCKl/bml54/IFQTYUTDmT8AAAA/gAEAAAAAAAABJwAAABwAAADAipf25peeP6DpsRm/Vpw/AAAAP48BAAAAAAAAASgAAAAcAAAAwIqX9uaXnj8gf1DSOeqePwAAAD+PAQAAAAAAAAEpAAAAHAAAAMCKl/bml54/QIp3Rdq+oD8AAAA/nwEAAAAAAAABKgAAABwAAADAipf25peeP/DUxqGXCKI/AAAAP58BAAAAAAAAASsAAAAcAAAAwIqX9uaXnj9Qeu5Pdq2iPwAAAD+vAQAAAAAAAAEsAAAAHAAAAMCKl/bml54/YGplWhKcpD8AAAA/rwEAAAAAAAABLQAAABwAAADAipf25peePxC1tLbP5aU/AAAAP74BAAAAAAAAAS4AAAAcAAAAIPLLyAkaoD9wWtxkroqmPwAAAD/OAQAAAAAAAAEvAAAAHAAAACDyy8gJGqA/MKUrwWvUpz8AAAA/zgEAAAAAAAABMAAAABwAAAAg8svICRqgP4BKU29Keag/AAAAP94BAAAAAAAAATEAAAAcAAAAIPLLyAkaoD/g73odKR6pPwAAAD/tAQAAAAAAAAEyAAAAHAAAACDyy8gJGqA/MJWiywfDqT8AAAA//QEAAAAAAAABMwAAABwAAAAg8svICRqgP/Df8SfFDKs/AAAAPwwCAAAAAAAAATQAAAAcAAAAIPLLyAkaoD+gKkGEglasPwAAAD8MAgAAAAAAAAE1AAAAHAAAACDyy8gJGqA/YHWQ4D+grT8AAAA/HAIAAAAAAAABNgAAABwAAAAg8svICRqgPxDA3zz96a4/AAAAPxwCAAAAAAAAATcAAAAcAAAA4B5MFiDooD9ghZdM3RmwPwAAAD8sAgAAAAAAAAE4AAAAHAAAAOAeTBYg6KA/wCq/+ru+sD8AAAA/LAIAAAAAAAABOQAAABwAAADgHkwWIOigP2j90lErEbE/AAAAPzsCAAAAAAAAAToAAAAcAAAA4B5MFiDooD/Iovr/CbaxPwAAAD87AgAAAAAAAAE7AAAAHAAAAOAeTBYg6KA/eHUOV3kIsj8AAAA/SwIAAAAAAAABPAAAABwAAACgS8xjNrahP3h1Dld5CLI/AAAAP0sCAAAAAAAAAT0AAAAcAAAAoEvMYza2oT8oSCKu6FqyPwAAAD9bAgAAAAAAAAE+AAAAHAAAAKBLzGM2tqE/0Bo2BVitsj8AAAA/WwIAAAAAAAABPwAAABwAAACgS8xjNrahP4DtSVzH/7I/AAAAP2kCAAAAAAAAAUAAAAAcAAAAoEvMYza2oT8wwF2zNlKzPwAAAD95AgAAAAAAAAFBAAAAHAAAAADPRxp1VHM/aP3SUSsRsT8AAAA/AAAAAAAAAAABQgAAABwAAAAANUmGJ8V5P2j90lErEbE/AAAAPwAAAAAAAAAAAUMAAAAcAAAAAAAmL0ZTgz9o/dJRKxGxPwAAAD8GAQAAAAAAAAFEAAAAHAAAAAAZKNFR/Iw/GNDmqJpjsT8AAAA/FgEAAAAAAAABRQAAABwAAAAAGZW5rlKTP3h1Dld5CLI/AAAAPxYBAAAAAAAAAUYAAAAcAAAAgMuV7weLlj/QGjYFWK2yPwAAAD8lAQAAAAAAAAFHAAAAHAAAAMDXlsCNX5s/MMBdszZSsz8AAAA/JQEAAAAAAAABSAAAABwAAABAMZdbuvucP9iScQqmpLM/AAAAPzUBAAAAAAAAAUkAAAAcAAAAYHhMsUyEoj/gCq0P9Ju0PwAAAD9UAQAAAAAAAAFKAAAAHAAAAID+zJmP7qQ/8ILoFEKTtT8AAAA/ZAEAAAAAAAABSwAAABwAAAAAK03npbylP/CC6BRCk7U/AAAAP3QBAAAAAAAAAUwAAAAcAAAAACtN56W8pT+YVfxrseW1PwAAAD+DAQAAAAAAAAFNAAAAHAAAAAArTeelvKU/SCgQwyA4tj8AAAA/kwEAAAAAAAABTgAAABwAAAAAK03npbylP/j6IxqQirY/AAAAP9EBAAAAAAAAAU8AAAAcAAAAACtN56W8pT+gzTdx/9y2PwAAAD/hAQAAAAAAAAFQAAAAHAAAAMBXzTS8iqY/oM03cf/ctj8AAAA/AAIAAAAAAAABUQAAABwAAACAhE2C0linP6DNN3H/3LY/AAAAPz8CAAAAAAAAAVIAAAAcAAAAQLHNz+gmqD+gzTdx/9y2PwAAAD+NAgAAAAAAAAFTAAAAHAAAAADeTR3/9Kg/oM03cf/ctj8AAAA/vQIAAAAAAAABVAAAABwAAAAA3k0d//SoP/j6IxqQirY/AAAAP8wCAAAAAAAAAVUAAAAcAAAAwArOahXDqT9IKBDDIDi2PwAAAD/MAgAAAAAAAAFWAAAAHAAAAMAKzmoVw6k/mFX8a7HltT8AAAA/3AIAAAAAAAABVwAAABwAAACAN064K5GqP0Cw1L3SQLU/AAAAP+wCAAAAAAAAAVgAAAAcAAAAgDdOuCuRqj/gCq0P9Ju0PwAAAD/7AgAAAAAAAAFZAAAAHAAAAEBkzgVCX6s/MDiZuIRJtD8AAAA/+wIAAAAAAAABWgAAABwAAABAZM4FQl+rP4hlhWEV97M/AAAAPwsDAAAAAAAAAVsAAAAcAAAAAJFOU1gtrD/YknEKpqSzPwAAAD8LAwAAAAAAAAFcAAAAHAAAAACRTlNYLaw/gO1JXMf/sj8AAAA/GgMAAAAAAAABXQAAABwAAAAAkU5TWC2sP9AaNgVYrbI/AAAAPyoDAAAAAAAAAV4AAAAcAAAAAJFOU1gtrD8oSCKu6FqyPwAAAD8qAwAAAAAAAAFfAAAAHAAAAACRTlNYLaw/eHUOV3kIsj8AAAA/OgMAAAAAAAABYAAAABwAAADAvc6gbvusP3h1Dld5CLI/AAAAPzoDAAAAAAAAAWEAAAAcAAAAwL3OoG77rD/Iovr/CbaxPwAAAD9ZAwAAAAAAAAFiAAAAHAAAAMC9zqBu+6w/GNDmqJpjsT8AAAA/aQMAAAAAAAABYwAAABwAAACA6k7uhMmtPxjQ5qiaY7E/AAAAP3gDAAAAAAAAAWQAAAAcAAAAgOpO7oTJrT9o/dJRKxGxPwAAAD+IAwAAAAAAAAFlAAAAHAAAAIDqTu6Eya0/wCq/+ru+sD8AAAA/lwMAAAAAAAABZgAAABwAAACA6k7uhMmtPxBYq6NMbLA/AAAAP7cDAAAAAAAAAWcAAAAcAAAAVB9Tqc5j7j/1raelPtzsPwAAAD8AAAAAAAAAAAFoAAAAHAAAAFQfU6nOY+4/oaJse9rw7D8AAAA/ywAAAAAAAAABaQAAABwAAABUH1OpzmPuP00G2RFgJO0/AAAAP9oAAAAAAAAAAWoAAAAcAAAAVB9Tqc5j7j9R5CeTM2LtPwAAAD/aAAAAAAAAAAFrAAAAHAAAAFQfU6nOY+4//UeUKbmV7T8AAAA/6gAAAAAAAAABbAAAABwAAABUH1OpzmPuP1MxHtXwvu0/AAAAP/MAAAAAAAAAAW0AAAAcAAAAVB9Tqc5j7j9VD21WxPztPwAAAD8DAQAAAAAAAAFuAAAAHAAAAFQfU6nOY+4/rWeewuVE7j8AAAA/AwEAAAAAAAABbwAAABwAAABUH1OpzmPuPwXAzy4Hje4/AAAAPxIBAAAAAAAAAXAAAAAcAAAAVB9Tqc5j7j8FL3fv8KvuPwAAAD8SAQAAAAAAAAFxAAAAHAAAAFQfU6nOY+4/Bw3GcMTp7j8AAAA/IgEAAAAAAAABcgAAABwAAABUH1OpzmPuPwt8bTGuCO8/AAAAPyIBAAAAAAAAAXMAAAAcAAAAVB9Tqc5j7j9hZffc5THvPwAAAD8yAQAAAAAAAAF0AAAAHAAAAFQfU6nOY+4/YdSenc9Q7z8AAAA/QQEAAAAAAAABdQAAABwAAABUH1OpzmPuP2NDRl65b+8/AAAAP0EBAAAAAAAAAXYAAAAcAAAAVB9Tqc5j7j8NOAs0VYTvPwAAAD9BAQAAAAAAAAF3AAAAHAAAAFQfU6nOY+4/uSzQCfGY7z8AAAA/UQEAAAAAAAABeAAAABwAAABUH1OpzmPuPw+nsvQ+o+8/AAAAP2ABAAAAAAAAAXkAAAAcAAAAVB9Tqc5j7j+5m3fK2rfvPwAAAD9gAQAAAAAAAAF6AAAAHAAAAFQfU6nOY+4/DxZatSjC7z8AAAA/cAEAAAAAAAABewAAABwAAABUH1OpzmPuP2WQPKB2zO8/AAAAP4ABAAAAAAAAAXwAAAAcAAAAVB9Tqc5j7j+7Ch+LxNbvPwAAAD+AAQAAAAAAAAF9AAAAHAAAAFQfU6nOY+4/E4UBdhLh7z8AAAA/nwEAAAAAAAABfgAAABwAAABw53LIMmLtP6mrAMA+ye0/AAAAPwAAAAAAAAAAAX8AAAAcAAAAPOpKLRRv7T+pqwDAPsntPwAAAD8AAAAAAAAAAAGAAAAAHAAAAJzy0lu4le0/UzEe1fC+7T8AAAA/rAAAAAAAAAABgQAAABwAAAAA+1qKXLztP/22O+qitO0/AAAAP7sAAAAAAAAAAYIAAAAcAAAAzP0y7z3J7T+nPFn/VKrtPwAAAD/LAAAAAAAAAAGDAAAAHAAAAGQD47gA4+0/p82xPmuL7T8AAAA/ywAAAAAAAAABhAAAABwAAAAwBrsd4u/tP1FTz1Mdge0/AAAAP9sAAAAAAAAAAYUAAAAcAAAAyAtr56QJ7j/72Oxoz3btPwAAAD/bAAAAAAAAAAGGAAAAHAAAAGARG7FnI+4/+9jsaM927T8AAAA/6gAAAAAAAAABhwAAABwAAABgERuxZyPuP1HkJ5MzYu0/AAAAP+oAAAAAAAAAAYgAAAAcAAAAKBTzFUkw7j9R5CeTM2LtPwAAAD/6AAAAAAAAAAGJAAAAHAAAAPQWy3oqPe4/+WlFqOVX7T8AAAA/+gAAAAAAAAABigAAABwAAADAGaPfC0ruP/lpRajlV+0/AAAAPxkBAAAAAAAAAYsAAAAcAAAAiBx7RO1W7j/5aUWo5VftPwAAAD8pAQAAAAAAAAGMAAAAHAAAAFQfU6nOY+4/+WlFqOVX7T8AAAA/WAEAAAAAAAABjQAAABwAAABUH1OpzmPuP6PvYr2XTe0/AAAAP3cBAAAAAAAAAY4AAAAcAAAAICIrDrBw7j+j72K9l03tPwAAAD+WAQAAAAAAAAGPAAAAHAAAACAiKw6wcO4/TXWA0klD7T8AAAA/pgEAAAAAAAABkAAAABwAAADsJANzkX3uP011gNJJQ+0/AAAAP7UBAAAAAAAAAZEAAAAcAAAAuCfb13KK7j/5+p3n+zjtPwAAAD/kAQAAAAAAAAGSAAAAHAAAALgn29dyiu4/o4C7/K0u7T8AAAA/EwIAAAAAAAABkwAAABwAAAC4J9vXcoruP00G2RFgJO0/AAAAPyMCAAAAAAAAAZQAAAAcAAAAuCfb13KK7j/3i/YmEhrtPwAAAD9hAgAAAAAAAAGVAAAAHAAAAIQqszxUl+4/94v2JhIa7T8AAAA/kAIAAAAAAAABlgAAABwAAABQLYuhNaTuP00G2RFgJO0/AAAAP/4CAAAAAAAAAZcAAAAcAAAAUC2LoTWk7j+jgLv8rS7tPwAAAD8NAwAAAAAAAAGYAAAAHAAAAFAti6E1pO4/+fqd5/s47T8AAAA/HQMAAAAAAAABmQAAABwAAAAcMGMGF7HuP011gNJJQ+0/AAAAPx0DAAAAAAAAAZoAAAAcAAAA6DI7a/i97j+j72K9l03tPwAAAD8sAwAAAAAAAAGbAAAAHAAAAOgyO2v4ve4/+WlFqOVX7T8AAAA/PAMAAAAAAAABnAAAABwAAAC0NRPQ2cruP/lpRajlV+0/AAAAPzwDAAAAAAAAAZ0AAAAcAAAAtDUT0NnK7j9R5CeTM2LtPwAAAD9MAwAAAAAAAAGeAAAAHAAAAHw46zS71+4/p14KfoFs7T8AAAA/TAMAAAAAAAABnwAAABwAAABIO8OZnOTuP6deCn6BbO0/AAAAP0wDAAAAAAAAAaAAAAAcAAAASDvDmZzk7j/72Oxoz3btPwAAAD9bAwAAAAAAAAGhAAAAHAAAABQ+m/598e4/UVPPUx2B7T8AAAA/awMAAAAAAAABogAAABwAAADgQHNjX/7uP6fNsT5ri+0/AAAAP2sDAAAAAAAAAaMAAAAcAAAAeEYjLSIY7z/9R5QpuZXtPwAAAD97AwAAAAAAAAGkAAAAHAAAAERJ+5EDJe8/U8J2FAeg7T8AAAA/ewMAAAAAAAABpQAAABwAAADcTqtbxj7vP/22O+qitO0/AAAAP4oDAAAAAAAAAaYAAAAcAAAAcFRbJYlY7z9TMR7V8L7tPwAAAD+aAwAAAAAAAAGnAAAAHAAAADxXM4pqZe8//yXjqozT7T8AAAA/mgMAAAAAAAABqAAAABwAAAAIWgvvS3LvP/8l46qM0+0/AAAAP6kDAAAAAAAAAakAAAAcAAAAnF+7uA6M7z9ToMWV2t3tPwAAAD+pAwAAAAAAAAGqAAAAHAAAAGhikx3wmO8/qRqogCjo7T8AAAA/rQMAAAAAAAABqwAAABwAAABoYpMd8JjvP/+Uimt28u0/AAAAP60DAAAAAAAAAawAAAAcAAAANGVrgtGl7z//lIprdvLtPwAAAD+9AwAAAAAAAAGtAAAAHAAAAABoQ+eysu8/VQ9tVsT87T8AAAA/vQMAAAAAAAABrgAAABwAAADMahtMlL/vP6uJT0ESB+4/AAAAP8wDAAAAAAAAAa8AAAAcAAAAzGobTJS/7z//AzIsYBHuPwAAAD/MAwAAAAAAAAGwAAAAHAAAAJht87B1zO8//wMyLGAR7j8AAAA/3AMAAAAAAAABsQAAABwAAACYbfOwdczvP1V+FBeuG+4/AAAAP9wDAAAAAAAAAbIAAAAcAAAAZHDLFVfZ7z9VfhQXrhvuPwAAAD/sAwAAAAAAAAGzAAAAHAAAAGRwyxVX2e8/q/j2Afwl7j8AAAA/7AMAAAAAAAAL"/>
</p:tagLst>
</file>

<file path=ppt/tags/tag15.xml><?xml version="1.0" encoding="utf-8"?>
<p:tagLst xmlns:a="http://schemas.openxmlformats.org/drawingml/2006/main" xmlns:r="http://schemas.openxmlformats.org/officeDocument/2006/relationships" xmlns:p="http://schemas.openxmlformats.org/presentationml/2006/main">
  <p:tag name="TIMING" val="|23.209"/>
</p:tagLst>
</file>

<file path=ppt/tags/tag16.xml><?xml version="1.0" encoding="utf-8"?>
<p:tagLst xmlns:a="http://schemas.openxmlformats.org/drawingml/2006/main" xmlns:r="http://schemas.openxmlformats.org/officeDocument/2006/relationships" xmlns:p="http://schemas.openxmlformats.org/presentationml/2006/main">
  <p:tag name="TIMING" val="|18.54"/>
</p:tagLst>
</file>

<file path=ppt/theme/theme1.xml><?xml version="1.0" encoding="utf-8"?>
<a:theme xmlns:a="http://schemas.openxmlformats.org/drawingml/2006/main" name="Personalizar design">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24286</TotalTime>
  <Words>6336</Words>
  <Application>Microsoft Macintosh PowerPoint</Application>
  <PresentationFormat>On-screen Show (4:3)</PresentationFormat>
  <Paragraphs>878</Paragraphs>
  <Slides>82</Slides>
  <Notes>48</Notes>
  <HiddenSlides>51</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82</vt:i4>
      </vt:variant>
    </vt:vector>
  </HeadingPairs>
  <TitlesOfParts>
    <vt:vector size="97" baseType="lpstr">
      <vt:lpstr>SimSun-ExtB</vt:lpstr>
      <vt:lpstr>Arial</vt:lpstr>
      <vt:lpstr>Arial Black</vt:lpstr>
      <vt:lpstr>Arial MT</vt:lpstr>
      <vt:lpstr>Calibri</vt:lpstr>
      <vt:lpstr>Cambria</vt:lpstr>
      <vt:lpstr>Consolas</vt:lpstr>
      <vt:lpstr>Courier</vt:lpstr>
      <vt:lpstr>Courier New</vt:lpstr>
      <vt:lpstr>Helvetica</vt:lpstr>
      <vt:lpstr>Microsoft Sans Serif</vt:lpstr>
      <vt:lpstr>Times New Roman</vt:lpstr>
      <vt:lpstr>Verdana</vt:lpstr>
      <vt:lpstr>Wingdings</vt:lpstr>
      <vt:lpstr>Personalizar design</vt:lpstr>
      <vt:lpstr>PowerPoint Presentation</vt:lpstr>
      <vt:lpstr>Da Válvula ao Transistor</vt:lpstr>
      <vt:lpstr>Invenção do Transistor</vt:lpstr>
      <vt:lpstr>Semicondutores</vt:lpstr>
      <vt:lpstr>No começo tudo era mecânico</vt:lpstr>
      <vt:lpstr>Com a válvula passou a ser elétrico</vt:lpstr>
      <vt:lpstr>PowerPoint Presentation</vt:lpstr>
      <vt:lpstr>Que evoluiu para o transistor</vt:lpstr>
      <vt:lpstr>E evoluiu...</vt:lpstr>
      <vt:lpstr>E continua evoluir...</vt:lpstr>
      <vt:lpstr>E continua evoluir...</vt:lpstr>
      <vt:lpstr>E continua a evoluir ????</vt:lpstr>
      <vt:lpstr>PowerPoint Presentation</vt:lpstr>
      <vt:lpstr>Performance</vt:lpstr>
      <vt:lpstr>Performance</vt:lpstr>
      <vt:lpstr>Clock</vt:lpstr>
      <vt:lpstr>PowerPoint Presentation</vt:lpstr>
      <vt:lpstr>PowerPoint Presentation</vt:lpstr>
      <vt:lpstr>Como tudo isso é possível?</vt:lpstr>
      <vt:lpstr>Da equação para implementação</vt:lpstr>
      <vt:lpstr>Mas do que é feito uma porta lógica ?</vt:lpstr>
      <vt:lpstr>Transistores</vt:lpstr>
      <vt:lpstr>RTL</vt:lpstr>
      <vt:lpstr>PowerPoint Presentation</vt:lpstr>
      <vt:lpstr>PowerPoint Presentation</vt:lpstr>
      <vt:lpstr>TTL 74xx</vt:lpstr>
      <vt:lpstr>TTL 74xx</vt:lpstr>
      <vt:lpstr>PowerPoint Presentation</vt:lpstr>
      <vt:lpstr>NAND</vt:lpstr>
      <vt:lpstr>Transistores MOSFET</vt:lpstr>
      <vt:lpstr>Revisão de Resistências e LEDs</vt:lpstr>
      <vt:lpstr>Resistores Pull-Up e Pull-Down</vt:lpstr>
      <vt:lpstr>PowerPoint Presentation</vt:lpstr>
      <vt:lpstr>Lab 3 - Parte 1</vt:lpstr>
      <vt:lpstr>PowerPoint Presentation</vt:lpstr>
      <vt:lpstr>Lab 3 - Parte 2 - BJT</vt:lpstr>
      <vt:lpstr>Lab 3 - Parte 3 - CI</vt:lpstr>
      <vt:lpstr>Animação de um transistor</vt:lpstr>
      <vt:lpstr>Formar Trios</vt:lpstr>
      <vt:lpstr>Inversor com CMOS</vt:lpstr>
      <vt:lpstr>Diagrama do Inversor CMOS</vt:lpstr>
      <vt:lpstr>Implementação de portas lógicas</vt:lpstr>
      <vt:lpstr>Desafio 2</vt:lpstr>
      <vt:lpstr>Portas Lógicas</vt:lpstr>
      <vt:lpstr>Portas Lógicas</vt:lpstr>
      <vt:lpstr>Notação de Algebra Booleana</vt:lpstr>
      <vt:lpstr>Combinações de Portas</vt:lpstr>
      <vt:lpstr>Teorema</vt:lpstr>
      <vt:lpstr>Implementação eletrônica das lógicas</vt:lpstr>
      <vt:lpstr>Transistores</vt:lpstr>
      <vt:lpstr>MOSFET</vt:lpstr>
      <vt:lpstr>Representações de Transistores</vt:lpstr>
      <vt:lpstr>CMOS</vt:lpstr>
      <vt:lpstr>Complementos CMOS</vt:lpstr>
      <vt:lpstr>Inversor CMOS</vt:lpstr>
      <vt:lpstr>Consumo de Energia</vt:lpstr>
      <vt:lpstr>Atraso de Propagação</vt:lpstr>
      <vt:lpstr>Abstração</vt:lpstr>
      <vt:lpstr>XOR</vt:lpstr>
      <vt:lpstr>Outro Design de Lógica</vt:lpstr>
      <vt:lpstr>Portas Multi-way</vt:lpstr>
      <vt:lpstr>Multiplexadores Simples</vt:lpstr>
      <vt:lpstr>Demultiplexadores Simples</vt:lpstr>
      <vt:lpstr>Multi-way Multiplexadores</vt:lpstr>
      <vt:lpstr>Nascendo o Vale do Silício</vt:lpstr>
      <vt:lpstr>Primeiro Circuito Integrado</vt:lpstr>
      <vt:lpstr>Evolução dos Circuitos Integrados</vt:lpstr>
      <vt:lpstr>Circuitos Integrados </vt:lpstr>
      <vt:lpstr>Famílias Lógicas Mais Comuns</vt:lpstr>
      <vt:lpstr>Otimizações</vt:lpstr>
      <vt:lpstr>Ciclo de Vida das tecnologias</vt:lpstr>
      <vt:lpstr>Produção de Circuitos Integrados</vt:lpstr>
      <vt:lpstr>DM7438N (TTL)</vt:lpstr>
      <vt:lpstr>74AHC00 (CMOS emulando TTL)</vt:lpstr>
      <vt:lpstr>Comportamento dos Circuitos TTL</vt:lpstr>
      <vt:lpstr>Comportamento dos Circuitos CMOS</vt:lpstr>
      <vt:lpstr>Fan-in e Fan-out</vt:lpstr>
      <vt:lpstr>Encapsulamento</vt:lpstr>
      <vt:lpstr>Computar em chips TTL</vt:lpstr>
      <vt:lpstr>Filme</vt:lpstr>
      <vt:lpstr>Software Adicional</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Elementos de SIstemas</dc:title>
  <dc:subject/>
  <dc:creator>Luciano Pereira Soares</dc:creator>
  <cp:keywords/>
  <dc:description/>
  <cp:lastModifiedBy>Luciano Pereira Soares</cp:lastModifiedBy>
  <cp:revision>841</cp:revision>
  <cp:lastPrinted>2015-05-25T01:17:28Z</cp:lastPrinted>
  <dcterms:created xsi:type="dcterms:W3CDTF">2014-04-17T20:05:08Z</dcterms:created>
  <dcterms:modified xsi:type="dcterms:W3CDTF">2026-08-25T00:46:28Z</dcterms:modified>
  <cp:category/>
</cp:coreProperties>
</file>