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269" r:id="rId2"/>
    <p:sldId id="531" r:id="rId3"/>
    <p:sldId id="532" r:id="rId4"/>
    <p:sldId id="533" r:id="rId5"/>
    <p:sldId id="534" r:id="rId6"/>
    <p:sldId id="537" r:id="rId7"/>
    <p:sldId id="538" r:id="rId8"/>
    <p:sldId id="536" r:id="rId9"/>
    <p:sldId id="540" r:id="rId10"/>
    <p:sldId id="535" r:id="rId11"/>
    <p:sldId id="539" r:id="rId12"/>
    <p:sldId id="541" r:id="rId13"/>
    <p:sldId id="542" r:id="rId14"/>
    <p:sldId id="26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3FF"/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4"/>
    <p:restoredTop sz="82988" autoAdjust="0"/>
  </p:normalViewPr>
  <p:slideViewPr>
    <p:cSldViewPr snapToGrid="0" snapToObjects="1" showGuides="1">
      <p:cViewPr varScale="1">
        <p:scale>
          <a:sx n="99" d="100"/>
          <a:sy n="99" d="100"/>
        </p:scale>
        <p:origin x="11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Ola</a:t>
            </a:r>
            <a:r>
              <a:rPr lang="pt-BR" dirty="0"/>
              <a:t> a todos, nessa aula vamos dar continuidade no curso falando sobre transistores, o dispositivo mais usado para produzir</a:t>
            </a:r>
            <a:r>
              <a:rPr lang="pt-BR" baseline="0" dirty="0"/>
              <a:t> portas lógicas atualmente.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70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89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8/31/26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8/31/26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8/31/26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8/31/26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8/31/26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8/31/26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er/fpgaloader/releases" TargetMode="External"/><Relationship Id="rId2" Type="http://schemas.openxmlformats.org/officeDocument/2006/relationships/hyperlink" Target="https://github.com/insper-bits/lab-myhdl-com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325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Bits e Processadores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/>
                <a:cs typeface="Verdana"/>
              </a:rPr>
              <a:t>FPGA</a:t>
            </a:r>
            <a:endParaRPr lang="pt-BR" dirty="0"/>
          </a:p>
        </p:txBody>
      </p:sp>
      <p:sp>
        <p:nvSpPr>
          <p:cNvPr id="9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10" name="Rectangle 9"/>
          <p:cNvSpPr/>
          <p:nvPr/>
        </p:nvSpPr>
        <p:spPr>
          <a:xfrm>
            <a:off x="197707" y="4456654"/>
            <a:ext cx="84273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600" b="1" i="1" dirty="0">
                <a:solidFill>
                  <a:schemeClr val="bg1"/>
                </a:solidFill>
              </a:rPr>
              <a:t>*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10635">
        <p14:prism/>
      </p:transition>
    </mc:Choice>
    <mc:Fallback xmlns="">
      <p:transition spd="slow" advTm="1063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FPGA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89E9D13-29DA-D628-0C90-101BA5D1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Inter" panose="020B0502030000000004" pitchFamily="34" charset="0"/>
                <a:cs typeface="+mn-cs"/>
              </a:rPr>
              <a:t>Field Programmable Gate Array</a:t>
            </a:r>
          </a:p>
          <a:p>
            <a:pPr lvl="0"/>
            <a:r>
              <a:rPr lang="en-BR" sz="2000" dirty="0"/>
              <a:t>Chip que pode ser programado ou reprogramado após a fabricação para executar qualquer tipo de circuito digital. </a:t>
            </a:r>
            <a:endParaRPr lang="en-US" sz="2400" dirty="0">
              <a:latin typeface="Inter" panose="020B0502030000000004" pitchFamily="34" charset="0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175172-56EE-B0DB-CF9B-D69F5D0AB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16" name="Picture 15" descr="Placa de desenvolvimento DE0-CV com FPGA Altera Cyclone V ...">
            <a:extLst>
              <a:ext uri="{FF2B5EF4-FFF2-40B4-BE49-F238E27FC236}">
                <a16:creationId xmlns:a16="http://schemas.microsoft.com/office/drawing/2014/main" id="{D7AC3B29-8876-D40A-B935-FC249B03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88" y="2960851"/>
            <a:ext cx="5558624" cy="33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8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20827">
        <p14:prism/>
      </p:transition>
    </mc:Choice>
    <mc:Fallback>
      <p:transition spd="slow" advTm="2082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BF60-0EB1-4060-902B-AC020670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pytest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03EB-E4A8-C19B-D32F-35DB931CA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noProof="0" dirty="0"/>
              <a:t>Framework de testes de código aberto para a linguagem Python que facilita a criação de testes simples, legíveis e escaláveis.</a:t>
            </a:r>
          </a:p>
          <a:p>
            <a:endParaRPr lang="pt-BR" sz="2400" dirty="0"/>
          </a:p>
          <a:p>
            <a:r>
              <a:rPr lang="pt-BR" sz="2400" noProof="0" dirty="0"/>
              <a:t>Ideal </a:t>
            </a:r>
            <a:r>
              <a:rPr lang="pt-BR" sz="2400" dirty="0"/>
              <a:t>para TDD (</a:t>
            </a:r>
            <a:r>
              <a:rPr lang="en-BR" sz="2400" b="1" dirty="0"/>
              <a:t>Test Driven Development</a:t>
            </a:r>
            <a:r>
              <a:rPr lang="pt-BR" sz="2400" dirty="0"/>
              <a:t>)</a:t>
            </a:r>
            <a:r>
              <a:rPr lang="en-BR" sz="2400" dirty="0"/>
              <a:t>: prática de programação onde você escreve o teste automatizado de uma funcionalidade antes de escrever o código real que faz ela funcionar.</a:t>
            </a:r>
            <a:endParaRPr lang="pt-BR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C9289-76CF-108D-C806-0AFF0BDDAE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5A702-A6F8-1AB9-5DB5-3C5657CB5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581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BE56-7DF5-FEC7-ADE0-83F2FA4A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 err="1"/>
              <a:t>MyHDL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0F255-A47E-4A40-DF38-9DA8AD007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056568"/>
          </a:xfrm>
        </p:spPr>
        <p:txBody>
          <a:bodyPr>
            <a:normAutofit lnSpcReduction="10000"/>
          </a:bodyPr>
          <a:lstStyle/>
          <a:p>
            <a:r>
              <a:rPr lang="pt-BR" sz="2400" noProof="0" dirty="0"/>
              <a:t>HDL significa Hardware </a:t>
            </a:r>
            <a:r>
              <a:rPr lang="pt-BR" sz="2400" noProof="0" dirty="0" err="1"/>
              <a:t>Description</a:t>
            </a:r>
            <a:r>
              <a:rPr lang="pt-BR" sz="2400" noProof="0" dirty="0"/>
              <a:t> </a:t>
            </a:r>
            <a:r>
              <a:rPr lang="pt-BR" sz="2400" noProof="0" dirty="0" err="1"/>
              <a:t>Language</a:t>
            </a:r>
            <a:r>
              <a:rPr lang="pt-BR" sz="2400" noProof="0" dirty="0"/>
              <a:t> (Linguagem de Descrição de Hardware). É um tipo de linguagem de computador usada para projetar, testar e descrever circuitos eletrônicos e sistemas digitais, como chips e </a:t>
            </a:r>
            <a:r>
              <a:rPr lang="pt-BR" sz="2400" noProof="0" dirty="0" err="1"/>
              <a:t>FPGAs</a:t>
            </a:r>
            <a:r>
              <a:rPr lang="pt-BR" sz="2400" noProof="0" dirty="0"/>
              <a:t>.</a:t>
            </a:r>
          </a:p>
          <a:p>
            <a:endParaRPr lang="pt-BR" sz="2400" noProof="0" dirty="0"/>
          </a:p>
          <a:p>
            <a:r>
              <a:rPr lang="pt-BR" sz="2400" noProof="0" dirty="0"/>
              <a:t>As linguagens HDL descrevem componentes físicos que funcionam ao mesmo tempo, ou seja, em paralelo. Os exemplos mais famosos de HDL tradicionais são o </a:t>
            </a:r>
            <a:r>
              <a:rPr lang="pt-BR" sz="2400" noProof="0" dirty="0" err="1"/>
              <a:t>Verilog</a:t>
            </a:r>
            <a:r>
              <a:rPr lang="pt-BR" sz="2400" noProof="0" dirty="0"/>
              <a:t> e o VHDL.</a:t>
            </a:r>
          </a:p>
          <a:p>
            <a:endParaRPr lang="pt-BR" sz="2400" noProof="0" dirty="0"/>
          </a:p>
          <a:p>
            <a:r>
              <a:rPr lang="pt-BR" sz="2400" noProof="0" dirty="0"/>
              <a:t>O </a:t>
            </a:r>
            <a:r>
              <a:rPr lang="pt-BR" sz="2400" noProof="0" dirty="0" err="1"/>
              <a:t>MyHDL</a:t>
            </a:r>
            <a:r>
              <a:rPr lang="pt-BR" sz="2400" noProof="0" dirty="0"/>
              <a:t> é um pacote de código aberto que permite usar a linguagem Python como uma linguagem de descrição e verificação de hardware.</a:t>
            </a:r>
          </a:p>
          <a:p>
            <a:endParaRPr lang="pt-BR" sz="24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563D0-03B6-EB1F-82F4-E5B036908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D42E3-E7B3-2425-BB35-EA17211F1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3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CD97-B54F-6673-9D8A-20D608C2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Configurando o Sistema Localmente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0F7AF-9B60-F3E5-0179-9D087130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093" y="1558344"/>
            <a:ext cx="8654603" cy="4651956"/>
          </a:xfrm>
        </p:spPr>
        <p:txBody>
          <a:bodyPr>
            <a:normAutofit/>
          </a:bodyPr>
          <a:lstStyle/>
          <a:p>
            <a:r>
              <a:rPr lang="en-US" sz="2000" dirty="0"/>
              <a:t>PYTHON:</a:t>
            </a:r>
          </a:p>
          <a:p>
            <a:r>
              <a:rPr lang="en-BR" sz="2000" dirty="0"/>
              <a:t>  pip3 install -r requirements.txt</a:t>
            </a:r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0C88D-2519-C7E2-44CF-DEC31C685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B3591-DE4C-DB4F-2FCB-36BB251AA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741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EDE1-5175-649B-653C-1AD2FCD8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Praticando</a:t>
            </a:r>
            <a:r>
              <a:rPr lang="en-US" dirty="0"/>
              <a:t> </a:t>
            </a:r>
            <a:r>
              <a:rPr lang="en-US" dirty="0" err="1"/>
              <a:t>MyHDL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D92EA-7294-0A32-EF1F-335287710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R" sz="2000" dirty="0"/>
              <a:t>Edite o arquivo </a:t>
            </a:r>
            <a:r>
              <a:rPr lang="en-BR" sz="2000" b="1" i="1" dirty="0"/>
              <a:t>comb_modules.py</a:t>
            </a:r>
            <a:r>
              <a:rPr lang="en-BR" sz="2000" dirty="0"/>
              <a:t> com a lógica a seguir:</a:t>
            </a:r>
          </a:p>
          <a:p>
            <a:br>
              <a:rPr lang="en-BR" sz="2000" dirty="0"/>
            </a:br>
            <a:endParaRPr lang="en-BR" sz="2000" dirty="0"/>
          </a:p>
          <a:p>
            <a:endParaRPr lang="en-BR" sz="2000" dirty="0"/>
          </a:p>
          <a:p>
            <a:endParaRPr lang="en-BR" sz="2000" dirty="0"/>
          </a:p>
          <a:p>
            <a:endParaRPr lang="en-BR" sz="2000" dirty="0"/>
          </a:p>
          <a:p>
            <a:endParaRPr lang="en-BR" sz="2000" dirty="0"/>
          </a:p>
          <a:p>
            <a:endParaRPr lang="en-BR" sz="2000" dirty="0"/>
          </a:p>
          <a:p>
            <a:r>
              <a:rPr lang="en-BR" sz="2000" dirty="0"/>
              <a:t>Execute: </a:t>
            </a:r>
            <a:r>
              <a:rPr lang="en-BR" sz="2000" b="1" i="1" dirty="0"/>
              <a:t>pytest -k exe1</a:t>
            </a:r>
            <a:r>
              <a:rPr lang="en-BR" sz="2000" dirty="0"/>
              <a:t>  e verifique que o teste passa no teste.</a:t>
            </a:r>
          </a:p>
          <a:p>
            <a:br>
              <a:rPr lang="en-BR" sz="2000" dirty="0"/>
            </a:b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9202F-7F63-3969-E0AC-B06E74BF1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2E3E2-110B-17BA-BDCB-D809B6DA1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A7465-85D2-87B6-4A07-D25FF0801BCE}"/>
              </a:ext>
            </a:extLst>
          </p:cNvPr>
          <p:cNvSpPr txBox="1"/>
          <p:nvPr/>
        </p:nvSpPr>
        <p:spPr>
          <a:xfrm>
            <a:off x="2105697" y="2621235"/>
            <a:ext cx="4572000" cy="1226865"/>
          </a:xfrm>
          <a:prstGeom prst="rect">
            <a:avLst/>
          </a:prstGeom>
          <a:solidFill>
            <a:srgbClr val="F1F3FF"/>
          </a:solidFill>
        </p:spPr>
        <p:txBody>
          <a:bodyPr wrap="square" bIns="72000">
            <a:spAutoFit/>
          </a:bodyPr>
          <a:lstStyle/>
          <a:p>
            <a:pPr marL="0" marR="0" indent="0" algn="l">
              <a:buNone/>
            </a:pPr>
            <a:r>
              <a:rPr lang="en-BR" sz="2400" b="0" i="0" dirty="0">
                <a:solidFill>
                  <a:schemeClr val="tx1"/>
                </a:solidFill>
                <a:effectLst/>
                <a:latin typeface="+mn-lt"/>
              </a:rPr>
              <a:t>def exe1():</a:t>
            </a:r>
          </a:p>
          <a:p>
            <a:pPr marL="0" marR="0" indent="0" algn="l">
              <a:buNone/>
            </a:pPr>
            <a:r>
              <a:rPr lang="en-BR" sz="2400" b="0" i="0" dirty="0">
                <a:solidFill>
                  <a:srgbClr val="FF0000"/>
                </a:solidFill>
                <a:effectLst/>
                <a:latin typeface="+mn-lt"/>
              </a:rPr>
              <a:t>-    pass</a:t>
            </a:r>
          </a:p>
          <a:p>
            <a:pPr marL="0" marR="0" indent="0" algn="l">
              <a:buNone/>
            </a:pPr>
            <a:r>
              <a:rPr lang="en-BR" sz="2400" b="0" i="0" dirty="0">
                <a:solidFill>
                  <a:srgbClr val="00B050"/>
                </a:solidFill>
                <a:effectLst/>
                <a:latin typeface="+mn-lt"/>
              </a:rPr>
              <a:t>+    q.next = a or (not b)</a:t>
            </a:r>
            <a:endParaRPr lang="en-BR" b="0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8DBC-E673-9832-2F2F-A8DB6466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E794-A8C6-B0D5-1F7E-829278CD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Praticando</a:t>
            </a:r>
            <a:r>
              <a:rPr lang="en-US" dirty="0"/>
              <a:t> </a:t>
            </a:r>
            <a:r>
              <a:rPr lang="en-US" dirty="0" err="1"/>
              <a:t>MyHDL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D066F-382E-E9FA-CDCF-8B70AC4A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R" sz="2000" dirty="0"/>
              <a:t>Continue com o arquivo </a:t>
            </a:r>
            <a:r>
              <a:rPr lang="en-BR" sz="2000" b="1" i="1" dirty="0"/>
              <a:t>comb_modules.py</a:t>
            </a:r>
            <a:r>
              <a:rPr lang="en-BR" sz="2000" dirty="0"/>
              <a:t> </a:t>
            </a:r>
          </a:p>
          <a:p>
            <a:endParaRPr lang="en-BR" sz="2000" dirty="0"/>
          </a:p>
          <a:p>
            <a:r>
              <a:rPr lang="en-BR" sz="2000" dirty="0"/>
              <a:t>Implemente os módulos </a:t>
            </a:r>
            <a:r>
              <a:rPr lang="en-BR" b="1" dirty="0"/>
              <a:t>exe2</a:t>
            </a:r>
            <a:r>
              <a:rPr lang="en-BR" sz="2000" dirty="0"/>
              <a:t> e </a:t>
            </a:r>
            <a:r>
              <a:rPr lang="en-BR" b="1" dirty="0"/>
              <a:t>exe3</a:t>
            </a:r>
          </a:p>
          <a:p>
            <a:endParaRPr lang="en-BR" sz="2000" dirty="0"/>
          </a:p>
          <a:p>
            <a:r>
              <a:rPr lang="en-BR" sz="2000" dirty="0"/>
              <a:t>Rode:</a:t>
            </a:r>
          </a:p>
          <a:p>
            <a:r>
              <a:rPr lang="en-BR" sz="2000" b="1" i="1" dirty="0"/>
              <a:t>  pytest -k exe2</a:t>
            </a:r>
            <a:endParaRPr lang="en-BR" sz="2000" dirty="0"/>
          </a:p>
          <a:p>
            <a:r>
              <a:rPr lang="en-BR" sz="2000" b="1" i="1" dirty="0"/>
              <a:t>  pytest -k exe3</a:t>
            </a:r>
            <a:br>
              <a:rPr lang="en-BR" sz="2000" dirty="0"/>
            </a:b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9E0D2-3402-9351-7686-6F3AB95797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C19EB-4DD1-CC70-8E22-692F121B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858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44E7-2753-7C51-AF98-50135106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Rodando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B4E5-DE09-CE78-25F3-D94151AE8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2962557"/>
          </a:xfrm>
        </p:spPr>
        <p:txBody>
          <a:bodyPr>
            <a:normAutofit/>
          </a:bodyPr>
          <a:lstStyle/>
          <a:p>
            <a:pPr lvl="0"/>
            <a:r>
              <a:rPr lang="en-BR" sz="2400" dirty="0"/>
              <a:t>Requisitos: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BR" sz="2400" dirty="0"/>
              <a:t>Docker Desktop instalado e aberto.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BR" sz="2400" dirty="0"/>
              <a:t>Git instalado.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BR" sz="2400" dirty="0"/>
              <a:t>Terminal funcionando.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BR" sz="2400" dirty="0"/>
              <a:t>Projeto clonado localmente.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BR" sz="2400" dirty="0"/>
              <a:t>Instale o fpgaloader</a:t>
            </a:r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1B16E-20AA-0E3D-9089-A1F121377F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1C99A-C9EE-A7B7-E3F0-DEF4121E9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29CE9-60E9-3245-67CC-26633730367D}"/>
              </a:ext>
            </a:extLst>
          </p:cNvPr>
          <p:cNvSpPr txBox="1"/>
          <p:nvPr/>
        </p:nvSpPr>
        <p:spPr>
          <a:xfrm>
            <a:off x="657225" y="4448457"/>
            <a:ext cx="7961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https://github.com/insper-bits/lab-myhdl-comb</a:t>
            </a:r>
            <a:r>
              <a:rPr lang="en-US" sz="28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4078A-A593-A576-F7FF-5305516042C3}"/>
              </a:ext>
            </a:extLst>
          </p:cNvPr>
          <p:cNvSpPr txBox="1"/>
          <p:nvPr/>
        </p:nvSpPr>
        <p:spPr>
          <a:xfrm>
            <a:off x="657224" y="5178539"/>
            <a:ext cx="8029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BR" sz="2800" b="0" i="0" dirty="0">
                <a:solidFill>
                  <a:schemeClr val="tx1"/>
                </a:solidFill>
                <a:effectLst/>
                <a:latin typeface="+mn-lt"/>
                <a:hlinkClick r:id="rId3"/>
              </a:rPr>
              <a:t>https://github.com/Insper/fpgaloader/releases</a:t>
            </a:r>
            <a:endParaRPr lang="en-BR" sz="2000" b="0" i="0" dirty="0">
              <a:solidFill>
                <a:srgbClr val="090A1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1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68D1-580B-FE71-5A81-A34C35A4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Ajustando</a:t>
            </a:r>
            <a:r>
              <a:rPr lang="en-US" dirty="0"/>
              <a:t> </a:t>
            </a:r>
            <a:r>
              <a:rPr lang="en-US" dirty="0" err="1"/>
              <a:t>toplevel.py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EBCF2-ED62-1D4B-BCE7-5A6B3F5FD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42B61-00DE-6E1F-0CE6-6458EDB86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07FCA-10E8-2E68-731C-6A8D043BE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31" y="1571981"/>
            <a:ext cx="6053138" cy="501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9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6641-7D74-9224-B6AF-7754F13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3B89-0157-D508-7691-6E425383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Rodando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BD7F-3667-FE70-6237-604259AE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093" y="1485899"/>
            <a:ext cx="8654603" cy="5281399"/>
          </a:xfrm>
        </p:spPr>
        <p:txBody>
          <a:bodyPr>
            <a:normAutofit/>
          </a:bodyPr>
          <a:lstStyle/>
          <a:p>
            <a:r>
              <a:rPr lang="pt-BR" sz="2400" noProof="0" dirty="0"/>
              <a:t>Rodar o comando </a:t>
            </a:r>
            <a:r>
              <a:rPr lang="pt-BR" sz="2400" noProof="0" dirty="0" err="1"/>
              <a:t>docker</a:t>
            </a:r>
            <a:r>
              <a:rPr lang="pt-BR" sz="2400" noProof="0" dirty="0"/>
              <a:t> para gerar o RBF:</a:t>
            </a:r>
          </a:p>
          <a:p>
            <a:endParaRPr lang="pt-BR" sz="2400" dirty="0"/>
          </a:p>
          <a:p>
            <a:endParaRPr lang="pt-BR" sz="2400" noProof="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noProof="0" dirty="0"/>
          </a:p>
          <a:p>
            <a:endParaRPr lang="pt-BR" sz="2400" dirty="0"/>
          </a:p>
          <a:p>
            <a:r>
              <a:rPr lang="pt-BR" sz="2400" noProof="0" dirty="0"/>
              <a:t>Programar o arquivo: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Abr</a:t>
            </a:r>
            <a:r>
              <a:rPr lang="pt-BR" sz="2400" noProof="0" dirty="0"/>
              <a:t>a</a:t>
            </a:r>
            <a:r>
              <a:rPr lang="pt-BR" sz="2400" dirty="0"/>
              <a:t> o </a:t>
            </a:r>
            <a:r>
              <a:rPr lang="pt-BR" sz="2400" dirty="0" err="1"/>
              <a:t>fpgaloader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Selecion</a:t>
            </a:r>
            <a:r>
              <a:rPr lang="pt-BR" sz="2400" noProof="0" dirty="0"/>
              <a:t>e</a:t>
            </a:r>
            <a:r>
              <a:rPr lang="pt-BR" sz="2400" dirty="0"/>
              <a:t> o arquivo </a:t>
            </a:r>
            <a:r>
              <a:rPr lang="pt-BR" sz="2400" noProof="0" dirty="0"/>
              <a:t>.</a:t>
            </a:r>
            <a:r>
              <a:rPr lang="pt-BR" sz="2400" dirty="0" err="1"/>
              <a:t>rbf</a:t>
            </a: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Programar</a:t>
            </a:r>
            <a:r>
              <a:rPr lang="pt-BR" sz="2400" noProof="0" dirty="0"/>
              <a:t> a</a:t>
            </a:r>
            <a:r>
              <a:rPr lang="pt-BR" sz="2400" dirty="0"/>
              <a:t> placa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C98F8-3FB1-E389-014B-FAE357188D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78DD1-9206-F8E6-A7FD-F3913F613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366F2-827A-2212-8199-664EA56B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94" y="3966692"/>
            <a:ext cx="2883608" cy="29970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9D726E-AF91-DD50-ABFC-D685E15C15E0}"/>
              </a:ext>
            </a:extLst>
          </p:cNvPr>
          <p:cNvSpPr txBox="1"/>
          <p:nvPr/>
        </p:nvSpPr>
        <p:spPr>
          <a:xfrm>
            <a:off x="1458532" y="2027700"/>
            <a:ext cx="635572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docker run --rm \</a:t>
            </a:r>
          </a:p>
          <a:p>
            <a:r>
              <a:rPr lang="en-US" sz="2400" dirty="0"/>
              <a:t>  -v "${PWD}:/work" \</a:t>
            </a:r>
          </a:p>
          <a:p>
            <a:r>
              <a:rPr lang="en-US" sz="2400" dirty="0"/>
              <a:t>  -w /work \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rafaelcorsi</a:t>
            </a:r>
            <a:r>
              <a:rPr lang="en-US" sz="2400" dirty="0"/>
              <a:t>/bits \</a:t>
            </a:r>
          </a:p>
          <a:p>
            <a:r>
              <a:rPr lang="en-US" sz="2400" dirty="0"/>
              <a:t>  bash -lc "make clean &amp;&amp; make </a:t>
            </a:r>
            <a:r>
              <a:rPr lang="en-US" sz="2400" dirty="0" err="1"/>
              <a:t>toplevel.rbf</a:t>
            </a:r>
            <a:r>
              <a:rPr lang="en-US" sz="24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3378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49AA-621B-ABAF-3B7D-0A48BE57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DE0-CV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7ABB0-6BC3-A5AB-82A9-0E4E0D2C36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B87A5-9A92-C062-528B-F87029C36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58FA9-0037-3F9A-B272-FCE1B531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916" y="1400175"/>
            <a:ext cx="5124168" cy="3944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A8C68B-8D35-52FD-B73D-3D40D96EB7D0}"/>
              </a:ext>
            </a:extLst>
          </p:cNvPr>
          <p:cNvSpPr txBox="1"/>
          <p:nvPr/>
        </p:nvSpPr>
        <p:spPr>
          <a:xfrm>
            <a:off x="854477" y="5344678"/>
            <a:ext cx="7014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LED</a:t>
            </a:r>
            <a:r>
              <a:rPr lang="en-BR" sz="1800" b="0" i="0" dirty="0">
                <a:solidFill>
                  <a:schemeClr val="tx1"/>
                </a:solidFill>
                <a:effectLst/>
                <a:latin typeface="+mn-lt"/>
              </a:rPr>
              <a:t>: 10 leds que acendem com lógica </a:t>
            </a: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1</a:t>
            </a:r>
            <a:endParaRPr lang="en-BR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Push Buttons</a:t>
            </a:r>
            <a:r>
              <a:rPr lang="en-BR" sz="1800" b="0" i="0" dirty="0">
                <a:solidFill>
                  <a:schemeClr val="tx1"/>
                </a:solidFill>
                <a:effectLst/>
                <a:latin typeface="+mn-lt"/>
              </a:rPr>
              <a:t>: 4 botões que quando apertados fornecem lógica </a:t>
            </a: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0</a:t>
            </a:r>
            <a:endParaRPr lang="en-BR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Slide Switchs</a:t>
            </a:r>
            <a:r>
              <a:rPr lang="en-BR" sz="1800" b="0" i="0" dirty="0">
                <a:solidFill>
                  <a:schemeClr val="tx1"/>
                </a:solidFill>
                <a:effectLst/>
                <a:latin typeface="+mn-lt"/>
              </a:rPr>
              <a:t>: 10 Slides que quando acionados forcem lógica </a:t>
            </a: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1</a:t>
            </a:r>
            <a:endParaRPr lang="en-BR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BR" sz="1800" b="1" i="1" dirty="0">
                <a:solidFill>
                  <a:schemeClr val="tx1"/>
                </a:solidFill>
                <a:effectLst/>
                <a:latin typeface="+mn-lt"/>
              </a:rPr>
              <a:t>HEX Displays</a:t>
            </a:r>
            <a:r>
              <a:rPr lang="en-BR" sz="1800" b="0" i="0" dirty="0">
                <a:solidFill>
                  <a:schemeClr val="tx1"/>
                </a:solidFill>
                <a:effectLst/>
                <a:latin typeface="+mn-lt"/>
              </a:rPr>
              <a:t>: 6 displays de 7 segmentos (anodo comum)</a:t>
            </a:r>
            <a:endParaRPr lang="en-BR" sz="1500" b="0" i="0" dirty="0">
              <a:solidFill>
                <a:srgbClr val="090A1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63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FA0B5-1DE5-16A0-669D-BCA70CDF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B514-C8DD-E680-F557-7D0C38F6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Praticando na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C4E6-5EB7-87F9-D8D1-5B8403281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R" sz="2400" dirty="0"/>
              <a:t>Continue com o arquivo </a:t>
            </a:r>
            <a:r>
              <a:rPr lang="en-BR" sz="2400" b="1" i="1" dirty="0"/>
              <a:t>comb_modules.py</a:t>
            </a:r>
            <a:r>
              <a:rPr lang="en-BR" sz="2400" dirty="0"/>
              <a:t> </a:t>
            </a:r>
          </a:p>
          <a:p>
            <a:br>
              <a:rPr lang="en-BR" sz="2400" dirty="0"/>
            </a:br>
            <a:r>
              <a:rPr lang="en-BR" sz="2400" dirty="0"/>
              <a:t>Desenvolva os códigos do </a:t>
            </a:r>
            <a:r>
              <a:rPr lang="en-BR" sz="2400" b="1" dirty="0"/>
              <a:t>exe5</a:t>
            </a:r>
            <a:r>
              <a:rPr lang="en-BR" sz="2400" dirty="0"/>
              <a:t> e </a:t>
            </a:r>
            <a:r>
              <a:rPr lang="en-BR" sz="2400" b="1" dirty="0"/>
              <a:t>sw2hex</a:t>
            </a:r>
          </a:p>
          <a:p>
            <a:endParaRPr lang="en-BR" sz="2400" dirty="0"/>
          </a:p>
          <a:p>
            <a:r>
              <a:rPr lang="en-BR" sz="2400" dirty="0"/>
              <a:t>Teste na FPGA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CE0EB-C8F7-B82F-B6E9-6E495B157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05823-343C-D82D-06D6-5A035EEBA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723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76B9-846C-3ED7-BB80-F992A88C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Display de 7 segmentos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2A59-F1CA-6BEB-6654-97C6C8FB1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5908113"/>
            <a:ext cx="8029575" cy="494061"/>
          </a:xfrm>
        </p:spPr>
        <p:txBody>
          <a:bodyPr/>
          <a:lstStyle/>
          <a:p>
            <a:r>
              <a:rPr lang="pt-BR" noProof="0"/>
              <a:t>Obs</a:t>
            </a:r>
            <a:r>
              <a:rPr lang="pt-BR" noProof="0" dirty="0"/>
              <a:t>: Cuidado a ordem pode parecer invertida.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DFE95-3BD4-1B0C-2543-19D1EE14F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97A23-4E50-8FAC-C797-0B8F8875E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6" name="Picture 5" descr="Display de 7 segmentos">
            <a:extLst>
              <a:ext uri="{FF2B5EF4-FFF2-40B4-BE49-F238E27FC236}">
                <a16:creationId xmlns:a16="http://schemas.microsoft.com/office/drawing/2014/main" id="{5664C3D3-77C5-FF81-90B9-898F0969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74920"/>
            <a:ext cx="3810000" cy="3810000"/>
          </a:xfrm>
          <a:prstGeom prst="rect">
            <a:avLst/>
          </a:prstGeom>
        </p:spPr>
      </p:pic>
      <p:pic>
        <p:nvPicPr>
          <p:cNvPr id="7" name="Picture 6" descr="10 X Display 7 Segmentos 1 Dígito Catodo Comum">
            <a:extLst>
              <a:ext uri="{FF2B5EF4-FFF2-40B4-BE49-F238E27FC236}">
                <a16:creationId xmlns:a16="http://schemas.microsoft.com/office/drawing/2014/main" id="{45EE20F2-B2AC-ED41-2132-149008331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02" y="2184192"/>
            <a:ext cx="2445747" cy="274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1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675">
        <p14:prism/>
      </p:transition>
    </mc:Choice>
    <mc:Fallback xmlns="">
      <p:transition spd="slow" advTm="5675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24375</TotalTime>
  <Words>526</Words>
  <Application>Microsoft Macintosh PowerPoint</Application>
  <PresentationFormat>On-screen Show (4:3)</PresentationFormat>
  <Paragraphs>97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Inter</vt:lpstr>
      <vt:lpstr>Open Sans</vt:lpstr>
      <vt:lpstr>Verdana</vt:lpstr>
      <vt:lpstr>Personalizar design</vt:lpstr>
      <vt:lpstr>PowerPoint Presentation</vt:lpstr>
      <vt:lpstr>FPGA</vt:lpstr>
      <vt:lpstr>pytest</vt:lpstr>
      <vt:lpstr>MyHDL</vt:lpstr>
      <vt:lpstr>Configurando o Sistema Localmente</vt:lpstr>
      <vt:lpstr>Praticando MyHDL</vt:lpstr>
      <vt:lpstr>Praticando MyHDL</vt:lpstr>
      <vt:lpstr>Rodando pelo Docker</vt:lpstr>
      <vt:lpstr>Ajustando toplevel.py</vt:lpstr>
      <vt:lpstr>Rodando pelo Docker</vt:lpstr>
      <vt:lpstr>Layout DE0-CV</vt:lpstr>
      <vt:lpstr>Praticando na FPGA</vt:lpstr>
      <vt:lpstr>Display de 7 segmentos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de SIstemas</dc:title>
  <dc:subject/>
  <dc:creator>Luciano Pereira Soares</dc:creator>
  <cp:keywords/>
  <dc:description/>
  <cp:lastModifiedBy>Luciano Pereira Soares</cp:lastModifiedBy>
  <cp:revision>846</cp:revision>
  <cp:lastPrinted>2015-05-25T01:17:28Z</cp:lastPrinted>
  <dcterms:created xsi:type="dcterms:W3CDTF">2014-04-17T20:05:08Z</dcterms:created>
  <dcterms:modified xsi:type="dcterms:W3CDTF">2026-09-01T02:39:03Z</dcterms:modified>
  <cp:category/>
</cp:coreProperties>
</file>