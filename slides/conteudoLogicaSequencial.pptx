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6.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2"/>
  </p:notesMasterIdLst>
  <p:handoutMasterIdLst>
    <p:handoutMasterId r:id="rId33"/>
  </p:handoutMasterIdLst>
  <p:sldIdLst>
    <p:sldId id="269" r:id="rId2"/>
    <p:sldId id="365" r:id="rId3"/>
    <p:sldId id="379" r:id="rId4"/>
    <p:sldId id="376" r:id="rId5"/>
    <p:sldId id="451" r:id="rId6"/>
    <p:sldId id="372" r:id="rId7"/>
    <p:sldId id="385" r:id="rId8"/>
    <p:sldId id="386" r:id="rId9"/>
    <p:sldId id="406" r:id="rId10"/>
    <p:sldId id="412" r:id="rId11"/>
    <p:sldId id="413" r:id="rId12"/>
    <p:sldId id="374" r:id="rId13"/>
    <p:sldId id="407" r:id="rId14"/>
    <p:sldId id="411" r:id="rId15"/>
    <p:sldId id="418" r:id="rId16"/>
    <p:sldId id="467" r:id="rId17"/>
    <p:sldId id="468" r:id="rId18"/>
    <p:sldId id="472" r:id="rId19"/>
    <p:sldId id="395" r:id="rId20"/>
    <p:sldId id="339" r:id="rId21"/>
    <p:sldId id="409" r:id="rId22"/>
    <p:sldId id="341" r:id="rId23"/>
    <p:sldId id="403" r:id="rId24"/>
    <p:sldId id="415" r:id="rId25"/>
    <p:sldId id="416" r:id="rId26"/>
    <p:sldId id="471" r:id="rId27"/>
    <p:sldId id="262" r:id="rId28"/>
    <p:sldId id="408" r:id="rId29"/>
    <p:sldId id="433" r:id="rId30"/>
    <p:sldId id="466"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BCBEC0"/>
    <a:srgbClr val="C00026"/>
    <a:srgbClr val="BA0E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67"/>
    <p:restoredTop sz="83264" autoAdjust="0"/>
  </p:normalViewPr>
  <p:slideViewPr>
    <p:cSldViewPr snapToGrid="0" snapToObjects="1" showGuides="1">
      <p:cViewPr varScale="1">
        <p:scale>
          <a:sx n="99" d="100"/>
          <a:sy n="99" d="100"/>
        </p:scale>
        <p:origin x="2744" y="184"/>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3" d="100"/>
          <a:sy n="83" d="100"/>
        </p:scale>
        <p:origin x="-198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3375A2-559F-4D1E-899E-C721D8592A70}" type="doc">
      <dgm:prSet loTypeId="urn:microsoft.com/office/officeart/2005/8/layout/pyramid1" loCatId="pyramid" qsTypeId="urn:microsoft.com/office/officeart/2005/8/quickstyle/simple4#2" qsCatId="simple" csTypeId="urn:microsoft.com/office/officeart/2005/8/colors/colorful2#1" csCatId="colorful" phldr="1"/>
      <dgm:spPr/>
    </dgm:pt>
    <dgm:pt modelId="{5D223AD1-A6F1-4729-A112-FC61ECD330A2}">
      <dgm:prSet phldrT="[Texto]"/>
      <dgm:spPr/>
      <dgm:t>
        <a:bodyPr/>
        <a:lstStyle/>
        <a:p>
          <a:r>
            <a:rPr lang="pt-BR" dirty="0"/>
            <a:t>Registradores</a:t>
          </a:r>
        </a:p>
      </dgm:t>
    </dgm:pt>
    <dgm:pt modelId="{FD836217-E5B4-43BB-9570-F9CDD26016D0}" type="parTrans" cxnId="{E14AF6AC-C0FC-426E-B3D9-9222D4C8FF1C}">
      <dgm:prSet/>
      <dgm:spPr/>
      <dgm:t>
        <a:bodyPr/>
        <a:lstStyle/>
        <a:p>
          <a:endParaRPr lang="pt-BR"/>
        </a:p>
      </dgm:t>
    </dgm:pt>
    <dgm:pt modelId="{C19114A8-3140-4F23-9ECE-A137DA9D0DA7}" type="sibTrans" cxnId="{E14AF6AC-C0FC-426E-B3D9-9222D4C8FF1C}">
      <dgm:prSet/>
      <dgm:spPr/>
      <dgm:t>
        <a:bodyPr/>
        <a:lstStyle/>
        <a:p>
          <a:endParaRPr lang="pt-BR"/>
        </a:p>
      </dgm:t>
    </dgm:pt>
    <dgm:pt modelId="{EA68BA54-4D86-45C5-BAC8-F28CF18B926A}">
      <dgm:prSet phldrT="[Texto]"/>
      <dgm:spPr/>
      <dgm:t>
        <a:bodyPr/>
        <a:lstStyle/>
        <a:p>
          <a:r>
            <a:rPr lang="pt-BR"/>
            <a:t>Memória </a:t>
          </a:r>
          <a:r>
            <a:rPr lang="pt-BR" dirty="0"/>
            <a:t>Cache</a:t>
          </a:r>
        </a:p>
      </dgm:t>
    </dgm:pt>
    <dgm:pt modelId="{E384FAD1-DFD6-4D26-9E04-1A2EDA6851F5}" type="parTrans" cxnId="{C6A7D1D1-70D1-4759-B4DB-090C141376FB}">
      <dgm:prSet/>
      <dgm:spPr/>
      <dgm:t>
        <a:bodyPr/>
        <a:lstStyle/>
        <a:p>
          <a:endParaRPr lang="pt-BR"/>
        </a:p>
      </dgm:t>
    </dgm:pt>
    <dgm:pt modelId="{A3A79E7E-F627-4AE9-AA1C-12D03A6D87D2}" type="sibTrans" cxnId="{C6A7D1D1-70D1-4759-B4DB-090C141376FB}">
      <dgm:prSet/>
      <dgm:spPr/>
      <dgm:t>
        <a:bodyPr/>
        <a:lstStyle/>
        <a:p>
          <a:endParaRPr lang="pt-BR"/>
        </a:p>
      </dgm:t>
    </dgm:pt>
    <dgm:pt modelId="{54C9876A-DBED-413C-AAB6-F02CAFB4A4CF}">
      <dgm:prSet phldrT="[Texto]"/>
      <dgm:spPr/>
      <dgm:t>
        <a:bodyPr/>
        <a:lstStyle/>
        <a:p>
          <a:r>
            <a:rPr lang="pt-BR" dirty="0"/>
            <a:t>Memória RAM</a:t>
          </a:r>
        </a:p>
      </dgm:t>
    </dgm:pt>
    <dgm:pt modelId="{A711CE08-7D23-4CC0-A31D-1FFBBE8ECA1D}" type="parTrans" cxnId="{13584058-BE73-4094-BE21-4AC08AE18A8C}">
      <dgm:prSet/>
      <dgm:spPr/>
      <dgm:t>
        <a:bodyPr/>
        <a:lstStyle/>
        <a:p>
          <a:endParaRPr lang="pt-BR"/>
        </a:p>
      </dgm:t>
    </dgm:pt>
    <dgm:pt modelId="{FB8FE858-AEF5-4A73-9817-FB50C25652E9}" type="sibTrans" cxnId="{13584058-BE73-4094-BE21-4AC08AE18A8C}">
      <dgm:prSet/>
      <dgm:spPr/>
      <dgm:t>
        <a:bodyPr/>
        <a:lstStyle/>
        <a:p>
          <a:endParaRPr lang="pt-BR"/>
        </a:p>
      </dgm:t>
    </dgm:pt>
    <dgm:pt modelId="{AA26A291-56C1-4045-B5C0-D14B4716761A}">
      <dgm:prSet phldrT="[Texto]"/>
      <dgm:spPr/>
      <dgm:t>
        <a:bodyPr/>
        <a:lstStyle/>
        <a:p>
          <a:r>
            <a:rPr lang="pt-BR" dirty="0"/>
            <a:t>Memória Secundária</a:t>
          </a:r>
        </a:p>
      </dgm:t>
    </dgm:pt>
    <dgm:pt modelId="{46F5CF36-E9A5-488F-8F6C-551B6AE9311D}" type="parTrans" cxnId="{F7089F51-6745-488E-888F-3EA95346113C}">
      <dgm:prSet/>
      <dgm:spPr/>
      <dgm:t>
        <a:bodyPr/>
        <a:lstStyle/>
        <a:p>
          <a:endParaRPr lang="pt-BR"/>
        </a:p>
      </dgm:t>
    </dgm:pt>
    <dgm:pt modelId="{DD632AD5-4E6B-43DA-85E3-ADC369989319}" type="sibTrans" cxnId="{F7089F51-6745-488E-888F-3EA95346113C}">
      <dgm:prSet/>
      <dgm:spPr/>
      <dgm:t>
        <a:bodyPr/>
        <a:lstStyle/>
        <a:p>
          <a:endParaRPr lang="pt-BR"/>
        </a:p>
      </dgm:t>
    </dgm:pt>
    <dgm:pt modelId="{CC8C9D9A-D53F-4C04-92AD-F342A3A9FF5E}">
      <dgm:prSet phldrT="[Texto]"/>
      <dgm:spPr/>
      <dgm:t>
        <a:bodyPr/>
        <a:lstStyle/>
        <a:p>
          <a:endParaRPr lang="pt-BR" dirty="0"/>
        </a:p>
      </dgm:t>
    </dgm:pt>
    <dgm:pt modelId="{173A4C76-6E45-41B3-AB27-9ED2781E5307}" type="parTrans" cxnId="{44699A23-50E1-4DBD-8E24-7B1C8EB59B4C}">
      <dgm:prSet/>
      <dgm:spPr/>
      <dgm:t>
        <a:bodyPr/>
        <a:lstStyle/>
        <a:p>
          <a:endParaRPr lang="pt-BR"/>
        </a:p>
      </dgm:t>
    </dgm:pt>
    <dgm:pt modelId="{DBA457D6-3596-4DE5-9996-BDF8440E6647}" type="sibTrans" cxnId="{44699A23-50E1-4DBD-8E24-7B1C8EB59B4C}">
      <dgm:prSet/>
      <dgm:spPr/>
      <dgm:t>
        <a:bodyPr/>
        <a:lstStyle/>
        <a:p>
          <a:endParaRPr lang="pt-BR"/>
        </a:p>
      </dgm:t>
    </dgm:pt>
    <dgm:pt modelId="{3C32E861-C987-4447-9588-C96D3F2555B5}" type="pres">
      <dgm:prSet presAssocID="{C43375A2-559F-4D1E-899E-C721D8592A70}" presName="Name0" presStyleCnt="0">
        <dgm:presLayoutVars>
          <dgm:dir/>
          <dgm:animLvl val="lvl"/>
          <dgm:resizeHandles val="exact"/>
        </dgm:presLayoutVars>
      </dgm:prSet>
      <dgm:spPr/>
    </dgm:pt>
    <dgm:pt modelId="{D36AA839-AA75-41EF-9437-0F40B153838B}" type="pres">
      <dgm:prSet presAssocID="{CC8C9D9A-D53F-4C04-92AD-F342A3A9FF5E}" presName="Name8" presStyleCnt="0"/>
      <dgm:spPr/>
    </dgm:pt>
    <dgm:pt modelId="{0143486A-FBD0-4A8B-8AB2-0D199DEBC7A8}" type="pres">
      <dgm:prSet presAssocID="{CC8C9D9A-D53F-4C04-92AD-F342A3A9FF5E}" presName="level" presStyleLbl="node1" presStyleIdx="0" presStyleCnt="5">
        <dgm:presLayoutVars>
          <dgm:chMax val="1"/>
          <dgm:bulletEnabled val="1"/>
        </dgm:presLayoutVars>
      </dgm:prSet>
      <dgm:spPr/>
    </dgm:pt>
    <dgm:pt modelId="{8B850E84-4DFE-453B-9CC5-6998A21C3E73}" type="pres">
      <dgm:prSet presAssocID="{CC8C9D9A-D53F-4C04-92AD-F342A3A9FF5E}" presName="levelTx" presStyleLbl="revTx" presStyleIdx="0" presStyleCnt="0">
        <dgm:presLayoutVars>
          <dgm:chMax val="1"/>
          <dgm:bulletEnabled val="1"/>
        </dgm:presLayoutVars>
      </dgm:prSet>
      <dgm:spPr/>
    </dgm:pt>
    <dgm:pt modelId="{DCAE1E55-F92D-4B77-8047-5E1DEC1EBAB2}" type="pres">
      <dgm:prSet presAssocID="{5D223AD1-A6F1-4729-A112-FC61ECD330A2}" presName="Name8" presStyleCnt="0"/>
      <dgm:spPr/>
    </dgm:pt>
    <dgm:pt modelId="{8E7A4710-7AC5-49D1-A1D6-AA31F013CC51}" type="pres">
      <dgm:prSet presAssocID="{5D223AD1-A6F1-4729-A112-FC61ECD330A2}" presName="level" presStyleLbl="node1" presStyleIdx="1" presStyleCnt="5">
        <dgm:presLayoutVars>
          <dgm:chMax val="1"/>
          <dgm:bulletEnabled val="1"/>
        </dgm:presLayoutVars>
      </dgm:prSet>
      <dgm:spPr/>
    </dgm:pt>
    <dgm:pt modelId="{C2B878FE-E022-4C93-85C4-6625CC9A6132}" type="pres">
      <dgm:prSet presAssocID="{5D223AD1-A6F1-4729-A112-FC61ECD330A2}" presName="levelTx" presStyleLbl="revTx" presStyleIdx="0" presStyleCnt="0">
        <dgm:presLayoutVars>
          <dgm:chMax val="1"/>
          <dgm:bulletEnabled val="1"/>
        </dgm:presLayoutVars>
      </dgm:prSet>
      <dgm:spPr/>
    </dgm:pt>
    <dgm:pt modelId="{AD1C0767-C5FC-4310-AF41-BFF85425B942}" type="pres">
      <dgm:prSet presAssocID="{EA68BA54-4D86-45C5-BAC8-F28CF18B926A}" presName="Name8" presStyleCnt="0"/>
      <dgm:spPr/>
    </dgm:pt>
    <dgm:pt modelId="{EC12399E-1FFB-4B2E-A4AC-6C25A49D7FA7}" type="pres">
      <dgm:prSet presAssocID="{EA68BA54-4D86-45C5-BAC8-F28CF18B926A}" presName="level" presStyleLbl="node1" presStyleIdx="2" presStyleCnt="5">
        <dgm:presLayoutVars>
          <dgm:chMax val="1"/>
          <dgm:bulletEnabled val="1"/>
        </dgm:presLayoutVars>
      </dgm:prSet>
      <dgm:spPr/>
    </dgm:pt>
    <dgm:pt modelId="{56D5EECC-9A2A-413B-B7AB-28755BAF1544}" type="pres">
      <dgm:prSet presAssocID="{EA68BA54-4D86-45C5-BAC8-F28CF18B926A}" presName="levelTx" presStyleLbl="revTx" presStyleIdx="0" presStyleCnt="0">
        <dgm:presLayoutVars>
          <dgm:chMax val="1"/>
          <dgm:bulletEnabled val="1"/>
        </dgm:presLayoutVars>
      </dgm:prSet>
      <dgm:spPr/>
    </dgm:pt>
    <dgm:pt modelId="{076BC4E3-8FCB-451B-9BAF-C3D9714B7D0D}" type="pres">
      <dgm:prSet presAssocID="{54C9876A-DBED-413C-AAB6-F02CAFB4A4CF}" presName="Name8" presStyleCnt="0"/>
      <dgm:spPr/>
    </dgm:pt>
    <dgm:pt modelId="{F578DCD1-6516-4E8F-8074-D8F5A7130F22}" type="pres">
      <dgm:prSet presAssocID="{54C9876A-DBED-413C-AAB6-F02CAFB4A4CF}" presName="level" presStyleLbl="node1" presStyleIdx="3" presStyleCnt="5">
        <dgm:presLayoutVars>
          <dgm:chMax val="1"/>
          <dgm:bulletEnabled val="1"/>
        </dgm:presLayoutVars>
      </dgm:prSet>
      <dgm:spPr/>
    </dgm:pt>
    <dgm:pt modelId="{68A23911-3B3F-48DE-8EA0-53768D158ADA}" type="pres">
      <dgm:prSet presAssocID="{54C9876A-DBED-413C-AAB6-F02CAFB4A4CF}" presName="levelTx" presStyleLbl="revTx" presStyleIdx="0" presStyleCnt="0">
        <dgm:presLayoutVars>
          <dgm:chMax val="1"/>
          <dgm:bulletEnabled val="1"/>
        </dgm:presLayoutVars>
      </dgm:prSet>
      <dgm:spPr/>
    </dgm:pt>
    <dgm:pt modelId="{44FD5E6E-8D78-4A1B-A19F-3E0802E2E3BD}" type="pres">
      <dgm:prSet presAssocID="{AA26A291-56C1-4045-B5C0-D14B4716761A}" presName="Name8" presStyleCnt="0"/>
      <dgm:spPr/>
    </dgm:pt>
    <dgm:pt modelId="{DD80ABAF-1426-49DA-B08F-01DE2DABC4DF}" type="pres">
      <dgm:prSet presAssocID="{AA26A291-56C1-4045-B5C0-D14B4716761A}" presName="level" presStyleLbl="node1" presStyleIdx="4" presStyleCnt="5">
        <dgm:presLayoutVars>
          <dgm:chMax val="1"/>
          <dgm:bulletEnabled val="1"/>
        </dgm:presLayoutVars>
      </dgm:prSet>
      <dgm:spPr/>
    </dgm:pt>
    <dgm:pt modelId="{425DA45F-E0FB-4F0E-8DDC-E9346C80FBEF}" type="pres">
      <dgm:prSet presAssocID="{AA26A291-56C1-4045-B5C0-D14B4716761A}" presName="levelTx" presStyleLbl="revTx" presStyleIdx="0" presStyleCnt="0">
        <dgm:presLayoutVars>
          <dgm:chMax val="1"/>
          <dgm:bulletEnabled val="1"/>
        </dgm:presLayoutVars>
      </dgm:prSet>
      <dgm:spPr/>
    </dgm:pt>
  </dgm:ptLst>
  <dgm:cxnLst>
    <dgm:cxn modelId="{44699A23-50E1-4DBD-8E24-7B1C8EB59B4C}" srcId="{C43375A2-559F-4D1E-899E-C721D8592A70}" destId="{CC8C9D9A-D53F-4C04-92AD-F342A3A9FF5E}" srcOrd="0" destOrd="0" parTransId="{173A4C76-6E45-41B3-AB27-9ED2781E5307}" sibTransId="{DBA457D6-3596-4DE5-9996-BDF8440E6647}"/>
    <dgm:cxn modelId="{BA1D012F-B3A3-014B-8342-866DAEB0CC11}" type="presOf" srcId="{AA26A291-56C1-4045-B5C0-D14B4716761A}" destId="{DD80ABAF-1426-49DA-B08F-01DE2DABC4DF}" srcOrd="0" destOrd="0" presId="urn:microsoft.com/office/officeart/2005/8/layout/pyramid1"/>
    <dgm:cxn modelId="{F01A5633-9D49-9243-83A3-38DF60219745}" type="presOf" srcId="{5D223AD1-A6F1-4729-A112-FC61ECD330A2}" destId="{8E7A4710-7AC5-49D1-A1D6-AA31F013CC51}" srcOrd="0" destOrd="0" presId="urn:microsoft.com/office/officeart/2005/8/layout/pyramid1"/>
    <dgm:cxn modelId="{A8B6094B-3EDE-0C42-9F9A-8AF1B913673E}" type="presOf" srcId="{CC8C9D9A-D53F-4C04-92AD-F342A3A9FF5E}" destId="{8B850E84-4DFE-453B-9CC5-6998A21C3E73}" srcOrd="1" destOrd="0" presId="urn:microsoft.com/office/officeart/2005/8/layout/pyramid1"/>
    <dgm:cxn modelId="{1707474F-B653-1D41-8902-A4A491D5009C}" type="presOf" srcId="{EA68BA54-4D86-45C5-BAC8-F28CF18B926A}" destId="{56D5EECC-9A2A-413B-B7AB-28755BAF1544}" srcOrd="1" destOrd="0" presId="urn:microsoft.com/office/officeart/2005/8/layout/pyramid1"/>
    <dgm:cxn modelId="{95076150-3352-8343-9229-C595F61AEE3E}" type="presOf" srcId="{C43375A2-559F-4D1E-899E-C721D8592A70}" destId="{3C32E861-C987-4447-9588-C96D3F2555B5}" srcOrd="0" destOrd="0" presId="urn:microsoft.com/office/officeart/2005/8/layout/pyramid1"/>
    <dgm:cxn modelId="{F7089F51-6745-488E-888F-3EA95346113C}" srcId="{C43375A2-559F-4D1E-899E-C721D8592A70}" destId="{AA26A291-56C1-4045-B5C0-D14B4716761A}" srcOrd="4" destOrd="0" parTransId="{46F5CF36-E9A5-488F-8F6C-551B6AE9311D}" sibTransId="{DD632AD5-4E6B-43DA-85E3-ADC369989319}"/>
    <dgm:cxn modelId="{13584058-BE73-4094-BE21-4AC08AE18A8C}" srcId="{C43375A2-559F-4D1E-899E-C721D8592A70}" destId="{54C9876A-DBED-413C-AAB6-F02CAFB4A4CF}" srcOrd="3" destOrd="0" parTransId="{A711CE08-7D23-4CC0-A31D-1FFBBE8ECA1D}" sibTransId="{FB8FE858-AEF5-4A73-9817-FB50C25652E9}"/>
    <dgm:cxn modelId="{00D90383-D7D1-9141-84F4-E989F08A7410}" type="presOf" srcId="{CC8C9D9A-D53F-4C04-92AD-F342A3A9FF5E}" destId="{0143486A-FBD0-4A8B-8AB2-0D199DEBC7A8}" srcOrd="0" destOrd="0" presId="urn:microsoft.com/office/officeart/2005/8/layout/pyramid1"/>
    <dgm:cxn modelId="{2B9AD585-DC2A-474D-AC99-3AD585D5C210}" type="presOf" srcId="{5D223AD1-A6F1-4729-A112-FC61ECD330A2}" destId="{C2B878FE-E022-4C93-85C4-6625CC9A6132}" srcOrd="1" destOrd="0" presId="urn:microsoft.com/office/officeart/2005/8/layout/pyramid1"/>
    <dgm:cxn modelId="{910BC092-A615-834F-95BF-FDE79AA83BAD}" type="presOf" srcId="{AA26A291-56C1-4045-B5C0-D14B4716761A}" destId="{425DA45F-E0FB-4F0E-8DDC-E9346C80FBEF}" srcOrd="1" destOrd="0" presId="urn:microsoft.com/office/officeart/2005/8/layout/pyramid1"/>
    <dgm:cxn modelId="{B06096A4-1CE2-DA4D-B9FE-9175A57386E3}" type="presOf" srcId="{54C9876A-DBED-413C-AAB6-F02CAFB4A4CF}" destId="{F578DCD1-6516-4E8F-8074-D8F5A7130F22}" srcOrd="0" destOrd="0" presId="urn:microsoft.com/office/officeart/2005/8/layout/pyramid1"/>
    <dgm:cxn modelId="{E14AF6AC-C0FC-426E-B3D9-9222D4C8FF1C}" srcId="{C43375A2-559F-4D1E-899E-C721D8592A70}" destId="{5D223AD1-A6F1-4729-A112-FC61ECD330A2}" srcOrd="1" destOrd="0" parTransId="{FD836217-E5B4-43BB-9570-F9CDD26016D0}" sibTransId="{C19114A8-3140-4F23-9ECE-A137DA9D0DA7}"/>
    <dgm:cxn modelId="{C33F51C2-80FD-C349-BDC6-7391B2E64FD5}" type="presOf" srcId="{EA68BA54-4D86-45C5-BAC8-F28CF18B926A}" destId="{EC12399E-1FFB-4B2E-A4AC-6C25A49D7FA7}" srcOrd="0" destOrd="0" presId="urn:microsoft.com/office/officeart/2005/8/layout/pyramid1"/>
    <dgm:cxn modelId="{C6A7D1D1-70D1-4759-B4DB-090C141376FB}" srcId="{C43375A2-559F-4D1E-899E-C721D8592A70}" destId="{EA68BA54-4D86-45C5-BAC8-F28CF18B926A}" srcOrd="2" destOrd="0" parTransId="{E384FAD1-DFD6-4D26-9E04-1A2EDA6851F5}" sibTransId="{A3A79E7E-F627-4AE9-AA1C-12D03A6D87D2}"/>
    <dgm:cxn modelId="{865404E2-0D7D-2D46-93C8-BFA972F4BF63}" type="presOf" srcId="{54C9876A-DBED-413C-AAB6-F02CAFB4A4CF}" destId="{68A23911-3B3F-48DE-8EA0-53768D158ADA}" srcOrd="1" destOrd="0" presId="urn:microsoft.com/office/officeart/2005/8/layout/pyramid1"/>
    <dgm:cxn modelId="{70DC90A2-8394-B645-81D5-8C82CEA317D5}" type="presParOf" srcId="{3C32E861-C987-4447-9588-C96D3F2555B5}" destId="{D36AA839-AA75-41EF-9437-0F40B153838B}" srcOrd="0" destOrd="0" presId="urn:microsoft.com/office/officeart/2005/8/layout/pyramid1"/>
    <dgm:cxn modelId="{F4529193-4323-AB4F-BC9E-4C0494F49B61}" type="presParOf" srcId="{D36AA839-AA75-41EF-9437-0F40B153838B}" destId="{0143486A-FBD0-4A8B-8AB2-0D199DEBC7A8}" srcOrd="0" destOrd="0" presId="urn:microsoft.com/office/officeart/2005/8/layout/pyramid1"/>
    <dgm:cxn modelId="{17A6D589-9B01-D344-838F-DAC3F62EB694}" type="presParOf" srcId="{D36AA839-AA75-41EF-9437-0F40B153838B}" destId="{8B850E84-4DFE-453B-9CC5-6998A21C3E73}" srcOrd="1" destOrd="0" presId="urn:microsoft.com/office/officeart/2005/8/layout/pyramid1"/>
    <dgm:cxn modelId="{07C4C41D-CD66-DB42-BC5F-86E83BEB0CAE}" type="presParOf" srcId="{3C32E861-C987-4447-9588-C96D3F2555B5}" destId="{DCAE1E55-F92D-4B77-8047-5E1DEC1EBAB2}" srcOrd="1" destOrd="0" presId="urn:microsoft.com/office/officeart/2005/8/layout/pyramid1"/>
    <dgm:cxn modelId="{E94873FA-6B0B-9C44-B017-8DCEEF03CB00}" type="presParOf" srcId="{DCAE1E55-F92D-4B77-8047-5E1DEC1EBAB2}" destId="{8E7A4710-7AC5-49D1-A1D6-AA31F013CC51}" srcOrd="0" destOrd="0" presId="urn:microsoft.com/office/officeart/2005/8/layout/pyramid1"/>
    <dgm:cxn modelId="{98DD058B-2883-1D4B-956E-F54164E19903}" type="presParOf" srcId="{DCAE1E55-F92D-4B77-8047-5E1DEC1EBAB2}" destId="{C2B878FE-E022-4C93-85C4-6625CC9A6132}" srcOrd="1" destOrd="0" presId="urn:microsoft.com/office/officeart/2005/8/layout/pyramid1"/>
    <dgm:cxn modelId="{4ECD63C2-1BCF-1645-82CF-C38C2FFEE5C1}" type="presParOf" srcId="{3C32E861-C987-4447-9588-C96D3F2555B5}" destId="{AD1C0767-C5FC-4310-AF41-BFF85425B942}" srcOrd="2" destOrd="0" presId="urn:microsoft.com/office/officeart/2005/8/layout/pyramid1"/>
    <dgm:cxn modelId="{C28ADD51-10D2-4E43-93EB-A79AE64BA714}" type="presParOf" srcId="{AD1C0767-C5FC-4310-AF41-BFF85425B942}" destId="{EC12399E-1FFB-4B2E-A4AC-6C25A49D7FA7}" srcOrd="0" destOrd="0" presId="urn:microsoft.com/office/officeart/2005/8/layout/pyramid1"/>
    <dgm:cxn modelId="{76B0C2C8-3656-F34D-9669-A759A05276D2}" type="presParOf" srcId="{AD1C0767-C5FC-4310-AF41-BFF85425B942}" destId="{56D5EECC-9A2A-413B-B7AB-28755BAF1544}" srcOrd="1" destOrd="0" presId="urn:microsoft.com/office/officeart/2005/8/layout/pyramid1"/>
    <dgm:cxn modelId="{70597B6E-256C-5944-BE2C-46550CE45803}" type="presParOf" srcId="{3C32E861-C987-4447-9588-C96D3F2555B5}" destId="{076BC4E3-8FCB-451B-9BAF-C3D9714B7D0D}" srcOrd="3" destOrd="0" presId="urn:microsoft.com/office/officeart/2005/8/layout/pyramid1"/>
    <dgm:cxn modelId="{A05458CC-F972-7D49-B61B-CD55C745D062}" type="presParOf" srcId="{076BC4E3-8FCB-451B-9BAF-C3D9714B7D0D}" destId="{F578DCD1-6516-4E8F-8074-D8F5A7130F22}" srcOrd="0" destOrd="0" presId="urn:microsoft.com/office/officeart/2005/8/layout/pyramid1"/>
    <dgm:cxn modelId="{CEFC31DB-FC28-1242-8369-852F49D70F95}" type="presParOf" srcId="{076BC4E3-8FCB-451B-9BAF-C3D9714B7D0D}" destId="{68A23911-3B3F-48DE-8EA0-53768D158ADA}" srcOrd="1" destOrd="0" presId="urn:microsoft.com/office/officeart/2005/8/layout/pyramid1"/>
    <dgm:cxn modelId="{EE511ACF-FC4E-A349-A0D4-D30E74D46044}" type="presParOf" srcId="{3C32E861-C987-4447-9588-C96D3F2555B5}" destId="{44FD5E6E-8D78-4A1B-A19F-3E0802E2E3BD}" srcOrd="4" destOrd="0" presId="urn:microsoft.com/office/officeart/2005/8/layout/pyramid1"/>
    <dgm:cxn modelId="{5576F508-C522-334A-A0B3-F18712C4BDDA}" type="presParOf" srcId="{44FD5E6E-8D78-4A1B-A19F-3E0802E2E3BD}" destId="{DD80ABAF-1426-49DA-B08F-01DE2DABC4DF}" srcOrd="0" destOrd="0" presId="urn:microsoft.com/office/officeart/2005/8/layout/pyramid1"/>
    <dgm:cxn modelId="{845988AF-D792-3641-94C1-7305EAB4EDA2}" type="presParOf" srcId="{44FD5E6E-8D78-4A1B-A19F-3E0802E2E3BD}" destId="{425DA45F-E0FB-4F0E-8DDC-E9346C80FBEF}"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3486A-FBD0-4A8B-8AB2-0D199DEBC7A8}">
      <dsp:nvSpPr>
        <dsp:cNvPr id="0" name=""/>
        <dsp:cNvSpPr/>
      </dsp:nvSpPr>
      <dsp:spPr>
        <a:xfrm>
          <a:off x="2693670" y="0"/>
          <a:ext cx="1346835" cy="944880"/>
        </a:xfrm>
        <a:prstGeom prst="trapezoid">
          <a:avLst>
            <a:gd name="adj" fmla="val 712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pt-BR" sz="2400" kern="1200" dirty="0"/>
        </a:p>
      </dsp:txBody>
      <dsp:txXfrm>
        <a:off x="2693670" y="0"/>
        <a:ext cx="1346835" cy="944880"/>
      </dsp:txXfrm>
    </dsp:sp>
    <dsp:sp modelId="{8E7A4710-7AC5-49D1-A1D6-AA31F013CC51}">
      <dsp:nvSpPr>
        <dsp:cNvPr id="0" name=""/>
        <dsp:cNvSpPr/>
      </dsp:nvSpPr>
      <dsp:spPr>
        <a:xfrm>
          <a:off x="2020252" y="944879"/>
          <a:ext cx="2693670" cy="944880"/>
        </a:xfrm>
        <a:prstGeom prst="trapezoid">
          <a:avLst>
            <a:gd name="adj" fmla="val 71270"/>
          </a:avLst>
        </a:prstGeom>
        <a:gradFill rotWithShape="0">
          <a:gsLst>
            <a:gs pos="0">
              <a:schemeClr val="accent2">
                <a:hueOff val="1170380"/>
                <a:satOff val="-1460"/>
                <a:lumOff val="343"/>
                <a:alphaOff val="0"/>
                <a:shade val="51000"/>
                <a:satMod val="130000"/>
              </a:schemeClr>
            </a:gs>
            <a:gs pos="80000">
              <a:schemeClr val="accent2">
                <a:hueOff val="1170380"/>
                <a:satOff val="-1460"/>
                <a:lumOff val="343"/>
                <a:alphaOff val="0"/>
                <a:shade val="93000"/>
                <a:satMod val="130000"/>
              </a:schemeClr>
            </a:gs>
            <a:gs pos="100000">
              <a:schemeClr val="accent2">
                <a:hueOff val="1170380"/>
                <a:satOff val="-1460"/>
                <a:lumOff val="34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pt-BR" sz="2400" kern="1200" dirty="0"/>
            <a:t>Registradores</a:t>
          </a:r>
        </a:p>
      </dsp:txBody>
      <dsp:txXfrm>
        <a:off x="2491644" y="944879"/>
        <a:ext cx="1750885" cy="944880"/>
      </dsp:txXfrm>
    </dsp:sp>
    <dsp:sp modelId="{EC12399E-1FFB-4B2E-A4AC-6C25A49D7FA7}">
      <dsp:nvSpPr>
        <dsp:cNvPr id="0" name=""/>
        <dsp:cNvSpPr/>
      </dsp:nvSpPr>
      <dsp:spPr>
        <a:xfrm>
          <a:off x="1346835" y="1889759"/>
          <a:ext cx="4040505" cy="944880"/>
        </a:xfrm>
        <a:prstGeom prst="trapezoid">
          <a:avLst>
            <a:gd name="adj" fmla="val 71270"/>
          </a:avLst>
        </a:prstGeom>
        <a:gradFill rotWithShape="0">
          <a:gsLst>
            <a:gs pos="0">
              <a:schemeClr val="accent2">
                <a:hueOff val="2340760"/>
                <a:satOff val="-2919"/>
                <a:lumOff val="686"/>
                <a:alphaOff val="0"/>
                <a:shade val="51000"/>
                <a:satMod val="130000"/>
              </a:schemeClr>
            </a:gs>
            <a:gs pos="80000">
              <a:schemeClr val="accent2">
                <a:hueOff val="2340760"/>
                <a:satOff val="-2919"/>
                <a:lumOff val="686"/>
                <a:alphaOff val="0"/>
                <a:shade val="93000"/>
                <a:satMod val="130000"/>
              </a:schemeClr>
            </a:gs>
            <a:gs pos="100000">
              <a:schemeClr val="accent2">
                <a:hueOff val="2340760"/>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pt-BR" sz="2400" kern="1200"/>
            <a:t>Memória </a:t>
          </a:r>
          <a:r>
            <a:rPr lang="pt-BR" sz="2400" kern="1200" dirty="0"/>
            <a:t>Cache</a:t>
          </a:r>
        </a:p>
      </dsp:txBody>
      <dsp:txXfrm>
        <a:off x="2053923" y="1889759"/>
        <a:ext cx="2626328" cy="944880"/>
      </dsp:txXfrm>
    </dsp:sp>
    <dsp:sp modelId="{F578DCD1-6516-4E8F-8074-D8F5A7130F22}">
      <dsp:nvSpPr>
        <dsp:cNvPr id="0" name=""/>
        <dsp:cNvSpPr/>
      </dsp:nvSpPr>
      <dsp:spPr>
        <a:xfrm>
          <a:off x="673417" y="2834640"/>
          <a:ext cx="5387340" cy="944880"/>
        </a:xfrm>
        <a:prstGeom prst="trapezoid">
          <a:avLst>
            <a:gd name="adj" fmla="val 71270"/>
          </a:avLst>
        </a:prstGeom>
        <a:gradFill rotWithShape="0">
          <a:gsLst>
            <a:gs pos="0">
              <a:schemeClr val="accent2">
                <a:hueOff val="3511140"/>
                <a:satOff val="-4379"/>
                <a:lumOff val="1030"/>
                <a:alphaOff val="0"/>
                <a:shade val="51000"/>
                <a:satMod val="130000"/>
              </a:schemeClr>
            </a:gs>
            <a:gs pos="80000">
              <a:schemeClr val="accent2">
                <a:hueOff val="3511140"/>
                <a:satOff val="-4379"/>
                <a:lumOff val="1030"/>
                <a:alphaOff val="0"/>
                <a:shade val="93000"/>
                <a:satMod val="130000"/>
              </a:schemeClr>
            </a:gs>
            <a:gs pos="100000">
              <a:schemeClr val="accent2">
                <a:hueOff val="3511140"/>
                <a:satOff val="-4379"/>
                <a:lumOff val="103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pt-BR" sz="2400" kern="1200" dirty="0"/>
            <a:t>Memória RAM</a:t>
          </a:r>
        </a:p>
      </dsp:txBody>
      <dsp:txXfrm>
        <a:off x="1616201" y="2834640"/>
        <a:ext cx="3501771" cy="944880"/>
      </dsp:txXfrm>
    </dsp:sp>
    <dsp:sp modelId="{DD80ABAF-1426-49DA-B08F-01DE2DABC4DF}">
      <dsp:nvSpPr>
        <dsp:cNvPr id="0" name=""/>
        <dsp:cNvSpPr/>
      </dsp:nvSpPr>
      <dsp:spPr>
        <a:xfrm>
          <a:off x="0" y="3779519"/>
          <a:ext cx="6734175" cy="944880"/>
        </a:xfrm>
        <a:prstGeom prst="trapezoid">
          <a:avLst>
            <a:gd name="adj" fmla="val 71270"/>
          </a:avLst>
        </a:prstGeom>
        <a:gradFill rotWithShape="0">
          <a:gsLst>
            <a:gs pos="0">
              <a:schemeClr val="accent2">
                <a:hueOff val="4681520"/>
                <a:satOff val="-5839"/>
                <a:lumOff val="1373"/>
                <a:alphaOff val="0"/>
                <a:shade val="51000"/>
                <a:satMod val="130000"/>
              </a:schemeClr>
            </a:gs>
            <a:gs pos="80000">
              <a:schemeClr val="accent2">
                <a:hueOff val="4681520"/>
                <a:satOff val="-5839"/>
                <a:lumOff val="1373"/>
                <a:alphaOff val="0"/>
                <a:shade val="93000"/>
                <a:satMod val="130000"/>
              </a:schemeClr>
            </a:gs>
            <a:gs pos="100000">
              <a:schemeClr val="accent2">
                <a:hueOff val="4681520"/>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pt-BR" sz="2400" kern="1200" dirty="0"/>
            <a:t>Memória Secundária</a:t>
          </a:r>
        </a:p>
      </dsp:txBody>
      <dsp:txXfrm>
        <a:off x="1178480" y="3779519"/>
        <a:ext cx="4377213" cy="94488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B2933F-D0FD-7240-A363-4A10A64C6792}" type="datetimeFigureOut">
              <a:rPr lang="en-US" smtClean="0"/>
              <a:t>9/14/26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25F2C9-07E4-FF4F-8189-CD4ED964D9B5}" type="slidenum">
              <a:rPr lang="en-US" smtClean="0"/>
              <a:t>‹#›</a:t>
            </a:fld>
            <a:endParaRPr lang="en-US"/>
          </a:p>
        </p:txBody>
      </p:sp>
    </p:spTree>
    <p:extLst>
      <p:ext uri="{BB962C8B-B14F-4D97-AF65-F5344CB8AC3E}">
        <p14:creationId xmlns:p14="http://schemas.microsoft.com/office/powerpoint/2010/main" val="32630128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9F3387-6852-4167-A065-1B417E5289FE}" type="datetimeFigureOut">
              <a:rPr lang="pt-BR" smtClean="0"/>
              <a:t>14/09/2026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3FB91E-A0DC-4A5F-B463-D7B8E79502D1}" type="slidenum">
              <a:rPr lang="pt-BR" smtClean="0"/>
              <a:t>‹#›</a:t>
            </a:fld>
            <a:endParaRPr lang="pt-BR"/>
          </a:p>
        </p:txBody>
      </p:sp>
    </p:spTree>
    <p:extLst>
      <p:ext uri="{BB962C8B-B14F-4D97-AF65-F5344CB8AC3E}">
        <p14:creationId xmlns:p14="http://schemas.microsoft.com/office/powerpoint/2010/main" val="2581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electronics-tutorials.ws/waveforms/generators.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www.slideshare.net/raiuniversity/b-sc-cs-i-bode-uiv-sequential-circuit"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Ola</a:t>
            </a:r>
            <a:r>
              <a:rPr lang="pt-BR" dirty="0"/>
              <a:t>, bem vindos a mais uma aula preparatória,</a:t>
            </a:r>
            <a:r>
              <a:rPr lang="pt-BR" baseline="0" dirty="0"/>
              <a:t> dessa vez para o assunto de lógica sequencial.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a:t>
            </a:fld>
            <a:endParaRPr lang="pt-BR"/>
          </a:p>
        </p:txBody>
      </p:sp>
    </p:spTree>
    <p:extLst>
      <p:ext uri="{BB962C8B-B14F-4D97-AF65-F5344CB8AC3E}">
        <p14:creationId xmlns:p14="http://schemas.microsoft.com/office/powerpoint/2010/main" val="3034910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Vamos iniciar falando do </a:t>
            </a:r>
            <a:r>
              <a:rPr lang="pt-BR" dirty="0" err="1"/>
              <a:t>Colossus</a:t>
            </a:r>
            <a:r>
              <a:rPr lang="pt-BR" dirty="0"/>
              <a:t>, também chamado de Mark I.</a:t>
            </a:r>
            <a:r>
              <a:rPr lang="pt-BR" baseline="0" dirty="0"/>
              <a:t> Ele </a:t>
            </a:r>
            <a:r>
              <a:rPr lang="pt-BR" dirty="0"/>
              <a:t>foi um </a:t>
            </a:r>
            <a:r>
              <a:rPr lang="pt-BR" baseline="0" dirty="0"/>
              <a:t>computador criado durante a segunda guerra mundial no reino unido, ele começou a ser construído em 1943 e a operar em 1944. Uma </a:t>
            </a:r>
            <a:r>
              <a:rPr lang="pt-BR" baseline="0" dirty="0" err="1"/>
              <a:t>característa</a:t>
            </a:r>
            <a:r>
              <a:rPr lang="pt-BR" baseline="0" dirty="0"/>
              <a:t> importante desse computador é que ele podia ser programado e reprogramado para decifrar as mensagens nazistas. Essa flexibilidade de programação foi revolucionária. O computador usava um mecanismo de memória chamado de flip-flops, que foi desenvolvido muitos anos antes pelos professores </a:t>
            </a:r>
            <a:r>
              <a:rPr lang="pt-BR" sz="1200" dirty="0"/>
              <a:t>William Henry Eccles e Frank </a:t>
            </a:r>
            <a:r>
              <a:rPr lang="pt-BR" sz="1200" dirty="0" err="1"/>
              <a:t>Wilfred</a:t>
            </a:r>
            <a:r>
              <a:rPr lang="pt-BR" sz="1200" dirty="0"/>
              <a:t> Jordan. O</a:t>
            </a:r>
            <a:r>
              <a:rPr lang="pt-BR" sz="1200" baseline="0" dirty="0"/>
              <a:t> computador foi desmontado após o fim da guerra, o que fez ele ficar desconhecido durante muito tempo e não aparecer nos livros de história.</a:t>
            </a:r>
            <a:endParaRPr lang="pt-BR" dirty="0"/>
          </a:p>
          <a:p>
            <a:endParaRPr lang="pt-BR" dirty="0"/>
          </a:p>
          <a:p>
            <a:r>
              <a:rPr lang="pt-BR" dirty="0" err="1"/>
              <a:t>http</a:t>
            </a:r>
            <a:r>
              <a:rPr lang="pt-BR" dirty="0"/>
              <a:t>://</a:t>
            </a:r>
            <a:r>
              <a:rPr lang="pt-BR" dirty="0" err="1"/>
              <a:t>www.britannica.com</a:t>
            </a:r>
            <a:r>
              <a:rPr lang="pt-BR" dirty="0"/>
              <a:t>/</a:t>
            </a:r>
            <a:r>
              <a:rPr lang="pt-BR" dirty="0" err="1"/>
              <a:t>technology</a:t>
            </a:r>
            <a:r>
              <a:rPr lang="pt-BR" dirty="0"/>
              <a:t>/</a:t>
            </a:r>
            <a:r>
              <a:rPr lang="pt-BR" dirty="0" err="1"/>
              <a:t>computer</a:t>
            </a:r>
            <a:r>
              <a:rPr lang="pt-BR" dirty="0"/>
              <a:t>/</a:t>
            </a:r>
            <a:r>
              <a:rPr lang="pt-BR" dirty="0" err="1"/>
              <a:t>images-videos</a:t>
            </a:r>
            <a:r>
              <a:rPr lang="pt-BR" dirty="0"/>
              <a:t>/The-Colossus-computer-at-Bletchley-Park-Buckinghamshire-England-1943/19626</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a:t>
            </a:r>
            <a:r>
              <a:rPr lang="en-US" dirty="0" err="1"/>
              <a:t>www.computerhistory.org</a:t>
            </a:r>
            <a:r>
              <a:rPr lang="en-US" dirty="0"/>
              <a:t>/revolution/digital-logic/12/269</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https</a:t>
            </a:r>
            <a:r>
              <a:rPr lang="pt-BR" dirty="0"/>
              <a:t>://</a:t>
            </a:r>
            <a:r>
              <a:rPr lang="pt-BR" dirty="0" err="1"/>
              <a:t>en.wikipedia.org</a:t>
            </a:r>
            <a:r>
              <a:rPr lang="pt-BR" dirty="0"/>
              <a:t>/</a:t>
            </a:r>
            <a:r>
              <a:rPr lang="pt-BR" dirty="0" err="1"/>
              <a:t>wiki</a:t>
            </a:r>
            <a:r>
              <a:rPr lang="pt-BR" dirty="0"/>
              <a:t>/Flip-flop_(</a:t>
            </a:r>
            <a:r>
              <a:rPr lang="pt-BR" dirty="0" err="1"/>
              <a:t>electronics</a:t>
            </a:r>
            <a:r>
              <a:rPr lang="pt-BR" dirty="0"/>
              <a:t>)</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a:t>
            </a:fld>
            <a:endParaRPr lang="pt-BR"/>
          </a:p>
        </p:txBody>
      </p:sp>
    </p:spTree>
    <p:extLst>
      <p:ext uri="{BB962C8B-B14F-4D97-AF65-F5344CB8AC3E}">
        <p14:creationId xmlns:p14="http://schemas.microsoft.com/office/powerpoint/2010/main" val="3607992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Antes de falarmos dos dispositivos de lógica sequencial, vamos falar dos sinais de clock. O sinais</a:t>
            </a:r>
            <a:r>
              <a:rPr lang="pt-BR" sz="1200" baseline="0" dirty="0"/>
              <a:t> de </a:t>
            </a:r>
            <a:r>
              <a:rPr lang="pt-BR" sz="1200" baseline="0" dirty="0" err="1"/>
              <a:t>clock</a:t>
            </a:r>
            <a:r>
              <a:rPr lang="pt-BR" sz="1200" baseline="0" dirty="0"/>
              <a:t> dão o passo para o computador, como os circuitos tem alguns atrasos de propagação o clock é definido para que os circuitos estabilizem seus sinais para ir executando as suas operações. AVANCAR. Os sinais de clock são ondas quadrada, geralmente simétricas (AVANCAR) que oscilam entre um sinal baixo, e um sinal alto. Dois pontos importantes para observar são as bordas de subida, que é o momento que o sinal sai do nível baixo para o alto. (AVANCAR) e a borda de descida, que é o momento que o sinal muda de nível alto para baixo. (AVANCAR) O ciclo é então a subida e descida de um sinal por exemplo, (AVANÇAR) e inverso do o período de tempo de um ciclo é a frequência do clock.</a:t>
            </a:r>
            <a:endParaRPr lang="pt-BR" sz="1200" dirty="0"/>
          </a:p>
          <a:p>
            <a:endParaRPr lang="pt-BR" sz="1200" baseline="0" dirty="0"/>
          </a:p>
          <a:p>
            <a:r>
              <a:rPr lang="pt-BR" dirty="0"/>
              <a:t>Lógicas combinacionais tem problemas para os loops de feedback, enquanto com </a:t>
            </a:r>
            <a:r>
              <a:rPr lang="pt-BR" dirty="0" err="1"/>
              <a:t>clocks</a:t>
            </a:r>
            <a:r>
              <a:rPr lang="pt-BR" dirty="0"/>
              <a:t> ( não ).</a:t>
            </a:r>
          </a:p>
          <a:p>
            <a:r>
              <a:rPr lang="pt-BR" dirty="0"/>
              <a:t>Falar latência e um circuito com entradas defasadas.</a:t>
            </a:r>
          </a:p>
          <a:p>
            <a:r>
              <a:rPr lang="pt-BR" dirty="0"/>
              <a:t>Clock maior que a latência, atraso de um sinal.</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Para o correto funcionamento CPU, a metodologia sincronização dos módulos é baseada em bordas (de subida ou descida) do clock. Senão um leitura pode ser feita enquanto um dado ainda não estiver pronto.</a:t>
            </a:r>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slideplayer.com.br</a:t>
            </a:r>
            <a:r>
              <a:rPr lang="pt-BR" dirty="0"/>
              <a:t>/slide/370185/</a:t>
            </a:r>
          </a:p>
          <a:p>
            <a:r>
              <a:rPr lang="pt-BR" dirty="0" err="1"/>
              <a:t>http</a:t>
            </a:r>
            <a:r>
              <a:rPr lang="pt-BR" dirty="0"/>
              <a:t>://</a:t>
            </a:r>
            <a:r>
              <a:rPr lang="pt-BR" dirty="0" err="1"/>
              <a:t>www.plantation-productions.com</a:t>
            </a:r>
            <a:r>
              <a:rPr lang="pt-BR" dirty="0"/>
              <a:t>/</a:t>
            </a:r>
            <a:r>
              <a:rPr lang="pt-BR" dirty="0" err="1"/>
              <a:t>Webster</a:t>
            </a:r>
            <a:r>
              <a:rPr lang="pt-BR" dirty="0"/>
              <a:t>/</a:t>
            </a:r>
            <a:r>
              <a:rPr lang="pt-BR" dirty="0" err="1"/>
              <a:t>www.artofasm.com</a:t>
            </a:r>
            <a:r>
              <a:rPr lang="pt-BR" dirty="0"/>
              <a:t>/Linux/HTML/SystemOrganizationa4.html</a:t>
            </a:r>
          </a:p>
          <a:p>
            <a:r>
              <a:rPr lang="pt-BR" dirty="0" err="1"/>
              <a:t>http</a:t>
            </a:r>
            <a:r>
              <a:rPr lang="pt-BR" dirty="0"/>
              <a:t>://</a:t>
            </a:r>
            <a:r>
              <a:rPr lang="pt-BR" dirty="0" err="1"/>
              <a:t>www.gitam.edu</a:t>
            </a:r>
            <a:r>
              <a:rPr lang="pt-BR" dirty="0"/>
              <a:t>/</a:t>
            </a:r>
            <a:r>
              <a:rPr lang="pt-BR" dirty="0" err="1"/>
              <a:t>eresource</a:t>
            </a:r>
            <a:r>
              <a:rPr lang="pt-BR" dirty="0"/>
              <a:t>/</a:t>
            </a:r>
            <a:r>
              <a:rPr lang="pt-BR" dirty="0" err="1"/>
              <a:t>comp</a:t>
            </a:r>
            <a:r>
              <a:rPr lang="pt-BR" dirty="0"/>
              <a:t>/</a:t>
            </a:r>
            <a:r>
              <a:rPr lang="pt-BR" dirty="0" err="1"/>
              <a:t>gvr</a:t>
            </a:r>
            <a:r>
              <a:rPr lang="pt-BR" dirty="0"/>
              <a:t>/6.1.htm</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3</a:t>
            </a:fld>
            <a:endParaRPr lang="pt-BR"/>
          </a:p>
        </p:txBody>
      </p:sp>
    </p:spTree>
    <p:extLst>
      <p:ext uri="{BB962C8B-B14F-4D97-AF65-F5344CB8AC3E}">
        <p14:creationId xmlns:p14="http://schemas.microsoft.com/office/powerpoint/2010/main" val="1927397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Para gerar os sinais de clock usamos osciladores. Temos os </a:t>
            </a:r>
            <a:r>
              <a:rPr lang="pt-BR" sz="1200" dirty="0" err="1"/>
              <a:t>multivibradores</a:t>
            </a:r>
            <a:r>
              <a:rPr lang="pt-BR" sz="1200" dirty="0"/>
              <a:t> </a:t>
            </a:r>
            <a:r>
              <a:rPr lang="pt-BR" sz="1200" dirty="0" err="1"/>
              <a:t>astáveis</a:t>
            </a:r>
            <a:r>
              <a:rPr lang="pt-BR" sz="1200" dirty="0"/>
              <a:t> que são circuitos eletrônicos que tem dois estados que ficam comutando. O período</a:t>
            </a:r>
            <a:r>
              <a:rPr lang="pt-BR" sz="1200" baseline="0" dirty="0"/>
              <a:t> de </a:t>
            </a:r>
            <a:r>
              <a:rPr lang="pt-BR" sz="1200" dirty="0"/>
              <a:t>tempo para cada fase é controlado pelos</a:t>
            </a:r>
            <a:r>
              <a:rPr lang="pt-BR" sz="1200" baseline="0" dirty="0"/>
              <a:t> valores dos </a:t>
            </a:r>
            <a:r>
              <a:rPr lang="pt-BR" sz="1200" dirty="0"/>
              <a:t>capacitores e resistências conectados no circuito. Temos também os cristais de quartzo, que são materiais piezo-eletrônicos que vibram em frequências muito precisas. Muitas vezes são usados multiplicadores de frequência para se conseguir o valor adequado para o circuito implementado.</a:t>
            </a:r>
          </a:p>
          <a:p>
            <a:r>
              <a:rPr lang="pt-BR" dirty="0"/>
              <a:t>AVANÇAR</a:t>
            </a:r>
          </a:p>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O </a:t>
            </a:r>
            <a:r>
              <a:rPr lang="pt-BR" sz="1200" dirty="0" err="1"/>
              <a:t>Arduino</a:t>
            </a:r>
            <a:r>
              <a:rPr lang="pt-BR" sz="1200" dirty="0"/>
              <a:t> Uno possui um cristal de 16MHz (AVANÇAR) para controlar o  </a:t>
            </a:r>
            <a:r>
              <a:rPr lang="pt-BR" sz="1200" dirty="0" err="1"/>
              <a:t>microcontrolador</a:t>
            </a:r>
            <a:r>
              <a:rPr lang="pt-BR" sz="1200" dirty="0"/>
              <a:t> ATmega328P presente</a:t>
            </a:r>
            <a:r>
              <a:rPr lang="pt-BR" sz="1200" baseline="0" dirty="0"/>
              <a:t> na placa</a:t>
            </a:r>
            <a:r>
              <a:rPr lang="pt-BR" sz="1200" dirty="0"/>
              <a:t>, esse cristal tem uma precisão de 100</a:t>
            </a:r>
            <a:r>
              <a:rPr lang="pt-BR" sz="1200" baseline="0" dirty="0"/>
              <a:t> </a:t>
            </a:r>
            <a:r>
              <a:rPr lang="pt-BR" sz="1200" dirty="0"/>
              <a:t>ciclos por milhão, ou seja, algo como um erro de</a:t>
            </a:r>
            <a:r>
              <a:rPr lang="pt-BR" sz="1200" baseline="0" dirty="0"/>
              <a:t> </a:t>
            </a:r>
            <a:r>
              <a:rPr lang="pt-BR" sz="1200" dirty="0"/>
              <a:t>30 segundos num ano.</a:t>
            </a:r>
          </a:p>
          <a:p>
            <a:endParaRPr lang="pt-BR" dirty="0"/>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http://www.electronics-tutorials.ws/waveforms/generators.html</a:t>
            </a:r>
            <a:endParaRPr lang="pt-BR" dirty="0"/>
          </a:p>
          <a:p>
            <a:r>
              <a:rPr lang="pt-BR" dirty="0" err="1"/>
              <a:t>https</a:t>
            </a:r>
            <a:r>
              <a:rPr lang="pt-BR" dirty="0"/>
              <a:t>://</a:t>
            </a:r>
            <a:r>
              <a:rPr lang="pt-BR" dirty="0" err="1"/>
              <a:t>en.wikipedia.org</a:t>
            </a:r>
            <a:r>
              <a:rPr lang="pt-BR" dirty="0"/>
              <a:t>/</a:t>
            </a:r>
            <a:r>
              <a:rPr lang="pt-BR" dirty="0" err="1"/>
              <a:t>wiki</a:t>
            </a:r>
            <a:r>
              <a:rPr lang="pt-BR" dirty="0"/>
              <a:t>/</a:t>
            </a:r>
            <a:r>
              <a:rPr lang="pt-BR" dirty="0" err="1"/>
              <a:t>Frequency_multiplier</a:t>
            </a:r>
            <a:endParaRPr lang="pt-BR" dirty="0"/>
          </a:p>
          <a:p>
            <a:r>
              <a:rPr lang="pt-BR" dirty="0" err="1"/>
              <a:t>http</a:t>
            </a:r>
            <a:r>
              <a:rPr lang="pt-BR" dirty="0"/>
              <a:t>://</a:t>
            </a:r>
            <a:r>
              <a:rPr lang="pt-BR" dirty="0" err="1"/>
              <a:t>superuser.com</a:t>
            </a:r>
            <a:r>
              <a:rPr lang="pt-BR" dirty="0"/>
              <a:t>/</a:t>
            </a:r>
            <a:r>
              <a:rPr lang="pt-BR" dirty="0" err="1"/>
              <a:t>questions</a:t>
            </a:r>
            <a:r>
              <a:rPr lang="pt-BR" dirty="0"/>
              <a:t>/585930/</a:t>
            </a:r>
            <a:r>
              <a:rPr lang="pt-BR" dirty="0" err="1"/>
              <a:t>what</a:t>
            </a:r>
            <a:r>
              <a:rPr lang="pt-BR" dirty="0"/>
              <a:t>-</a:t>
            </a:r>
            <a:r>
              <a:rPr lang="pt-BR" dirty="0" err="1"/>
              <a:t>controls</a:t>
            </a:r>
            <a:r>
              <a:rPr lang="pt-BR" dirty="0"/>
              <a:t>-</a:t>
            </a:r>
            <a:r>
              <a:rPr lang="pt-BR" dirty="0" err="1"/>
              <a:t>the</a:t>
            </a:r>
            <a:r>
              <a:rPr lang="pt-BR" dirty="0"/>
              <a:t>-</a:t>
            </a:r>
            <a:r>
              <a:rPr lang="pt-BR" dirty="0" err="1"/>
              <a:t>cpu</a:t>
            </a:r>
            <a:r>
              <a:rPr lang="pt-BR" dirty="0"/>
              <a:t>-clock-</a:t>
            </a:r>
            <a:r>
              <a:rPr lang="pt-BR" dirty="0" err="1"/>
              <a:t>speed</a:t>
            </a:r>
            <a:r>
              <a:rPr lang="pt-BR" dirty="0"/>
              <a:t>-bus-</a:t>
            </a:r>
            <a:r>
              <a:rPr lang="pt-BR" dirty="0" err="1"/>
              <a:t>speed</a:t>
            </a:r>
            <a:endParaRPr lang="pt-BR" dirty="0"/>
          </a:p>
          <a:p>
            <a:r>
              <a:rPr lang="pt-BR" dirty="0" err="1"/>
              <a:t>https</a:t>
            </a:r>
            <a:r>
              <a:rPr lang="pt-BR" dirty="0"/>
              <a:t>://</a:t>
            </a:r>
            <a:r>
              <a:rPr lang="pt-BR" dirty="0" err="1"/>
              <a:t>hifiduino.wordpress.com</a:t>
            </a:r>
            <a:r>
              <a:rPr lang="pt-BR" dirty="0"/>
              <a:t>/2012/05/26/33-8688-mhz-oscillator-discrete-choice/</a:t>
            </a:r>
          </a:p>
          <a:p>
            <a:r>
              <a:rPr lang="pt-BR" dirty="0" err="1"/>
              <a:t>http</a:t>
            </a:r>
            <a:r>
              <a:rPr lang="pt-BR" dirty="0"/>
              <a:t>://</a:t>
            </a:r>
            <a:r>
              <a:rPr lang="pt-BR" dirty="0" err="1"/>
              <a:t>txccrystal.com</a:t>
            </a:r>
            <a:r>
              <a:rPr lang="pt-BR" dirty="0"/>
              <a:t>/</a:t>
            </a:r>
            <a:r>
              <a:rPr lang="pt-BR" dirty="0" err="1"/>
              <a:t>term.html</a:t>
            </a:r>
            <a:endParaRPr lang="pt-BR" dirty="0"/>
          </a:p>
          <a:p>
            <a:r>
              <a:rPr lang="pt-BR" dirty="0" err="1"/>
              <a:t>http</a:t>
            </a:r>
            <a:r>
              <a:rPr lang="pt-BR" dirty="0"/>
              <a:t>://</a:t>
            </a:r>
            <a:r>
              <a:rPr lang="pt-BR" dirty="0" err="1"/>
              <a:t>dailylearningnotes.blogspot.com.br</a:t>
            </a:r>
            <a:r>
              <a:rPr lang="pt-BR" dirty="0"/>
              <a:t>/2010/03/</a:t>
            </a:r>
            <a:r>
              <a:rPr lang="pt-BR" dirty="0" err="1"/>
              <a:t>arduino-components-crystal-oscillator.html</a:t>
            </a:r>
            <a:endParaRPr lang="pt-BR" dirty="0"/>
          </a:p>
          <a:p>
            <a:r>
              <a:rPr lang="pt-BR" dirty="0" err="1"/>
              <a:t>https</a:t>
            </a:r>
            <a:r>
              <a:rPr lang="pt-BR" dirty="0"/>
              <a:t>://</a:t>
            </a:r>
            <a:r>
              <a:rPr lang="pt-BR" dirty="0" err="1"/>
              <a:t>solarbotics.com</a:t>
            </a:r>
            <a:r>
              <a:rPr lang="pt-BR" dirty="0"/>
              <a:t>/</a:t>
            </a:r>
            <a:r>
              <a:rPr lang="pt-BR" dirty="0" err="1"/>
              <a:t>product</a:t>
            </a:r>
            <a:r>
              <a:rPr lang="pt-BR" dirty="0"/>
              <a:t>/50450/</a:t>
            </a:r>
          </a:p>
          <a:p>
            <a:r>
              <a:rPr lang="pt-BR" dirty="0" err="1"/>
              <a:t>https</a:t>
            </a:r>
            <a:r>
              <a:rPr lang="pt-BR" dirty="0"/>
              <a:t>://</a:t>
            </a:r>
            <a:r>
              <a:rPr lang="pt-BR" dirty="0" err="1"/>
              <a:t>pt.wikipedia.org</a:t>
            </a:r>
            <a:r>
              <a:rPr lang="pt-BR" dirty="0"/>
              <a:t>/</a:t>
            </a:r>
            <a:r>
              <a:rPr lang="pt-BR" dirty="0" err="1"/>
              <a:t>wiki</a:t>
            </a:r>
            <a:r>
              <a:rPr lang="pt-BR" dirty="0"/>
              <a:t>/</a:t>
            </a:r>
            <a:r>
              <a:rPr lang="pt-BR" dirty="0" err="1"/>
              <a:t>Oscilador_de_cristal</a:t>
            </a:r>
            <a:endParaRPr lang="pt-BR" dirty="0"/>
          </a:p>
          <a:p>
            <a:r>
              <a:rPr lang="pt-BR" dirty="0" err="1"/>
              <a:t>https</a:t>
            </a:r>
            <a:r>
              <a:rPr lang="pt-BR" dirty="0"/>
              <a:t>://</a:t>
            </a:r>
            <a:r>
              <a:rPr lang="pt-BR" dirty="0" err="1"/>
              <a:t>en.wikipedia.org</a:t>
            </a:r>
            <a:r>
              <a:rPr lang="pt-BR" dirty="0"/>
              <a:t>/</a:t>
            </a:r>
            <a:r>
              <a:rPr lang="pt-BR" dirty="0" err="1"/>
              <a:t>wiki</a:t>
            </a:r>
            <a:r>
              <a:rPr lang="pt-BR" dirty="0"/>
              <a:t>/</a:t>
            </a:r>
            <a:r>
              <a:rPr lang="pt-BR" dirty="0" err="1"/>
              <a:t>Clock_signal</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4</a:t>
            </a:fld>
            <a:endParaRPr lang="pt-BR"/>
          </a:p>
        </p:txBody>
      </p:sp>
    </p:spTree>
    <p:extLst>
      <p:ext uri="{BB962C8B-B14F-4D97-AF65-F5344CB8AC3E}">
        <p14:creationId xmlns:p14="http://schemas.microsoft.com/office/powerpoint/2010/main" val="170465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b="1" dirty="0">
                <a:solidFill>
                  <a:srgbClr val="FF0000"/>
                </a:solidFill>
              </a:rPr>
              <a:t>Até o momento só usamos Lógicas </a:t>
            </a:r>
            <a:r>
              <a:rPr lang="pt-BR" b="1" dirty="0" err="1">
                <a:solidFill>
                  <a:srgbClr val="FF0000"/>
                </a:solidFill>
              </a:rPr>
              <a:t>Combinacionais</a:t>
            </a:r>
            <a:r>
              <a:rPr lang="pt-BR" b="1" dirty="0">
                <a:solidFill>
                  <a:srgbClr val="FF0000"/>
                </a:solidFill>
              </a:rPr>
              <a:t>.</a:t>
            </a:r>
            <a:r>
              <a:rPr lang="pt-BR" b="1" baseline="0" dirty="0">
                <a:solidFill>
                  <a:srgbClr val="FF0000"/>
                </a:solidFill>
              </a:rPr>
              <a:t> Nessas lógicas </a:t>
            </a:r>
            <a:r>
              <a:rPr lang="pt-BR" dirty="0"/>
              <a:t>uma tabela verdade define bem a saída</a:t>
            </a:r>
            <a:r>
              <a:rPr lang="pt-BR" baseline="0" dirty="0"/>
              <a:t> de um circuito</a:t>
            </a:r>
            <a:r>
              <a:rPr lang="pt-BR" dirty="0"/>
              <a:t>. Por exemplo, podemos dizer que ao se colocar os sinais nas entradas de uma unidade lógica aritmética temos quase que instantaneamente uma</a:t>
            </a:r>
            <a:r>
              <a:rPr lang="pt-BR" baseline="0" dirty="0"/>
              <a:t> saída válida e independente dos sinais que estavam anteriormente no circuito.</a:t>
            </a:r>
            <a:r>
              <a:rPr lang="pt-BR" dirty="0"/>
              <a:t> (AVANÇAR) Já na lógica sequencial o estado anterior das entradas influencia na saída, ou seja, essa lógica possui uma memória. E é justamente essa característica de memória de</a:t>
            </a:r>
            <a:r>
              <a:rPr lang="pt-BR" baseline="0" dirty="0"/>
              <a:t> estados anteriores que nos interessa. Podemos por exemplo armazenar valores para usar posteriormente.</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b="1" dirty="0">
              <a:solidFill>
                <a:srgbClr val="FF0000"/>
              </a:solidFill>
            </a:endParaRPr>
          </a:p>
          <a:p>
            <a:endParaRPr lang="pt-BR" dirty="0"/>
          </a:p>
          <a:p>
            <a:r>
              <a:rPr lang="pt-BR" dirty="0" err="1"/>
              <a:t>http</a:t>
            </a:r>
            <a:r>
              <a:rPr lang="pt-BR" dirty="0"/>
              <a:t>://</a:t>
            </a:r>
            <a:r>
              <a:rPr lang="pt-BR" dirty="0" err="1"/>
              <a:t>www.inf.pucrs.br</a:t>
            </a:r>
            <a:r>
              <a:rPr lang="pt-BR" dirty="0"/>
              <a:t>/~</a:t>
            </a:r>
            <a:r>
              <a:rPr lang="pt-BR" dirty="0" err="1"/>
              <a:t>emoreno</a:t>
            </a:r>
            <a:r>
              <a:rPr lang="pt-BR" dirty="0"/>
              <a:t>/</a:t>
            </a:r>
            <a:r>
              <a:rPr lang="pt-BR" dirty="0" err="1"/>
              <a:t>undergraduate</a:t>
            </a:r>
            <a:r>
              <a:rPr lang="pt-BR" dirty="0"/>
              <a:t>/SI/</a:t>
            </a:r>
            <a:r>
              <a:rPr lang="pt-BR" dirty="0" err="1"/>
              <a:t>orgarq</a:t>
            </a:r>
            <a:r>
              <a:rPr lang="pt-BR" dirty="0"/>
              <a:t>/</a:t>
            </a:r>
            <a:r>
              <a:rPr lang="pt-BR" dirty="0" err="1"/>
              <a:t>class_files</a:t>
            </a:r>
            <a:r>
              <a:rPr lang="pt-BR" dirty="0"/>
              <a:t>/Aula06.pdf</a:t>
            </a:r>
          </a:p>
          <a:p>
            <a:endParaRPr lang="pt-BR" dirty="0"/>
          </a:p>
          <a:p>
            <a:r>
              <a:rPr lang="pt-BR" dirty="0" err="1"/>
              <a:t>http</a:t>
            </a:r>
            <a:r>
              <a:rPr lang="pt-BR" dirty="0"/>
              <a:t>://</a:t>
            </a:r>
            <a:r>
              <a:rPr lang="pt-BR" dirty="0" err="1"/>
              <a:t>www.ee.surrey.ac.uk</a:t>
            </a:r>
            <a:r>
              <a:rPr lang="pt-BR" dirty="0"/>
              <a:t>/</a:t>
            </a:r>
            <a:r>
              <a:rPr lang="pt-BR" dirty="0" err="1"/>
              <a:t>Projects</a:t>
            </a:r>
            <a:r>
              <a:rPr lang="pt-BR" dirty="0"/>
              <a:t>/CAL/</a:t>
            </a:r>
            <a:r>
              <a:rPr lang="pt-BR" dirty="0" err="1"/>
              <a:t>seq-switching</a:t>
            </a:r>
            <a:r>
              <a:rPr lang="pt-BR" dirty="0"/>
              <a:t>/</a:t>
            </a:r>
            <a:r>
              <a:rPr lang="pt-BR" dirty="0" err="1"/>
              <a:t>General_seq_circ.htm</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5</a:t>
            </a:fld>
            <a:endParaRPr lang="pt-BR"/>
          </a:p>
        </p:txBody>
      </p:sp>
    </p:spTree>
    <p:extLst>
      <p:ext uri="{BB962C8B-B14F-4D97-AF65-F5344CB8AC3E}">
        <p14:creationId xmlns:p14="http://schemas.microsoft.com/office/powerpoint/2010/main" val="786632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Um dos circuitos</a:t>
            </a:r>
            <a:r>
              <a:rPr lang="pt-BR" sz="1200" baseline="0" dirty="0"/>
              <a:t> sequenciais mais simples existentes são os </a:t>
            </a:r>
            <a:r>
              <a:rPr lang="pt-BR" sz="1200" dirty="0"/>
              <a:t>circuitos biestáveis, que são chamados assim pois permanecem em um dos dois estados binários (0 ou 1) enquanto estiver energizado. Eles são usados para armazenar e recuperar os estados dos bits dos computadores.</a:t>
            </a: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hyperphysics.phy-astr.gsu.edu</a:t>
            </a:r>
            <a:r>
              <a:rPr lang="pt-BR" dirty="0"/>
              <a:t>/</a:t>
            </a:r>
            <a:r>
              <a:rPr lang="pt-BR" dirty="0" err="1"/>
              <a:t>hbase</a:t>
            </a:r>
            <a:r>
              <a:rPr lang="pt-BR" dirty="0"/>
              <a:t>/</a:t>
            </a:r>
            <a:r>
              <a:rPr lang="pt-BR" dirty="0" err="1"/>
              <a:t>electronic</a:t>
            </a:r>
            <a:r>
              <a:rPr lang="pt-BR" dirty="0"/>
              <a:t>/nandlatch.html#c1</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6</a:t>
            </a:fld>
            <a:endParaRPr lang="pt-BR"/>
          </a:p>
        </p:txBody>
      </p:sp>
    </p:spTree>
    <p:extLst>
      <p:ext uri="{BB962C8B-B14F-4D97-AF65-F5344CB8AC3E}">
        <p14:creationId xmlns:p14="http://schemas.microsoft.com/office/powerpoint/2010/main" val="2636076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 </a:t>
            </a:r>
            <a:r>
              <a:rPr lang="pt-BR" dirty="0" err="1"/>
              <a:t>latch</a:t>
            </a:r>
            <a:r>
              <a:rPr lang="pt-BR" dirty="0"/>
              <a:t> SR é um</a:t>
            </a:r>
            <a:r>
              <a:rPr lang="pt-BR" baseline="0" dirty="0"/>
              <a:t> circuito biestável composto de duas portas NAND que armazenam um valor simples. Nesse circuito normalmente as entradas </a:t>
            </a:r>
            <a:r>
              <a:rPr lang="pt-BR" baseline="0" dirty="0" err="1"/>
              <a:t>S</a:t>
            </a:r>
            <a:r>
              <a:rPr lang="pt-BR" baseline="0" dirty="0"/>
              <a:t> e </a:t>
            </a:r>
            <a:r>
              <a:rPr lang="pt-BR" baseline="0" dirty="0" err="1"/>
              <a:t>R</a:t>
            </a:r>
            <a:r>
              <a:rPr lang="pt-BR" baseline="0" dirty="0"/>
              <a:t>, conhecidas como Set e Reset, ficam em nível alto. Enquanto estiverem assim o valor das saídas </a:t>
            </a:r>
            <a:r>
              <a:rPr lang="pt-BR" baseline="0" dirty="0" err="1"/>
              <a:t>Q</a:t>
            </a:r>
            <a:r>
              <a:rPr lang="pt-BR" baseline="0" dirty="0"/>
              <a:t> e </a:t>
            </a:r>
            <a:r>
              <a:rPr lang="pt-BR" baseline="0" dirty="0" err="1"/>
              <a:t>Q</a:t>
            </a:r>
            <a:r>
              <a:rPr lang="pt-BR" baseline="0" dirty="0"/>
              <a:t> barra, que é sempre o inverso do </a:t>
            </a:r>
            <a:r>
              <a:rPr lang="pt-BR" baseline="0" dirty="0" err="1"/>
              <a:t>Q</a:t>
            </a:r>
            <a:r>
              <a:rPr lang="pt-BR" baseline="0" dirty="0"/>
              <a:t>, se mantem inalterados. Se o nível do </a:t>
            </a:r>
            <a:r>
              <a:rPr lang="pt-BR" baseline="0" dirty="0" err="1"/>
              <a:t>S</a:t>
            </a:r>
            <a:r>
              <a:rPr lang="pt-BR" baseline="0" dirty="0"/>
              <a:t> baixar a saída </a:t>
            </a:r>
            <a:r>
              <a:rPr lang="pt-BR" baseline="0" dirty="0" err="1"/>
              <a:t>Q</a:t>
            </a:r>
            <a:r>
              <a:rPr lang="pt-BR" baseline="0" dirty="0"/>
              <a:t> fica em nível alto, ou podemos dizer 1, já se o nível do </a:t>
            </a:r>
            <a:r>
              <a:rPr lang="pt-BR" baseline="0" dirty="0" err="1"/>
              <a:t>R</a:t>
            </a:r>
            <a:r>
              <a:rPr lang="pt-BR" baseline="0" dirty="0"/>
              <a:t>, baixar </a:t>
            </a:r>
            <a:r>
              <a:rPr lang="pt-BR" baseline="0" dirty="0" err="1"/>
              <a:t>Q</a:t>
            </a:r>
            <a:r>
              <a:rPr lang="pt-BR" baseline="0" dirty="0"/>
              <a:t> fica em nível lógico baixo também, ou seja 0. Um outro circuito biestável é o </a:t>
            </a:r>
            <a:r>
              <a:rPr lang="pt-BR" baseline="0" dirty="0" err="1"/>
              <a:t>latch</a:t>
            </a:r>
            <a:r>
              <a:rPr lang="pt-BR" baseline="0" dirty="0"/>
              <a:t> </a:t>
            </a:r>
            <a:r>
              <a:rPr lang="pt-BR" dirty="0"/>
              <a:t>tipo </a:t>
            </a:r>
            <a:r>
              <a:rPr lang="pt-BR" dirty="0" err="1"/>
              <a:t>D</a:t>
            </a:r>
            <a:r>
              <a:rPr lang="pt-BR" dirty="0"/>
              <a:t>, nesse caso o circuito mantem</a:t>
            </a:r>
            <a:r>
              <a:rPr lang="pt-BR" baseline="0" dirty="0"/>
              <a:t> o valor da entrada de Dados </a:t>
            </a:r>
            <a:r>
              <a:rPr lang="pt-BR" baseline="0" dirty="0" err="1"/>
              <a:t>D</a:t>
            </a:r>
            <a:r>
              <a:rPr lang="pt-BR" baseline="0" dirty="0"/>
              <a:t> </a:t>
            </a:r>
            <a:r>
              <a:rPr lang="pt-BR" baseline="0" dirty="0" err="1"/>
              <a:t>enquando</a:t>
            </a:r>
            <a:r>
              <a:rPr lang="pt-BR" baseline="0" dirty="0"/>
              <a:t> a entrada de </a:t>
            </a:r>
            <a:r>
              <a:rPr lang="pt-BR" baseline="0" dirty="0" err="1"/>
              <a:t>Enable</a:t>
            </a:r>
            <a:r>
              <a:rPr lang="pt-BR" baseline="0" dirty="0"/>
              <a:t> E estiver em nível alto, se o E for para nível baixo o circuito não muda de estado. </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https</a:t>
            </a:r>
            <a:r>
              <a:rPr lang="pt-BR" dirty="0"/>
              <a:t>://</a:t>
            </a:r>
            <a:r>
              <a:rPr lang="pt-BR" dirty="0" err="1"/>
              <a:t>en.wikipedia.org</a:t>
            </a:r>
            <a:r>
              <a:rPr lang="pt-BR" dirty="0"/>
              <a:t>/</a:t>
            </a:r>
            <a:r>
              <a:rPr lang="pt-BR" dirty="0" err="1"/>
              <a:t>wiki</a:t>
            </a:r>
            <a:r>
              <a:rPr lang="pt-BR" dirty="0"/>
              <a:t>/Flip-flop_(</a:t>
            </a:r>
            <a:r>
              <a:rPr lang="pt-BR" dirty="0" err="1"/>
              <a:t>electronics</a:t>
            </a:r>
            <a:r>
              <a:rPr lang="pt-BR" dirty="0"/>
              <a:t>)</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7</a:t>
            </a:fld>
            <a:endParaRPr lang="pt-BR"/>
          </a:p>
        </p:txBody>
      </p:sp>
    </p:spTree>
    <p:extLst>
      <p:ext uri="{BB962C8B-B14F-4D97-AF65-F5344CB8AC3E}">
        <p14:creationId xmlns:p14="http://schemas.microsoft.com/office/powerpoint/2010/main" val="3002315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Até agora vimos os </a:t>
            </a:r>
            <a:r>
              <a:rPr lang="pt-BR" sz="1200" dirty="0" err="1"/>
              <a:t>latchs</a:t>
            </a:r>
            <a:r>
              <a:rPr lang="pt-BR" sz="1200" dirty="0"/>
              <a:t>, que usando a terminologia comumente aplicada, significa um circuito sensível ao nível, ao passo que um flip-flop é sensível à borda do sinal de </a:t>
            </a:r>
            <a:r>
              <a:rPr lang="pt-BR" sz="1200" dirty="0" err="1"/>
              <a:t>clock</a:t>
            </a:r>
            <a:r>
              <a:rPr lang="pt-BR" sz="1200" dirty="0"/>
              <a:t>. Perceba o símbolo triangular na</a:t>
            </a:r>
            <a:r>
              <a:rPr lang="pt-BR" sz="1200" baseline="0" dirty="0"/>
              <a:t> entrada do</a:t>
            </a:r>
            <a:r>
              <a:rPr lang="pt-BR" sz="1200" dirty="0"/>
              <a:t> clock indicando que o dispositivos é acionado por borda,</a:t>
            </a:r>
            <a:r>
              <a:rPr lang="pt-BR" sz="1200" baseline="0" dirty="0"/>
              <a:t> ou de subida ou de descida.</a:t>
            </a:r>
            <a:endParaRPr lang="pt-BR"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https</a:t>
            </a:r>
            <a:r>
              <a:rPr lang="pt-BR" dirty="0"/>
              <a:t>://</a:t>
            </a:r>
            <a:r>
              <a:rPr lang="pt-BR" dirty="0" err="1"/>
              <a:t>www.ibiblio.org</a:t>
            </a:r>
            <a:r>
              <a:rPr lang="pt-BR" dirty="0"/>
              <a:t>/</a:t>
            </a:r>
            <a:r>
              <a:rPr lang="pt-BR" dirty="0" err="1"/>
              <a:t>kuphaldt</a:t>
            </a:r>
            <a:r>
              <a:rPr lang="pt-BR" dirty="0"/>
              <a:t>/</a:t>
            </a:r>
            <a:r>
              <a:rPr lang="pt-BR" dirty="0" err="1"/>
              <a:t>electricCircuits</a:t>
            </a:r>
            <a:r>
              <a:rPr lang="pt-BR" dirty="0"/>
              <a:t>/Digital/DIGI_10.html</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8</a:t>
            </a:fld>
            <a:endParaRPr lang="pt-BR"/>
          </a:p>
        </p:txBody>
      </p:sp>
    </p:spTree>
    <p:extLst>
      <p:ext uri="{BB962C8B-B14F-4D97-AF65-F5344CB8AC3E}">
        <p14:creationId xmlns:p14="http://schemas.microsoft.com/office/powerpoint/2010/main" val="4236331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Para entendermos</a:t>
            </a:r>
            <a:r>
              <a:rPr lang="pt-BR" baseline="0" dirty="0"/>
              <a:t> a diferença, veja o circuito do </a:t>
            </a:r>
            <a:r>
              <a:rPr lang="pt-BR" baseline="0" dirty="0" err="1"/>
              <a:t>Latch</a:t>
            </a:r>
            <a:r>
              <a:rPr lang="pt-BR" baseline="0" dirty="0"/>
              <a:t> tipo </a:t>
            </a:r>
            <a:r>
              <a:rPr lang="pt-BR" baseline="0" dirty="0" err="1"/>
              <a:t>D</a:t>
            </a:r>
            <a:r>
              <a:rPr lang="pt-BR" baseline="0" dirty="0"/>
              <a:t>, enquanto a entrada, aqui representada por C estiver em nível lógico baixo o circuito não se altera porém quando ele muda para nível alto o circuito vai carregando o valor do </a:t>
            </a:r>
            <a:r>
              <a:rPr lang="pt-BR" baseline="0" dirty="0" err="1"/>
              <a:t>D</a:t>
            </a:r>
            <a:r>
              <a:rPr lang="pt-BR" baseline="0" dirty="0"/>
              <a:t> até o C for para nível baixo de novo. No diagrama de tempo apresentado é possível ver que possíveis ruídos ou instabilidades afetam o sinal do </a:t>
            </a:r>
            <a:r>
              <a:rPr lang="pt-BR" baseline="0" dirty="0" err="1"/>
              <a:t>latch</a:t>
            </a:r>
            <a:r>
              <a:rPr lang="pt-BR" baseline="0" dirty="0"/>
              <a:t>.</a:t>
            </a:r>
            <a:endParaRPr lang="pt-BR" dirty="0"/>
          </a:p>
          <a:p>
            <a:endParaRPr lang="pt-BR" dirty="0"/>
          </a:p>
          <a:p>
            <a:r>
              <a:rPr lang="pt-BR" dirty="0" err="1"/>
              <a:t>http</a:t>
            </a:r>
            <a:r>
              <a:rPr lang="pt-BR" dirty="0"/>
              <a:t>://hades.mech.northwestern.edu/index.php/Flip-Flops_and_Latches</a:t>
            </a:r>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9</a:t>
            </a:fld>
            <a:endParaRPr lang="pt-BR"/>
          </a:p>
        </p:txBody>
      </p:sp>
    </p:spTree>
    <p:extLst>
      <p:ext uri="{BB962C8B-B14F-4D97-AF65-F5344CB8AC3E}">
        <p14:creationId xmlns:p14="http://schemas.microsoft.com/office/powerpoint/2010/main" val="330125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Um truque então</a:t>
            </a:r>
            <a:r>
              <a:rPr lang="pt-BR" baseline="0" dirty="0"/>
              <a:t> é tentar pegar o valor do sinal de entrada em um só instante, evitando flutuações e instabilidades. Aqui esta um exemplo de solução. Em vez de ligar direto o sinal do clock no </a:t>
            </a:r>
            <a:r>
              <a:rPr lang="pt-BR" baseline="0" dirty="0" err="1"/>
              <a:t>latch</a:t>
            </a:r>
            <a:r>
              <a:rPr lang="pt-BR" baseline="0" dirty="0"/>
              <a:t>, podemos usar o circuito apresentado para este ativar o </a:t>
            </a:r>
            <a:r>
              <a:rPr lang="pt-BR" baseline="0" dirty="0" err="1"/>
              <a:t>latch</a:t>
            </a:r>
            <a:r>
              <a:rPr lang="pt-BR" baseline="0" dirty="0"/>
              <a:t> só no breve período de mudança do sinal do clock. Aqui no caso é um circuito que tem sua saída em alta somente na borda de subida. Quando a entrada mudar para nível alto, a entrada superior da porta AND recebe rapidamente o sinal, porem o caminho abaixo sofre um atraso pois possui três portas </a:t>
            </a:r>
            <a:r>
              <a:rPr lang="pt-BR" baseline="0" dirty="0" err="1"/>
              <a:t>NOTs</a:t>
            </a:r>
            <a:r>
              <a:rPr lang="pt-BR" baseline="0" dirty="0"/>
              <a:t>, esse atraso das </a:t>
            </a:r>
            <a:r>
              <a:rPr lang="pt-BR" baseline="0" dirty="0" err="1"/>
              <a:t>NOTs</a:t>
            </a:r>
            <a:r>
              <a:rPr lang="pt-BR" baseline="0" dirty="0"/>
              <a:t> faz com que por um breve instante as duas entradas sejam 1, fazendo com que se ligado no </a:t>
            </a:r>
            <a:r>
              <a:rPr lang="pt-BR" baseline="0" dirty="0" err="1"/>
              <a:t>latch</a:t>
            </a:r>
            <a:r>
              <a:rPr lang="pt-BR" baseline="0" dirty="0"/>
              <a:t> esse só funciona na borda de subida.</a:t>
            </a:r>
            <a:endParaRPr lang="pt-BR" dirty="0"/>
          </a:p>
          <a:p>
            <a:endParaRPr lang="pt-BR" dirty="0"/>
          </a:p>
          <a:p>
            <a:r>
              <a:rPr lang="pt-BR" dirty="0" err="1"/>
              <a:t>http</a:t>
            </a:r>
            <a:r>
              <a:rPr lang="pt-BR" dirty="0"/>
              <a:t>://</a:t>
            </a:r>
            <a:r>
              <a:rPr lang="pt-BR" dirty="0" err="1"/>
              <a:t>www.allaboutcircuits.com</a:t>
            </a:r>
            <a:r>
              <a:rPr lang="pt-BR" dirty="0"/>
              <a:t>/</a:t>
            </a:r>
            <a:r>
              <a:rPr lang="pt-BR" dirty="0" err="1"/>
              <a:t>textbook</a:t>
            </a:r>
            <a:r>
              <a:rPr lang="pt-BR" dirty="0"/>
              <a:t>/digital/chpt-10/</a:t>
            </a:r>
            <a:r>
              <a:rPr lang="pt-BR" dirty="0" err="1"/>
              <a:t>edge</a:t>
            </a:r>
            <a:r>
              <a:rPr lang="pt-BR" dirty="0"/>
              <a:t>-</a:t>
            </a:r>
            <a:r>
              <a:rPr lang="pt-BR" dirty="0" err="1"/>
              <a:t>triggered</a:t>
            </a:r>
            <a:r>
              <a:rPr lang="pt-BR" dirty="0"/>
              <a:t>-</a:t>
            </a:r>
            <a:r>
              <a:rPr lang="pt-BR" dirty="0" err="1"/>
              <a:t>latches</a:t>
            </a:r>
            <a:r>
              <a:rPr lang="pt-BR" dirty="0"/>
              <a:t>-flip-flops/</a:t>
            </a:r>
          </a:p>
          <a:p>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10</a:t>
            </a:fld>
            <a:endParaRPr lang="pt-BR"/>
          </a:p>
        </p:txBody>
      </p:sp>
    </p:spTree>
    <p:extLst>
      <p:ext uri="{BB962C8B-B14F-4D97-AF65-F5344CB8AC3E}">
        <p14:creationId xmlns:p14="http://schemas.microsoft.com/office/powerpoint/2010/main" val="2483330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Da mesma forma o circuito pode ser montado para borda de descida, para isso ao </a:t>
            </a:r>
            <a:r>
              <a:rPr lang="pt-BR" dirty="0" err="1"/>
              <a:t>invéz</a:t>
            </a:r>
            <a:r>
              <a:rPr lang="pt-BR" dirty="0"/>
              <a:t> de uma porta</a:t>
            </a:r>
            <a:r>
              <a:rPr lang="pt-BR" baseline="0" dirty="0"/>
              <a:t> AND, será usada uma porta NOR. E só no breve período de descida que o circuito do </a:t>
            </a:r>
            <a:r>
              <a:rPr lang="pt-BR" baseline="0" dirty="0" err="1"/>
              <a:t>latch</a:t>
            </a:r>
            <a:r>
              <a:rPr lang="pt-BR" baseline="0" dirty="0"/>
              <a:t> ficaria acionado.</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11</a:t>
            </a:fld>
            <a:endParaRPr lang="pt-BR"/>
          </a:p>
        </p:txBody>
      </p:sp>
    </p:spTree>
    <p:extLst>
      <p:ext uri="{BB962C8B-B14F-4D97-AF65-F5344CB8AC3E}">
        <p14:creationId xmlns:p14="http://schemas.microsoft.com/office/powerpoint/2010/main" val="228192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Outra forma de fazer um</a:t>
            </a:r>
            <a:r>
              <a:rPr lang="pt-BR" baseline="0" dirty="0"/>
              <a:t> flip-flop é com essa configuração, mestre escravo. Esse sistema é como uma porteira, onde os sinais vão propagando entre os dois elementos do flip-flop, conforme os sinais de </a:t>
            </a:r>
            <a:r>
              <a:rPr lang="pt-BR" baseline="0" dirty="0" err="1"/>
              <a:t>clock</a:t>
            </a:r>
            <a:r>
              <a:rPr lang="pt-BR" baseline="0" dirty="0"/>
              <a:t> mudam de alto para baixo . Veja que o sinal acabou ficando imune as instabilidades devido a flutuações de sinais de entrada.</a:t>
            </a:r>
          </a:p>
          <a:p>
            <a:endParaRPr lang="pt-BR" baseline="0" dirty="0"/>
          </a:p>
          <a:p>
            <a:endParaRPr lang="pt-BR" dirty="0"/>
          </a:p>
          <a:p>
            <a:r>
              <a:rPr lang="pt-BR" dirty="0"/>
              <a:t>Conforme o sinal, consegue passar por uma porta mas não pela outra... a porta está </a:t>
            </a:r>
            <a:r>
              <a:rPr lang="pt-BR" dirty="0" err="1"/>
              <a:t>abestra</a:t>
            </a:r>
            <a:r>
              <a:rPr lang="pt-BR" dirty="0"/>
              <a:t> quando o sinal está em baixo e fechada em alta, e vice versa.</a:t>
            </a:r>
          </a:p>
          <a:p>
            <a:endParaRPr lang="pt-BR" dirty="0"/>
          </a:p>
          <a:p>
            <a:r>
              <a:rPr lang="pt-BR" dirty="0" err="1"/>
              <a:t>https</a:t>
            </a:r>
            <a:r>
              <a:rPr lang="pt-BR" dirty="0"/>
              <a:t>://</a:t>
            </a:r>
            <a:r>
              <a:rPr lang="pt-BR" dirty="0" err="1"/>
              <a:t>web.fe.up.pt</a:t>
            </a:r>
            <a:r>
              <a:rPr lang="pt-BR" dirty="0"/>
              <a:t>/~</a:t>
            </a:r>
            <a:r>
              <a:rPr lang="pt-BR" dirty="0" err="1"/>
              <a:t>jca</a:t>
            </a:r>
            <a:r>
              <a:rPr lang="pt-BR" dirty="0"/>
              <a:t>/</a:t>
            </a:r>
            <a:r>
              <a:rPr lang="pt-BR" dirty="0" err="1"/>
              <a:t>feup</a:t>
            </a:r>
            <a:r>
              <a:rPr lang="pt-BR" dirty="0"/>
              <a:t>/</a:t>
            </a:r>
            <a:r>
              <a:rPr lang="pt-BR" dirty="0" err="1"/>
              <a:t>lsdi</a:t>
            </a:r>
            <a:r>
              <a:rPr lang="pt-BR" dirty="0"/>
              <a:t>/slides/lsdi-0607-slides-aula-TP5-7-sequenciais.pdf</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slideplayer.com.br</a:t>
            </a:r>
            <a:r>
              <a:rPr lang="pt-BR" dirty="0"/>
              <a:t>/slide/370185/</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http://www.electronics-tutorials.ws/sequential/seq_4.html</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http://hades.mech.northwestern.edu/index.php/Flip-Flops_and_Latches</a:t>
            </a:r>
          </a:p>
        </p:txBody>
      </p:sp>
      <p:sp>
        <p:nvSpPr>
          <p:cNvPr id="4" name="Slide Number Placeholder 3"/>
          <p:cNvSpPr>
            <a:spLocks noGrp="1"/>
          </p:cNvSpPr>
          <p:nvPr>
            <p:ph type="sldNum" sz="quarter" idx="10"/>
          </p:nvPr>
        </p:nvSpPr>
        <p:spPr/>
        <p:txBody>
          <a:bodyPr/>
          <a:lstStyle/>
          <a:p>
            <a:fld id="{F23FB91E-A0DC-4A5F-B463-D7B8E79502D1}" type="slidenum">
              <a:rPr lang="pt-BR" smtClean="0"/>
              <a:t>12</a:t>
            </a:fld>
            <a:endParaRPr lang="pt-BR"/>
          </a:p>
        </p:txBody>
      </p:sp>
    </p:spTree>
    <p:extLst>
      <p:ext uri="{BB962C8B-B14F-4D97-AF65-F5344CB8AC3E}">
        <p14:creationId xmlns:p14="http://schemas.microsoft.com/office/powerpoint/2010/main" val="1101642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Dizemos que a entrada de um flip-flop, aqui no caso a </a:t>
            </a:r>
            <a:r>
              <a:rPr lang="pt-BR" sz="1200" dirty="0" err="1"/>
              <a:t>D</a:t>
            </a:r>
            <a:r>
              <a:rPr lang="pt-BR" sz="1200" dirty="0"/>
              <a:t> é </a:t>
            </a:r>
            <a:r>
              <a:rPr lang="pt-BR" sz="1200" dirty="0" err="1"/>
              <a:t>sincrona</a:t>
            </a:r>
            <a:r>
              <a:rPr lang="pt-BR" sz="1200" dirty="0"/>
              <a:t>,</a:t>
            </a:r>
            <a:r>
              <a:rPr lang="pt-BR" sz="1200" baseline="0" dirty="0"/>
              <a:t> ou seja, só atualiza o circuito nas transições de clock. Porém podemos ter outras entradas, como o </a:t>
            </a:r>
            <a:r>
              <a:rPr lang="pt-BR" sz="1200" baseline="0" dirty="0" err="1"/>
              <a:t>preset</a:t>
            </a:r>
            <a:r>
              <a:rPr lang="pt-BR" sz="1200" baseline="0" dirty="0"/>
              <a:t>, (AVANÇAR) que normalmente fica em nível lógico alto, mas quando vai para o baixo ,automaticamente deixa a saída em nível lógico alto, independente do clock, e o </a:t>
            </a:r>
            <a:r>
              <a:rPr lang="pt-BR" sz="1200" baseline="0" dirty="0" err="1"/>
              <a:t>Clear</a:t>
            </a:r>
            <a:r>
              <a:rPr lang="pt-BR" sz="1200" baseline="0" dirty="0"/>
              <a:t> que é o oposto, quando muda para o baixo, deixa a saída em baixo. Caso necessário algum circuito com resistores e capacitores pode ser usado para iniciar em algum nível lógico desejado. O gráfico de tempo mostra um exemplo de estados para esse circuito.</a:t>
            </a:r>
          </a:p>
          <a:p>
            <a:pPr marL="0" marR="0" indent="0" algn="l" defTabSz="914400" rtl="0" eaLnBrk="1" fontAlgn="auto" latinLnBrk="0" hangingPunct="1">
              <a:lnSpc>
                <a:spcPct val="100000"/>
              </a:lnSpc>
              <a:spcBef>
                <a:spcPts val="0"/>
              </a:spcBef>
              <a:spcAft>
                <a:spcPts val="0"/>
              </a:spcAft>
              <a:buClrTx/>
              <a:buSzTx/>
              <a:buFontTx/>
              <a:buNone/>
              <a:tabLst/>
              <a:defRPr/>
            </a:pPr>
            <a:endParaRPr lang="pt-BR" sz="1200" dirty="0">
              <a:hlinkClick r:id="rId3"/>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hlinkClick r:id="rId3"/>
            </a:endParaRPr>
          </a:p>
          <a:p>
            <a:r>
              <a:rPr lang="pt-BR" dirty="0">
                <a:hlinkClick r:id="rId3"/>
              </a:rPr>
              <a:t>http://www.slideshare.net/raiuniversity/b-sc-cs-i-bode-uiv-sequential-circuit</a:t>
            </a:r>
            <a:endParaRPr lang="pt-BR" dirty="0"/>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13</a:t>
            </a:fld>
            <a:endParaRPr lang="pt-BR"/>
          </a:p>
        </p:txBody>
      </p:sp>
    </p:spTree>
    <p:extLst>
      <p:ext uri="{BB962C8B-B14F-4D97-AF65-F5344CB8AC3E}">
        <p14:creationId xmlns:p14="http://schemas.microsoft.com/office/powerpoint/2010/main" val="4113793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Vimos dois flip-flops bem comuns, porém ainda existem outros, como o </a:t>
            </a:r>
            <a:r>
              <a:rPr lang="pt-BR" dirty="0" err="1"/>
              <a:t>T</a:t>
            </a:r>
            <a:r>
              <a:rPr lang="pt-BR" dirty="0"/>
              <a:t> que muda de estado a cada transição, o JK que permite uma combinação das</a:t>
            </a:r>
            <a:r>
              <a:rPr lang="pt-BR" baseline="0" dirty="0"/>
              <a:t> funcionalidades que vimos anteriormente</a:t>
            </a:r>
            <a:r>
              <a:rPr lang="pt-BR" dirty="0"/>
              <a:t>, e dependendo da aplicação podem ser preferidos a</a:t>
            </a:r>
            <a:r>
              <a:rPr lang="pt-BR" baseline="0" dirty="0"/>
              <a:t> outros tipos</a:t>
            </a:r>
            <a:r>
              <a:rPr lang="pt-BR" dirty="0"/>
              <a:t>.</a:t>
            </a:r>
          </a:p>
          <a:p>
            <a:endParaRPr lang="pt-BR" dirty="0"/>
          </a:p>
          <a:p>
            <a:r>
              <a:rPr lang="pt-BR" dirty="0" err="1"/>
              <a:t>https</a:t>
            </a:r>
            <a:r>
              <a:rPr lang="pt-BR" dirty="0"/>
              <a:t>://</a:t>
            </a:r>
            <a:r>
              <a:rPr lang="pt-BR" dirty="0" err="1"/>
              <a:t>web.fe.up.pt</a:t>
            </a:r>
            <a:r>
              <a:rPr lang="pt-BR" dirty="0"/>
              <a:t>/~</a:t>
            </a:r>
            <a:r>
              <a:rPr lang="pt-BR" dirty="0" err="1"/>
              <a:t>jca</a:t>
            </a:r>
            <a:r>
              <a:rPr lang="pt-BR" dirty="0"/>
              <a:t>/</a:t>
            </a:r>
            <a:r>
              <a:rPr lang="pt-BR" dirty="0" err="1"/>
              <a:t>feup</a:t>
            </a:r>
            <a:r>
              <a:rPr lang="pt-BR" dirty="0"/>
              <a:t>/</a:t>
            </a:r>
            <a:r>
              <a:rPr lang="pt-BR" dirty="0" err="1"/>
              <a:t>lsdi</a:t>
            </a:r>
            <a:r>
              <a:rPr lang="pt-BR" dirty="0"/>
              <a:t>/slides/lsdi-0607-slides-aula-TP5-7-sequenciais.pdf</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slideplayer.com.br</a:t>
            </a:r>
            <a:r>
              <a:rPr lang="pt-BR" dirty="0"/>
              <a:t>/slide/370185/</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http://www.electronics-tutorials.ws/sequential/seq_4.html</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http://www.cuco.pro.br/ach2034/aula14/jk_nand_flip-flop.html</a:t>
            </a:r>
          </a:p>
        </p:txBody>
      </p:sp>
      <p:sp>
        <p:nvSpPr>
          <p:cNvPr id="4" name="Slide Number Placeholder 3"/>
          <p:cNvSpPr>
            <a:spLocks noGrp="1"/>
          </p:cNvSpPr>
          <p:nvPr>
            <p:ph type="sldNum" sz="quarter" idx="10"/>
          </p:nvPr>
        </p:nvSpPr>
        <p:spPr/>
        <p:txBody>
          <a:bodyPr/>
          <a:lstStyle/>
          <a:p>
            <a:fld id="{F23FB91E-A0DC-4A5F-B463-D7B8E79502D1}" type="slidenum">
              <a:rPr lang="pt-BR" smtClean="0"/>
              <a:t>14</a:t>
            </a:fld>
            <a:endParaRPr lang="pt-BR"/>
          </a:p>
        </p:txBody>
      </p:sp>
    </p:spTree>
    <p:extLst>
      <p:ext uri="{BB962C8B-B14F-4D97-AF65-F5344CB8AC3E}">
        <p14:creationId xmlns:p14="http://schemas.microsoft.com/office/powerpoint/2010/main" val="1101642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Para finalizarmos, podemos colocar mais funcionalidades num flip-flop se realimentarmos</a:t>
            </a:r>
            <a:r>
              <a:rPr lang="pt-BR" sz="1200" baseline="0" dirty="0"/>
              <a:t> ele</a:t>
            </a:r>
            <a:r>
              <a:rPr lang="pt-BR" sz="1200" dirty="0"/>
              <a:t> para manter seus valores. Um multiplexador pode ser usado para tal fim. (AVANÇAR) Se abstrairmos</a:t>
            </a:r>
            <a:r>
              <a:rPr lang="pt-BR" sz="1200" baseline="0" dirty="0"/>
              <a:t> esse novo componente, podemos ter uma entidade que armazena um bit de informação.</a:t>
            </a:r>
            <a:endParaRPr lang="pt-BR" sz="1200" dirty="0"/>
          </a:p>
          <a:p>
            <a:endParaRPr lang="pt-BR" dirty="0"/>
          </a:p>
          <a:p>
            <a:endParaRPr lang="pt-BR" dirty="0"/>
          </a:p>
          <a:p>
            <a:r>
              <a:rPr lang="pt-BR" dirty="0"/>
              <a:t>// Uma outra forma de pensar é se só tivesse o multiplexador. e ele se realimentar.</a:t>
            </a:r>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15</a:t>
            </a:fld>
            <a:endParaRPr lang="pt-BR"/>
          </a:p>
        </p:txBody>
      </p:sp>
    </p:spTree>
    <p:extLst>
      <p:ext uri="{BB962C8B-B14F-4D97-AF65-F5344CB8AC3E}">
        <p14:creationId xmlns:p14="http://schemas.microsoft.com/office/powerpoint/2010/main" val="40143257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Atualmente as memórias dos computadores são bem diferentes.</a:t>
            </a:r>
            <a:r>
              <a:rPr lang="pt-BR" baseline="0" dirty="0"/>
              <a:t> Elas são produzidas em circuitos integrados, e são muito confiáveis. Um dos tipos de memória são as </a:t>
            </a:r>
            <a:r>
              <a:rPr lang="pt-BR" dirty="0"/>
              <a:t>memórias estáticas, ou</a:t>
            </a:r>
            <a:r>
              <a:rPr lang="pt-BR" baseline="0" dirty="0"/>
              <a:t> como falamos normalmente </a:t>
            </a:r>
            <a:r>
              <a:rPr lang="pt-BR" dirty="0" err="1"/>
              <a:t>SRAMs</a:t>
            </a:r>
            <a:r>
              <a:rPr lang="pt-BR" dirty="0"/>
              <a:t>. Essas memórias</a:t>
            </a:r>
            <a:r>
              <a:rPr lang="pt-BR" baseline="0" dirty="0"/>
              <a:t> são normalmente muito rápidas, porém acabam por usar muito espaço nos circuitos integrados. Como alternativa existem as memórias dinâmicas, ou </a:t>
            </a:r>
            <a:r>
              <a:rPr lang="pt-BR" baseline="0" dirty="0" err="1"/>
              <a:t>DRAMs</a:t>
            </a:r>
            <a:r>
              <a:rPr lang="pt-BR" baseline="0" dirty="0"/>
              <a:t>, que são consideravelmente mais lentas que as estáticas, porém são cerca de 20 vezes mais compactas que a SRAM. Um inconveniente das memórias dinâmicas, é que eles precisam continuamente serem atualizadas, ou seja, é necessário realizar um </a:t>
            </a:r>
            <a:r>
              <a:rPr lang="pt-BR" baseline="0" dirty="0" err="1"/>
              <a:t>refhesh</a:t>
            </a:r>
            <a:r>
              <a:rPr lang="pt-BR" baseline="0" dirty="0"/>
              <a:t> dos dados de tempos em tempos.</a:t>
            </a:r>
          </a:p>
          <a:p>
            <a:endParaRPr lang="pt-BR" baseline="0" dirty="0"/>
          </a:p>
          <a:p>
            <a:endParaRPr lang="pt-BR" dirty="0"/>
          </a:p>
          <a:p>
            <a:r>
              <a:rPr lang="pt-BR" dirty="0" err="1"/>
              <a:t>http</a:t>
            </a:r>
            <a:r>
              <a:rPr lang="pt-BR" dirty="0"/>
              <a:t>://www.eetimes.com/document.asp?doc_id=1328866</a:t>
            </a:r>
          </a:p>
          <a:p>
            <a:r>
              <a:rPr lang="pt-BR" dirty="0"/>
              <a:t>https://en.wikipedia.org/wiki/Static_random-access_memory#/media/File:SRAM_Cell_(6_Transistors).svg</a:t>
            </a:r>
          </a:p>
          <a:p>
            <a:r>
              <a:rPr lang="pt-BR" dirty="0"/>
              <a:t>https://en.wikipedia.org/wiki/Intel_1103#/media/File:Intel_i1103.JPG</a:t>
            </a:r>
          </a:p>
          <a:p>
            <a:r>
              <a:rPr lang="pt-BR" dirty="0"/>
              <a:t>http://www.samsung.com/semiconductor/about-us/news/13921</a:t>
            </a:r>
          </a:p>
          <a:p>
            <a:endParaRPr lang="pt-BR" dirty="0"/>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16</a:t>
            </a:fld>
            <a:endParaRPr lang="pt-BR"/>
          </a:p>
        </p:txBody>
      </p:sp>
    </p:spTree>
    <p:extLst>
      <p:ext uri="{BB962C8B-B14F-4D97-AF65-F5344CB8AC3E}">
        <p14:creationId xmlns:p14="http://schemas.microsoft.com/office/powerpoint/2010/main" val="23777340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Um computador convencional </a:t>
            </a:r>
            <a:r>
              <a:rPr lang="pt-BR" baseline="0" dirty="0"/>
              <a:t>possui diversos tipos de memória. Mais interno a CPU se encontram pequenas porções memórias extremamente velozes para serem usadas por exemplo nas unidades lógicas aritméticas, as </a:t>
            </a:r>
            <a:r>
              <a:rPr lang="pt-BR" baseline="0" dirty="0" err="1"/>
              <a:t>CPUs</a:t>
            </a:r>
            <a:r>
              <a:rPr lang="pt-BR" baseline="0" dirty="0"/>
              <a:t> atuais também possuem níveis de memória SRAM que são usadas para fazer armazenamentos com um tempo de acesso relativamente rápidos, porém não em grande quantidade, assim os computadores possuem memórias DRAM em maior volume para os processadores poderem acessar uma quantidade suficiente para os programas executarem e comprometer muito o desempenho do computador. Obviamente ainda temos os </a:t>
            </a:r>
            <a:r>
              <a:rPr lang="pt-BR" baseline="0" dirty="0" err="1"/>
              <a:t>pendrives</a:t>
            </a:r>
            <a:r>
              <a:rPr lang="pt-BR" baseline="0" dirty="0"/>
              <a:t> e discos rígidos que também são memórias, mas em geral mais lentas que as outras, porém os dados ficam armazenados independentemente do dispositivo ser desligado da alimentação elétrica.</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17</a:t>
            </a:fld>
            <a:endParaRPr lang="pt-BR"/>
          </a:p>
        </p:txBody>
      </p:sp>
    </p:spTree>
    <p:extLst>
      <p:ext uri="{BB962C8B-B14F-4D97-AF65-F5344CB8AC3E}">
        <p14:creationId xmlns:p14="http://schemas.microsoft.com/office/powerpoint/2010/main" val="1246920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http://www.dcc.ufrj.br/~gabriel/microarq/Hierarquia.pdf</a:t>
            </a:r>
          </a:p>
          <a:p>
            <a:r>
              <a:rPr lang="pt-BR" dirty="0"/>
              <a:t>Capacidade</a:t>
            </a:r>
          </a:p>
          <a:p>
            <a:r>
              <a:rPr lang="pt-BR" dirty="0"/>
              <a:t>Tempo de Acesso</a:t>
            </a:r>
          </a:p>
          <a:p>
            <a:endParaRPr lang="pt-BR" dirty="0"/>
          </a:p>
          <a:p>
            <a:endParaRPr lang="pt-BR" dirty="0"/>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18</a:t>
            </a:fld>
            <a:endParaRPr lang="pt-BR"/>
          </a:p>
        </p:txBody>
      </p:sp>
    </p:spTree>
    <p:extLst>
      <p:ext uri="{BB962C8B-B14F-4D97-AF65-F5344CB8AC3E}">
        <p14:creationId xmlns:p14="http://schemas.microsoft.com/office/powerpoint/2010/main" val="1074275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Vamos começar</a:t>
            </a:r>
            <a:r>
              <a:rPr lang="pt-BR" baseline="0" dirty="0"/>
              <a:t> com um elemento fundamental para a construção das memórias do computador. Vamos chamar ele de bit. Os bits podem ser construídos a partir de flip-flops, porém para controla se o flip-flop mantem ou não o dado teremos de usar algo de apoio, e aqui no caso, usaremos um multiplexador. o seletor do multiplexador vai fazer o sinal do flip-flop, ou se realimentar, ou senão carregar um sinal externo.</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19</a:t>
            </a:fld>
            <a:endParaRPr lang="pt-BR"/>
          </a:p>
        </p:txBody>
      </p:sp>
    </p:spTree>
    <p:extLst>
      <p:ext uri="{BB962C8B-B14F-4D97-AF65-F5344CB8AC3E}">
        <p14:creationId xmlns:p14="http://schemas.microsoft.com/office/powerpoint/2010/main" val="14749426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 partir do momento que temos um bit, podemos organizar alguns em paralelo</a:t>
            </a:r>
            <a:r>
              <a:rPr lang="pt-BR" baseline="0" dirty="0"/>
              <a:t> para armazenar diversos bits ao mesmo tempo, e assim permitir, por exemplo trabalhar com um valor numérico binário de vários dígitos. Tradicionalmente os bits são organizados em tamanhos de 8, 16 e 32 bits. Que é chamado de comprimento da palavra de um computador.</a:t>
            </a:r>
          </a:p>
          <a:p>
            <a:endParaRPr lang="pt-BR" baseline="0" dirty="0"/>
          </a:p>
        </p:txBody>
      </p:sp>
      <p:sp>
        <p:nvSpPr>
          <p:cNvPr id="4" name="Slide Number Placeholder 3"/>
          <p:cNvSpPr>
            <a:spLocks noGrp="1"/>
          </p:cNvSpPr>
          <p:nvPr>
            <p:ph type="sldNum" sz="quarter" idx="10"/>
          </p:nvPr>
        </p:nvSpPr>
        <p:spPr/>
        <p:txBody>
          <a:bodyPr/>
          <a:lstStyle/>
          <a:p>
            <a:fld id="{F23FB91E-A0DC-4A5F-B463-D7B8E79502D1}" type="slidenum">
              <a:rPr lang="pt-BR" smtClean="0"/>
              <a:t>20</a:t>
            </a:fld>
            <a:endParaRPr lang="pt-BR"/>
          </a:p>
        </p:txBody>
      </p:sp>
    </p:spTree>
    <p:extLst>
      <p:ext uri="{BB962C8B-B14F-4D97-AF65-F5344CB8AC3E}">
        <p14:creationId xmlns:p14="http://schemas.microsoft.com/office/powerpoint/2010/main" val="14360212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Os registradores, são conjuntos de bits, que estão nos circuitos mais internos do processor, e conectados</a:t>
            </a:r>
            <a:r>
              <a:rPr lang="pt-BR" baseline="0" dirty="0"/>
              <a:t> diretamente a unidade lógica aritmética por exemplo. Um computador convencional possui diversos registradores, que possui uma entrada e de saída de dados, e um sinal de </a:t>
            </a:r>
            <a:r>
              <a:rPr lang="pt-BR" baseline="0" dirty="0" err="1"/>
              <a:t>load</a:t>
            </a:r>
            <a:r>
              <a:rPr lang="pt-BR" baseline="0" dirty="0"/>
              <a:t> para carregar ou não dados da sua entrada. Algumas </a:t>
            </a:r>
            <a:r>
              <a:rPr lang="pt-BR" baseline="0" dirty="0" err="1"/>
              <a:t>CPUs</a:t>
            </a:r>
            <a:r>
              <a:rPr lang="pt-BR" baseline="0" dirty="0"/>
              <a:t> possuem um banco de registradores, onde diversos registradores são organizados e estes podem ser acessados aleatoriamente.</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21</a:t>
            </a:fld>
            <a:endParaRPr lang="pt-BR"/>
          </a:p>
        </p:txBody>
      </p:sp>
    </p:spTree>
    <p:extLst>
      <p:ext uri="{BB962C8B-B14F-4D97-AF65-F5344CB8AC3E}">
        <p14:creationId xmlns:p14="http://schemas.microsoft.com/office/powerpoint/2010/main" val="1928468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2000" dirty="0"/>
              <a:t>https://www.ibiblio.org/kuphaldt/electricCircuits/Digital/DIGI_12.html</a:t>
            </a:r>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25</a:t>
            </a:fld>
            <a:endParaRPr lang="pt-BR"/>
          </a:p>
        </p:txBody>
      </p:sp>
    </p:spTree>
    <p:extLst>
      <p:ext uri="{BB962C8B-B14F-4D97-AF65-F5344CB8AC3E}">
        <p14:creationId xmlns:p14="http://schemas.microsoft.com/office/powerpoint/2010/main" val="3188814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http://arstechnica.com/gadgets/2014/08/haswell-e-arrives-bringing-a-999-8-core-desktop-cpu-with-it/</a:t>
            </a:r>
          </a:p>
        </p:txBody>
      </p:sp>
      <p:sp>
        <p:nvSpPr>
          <p:cNvPr id="4" name="Espaço Reservado para Número de Slide 3"/>
          <p:cNvSpPr>
            <a:spLocks noGrp="1"/>
          </p:cNvSpPr>
          <p:nvPr>
            <p:ph type="sldNum" sz="quarter" idx="10"/>
          </p:nvPr>
        </p:nvSpPr>
        <p:spPr/>
        <p:txBody>
          <a:bodyPr/>
          <a:lstStyle/>
          <a:p>
            <a:fld id="{F23FB91E-A0DC-4A5F-B463-D7B8E79502D1}" type="slidenum">
              <a:rPr lang="pt-BR" smtClean="0"/>
              <a:t>26</a:t>
            </a:fld>
            <a:endParaRPr lang="pt-BR"/>
          </a:p>
        </p:txBody>
      </p:sp>
    </p:spTree>
    <p:extLst>
      <p:ext uri="{BB962C8B-B14F-4D97-AF65-F5344CB8AC3E}">
        <p14:creationId xmlns:p14="http://schemas.microsoft.com/office/powerpoint/2010/main" val="14586328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Para começar vamos falar do </a:t>
            </a:r>
            <a:r>
              <a:rPr lang="pt-BR" dirty="0" err="1"/>
              <a:t>Whirlwind</a:t>
            </a:r>
            <a:r>
              <a:rPr lang="pt-BR" dirty="0"/>
              <a:t> do MIT, esse computador mostrou a viabilidade de diversas novas tecnologias, como </a:t>
            </a:r>
            <a:r>
              <a:rPr lang="pt-BR" baseline="0" dirty="0"/>
              <a:t>a possibilidade de técnicas de processamento paralelo. Porém, algo de destaque, foi o uso de memórias com núcleos de </a:t>
            </a:r>
            <a:r>
              <a:rPr lang="pt-BR" baseline="0" dirty="0" err="1"/>
              <a:t>ferrite</a:t>
            </a:r>
            <a:r>
              <a:rPr lang="pt-BR" baseline="0" dirty="0"/>
              <a:t> deu uma boa vantagem para esse computador, deixando ele mais confiável, menor, mais rápido e com maior espaço de armazenamento para dados.</a:t>
            </a:r>
            <a:endParaRPr lang="pt-BR" dirty="0"/>
          </a:p>
          <a:p>
            <a:endParaRPr lang="pt-BR" dirty="0"/>
          </a:p>
          <a:p>
            <a:r>
              <a:rPr lang="pt-BR" dirty="0" err="1"/>
              <a:t>http</a:t>
            </a:r>
            <a:r>
              <a:rPr lang="pt-BR" dirty="0"/>
              <a:t>://</a:t>
            </a:r>
            <a:r>
              <a:rPr lang="pt-BR" dirty="0" err="1"/>
              <a:t>www.edwardbosworth.com</a:t>
            </a:r>
            <a:r>
              <a:rPr lang="pt-BR" dirty="0"/>
              <a:t>/CPSC2105/</a:t>
            </a:r>
            <a:r>
              <a:rPr lang="pt-BR" dirty="0" err="1"/>
              <a:t>Lectures</a:t>
            </a:r>
            <a:r>
              <a:rPr lang="pt-BR" dirty="0"/>
              <a:t>/Slides_05/Chapter_01/</a:t>
            </a:r>
            <a:r>
              <a:rPr lang="pt-BR" dirty="0" err="1"/>
              <a:t>ModernComputers.htm</a:t>
            </a:r>
            <a:endParaRPr lang="pt-BR" dirty="0"/>
          </a:p>
          <a:p>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a:t> a file </a:t>
            </a:r>
            <a:r>
              <a:rPr lang="pt-BR" dirty="0" err="1"/>
              <a:t>recording</a:t>
            </a:r>
            <a:r>
              <a:rPr lang="pt-BR" dirty="0"/>
              <a:t> </a:t>
            </a:r>
            <a:r>
              <a:rPr lang="pt-BR" dirty="0" err="1"/>
              <a:t>the</a:t>
            </a:r>
            <a:r>
              <a:rPr lang="pt-BR" dirty="0"/>
              <a:t> </a:t>
            </a:r>
            <a:r>
              <a:rPr lang="pt-BR" dirty="0" err="1"/>
              <a:t>contents</a:t>
            </a:r>
            <a:r>
              <a:rPr lang="pt-BR" dirty="0"/>
              <a:t> </a:t>
            </a:r>
            <a:r>
              <a:rPr lang="pt-BR" dirty="0" err="1"/>
              <a:t>of</a:t>
            </a:r>
            <a:r>
              <a:rPr lang="pt-BR" dirty="0"/>
              <a:t> </a:t>
            </a:r>
            <a:r>
              <a:rPr lang="pt-BR" dirty="0" err="1"/>
              <a:t>memory</a:t>
            </a:r>
            <a:r>
              <a:rPr lang="pt-BR" dirty="0"/>
              <a:t> </a:t>
            </a:r>
            <a:r>
              <a:rPr lang="pt-BR" dirty="0" err="1"/>
              <a:t>after</a:t>
            </a:r>
            <a:r>
              <a:rPr lang="pt-BR" dirty="0"/>
              <a:t> a system </a:t>
            </a:r>
            <a:r>
              <a:rPr lang="pt-BR" dirty="0" err="1"/>
              <a:t>error</a:t>
            </a:r>
            <a:r>
              <a:rPr lang="pt-BR" dirty="0"/>
              <a:t> </a:t>
            </a:r>
            <a:r>
              <a:rPr lang="pt-BR" dirty="0" err="1"/>
              <a:t>is</a:t>
            </a:r>
            <a:r>
              <a:rPr lang="pt-BR" dirty="0"/>
              <a:t> </a:t>
            </a:r>
            <a:r>
              <a:rPr lang="pt-BR" dirty="0" err="1"/>
              <a:t>usually</a:t>
            </a:r>
            <a:r>
              <a:rPr lang="pt-BR" dirty="0"/>
              <a:t> </a:t>
            </a:r>
            <a:r>
              <a:rPr lang="pt-BR" dirty="0" err="1"/>
              <a:t>called</a:t>
            </a:r>
            <a:r>
              <a:rPr lang="pt-BR" dirty="0"/>
              <a:t> a core </a:t>
            </a:r>
            <a:r>
              <a:rPr lang="pt-BR" dirty="0" err="1"/>
              <a:t>dump</a:t>
            </a:r>
            <a:r>
              <a:rPr lang="pt-BR" dirty="0"/>
              <a:t>.</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28</a:t>
            </a:fld>
            <a:endParaRPr lang="pt-BR"/>
          </a:p>
        </p:txBody>
      </p:sp>
    </p:spTree>
    <p:extLst>
      <p:ext uri="{BB962C8B-B14F-4D97-AF65-F5344CB8AC3E}">
        <p14:creationId xmlns:p14="http://schemas.microsoft.com/office/powerpoint/2010/main" val="1819268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2400" dirty="0"/>
              <a:t>O </a:t>
            </a:r>
            <a:r>
              <a:rPr lang="pt-BR" sz="2400" dirty="0" err="1"/>
              <a:t>Whirlwind</a:t>
            </a:r>
            <a:r>
              <a:rPr lang="pt-BR" sz="2400" dirty="0"/>
              <a:t> </a:t>
            </a:r>
            <a:r>
              <a:rPr lang="pt-BR" sz="2400" dirty="0" err="1"/>
              <a:t>I</a:t>
            </a:r>
            <a:r>
              <a:rPr lang="pt-BR" sz="2400" baseline="0" dirty="0"/>
              <a:t> começou a ser usado no período da guerra fria para cálculos de balística, e os estados unidos da américa, criaram o SAGE que era uma rede de dezena prédios gigantescos espalhados pelo pais que armazenavam esses computadores, dois para cada prédio. Os computadores funcionaram dos anos 50 aos 80, quando já eram extremamente obsoletos.</a:t>
            </a:r>
          </a:p>
          <a:p>
            <a:endParaRPr lang="pt-BR" sz="2400" dirty="0"/>
          </a:p>
          <a:p>
            <a:endParaRPr lang="pt-BR" sz="2400" dirty="0"/>
          </a:p>
          <a:p>
            <a:r>
              <a:rPr lang="pt-BR" sz="2400" dirty="0"/>
              <a:t>Some </a:t>
            </a:r>
            <a:r>
              <a:rPr lang="pt-BR" sz="2400" dirty="0" err="1"/>
              <a:t>of</a:t>
            </a:r>
            <a:r>
              <a:rPr lang="pt-BR" sz="2400" dirty="0"/>
              <a:t> </a:t>
            </a:r>
            <a:r>
              <a:rPr lang="pt-BR" sz="2400" dirty="0" err="1"/>
              <a:t>the</a:t>
            </a:r>
            <a:r>
              <a:rPr lang="pt-BR" sz="2400" dirty="0"/>
              <a:t> </a:t>
            </a:r>
            <a:r>
              <a:rPr lang="pt-BR" sz="2400" dirty="0" err="1"/>
              <a:t>originally</a:t>
            </a:r>
            <a:r>
              <a:rPr lang="pt-BR" sz="2400" dirty="0"/>
              <a:t> </a:t>
            </a:r>
            <a:r>
              <a:rPr lang="pt-BR" sz="2400" dirty="0" err="1"/>
              <a:t>planned</a:t>
            </a:r>
            <a:r>
              <a:rPr lang="pt-BR" sz="2400" dirty="0"/>
              <a:t> 32 </a:t>
            </a:r>
            <a:r>
              <a:rPr lang="pt-BR" sz="2400" dirty="0" err="1"/>
              <a:t>DCs</a:t>
            </a:r>
            <a:r>
              <a:rPr lang="pt-BR" sz="2400" dirty="0"/>
              <a:t> </a:t>
            </a:r>
            <a:r>
              <a:rPr lang="pt-BR" sz="2400" dirty="0" err="1"/>
              <a:t>were</a:t>
            </a:r>
            <a:r>
              <a:rPr lang="pt-BR" sz="2400" dirty="0"/>
              <a:t> </a:t>
            </a:r>
            <a:r>
              <a:rPr lang="pt-BR" sz="2400" dirty="0" err="1"/>
              <a:t>never</a:t>
            </a:r>
            <a:r>
              <a:rPr lang="pt-BR" sz="2400" dirty="0"/>
              <a:t> </a:t>
            </a:r>
            <a:r>
              <a:rPr lang="pt-BR" sz="2400" dirty="0" err="1"/>
              <a:t>completed</a:t>
            </a:r>
            <a:endParaRPr lang="pt-BR" sz="2400" dirty="0"/>
          </a:p>
          <a:p>
            <a:r>
              <a:rPr lang="pt-BR" sz="2400" dirty="0" err="1"/>
              <a:t>https</a:t>
            </a:r>
            <a:r>
              <a:rPr lang="pt-BR" sz="2400" dirty="0"/>
              <a:t>://</a:t>
            </a:r>
            <a:r>
              <a:rPr lang="pt-BR" sz="2400" dirty="0" err="1"/>
              <a:t>scottlocklin.wordpress.com</a:t>
            </a:r>
            <a:r>
              <a:rPr lang="pt-BR" sz="2400" dirty="0"/>
              <a:t>/2013/03/28/</a:t>
            </a:r>
            <a:r>
              <a:rPr lang="pt-BR" sz="2400" dirty="0" err="1"/>
              <a:t>the-largest-computer-ever-built</a:t>
            </a:r>
            <a:r>
              <a:rPr lang="pt-BR" sz="2400" dirty="0"/>
              <a:t>/</a:t>
            </a:r>
          </a:p>
          <a:p>
            <a:r>
              <a:rPr lang="pt-BR" sz="2400" dirty="0" err="1"/>
              <a:t>https</a:t>
            </a:r>
            <a:r>
              <a:rPr lang="pt-BR" sz="2400" dirty="0"/>
              <a:t>://</a:t>
            </a:r>
            <a:r>
              <a:rPr lang="pt-BR" sz="2400" dirty="0" err="1"/>
              <a:t>en.wikipedia.org</a:t>
            </a:r>
            <a:r>
              <a:rPr lang="pt-BR" sz="2400" dirty="0"/>
              <a:t>/</a:t>
            </a:r>
            <a:r>
              <a:rPr lang="pt-BR" sz="2400" dirty="0" err="1"/>
              <a:t>wiki</a:t>
            </a:r>
            <a:r>
              <a:rPr lang="pt-BR" sz="2400" dirty="0"/>
              <a:t>/</a:t>
            </a:r>
            <a:r>
              <a:rPr lang="pt-BR" sz="2400" dirty="0" err="1"/>
              <a:t>Semi-Automatic_Ground_Environment</a:t>
            </a:r>
            <a:endParaRPr lang="pt-BR" sz="2400" dirty="0"/>
          </a:p>
          <a:p>
            <a:r>
              <a:rPr lang="pt-BR" sz="2400" dirty="0" err="1"/>
              <a:t>http</a:t>
            </a:r>
            <a:r>
              <a:rPr lang="pt-BR" sz="2400" dirty="0"/>
              <a:t>://</a:t>
            </a:r>
            <a:r>
              <a:rPr lang="pt-BR" sz="2400" dirty="0" err="1"/>
              <a:t>www.old-computers.com</a:t>
            </a:r>
            <a:r>
              <a:rPr lang="pt-BR" sz="2400" dirty="0"/>
              <a:t>/</a:t>
            </a:r>
            <a:r>
              <a:rPr lang="pt-BR" sz="2400" dirty="0" err="1"/>
              <a:t>museum</a:t>
            </a:r>
            <a:r>
              <a:rPr lang="pt-BR" sz="2400" dirty="0"/>
              <a:t>/</a:t>
            </a:r>
            <a:r>
              <a:rPr lang="pt-BR" sz="2400" dirty="0" err="1"/>
              <a:t>computer.asp?c</a:t>
            </a:r>
            <a:r>
              <a:rPr lang="pt-BR" sz="2400" dirty="0"/>
              <a:t>=1050&amp;st=1</a:t>
            </a:r>
          </a:p>
          <a:p>
            <a:r>
              <a:rPr lang="pt-BR" sz="2400" dirty="0" err="1"/>
              <a:t>http</a:t>
            </a:r>
            <a:r>
              <a:rPr lang="pt-BR" sz="2400" dirty="0"/>
              <a:t>://</a:t>
            </a:r>
            <a:r>
              <a:rPr lang="pt-BR" sz="2400" dirty="0" err="1"/>
              <a:t>www.old-computers.com</a:t>
            </a:r>
            <a:r>
              <a:rPr lang="pt-BR" sz="2400" dirty="0"/>
              <a:t>/</a:t>
            </a:r>
            <a:r>
              <a:rPr lang="pt-BR" sz="2400" dirty="0" err="1"/>
              <a:t>museum</a:t>
            </a:r>
            <a:r>
              <a:rPr lang="pt-BR" sz="2400" dirty="0"/>
              <a:t>/</a:t>
            </a:r>
            <a:r>
              <a:rPr lang="pt-BR" sz="2400" dirty="0" err="1"/>
              <a:t>computer.asp?c</a:t>
            </a:r>
            <a:r>
              <a:rPr lang="pt-BR" sz="2400" dirty="0"/>
              <a:t>=1047</a:t>
            </a:r>
          </a:p>
          <a:p>
            <a:r>
              <a:rPr lang="pt-BR" sz="2400" dirty="0" err="1"/>
              <a:t>http</a:t>
            </a:r>
            <a:r>
              <a:rPr lang="pt-BR" sz="2400" dirty="0"/>
              <a:t>://</a:t>
            </a:r>
            <a:r>
              <a:rPr lang="pt-BR" sz="2400" dirty="0" err="1"/>
              <a:t>www.computermuseum.li</a:t>
            </a:r>
            <a:r>
              <a:rPr lang="pt-BR" sz="2400" dirty="0"/>
              <a:t>/</a:t>
            </a:r>
            <a:r>
              <a:rPr lang="pt-BR" sz="2400" dirty="0" err="1"/>
              <a:t>Testpage</a:t>
            </a:r>
            <a:r>
              <a:rPr lang="pt-BR" sz="2400" dirty="0"/>
              <a:t>/IBM-SAGE-</a:t>
            </a:r>
            <a:r>
              <a:rPr lang="pt-BR" sz="2400" dirty="0" err="1"/>
              <a:t>computer.htm</a:t>
            </a:r>
            <a:endParaRPr lang="pt-BR" sz="2400" dirty="0"/>
          </a:p>
          <a:p>
            <a:r>
              <a:rPr lang="pt-BR" sz="1600" dirty="0" err="1"/>
              <a:t>http</a:t>
            </a:r>
            <a:r>
              <a:rPr lang="pt-BR" sz="1600" dirty="0"/>
              <a:t>://</a:t>
            </a:r>
            <a:r>
              <a:rPr lang="pt-BR" sz="1600" dirty="0" err="1"/>
              <a:t>history-computer.com</a:t>
            </a:r>
            <a:r>
              <a:rPr lang="pt-BR" sz="1600" dirty="0"/>
              <a:t>/</a:t>
            </a:r>
            <a:r>
              <a:rPr lang="pt-BR" sz="1600" dirty="0" err="1"/>
              <a:t>ModernComputer</a:t>
            </a:r>
            <a:r>
              <a:rPr lang="pt-BR" sz="1600" dirty="0"/>
              <a:t>/</a:t>
            </a:r>
            <a:r>
              <a:rPr lang="pt-BR" sz="1600" dirty="0" err="1"/>
              <a:t>Electronic</a:t>
            </a:r>
            <a:r>
              <a:rPr lang="pt-BR" sz="1600" dirty="0"/>
              <a:t>/</a:t>
            </a:r>
            <a:r>
              <a:rPr lang="pt-BR" sz="1600" dirty="0" err="1"/>
              <a:t>SAGE.html</a:t>
            </a:r>
            <a:endParaRPr lang="pt-BR" sz="1600" dirty="0"/>
          </a:p>
        </p:txBody>
      </p:sp>
      <p:sp>
        <p:nvSpPr>
          <p:cNvPr id="4" name="Slide Number Placeholder 3"/>
          <p:cNvSpPr>
            <a:spLocks noGrp="1"/>
          </p:cNvSpPr>
          <p:nvPr>
            <p:ph type="sldNum" sz="quarter" idx="10"/>
          </p:nvPr>
        </p:nvSpPr>
        <p:spPr/>
        <p:txBody>
          <a:bodyPr/>
          <a:lstStyle/>
          <a:p>
            <a:fld id="{F23FB91E-A0DC-4A5F-B463-D7B8E79502D1}" type="slidenum">
              <a:rPr lang="pt-BR" smtClean="0"/>
              <a:t>29</a:t>
            </a:fld>
            <a:endParaRPr lang="pt-BR"/>
          </a:p>
        </p:txBody>
      </p:sp>
    </p:spTree>
    <p:extLst>
      <p:ext uri="{BB962C8B-B14F-4D97-AF65-F5344CB8AC3E}">
        <p14:creationId xmlns:p14="http://schemas.microsoft.com/office/powerpoint/2010/main" val="23381467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www.cray.com</a:t>
            </a:r>
            <a:r>
              <a:rPr lang="pt-BR" dirty="0"/>
              <a:t>/</a:t>
            </a:r>
            <a:r>
              <a:rPr lang="pt-BR" dirty="0" err="1"/>
              <a:t>company</a:t>
            </a:r>
            <a:r>
              <a:rPr lang="pt-BR" dirty="0"/>
              <a:t>/</a:t>
            </a:r>
            <a:r>
              <a:rPr lang="pt-BR"/>
              <a:t>history</a:t>
            </a:r>
          </a:p>
        </p:txBody>
      </p:sp>
      <p:sp>
        <p:nvSpPr>
          <p:cNvPr id="4" name="Slide Number Placeholder 3"/>
          <p:cNvSpPr>
            <a:spLocks noGrp="1"/>
          </p:cNvSpPr>
          <p:nvPr>
            <p:ph type="sldNum" sz="quarter" idx="10"/>
          </p:nvPr>
        </p:nvSpPr>
        <p:spPr/>
        <p:txBody>
          <a:bodyPr/>
          <a:lstStyle/>
          <a:p>
            <a:fld id="{F23FB91E-A0DC-4A5F-B463-D7B8E79502D1}" type="slidenum">
              <a:rPr lang="pt-BR" smtClean="0"/>
              <a:t>30</a:t>
            </a:fld>
            <a:endParaRPr lang="pt-BR"/>
          </a:p>
        </p:txBody>
      </p:sp>
    </p:spTree>
    <p:extLst>
      <p:ext uri="{BB962C8B-B14F-4D97-AF65-F5344CB8AC3E}">
        <p14:creationId xmlns:p14="http://schemas.microsoft.com/office/powerpoint/2010/main" val="29248549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4" name="Espaço Reservado para Data 3"/>
          <p:cNvSpPr>
            <a:spLocks noGrp="1"/>
          </p:cNvSpPr>
          <p:nvPr>
            <p:ph type="dt" sz="half" idx="10"/>
          </p:nvPr>
        </p:nvSpPr>
        <p:spPr/>
        <p:txBody>
          <a:bodyPr/>
          <a:lstStyle>
            <a:lvl1pPr>
              <a:defRPr>
                <a:solidFill>
                  <a:srgbClr val="BCBEC0"/>
                </a:solidFill>
              </a:defRPr>
            </a:lvl1pPr>
          </a:lstStyle>
          <a:p>
            <a:fld id="{CC8788FA-9D8F-3C45-9A7B-393163C83DF0}" type="datetime1">
              <a:rPr lang="en-US" smtClean="0"/>
              <a:t>9/14/26</a:t>
            </a:fld>
            <a:endParaRPr lang="pt-BR" dirty="0"/>
          </a:p>
        </p:txBody>
      </p:sp>
      <p:sp>
        <p:nvSpPr>
          <p:cNvPr id="5" name="Espaço Reservado para Rodapé 4"/>
          <p:cNvSpPr>
            <a:spLocks noGrp="1"/>
          </p:cNvSpPr>
          <p:nvPr>
            <p:ph type="ftr" sz="quarter" idx="11"/>
          </p:nvPr>
        </p:nvSpPr>
        <p:spPr/>
        <p:txBody>
          <a:bodyPr/>
          <a:lstStyle>
            <a:lvl1pPr>
              <a:defRPr>
                <a:solidFill>
                  <a:srgbClr val="BCBEC0"/>
                </a:solidFill>
              </a:defRPr>
            </a:lvl1pPr>
          </a:lstStyle>
          <a:p>
            <a:endParaRPr lang="pt-BR" dirty="0"/>
          </a:p>
        </p:txBody>
      </p:sp>
      <p:sp>
        <p:nvSpPr>
          <p:cNvPr id="6" name="Espaço Reservado para Número de Slide 5"/>
          <p:cNvSpPr>
            <a:spLocks noGrp="1"/>
          </p:cNvSpPr>
          <p:nvPr>
            <p:ph type="sldNum" sz="quarter" idx="12"/>
          </p:nvPr>
        </p:nvSpPr>
        <p:spPr/>
        <p:txBody>
          <a:bodyPr/>
          <a:lstStyle>
            <a:lvl1pPr>
              <a:defRPr>
                <a:solidFill>
                  <a:srgbClr val="BCBEC0"/>
                </a:solidFill>
              </a:defRPr>
            </a:lvl1pPr>
          </a:lstStyle>
          <a:p>
            <a:fld id="{7FFE5E5C-C80A-4D8D-A711-3102A7BA9258}" type="slidenum">
              <a:rPr lang="pt-BR" smtClean="0"/>
              <a:pPr/>
              <a:t>‹#›</a:t>
            </a:fld>
            <a:endParaRPr lang="pt-BR" dirty="0"/>
          </a:p>
        </p:txBody>
      </p:sp>
      <p:pic>
        <p:nvPicPr>
          <p:cNvPr id="7" name="Imagem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857" y="0"/>
            <a:ext cx="9138285" cy="6858000"/>
          </a:xfrm>
          <a:prstGeom prst="rect">
            <a:avLst/>
          </a:prstGeom>
        </p:spPr>
      </p:pic>
      <p:sp>
        <p:nvSpPr>
          <p:cNvPr id="9" name="Espaço Reservado para Conteúdo 2"/>
          <p:cNvSpPr>
            <a:spLocks noGrp="1"/>
          </p:cNvSpPr>
          <p:nvPr>
            <p:ph idx="1" hasCustomPrompt="1"/>
          </p:nvPr>
        </p:nvSpPr>
        <p:spPr>
          <a:xfrm>
            <a:off x="966786" y="2714625"/>
            <a:ext cx="7343775" cy="714375"/>
          </a:xfrm>
          <a:prstGeom prst="rect">
            <a:avLst/>
          </a:prstGeom>
        </p:spPr>
        <p:txBody>
          <a:bodyPr>
            <a:normAutofit/>
          </a:bodyPr>
          <a:lstStyle>
            <a:lvl1pPr marL="0" indent="0" algn="ctr">
              <a:buFontTx/>
              <a:buNone/>
              <a:defRPr sz="3600" b="1">
                <a:solidFill>
                  <a:schemeClr val="bg1"/>
                </a:solidFill>
              </a:defRPr>
            </a:lvl1pPr>
            <a:lvl2pPr>
              <a:defRPr sz="1800"/>
            </a:lvl2pPr>
            <a:lvl3pPr>
              <a:defRPr sz="1800"/>
            </a:lvl3pPr>
            <a:lvl4pPr>
              <a:defRPr sz="1800"/>
            </a:lvl4pPr>
            <a:lvl5pPr>
              <a:defRPr sz="1800"/>
            </a:lvl5pPr>
          </a:lstStyle>
          <a:p>
            <a:pPr lvl="0"/>
            <a:r>
              <a:rPr lang="pt-BR" dirty="0"/>
              <a:t>Clique para editar o título</a:t>
            </a:r>
          </a:p>
        </p:txBody>
      </p:sp>
      <p:sp>
        <p:nvSpPr>
          <p:cNvPr id="10" name="Espaço Reservado para Conteúdo 2"/>
          <p:cNvSpPr>
            <a:spLocks noGrp="1"/>
          </p:cNvSpPr>
          <p:nvPr>
            <p:ph idx="13" hasCustomPrompt="1"/>
          </p:nvPr>
        </p:nvSpPr>
        <p:spPr>
          <a:xfrm>
            <a:off x="966786" y="3429001"/>
            <a:ext cx="7343775" cy="476250"/>
          </a:xfrm>
          <a:prstGeom prst="rect">
            <a:avLst/>
          </a:prstGeom>
        </p:spPr>
        <p:txBody>
          <a:bodyPr>
            <a:normAutofit/>
          </a:bodyPr>
          <a:lstStyle>
            <a:lvl1pPr marL="0" indent="0" algn="ctr">
              <a:buFontTx/>
              <a:buNone/>
              <a:defRPr sz="2000" b="0">
                <a:solidFill>
                  <a:schemeClr val="bg1"/>
                </a:solidFill>
              </a:defRPr>
            </a:lvl1pPr>
            <a:lvl2pPr>
              <a:defRPr sz="1800"/>
            </a:lvl2pPr>
            <a:lvl3pPr>
              <a:defRPr sz="1800"/>
            </a:lvl3pPr>
            <a:lvl4pPr>
              <a:defRPr sz="1800"/>
            </a:lvl4pPr>
            <a:lvl5pPr>
              <a:defRPr sz="1800"/>
            </a:lvl5pPr>
          </a:lstStyle>
          <a:p>
            <a:pPr lvl="0"/>
            <a:r>
              <a:rPr lang="pt-BR" dirty="0"/>
              <a:t>Clique para editar o subtítulo</a:t>
            </a:r>
          </a:p>
        </p:txBody>
      </p:sp>
      <p:sp>
        <p:nvSpPr>
          <p:cNvPr id="11" name="Espaço Reservado para Conteúdo 2"/>
          <p:cNvSpPr>
            <a:spLocks noGrp="1"/>
          </p:cNvSpPr>
          <p:nvPr>
            <p:ph idx="14" hasCustomPrompt="1"/>
          </p:nvPr>
        </p:nvSpPr>
        <p:spPr>
          <a:xfrm>
            <a:off x="900111" y="6356349"/>
            <a:ext cx="7343775" cy="238125"/>
          </a:xfrm>
          <a:prstGeom prst="rect">
            <a:avLst/>
          </a:prstGeom>
        </p:spPr>
        <p:txBody>
          <a:bodyPr>
            <a:normAutofit/>
          </a:bodyPr>
          <a:lstStyle>
            <a:lvl1pPr marL="0" indent="0" algn="ctr">
              <a:buFontTx/>
              <a:buNone/>
              <a:defRPr sz="1400" b="0" baseline="0">
                <a:solidFill>
                  <a:schemeClr val="bg1"/>
                </a:solidFill>
              </a:defRPr>
            </a:lvl1pPr>
            <a:lvl2pPr>
              <a:defRPr sz="1800"/>
            </a:lvl2pPr>
            <a:lvl3pPr>
              <a:defRPr sz="1800"/>
            </a:lvl3pPr>
            <a:lvl4pPr>
              <a:defRPr sz="1800"/>
            </a:lvl4pPr>
            <a:lvl5pPr>
              <a:defRPr sz="1800"/>
            </a:lvl5pPr>
          </a:lstStyle>
          <a:p>
            <a:pPr lvl="0"/>
            <a:r>
              <a:rPr lang="pt-BR" dirty="0"/>
              <a:t>Clique para editar a data e o nome da área ou disciplina</a:t>
            </a:r>
          </a:p>
        </p:txBody>
      </p:sp>
    </p:spTree>
    <p:extLst>
      <p:ext uri="{BB962C8B-B14F-4D97-AF65-F5344CB8AC3E}">
        <p14:creationId xmlns:p14="http://schemas.microsoft.com/office/powerpoint/2010/main" val="2529634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5" name="Espaço Reservado para Número de Slide 5"/>
          <p:cNvSpPr>
            <a:spLocks noGrp="1"/>
          </p:cNvSpPr>
          <p:nvPr>
            <p:ph type="sldNum" sz="quarter" idx="4"/>
          </p:nvPr>
        </p:nvSpPr>
        <p:spPr>
          <a:xfrm>
            <a:off x="84172" y="6402174"/>
            <a:ext cx="641516"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84813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AB1C2149-89A1-2143-B6CB-10E4BD2D3370}" type="datetime1">
              <a:rPr lang="en-US" smtClean="0"/>
              <a:t>9/14/26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635760" cy="365125"/>
          </a:xfrm>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18" name="Espaço Reservado para Texto 4"/>
          <p:cNvSpPr>
            <a:spLocks noGrp="1"/>
          </p:cNvSpPr>
          <p:nvPr>
            <p:ph type="body" sz="quarter" idx="15" hasCustomPrompt="1"/>
          </p:nvPr>
        </p:nvSpPr>
        <p:spPr>
          <a:xfrm>
            <a:off x="4714875" y="1484313"/>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0" name="Espaço Reservado para Texto 4"/>
          <p:cNvSpPr>
            <a:spLocks noGrp="1"/>
          </p:cNvSpPr>
          <p:nvPr>
            <p:ph type="body" sz="quarter" idx="16" hasCustomPrompt="1"/>
          </p:nvPr>
        </p:nvSpPr>
        <p:spPr>
          <a:xfrm>
            <a:off x="657225" y="1487488"/>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1" name="Espaço Reservado para Conteúdo 2"/>
          <p:cNvSpPr>
            <a:spLocks noGrp="1"/>
          </p:cNvSpPr>
          <p:nvPr>
            <p:ph idx="1"/>
          </p:nvPr>
        </p:nvSpPr>
        <p:spPr>
          <a:xfrm>
            <a:off x="657225" y="2181225"/>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2190750"/>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 name="TextBox 1"/>
          <p:cNvSpPr txBox="1"/>
          <p:nvPr userDrawn="1"/>
        </p:nvSpPr>
        <p:spPr>
          <a:xfrm>
            <a:off x="7640320" y="6482080"/>
            <a:ext cx="184731" cy="369332"/>
          </a:xfrm>
          <a:prstGeom prst="rect">
            <a:avLst/>
          </a:prstGeom>
          <a:noFill/>
        </p:spPr>
        <p:txBody>
          <a:bodyPr wrap="none" rtlCol="0">
            <a:spAutoFit/>
          </a:bodyPr>
          <a:lstStyle/>
          <a:p>
            <a:endParaRPr lang="en-US"/>
          </a:p>
        </p:txBody>
      </p:sp>
      <p:sp>
        <p:nvSpPr>
          <p:cNvPr id="3" name="TextBox 2"/>
          <p:cNvSpPr txBox="1"/>
          <p:nvPr userDrawn="1"/>
        </p:nvSpPr>
        <p:spPr>
          <a:xfrm>
            <a:off x="7112000" y="6563360"/>
            <a:ext cx="396240" cy="369332"/>
          </a:xfrm>
          <a:prstGeom prst="rect">
            <a:avLst/>
          </a:prstGeom>
          <a:noFill/>
        </p:spPr>
        <p:txBody>
          <a:bodyPr wrap="square" rtlCol="0">
            <a:spAutoFit/>
          </a:bodyPr>
          <a:lstStyle/>
          <a:p>
            <a:endParaRPr lang="en-US"/>
          </a:p>
        </p:txBody>
      </p:sp>
      <p:sp>
        <p:nvSpPr>
          <p:cNvPr id="13" name="TextBox 12"/>
          <p:cNvSpPr txBox="1"/>
          <p:nvPr userDrawn="1"/>
        </p:nvSpPr>
        <p:spPr>
          <a:xfrm>
            <a:off x="7106920" y="6356350"/>
            <a:ext cx="39624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09930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372D7956-45FE-0B43-9FB1-4BE9D905D684}" type="datetime1">
              <a:rPr lang="en-US" smtClean="0"/>
              <a:t>9/14/26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5"/>
            <a:ext cx="3971925" cy="466725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90036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2316C89B-46A1-944B-8294-819B08567B54}" type="datetime1">
              <a:rPr lang="en-US" smtClean="0"/>
              <a:t>9/14/26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503680" cy="365125"/>
          </a:xfrm>
        </p:spPr>
        <p:txBody>
          <a:bodyPr/>
          <a:lstStyle/>
          <a:p>
            <a:fld id="{7FFE5E5C-C80A-4D8D-A711-3102A7BA9258}" type="slidenum">
              <a:rPr lang="pt-BR" smtClean="0"/>
              <a:t>‹#›</a:t>
            </a:fld>
            <a:endParaRPr lang="pt-BR" dirty="0"/>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4"/>
            <a:ext cx="3971925" cy="24288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0" name="Espaço Reservado para Imagem 2"/>
          <p:cNvSpPr>
            <a:spLocks noGrp="1"/>
          </p:cNvSpPr>
          <p:nvPr>
            <p:ph type="pic" idx="15"/>
          </p:nvPr>
        </p:nvSpPr>
        <p:spPr>
          <a:xfrm>
            <a:off x="657224" y="4086225"/>
            <a:ext cx="3971925" cy="17049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11" name="Espaço Reservado para Texto 7"/>
          <p:cNvSpPr>
            <a:spLocks noGrp="1"/>
          </p:cNvSpPr>
          <p:nvPr>
            <p:ph type="body" sz="quarter" idx="16" hasCustomPrompt="1"/>
          </p:nvPr>
        </p:nvSpPr>
        <p:spPr>
          <a:xfrm>
            <a:off x="657225" y="5791200"/>
            <a:ext cx="3971924" cy="352425"/>
          </a:xfrm>
          <a:prstGeom prst="rect">
            <a:avLst/>
          </a:prstGeom>
        </p:spPr>
        <p:txBody>
          <a:bodyPr>
            <a:normAutofit/>
          </a:bodyPr>
          <a:lstStyle>
            <a:lvl1pPr marL="0" indent="0">
              <a:buNone/>
              <a:defRPr sz="1100" b="0" i="1" baseline="0">
                <a:solidFill>
                  <a:srgbClr val="BCBEC0"/>
                </a:solidFill>
              </a:defRPr>
            </a:lvl1pPr>
          </a:lstStyle>
          <a:p>
            <a:pPr lvl="0"/>
            <a:r>
              <a:rPr lang="pt-BR" dirty="0"/>
              <a:t>Clique para editar a legenda mestre</a:t>
            </a:r>
          </a:p>
        </p:txBody>
      </p:sp>
      <p:sp>
        <p:nvSpPr>
          <p:cNvPr id="12" name="TextBox 11"/>
          <p:cNvSpPr txBox="1"/>
          <p:nvPr userDrawn="1"/>
        </p:nvSpPr>
        <p:spPr>
          <a:xfrm>
            <a:off x="7386320" y="6356350"/>
            <a:ext cx="46736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87477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3" name="Espaço Reservado para Imagem 2"/>
          <p:cNvSpPr>
            <a:spLocks noGrp="1"/>
          </p:cNvSpPr>
          <p:nvPr>
            <p:ph type="pic" idx="1"/>
          </p:nvPr>
        </p:nvSpPr>
        <p:spPr>
          <a:xfrm>
            <a:off x="4924424" y="0"/>
            <a:ext cx="421957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5" name="Espaço Reservado para Data 4"/>
          <p:cNvSpPr>
            <a:spLocks noGrp="1"/>
          </p:cNvSpPr>
          <p:nvPr>
            <p:ph type="dt" sz="half" idx="10"/>
          </p:nvPr>
        </p:nvSpPr>
        <p:spPr/>
        <p:txBody>
          <a:bodyPr/>
          <a:lstStyle/>
          <a:p>
            <a:fld id="{02FE0B43-6A8C-D94C-A4F4-9A1865BE9A40}" type="datetime1">
              <a:rPr lang="en-US" smtClean="0"/>
              <a:t>9/14/26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FFE5E5C-C80A-4D8D-A711-3102A7BA9258}" type="slidenum">
              <a:rPr lang="pt-BR" smtClean="0"/>
              <a:t>‹#›</a:t>
            </a:fld>
            <a:endParaRPr lang="pt-BR"/>
          </a:p>
        </p:txBody>
      </p:sp>
      <p:sp>
        <p:nvSpPr>
          <p:cNvPr id="8" name="Título 1"/>
          <p:cNvSpPr>
            <a:spLocks noGrp="1"/>
          </p:cNvSpPr>
          <p:nvPr>
            <p:ph type="title" hasCustomPrompt="1"/>
          </p:nvPr>
        </p:nvSpPr>
        <p:spPr>
          <a:xfrm>
            <a:off x="457200" y="781050"/>
            <a:ext cx="4363508" cy="619125"/>
          </a:xfrm>
          <a:prstGeom prst="rect">
            <a:avLst/>
          </a:prstGeom>
        </p:spPr>
        <p:txBody>
          <a:bodyPr/>
          <a:lstStyle>
            <a:lvl1pPr>
              <a:defRPr baseline="0"/>
            </a:lvl1pPr>
          </a:lstStyle>
          <a:p>
            <a:r>
              <a:rPr lang="pt-BR" dirty="0"/>
              <a:t>Edite o título mestre</a:t>
            </a:r>
          </a:p>
        </p:txBody>
      </p:sp>
      <p:sp>
        <p:nvSpPr>
          <p:cNvPr id="9" name="Espaço Reservado para Conteúdo 2"/>
          <p:cNvSpPr>
            <a:spLocks noGrp="1"/>
          </p:cNvSpPr>
          <p:nvPr>
            <p:ph idx="13"/>
          </p:nvPr>
        </p:nvSpPr>
        <p:spPr>
          <a:xfrm>
            <a:off x="657225" y="1485900"/>
            <a:ext cx="4163483"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45108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2" name="Picture 1" descr="fundo_ppt1.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fundo_ppt1_ok.jpg"/>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A8EA56D1-9008-324A-AE78-6F3716B85DF9}" type="datetime1">
              <a:rPr lang="en-US" smtClean="0"/>
              <a:t>9/14/26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695403014"/>
      </p:ext>
    </p:extLst>
  </p:cSld>
  <p:clrMap bg1="lt1" tx1="dk1" bg2="lt2" tx2="dk2" accent1="accent1" accent2="accent2" accent3="accent3" accent4="accent4" accent5="accent5" accent6="accent6" hlink="hlink" folHlink="folHlink"/>
  <p:sldLayoutIdLst>
    <p:sldLayoutId id="2147483653" r:id="rId1"/>
    <p:sldLayoutId id="2147483668" r:id="rId2"/>
    <p:sldLayoutId id="2147483656" r:id="rId3"/>
    <p:sldLayoutId id="2147483666" r:id="rId4"/>
    <p:sldLayoutId id="2147483667" r:id="rId5"/>
    <p:sldLayoutId id="2147483660" r:id="rId6"/>
    <p:sldLayoutId id="2147483662" r:id="rId7"/>
  </p:sldLayoutIdLst>
  <p:hf hdr="0" ftr="0" dt="0"/>
  <p:txStyles>
    <p:titleStyle>
      <a:lvl1pPr algn="l" defTabSz="914400" rtl="0" eaLnBrk="1" latinLnBrk="0" hangingPunct="1">
        <a:spcBef>
          <a:spcPct val="0"/>
        </a:spcBef>
        <a:buNone/>
        <a:defRPr sz="3200" kern="1200">
          <a:solidFill>
            <a:srgbClr val="C00026"/>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psoares@insper.edu.br?subject=e-mail%20professor%20Luciano%20Soar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8.jpeg"/><Relationship Id="rId5" Type="http://schemas.openxmlformats.org/officeDocument/2006/relationships/image" Target="../media/image7.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gi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33.tiff"/><Relationship Id="rId4" Type="http://schemas.openxmlformats.org/officeDocument/2006/relationships/image" Target="../media/image32.tiff"/></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3.jpg"/></Relationships>
</file>

<file path=ppt/slides/_rels/slide29.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6.jpg"/><Relationship Id="rId4" Type="http://schemas.openxmlformats.org/officeDocument/2006/relationships/image" Target="../media/image45.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66786" y="2384425"/>
            <a:ext cx="7343775" cy="714375"/>
          </a:xfrm>
        </p:spPr>
        <p:txBody>
          <a:bodyPr>
            <a:normAutofit fontScale="32500" lnSpcReduction="20000"/>
          </a:bodyPr>
          <a:lstStyle/>
          <a:p>
            <a:pPr lvl="0" defTabSz="457200">
              <a:spcBef>
                <a:spcPct val="0"/>
              </a:spcBef>
              <a:spcAft>
                <a:spcPts val="600"/>
              </a:spcAft>
              <a:defRPr/>
            </a:pPr>
            <a:r>
              <a:rPr lang="pt-BR" sz="14400" noProof="0" dirty="0">
                <a:latin typeface="Verdana"/>
                <a:cs typeface="Verdana"/>
              </a:rPr>
              <a:t>Bits e Processadores</a:t>
            </a:r>
          </a:p>
        </p:txBody>
      </p:sp>
      <p:sp>
        <p:nvSpPr>
          <p:cNvPr id="3" name="Espaço Reservado para Conteúdo 2"/>
          <p:cNvSpPr>
            <a:spLocks noGrp="1"/>
          </p:cNvSpPr>
          <p:nvPr>
            <p:ph idx="13"/>
          </p:nvPr>
        </p:nvSpPr>
        <p:spPr/>
        <p:txBody>
          <a:bodyPr/>
          <a:lstStyle/>
          <a:p>
            <a:r>
              <a:rPr lang="pt-BR" dirty="0">
                <a:latin typeface="Verdana"/>
                <a:cs typeface="Verdana"/>
              </a:rPr>
              <a:t>Lógica Sequencial e Memórias</a:t>
            </a:r>
          </a:p>
          <a:p>
            <a:endParaRPr lang="pt-BR" dirty="0"/>
          </a:p>
        </p:txBody>
      </p:sp>
      <p:sp>
        <p:nvSpPr>
          <p:cNvPr id="9" name="Espaço Reservado para Conteúdo 3"/>
          <p:cNvSpPr>
            <a:spLocks noGrp="1"/>
          </p:cNvSpPr>
          <p:nvPr>
            <p:ph idx="14"/>
          </p:nvPr>
        </p:nvSpPr>
        <p:spPr>
          <a:xfrm>
            <a:off x="900111" y="6233375"/>
            <a:ext cx="7343775" cy="361099"/>
          </a:xfrm>
        </p:spPr>
        <p:txBody>
          <a:bodyPr>
            <a:normAutofit/>
          </a:bodyPr>
          <a:lstStyle/>
          <a:p>
            <a:pPr algn="r"/>
            <a:r>
              <a:rPr lang="pt-BR" dirty="0"/>
              <a:t>Ciência da Computação - Luciano Soares </a:t>
            </a:r>
            <a:r>
              <a:rPr lang="pt-BR" dirty="0">
                <a:solidFill>
                  <a:schemeClr val="tx2">
                    <a:lumMod val="40000"/>
                    <a:lumOff val="60000"/>
                  </a:schemeClr>
                </a:solidFill>
                <a:hlinkClick r:id="rId3" invalidUrl="mailto:lpsoares@insper.edu.br?subject=e-mail professor Luciano Soares"/>
              </a:rPr>
              <a:t>&lt;lpsoares@insper.edu.br&gt;</a:t>
            </a:r>
            <a:endParaRPr lang="pt-BR" dirty="0">
              <a:solidFill>
                <a:schemeClr val="tx2">
                  <a:lumMod val="40000"/>
                  <a:lumOff val="60000"/>
                </a:schemeClr>
              </a:solidFill>
            </a:endParaRPr>
          </a:p>
          <a:p>
            <a:pPr algn="r"/>
            <a:endParaRPr lang="pt-BR" dirty="0"/>
          </a:p>
          <a:p>
            <a:pPr algn="r"/>
            <a:endParaRPr lang="pt-BR" dirty="0"/>
          </a:p>
        </p:txBody>
      </p:sp>
      <p:sp>
        <p:nvSpPr>
          <p:cNvPr id="10" name="Rectangle 9"/>
          <p:cNvSpPr/>
          <p:nvPr/>
        </p:nvSpPr>
        <p:spPr>
          <a:xfrm>
            <a:off x="193183" y="4539921"/>
            <a:ext cx="8822028" cy="1123384"/>
          </a:xfrm>
          <a:prstGeom prst="rect">
            <a:avLst/>
          </a:prstGeom>
        </p:spPr>
        <p:txBody>
          <a:bodyPr wrap="square">
            <a:spAutoFit/>
          </a:bodyPr>
          <a:lstStyle/>
          <a:p>
            <a:r>
              <a:rPr lang="pt-BR" sz="1700" dirty="0">
                <a:solidFill>
                  <a:schemeClr val="bg1"/>
                </a:solidFill>
              </a:rPr>
              <a:t>"É mísera espécie de memória essa, que só funciona para trás."</a:t>
            </a:r>
          </a:p>
          <a:p>
            <a:r>
              <a:rPr lang="en-US" sz="1700" dirty="0">
                <a:solidFill>
                  <a:schemeClr val="bg1"/>
                </a:solidFill>
              </a:rPr>
              <a:t>"It’s a poor sort of memory that only works backward."</a:t>
            </a:r>
          </a:p>
          <a:p>
            <a:r>
              <a:rPr lang="pt-BR" sz="1700" dirty="0">
                <a:solidFill>
                  <a:schemeClr val="bg1"/>
                </a:solidFill>
              </a:rPr>
              <a:t>Lewis Carroll (1832–1898) , Romancista Americano</a:t>
            </a:r>
          </a:p>
          <a:p>
            <a:r>
              <a:rPr lang="pt-BR" sz="1600" b="1" dirty="0">
                <a:solidFill>
                  <a:schemeClr val="bg1"/>
                </a:solidFill>
              </a:rPr>
              <a:t>apud Nisan, N. &amp; Schocken, S. 2005. </a:t>
            </a:r>
            <a:r>
              <a:rPr lang="en-US" sz="1600" b="1" dirty="0">
                <a:solidFill>
                  <a:schemeClr val="bg1"/>
                </a:solidFill>
              </a:rPr>
              <a:t>Elements of Computing Systems</a:t>
            </a:r>
          </a:p>
        </p:txBody>
      </p:sp>
    </p:spTree>
    <p:extLst>
      <p:ext uri="{BB962C8B-B14F-4D97-AF65-F5344CB8AC3E}">
        <p14:creationId xmlns:p14="http://schemas.microsoft.com/office/powerpoint/2010/main" val="284234699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Colossus</a:t>
            </a:r>
          </a:p>
        </p:txBody>
      </p:sp>
      <p:sp>
        <p:nvSpPr>
          <p:cNvPr id="3" name="Content Placeholder 2"/>
          <p:cNvSpPr>
            <a:spLocks noGrp="1"/>
          </p:cNvSpPr>
          <p:nvPr>
            <p:ph idx="1"/>
          </p:nvPr>
        </p:nvSpPr>
        <p:spPr>
          <a:xfrm>
            <a:off x="234882" y="1485900"/>
            <a:ext cx="5058336" cy="2562420"/>
          </a:xfrm>
        </p:spPr>
        <p:txBody>
          <a:bodyPr>
            <a:normAutofit lnSpcReduction="10000"/>
          </a:bodyPr>
          <a:lstStyle/>
          <a:p>
            <a:r>
              <a:rPr lang="pt-BR" sz="2200" dirty="0"/>
              <a:t>O Colossus foi um computador britânico de 1700 válvulas, feito em 1943 para decifrar códigos nazistas durante a Segunda Guerra Mundial. O computador foi desmontado e planos foram destruídos para manter o projeto em segredo.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a:t>
            </a:fld>
            <a:endParaRPr lang="pt-BR" dirty="0"/>
          </a:p>
        </p:txBody>
      </p:sp>
      <p:pic>
        <p:nvPicPr>
          <p:cNvPr id="6" name="Picture 5" descr="25015-050-56261DBD.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338" y="1512360"/>
            <a:ext cx="3498781" cy="2350743"/>
          </a:xfrm>
          <a:prstGeom prst="rect">
            <a:avLst/>
          </a:prstGeom>
        </p:spPr>
      </p:pic>
      <p:pic>
        <p:nvPicPr>
          <p:cNvPr id="7" name="Picture 6" descr="102681565p-03-01.jpg"/>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7433" y="4048320"/>
            <a:ext cx="3621335" cy="2716002"/>
          </a:xfrm>
          <a:prstGeom prst="rect">
            <a:avLst/>
          </a:prstGeom>
        </p:spPr>
      </p:pic>
      <p:sp>
        <p:nvSpPr>
          <p:cNvPr id="8" name="Content Placeholder 2"/>
          <p:cNvSpPr txBox="1">
            <a:spLocks/>
          </p:cNvSpPr>
          <p:nvPr/>
        </p:nvSpPr>
        <p:spPr>
          <a:xfrm>
            <a:off x="3776662" y="4209855"/>
            <a:ext cx="5283166" cy="2562420"/>
          </a:xfrm>
          <a:prstGeom prst="rect">
            <a:avLst/>
          </a:prstGeom>
        </p:spPr>
        <p:txBody>
          <a:bodyPr>
            <a:norm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pt-BR" sz="2200" dirty="0"/>
              <a:t>Um dos sistemas de bits de memória do </a:t>
            </a:r>
            <a:r>
              <a:rPr lang="pt-BR" sz="2200" dirty="0" err="1"/>
              <a:t>Colossus</a:t>
            </a:r>
            <a:r>
              <a:rPr lang="pt-BR" sz="2200" dirty="0"/>
              <a:t> era armazenado em válvulas usando uma técnica desenvolvida por William Henry Eccles e Frank Wilfred Jordan em 1918, conhecida hoje como </a:t>
            </a:r>
            <a:r>
              <a:rPr lang="pt-BR" sz="2200" dirty="0" err="1"/>
              <a:t>flip-flops</a:t>
            </a:r>
            <a:r>
              <a:rPr lang="pt-BR" sz="2200" dirty="0"/>
              <a:t>.</a:t>
            </a:r>
          </a:p>
        </p:txBody>
      </p:sp>
    </p:spTree>
    <p:extLst>
      <p:ext uri="{BB962C8B-B14F-4D97-AF65-F5344CB8AC3E}">
        <p14:creationId xmlns:p14="http://schemas.microsoft.com/office/powerpoint/2010/main" val="289961767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4.35915E-6 -3.02757E-6 L -0.00868 0.00765 " pathEditMode="relative" ptsTypes="AA">
                                      <p:cBhvr>
                                        <p:cTn id="6" dur="5000" fill="hold"/>
                                        <p:tgtEl>
                                          <p:spTgt spid="6"/>
                                        </p:tgtEl>
                                        <p:attrNameLst>
                                          <p:attrName>ppt_x</p:attrName>
                                          <p:attrName>ppt_y</p:attrName>
                                        </p:attrNameLst>
                                      </p:cBhvr>
                                    </p:animMotion>
                                  </p:childTnLst>
                                </p:cTn>
                              </p:par>
                              <p:par>
                                <p:cTn id="7" presetID="23" presetClass="entr" presetSubtype="272"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 calcmode="lin" valueType="num">
                                      <p:cBhvr>
                                        <p:cTn id="9" dur="5000" fill="hold"/>
                                        <p:tgtEl>
                                          <p:spTgt spid="7"/>
                                        </p:tgtEl>
                                        <p:attrNameLst>
                                          <p:attrName>ppt_w</p:attrName>
                                        </p:attrNameLst>
                                      </p:cBhvr>
                                      <p:tavLst>
                                        <p:tav tm="0">
                                          <p:val>
                                            <p:strVal val="2/3*#ppt_w"/>
                                          </p:val>
                                        </p:tav>
                                        <p:tav tm="100000">
                                          <p:val>
                                            <p:strVal val="#ppt_w"/>
                                          </p:val>
                                        </p:tav>
                                      </p:tavLst>
                                    </p:anim>
                                    <p:anim calcmode="lin" valueType="num">
                                      <p:cBhvr>
                                        <p:cTn id="10" dur="5000" fill="hold"/>
                                        <p:tgtEl>
                                          <p:spTgt spid="7"/>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Group 81"/>
          <p:cNvGrpSpPr/>
          <p:nvPr/>
        </p:nvGrpSpPr>
        <p:grpSpPr>
          <a:xfrm>
            <a:off x="1256683" y="3989299"/>
            <a:ext cx="6454705" cy="727894"/>
            <a:chOff x="1256683" y="3989299"/>
            <a:chExt cx="6454705" cy="727894"/>
          </a:xfrm>
        </p:grpSpPr>
        <p:cxnSp>
          <p:nvCxnSpPr>
            <p:cNvPr id="83" name="Straight Connector 82"/>
            <p:cNvCxnSpPr/>
            <p:nvPr/>
          </p:nvCxnSpPr>
          <p:spPr>
            <a:xfrm>
              <a:off x="1256683" y="4696580"/>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rot="5400000">
              <a:off x="1616682" y="4349811"/>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85" name="Straight Connector 84"/>
            <p:cNvCxnSpPr/>
            <p:nvPr/>
          </p:nvCxnSpPr>
          <p:spPr>
            <a:xfrm>
              <a:off x="1976681" y="3996682"/>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rot="5400000">
              <a:off x="2336680" y="4350323"/>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87" name="Straight Connector 86"/>
            <p:cNvCxnSpPr/>
            <p:nvPr/>
          </p:nvCxnSpPr>
          <p:spPr>
            <a:xfrm>
              <a:off x="2692219" y="4696580"/>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88" name="Straight Connector 87"/>
            <p:cNvCxnSpPr/>
            <p:nvPr/>
          </p:nvCxnSpPr>
          <p:spPr>
            <a:xfrm rot="5400000">
              <a:off x="3052218" y="4349811"/>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89" name="Straight Connector 88"/>
            <p:cNvCxnSpPr/>
            <p:nvPr/>
          </p:nvCxnSpPr>
          <p:spPr>
            <a:xfrm>
              <a:off x="3412217" y="3996682"/>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rot="5400000">
              <a:off x="3772216" y="4350323"/>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1" name="Straight Connector 90"/>
            <p:cNvCxnSpPr/>
            <p:nvPr/>
          </p:nvCxnSpPr>
          <p:spPr>
            <a:xfrm>
              <a:off x="4120868" y="4696068"/>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2" name="Straight Connector 91"/>
            <p:cNvCxnSpPr/>
            <p:nvPr/>
          </p:nvCxnSpPr>
          <p:spPr>
            <a:xfrm rot="5400000">
              <a:off x="4480867" y="4349299"/>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3" name="Straight Connector 92"/>
            <p:cNvCxnSpPr/>
            <p:nvPr/>
          </p:nvCxnSpPr>
          <p:spPr>
            <a:xfrm>
              <a:off x="4840866" y="3996170"/>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4" name="Straight Connector 93"/>
            <p:cNvCxnSpPr/>
            <p:nvPr/>
          </p:nvCxnSpPr>
          <p:spPr>
            <a:xfrm rot="5400000">
              <a:off x="5200865" y="4349811"/>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5" name="Straight Connector 94"/>
            <p:cNvCxnSpPr/>
            <p:nvPr/>
          </p:nvCxnSpPr>
          <p:spPr>
            <a:xfrm>
              <a:off x="5549514" y="4703451"/>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6" name="Straight Connector 95"/>
            <p:cNvCxnSpPr/>
            <p:nvPr/>
          </p:nvCxnSpPr>
          <p:spPr>
            <a:xfrm rot="5400000">
              <a:off x="5909513" y="4356682"/>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7" name="Straight Connector 96"/>
            <p:cNvCxnSpPr/>
            <p:nvPr/>
          </p:nvCxnSpPr>
          <p:spPr>
            <a:xfrm>
              <a:off x="6269512" y="4003553"/>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8" name="Straight Connector 97"/>
            <p:cNvCxnSpPr/>
            <p:nvPr/>
          </p:nvCxnSpPr>
          <p:spPr>
            <a:xfrm rot="5400000">
              <a:off x="6629511" y="4357194"/>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a:off x="6991389" y="4703450"/>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0" name="Straight Connector 99"/>
            <p:cNvCxnSpPr/>
            <p:nvPr/>
          </p:nvCxnSpPr>
          <p:spPr>
            <a:xfrm rot="5400000">
              <a:off x="7351388" y="4356681"/>
              <a:ext cx="719999" cy="0"/>
            </a:xfrm>
            <a:prstGeom prst="line">
              <a:avLst/>
            </a:prstGeom>
            <a:ln w="57150" cmpd="sng">
              <a:solidFill>
                <a:srgbClr val="000000"/>
              </a:solidFill>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p:txBody>
          <a:bodyPr/>
          <a:lstStyle/>
          <a:p>
            <a:r>
              <a:rPr lang="pt-BR" i="1" dirty="0"/>
              <a:t>Clock</a:t>
            </a:r>
          </a:p>
        </p:txBody>
      </p:sp>
      <p:sp>
        <p:nvSpPr>
          <p:cNvPr id="3" name="Content Placeholder 2"/>
          <p:cNvSpPr>
            <a:spLocks noGrp="1"/>
          </p:cNvSpPr>
          <p:nvPr>
            <p:ph idx="1"/>
          </p:nvPr>
        </p:nvSpPr>
        <p:spPr>
          <a:xfrm>
            <a:off x="657225" y="1485900"/>
            <a:ext cx="8029575" cy="1014533"/>
          </a:xfrm>
        </p:spPr>
        <p:txBody>
          <a:bodyPr>
            <a:noAutofit/>
          </a:bodyPr>
          <a:lstStyle/>
          <a:p>
            <a:r>
              <a:rPr lang="en-BR" sz="2000" dirty="0"/>
              <a:t>Circuitos digitais síncronos utilizam sinais de clock para coordenar as mudanças de estado dos componentes sequenciais.</a:t>
            </a:r>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a:t>
            </a:fld>
            <a:endParaRPr lang="pt-BR" dirty="0"/>
          </a:p>
        </p:txBody>
      </p:sp>
      <p:cxnSp>
        <p:nvCxnSpPr>
          <p:cNvPr id="27" name="Straight Connector 26"/>
          <p:cNvCxnSpPr/>
          <p:nvPr/>
        </p:nvCxnSpPr>
        <p:spPr>
          <a:xfrm>
            <a:off x="725688" y="5087110"/>
            <a:ext cx="7594856" cy="0"/>
          </a:xfrm>
          <a:prstGeom prst="line">
            <a:avLst/>
          </a:prstGeom>
          <a:ln w="28575" cmpd="sng">
            <a:solidFill>
              <a:srgbClr val="000000"/>
            </a:solidFill>
            <a:headEnd type="none"/>
            <a:tailEnd type="stealth"/>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997913" y="5034190"/>
            <a:ext cx="804239" cy="369332"/>
          </a:xfrm>
          <a:prstGeom prst="rect">
            <a:avLst/>
          </a:prstGeom>
        </p:spPr>
        <p:txBody>
          <a:bodyPr wrap="none">
            <a:spAutoFit/>
          </a:bodyPr>
          <a:lstStyle/>
          <a:p>
            <a:r>
              <a:rPr lang="pt-BR" dirty="0"/>
              <a:t>tempo</a:t>
            </a:r>
          </a:p>
        </p:txBody>
      </p:sp>
      <p:grpSp>
        <p:nvGrpSpPr>
          <p:cNvPr id="73" name="Group 72"/>
          <p:cNvGrpSpPr/>
          <p:nvPr/>
        </p:nvGrpSpPr>
        <p:grpSpPr>
          <a:xfrm>
            <a:off x="172172" y="2933847"/>
            <a:ext cx="1711914" cy="1418757"/>
            <a:chOff x="344136" y="2933847"/>
            <a:chExt cx="1711914" cy="1418757"/>
          </a:xfrm>
        </p:grpSpPr>
        <p:sp>
          <p:nvSpPr>
            <p:cNvPr id="30" name="Rectangle 29"/>
            <p:cNvSpPr/>
            <p:nvPr/>
          </p:nvSpPr>
          <p:spPr>
            <a:xfrm>
              <a:off x="344136" y="2933847"/>
              <a:ext cx="1711913" cy="646331"/>
            </a:xfrm>
            <a:prstGeom prst="rect">
              <a:avLst/>
            </a:prstGeom>
            <a:ln w="28575" cmpd="sng">
              <a:solidFill>
                <a:schemeClr val="accent3"/>
              </a:solidFill>
            </a:ln>
            <a:effectLst>
              <a:outerShdw blurRad="38100" dist="12700" dir="5400000" algn="tl" rotWithShape="0">
                <a:prstClr val="black">
                  <a:alpha val="40000"/>
                </a:prstClr>
              </a:outerShdw>
            </a:effectLst>
          </p:spPr>
          <p:txBody>
            <a:bodyPr wrap="square">
              <a:spAutoFit/>
            </a:bodyPr>
            <a:lstStyle/>
            <a:p>
              <a:pPr algn="ctr"/>
              <a:endParaRPr lang="pt-BR" dirty="0"/>
            </a:p>
            <a:p>
              <a:pPr algn="ctr"/>
              <a:endParaRPr lang="pt-BR" dirty="0"/>
            </a:p>
          </p:txBody>
        </p:sp>
        <p:cxnSp>
          <p:nvCxnSpPr>
            <p:cNvPr id="35" name="Curved Connector 34"/>
            <p:cNvCxnSpPr>
              <a:stCxn id="30" idx="2"/>
            </p:cNvCxnSpPr>
            <p:nvPr/>
          </p:nvCxnSpPr>
          <p:spPr>
            <a:xfrm rot="16200000" flipH="1">
              <a:off x="1241858" y="3538412"/>
              <a:ext cx="772427" cy="855957"/>
            </a:xfrm>
            <a:prstGeom prst="curvedConnector2">
              <a:avLst/>
            </a:prstGeom>
            <a:ln>
              <a:solidFill>
                <a:srgbClr val="9BBB59"/>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44136" y="2933847"/>
              <a:ext cx="1711913" cy="646331"/>
            </a:xfrm>
            <a:prstGeom prst="rect">
              <a:avLst/>
            </a:prstGeom>
          </p:spPr>
          <p:txBody>
            <a:bodyPr wrap="square">
              <a:spAutoFit/>
            </a:bodyPr>
            <a:lstStyle/>
            <a:p>
              <a:pPr algn="ctr"/>
              <a:r>
                <a:rPr lang="pt-BR" dirty="0"/>
                <a:t>borda de subida</a:t>
              </a:r>
            </a:p>
            <a:p>
              <a:pPr algn="ctr"/>
              <a:r>
                <a:rPr lang="pt-BR" dirty="0"/>
                <a:t>(positiva)</a:t>
              </a:r>
            </a:p>
          </p:txBody>
        </p:sp>
      </p:grpSp>
      <p:cxnSp>
        <p:nvCxnSpPr>
          <p:cNvPr id="39" name="Straight Connector 38"/>
          <p:cNvCxnSpPr/>
          <p:nvPr/>
        </p:nvCxnSpPr>
        <p:spPr>
          <a:xfrm rot="5400000">
            <a:off x="1616681" y="4336069"/>
            <a:ext cx="719999" cy="0"/>
          </a:xfrm>
          <a:prstGeom prst="line">
            <a:avLst/>
          </a:prstGeom>
          <a:ln w="76200" cmpd="sng">
            <a:solidFill>
              <a:srgbClr val="9BBB59"/>
            </a:solidFill>
            <a:headEnd type="triangle"/>
            <a:tailEnd type="none"/>
          </a:ln>
          <a:effectLst/>
        </p:spPr>
        <p:style>
          <a:lnRef idx="2">
            <a:schemeClr val="accent1"/>
          </a:lnRef>
          <a:fillRef idx="0">
            <a:schemeClr val="accent1"/>
          </a:fillRef>
          <a:effectRef idx="1">
            <a:schemeClr val="accent1"/>
          </a:effectRef>
          <a:fontRef idx="minor">
            <a:schemeClr val="tx1"/>
          </a:fontRef>
        </p:style>
      </p:cxnSp>
      <p:grpSp>
        <p:nvGrpSpPr>
          <p:cNvPr id="74" name="Group 73"/>
          <p:cNvGrpSpPr/>
          <p:nvPr/>
        </p:nvGrpSpPr>
        <p:grpSpPr>
          <a:xfrm>
            <a:off x="2329837" y="3133508"/>
            <a:ext cx="1802379" cy="1042023"/>
            <a:chOff x="2501801" y="3133508"/>
            <a:chExt cx="1900201" cy="1042023"/>
          </a:xfrm>
        </p:grpSpPr>
        <p:sp>
          <p:nvSpPr>
            <p:cNvPr id="40" name="Rectangle 39"/>
            <p:cNvSpPr/>
            <p:nvPr/>
          </p:nvSpPr>
          <p:spPr>
            <a:xfrm>
              <a:off x="2501801" y="3133521"/>
              <a:ext cx="1900200" cy="646331"/>
            </a:xfrm>
            <a:prstGeom prst="rect">
              <a:avLst/>
            </a:prstGeom>
            <a:ln w="28575" cmpd="sng">
              <a:solidFill>
                <a:schemeClr val="accent5">
                  <a:lumMod val="75000"/>
                </a:schemeClr>
              </a:solidFill>
            </a:ln>
            <a:effectLst>
              <a:outerShdw blurRad="38100" dist="12700" dir="5400000" algn="tl" rotWithShape="0">
                <a:prstClr val="black">
                  <a:alpha val="40000"/>
                </a:prstClr>
              </a:outerShdw>
            </a:effectLst>
          </p:spPr>
          <p:txBody>
            <a:bodyPr wrap="square">
              <a:spAutoFit/>
            </a:bodyPr>
            <a:lstStyle/>
            <a:p>
              <a:pPr algn="ctr"/>
              <a:endParaRPr lang="pt-BR" dirty="0">
                <a:ln>
                  <a:solidFill>
                    <a:srgbClr val="953735"/>
                  </a:solidFill>
                </a:ln>
              </a:endParaRPr>
            </a:p>
            <a:p>
              <a:pPr algn="ctr"/>
              <a:endParaRPr lang="pt-BR" dirty="0">
                <a:ln>
                  <a:solidFill>
                    <a:srgbClr val="953735"/>
                  </a:solidFill>
                </a:ln>
              </a:endParaRPr>
            </a:p>
          </p:txBody>
        </p:sp>
        <p:cxnSp>
          <p:nvCxnSpPr>
            <p:cNvPr id="41" name="Curved Connector 40"/>
            <p:cNvCxnSpPr>
              <a:stCxn id="40" idx="2"/>
            </p:cNvCxnSpPr>
            <p:nvPr/>
          </p:nvCxnSpPr>
          <p:spPr>
            <a:xfrm rot="5400000">
              <a:off x="2988891" y="3712520"/>
              <a:ext cx="395678" cy="530343"/>
            </a:xfrm>
            <a:prstGeom prst="curvedConnector2">
              <a:avLst/>
            </a:prstGeom>
            <a:ln>
              <a:solidFill>
                <a:schemeClr val="accent5">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501802" y="3133508"/>
              <a:ext cx="1900200" cy="646331"/>
            </a:xfrm>
            <a:prstGeom prst="rect">
              <a:avLst/>
            </a:prstGeom>
          </p:spPr>
          <p:txBody>
            <a:bodyPr wrap="square">
              <a:spAutoFit/>
            </a:bodyPr>
            <a:lstStyle/>
            <a:p>
              <a:pPr algn="ctr"/>
              <a:r>
                <a:rPr lang="pt-BR" dirty="0"/>
                <a:t>borda de descida</a:t>
              </a:r>
            </a:p>
            <a:p>
              <a:pPr algn="ctr"/>
              <a:r>
                <a:rPr lang="pt-BR" dirty="0"/>
                <a:t>(negativa)</a:t>
              </a:r>
            </a:p>
          </p:txBody>
        </p:sp>
      </p:grpSp>
      <p:cxnSp>
        <p:nvCxnSpPr>
          <p:cNvPr id="64" name="Straight Connector 63"/>
          <p:cNvCxnSpPr/>
          <p:nvPr/>
        </p:nvCxnSpPr>
        <p:spPr>
          <a:xfrm rot="5400000">
            <a:off x="2332219" y="4343452"/>
            <a:ext cx="719999" cy="0"/>
          </a:xfrm>
          <a:prstGeom prst="line">
            <a:avLst/>
          </a:prstGeom>
          <a:ln w="76200" cmpd="sng">
            <a:solidFill>
              <a:srgbClr val="31859C"/>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75" name="Group 74"/>
          <p:cNvGrpSpPr/>
          <p:nvPr/>
        </p:nvGrpSpPr>
        <p:grpSpPr>
          <a:xfrm>
            <a:off x="910727" y="3823919"/>
            <a:ext cx="8131671" cy="338554"/>
            <a:chOff x="1082691" y="3823919"/>
            <a:chExt cx="7410175" cy="338554"/>
          </a:xfrm>
        </p:grpSpPr>
        <p:cxnSp>
          <p:nvCxnSpPr>
            <p:cNvPr id="65" name="Straight Connector 64"/>
            <p:cNvCxnSpPr/>
            <p:nvPr/>
          </p:nvCxnSpPr>
          <p:spPr>
            <a:xfrm>
              <a:off x="1082691" y="3990323"/>
              <a:ext cx="6602899" cy="13230"/>
            </a:xfrm>
            <a:prstGeom prst="line">
              <a:avLst/>
            </a:prstGeom>
            <a:ln w="6350" cmpd="sng">
              <a:solidFill>
                <a:srgbClr val="000000"/>
              </a:solidFill>
              <a:prstDash val="sys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7685590" y="3823919"/>
              <a:ext cx="807276" cy="338554"/>
            </a:xfrm>
            <a:prstGeom prst="rect">
              <a:avLst/>
            </a:prstGeom>
          </p:spPr>
          <p:txBody>
            <a:bodyPr wrap="square">
              <a:spAutoFit/>
            </a:bodyPr>
            <a:lstStyle/>
            <a:p>
              <a:r>
                <a:rPr lang="pt-BR" sz="1600" dirty="0"/>
                <a:t>1 (5 V)</a:t>
              </a:r>
            </a:p>
          </p:txBody>
        </p:sp>
      </p:grpSp>
      <p:grpSp>
        <p:nvGrpSpPr>
          <p:cNvPr id="76" name="Group 75"/>
          <p:cNvGrpSpPr/>
          <p:nvPr/>
        </p:nvGrpSpPr>
        <p:grpSpPr>
          <a:xfrm>
            <a:off x="910727" y="4512385"/>
            <a:ext cx="8044771" cy="338554"/>
            <a:chOff x="1082691" y="4512385"/>
            <a:chExt cx="7330985" cy="338554"/>
          </a:xfrm>
        </p:grpSpPr>
        <p:cxnSp>
          <p:nvCxnSpPr>
            <p:cNvPr id="70" name="Straight Connector 69"/>
            <p:cNvCxnSpPr/>
            <p:nvPr/>
          </p:nvCxnSpPr>
          <p:spPr>
            <a:xfrm>
              <a:off x="1082691" y="4683350"/>
              <a:ext cx="6602899" cy="13230"/>
            </a:xfrm>
            <a:prstGeom prst="line">
              <a:avLst/>
            </a:prstGeom>
            <a:ln w="6350" cmpd="sng">
              <a:solidFill>
                <a:srgbClr val="000000"/>
              </a:solidFill>
              <a:prstDash val="sys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7685590" y="4512385"/>
              <a:ext cx="728086" cy="338554"/>
            </a:xfrm>
            <a:prstGeom prst="rect">
              <a:avLst/>
            </a:prstGeom>
          </p:spPr>
          <p:txBody>
            <a:bodyPr wrap="square">
              <a:spAutoFit/>
            </a:bodyPr>
            <a:lstStyle/>
            <a:p>
              <a:r>
                <a:rPr lang="pt-BR" sz="1600" dirty="0"/>
                <a:t>0 (0v)</a:t>
              </a:r>
            </a:p>
          </p:txBody>
        </p:sp>
      </p:grpSp>
      <p:grpSp>
        <p:nvGrpSpPr>
          <p:cNvPr id="112" name="Group 111"/>
          <p:cNvGrpSpPr/>
          <p:nvPr/>
        </p:nvGrpSpPr>
        <p:grpSpPr>
          <a:xfrm>
            <a:off x="5565880" y="3063470"/>
            <a:ext cx="1425509" cy="2151571"/>
            <a:chOff x="5565880" y="3063470"/>
            <a:chExt cx="1425509" cy="2151571"/>
          </a:xfrm>
        </p:grpSpPr>
        <p:cxnSp>
          <p:nvCxnSpPr>
            <p:cNvPr id="79" name="Straight Connector 78"/>
            <p:cNvCxnSpPr/>
            <p:nvPr/>
          </p:nvCxnSpPr>
          <p:spPr>
            <a:xfrm flipV="1">
              <a:off x="5565880" y="3133521"/>
              <a:ext cx="0" cy="2079021"/>
            </a:xfrm>
            <a:prstGeom prst="line">
              <a:avLst/>
            </a:prstGeom>
            <a:ln w="6350" cmpd="sng">
              <a:solidFill>
                <a:srgbClr val="000000"/>
              </a:solidFill>
              <a:prstDash val="sysDash"/>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p:cNvCxnSpPr/>
            <p:nvPr/>
          </p:nvCxnSpPr>
          <p:spPr>
            <a:xfrm flipV="1">
              <a:off x="6989510" y="3136020"/>
              <a:ext cx="0" cy="2079021"/>
            </a:xfrm>
            <a:prstGeom prst="line">
              <a:avLst/>
            </a:prstGeom>
            <a:ln w="6350" cmpd="sng">
              <a:solidFill>
                <a:srgbClr val="000000"/>
              </a:solidFill>
              <a:prstDash val="sysDash"/>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5" name="Straight Connector 104"/>
            <p:cNvCxnSpPr/>
            <p:nvPr/>
          </p:nvCxnSpPr>
          <p:spPr>
            <a:xfrm>
              <a:off x="5567759" y="3420161"/>
              <a:ext cx="1423630" cy="1"/>
            </a:xfrm>
            <a:prstGeom prst="line">
              <a:avLst/>
            </a:prstGeom>
            <a:ln w="12700" cmpd="sng">
              <a:solidFill>
                <a:srgbClr val="000000"/>
              </a:solidFill>
              <a:prstDash val="solid"/>
              <a:headEnd type="arrow"/>
              <a:tailEnd type="arrow"/>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5567759" y="3063470"/>
              <a:ext cx="1423629" cy="369332"/>
            </a:xfrm>
            <a:prstGeom prst="rect">
              <a:avLst/>
            </a:prstGeom>
          </p:spPr>
          <p:txBody>
            <a:bodyPr wrap="square">
              <a:spAutoFit/>
            </a:bodyPr>
            <a:lstStyle/>
            <a:p>
              <a:pPr algn="ctr"/>
              <a:r>
                <a:rPr lang="pt-BR" dirty="0"/>
                <a:t>ciclo</a:t>
              </a:r>
            </a:p>
          </p:txBody>
        </p:sp>
      </p:grpSp>
      <p:sp>
        <p:nvSpPr>
          <p:cNvPr id="115" name="Rectangle 114"/>
          <p:cNvSpPr/>
          <p:nvPr/>
        </p:nvSpPr>
        <p:spPr>
          <a:xfrm>
            <a:off x="2692218" y="5603071"/>
            <a:ext cx="5412647" cy="707886"/>
          </a:xfrm>
          <a:prstGeom prst="rect">
            <a:avLst/>
          </a:prstGeom>
          <a:ln>
            <a:solidFill>
              <a:schemeClr val="tx1"/>
            </a:solidFill>
          </a:ln>
        </p:spPr>
        <p:txBody>
          <a:bodyPr wrap="square">
            <a:spAutoFit/>
          </a:bodyPr>
          <a:lstStyle/>
          <a:p>
            <a:r>
              <a:rPr lang="pt-BR" sz="2000" b="1" dirty="0"/>
              <a:t>T</a:t>
            </a:r>
            <a:r>
              <a:rPr lang="pt-BR" sz="2000" dirty="0"/>
              <a:t>  é o período de tempo de um ciclo em segundos.</a:t>
            </a:r>
          </a:p>
          <a:p>
            <a:r>
              <a:rPr lang="pt-BR" sz="2000" b="1" dirty="0" err="1">
                <a:latin typeface="Lucida Calligraphy"/>
                <a:cs typeface="Lucida Calligraphy"/>
              </a:rPr>
              <a:t>f</a:t>
            </a:r>
            <a:r>
              <a:rPr lang="pt-BR" sz="2000" dirty="0"/>
              <a:t> é a frequência em Hertz</a:t>
            </a:r>
          </a:p>
        </p:txBody>
      </p:sp>
      <p:graphicFrame>
        <p:nvGraphicFramePr>
          <p:cNvPr id="117" name="Table 116"/>
          <p:cNvGraphicFramePr>
            <a:graphicFrameLocks noGrp="1"/>
          </p:cNvGraphicFramePr>
          <p:nvPr>
            <p:extLst>
              <p:ext uri="{D42A27DB-BD31-4B8C-83A1-F6EECF244321}">
                <p14:modId xmlns:p14="http://schemas.microsoft.com/office/powerpoint/2010/main" val="441882145"/>
              </p:ext>
            </p:extLst>
          </p:nvPr>
        </p:nvGraphicFramePr>
        <p:xfrm>
          <a:off x="1485879" y="5539524"/>
          <a:ext cx="1053936" cy="823087"/>
        </p:xfrm>
        <a:graphic>
          <a:graphicData uri="http://schemas.openxmlformats.org/drawingml/2006/table">
            <a:tbl>
              <a:tblPr>
                <a:tableStyleId>{5C22544A-7EE6-4342-B048-85BDC9FD1C3A}</a:tableStyleId>
              </a:tblPr>
              <a:tblGrid>
                <a:gridCol w="351312">
                  <a:extLst>
                    <a:ext uri="{9D8B030D-6E8A-4147-A177-3AD203B41FA5}">
                      <a16:colId xmlns:a16="http://schemas.microsoft.com/office/drawing/2014/main" val="20000"/>
                    </a:ext>
                  </a:extLst>
                </a:gridCol>
                <a:gridCol w="351312">
                  <a:extLst>
                    <a:ext uri="{9D8B030D-6E8A-4147-A177-3AD203B41FA5}">
                      <a16:colId xmlns:a16="http://schemas.microsoft.com/office/drawing/2014/main" val="20001"/>
                    </a:ext>
                  </a:extLst>
                </a:gridCol>
                <a:gridCol w="351312">
                  <a:extLst>
                    <a:ext uri="{9D8B030D-6E8A-4147-A177-3AD203B41FA5}">
                      <a16:colId xmlns:a16="http://schemas.microsoft.com/office/drawing/2014/main" val="20002"/>
                    </a:ext>
                  </a:extLst>
                </a:gridCol>
              </a:tblGrid>
              <a:tr h="370840">
                <a:tc>
                  <a:txBody>
                    <a:bodyPr/>
                    <a:lstStyle/>
                    <a:p>
                      <a:pPr algn="ctr"/>
                      <a:r>
                        <a:rPr lang="pt-BR" sz="2400" b="1" noProof="1">
                          <a:latin typeface="Lucida Calligraphy"/>
                          <a:cs typeface="Lucida Calligraphy"/>
                        </a:rPr>
                        <a:t>f</a:t>
                      </a:r>
                      <a:endParaRPr lang="pt-BR" sz="2400" b="1" noProof="1"/>
                    </a:p>
                  </a:txBody>
                  <a:tcPr anchor="ctr">
                    <a:noFill/>
                  </a:tcPr>
                </a:tc>
                <a:tc>
                  <a:txBody>
                    <a:bodyPr/>
                    <a:lstStyle/>
                    <a:p>
                      <a:pPr algn="ctr"/>
                      <a:r>
                        <a:rPr lang="pt-BR" sz="3200" b="1" noProof="1"/>
                        <a:t>=</a:t>
                      </a:r>
                    </a:p>
                  </a:txBody>
                  <a:tcPr anchor="ctr">
                    <a:noFill/>
                  </a:tcPr>
                </a:tc>
                <a:tc>
                  <a:txBody>
                    <a:bodyPr/>
                    <a:lstStyle/>
                    <a:p>
                      <a:pPr algn="ctr"/>
                      <a:r>
                        <a:rPr lang="pt-BR" sz="2400" b="1" noProof="1"/>
                        <a:t>1</a:t>
                      </a:r>
                    </a:p>
                    <a:p>
                      <a:pPr algn="ctr">
                        <a:lnSpc>
                          <a:spcPts val="0"/>
                        </a:lnSpc>
                      </a:pPr>
                      <a:r>
                        <a:rPr lang="pt-BR" sz="2400" b="1" noProof="1"/>
                        <a:t>__</a:t>
                      </a:r>
                    </a:p>
                    <a:p>
                      <a:pPr algn="ctr"/>
                      <a:r>
                        <a:rPr lang="pt-BR" sz="2400" b="1" noProof="1"/>
                        <a:t>T</a:t>
                      </a:r>
                    </a:p>
                  </a:txBody>
                  <a:tcPr anchor="ctr">
                    <a:noFill/>
                  </a:tcPr>
                </a:tc>
                <a:extLst>
                  <a:ext uri="{0D108BD9-81ED-4DB2-BD59-A6C34878D82A}">
                    <a16:rowId xmlns:a16="http://schemas.microsoft.com/office/drawing/2014/main" val="10000"/>
                  </a:ext>
                </a:extLst>
              </a:tr>
            </a:tbl>
          </a:graphicData>
        </a:graphic>
      </p:graphicFrame>
      <p:grpSp>
        <p:nvGrpSpPr>
          <p:cNvPr id="10" name="Group 9">
            <a:extLst>
              <a:ext uri="{FF2B5EF4-FFF2-40B4-BE49-F238E27FC236}">
                <a16:creationId xmlns:a16="http://schemas.microsoft.com/office/drawing/2014/main" id="{AF07708A-11CF-3345-5209-5B9C594D5A1F}"/>
              </a:ext>
            </a:extLst>
          </p:cNvPr>
          <p:cNvGrpSpPr/>
          <p:nvPr/>
        </p:nvGrpSpPr>
        <p:grpSpPr>
          <a:xfrm>
            <a:off x="7151115" y="2405860"/>
            <a:ext cx="1907499" cy="1418059"/>
            <a:chOff x="7151115" y="2405860"/>
            <a:chExt cx="1907499" cy="1418059"/>
          </a:xfrm>
        </p:grpSpPr>
        <p:sp>
          <p:nvSpPr>
            <p:cNvPr id="7" name="TextBox 6">
              <a:extLst>
                <a:ext uri="{FF2B5EF4-FFF2-40B4-BE49-F238E27FC236}">
                  <a16:creationId xmlns:a16="http://schemas.microsoft.com/office/drawing/2014/main" id="{0A2D076D-E761-24A0-2F18-914361E1AF19}"/>
                </a:ext>
              </a:extLst>
            </p:cNvPr>
            <p:cNvSpPr txBox="1"/>
            <p:nvPr/>
          </p:nvSpPr>
          <p:spPr>
            <a:xfrm>
              <a:off x="7151115" y="2405860"/>
              <a:ext cx="1907499" cy="830997"/>
            </a:xfrm>
            <a:prstGeom prst="rect">
              <a:avLst/>
            </a:prstGeom>
            <a:noFill/>
            <a:ln>
              <a:solidFill>
                <a:srgbClr val="FF0000"/>
              </a:solidFill>
            </a:ln>
          </p:spPr>
          <p:txBody>
            <a:bodyPr wrap="square">
              <a:spAutoFit/>
            </a:bodyPr>
            <a:lstStyle/>
            <a:p>
              <a:pPr algn="ctr"/>
              <a:r>
                <a:rPr lang="en-BR" sz="1600" dirty="0">
                  <a:solidFill>
                    <a:srgbClr val="FF0000"/>
                  </a:solidFill>
                </a:rPr>
                <a:t>A tensão elétrica varia conforme o circuito.</a:t>
              </a:r>
            </a:p>
          </p:txBody>
        </p:sp>
        <p:cxnSp>
          <p:nvCxnSpPr>
            <p:cNvPr id="9" name="Curved Connector 8">
              <a:extLst>
                <a:ext uri="{FF2B5EF4-FFF2-40B4-BE49-F238E27FC236}">
                  <a16:creationId xmlns:a16="http://schemas.microsoft.com/office/drawing/2014/main" id="{29865655-8278-640A-2A3E-D70B829A92DB}"/>
                </a:ext>
              </a:extLst>
            </p:cNvPr>
            <p:cNvCxnSpPr>
              <a:stCxn id="7" idx="2"/>
              <a:endCxn id="71" idx="0"/>
            </p:cNvCxnSpPr>
            <p:nvPr/>
          </p:nvCxnSpPr>
          <p:spPr>
            <a:xfrm rot="16200000" flipH="1">
              <a:off x="8058631" y="3283090"/>
              <a:ext cx="587062" cy="494595"/>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88918050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left)">
                                      <p:cBhvr>
                                        <p:cTn id="7" dur="50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75"/>
                                        </p:tgtEl>
                                        <p:attrNameLst>
                                          <p:attrName>style.visibility</p:attrName>
                                        </p:attrNameLst>
                                      </p:cBhvr>
                                      <p:to>
                                        <p:strVal val="visible"/>
                                      </p:to>
                                    </p:set>
                                    <p:anim calcmode="lin" valueType="num">
                                      <p:cBhvr>
                                        <p:cTn id="12" dur="1000" fill="hold"/>
                                        <p:tgtEl>
                                          <p:spTgt spid="75"/>
                                        </p:tgtEl>
                                        <p:attrNameLst>
                                          <p:attrName>ppt_w</p:attrName>
                                        </p:attrNameLst>
                                      </p:cBhvr>
                                      <p:tavLst>
                                        <p:tav tm="0">
                                          <p:val>
                                            <p:strVal val="#ppt_w*0.70"/>
                                          </p:val>
                                        </p:tav>
                                        <p:tav tm="100000">
                                          <p:val>
                                            <p:strVal val="#ppt_w"/>
                                          </p:val>
                                        </p:tav>
                                      </p:tavLst>
                                    </p:anim>
                                    <p:anim calcmode="lin" valueType="num">
                                      <p:cBhvr>
                                        <p:cTn id="13" dur="1000" fill="hold"/>
                                        <p:tgtEl>
                                          <p:spTgt spid="75"/>
                                        </p:tgtEl>
                                        <p:attrNameLst>
                                          <p:attrName>ppt_h</p:attrName>
                                        </p:attrNameLst>
                                      </p:cBhvr>
                                      <p:tavLst>
                                        <p:tav tm="0">
                                          <p:val>
                                            <p:strVal val="#ppt_h"/>
                                          </p:val>
                                        </p:tav>
                                        <p:tav tm="100000">
                                          <p:val>
                                            <p:strVal val="#ppt_h"/>
                                          </p:val>
                                        </p:tav>
                                      </p:tavLst>
                                    </p:anim>
                                    <p:animEffect transition="in" filter="fade">
                                      <p:cBhvr>
                                        <p:cTn id="14" dur="1000"/>
                                        <p:tgtEl>
                                          <p:spTgt spid="75"/>
                                        </p:tgtEl>
                                      </p:cBhvr>
                                    </p:animEffect>
                                  </p:childTnLst>
                                </p:cTn>
                              </p:par>
                              <p:par>
                                <p:cTn id="15" presetID="55" presetClass="entr" presetSubtype="0" fill="hold" nodeType="withEffect">
                                  <p:stCondLst>
                                    <p:cond delay="0"/>
                                  </p:stCondLst>
                                  <p:childTnLst>
                                    <p:set>
                                      <p:cBhvr>
                                        <p:cTn id="16" dur="1" fill="hold">
                                          <p:stCondLst>
                                            <p:cond delay="0"/>
                                          </p:stCondLst>
                                        </p:cTn>
                                        <p:tgtEl>
                                          <p:spTgt spid="76"/>
                                        </p:tgtEl>
                                        <p:attrNameLst>
                                          <p:attrName>style.visibility</p:attrName>
                                        </p:attrNameLst>
                                      </p:cBhvr>
                                      <p:to>
                                        <p:strVal val="visible"/>
                                      </p:to>
                                    </p:set>
                                    <p:anim calcmode="lin" valueType="num">
                                      <p:cBhvr>
                                        <p:cTn id="17" dur="1000" fill="hold"/>
                                        <p:tgtEl>
                                          <p:spTgt spid="76"/>
                                        </p:tgtEl>
                                        <p:attrNameLst>
                                          <p:attrName>ppt_w</p:attrName>
                                        </p:attrNameLst>
                                      </p:cBhvr>
                                      <p:tavLst>
                                        <p:tav tm="0">
                                          <p:val>
                                            <p:strVal val="#ppt_w*0.70"/>
                                          </p:val>
                                        </p:tav>
                                        <p:tav tm="100000">
                                          <p:val>
                                            <p:strVal val="#ppt_w"/>
                                          </p:val>
                                        </p:tav>
                                      </p:tavLst>
                                    </p:anim>
                                    <p:anim calcmode="lin" valueType="num">
                                      <p:cBhvr>
                                        <p:cTn id="18" dur="1000" fill="hold"/>
                                        <p:tgtEl>
                                          <p:spTgt spid="76"/>
                                        </p:tgtEl>
                                        <p:attrNameLst>
                                          <p:attrName>ppt_h</p:attrName>
                                        </p:attrNameLst>
                                      </p:cBhvr>
                                      <p:tavLst>
                                        <p:tav tm="0">
                                          <p:val>
                                            <p:strVal val="#ppt_h"/>
                                          </p:val>
                                        </p:tav>
                                        <p:tav tm="100000">
                                          <p:val>
                                            <p:strVal val="#ppt_h"/>
                                          </p:val>
                                        </p:tav>
                                      </p:tavLst>
                                    </p:anim>
                                    <p:animEffect transition="in" filter="fade">
                                      <p:cBhvr>
                                        <p:cTn id="19" dur="1000"/>
                                        <p:tgtEl>
                                          <p:spTgt spid="7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3"/>
                                        </p:tgtEl>
                                        <p:attrNameLst>
                                          <p:attrName>style.visibility</p:attrName>
                                        </p:attrNameLst>
                                      </p:cBhvr>
                                      <p:to>
                                        <p:strVal val="visible"/>
                                      </p:to>
                                    </p:set>
                                  </p:childTnLst>
                                </p:cTn>
                              </p:par>
                            </p:childTnLst>
                          </p:cTn>
                        </p:par>
                        <p:par>
                          <p:cTn id="24" fill="hold">
                            <p:stCondLst>
                              <p:cond delay="0"/>
                            </p:stCondLst>
                            <p:childTnLst>
                              <p:par>
                                <p:cTn id="25" presetID="22" presetClass="entr" presetSubtype="4" fill="hold" nodeType="after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down)">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4"/>
                                        </p:tgtEl>
                                        <p:attrNameLst>
                                          <p:attrName>style.visibility</p:attrName>
                                        </p:attrNameLst>
                                      </p:cBhvr>
                                      <p:to>
                                        <p:strVal val="visible"/>
                                      </p:to>
                                    </p:set>
                                  </p:childTnLst>
                                </p:cTn>
                              </p:par>
                            </p:childTnLst>
                          </p:cTn>
                        </p:par>
                        <p:par>
                          <p:cTn id="32" fill="hold">
                            <p:stCondLst>
                              <p:cond delay="0"/>
                            </p:stCondLst>
                            <p:childTnLst>
                              <p:par>
                                <p:cTn id="33" presetID="22" presetClass="entr" presetSubtype="1" fill="hold" nodeType="after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wipe(up)">
                                      <p:cBhvr>
                                        <p:cTn id="35" dur="500"/>
                                        <p:tgtEl>
                                          <p:spTgt spid="64"/>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112"/>
                                        </p:tgtEl>
                                        <p:attrNameLst>
                                          <p:attrName>style.visibility</p:attrName>
                                        </p:attrNameLst>
                                      </p:cBhvr>
                                      <p:to>
                                        <p:strVal val="visible"/>
                                      </p:to>
                                    </p:set>
                                    <p:anim calcmode="lin" valueType="num">
                                      <p:cBhvr>
                                        <p:cTn id="40" dur="1000" fill="hold"/>
                                        <p:tgtEl>
                                          <p:spTgt spid="112"/>
                                        </p:tgtEl>
                                        <p:attrNameLst>
                                          <p:attrName>ppt_w</p:attrName>
                                        </p:attrNameLst>
                                      </p:cBhvr>
                                      <p:tavLst>
                                        <p:tav tm="0">
                                          <p:val>
                                            <p:strVal val="#ppt_w*0.70"/>
                                          </p:val>
                                        </p:tav>
                                        <p:tav tm="100000">
                                          <p:val>
                                            <p:strVal val="#ppt_w"/>
                                          </p:val>
                                        </p:tav>
                                      </p:tavLst>
                                    </p:anim>
                                    <p:anim calcmode="lin" valueType="num">
                                      <p:cBhvr>
                                        <p:cTn id="41" dur="1000" fill="hold"/>
                                        <p:tgtEl>
                                          <p:spTgt spid="112"/>
                                        </p:tgtEl>
                                        <p:attrNameLst>
                                          <p:attrName>ppt_h</p:attrName>
                                        </p:attrNameLst>
                                      </p:cBhvr>
                                      <p:tavLst>
                                        <p:tav tm="0">
                                          <p:val>
                                            <p:strVal val="#ppt_h"/>
                                          </p:val>
                                        </p:tav>
                                        <p:tav tm="100000">
                                          <p:val>
                                            <p:strVal val="#ppt_h"/>
                                          </p:val>
                                        </p:tav>
                                      </p:tavLst>
                                    </p:anim>
                                    <p:animEffect transition="in" filter="fade">
                                      <p:cBhvr>
                                        <p:cTn id="42" dur="1000"/>
                                        <p:tgtEl>
                                          <p:spTgt spid="112"/>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Osciladores</a:t>
            </a:r>
          </a:p>
        </p:txBody>
      </p:sp>
      <p:sp>
        <p:nvSpPr>
          <p:cNvPr id="3" name="Content Placeholder 2"/>
          <p:cNvSpPr>
            <a:spLocks noGrp="1"/>
          </p:cNvSpPr>
          <p:nvPr>
            <p:ph idx="1"/>
          </p:nvPr>
        </p:nvSpPr>
        <p:spPr>
          <a:xfrm>
            <a:off x="257976" y="1485901"/>
            <a:ext cx="4743097" cy="1283058"/>
          </a:xfrm>
        </p:spPr>
        <p:txBody>
          <a:bodyPr>
            <a:noAutofit/>
          </a:bodyPr>
          <a:lstStyle/>
          <a:p>
            <a:pPr algn="ctr"/>
            <a:r>
              <a:rPr lang="pt-BR" sz="2400" dirty="0" err="1"/>
              <a:t>Multivibrador</a:t>
            </a:r>
            <a:r>
              <a:rPr lang="pt-BR" sz="2400" dirty="0"/>
              <a:t> </a:t>
            </a:r>
            <a:r>
              <a:rPr lang="pt-BR" sz="2400" dirty="0" err="1"/>
              <a:t>Astável</a:t>
            </a:r>
            <a:endParaRPr lang="pt-BR" sz="24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a:t>
            </a:fld>
            <a:endParaRPr lang="pt-BR" dirty="0"/>
          </a:p>
        </p:txBody>
      </p:sp>
      <p:pic>
        <p:nvPicPr>
          <p:cNvPr id="7" name="Picture 6"/>
          <p:cNvPicPr>
            <a:picLocks noChangeAspect="1"/>
          </p:cNvPicPr>
          <p:nvPr/>
        </p:nvPicPr>
        <p:blipFill>
          <a:blip r:embed="rId4"/>
          <a:stretch>
            <a:fillRect/>
          </a:stretch>
        </p:blipFill>
        <p:spPr>
          <a:xfrm>
            <a:off x="5589428" y="2042185"/>
            <a:ext cx="1837648" cy="1261086"/>
          </a:xfrm>
          <a:prstGeom prst="rect">
            <a:avLst/>
          </a:prstGeom>
        </p:spPr>
      </p:pic>
      <p:pic>
        <p:nvPicPr>
          <p:cNvPr id="9" name="Picture 8" descr="50450-IMG_5222.jpg"/>
          <p:cNvPicPr>
            <a:picLocks noChangeAspect="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5493" t="3474" r="5471" b="5329"/>
          <a:stretch/>
        </p:blipFill>
        <p:spPr>
          <a:xfrm>
            <a:off x="5400322" y="3945182"/>
            <a:ext cx="3318678" cy="2547144"/>
          </a:xfrm>
          <a:prstGeom prst="rect">
            <a:avLst/>
          </a:prstGeom>
        </p:spPr>
      </p:pic>
      <p:sp>
        <p:nvSpPr>
          <p:cNvPr id="10" name="Content Placeholder 2"/>
          <p:cNvSpPr txBox="1">
            <a:spLocks/>
          </p:cNvSpPr>
          <p:nvPr/>
        </p:nvSpPr>
        <p:spPr>
          <a:xfrm>
            <a:off x="780349" y="4610637"/>
            <a:ext cx="4524163" cy="1951346"/>
          </a:xfrm>
          <a:prstGeom prst="rect">
            <a:avLst/>
          </a:prstGeom>
        </p:spPr>
        <p:txBody>
          <a:bodyPr>
            <a:norm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pt-BR" sz="2400" dirty="0"/>
              <a:t>O Arduino Uno com um cristal de 16 MHz para controlar o  ATmega328P</a:t>
            </a:r>
          </a:p>
        </p:txBody>
      </p:sp>
      <p:sp>
        <p:nvSpPr>
          <p:cNvPr id="11" name="Donut 10"/>
          <p:cNvSpPr/>
          <p:nvPr/>
        </p:nvSpPr>
        <p:spPr>
          <a:xfrm>
            <a:off x="6004212" y="4967385"/>
            <a:ext cx="1150855" cy="661491"/>
          </a:xfrm>
          <a:prstGeom prst="donut">
            <a:avLst>
              <a:gd name="adj" fmla="val 17440"/>
            </a:avLst>
          </a:prstGeom>
          <a:solidFill>
            <a:srgbClr val="FF0000">
              <a:alpha val="71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sp>
        <p:nvSpPr>
          <p:cNvPr id="12" name="Content Placeholder 2"/>
          <p:cNvSpPr txBox="1">
            <a:spLocks/>
          </p:cNvSpPr>
          <p:nvPr/>
        </p:nvSpPr>
        <p:spPr>
          <a:xfrm>
            <a:off x="4585805" y="1485899"/>
            <a:ext cx="3592278" cy="2641799"/>
          </a:xfrm>
          <a:prstGeom prst="rect">
            <a:avLst/>
          </a:prstGeom>
        </p:spPr>
        <p:txBody>
          <a:bodyPr>
            <a:no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r>
              <a:rPr lang="pt-BR" sz="2400"/>
              <a:t>Cristais </a:t>
            </a:r>
            <a:r>
              <a:rPr lang="pt-BR" sz="2400" dirty="0"/>
              <a:t>de quartzo</a:t>
            </a:r>
          </a:p>
          <a:p>
            <a:pPr algn="ctr"/>
            <a:endParaRPr lang="pt-BR" sz="2200" dirty="0"/>
          </a:p>
        </p:txBody>
      </p:sp>
      <p:pic>
        <p:nvPicPr>
          <p:cNvPr id="13" name="Picture 4" descr="http://shop.rabtron.co.za/catalog/images/NE555.jpg"/>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46120" y="1789324"/>
            <a:ext cx="1766807" cy="1766807"/>
          </a:xfrm>
          <a:prstGeom prst="rect">
            <a:avLst/>
          </a:prstGeom>
          <a:noFill/>
          <a:extLst>
            <a:ext uri="{909E8E84-426E-40dd-AFC4-6F175D3DCCD1}">
              <a14:hiddenFill xmlns=""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1585416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par>
                          <p:cTn id="9" fill="hold">
                            <p:stCondLst>
                              <p:cond delay="0"/>
                            </p:stCondLst>
                            <p:childTnLst>
                              <p:par>
                                <p:cTn id="10" presetID="52" presetClass="entr" presetSubtype="0" fill="hold" grpId="0" nodeType="afterEffect">
                                  <p:stCondLst>
                                    <p:cond delay="1000"/>
                                  </p:stCondLst>
                                  <p:childTnLst>
                                    <p:set>
                                      <p:cBhvr>
                                        <p:cTn id="11" dur="1" fill="hold">
                                          <p:stCondLst>
                                            <p:cond delay="0"/>
                                          </p:stCondLst>
                                        </p:cTn>
                                        <p:tgtEl>
                                          <p:spTgt spid="11"/>
                                        </p:tgtEl>
                                        <p:attrNameLst>
                                          <p:attrName>style.visibility</p:attrName>
                                        </p:attrNameLst>
                                      </p:cBhvr>
                                      <p:to>
                                        <p:strVal val="visible"/>
                                      </p:to>
                                    </p:set>
                                    <p:animScale>
                                      <p:cBhvr>
                                        <p:cTn id="12"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1"/>
                                        </p:tgtEl>
                                        <p:attrNameLst>
                                          <p:attrName>ppt_x</p:attrName>
                                          <p:attrName>ppt_y</p:attrName>
                                        </p:attrNameLst>
                                      </p:cBhvr>
                                    </p:animMotion>
                                    <p:animEffect transition="in" filter="fade">
                                      <p:cBhvr>
                                        <p:cTn id="1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Lógica Combinacional e Sequencial</a:t>
            </a:r>
          </a:p>
        </p:txBody>
      </p:sp>
      <p:sp>
        <p:nvSpPr>
          <p:cNvPr id="3" name="Content Placeholder 2"/>
          <p:cNvSpPr>
            <a:spLocks noGrp="1"/>
          </p:cNvSpPr>
          <p:nvPr>
            <p:ph idx="1"/>
          </p:nvPr>
        </p:nvSpPr>
        <p:spPr>
          <a:xfrm>
            <a:off x="657225" y="1485900"/>
            <a:ext cx="8029575" cy="819904"/>
          </a:xfrm>
        </p:spPr>
        <p:txBody>
          <a:bodyPr>
            <a:normAutofit/>
          </a:bodyPr>
          <a:lstStyle/>
          <a:p>
            <a:r>
              <a:rPr lang="pt-BR" sz="2000" dirty="0"/>
              <a:t>Na Lógica Combinacional a função dos circuitos depende somente do estado das entradas naquele momento.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a:t>
            </a:fld>
            <a:endParaRPr lang="pt-BR" dirty="0"/>
          </a:p>
        </p:txBody>
      </p:sp>
      <p:grpSp>
        <p:nvGrpSpPr>
          <p:cNvPr id="11" name="Group 10"/>
          <p:cNvGrpSpPr/>
          <p:nvPr/>
        </p:nvGrpSpPr>
        <p:grpSpPr>
          <a:xfrm>
            <a:off x="2317372" y="2305804"/>
            <a:ext cx="4238715" cy="933724"/>
            <a:chOff x="1867610" y="1878632"/>
            <a:chExt cx="4238715" cy="933724"/>
          </a:xfrm>
        </p:grpSpPr>
        <p:sp>
          <p:nvSpPr>
            <p:cNvPr id="12" name="Rectangle 11"/>
            <p:cNvSpPr/>
            <p:nvPr/>
          </p:nvSpPr>
          <p:spPr>
            <a:xfrm>
              <a:off x="1867610" y="2090011"/>
              <a:ext cx="1185090" cy="461665"/>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r>
                <a:rPr lang="pt-BR" sz="2400" b="1" noProof="1">
                  <a:solidFill>
                    <a:schemeClr val="tx1"/>
                  </a:solidFill>
                </a:rPr>
                <a:t>Entrada</a:t>
              </a:r>
            </a:p>
          </p:txBody>
        </p:sp>
        <p:sp>
          <p:nvSpPr>
            <p:cNvPr id="13" name="Rectangle 12"/>
            <p:cNvSpPr/>
            <p:nvPr/>
          </p:nvSpPr>
          <p:spPr>
            <a:xfrm>
              <a:off x="3543250" y="1878632"/>
              <a:ext cx="1179221" cy="9337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Circuito Lógico</a:t>
              </a:r>
            </a:p>
          </p:txBody>
        </p:sp>
        <p:sp>
          <p:nvSpPr>
            <p:cNvPr id="14" name="Right Arrow 13"/>
            <p:cNvSpPr/>
            <p:nvPr/>
          </p:nvSpPr>
          <p:spPr>
            <a:xfrm>
              <a:off x="2990709" y="2115505"/>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endParaRPr lang="pt-BR" sz="1100" noProof="1">
                <a:solidFill>
                  <a:schemeClr val="tx1"/>
                </a:solidFill>
              </a:endParaRPr>
            </a:p>
          </p:txBody>
        </p:sp>
        <p:sp>
          <p:nvSpPr>
            <p:cNvPr id="15" name="Right Arrow 14"/>
            <p:cNvSpPr/>
            <p:nvPr/>
          </p:nvSpPr>
          <p:spPr>
            <a:xfrm>
              <a:off x="4775383" y="2106981"/>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endParaRPr lang="pt-BR" sz="1100" noProof="1">
                <a:solidFill>
                  <a:schemeClr val="tx1"/>
                </a:solidFill>
              </a:endParaRPr>
            </a:p>
          </p:txBody>
        </p:sp>
        <p:sp>
          <p:nvSpPr>
            <p:cNvPr id="16" name="Rectangle 15"/>
            <p:cNvSpPr/>
            <p:nvPr/>
          </p:nvSpPr>
          <p:spPr>
            <a:xfrm>
              <a:off x="5231566" y="2063551"/>
              <a:ext cx="874759"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pt-BR" sz="2400" b="1" noProof="1">
                  <a:solidFill>
                    <a:schemeClr val="tx1"/>
                  </a:solidFill>
                </a:rPr>
                <a:t>Saída</a:t>
              </a:r>
            </a:p>
          </p:txBody>
        </p:sp>
      </p:grpSp>
      <p:grpSp>
        <p:nvGrpSpPr>
          <p:cNvPr id="6" name="Grupo 5"/>
          <p:cNvGrpSpPr/>
          <p:nvPr/>
        </p:nvGrpSpPr>
        <p:grpSpPr>
          <a:xfrm>
            <a:off x="1695646" y="4293761"/>
            <a:ext cx="5471723" cy="2232019"/>
            <a:chOff x="1695646" y="4293761"/>
            <a:chExt cx="5471723" cy="2232019"/>
          </a:xfrm>
        </p:grpSpPr>
        <p:sp>
          <p:nvSpPr>
            <p:cNvPr id="18" name="Rectangle 17"/>
            <p:cNvSpPr/>
            <p:nvPr/>
          </p:nvSpPr>
          <p:spPr>
            <a:xfrm>
              <a:off x="1695646" y="5166641"/>
              <a:ext cx="1185090" cy="461665"/>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r>
                <a:rPr lang="pt-BR" sz="2400" b="1" noProof="1">
                  <a:solidFill>
                    <a:schemeClr val="tx1"/>
                  </a:solidFill>
                </a:rPr>
                <a:t>Entrada</a:t>
              </a:r>
            </a:p>
          </p:txBody>
        </p:sp>
        <p:sp>
          <p:nvSpPr>
            <p:cNvPr id="19" name="Rectangle 18"/>
            <p:cNvSpPr/>
            <p:nvPr/>
          </p:nvSpPr>
          <p:spPr>
            <a:xfrm>
              <a:off x="3374210" y="4293761"/>
              <a:ext cx="2377136" cy="2232019"/>
            </a:xfrm>
            <a:prstGeom prst="rect">
              <a:avLst/>
            </a:prstGeom>
            <a:ln>
              <a:prstDash val="sysDash"/>
            </a:ln>
          </p:spPr>
          <p:style>
            <a:lnRef idx="2">
              <a:schemeClr val="dk1"/>
            </a:lnRef>
            <a:fillRef idx="1">
              <a:schemeClr val="lt1"/>
            </a:fillRef>
            <a:effectRef idx="0">
              <a:schemeClr val="dk1"/>
            </a:effectRef>
            <a:fontRef idx="minor">
              <a:schemeClr val="dk1"/>
            </a:fontRef>
          </p:style>
          <p:txBody>
            <a:bodyPr lIns="0" tIns="0" rIns="0" bIns="0" rtlCol="0" anchor="t"/>
            <a:lstStyle/>
            <a:p>
              <a:pPr algn="ctr">
                <a:lnSpc>
                  <a:spcPct val="70000"/>
                </a:lnSpc>
              </a:pPr>
              <a:endParaRPr lang="pt-BR" b="1" noProof="1">
                <a:solidFill>
                  <a:schemeClr val="tx1"/>
                </a:solidFill>
              </a:endParaRPr>
            </a:p>
            <a:p>
              <a:pPr algn="ctr">
                <a:lnSpc>
                  <a:spcPct val="70000"/>
                </a:lnSpc>
              </a:pPr>
              <a:endParaRPr lang="pt-BR" b="1" noProof="1">
                <a:solidFill>
                  <a:schemeClr val="tx1"/>
                </a:solidFill>
              </a:endParaRPr>
            </a:p>
          </p:txBody>
        </p:sp>
        <p:sp>
          <p:nvSpPr>
            <p:cNvPr id="20" name="Right Arrow 19"/>
            <p:cNvSpPr/>
            <p:nvPr/>
          </p:nvSpPr>
          <p:spPr>
            <a:xfrm>
              <a:off x="2818745" y="5192135"/>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endParaRPr lang="pt-BR" sz="1100" noProof="1">
                <a:solidFill>
                  <a:schemeClr val="tx1"/>
                </a:solidFill>
              </a:endParaRPr>
            </a:p>
          </p:txBody>
        </p:sp>
        <p:sp>
          <p:nvSpPr>
            <p:cNvPr id="21" name="Right Arrow 20"/>
            <p:cNvSpPr/>
            <p:nvPr/>
          </p:nvSpPr>
          <p:spPr>
            <a:xfrm>
              <a:off x="5796255" y="5195195"/>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endParaRPr lang="pt-BR" sz="1100" noProof="1">
                <a:solidFill>
                  <a:schemeClr val="tx1"/>
                </a:solidFill>
              </a:endParaRPr>
            </a:p>
          </p:txBody>
        </p:sp>
        <p:sp>
          <p:nvSpPr>
            <p:cNvPr id="22" name="Rectangle 21"/>
            <p:cNvSpPr/>
            <p:nvPr/>
          </p:nvSpPr>
          <p:spPr>
            <a:xfrm>
              <a:off x="6292610" y="5168735"/>
              <a:ext cx="874759"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pt-BR" sz="2400" b="1" noProof="1">
                  <a:solidFill>
                    <a:schemeClr val="tx1"/>
                  </a:solidFill>
                </a:rPr>
                <a:t>Saída</a:t>
              </a:r>
            </a:p>
          </p:txBody>
        </p:sp>
        <p:sp>
          <p:nvSpPr>
            <p:cNvPr id="23" name="Rectangle 22"/>
            <p:cNvSpPr/>
            <p:nvPr/>
          </p:nvSpPr>
          <p:spPr>
            <a:xfrm>
              <a:off x="4026126" y="5541699"/>
              <a:ext cx="1073305" cy="769868"/>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Memória</a:t>
              </a:r>
            </a:p>
            <a:p>
              <a:pPr algn="ctr">
                <a:lnSpc>
                  <a:spcPct val="70000"/>
                </a:lnSpc>
              </a:pPr>
              <a:r>
                <a:rPr lang="pt-BR" b="1" noProof="1">
                  <a:solidFill>
                    <a:schemeClr val="tx1"/>
                  </a:solidFill>
                </a:rPr>
                <a:t>(estado)</a:t>
              </a:r>
            </a:p>
          </p:txBody>
        </p:sp>
        <p:sp>
          <p:nvSpPr>
            <p:cNvPr id="24" name="Rectangle 23"/>
            <p:cNvSpPr/>
            <p:nvPr/>
          </p:nvSpPr>
          <p:spPr>
            <a:xfrm>
              <a:off x="4026126" y="4533695"/>
              <a:ext cx="1073305" cy="769868"/>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Circuito Lógico</a:t>
              </a:r>
            </a:p>
          </p:txBody>
        </p:sp>
        <p:sp>
          <p:nvSpPr>
            <p:cNvPr id="25" name="U-Turn Arrow 24"/>
            <p:cNvSpPr/>
            <p:nvPr/>
          </p:nvSpPr>
          <p:spPr>
            <a:xfrm rot="5400000">
              <a:off x="4741374" y="5254886"/>
              <a:ext cx="1218824" cy="423343"/>
            </a:xfrm>
            <a:prstGeom prst="uturnArrow">
              <a:avLst>
                <a:gd name="adj1" fmla="val 25000"/>
                <a:gd name="adj2" fmla="val 25000"/>
                <a:gd name="adj3" fmla="val 25000"/>
                <a:gd name="adj4" fmla="val 43750"/>
                <a:gd name="adj5" fmla="val 100000"/>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sp>
          <p:nvSpPr>
            <p:cNvPr id="26" name="U-Turn Arrow 25"/>
            <p:cNvSpPr/>
            <p:nvPr/>
          </p:nvSpPr>
          <p:spPr>
            <a:xfrm rot="16200000">
              <a:off x="3165359" y="5254885"/>
              <a:ext cx="1218824" cy="423343"/>
            </a:xfrm>
            <a:prstGeom prst="uturnArrow">
              <a:avLst>
                <a:gd name="adj1" fmla="val 25000"/>
                <a:gd name="adj2" fmla="val 25000"/>
                <a:gd name="adj3" fmla="val 25000"/>
                <a:gd name="adj4" fmla="val 43750"/>
                <a:gd name="adj5" fmla="val 100000"/>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solidFill>
                  <a:schemeClr val="tx1"/>
                </a:solidFill>
              </a:endParaRPr>
            </a:p>
          </p:txBody>
        </p:sp>
      </p:grpSp>
      <p:sp>
        <p:nvSpPr>
          <p:cNvPr id="27" name="Content Placeholder 2"/>
          <p:cNvSpPr txBox="1">
            <a:spLocks/>
          </p:cNvSpPr>
          <p:nvPr/>
        </p:nvSpPr>
        <p:spPr>
          <a:xfrm>
            <a:off x="725688" y="3481771"/>
            <a:ext cx="8294326" cy="872101"/>
          </a:xfrm>
          <a:prstGeom prst="rect">
            <a:avLst/>
          </a:prstGeom>
        </p:spPr>
        <p:txBody>
          <a:bodyPr>
            <a:no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pt-BR" sz="2000" dirty="0"/>
              <a:t>Na Lógica Sequencial a função dos circuitos depende de estados anteriores, ou seja, os circuitos têm alguma memória.</a:t>
            </a:r>
          </a:p>
        </p:txBody>
      </p:sp>
    </p:spTree>
    <p:custDataLst>
      <p:tags r:id="rId1"/>
    </p:custDataLst>
    <p:extLst>
      <p:ext uri="{BB962C8B-B14F-4D97-AF65-F5344CB8AC3E}">
        <p14:creationId xmlns:p14="http://schemas.microsoft.com/office/powerpoint/2010/main" val="114055010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Circuitos Biestáveis</a:t>
            </a:r>
            <a:endParaRPr lang="pt-BR" i="1" dirty="0"/>
          </a:p>
        </p:txBody>
      </p:sp>
      <p:sp>
        <p:nvSpPr>
          <p:cNvPr id="3" name="Content Placeholder 2"/>
          <p:cNvSpPr>
            <a:spLocks noGrp="1"/>
          </p:cNvSpPr>
          <p:nvPr>
            <p:ph idx="1"/>
          </p:nvPr>
        </p:nvSpPr>
        <p:spPr>
          <a:xfrm>
            <a:off x="657224" y="1485900"/>
            <a:ext cx="8235255" cy="2699734"/>
          </a:xfrm>
        </p:spPr>
        <p:txBody>
          <a:bodyPr>
            <a:noAutofit/>
          </a:bodyPr>
          <a:lstStyle/>
          <a:p>
            <a:r>
              <a:rPr lang="en-BR" sz="2400" dirty="0"/>
              <a:t>Um circuito biestável possui dois estados estáveis e pode armazenar um bit. Seu estado somente muda quando suas entradas e, quando aplicável, o sinal de habilitação ou clock determinam uma transição.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a:t>
            </a:fld>
            <a:endParaRPr lang="pt-BR" dirty="0"/>
          </a:p>
        </p:txBody>
      </p:sp>
      <p:grpSp>
        <p:nvGrpSpPr>
          <p:cNvPr id="7" name="Group 6"/>
          <p:cNvGrpSpPr/>
          <p:nvPr/>
        </p:nvGrpSpPr>
        <p:grpSpPr>
          <a:xfrm>
            <a:off x="1876133" y="3893318"/>
            <a:ext cx="5604610" cy="933724"/>
            <a:chOff x="1693978" y="1878632"/>
            <a:chExt cx="4889060" cy="933724"/>
          </a:xfrm>
        </p:grpSpPr>
        <p:sp>
          <p:nvSpPr>
            <p:cNvPr id="8" name="Rectangle 7"/>
            <p:cNvSpPr/>
            <p:nvPr/>
          </p:nvSpPr>
          <p:spPr>
            <a:xfrm>
              <a:off x="1693978" y="2090011"/>
              <a:ext cx="1468780" cy="523220"/>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r>
                <a:rPr lang="pt-BR" sz="2800" b="1" noProof="1">
                  <a:solidFill>
                    <a:schemeClr val="tx1"/>
                  </a:solidFill>
                </a:rPr>
                <a:t>Entradas</a:t>
              </a:r>
            </a:p>
          </p:txBody>
        </p:sp>
        <p:sp>
          <p:nvSpPr>
            <p:cNvPr id="9" name="Rectangle 8"/>
            <p:cNvSpPr/>
            <p:nvPr/>
          </p:nvSpPr>
          <p:spPr>
            <a:xfrm>
              <a:off x="3543250" y="1878632"/>
              <a:ext cx="1179221" cy="9337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2000" b="1" noProof="1">
                  <a:solidFill>
                    <a:schemeClr val="tx1"/>
                  </a:solidFill>
                </a:rPr>
                <a:t>Circuito</a:t>
              </a:r>
            </a:p>
          </p:txBody>
        </p:sp>
        <p:sp>
          <p:nvSpPr>
            <p:cNvPr id="10" name="Right Arrow 9"/>
            <p:cNvSpPr/>
            <p:nvPr/>
          </p:nvSpPr>
          <p:spPr>
            <a:xfrm>
              <a:off x="2990709" y="2115505"/>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endParaRPr lang="pt-BR" sz="1200" noProof="1">
                <a:solidFill>
                  <a:schemeClr val="tx1"/>
                </a:solidFill>
              </a:endParaRPr>
            </a:p>
          </p:txBody>
        </p:sp>
        <p:sp>
          <p:nvSpPr>
            <p:cNvPr id="11" name="Right Arrow 10"/>
            <p:cNvSpPr/>
            <p:nvPr/>
          </p:nvSpPr>
          <p:spPr>
            <a:xfrm>
              <a:off x="4775383" y="2106981"/>
              <a:ext cx="510924" cy="456173"/>
            </a:xfrm>
            <a:prstGeom prst="rightArrow">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endParaRPr lang="pt-BR" sz="1200" noProof="1">
                <a:solidFill>
                  <a:schemeClr val="tx1"/>
                </a:solidFill>
              </a:endParaRPr>
            </a:p>
          </p:txBody>
        </p:sp>
        <p:sp>
          <p:nvSpPr>
            <p:cNvPr id="12" name="Rectangle 11"/>
            <p:cNvSpPr/>
            <p:nvPr/>
          </p:nvSpPr>
          <p:spPr>
            <a:xfrm>
              <a:off x="5231566" y="2063551"/>
              <a:ext cx="1351472" cy="523220"/>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pt-BR" sz="2800" b="1" noProof="1">
                  <a:solidFill>
                    <a:schemeClr val="tx1"/>
                  </a:solidFill>
                </a:rPr>
                <a:t>Saída (Q)</a:t>
              </a:r>
            </a:p>
          </p:txBody>
        </p:sp>
      </p:grpSp>
      <p:sp>
        <p:nvSpPr>
          <p:cNvPr id="15" name="TextBox 14">
            <a:extLst>
              <a:ext uri="{FF2B5EF4-FFF2-40B4-BE49-F238E27FC236}">
                <a16:creationId xmlns:a16="http://schemas.microsoft.com/office/drawing/2014/main" id="{84FA9053-EFE1-A2EB-D260-696291D934A6}"/>
              </a:ext>
            </a:extLst>
          </p:cNvPr>
          <p:cNvSpPr txBox="1"/>
          <p:nvPr/>
        </p:nvSpPr>
        <p:spPr>
          <a:xfrm>
            <a:off x="3122525" y="5303921"/>
            <a:ext cx="3394185" cy="461665"/>
          </a:xfrm>
          <a:prstGeom prst="rect">
            <a:avLst/>
          </a:prstGeom>
          <a:noFill/>
        </p:spPr>
        <p:txBody>
          <a:bodyPr wrap="square">
            <a:spAutoFit/>
          </a:bodyPr>
          <a:lstStyle/>
          <a:p>
            <a:pPr>
              <a:buNone/>
            </a:pPr>
            <a:r>
              <a:rPr lang="en-BR" sz="2400" b="1" dirty="0"/>
              <a:t>Q(t+1)=F(Q(t),entradas) </a:t>
            </a:r>
          </a:p>
        </p:txBody>
      </p:sp>
      <p:sp>
        <p:nvSpPr>
          <p:cNvPr id="17" name="TextBox 16">
            <a:extLst>
              <a:ext uri="{FF2B5EF4-FFF2-40B4-BE49-F238E27FC236}">
                <a16:creationId xmlns:a16="http://schemas.microsoft.com/office/drawing/2014/main" id="{0238777D-11F9-45FA-7745-257B5EAE1177}"/>
              </a:ext>
            </a:extLst>
          </p:cNvPr>
          <p:cNvSpPr txBox="1"/>
          <p:nvPr/>
        </p:nvSpPr>
        <p:spPr>
          <a:xfrm>
            <a:off x="1338854" y="6043341"/>
            <a:ext cx="6594532" cy="369332"/>
          </a:xfrm>
          <a:prstGeom prst="rect">
            <a:avLst/>
          </a:prstGeom>
          <a:noFill/>
        </p:spPr>
        <p:txBody>
          <a:bodyPr wrap="square">
            <a:spAutoFit/>
          </a:bodyPr>
          <a:lstStyle/>
          <a:p>
            <a:pPr>
              <a:buNone/>
            </a:pPr>
            <a:r>
              <a:rPr lang="en-BR" dirty="0"/>
              <a:t>O próximo estado é uma função do estado atual e das entradas.</a:t>
            </a:r>
          </a:p>
        </p:txBody>
      </p:sp>
    </p:spTree>
    <p:extLst>
      <p:ext uri="{BB962C8B-B14F-4D97-AF65-F5344CB8AC3E}">
        <p14:creationId xmlns:p14="http://schemas.microsoft.com/office/powerpoint/2010/main" val="365204589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i="1" dirty="0"/>
              <a:t>Tipos de Circuitos Biestáveis</a:t>
            </a:r>
            <a:endParaRPr lang="pt-BR" dirty="0"/>
          </a:p>
        </p:txBody>
      </p:sp>
      <p:sp>
        <p:nvSpPr>
          <p:cNvPr id="3" name="Content Placeholder 2"/>
          <p:cNvSpPr>
            <a:spLocks noGrp="1"/>
          </p:cNvSpPr>
          <p:nvPr>
            <p:ph idx="1"/>
          </p:nvPr>
        </p:nvSpPr>
        <p:spPr/>
        <p:txBody>
          <a:bodyPr>
            <a:normAutofit/>
          </a:bodyPr>
          <a:lstStyle/>
          <a:p>
            <a:r>
              <a:rPr lang="pt-BR" sz="2000" dirty="0"/>
              <a:t>Os tipos comuns são o SR (“Set-Reset”) e o D ("data”).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a:t>
            </a:fld>
            <a:endParaRPr lang="pt-BR" dirty="0"/>
          </a:p>
        </p:txBody>
      </p:sp>
      <p:pic>
        <p:nvPicPr>
          <p:cNvPr id="6" name="Picture 5" descr="440px-SR_Flip-flop_Diagram.sv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151" y="3912952"/>
            <a:ext cx="2465377" cy="1540861"/>
          </a:xfrm>
          <a:prstGeom prst="rect">
            <a:avLst/>
          </a:prstGeom>
        </p:spPr>
      </p:pic>
      <p:pic>
        <p:nvPicPr>
          <p:cNvPr id="7" name="Picture 6" descr="300px-D-Type_Transparent_Latch.sv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646" y="3748267"/>
            <a:ext cx="3810000" cy="1905000"/>
          </a:xfrm>
          <a:prstGeom prst="rect">
            <a:avLst/>
          </a:prstGeom>
        </p:spPr>
      </p:pic>
      <p:sp>
        <p:nvSpPr>
          <p:cNvPr id="8" name="Rectangle 7"/>
          <p:cNvSpPr/>
          <p:nvPr/>
        </p:nvSpPr>
        <p:spPr>
          <a:xfrm>
            <a:off x="725688" y="5549779"/>
            <a:ext cx="2991439" cy="646331"/>
          </a:xfrm>
          <a:prstGeom prst="rect">
            <a:avLst/>
          </a:prstGeom>
        </p:spPr>
        <p:txBody>
          <a:bodyPr wrap="square">
            <a:spAutoFit/>
          </a:bodyPr>
          <a:lstStyle/>
          <a:p>
            <a:r>
              <a:rPr lang="pt-BR" dirty="0"/>
              <a:t>Latch de Set-Reset ativado com sinais em nível baixo.</a:t>
            </a:r>
          </a:p>
        </p:txBody>
      </p:sp>
      <p:sp>
        <p:nvSpPr>
          <p:cNvPr id="9" name="Rectangle 8"/>
          <p:cNvSpPr/>
          <p:nvPr/>
        </p:nvSpPr>
        <p:spPr>
          <a:xfrm>
            <a:off x="5018518" y="5568936"/>
            <a:ext cx="2991439" cy="646331"/>
          </a:xfrm>
          <a:prstGeom prst="rect">
            <a:avLst/>
          </a:prstGeom>
        </p:spPr>
        <p:txBody>
          <a:bodyPr wrap="square">
            <a:spAutoFit/>
          </a:bodyPr>
          <a:lstStyle/>
          <a:p>
            <a:r>
              <a:rPr lang="pt-BR" dirty="0"/>
              <a:t>Latch de tipo D ativado com sinais em nível alto.</a:t>
            </a:r>
          </a:p>
        </p:txBody>
      </p:sp>
      <p:pic>
        <p:nvPicPr>
          <p:cNvPr id="10" name="Picture 9" descr="Inverted_SR_latch_symbol.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8286" y="2275525"/>
            <a:ext cx="1331999" cy="1203614"/>
          </a:xfrm>
          <a:prstGeom prst="rect">
            <a:avLst/>
          </a:prstGeom>
        </p:spPr>
      </p:pic>
      <p:pic>
        <p:nvPicPr>
          <p:cNvPr id="12" name="Picture 11" descr="100px-Transparent_Latch_Symbol.svg.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73010" y="2190270"/>
            <a:ext cx="1435001" cy="1435001"/>
          </a:xfrm>
          <a:prstGeom prst="rect">
            <a:avLst/>
          </a:prstGeom>
        </p:spPr>
      </p:pic>
      <p:graphicFrame>
        <p:nvGraphicFramePr>
          <p:cNvPr id="14" name="Table 13"/>
          <p:cNvGraphicFramePr>
            <a:graphicFrameLocks noGrp="1"/>
          </p:cNvGraphicFramePr>
          <p:nvPr>
            <p:extLst>
              <p:ext uri="{D42A27DB-BD31-4B8C-83A1-F6EECF244321}">
                <p14:modId xmlns:p14="http://schemas.microsoft.com/office/powerpoint/2010/main" val="1111957800"/>
              </p:ext>
            </p:extLst>
          </p:nvPr>
        </p:nvGraphicFramePr>
        <p:xfrm>
          <a:off x="1894390" y="2100131"/>
          <a:ext cx="2153441" cy="1551600"/>
        </p:xfrm>
        <a:graphic>
          <a:graphicData uri="http://schemas.openxmlformats.org/drawingml/2006/table">
            <a:tbl>
              <a:tblPr firstRow="1" bandRow="1">
                <a:tableStyleId>{073A0DAA-6AF3-43AB-8588-CEC1D06C72B9}</a:tableStyleId>
              </a:tblPr>
              <a:tblGrid>
                <a:gridCol w="321034">
                  <a:extLst>
                    <a:ext uri="{9D8B030D-6E8A-4147-A177-3AD203B41FA5}">
                      <a16:colId xmlns:a16="http://schemas.microsoft.com/office/drawing/2014/main" val="20000"/>
                    </a:ext>
                  </a:extLst>
                </a:gridCol>
                <a:gridCol w="331578">
                  <a:extLst>
                    <a:ext uri="{9D8B030D-6E8A-4147-A177-3AD203B41FA5}">
                      <a16:colId xmlns:a16="http://schemas.microsoft.com/office/drawing/2014/main" val="20001"/>
                    </a:ext>
                  </a:extLst>
                </a:gridCol>
                <a:gridCol w="1500829">
                  <a:extLst>
                    <a:ext uri="{9D8B030D-6E8A-4147-A177-3AD203B41FA5}">
                      <a16:colId xmlns:a16="http://schemas.microsoft.com/office/drawing/2014/main" val="20002"/>
                    </a:ext>
                  </a:extLst>
                </a:gridCol>
              </a:tblGrid>
              <a:tr h="162085">
                <a:tc>
                  <a:txBody>
                    <a:bodyPr/>
                    <a:lstStyle/>
                    <a:p>
                      <a:pPr algn="ctr"/>
                      <a:r>
                        <a:rPr lang="pt-BR" noProof="1"/>
                        <a:t>S’</a:t>
                      </a:r>
                    </a:p>
                  </a:txBody>
                  <a:tcPr marL="36000" marR="36000" marT="18000" marB="18000"/>
                </a:tc>
                <a:tc>
                  <a:txBody>
                    <a:bodyPr/>
                    <a:lstStyle/>
                    <a:p>
                      <a:pPr algn="ctr"/>
                      <a:r>
                        <a:rPr lang="pt-BR" noProof="1"/>
                        <a:t>R’</a:t>
                      </a:r>
                    </a:p>
                  </a:txBody>
                  <a:tcPr marL="36000" marR="36000" marT="18000" marB="18000"/>
                </a:tc>
                <a:tc>
                  <a:txBody>
                    <a:bodyPr/>
                    <a:lstStyle/>
                    <a:p>
                      <a:pPr algn="ctr"/>
                      <a:r>
                        <a:rPr lang="pt-BR" noProof="1"/>
                        <a:t>Ação</a:t>
                      </a:r>
                    </a:p>
                  </a:txBody>
                  <a:tcPr marL="36000" marR="36000" marT="18000" marB="18000"/>
                </a:tc>
                <a:extLst>
                  <a:ext uri="{0D108BD9-81ED-4DB2-BD59-A6C34878D82A}">
                    <a16:rowId xmlns:a16="http://schemas.microsoft.com/office/drawing/2014/main" val="10000"/>
                  </a:ext>
                </a:extLst>
              </a:tr>
              <a:tr h="162085">
                <a:tc>
                  <a:txBody>
                    <a:bodyPr/>
                    <a:lstStyle/>
                    <a:p>
                      <a:pPr algn="ctr"/>
                      <a:r>
                        <a:rPr lang="pt-BR" dirty="0"/>
                        <a:t>0</a:t>
                      </a:r>
                    </a:p>
                  </a:txBody>
                  <a:tcPr marL="36000" marR="36000" marT="18000" marB="18000"/>
                </a:tc>
                <a:tc>
                  <a:txBody>
                    <a:bodyPr/>
                    <a:lstStyle/>
                    <a:p>
                      <a:pPr algn="ctr"/>
                      <a:r>
                        <a:rPr lang="pt-BR" dirty="0"/>
                        <a:t>0</a:t>
                      </a:r>
                    </a:p>
                  </a:txBody>
                  <a:tcPr marL="36000" marR="36000" marT="18000" marB="18000"/>
                </a:tc>
                <a:tc>
                  <a:txBody>
                    <a:bodyPr/>
                    <a:lstStyle/>
                    <a:p>
                      <a:r>
                        <a:rPr lang="pt-BR" dirty="0"/>
                        <a:t>não permitido</a:t>
                      </a:r>
                    </a:p>
                  </a:txBody>
                  <a:tcPr marL="36000" marR="36000" marT="18000" marB="18000"/>
                </a:tc>
                <a:extLst>
                  <a:ext uri="{0D108BD9-81ED-4DB2-BD59-A6C34878D82A}">
                    <a16:rowId xmlns:a16="http://schemas.microsoft.com/office/drawing/2014/main" val="10001"/>
                  </a:ext>
                </a:extLst>
              </a:tr>
              <a:tr h="162085">
                <a:tc>
                  <a:txBody>
                    <a:bodyPr/>
                    <a:lstStyle/>
                    <a:p>
                      <a:pPr algn="ctr"/>
                      <a:r>
                        <a:rPr lang="pt-BR" dirty="0"/>
                        <a:t>0</a:t>
                      </a:r>
                    </a:p>
                  </a:txBody>
                  <a:tcPr marL="36000" marR="36000" marT="18000" marB="18000"/>
                </a:tc>
                <a:tc>
                  <a:txBody>
                    <a:bodyPr/>
                    <a:lstStyle/>
                    <a:p>
                      <a:pPr algn="ctr"/>
                      <a:r>
                        <a:rPr lang="pt-BR" dirty="0"/>
                        <a:t>1</a:t>
                      </a:r>
                    </a:p>
                  </a:txBody>
                  <a:tcPr marL="36000" marR="36000" marT="18000" marB="18000"/>
                </a:tc>
                <a:tc>
                  <a:txBody>
                    <a:bodyPr/>
                    <a:lstStyle/>
                    <a:p>
                      <a:r>
                        <a:rPr lang="pt-BR" dirty="0"/>
                        <a:t>Q=1 ; Q’=0</a:t>
                      </a:r>
                    </a:p>
                  </a:txBody>
                  <a:tcPr marL="36000" marR="36000" marT="18000" marB="18000"/>
                </a:tc>
                <a:extLst>
                  <a:ext uri="{0D108BD9-81ED-4DB2-BD59-A6C34878D82A}">
                    <a16:rowId xmlns:a16="http://schemas.microsoft.com/office/drawing/2014/main" val="10002"/>
                  </a:ext>
                </a:extLst>
              </a:tr>
              <a:tr h="162085">
                <a:tc>
                  <a:txBody>
                    <a:bodyPr/>
                    <a:lstStyle/>
                    <a:p>
                      <a:pPr algn="ctr"/>
                      <a:r>
                        <a:rPr lang="pt-BR" dirty="0"/>
                        <a:t>1</a:t>
                      </a:r>
                    </a:p>
                  </a:txBody>
                  <a:tcPr marL="36000" marR="36000" marT="18000" marB="18000"/>
                </a:tc>
                <a:tc>
                  <a:txBody>
                    <a:bodyPr/>
                    <a:lstStyle/>
                    <a:p>
                      <a:pPr algn="ctr"/>
                      <a:r>
                        <a:rPr lang="pt-BR" dirty="0"/>
                        <a:t>0</a:t>
                      </a:r>
                    </a:p>
                  </a:txBody>
                  <a:tcPr marL="36000" marR="3600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Q=0</a:t>
                      </a:r>
                      <a:r>
                        <a:rPr lang="pt-BR" baseline="0" dirty="0"/>
                        <a:t> </a:t>
                      </a:r>
                      <a:r>
                        <a:rPr lang="pt-BR" dirty="0"/>
                        <a:t>; Q’=1</a:t>
                      </a:r>
                    </a:p>
                  </a:txBody>
                  <a:tcPr marL="36000" marR="36000" marT="18000" marB="18000"/>
                </a:tc>
                <a:extLst>
                  <a:ext uri="{0D108BD9-81ED-4DB2-BD59-A6C34878D82A}">
                    <a16:rowId xmlns:a16="http://schemas.microsoft.com/office/drawing/2014/main" val="10003"/>
                  </a:ext>
                </a:extLst>
              </a:tr>
              <a:tr h="162085">
                <a:tc>
                  <a:txBody>
                    <a:bodyPr/>
                    <a:lstStyle/>
                    <a:p>
                      <a:pPr algn="ctr"/>
                      <a:r>
                        <a:rPr lang="pt-BR" dirty="0"/>
                        <a:t>1</a:t>
                      </a:r>
                    </a:p>
                  </a:txBody>
                  <a:tcPr marL="36000" marR="36000" marT="18000" marB="18000"/>
                </a:tc>
                <a:tc>
                  <a:txBody>
                    <a:bodyPr/>
                    <a:lstStyle/>
                    <a:p>
                      <a:pPr algn="ctr"/>
                      <a:r>
                        <a:rPr lang="pt-BR" dirty="0"/>
                        <a:t>1</a:t>
                      </a:r>
                    </a:p>
                  </a:txBody>
                  <a:tcPr marL="36000" marR="36000" marT="18000" marB="18000"/>
                </a:tc>
                <a:tc>
                  <a:txBody>
                    <a:bodyPr/>
                    <a:lstStyle/>
                    <a:p>
                      <a:r>
                        <a:rPr lang="pt-BR" dirty="0"/>
                        <a:t>sem</a:t>
                      </a:r>
                      <a:r>
                        <a:rPr lang="pt-BR" baseline="0" dirty="0"/>
                        <a:t> alteração</a:t>
                      </a:r>
                      <a:endParaRPr lang="pt-BR" dirty="0"/>
                    </a:p>
                  </a:txBody>
                  <a:tcPr marL="36000" marR="36000" marT="18000" marB="18000"/>
                </a:tc>
                <a:extLst>
                  <a:ext uri="{0D108BD9-81ED-4DB2-BD59-A6C34878D82A}">
                    <a16:rowId xmlns:a16="http://schemas.microsoft.com/office/drawing/2014/main" val="10004"/>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272048406"/>
              </p:ext>
            </p:extLst>
          </p:nvPr>
        </p:nvGraphicFramePr>
        <p:xfrm>
          <a:off x="6395594" y="2295324"/>
          <a:ext cx="2153441" cy="1241280"/>
        </p:xfrm>
        <a:graphic>
          <a:graphicData uri="http://schemas.openxmlformats.org/drawingml/2006/table">
            <a:tbl>
              <a:tblPr firstRow="1" bandRow="1">
                <a:tableStyleId>{073A0DAA-6AF3-43AB-8588-CEC1D06C72B9}</a:tableStyleId>
              </a:tblPr>
              <a:tblGrid>
                <a:gridCol w="321034">
                  <a:extLst>
                    <a:ext uri="{9D8B030D-6E8A-4147-A177-3AD203B41FA5}">
                      <a16:colId xmlns:a16="http://schemas.microsoft.com/office/drawing/2014/main" val="20000"/>
                    </a:ext>
                  </a:extLst>
                </a:gridCol>
                <a:gridCol w="331578">
                  <a:extLst>
                    <a:ext uri="{9D8B030D-6E8A-4147-A177-3AD203B41FA5}">
                      <a16:colId xmlns:a16="http://schemas.microsoft.com/office/drawing/2014/main" val="20001"/>
                    </a:ext>
                  </a:extLst>
                </a:gridCol>
                <a:gridCol w="1500829">
                  <a:extLst>
                    <a:ext uri="{9D8B030D-6E8A-4147-A177-3AD203B41FA5}">
                      <a16:colId xmlns:a16="http://schemas.microsoft.com/office/drawing/2014/main" val="20002"/>
                    </a:ext>
                  </a:extLst>
                </a:gridCol>
              </a:tblGrid>
              <a:tr h="162085">
                <a:tc>
                  <a:txBody>
                    <a:bodyPr/>
                    <a:lstStyle/>
                    <a:p>
                      <a:pPr algn="ctr"/>
                      <a:r>
                        <a:rPr lang="pt-BR" noProof="1"/>
                        <a:t>E</a:t>
                      </a:r>
                    </a:p>
                  </a:txBody>
                  <a:tcPr marL="36000" marR="36000" marT="18000" marB="18000"/>
                </a:tc>
                <a:tc>
                  <a:txBody>
                    <a:bodyPr/>
                    <a:lstStyle/>
                    <a:p>
                      <a:pPr algn="ctr"/>
                      <a:r>
                        <a:rPr lang="pt-BR" noProof="1"/>
                        <a:t>D</a:t>
                      </a:r>
                    </a:p>
                  </a:txBody>
                  <a:tcPr marL="36000" marR="36000" marT="18000" marB="18000"/>
                </a:tc>
                <a:tc>
                  <a:txBody>
                    <a:bodyPr/>
                    <a:lstStyle/>
                    <a:p>
                      <a:pPr algn="ctr"/>
                      <a:r>
                        <a:rPr lang="pt-BR" noProof="1"/>
                        <a:t>Ação</a:t>
                      </a:r>
                    </a:p>
                  </a:txBody>
                  <a:tcPr marL="36000" marR="36000" marT="18000" marB="18000"/>
                </a:tc>
                <a:extLst>
                  <a:ext uri="{0D108BD9-81ED-4DB2-BD59-A6C34878D82A}">
                    <a16:rowId xmlns:a16="http://schemas.microsoft.com/office/drawing/2014/main" val="10000"/>
                  </a:ext>
                </a:extLst>
              </a:tr>
              <a:tr h="162085">
                <a:tc>
                  <a:txBody>
                    <a:bodyPr/>
                    <a:lstStyle/>
                    <a:p>
                      <a:pPr algn="ctr"/>
                      <a:r>
                        <a:rPr lang="pt-BR" dirty="0"/>
                        <a:t>0</a:t>
                      </a:r>
                    </a:p>
                  </a:txBody>
                  <a:tcPr marL="36000" marR="36000" marT="18000" marB="18000"/>
                </a:tc>
                <a:tc>
                  <a:txBody>
                    <a:bodyPr/>
                    <a:lstStyle/>
                    <a:p>
                      <a:pPr algn="ctr"/>
                      <a:r>
                        <a:rPr lang="pt-BR" dirty="0"/>
                        <a:t>X</a:t>
                      </a:r>
                    </a:p>
                  </a:txBody>
                  <a:tcPr marL="36000" marR="3600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sem</a:t>
                      </a:r>
                      <a:r>
                        <a:rPr lang="pt-BR" baseline="0" dirty="0"/>
                        <a:t> alteração</a:t>
                      </a:r>
                      <a:endParaRPr lang="pt-BR" dirty="0"/>
                    </a:p>
                  </a:txBody>
                  <a:tcPr marL="36000" marR="36000" marT="18000" marB="18000"/>
                </a:tc>
                <a:extLst>
                  <a:ext uri="{0D108BD9-81ED-4DB2-BD59-A6C34878D82A}">
                    <a16:rowId xmlns:a16="http://schemas.microsoft.com/office/drawing/2014/main" val="10001"/>
                  </a:ext>
                </a:extLst>
              </a:tr>
              <a:tr h="162085">
                <a:tc>
                  <a:txBody>
                    <a:bodyPr/>
                    <a:lstStyle/>
                    <a:p>
                      <a:pPr algn="ctr"/>
                      <a:r>
                        <a:rPr lang="pt-BR" dirty="0"/>
                        <a:t>1</a:t>
                      </a:r>
                    </a:p>
                  </a:txBody>
                  <a:tcPr marL="36000" marR="36000" marT="18000" marB="18000"/>
                </a:tc>
                <a:tc>
                  <a:txBody>
                    <a:bodyPr/>
                    <a:lstStyle/>
                    <a:p>
                      <a:pPr algn="ctr"/>
                      <a:r>
                        <a:rPr lang="pt-BR" dirty="0"/>
                        <a:t>0</a:t>
                      </a:r>
                    </a:p>
                  </a:txBody>
                  <a:tcPr marL="36000" marR="36000" marT="18000" marB="18000"/>
                </a:tc>
                <a:tc>
                  <a:txBody>
                    <a:bodyPr/>
                    <a:lstStyle/>
                    <a:p>
                      <a:r>
                        <a:rPr lang="pt-BR" dirty="0"/>
                        <a:t>Q=0 ; Q’=1</a:t>
                      </a:r>
                    </a:p>
                  </a:txBody>
                  <a:tcPr marL="36000" marR="36000" marT="18000" marB="18000"/>
                </a:tc>
                <a:extLst>
                  <a:ext uri="{0D108BD9-81ED-4DB2-BD59-A6C34878D82A}">
                    <a16:rowId xmlns:a16="http://schemas.microsoft.com/office/drawing/2014/main" val="10002"/>
                  </a:ext>
                </a:extLst>
              </a:tr>
              <a:tr h="162085">
                <a:tc>
                  <a:txBody>
                    <a:bodyPr/>
                    <a:lstStyle/>
                    <a:p>
                      <a:pPr algn="ctr"/>
                      <a:r>
                        <a:rPr lang="pt-BR" dirty="0"/>
                        <a:t>1</a:t>
                      </a:r>
                    </a:p>
                  </a:txBody>
                  <a:tcPr marL="36000" marR="36000" marT="18000" marB="18000"/>
                </a:tc>
                <a:tc>
                  <a:txBody>
                    <a:bodyPr/>
                    <a:lstStyle/>
                    <a:p>
                      <a:pPr algn="ctr"/>
                      <a:r>
                        <a:rPr lang="pt-BR" dirty="0"/>
                        <a:t>1</a:t>
                      </a:r>
                    </a:p>
                  </a:txBody>
                  <a:tcPr marL="36000" marR="3600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Q=1</a:t>
                      </a:r>
                      <a:r>
                        <a:rPr lang="pt-BR" baseline="0" dirty="0"/>
                        <a:t> </a:t>
                      </a:r>
                      <a:r>
                        <a:rPr lang="pt-BR" dirty="0"/>
                        <a:t>; Q’=0</a:t>
                      </a:r>
                    </a:p>
                  </a:txBody>
                  <a:tcPr marL="36000" marR="36000" marT="18000" marB="18000"/>
                </a:tc>
                <a:extLst>
                  <a:ext uri="{0D108BD9-81ED-4DB2-BD59-A6C34878D82A}">
                    <a16:rowId xmlns:a16="http://schemas.microsoft.com/office/drawing/2014/main" val="10003"/>
                  </a:ext>
                </a:extLst>
              </a:tr>
            </a:tbl>
          </a:graphicData>
        </a:graphic>
      </p:graphicFrame>
      <p:sp>
        <p:nvSpPr>
          <p:cNvPr id="13" name="TextBox 12">
            <a:extLst>
              <a:ext uri="{FF2B5EF4-FFF2-40B4-BE49-F238E27FC236}">
                <a16:creationId xmlns:a16="http://schemas.microsoft.com/office/drawing/2014/main" id="{2BC39787-FCA7-C192-02E9-71B32D2F8B6B}"/>
              </a:ext>
            </a:extLst>
          </p:cNvPr>
          <p:cNvSpPr txBox="1"/>
          <p:nvPr/>
        </p:nvSpPr>
        <p:spPr>
          <a:xfrm>
            <a:off x="2386012" y="6402174"/>
            <a:ext cx="4388275" cy="369332"/>
          </a:xfrm>
          <a:prstGeom prst="rect">
            <a:avLst/>
          </a:prstGeom>
          <a:noFill/>
          <a:ln>
            <a:solidFill>
              <a:srgbClr val="FF0000"/>
            </a:solidFill>
          </a:ln>
        </p:spPr>
        <p:txBody>
          <a:bodyPr wrap="square">
            <a:spAutoFit/>
          </a:bodyPr>
          <a:lstStyle/>
          <a:p>
            <a:pPr algn="ctr"/>
            <a:r>
              <a:rPr lang="en-BR" dirty="0">
                <a:solidFill>
                  <a:srgbClr val="FF0000"/>
                </a:solidFill>
              </a:rPr>
              <a:t>a condição </a:t>
            </a:r>
            <a:r>
              <a:rPr lang="en-BR" dirty="0">
                <a:solidFill>
                  <a:srgbClr val="FF0000"/>
                </a:solidFill>
                <a:latin typeface="+mn-lt"/>
              </a:rPr>
              <a:t>S̅=R̅=0</a:t>
            </a:r>
            <a:r>
              <a:rPr lang="en-BR" dirty="0">
                <a:solidFill>
                  <a:srgbClr val="FF0000"/>
                </a:solidFill>
              </a:rPr>
              <a:t> é proibida/indeterminada!</a:t>
            </a:r>
            <a:endParaRPr lang="en-US" dirty="0">
              <a:solidFill>
                <a:srgbClr val="FF0000"/>
              </a:solidFill>
            </a:endParaRPr>
          </a:p>
        </p:txBody>
      </p:sp>
    </p:spTree>
    <p:extLst>
      <p:ext uri="{BB962C8B-B14F-4D97-AF65-F5344CB8AC3E}">
        <p14:creationId xmlns:p14="http://schemas.microsoft.com/office/powerpoint/2010/main" val="28822293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i="1" dirty="0" err="1"/>
              <a:t>Flip-flops</a:t>
            </a:r>
            <a:r>
              <a:rPr lang="pt-BR" i="1" dirty="0"/>
              <a:t> </a:t>
            </a:r>
            <a:r>
              <a:rPr lang="pt-BR" dirty="0"/>
              <a:t>e </a:t>
            </a:r>
            <a:r>
              <a:rPr lang="pt-BR" i="1" dirty="0" err="1"/>
              <a:t>Latches</a:t>
            </a:r>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8</a:t>
            </a:fld>
            <a:endParaRPr lang="pt-BR" dirty="0"/>
          </a:p>
        </p:txBody>
      </p:sp>
      <p:grpSp>
        <p:nvGrpSpPr>
          <p:cNvPr id="12" name="Group 11"/>
          <p:cNvGrpSpPr/>
          <p:nvPr/>
        </p:nvGrpSpPr>
        <p:grpSpPr>
          <a:xfrm>
            <a:off x="1042726" y="1746742"/>
            <a:ext cx="6667035" cy="4629555"/>
            <a:chOff x="1446682" y="2260734"/>
            <a:chExt cx="5734788" cy="3982207"/>
          </a:xfrm>
        </p:grpSpPr>
        <p:sp>
          <p:nvSpPr>
            <p:cNvPr id="16" name="Rectangle 15"/>
            <p:cNvSpPr/>
            <p:nvPr/>
          </p:nvSpPr>
          <p:spPr>
            <a:xfrm>
              <a:off x="1446682" y="2260734"/>
              <a:ext cx="1972812" cy="714799"/>
            </a:xfrm>
            <a:prstGeom prst="rect">
              <a:avLst/>
            </a:prstGeom>
          </p:spPr>
          <p:txBody>
            <a:bodyPr wrap="none">
              <a:spAutoFit/>
            </a:bodyPr>
            <a:lstStyle/>
            <a:p>
              <a:pPr algn="ctr"/>
              <a:r>
                <a:rPr lang="pt-BR" sz="2400" b="1" dirty="0"/>
                <a:t>Sensível ao nível</a:t>
              </a:r>
            </a:p>
            <a:p>
              <a:pPr algn="ctr"/>
              <a:r>
                <a:rPr lang="pt-BR" sz="2400" b="1" dirty="0"/>
                <a:t>(</a:t>
              </a:r>
              <a:r>
                <a:rPr lang="pt-BR" sz="2400" b="1" dirty="0" err="1"/>
                <a:t>latch</a:t>
              </a:r>
              <a:r>
                <a:rPr lang="pt-BR" sz="2400" b="1" dirty="0"/>
                <a:t>)</a:t>
              </a:r>
            </a:p>
          </p:txBody>
        </p:sp>
        <p:grpSp>
          <p:nvGrpSpPr>
            <p:cNvPr id="8" name="Group 7"/>
            <p:cNvGrpSpPr/>
            <p:nvPr/>
          </p:nvGrpSpPr>
          <p:grpSpPr>
            <a:xfrm>
              <a:off x="1678580" y="3222223"/>
              <a:ext cx="1540327" cy="1341691"/>
              <a:chOff x="1632085" y="3563185"/>
              <a:chExt cx="1540327" cy="1341691"/>
            </a:xfrm>
          </p:grpSpPr>
          <p:cxnSp>
            <p:nvCxnSpPr>
              <p:cNvPr id="23" name="Straight Connector 22"/>
              <p:cNvCxnSpPr/>
              <p:nvPr/>
            </p:nvCxnSpPr>
            <p:spPr>
              <a:xfrm>
                <a:off x="1632085" y="3779463"/>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1632085" y="4370111"/>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933697" y="3563185"/>
                <a:ext cx="941460" cy="1025446"/>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D        Q</a:t>
                </a:r>
              </a:p>
              <a:p>
                <a:pPr algn="ctr">
                  <a:lnSpc>
                    <a:spcPct val="70000"/>
                  </a:lnSpc>
                </a:pPr>
                <a:endParaRPr lang="pt-BR" b="1" noProof="1">
                  <a:solidFill>
                    <a:schemeClr val="tx1"/>
                  </a:solidFill>
                </a:endParaRPr>
              </a:p>
              <a:p>
                <a:pPr algn="ctr">
                  <a:lnSpc>
                    <a:spcPct val="70000"/>
                  </a:lnSpc>
                </a:pPr>
                <a:endParaRPr lang="pt-BR" b="1" noProof="1">
                  <a:solidFill>
                    <a:schemeClr val="tx1"/>
                  </a:solidFill>
                </a:endParaRPr>
              </a:p>
              <a:p>
                <a:pPr algn="ctr">
                  <a:lnSpc>
                    <a:spcPct val="70000"/>
                  </a:lnSpc>
                </a:pPr>
                <a:r>
                  <a:rPr lang="pt-BR" b="1" noProof="1">
                    <a:solidFill>
                      <a:schemeClr val="tx1"/>
                    </a:solidFill>
                  </a:rPr>
                  <a:t>Ck      Q’</a:t>
                </a:r>
              </a:p>
            </p:txBody>
          </p:sp>
          <p:sp>
            <p:nvSpPr>
              <p:cNvPr id="17" name="Rectangle 16"/>
              <p:cNvSpPr/>
              <p:nvPr/>
            </p:nvSpPr>
            <p:spPr>
              <a:xfrm>
                <a:off x="1933697" y="4535544"/>
                <a:ext cx="941460" cy="369332"/>
              </a:xfrm>
              <a:prstGeom prst="rect">
                <a:avLst/>
              </a:prstGeom>
            </p:spPr>
            <p:txBody>
              <a:bodyPr wrap="square">
                <a:spAutoFit/>
              </a:bodyPr>
              <a:lstStyle/>
              <a:p>
                <a:pPr algn="ctr"/>
                <a:r>
                  <a:rPr lang="pt-BR" dirty="0"/>
                  <a:t>alto</a:t>
                </a:r>
              </a:p>
            </p:txBody>
          </p:sp>
        </p:grpSp>
        <p:grpSp>
          <p:nvGrpSpPr>
            <p:cNvPr id="10" name="Group 9"/>
            <p:cNvGrpSpPr/>
            <p:nvPr/>
          </p:nvGrpSpPr>
          <p:grpSpPr>
            <a:xfrm>
              <a:off x="1678580" y="4901250"/>
              <a:ext cx="1540327" cy="1341691"/>
              <a:chOff x="1632085" y="5242212"/>
              <a:chExt cx="1540327" cy="1341691"/>
            </a:xfrm>
          </p:grpSpPr>
          <p:cxnSp>
            <p:nvCxnSpPr>
              <p:cNvPr id="24" name="Straight Connector 23"/>
              <p:cNvCxnSpPr/>
              <p:nvPr/>
            </p:nvCxnSpPr>
            <p:spPr>
              <a:xfrm>
                <a:off x="1632085" y="5458490"/>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1632085" y="6049138"/>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933697" y="5242212"/>
                <a:ext cx="941460" cy="1025446"/>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D        Q</a:t>
                </a:r>
              </a:p>
              <a:p>
                <a:pPr algn="ctr">
                  <a:lnSpc>
                    <a:spcPct val="70000"/>
                  </a:lnSpc>
                </a:pPr>
                <a:endParaRPr lang="pt-BR" b="1" noProof="1">
                  <a:solidFill>
                    <a:schemeClr val="tx1"/>
                  </a:solidFill>
                </a:endParaRPr>
              </a:p>
              <a:p>
                <a:pPr algn="ctr">
                  <a:lnSpc>
                    <a:spcPct val="70000"/>
                  </a:lnSpc>
                </a:pPr>
                <a:endParaRPr lang="pt-BR" b="1" noProof="1">
                  <a:solidFill>
                    <a:schemeClr val="tx1"/>
                  </a:solidFill>
                </a:endParaRPr>
              </a:p>
              <a:p>
                <a:pPr algn="ctr">
                  <a:lnSpc>
                    <a:spcPct val="70000"/>
                  </a:lnSpc>
                </a:pPr>
                <a:r>
                  <a:rPr lang="pt-BR" b="1" noProof="1">
                    <a:solidFill>
                      <a:schemeClr val="tx1"/>
                    </a:solidFill>
                  </a:rPr>
                  <a:t>Ck      Q’</a:t>
                </a:r>
              </a:p>
            </p:txBody>
          </p:sp>
          <p:sp>
            <p:nvSpPr>
              <p:cNvPr id="27" name="Rectangle 26"/>
              <p:cNvSpPr/>
              <p:nvPr/>
            </p:nvSpPr>
            <p:spPr>
              <a:xfrm>
                <a:off x="1933697" y="6214571"/>
                <a:ext cx="941460" cy="369332"/>
              </a:xfrm>
              <a:prstGeom prst="rect">
                <a:avLst/>
              </a:prstGeom>
            </p:spPr>
            <p:txBody>
              <a:bodyPr wrap="square">
                <a:spAutoFit/>
              </a:bodyPr>
              <a:lstStyle/>
              <a:p>
                <a:pPr algn="ctr"/>
                <a:r>
                  <a:rPr lang="pt-BR" dirty="0"/>
                  <a:t>baixo</a:t>
                </a:r>
              </a:p>
            </p:txBody>
          </p:sp>
          <p:sp>
            <p:nvSpPr>
              <p:cNvPr id="28" name="Oval 27"/>
              <p:cNvSpPr/>
              <p:nvPr/>
            </p:nvSpPr>
            <p:spPr>
              <a:xfrm>
                <a:off x="1825604" y="5995091"/>
                <a:ext cx="108093" cy="108093"/>
              </a:xfrm>
              <a:prstGeom prst="ellips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sp>
          <p:nvSpPr>
            <p:cNvPr id="34" name="Rectangle 33"/>
            <p:cNvSpPr/>
            <p:nvPr/>
          </p:nvSpPr>
          <p:spPr>
            <a:xfrm>
              <a:off x="5231712" y="2274244"/>
              <a:ext cx="1949758" cy="714799"/>
            </a:xfrm>
            <a:prstGeom prst="rect">
              <a:avLst/>
            </a:prstGeom>
          </p:spPr>
          <p:txBody>
            <a:bodyPr wrap="none">
              <a:spAutoFit/>
            </a:bodyPr>
            <a:lstStyle/>
            <a:p>
              <a:pPr algn="ctr"/>
              <a:r>
                <a:rPr lang="pt-BR" sz="2400" b="1" dirty="0"/>
                <a:t>Sensível à borda</a:t>
              </a:r>
            </a:p>
            <a:p>
              <a:pPr algn="ctr"/>
              <a:r>
                <a:rPr lang="pt-BR" sz="2400" b="1" dirty="0"/>
                <a:t>(flip-flop)</a:t>
              </a:r>
            </a:p>
          </p:txBody>
        </p:sp>
        <p:grpSp>
          <p:nvGrpSpPr>
            <p:cNvPr id="6" name="Group 5"/>
            <p:cNvGrpSpPr/>
            <p:nvPr/>
          </p:nvGrpSpPr>
          <p:grpSpPr>
            <a:xfrm>
              <a:off x="5452081" y="3235733"/>
              <a:ext cx="1540327" cy="1290048"/>
              <a:chOff x="5405586" y="3576695"/>
              <a:chExt cx="1540327" cy="1290048"/>
            </a:xfrm>
          </p:grpSpPr>
          <p:cxnSp>
            <p:nvCxnSpPr>
              <p:cNvPr id="31" name="Straight Connector 30"/>
              <p:cNvCxnSpPr/>
              <p:nvPr/>
            </p:nvCxnSpPr>
            <p:spPr>
              <a:xfrm>
                <a:off x="5405586" y="3792973"/>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5405586" y="4383621"/>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707198" y="3576695"/>
                <a:ext cx="941460" cy="1025446"/>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D       Q</a:t>
                </a:r>
              </a:p>
              <a:p>
                <a:pPr algn="ctr">
                  <a:lnSpc>
                    <a:spcPct val="70000"/>
                  </a:lnSpc>
                </a:pPr>
                <a:endParaRPr lang="pt-BR" b="1" noProof="1">
                  <a:solidFill>
                    <a:schemeClr val="tx1"/>
                  </a:solidFill>
                </a:endParaRPr>
              </a:p>
              <a:p>
                <a:pPr algn="ctr">
                  <a:lnSpc>
                    <a:spcPct val="70000"/>
                  </a:lnSpc>
                </a:pPr>
                <a:endParaRPr lang="pt-BR" b="1" noProof="1">
                  <a:solidFill>
                    <a:schemeClr val="tx1"/>
                  </a:solidFill>
                </a:endParaRPr>
              </a:p>
              <a:p>
                <a:pPr algn="ctr">
                  <a:lnSpc>
                    <a:spcPct val="70000"/>
                  </a:lnSpc>
                </a:pPr>
                <a:r>
                  <a:rPr lang="pt-BR" b="1" noProof="1">
                    <a:solidFill>
                      <a:schemeClr val="tx1"/>
                    </a:solidFill>
                  </a:rPr>
                  <a:t>Ck     Q’</a:t>
                </a:r>
              </a:p>
            </p:txBody>
          </p:sp>
          <p:sp>
            <p:nvSpPr>
              <p:cNvPr id="35" name="Rectangle 34"/>
              <p:cNvSpPr/>
              <p:nvPr/>
            </p:nvSpPr>
            <p:spPr>
              <a:xfrm>
                <a:off x="5707198" y="4549054"/>
                <a:ext cx="941460" cy="317689"/>
              </a:xfrm>
              <a:prstGeom prst="rect">
                <a:avLst/>
              </a:prstGeom>
            </p:spPr>
            <p:txBody>
              <a:bodyPr wrap="square">
                <a:spAutoFit/>
              </a:bodyPr>
              <a:lstStyle/>
              <a:p>
                <a:pPr algn="ctr"/>
                <a:r>
                  <a:rPr lang="pt-BR" dirty="0"/>
                  <a:t>subida</a:t>
                </a:r>
              </a:p>
            </p:txBody>
          </p:sp>
          <p:sp>
            <p:nvSpPr>
              <p:cNvPr id="41" name="Isosceles Triangle 40"/>
              <p:cNvSpPr/>
              <p:nvPr/>
            </p:nvSpPr>
            <p:spPr>
              <a:xfrm rot="5400000">
                <a:off x="5688324" y="4336285"/>
                <a:ext cx="138770" cy="94675"/>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grpSp>
          <p:nvGrpSpPr>
            <p:cNvPr id="7" name="Group 6"/>
            <p:cNvGrpSpPr/>
            <p:nvPr/>
          </p:nvGrpSpPr>
          <p:grpSpPr>
            <a:xfrm>
              <a:off x="5452081" y="4914760"/>
              <a:ext cx="1540327" cy="1290048"/>
              <a:chOff x="5405586" y="5255722"/>
              <a:chExt cx="1540327" cy="1290048"/>
            </a:xfrm>
          </p:grpSpPr>
          <p:cxnSp>
            <p:nvCxnSpPr>
              <p:cNvPr id="36" name="Straight Connector 35"/>
              <p:cNvCxnSpPr/>
              <p:nvPr/>
            </p:nvCxnSpPr>
            <p:spPr>
              <a:xfrm>
                <a:off x="5405586" y="5472000"/>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5405586" y="6062648"/>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707198" y="5255722"/>
                <a:ext cx="941460" cy="1025446"/>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D       Q</a:t>
                </a:r>
              </a:p>
              <a:p>
                <a:pPr algn="ctr">
                  <a:lnSpc>
                    <a:spcPct val="70000"/>
                  </a:lnSpc>
                </a:pPr>
                <a:endParaRPr lang="pt-BR" b="1" noProof="1">
                  <a:solidFill>
                    <a:schemeClr val="tx1"/>
                  </a:solidFill>
                </a:endParaRPr>
              </a:p>
              <a:p>
                <a:pPr algn="ctr">
                  <a:lnSpc>
                    <a:spcPct val="70000"/>
                  </a:lnSpc>
                </a:pPr>
                <a:endParaRPr lang="pt-BR" b="1" noProof="1">
                  <a:solidFill>
                    <a:schemeClr val="tx1"/>
                  </a:solidFill>
                </a:endParaRPr>
              </a:p>
              <a:p>
                <a:pPr algn="ctr">
                  <a:lnSpc>
                    <a:spcPct val="70000"/>
                  </a:lnSpc>
                </a:pPr>
                <a:r>
                  <a:rPr lang="pt-BR" b="1" noProof="1">
                    <a:solidFill>
                      <a:schemeClr val="tx1"/>
                    </a:solidFill>
                  </a:rPr>
                  <a:t>Ck     Q’</a:t>
                </a:r>
              </a:p>
            </p:txBody>
          </p:sp>
          <p:sp>
            <p:nvSpPr>
              <p:cNvPr id="39" name="Rectangle 38"/>
              <p:cNvSpPr/>
              <p:nvPr/>
            </p:nvSpPr>
            <p:spPr>
              <a:xfrm>
                <a:off x="5707198" y="6228081"/>
                <a:ext cx="941460" cy="317689"/>
              </a:xfrm>
              <a:prstGeom prst="rect">
                <a:avLst/>
              </a:prstGeom>
            </p:spPr>
            <p:txBody>
              <a:bodyPr wrap="square">
                <a:spAutoFit/>
              </a:bodyPr>
              <a:lstStyle/>
              <a:p>
                <a:pPr algn="ctr"/>
                <a:r>
                  <a:rPr lang="pt-BR" dirty="0"/>
                  <a:t>descida</a:t>
                </a:r>
              </a:p>
            </p:txBody>
          </p:sp>
          <p:sp>
            <p:nvSpPr>
              <p:cNvPr id="40" name="Oval 39"/>
              <p:cNvSpPr/>
              <p:nvPr/>
            </p:nvSpPr>
            <p:spPr>
              <a:xfrm>
                <a:off x="5599105" y="6008601"/>
                <a:ext cx="108093" cy="108093"/>
              </a:xfrm>
              <a:prstGeom prst="ellips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42" name="Isosceles Triangle 41"/>
              <p:cNvSpPr/>
              <p:nvPr/>
            </p:nvSpPr>
            <p:spPr>
              <a:xfrm rot="5400000">
                <a:off x="5685150" y="6019129"/>
                <a:ext cx="138770" cy="94675"/>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grpSp>
    </p:spTree>
    <p:extLst>
      <p:ext uri="{BB962C8B-B14F-4D97-AF65-F5344CB8AC3E}">
        <p14:creationId xmlns:p14="http://schemas.microsoft.com/office/powerpoint/2010/main" val="374741968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i="1" dirty="0"/>
              <a:t>Latch</a:t>
            </a:r>
            <a:r>
              <a:rPr lang="pt-BR" dirty="0"/>
              <a:t> tipo </a:t>
            </a:r>
            <a:r>
              <a:rPr lang="pt-BR" dirty="0" err="1"/>
              <a:t>D</a:t>
            </a:r>
            <a:endParaRPr lang="pt-BR" dirty="0"/>
          </a:p>
        </p:txBody>
      </p:sp>
      <p:sp>
        <p:nvSpPr>
          <p:cNvPr id="3" name="Content Placeholder 2"/>
          <p:cNvSpPr>
            <a:spLocks noGrp="1"/>
          </p:cNvSpPr>
          <p:nvPr>
            <p:ph idx="1"/>
          </p:nvPr>
        </p:nvSpPr>
        <p:spPr/>
        <p:txBody>
          <a:bodyPr>
            <a:normAutofit/>
          </a:bodyPr>
          <a:lstStyle/>
          <a:p>
            <a:r>
              <a:rPr lang="pt-BR" sz="2000" dirty="0"/>
              <a:t>Sinais de clock podem ser usados para os </a:t>
            </a:r>
            <a:r>
              <a:rPr lang="pt-BR" sz="2000" i="1" dirty="0" err="1"/>
              <a:t>latchs</a:t>
            </a:r>
            <a:r>
              <a:rPr lang="pt-BR" sz="2000"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9</a:t>
            </a:fld>
            <a:endParaRPr lang="pt-BR" dirty="0"/>
          </a:p>
        </p:txBody>
      </p:sp>
      <p:graphicFrame>
        <p:nvGraphicFramePr>
          <p:cNvPr id="7" name="Table 6"/>
          <p:cNvGraphicFramePr>
            <a:graphicFrameLocks noGrp="1"/>
          </p:cNvGraphicFramePr>
          <p:nvPr>
            <p:extLst>
              <p:ext uri="{D42A27DB-BD31-4B8C-83A1-F6EECF244321}">
                <p14:modId xmlns:p14="http://schemas.microsoft.com/office/powerpoint/2010/main" val="2921738937"/>
              </p:ext>
            </p:extLst>
          </p:nvPr>
        </p:nvGraphicFramePr>
        <p:xfrm>
          <a:off x="5554746" y="2287498"/>
          <a:ext cx="2739695" cy="1241280"/>
        </p:xfrm>
        <a:graphic>
          <a:graphicData uri="http://schemas.openxmlformats.org/drawingml/2006/table">
            <a:tbl>
              <a:tblPr firstRow="1" bandRow="1">
                <a:tableStyleId>{073A0DAA-6AF3-43AB-8588-CEC1D06C72B9}</a:tableStyleId>
              </a:tblPr>
              <a:tblGrid>
                <a:gridCol w="408432">
                  <a:extLst>
                    <a:ext uri="{9D8B030D-6E8A-4147-A177-3AD203B41FA5}">
                      <a16:colId xmlns:a16="http://schemas.microsoft.com/office/drawing/2014/main" val="20000"/>
                    </a:ext>
                  </a:extLst>
                </a:gridCol>
                <a:gridCol w="466085">
                  <a:extLst>
                    <a:ext uri="{9D8B030D-6E8A-4147-A177-3AD203B41FA5}">
                      <a16:colId xmlns:a16="http://schemas.microsoft.com/office/drawing/2014/main" val="20001"/>
                    </a:ext>
                  </a:extLst>
                </a:gridCol>
                <a:gridCol w="1865178">
                  <a:extLst>
                    <a:ext uri="{9D8B030D-6E8A-4147-A177-3AD203B41FA5}">
                      <a16:colId xmlns:a16="http://schemas.microsoft.com/office/drawing/2014/main" val="20002"/>
                    </a:ext>
                  </a:extLst>
                </a:gridCol>
              </a:tblGrid>
              <a:tr h="162085">
                <a:tc>
                  <a:txBody>
                    <a:bodyPr/>
                    <a:lstStyle/>
                    <a:p>
                      <a:pPr algn="ctr"/>
                      <a:r>
                        <a:rPr lang="en-US" dirty="0"/>
                        <a:t>D</a:t>
                      </a:r>
                      <a:endParaRPr lang="pt-BR" dirty="0"/>
                    </a:p>
                  </a:txBody>
                  <a:tcPr marL="36000" marR="36000" marT="18000" marB="18000"/>
                </a:tc>
                <a:tc>
                  <a:txBody>
                    <a:bodyPr/>
                    <a:lstStyle/>
                    <a:p>
                      <a:pPr algn="ctr"/>
                      <a:r>
                        <a:rPr lang="pt-BR" dirty="0" err="1"/>
                        <a:t>Clk</a:t>
                      </a:r>
                      <a:endParaRPr lang="pt-BR" dirty="0"/>
                    </a:p>
                  </a:txBody>
                  <a:tcPr marL="36000" marR="36000" marT="18000" marB="18000"/>
                </a:tc>
                <a:tc>
                  <a:txBody>
                    <a:bodyPr/>
                    <a:lstStyle/>
                    <a:p>
                      <a:pPr algn="ctr"/>
                      <a:r>
                        <a:rPr lang="pt-BR" dirty="0"/>
                        <a:t>Ação</a:t>
                      </a:r>
                    </a:p>
                  </a:txBody>
                  <a:tcPr marL="36000" marR="36000" marT="18000" marB="18000"/>
                </a:tc>
                <a:extLst>
                  <a:ext uri="{0D108BD9-81ED-4DB2-BD59-A6C34878D82A}">
                    <a16:rowId xmlns:a16="http://schemas.microsoft.com/office/drawing/2014/main" val="10000"/>
                  </a:ext>
                </a:extLst>
              </a:tr>
              <a:tr h="162085">
                <a:tc>
                  <a:txBody>
                    <a:bodyPr/>
                    <a:lstStyle/>
                    <a:p>
                      <a:pPr algn="ctr"/>
                      <a:r>
                        <a:rPr lang="pt-BR" dirty="0" err="1"/>
                        <a:t>X</a:t>
                      </a:r>
                      <a:endParaRPr lang="pt-BR" dirty="0"/>
                    </a:p>
                  </a:txBody>
                  <a:tcPr marL="36000" marR="36000" marT="18000" marB="18000"/>
                </a:tc>
                <a:tc>
                  <a:txBody>
                    <a:bodyPr/>
                    <a:lstStyle/>
                    <a:p>
                      <a:pPr algn="ctr"/>
                      <a:r>
                        <a:rPr lang="pt-BR" dirty="0"/>
                        <a:t>0</a:t>
                      </a:r>
                    </a:p>
                  </a:txBody>
                  <a:tcPr marL="36000" marR="36000" marT="18000" marB="1800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pt-BR" dirty="0"/>
                        <a:t>sem</a:t>
                      </a:r>
                      <a:r>
                        <a:rPr lang="pt-BR" baseline="0" dirty="0"/>
                        <a:t> alteração</a:t>
                      </a:r>
                      <a:endParaRPr lang="pt-BR" dirty="0"/>
                    </a:p>
                  </a:txBody>
                  <a:tcPr marL="36000" marR="36000" marT="18000" marB="18000"/>
                </a:tc>
                <a:extLst>
                  <a:ext uri="{0D108BD9-81ED-4DB2-BD59-A6C34878D82A}">
                    <a16:rowId xmlns:a16="http://schemas.microsoft.com/office/drawing/2014/main" val="10001"/>
                  </a:ext>
                </a:extLst>
              </a:tr>
              <a:tr h="162085">
                <a:tc>
                  <a:txBody>
                    <a:bodyPr/>
                    <a:lstStyle/>
                    <a:p>
                      <a:pPr algn="ctr"/>
                      <a:r>
                        <a:rPr lang="pt-BR" dirty="0"/>
                        <a:t>0</a:t>
                      </a:r>
                    </a:p>
                  </a:txBody>
                  <a:tcPr marL="36000" marR="36000" marT="18000" marB="18000"/>
                </a:tc>
                <a:tc>
                  <a:txBody>
                    <a:bodyPr/>
                    <a:lstStyle/>
                    <a:p>
                      <a:pPr algn="ctr"/>
                      <a:r>
                        <a:rPr lang="pt-BR" dirty="0"/>
                        <a:t>1</a:t>
                      </a:r>
                    </a:p>
                  </a:txBody>
                  <a:tcPr marL="36000" marR="36000" marT="18000" marB="18000"/>
                </a:tc>
                <a:tc>
                  <a:txBody>
                    <a:bodyPr/>
                    <a:lstStyle/>
                    <a:p>
                      <a:pPr algn="just"/>
                      <a:r>
                        <a:rPr lang="pt-BR" dirty="0" err="1"/>
                        <a:t>Q</a:t>
                      </a:r>
                      <a:r>
                        <a:rPr lang="pt-BR" dirty="0"/>
                        <a:t>=0 ; Q’=1</a:t>
                      </a:r>
                    </a:p>
                  </a:txBody>
                  <a:tcPr marL="36000" marR="36000" marT="18000" marB="18000"/>
                </a:tc>
                <a:extLst>
                  <a:ext uri="{0D108BD9-81ED-4DB2-BD59-A6C34878D82A}">
                    <a16:rowId xmlns:a16="http://schemas.microsoft.com/office/drawing/2014/main" val="10002"/>
                  </a:ext>
                </a:extLst>
              </a:tr>
              <a:tr h="162085">
                <a:tc>
                  <a:txBody>
                    <a:bodyPr/>
                    <a:lstStyle/>
                    <a:p>
                      <a:pPr algn="ctr"/>
                      <a:r>
                        <a:rPr lang="pt-BR" dirty="0"/>
                        <a:t>1</a:t>
                      </a:r>
                    </a:p>
                  </a:txBody>
                  <a:tcPr marL="36000" marR="36000" marT="18000" marB="18000"/>
                </a:tc>
                <a:tc>
                  <a:txBody>
                    <a:bodyPr/>
                    <a:lstStyle/>
                    <a:p>
                      <a:pPr algn="ctr"/>
                      <a:r>
                        <a:rPr lang="pt-BR" dirty="0"/>
                        <a:t>1</a:t>
                      </a:r>
                    </a:p>
                  </a:txBody>
                  <a:tcPr marL="36000" marR="36000" marT="18000" marB="1800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pt-BR" dirty="0" err="1"/>
                        <a:t>Q</a:t>
                      </a:r>
                      <a:r>
                        <a:rPr lang="pt-BR" dirty="0"/>
                        <a:t>=1</a:t>
                      </a:r>
                      <a:r>
                        <a:rPr lang="pt-BR" baseline="0" dirty="0"/>
                        <a:t> </a:t>
                      </a:r>
                      <a:r>
                        <a:rPr lang="pt-BR" dirty="0"/>
                        <a:t>; Q’=0</a:t>
                      </a:r>
                    </a:p>
                  </a:txBody>
                  <a:tcPr marL="36000" marR="36000" marT="18000" marB="18000"/>
                </a:tc>
                <a:extLst>
                  <a:ext uri="{0D108BD9-81ED-4DB2-BD59-A6C34878D82A}">
                    <a16:rowId xmlns:a16="http://schemas.microsoft.com/office/drawing/2014/main" val="10003"/>
                  </a:ext>
                </a:extLst>
              </a:tr>
            </a:tbl>
          </a:graphicData>
        </a:graphic>
      </p:graphicFrame>
      <p:pic>
        <p:nvPicPr>
          <p:cNvPr id="2050" name="Picture 2" descr="D latch timin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5853" y="4352924"/>
            <a:ext cx="4352925" cy="2505076"/>
          </a:xfrm>
          <a:prstGeom prst="rect">
            <a:avLst/>
          </a:prstGeom>
          <a:noFill/>
          <a:extLst>
            <a:ext uri="{909E8E84-426E-40dd-AFC4-6F175D3DCCD1}">
              <a14:hiddenFill xmlns="" xmlns:a14="http://schemas.microsoft.com/office/drawing/2010/main">
                <a:solidFill>
                  <a:srgbClr val="FFFFFF"/>
                </a:solidFill>
              </a14:hiddenFill>
            </a:ext>
          </a:extLst>
        </p:spPr>
      </p:pic>
      <p:pic>
        <p:nvPicPr>
          <p:cNvPr id="2052" name="Picture 4" descr="http://students.cs.tamu.edu/tanzir/csce350/handout/Lab%207_files/d-latch.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862" y="2226539"/>
            <a:ext cx="5411527" cy="212638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411739134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Acionamento por pulso (subida)</a:t>
            </a:r>
          </a:p>
        </p:txBody>
      </p:sp>
      <p:sp>
        <p:nvSpPr>
          <p:cNvPr id="3" name="Content Placeholder 2"/>
          <p:cNvSpPr>
            <a:spLocks noGrp="1"/>
          </p:cNvSpPr>
          <p:nvPr>
            <p:ph idx="1"/>
          </p:nvPr>
        </p:nvSpPr>
        <p:spPr>
          <a:xfrm>
            <a:off x="657225" y="1485900"/>
            <a:ext cx="8370865" cy="4724400"/>
          </a:xfrm>
        </p:spPr>
        <p:txBody>
          <a:bodyPr>
            <a:normAutofit/>
          </a:bodyPr>
          <a:lstStyle/>
          <a:p>
            <a:r>
              <a:rPr lang="pt-BR" sz="2400" dirty="0"/>
              <a:t>Circuitos de disparo permitem </a:t>
            </a:r>
            <a:r>
              <a:rPr lang="en-BR" sz="2400" dirty="0"/>
              <a:t>gerar um pulso curto</a:t>
            </a:r>
            <a:r>
              <a:rPr lang="pt-BR" sz="2400" dirty="0"/>
              <a:t>.</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10</a:t>
            </a:fld>
            <a:endParaRPr lang="pt-BR" dirty="0"/>
          </a:p>
        </p:txBody>
      </p:sp>
      <p:pic>
        <p:nvPicPr>
          <p:cNvPr id="6" name="Picture 5" descr="04190.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4674" y="2168333"/>
            <a:ext cx="6413500" cy="3708400"/>
          </a:xfrm>
          <a:prstGeom prst="rect">
            <a:avLst/>
          </a:prstGeom>
        </p:spPr>
      </p:pic>
      <p:sp>
        <p:nvSpPr>
          <p:cNvPr id="7" name="Retângulo 6"/>
          <p:cNvSpPr/>
          <p:nvPr/>
        </p:nvSpPr>
        <p:spPr>
          <a:xfrm>
            <a:off x="4128847" y="5040736"/>
            <a:ext cx="3046869" cy="923330"/>
          </a:xfrm>
          <a:prstGeom prst="rect">
            <a:avLst/>
          </a:prstGeom>
          <a:solidFill>
            <a:schemeClr val="bg1"/>
          </a:solidFill>
        </p:spPr>
        <p:txBody>
          <a:bodyPr wrap="square">
            <a:spAutoFit/>
          </a:bodyPr>
          <a:lstStyle/>
          <a:p>
            <a:r>
              <a:rPr lang="pt-BR" dirty="0"/>
              <a:t>Pequeno período de tempo quando ambas entradas da AND estão em alta.</a:t>
            </a:r>
          </a:p>
        </p:txBody>
      </p:sp>
      <p:sp>
        <p:nvSpPr>
          <p:cNvPr id="9" name="TextBox 8">
            <a:extLst>
              <a:ext uri="{FF2B5EF4-FFF2-40B4-BE49-F238E27FC236}">
                <a16:creationId xmlns:a16="http://schemas.microsoft.com/office/drawing/2014/main" id="{272CBACC-F6C6-5954-EC6A-D4993A887538}"/>
              </a:ext>
            </a:extLst>
          </p:cNvPr>
          <p:cNvSpPr txBox="1"/>
          <p:nvPr/>
        </p:nvSpPr>
        <p:spPr>
          <a:xfrm>
            <a:off x="981654" y="6296025"/>
            <a:ext cx="7119540" cy="369332"/>
          </a:xfrm>
          <a:prstGeom prst="rect">
            <a:avLst/>
          </a:prstGeom>
          <a:noFill/>
          <a:ln>
            <a:solidFill>
              <a:srgbClr val="FF0000"/>
            </a:solidFill>
          </a:ln>
        </p:spPr>
        <p:txBody>
          <a:bodyPr wrap="square">
            <a:spAutoFit/>
          </a:bodyPr>
          <a:lstStyle/>
          <a:p>
            <a:r>
              <a:rPr lang="en-BR" dirty="0">
                <a:solidFill>
                  <a:srgbClr val="FF0000"/>
                </a:solidFill>
              </a:rPr>
              <a:t>Esses circuitos são didáticos, mas não são bons para gerar clocks robustos!</a:t>
            </a:r>
            <a:endParaRPr lang="en-US" dirty="0">
              <a:solidFill>
                <a:srgbClr val="FF0000"/>
              </a:solidFill>
            </a:endParaRPr>
          </a:p>
        </p:txBody>
      </p:sp>
    </p:spTree>
    <p:extLst>
      <p:ext uri="{BB962C8B-B14F-4D97-AF65-F5344CB8AC3E}">
        <p14:creationId xmlns:p14="http://schemas.microsoft.com/office/powerpoint/2010/main" val="151730378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Acionamento por pulso (descida)</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11</a:t>
            </a:fld>
            <a:endParaRPr lang="pt-BR" dirty="0"/>
          </a:p>
        </p:txBody>
      </p:sp>
      <p:pic>
        <p:nvPicPr>
          <p:cNvPr id="7" name="Picture 6" descr="0419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4674" y="2116875"/>
            <a:ext cx="6413500" cy="3898900"/>
          </a:xfrm>
          <a:prstGeom prst="rect">
            <a:avLst/>
          </a:prstGeom>
        </p:spPr>
      </p:pic>
      <p:sp>
        <p:nvSpPr>
          <p:cNvPr id="8" name="Retângulo 7"/>
          <p:cNvSpPr/>
          <p:nvPr/>
        </p:nvSpPr>
        <p:spPr>
          <a:xfrm>
            <a:off x="2657144" y="5286970"/>
            <a:ext cx="3460321" cy="923330"/>
          </a:xfrm>
          <a:prstGeom prst="rect">
            <a:avLst/>
          </a:prstGeom>
          <a:solidFill>
            <a:schemeClr val="bg1"/>
          </a:solidFill>
        </p:spPr>
        <p:txBody>
          <a:bodyPr wrap="square">
            <a:spAutoFit/>
          </a:bodyPr>
          <a:lstStyle/>
          <a:p>
            <a:pPr algn="ctr"/>
            <a:r>
              <a:rPr lang="pt-BR" dirty="0"/>
              <a:t>Pequeno período de tempo durante o qual ambas as entradas da porta NOR estão em nível baixo.</a:t>
            </a:r>
          </a:p>
        </p:txBody>
      </p:sp>
      <p:sp>
        <p:nvSpPr>
          <p:cNvPr id="9" name="Content Placeholder 2"/>
          <p:cNvSpPr>
            <a:spLocks noGrp="1"/>
          </p:cNvSpPr>
          <p:nvPr>
            <p:ph idx="1"/>
          </p:nvPr>
        </p:nvSpPr>
        <p:spPr>
          <a:xfrm>
            <a:off x="657225" y="1485900"/>
            <a:ext cx="8486775" cy="630975"/>
          </a:xfrm>
        </p:spPr>
        <p:txBody>
          <a:bodyPr>
            <a:normAutofit/>
          </a:bodyPr>
          <a:lstStyle/>
          <a:p>
            <a:r>
              <a:rPr lang="pt-BR" sz="2400" dirty="0"/>
              <a:t>Circuitos de disparo permitem gerar um pulso curto.</a:t>
            </a:r>
          </a:p>
        </p:txBody>
      </p:sp>
      <p:sp>
        <p:nvSpPr>
          <p:cNvPr id="6" name="TextBox 5">
            <a:extLst>
              <a:ext uri="{FF2B5EF4-FFF2-40B4-BE49-F238E27FC236}">
                <a16:creationId xmlns:a16="http://schemas.microsoft.com/office/drawing/2014/main" id="{97480357-42D3-895C-147B-555FEE88DE5C}"/>
              </a:ext>
            </a:extLst>
          </p:cNvPr>
          <p:cNvSpPr txBox="1"/>
          <p:nvPr/>
        </p:nvSpPr>
        <p:spPr>
          <a:xfrm>
            <a:off x="981654" y="6296025"/>
            <a:ext cx="7119540" cy="369332"/>
          </a:xfrm>
          <a:prstGeom prst="rect">
            <a:avLst/>
          </a:prstGeom>
          <a:noFill/>
          <a:ln>
            <a:solidFill>
              <a:srgbClr val="FF0000"/>
            </a:solidFill>
          </a:ln>
        </p:spPr>
        <p:txBody>
          <a:bodyPr wrap="square">
            <a:spAutoFit/>
          </a:bodyPr>
          <a:lstStyle/>
          <a:p>
            <a:r>
              <a:rPr lang="en-BR" dirty="0">
                <a:solidFill>
                  <a:srgbClr val="FF0000"/>
                </a:solidFill>
              </a:rPr>
              <a:t>Esses circuitos são didáticos, mas não são bons para gerar clocks robustos!</a:t>
            </a:r>
            <a:endParaRPr lang="en-US" dirty="0">
              <a:solidFill>
                <a:srgbClr val="FF0000"/>
              </a:solidFill>
            </a:endParaRPr>
          </a:p>
        </p:txBody>
      </p:sp>
    </p:spTree>
    <p:extLst>
      <p:ext uri="{BB962C8B-B14F-4D97-AF65-F5344CB8AC3E}">
        <p14:creationId xmlns:p14="http://schemas.microsoft.com/office/powerpoint/2010/main" val="413218274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Flip Flop</a:t>
            </a:r>
          </a:p>
        </p:txBody>
      </p:sp>
      <p:sp>
        <p:nvSpPr>
          <p:cNvPr id="3" name="Content Placeholder 2"/>
          <p:cNvSpPr>
            <a:spLocks noGrp="1"/>
          </p:cNvSpPr>
          <p:nvPr>
            <p:ph idx="1"/>
          </p:nvPr>
        </p:nvSpPr>
        <p:spPr>
          <a:xfrm>
            <a:off x="657225" y="1485900"/>
            <a:ext cx="8126305" cy="943855"/>
          </a:xfrm>
        </p:spPr>
        <p:txBody>
          <a:bodyPr>
            <a:normAutofit/>
          </a:bodyPr>
          <a:lstStyle/>
          <a:p>
            <a:r>
              <a:rPr lang="pt-BR" sz="2400" dirty="0"/>
              <a:t>Flip flop tipo D ou DFF (Data Flip Flop), usando implementação </a:t>
            </a:r>
            <a:r>
              <a:rPr lang="en-US" sz="2400" noProof="0" dirty="0"/>
              <a:t>master-slave</a:t>
            </a:r>
            <a:r>
              <a:rPr lang="pt-BR" sz="2400" dirty="0"/>
              <a:t>.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12</a:t>
            </a:fld>
            <a:endParaRPr lang="pt-BR" dirty="0"/>
          </a:p>
        </p:txBody>
      </p:sp>
      <p:graphicFrame>
        <p:nvGraphicFramePr>
          <p:cNvPr id="14" name="Table 13"/>
          <p:cNvGraphicFramePr>
            <a:graphicFrameLocks noGrp="1"/>
          </p:cNvGraphicFramePr>
          <p:nvPr>
            <p:extLst>
              <p:ext uri="{D42A27DB-BD31-4B8C-83A1-F6EECF244321}">
                <p14:modId xmlns:p14="http://schemas.microsoft.com/office/powerpoint/2010/main" val="2493386681"/>
              </p:ext>
            </p:extLst>
          </p:nvPr>
        </p:nvGraphicFramePr>
        <p:xfrm>
          <a:off x="6630089" y="2598764"/>
          <a:ext cx="2153441" cy="1551600"/>
        </p:xfrm>
        <a:graphic>
          <a:graphicData uri="http://schemas.openxmlformats.org/drawingml/2006/table">
            <a:tbl>
              <a:tblPr firstRow="1" bandRow="1">
                <a:tableStyleId>{073A0DAA-6AF3-43AB-8588-CEC1D06C72B9}</a:tableStyleId>
              </a:tblPr>
              <a:tblGrid>
                <a:gridCol w="321034">
                  <a:extLst>
                    <a:ext uri="{9D8B030D-6E8A-4147-A177-3AD203B41FA5}">
                      <a16:colId xmlns:a16="http://schemas.microsoft.com/office/drawing/2014/main" val="20000"/>
                    </a:ext>
                  </a:extLst>
                </a:gridCol>
                <a:gridCol w="331578">
                  <a:extLst>
                    <a:ext uri="{9D8B030D-6E8A-4147-A177-3AD203B41FA5}">
                      <a16:colId xmlns:a16="http://schemas.microsoft.com/office/drawing/2014/main" val="20001"/>
                    </a:ext>
                  </a:extLst>
                </a:gridCol>
                <a:gridCol w="1500829">
                  <a:extLst>
                    <a:ext uri="{9D8B030D-6E8A-4147-A177-3AD203B41FA5}">
                      <a16:colId xmlns:a16="http://schemas.microsoft.com/office/drawing/2014/main" val="20002"/>
                    </a:ext>
                  </a:extLst>
                </a:gridCol>
              </a:tblGrid>
              <a:tr h="162085">
                <a:tc>
                  <a:txBody>
                    <a:bodyPr/>
                    <a:lstStyle/>
                    <a:p>
                      <a:pPr algn="ctr"/>
                      <a:r>
                        <a:rPr lang="pt-BR" dirty="0" err="1"/>
                        <a:t>D</a:t>
                      </a:r>
                      <a:endParaRPr lang="pt-BR" dirty="0"/>
                    </a:p>
                  </a:txBody>
                  <a:tcPr marL="36000" marR="36000" marT="18000" marB="18000"/>
                </a:tc>
                <a:tc>
                  <a:txBody>
                    <a:bodyPr/>
                    <a:lstStyle/>
                    <a:p>
                      <a:pPr algn="ctr"/>
                      <a:r>
                        <a:rPr lang="pt-BR" dirty="0" err="1"/>
                        <a:t>C</a:t>
                      </a:r>
                      <a:endParaRPr lang="pt-BR" dirty="0"/>
                    </a:p>
                  </a:txBody>
                  <a:tcPr marL="36000" marR="36000" marT="18000" marB="18000"/>
                </a:tc>
                <a:tc>
                  <a:txBody>
                    <a:bodyPr/>
                    <a:lstStyle/>
                    <a:p>
                      <a:pPr algn="ctr"/>
                      <a:r>
                        <a:rPr lang="pt-BR" dirty="0"/>
                        <a:t>Ação</a:t>
                      </a:r>
                    </a:p>
                  </a:txBody>
                  <a:tcPr marL="36000" marR="36000" marT="18000" marB="18000"/>
                </a:tc>
                <a:extLst>
                  <a:ext uri="{0D108BD9-81ED-4DB2-BD59-A6C34878D82A}">
                    <a16:rowId xmlns:a16="http://schemas.microsoft.com/office/drawing/2014/main" val="10000"/>
                  </a:ext>
                </a:extLst>
              </a:tr>
              <a:tr h="162085">
                <a:tc>
                  <a:txBody>
                    <a:bodyPr/>
                    <a:lstStyle/>
                    <a:p>
                      <a:pPr algn="ctr"/>
                      <a:r>
                        <a:rPr lang="pt-BR" dirty="0"/>
                        <a:t>X</a:t>
                      </a:r>
                    </a:p>
                  </a:txBody>
                  <a:tcPr marL="36000" marR="36000" marT="18000" marB="18000"/>
                </a:tc>
                <a:tc>
                  <a:txBody>
                    <a:bodyPr/>
                    <a:lstStyle/>
                    <a:p>
                      <a:pPr algn="ctr"/>
                      <a:r>
                        <a:rPr lang="pt-BR" dirty="0"/>
                        <a:t>0</a:t>
                      </a:r>
                    </a:p>
                  </a:txBody>
                  <a:tcPr marL="36000" marR="36000" marT="18000" marB="18000"/>
                </a:tc>
                <a:tc>
                  <a:txBody>
                    <a:bodyPr/>
                    <a:lstStyle/>
                    <a:p>
                      <a:r>
                        <a:rPr lang="pt-BR" dirty="0"/>
                        <a:t>sem</a:t>
                      </a:r>
                      <a:r>
                        <a:rPr lang="pt-BR" baseline="0" dirty="0"/>
                        <a:t> alteração</a:t>
                      </a:r>
                      <a:endParaRPr lang="pt-BR" dirty="0"/>
                    </a:p>
                  </a:txBody>
                  <a:tcPr marL="36000" marR="36000" marT="18000" marB="18000"/>
                </a:tc>
                <a:extLst>
                  <a:ext uri="{0D108BD9-81ED-4DB2-BD59-A6C34878D82A}">
                    <a16:rowId xmlns:a16="http://schemas.microsoft.com/office/drawing/2014/main" val="10001"/>
                  </a:ext>
                </a:extLst>
              </a:tr>
              <a:tr h="162085">
                <a:tc>
                  <a:txBody>
                    <a:bodyPr/>
                    <a:lstStyle/>
                    <a:p>
                      <a:pPr algn="ctr"/>
                      <a:r>
                        <a:rPr lang="pt-BR" dirty="0"/>
                        <a:t>X</a:t>
                      </a:r>
                    </a:p>
                  </a:txBody>
                  <a:tcPr marL="36000" marR="36000" marT="18000" marB="18000"/>
                </a:tc>
                <a:tc>
                  <a:txBody>
                    <a:bodyPr/>
                    <a:lstStyle/>
                    <a:p>
                      <a:pPr algn="ctr"/>
                      <a:r>
                        <a:rPr lang="pt-BR" dirty="0"/>
                        <a:t>1</a:t>
                      </a:r>
                    </a:p>
                  </a:txBody>
                  <a:tcPr marL="36000" marR="36000" marT="18000" marB="18000"/>
                </a:tc>
                <a:tc>
                  <a:txBody>
                    <a:bodyPr/>
                    <a:lstStyle/>
                    <a:p>
                      <a:r>
                        <a:rPr lang="pt-BR" dirty="0"/>
                        <a:t>sem</a:t>
                      </a:r>
                      <a:r>
                        <a:rPr lang="pt-BR" baseline="0" dirty="0"/>
                        <a:t> alteração</a:t>
                      </a:r>
                      <a:endParaRPr lang="pt-BR" dirty="0"/>
                    </a:p>
                  </a:txBody>
                  <a:tcPr marL="36000" marR="36000" marT="18000" marB="18000"/>
                </a:tc>
                <a:extLst>
                  <a:ext uri="{0D108BD9-81ED-4DB2-BD59-A6C34878D82A}">
                    <a16:rowId xmlns:a16="http://schemas.microsoft.com/office/drawing/2014/main" val="10002"/>
                  </a:ext>
                </a:extLst>
              </a:tr>
              <a:tr h="162085">
                <a:tc>
                  <a:txBody>
                    <a:bodyPr/>
                    <a:lstStyle/>
                    <a:p>
                      <a:pPr algn="ctr"/>
                      <a:r>
                        <a:rPr lang="pt-BR" dirty="0"/>
                        <a:t>1</a:t>
                      </a:r>
                    </a:p>
                  </a:txBody>
                  <a:tcPr marL="36000" marR="3600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a:t>↑</a:t>
                      </a:r>
                      <a:endParaRPr lang="pt-BR" dirty="0"/>
                    </a:p>
                  </a:txBody>
                  <a:tcPr marL="36000" marR="3600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Q=1</a:t>
                      </a:r>
                      <a:r>
                        <a:rPr lang="pt-BR" baseline="0" dirty="0"/>
                        <a:t> </a:t>
                      </a:r>
                      <a:r>
                        <a:rPr lang="pt-BR" dirty="0"/>
                        <a:t>; Q’=0</a:t>
                      </a:r>
                    </a:p>
                  </a:txBody>
                  <a:tcPr marL="36000" marR="36000" marT="18000" marB="18000"/>
                </a:tc>
                <a:extLst>
                  <a:ext uri="{0D108BD9-81ED-4DB2-BD59-A6C34878D82A}">
                    <a16:rowId xmlns:a16="http://schemas.microsoft.com/office/drawing/2014/main" val="10003"/>
                  </a:ext>
                </a:extLst>
              </a:tr>
              <a:tr h="162085">
                <a:tc>
                  <a:txBody>
                    <a:bodyPr/>
                    <a:lstStyle/>
                    <a:p>
                      <a:pPr algn="ctr"/>
                      <a:r>
                        <a:rPr lang="pt-BR" dirty="0"/>
                        <a:t>0</a:t>
                      </a:r>
                    </a:p>
                  </a:txBody>
                  <a:tcPr marL="36000" marR="3600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a:t>
                      </a:r>
                    </a:p>
                  </a:txBody>
                  <a:tcPr marL="36000" marR="3600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Q=0</a:t>
                      </a:r>
                      <a:r>
                        <a:rPr lang="pt-BR" baseline="0" dirty="0"/>
                        <a:t> </a:t>
                      </a:r>
                      <a:r>
                        <a:rPr lang="pt-BR" dirty="0"/>
                        <a:t>; Q’=1</a:t>
                      </a:r>
                    </a:p>
                  </a:txBody>
                  <a:tcPr marL="36000" marR="36000" marT="18000" marB="18000"/>
                </a:tc>
                <a:extLst>
                  <a:ext uri="{0D108BD9-81ED-4DB2-BD59-A6C34878D82A}">
                    <a16:rowId xmlns:a16="http://schemas.microsoft.com/office/drawing/2014/main" val="10004"/>
                  </a:ext>
                </a:extLst>
              </a:tr>
            </a:tbl>
          </a:graphicData>
        </a:graphic>
      </p:graphicFrame>
      <p:pic>
        <p:nvPicPr>
          <p:cNvPr id="15" name="Picture 14" descr="800px-D-Type_Flip-flop_Diagram.sv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575" y="2503296"/>
            <a:ext cx="5833140" cy="1822856"/>
          </a:xfrm>
          <a:prstGeom prst="rect">
            <a:avLst/>
          </a:prstGeom>
        </p:spPr>
      </p:pic>
      <p:pic>
        <p:nvPicPr>
          <p:cNvPr id="1026" name="Picture 2" descr="http://hades.mech.northwestern.edu/images/c/cd/D_flipflop_timing.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5713" y="4319373"/>
            <a:ext cx="4524375" cy="2447926"/>
          </a:xfrm>
          <a:prstGeom prst="rect">
            <a:avLst/>
          </a:prstGeom>
          <a:noFill/>
          <a:extLst>
            <a:ext uri="{909E8E84-426E-40dd-AFC4-6F175D3DCCD1}">
              <a14:hiddenFill xmlns=""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3F098D5-F435-E845-2D64-F6CBBCA6A4CE}"/>
              </a:ext>
            </a:extLst>
          </p:cNvPr>
          <p:cNvSpPr txBox="1"/>
          <p:nvPr/>
        </p:nvSpPr>
        <p:spPr>
          <a:xfrm>
            <a:off x="6911287" y="4568728"/>
            <a:ext cx="1775513" cy="584775"/>
          </a:xfrm>
          <a:prstGeom prst="rect">
            <a:avLst/>
          </a:prstGeom>
          <a:noFill/>
          <a:ln>
            <a:solidFill>
              <a:srgbClr val="FF0000"/>
            </a:solidFill>
          </a:ln>
        </p:spPr>
        <p:txBody>
          <a:bodyPr wrap="square">
            <a:spAutoFit/>
          </a:bodyPr>
          <a:lstStyle/>
          <a:p>
            <a:pPr algn="ctr"/>
            <a:r>
              <a:rPr lang="pt-BR" sz="1600" baseline="0" dirty="0">
                <a:solidFill>
                  <a:srgbClr val="FF0000"/>
                </a:solidFill>
              </a:rPr>
              <a:t>Somente sensível a borda de subida!</a:t>
            </a:r>
          </a:p>
        </p:txBody>
      </p:sp>
    </p:spTree>
    <p:extLst>
      <p:ext uri="{BB962C8B-B14F-4D97-AF65-F5344CB8AC3E}">
        <p14:creationId xmlns:p14="http://schemas.microsoft.com/office/powerpoint/2010/main" val="365248401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Entradas síncronas e assíncronas</a:t>
            </a:r>
          </a:p>
        </p:txBody>
      </p:sp>
      <p:sp>
        <p:nvSpPr>
          <p:cNvPr id="3" name="Content Placeholder 2"/>
          <p:cNvSpPr>
            <a:spLocks noGrp="1"/>
          </p:cNvSpPr>
          <p:nvPr>
            <p:ph idx="1"/>
          </p:nvPr>
        </p:nvSpPr>
        <p:spPr>
          <a:xfrm>
            <a:off x="228600" y="1461283"/>
            <a:ext cx="8825248" cy="1371600"/>
          </a:xfrm>
        </p:spPr>
        <p:txBody>
          <a:bodyPr>
            <a:normAutofit/>
          </a:bodyPr>
          <a:lstStyle/>
          <a:p>
            <a:r>
              <a:rPr lang="pt-BR" sz="1900" dirty="0"/>
              <a:t>Componentes sequenciais podem ter entradas:</a:t>
            </a:r>
          </a:p>
          <a:p>
            <a:r>
              <a:rPr lang="pt-BR" sz="1900" b="1" dirty="0"/>
              <a:t>Síncronas</a:t>
            </a:r>
            <a:r>
              <a:rPr lang="pt-BR" sz="1900" dirty="0"/>
              <a:t>: só alteram o estado do chip com os pulsos de </a:t>
            </a:r>
            <a:r>
              <a:rPr lang="pt-BR" sz="1900" dirty="0" err="1"/>
              <a:t>clock</a:t>
            </a:r>
            <a:endParaRPr lang="pt-BR" sz="1900" dirty="0"/>
          </a:p>
          <a:p>
            <a:r>
              <a:rPr lang="pt-BR" sz="1900" b="1" dirty="0"/>
              <a:t>Assíncronas</a:t>
            </a:r>
            <a:r>
              <a:rPr lang="pt-BR" sz="1900" dirty="0"/>
              <a:t>: alteram o estado do chip independentemente do clock</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13</a:t>
            </a:fld>
            <a:endParaRPr lang="pt-BR" dirty="0"/>
          </a:p>
        </p:txBody>
      </p:sp>
      <p:cxnSp>
        <p:nvCxnSpPr>
          <p:cNvPr id="8" name="Straight Connector 30"/>
          <p:cNvCxnSpPr/>
          <p:nvPr/>
        </p:nvCxnSpPr>
        <p:spPr>
          <a:xfrm>
            <a:off x="3278146" y="4322805"/>
            <a:ext cx="580876" cy="0"/>
          </a:xfrm>
          <a:prstGeom prst="line">
            <a:avLst/>
          </a:prstGeom>
          <a:ln w="57150" cmpd="sng">
            <a:solidFill>
              <a:srgbClr val="0070C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31"/>
          <p:cNvCxnSpPr/>
          <p:nvPr/>
        </p:nvCxnSpPr>
        <p:spPr>
          <a:xfrm>
            <a:off x="3278146" y="4913453"/>
            <a:ext cx="580876"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30"/>
          <p:cNvCxnSpPr/>
          <p:nvPr/>
        </p:nvCxnSpPr>
        <p:spPr>
          <a:xfrm>
            <a:off x="4048308" y="3614151"/>
            <a:ext cx="2179" cy="2007956"/>
          </a:xfrm>
          <a:prstGeom prst="line">
            <a:avLst/>
          </a:prstGeom>
          <a:ln w="57150" cmpd="sng">
            <a:solidFill>
              <a:srgbClr val="FF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18" name="Grupo 17"/>
          <p:cNvGrpSpPr/>
          <p:nvPr/>
        </p:nvGrpSpPr>
        <p:grpSpPr>
          <a:xfrm>
            <a:off x="4253273" y="4322805"/>
            <a:ext cx="580876" cy="590648"/>
            <a:chOff x="1619399" y="4160904"/>
            <a:chExt cx="1540327" cy="590648"/>
          </a:xfrm>
        </p:grpSpPr>
        <p:cxnSp>
          <p:nvCxnSpPr>
            <p:cNvPr id="19" name="Straight Connector 30"/>
            <p:cNvCxnSpPr/>
            <p:nvPr/>
          </p:nvCxnSpPr>
          <p:spPr>
            <a:xfrm>
              <a:off x="1619399" y="4160904"/>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31"/>
            <p:cNvCxnSpPr/>
            <p:nvPr/>
          </p:nvCxnSpPr>
          <p:spPr>
            <a:xfrm>
              <a:off x="1619399" y="4751552"/>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10" name="Rectangle 32"/>
          <p:cNvSpPr/>
          <p:nvPr/>
        </p:nvSpPr>
        <p:spPr>
          <a:xfrm>
            <a:off x="3579757" y="3899356"/>
            <a:ext cx="941460" cy="1437546"/>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PRE</a:t>
            </a:r>
          </a:p>
          <a:p>
            <a:pPr algn="ctr">
              <a:lnSpc>
                <a:spcPct val="70000"/>
              </a:lnSpc>
            </a:pPr>
            <a:endParaRPr lang="pt-BR" sz="1000" b="1" noProof="1">
              <a:solidFill>
                <a:schemeClr val="tx1"/>
              </a:solidFill>
            </a:endParaRPr>
          </a:p>
          <a:p>
            <a:pPr algn="ctr">
              <a:lnSpc>
                <a:spcPct val="70000"/>
              </a:lnSpc>
            </a:pPr>
            <a:r>
              <a:rPr lang="pt-BR" b="1" noProof="1">
                <a:solidFill>
                  <a:schemeClr val="tx1"/>
                </a:solidFill>
              </a:rPr>
              <a:t>D       Q</a:t>
            </a:r>
          </a:p>
          <a:p>
            <a:pPr algn="ctr">
              <a:lnSpc>
                <a:spcPct val="70000"/>
              </a:lnSpc>
            </a:pPr>
            <a:endParaRPr lang="pt-BR" b="1" noProof="1">
              <a:solidFill>
                <a:schemeClr val="tx1"/>
              </a:solidFill>
            </a:endParaRPr>
          </a:p>
          <a:p>
            <a:pPr algn="ctr">
              <a:lnSpc>
                <a:spcPct val="70000"/>
              </a:lnSpc>
            </a:pPr>
            <a:endParaRPr lang="pt-BR" b="1" noProof="1">
              <a:solidFill>
                <a:schemeClr val="tx1"/>
              </a:solidFill>
            </a:endParaRPr>
          </a:p>
          <a:p>
            <a:pPr algn="ctr">
              <a:lnSpc>
                <a:spcPct val="70000"/>
              </a:lnSpc>
            </a:pPr>
            <a:r>
              <a:rPr lang="pt-BR" b="1" noProof="1">
                <a:solidFill>
                  <a:schemeClr val="tx1"/>
                </a:solidFill>
              </a:rPr>
              <a:t> Ck      Q’</a:t>
            </a:r>
          </a:p>
          <a:p>
            <a:pPr algn="ctr">
              <a:lnSpc>
                <a:spcPct val="70000"/>
              </a:lnSpc>
            </a:pPr>
            <a:endParaRPr lang="pt-BR" sz="1050" b="1" noProof="1">
              <a:solidFill>
                <a:schemeClr val="tx1"/>
              </a:solidFill>
            </a:endParaRPr>
          </a:p>
          <a:p>
            <a:pPr algn="ctr">
              <a:lnSpc>
                <a:spcPct val="70000"/>
              </a:lnSpc>
            </a:pPr>
            <a:r>
              <a:rPr lang="pt-BR" b="1" noProof="1">
                <a:solidFill>
                  <a:schemeClr val="tx1"/>
                </a:solidFill>
              </a:rPr>
              <a:t>CLR</a:t>
            </a:r>
          </a:p>
        </p:txBody>
      </p:sp>
      <p:sp>
        <p:nvSpPr>
          <p:cNvPr id="12" name="Isosceles Triangle 40"/>
          <p:cNvSpPr/>
          <p:nvPr/>
        </p:nvSpPr>
        <p:spPr>
          <a:xfrm rot="5400000">
            <a:off x="3557612" y="4854214"/>
            <a:ext cx="138770" cy="94675"/>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grpSp>
        <p:nvGrpSpPr>
          <p:cNvPr id="7" name="Grupo 6"/>
          <p:cNvGrpSpPr/>
          <p:nvPr/>
        </p:nvGrpSpPr>
        <p:grpSpPr>
          <a:xfrm>
            <a:off x="714840" y="4093432"/>
            <a:ext cx="2525034" cy="830997"/>
            <a:chOff x="914414" y="3965563"/>
            <a:chExt cx="2525034" cy="830997"/>
          </a:xfrm>
        </p:grpSpPr>
        <p:sp>
          <p:nvSpPr>
            <p:cNvPr id="21" name="Retângulo 20"/>
            <p:cNvSpPr/>
            <p:nvPr/>
          </p:nvSpPr>
          <p:spPr>
            <a:xfrm>
              <a:off x="914414" y="3965563"/>
              <a:ext cx="1479379" cy="830997"/>
            </a:xfrm>
            <a:prstGeom prst="rect">
              <a:avLst/>
            </a:prstGeom>
          </p:spPr>
          <p:txBody>
            <a:bodyPr wrap="none">
              <a:spAutoFit/>
            </a:bodyPr>
            <a:lstStyle/>
            <a:p>
              <a:pPr algn="ctr"/>
              <a:r>
                <a:rPr lang="pt-BR" sz="2400" b="1" dirty="0" err="1">
                  <a:solidFill>
                    <a:srgbClr val="0070C0"/>
                  </a:solidFill>
                </a:rPr>
                <a:t>D</a:t>
              </a:r>
              <a:endParaRPr lang="pt-BR" sz="2400" b="1" dirty="0">
                <a:solidFill>
                  <a:srgbClr val="0070C0"/>
                </a:solidFill>
              </a:endParaRPr>
            </a:p>
            <a:p>
              <a:pPr algn="ctr"/>
              <a:r>
                <a:rPr lang="pt-BR" sz="2400" b="1" dirty="0">
                  <a:solidFill>
                    <a:srgbClr val="0070C0"/>
                  </a:solidFill>
                </a:rPr>
                <a:t>(Síncrona)</a:t>
              </a:r>
            </a:p>
          </p:txBody>
        </p:sp>
        <p:cxnSp>
          <p:nvCxnSpPr>
            <p:cNvPr id="23" name="Conector em curva 22"/>
            <p:cNvCxnSpPr>
              <a:stCxn id="21" idx="3"/>
            </p:cNvCxnSpPr>
            <p:nvPr/>
          </p:nvCxnSpPr>
          <p:spPr>
            <a:xfrm flipV="1">
              <a:off x="2393793" y="4207288"/>
              <a:ext cx="1045655" cy="173774"/>
            </a:xfrm>
            <a:prstGeom prst="curvedConnector3">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grpSp>
      <p:sp>
        <p:nvSpPr>
          <p:cNvPr id="152" name="Oval 39"/>
          <p:cNvSpPr/>
          <p:nvPr/>
        </p:nvSpPr>
        <p:spPr>
          <a:xfrm>
            <a:off x="3996700" y="5358471"/>
            <a:ext cx="108093" cy="108093"/>
          </a:xfrm>
          <a:prstGeom prst="ellipse">
            <a:avLst/>
          </a:prstGeom>
          <a:solidFill>
            <a:srgbClr val="FFFFFF"/>
          </a:solid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54" name="Oval 39"/>
          <p:cNvSpPr/>
          <p:nvPr/>
        </p:nvSpPr>
        <p:spPr>
          <a:xfrm>
            <a:off x="3996106" y="3760412"/>
            <a:ext cx="108093" cy="108093"/>
          </a:xfrm>
          <a:prstGeom prst="ellipse">
            <a:avLst/>
          </a:prstGeom>
          <a:solidFill>
            <a:srgbClr val="FFFFFF"/>
          </a:solid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nvGrpSpPr>
          <p:cNvPr id="14" name="Grupo 13"/>
          <p:cNvGrpSpPr/>
          <p:nvPr/>
        </p:nvGrpSpPr>
        <p:grpSpPr>
          <a:xfrm>
            <a:off x="1210614" y="2621260"/>
            <a:ext cx="3179658" cy="992184"/>
            <a:chOff x="1558347" y="2621260"/>
            <a:chExt cx="3179658" cy="992184"/>
          </a:xfrm>
        </p:grpSpPr>
        <p:pic>
          <p:nvPicPr>
            <p:cNvPr id="1027" name="Picture 3"/>
            <p:cNvPicPr>
              <a:picLocks noChangeAspect="1" noChangeArrowheads="1"/>
            </p:cNvPicPr>
            <p:nvPr/>
          </p:nvPicPr>
          <p:blipFill rotWithShape="1">
            <a:blip r:embed="rId4">
              <a:clrChange>
                <a:clrFrom>
                  <a:srgbClr val="F4F5F6"/>
                </a:clrFrom>
                <a:clrTo>
                  <a:srgbClr val="F4F5F6">
                    <a:alpha val="0"/>
                  </a:srgbClr>
                </a:clrTo>
              </a:clrChange>
              <a:extLst>
                <a:ext uri="{28A0092B-C50C-407E-A947-70E740481C1C}">
                  <a14:useLocalDpi xmlns:a14="http://schemas.microsoft.com/office/drawing/2010/main" val="0"/>
                </a:ext>
              </a:extLst>
            </a:blip>
            <a:srcRect l="27895" t="36176" r="57272" b="41579"/>
            <a:stretch/>
          </p:blipFill>
          <p:spPr bwMode="auto">
            <a:xfrm>
              <a:off x="3561303" y="2621260"/>
              <a:ext cx="1176702" cy="99218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6" name="Retângulo 5"/>
            <p:cNvSpPr/>
            <p:nvPr/>
          </p:nvSpPr>
          <p:spPr>
            <a:xfrm>
              <a:off x="1558347" y="2727887"/>
              <a:ext cx="2783388" cy="369332"/>
            </a:xfrm>
            <a:prstGeom prst="rect">
              <a:avLst/>
            </a:prstGeom>
          </p:spPr>
          <p:txBody>
            <a:bodyPr wrap="square">
              <a:spAutoFit/>
            </a:bodyPr>
            <a:lstStyle/>
            <a:p>
              <a:r>
                <a:rPr lang="pt-BR" b="1" dirty="0"/>
                <a:t>Circuito força início em alta</a:t>
              </a:r>
            </a:p>
          </p:txBody>
        </p:sp>
      </p:grpSp>
      <p:grpSp>
        <p:nvGrpSpPr>
          <p:cNvPr id="15" name="Grupo 14"/>
          <p:cNvGrpSpPr/>
          <p:nvPr/>
        </p:nvGrpSpPr>
        <p:grpSpPr>
          <a:xfrm>
            <a:off x="996461" y="5627131"/>
            <a:ext cx="3308930" cy="1156169"/>
            <a:chOff x="1344194" y="5627131"/>
            <a:chExt cx="3308930" cy="1156169"/>
          </a:xfrm>
        </p:grpSpPr>
        <p:pic>
          <p:nvPicPr>
            <p:cNvPr id="1026" name="Picture 2"/>
            <p:cNvPicPr>
              <a:picLocks noChangeAspect="1" noChangeArrowheads="1"/>
            </p:cNvPicPr>
            <p:nvPr/>
          </p:nvPicPr>
          <p:blipFill rotWithShape="1">
            <a:blip r:embed="rId5">
              <a:clrChange>
                <a:clrFrom>
                  <a:srgbClr val="F4F5F6"/>
                </a:clrFrom>
                <a:clrTo>
                  <a:srgbClr val="F4F5F6">
                    <a:alpha val="0"/>
                  </a:srgbClr>
                </a:clrTo>
              </a:clrChange>
              <a:extLst>
                <a:ext uri="{28A0092B-C50C-407E-A947-70E740481C1C}">
                  <a14:useLocalDpi xmlns:a14="http://schemas.microsoft.com/office/drawing/2010/main" val="0"/>
                </a:ext>
              </a:extLst>
            </a:blip>
            <a:srcRect l="28707" t="46610" r="58344" b="27467"/>
            <a:stretch/>
          </p:blipFill>
          <p:spPr bwMode="auto">
            <a:xfrm>
              <a:off x="3625879" y="5627131"/>
              <a:ext cx="1027245" cy="115616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24" name="Retângulo 23"/>
            <p:cNvSpPr/>
            <p:nvPr/>
          </p:nvSpPr>
          <p:spPr>
            <a:xfrm>
              <a:off x="1344194" y="6046746"/>
              <a:ext cx="2966966" cy="369332"/>
            </a:xfrm>
            <a:prstGeom prst="rect">
              <a:avLst/>
            </a:prstGeom>
          </p:spPr>
          <p:txBody>
            <a:bodyPr wrap="none">
              <a:spAutoFit/>
            </a:bodyPr>
            <a:lstStyle/>
            <a:p>
              <a:r>
                <a:rPr lang="pt-BR" b="1" dirty="0"/>
                <a:t>Circuito força início em baixa</a:t>
              </a:r>
            </a:p>
          </p:txBody>
        </p:sp>
      </p:grpSp>
      <p:pic>
        <p:nvPicPr>
          <p:cNvPr id="29" name="Picture 28"/>
          <p:cNvPicPr>
            <a:picLocks noChangeAspect="1"/>
          </p:cNvPicPr>
          <p:nvPr/>
        </p:nvPicPr>
        <p:blipFill rotWithShape="1">
          <a:blip r:embed="rId6"/>
          <a:srcRect l="1501" r="1205" b="20586"/>
          <a:stretch/>
        </p:blipFill>
        <p:spPr>
          <a:xfrm>
            <a:off x="5031775" y="4093431"/>
            <a:ext cx="3920669" cy="1124861"/>
          </a:xfrm>
          <a:prstGeom prst="rect">
            <a:avLst/>
          </a:prstGeom>
        </p:spPr>
      </p:pic>
      <p:grpSp>
        <p:nvGrpSpPr>
          <p:cNvPr id="35" name="Group 34"/>
          <p:cNvGrpSpPr/>
          <p:nvPr/>
        </p:nvGrpSpPr>
        <p:grpSpPr>
          <a:xfrm>
            <a:off x="562172" y="3037508"/>
            <a:ext cx="3431830" cy="830997"/>
            <a:chOff x="562172" y="3037508"/>
            <a:chExt cx="3431830" cy="830997"/>
          </a:xfrm>
        </p:grpSpPr>
        <p:cxnSp>
          <p:nvCxnSpPr>
            <p:cNvPr id="26" name="Conector em curva 25"/>
            <p:cNvCxnSpPr/>
            <p:nvPr/>
          </p:nvCxnSpPr>
          <p:spPr>
            <a:xfrm>
              <a:off x="2015444" y="3308709"/>
              <a:ext cx="1978558" cy="386022"/>
            </a:xfrm>
            <a:prstGeom prst="curvedConnector3">
              <a:avLst>
                <a:gd name="adj1" fmla="val 50000"/>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4" name="Retângulo 24"/>
            <p:cNvSpPr/>
            <p:nvPr/>
          </p:nvSpPr>
          <p:spPr>
            <a:xfrm>
              <a:off x="562172" y="3037508"/>
              <a:ext cx="1766317" cy="830997"/>
            </a:xfrm>
            <a:prstGeom prst="rect">
              <a:avLst/>
            </a:prstGeom>
          </p:spPr>
          <p:txBody>
            <a:bodyPr wrap="none">
              <a:spAutoFit/>
            </a:bodyPr>
            <a:lstStyle/>
            <a:p>
              <a:pPr algn="ctr"/>
              <a:r>
                <a:rPr lang="en-US" sz="2400" b="1" dirty="0">
                  <a:solidFill>
                    <a:srgbClr val="FF0000"/>
                  </a:solidFill>
                </a:rPr>
                <a:t>Preset</a:t>
              </a:r>
            </a:p>
            <a:p>
              <a:pPr algn="ctr"/>
              <a:r>
                <a:rPr lang="en-US" sz="2400" b="1" dirty="0">
                  <a:solidFill>
                    <a:srgbClr val="FF0000"/>
                  </a:solidFill>
                </a:rPr>
                <a:t>(</a:t>
              </a:r>
              <a:r>
                <a:rPr lang="pt-BR" sz="2400" b="1" dirty="0">
                  <a:solidFill>
                    <a:srgbClr val="FF0000"/>
                  </a:solidFill>
                </a:rPr>
                <a:t>Assíncrona</a:t>
              </a:r>
              <a:r>
                <a:rPr lang="en-US" sz="2400" b="1" dirty="0">
                  <a:solidFill>
                    <a:srgbClr val="FF0000"/>
                  </a:solidFill>
                </a:rPr>
                <a:t>)</a:t>
              </a:r>
              <a:endParaRPr lang="pt-BR" sz="2400" b="1" dirty="0">
                <a:solidFill>
                  <a:srgbClr val="FF0000"/>
                </a:solidFill>
              </a:endParaRPr>
            </a:p>
          </p:txBody>
        </p:sp>
      </p:grpSp>
      <p:grpSp>
        <p:nvGrpSpPr>
          <p:cNvPr id="36" name="Group 35"/>
          <p:cNvGrpSpPr/>
          <p:nvPr/>
        </p:nvGrpSpPr>
        <p:grpSpPr>
          <a:xfrm>
            <a:off x="571371" y="4997018"/>
            <a:ext cx="3392056" cy="830997"/>
            <a:chOff x="571371" y="4997018"/>
            <a:chExt cx="3392056" cy="830997"/>
          </a:xfrm>
        </p:grpSpPr>
        <p:cxnSp>
          <p:nvCxnSpPr>
            <p:cNvPr id="30" name="Conector em curva 29"/>
            <p:cNvCxnSpPr/>
            <p:nvPr/>
          </p:nvCxnSpPr>
          <p:spPr>
            <a:xfrm>
              <a:off x="2015444" y="5218293"/>
              <a:ext cx="1947983" cy="323234"/>
            </a:xfrm>
            <a:prstGeom prst="curvedConnector3">
              <a:avLst>
                <a:gd name="adj1" fmla="val 50000"/>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9" name="Retângulo 24"/>
            <p:cNvSpPr/>
            <p:nvPr/>
          </p:nvSpPr>
          <p:spPr>
            <a:xfrm>
              <a:off x="571371" y="4997018"/>
              <a:ext cx="1766316" cy="830997"/>
            </a:xfrm>
            <a:prstGeom prst="rect">
              <a:avLst/>
            </a:prstGeom>
          </p:spPr>
          <p:txBody>
            <a:bodyPr wrap="none">
              <a:spAutoFit/>
            </a:bodyPr>
            <a:lstStyle/>
            <a:p>
              <a:pPr algn="ctr"/>
              <a:r>
                <a:rPr lang="en-US" sz="2400" b="1">
                  <a:solidFill>
                    <a:srgbClr val="FF0000"/>
                  </a:solidFill>
                </a:rPr>
                <a:t>Clear</a:t>
              </a:r>
              <a:endParaRPr lang="en-US" sz="2400" b="1" dirty="0">
                <a:solidFill>
                  <a:srgbClr val="FF0000"/>
                </a:solidFill>
              </a:endParaRPr>
            </a:p>
            <a:p>
              <a:pPr algn="ctr"/>
              <a:r>
                <a:rPr lang="pt-BR" sz="2400" b="1" dirty="0">
                  <a:solidFill>
                    <a:srgbClr val="FF0000"/>
                  </a:solidFill>
                </a:rPr>
                <a:t>(Assíncrona)</a:t>
              </a:r>
            </a:p>
          </p:txBody>
        </p:sp>
      </p:grpSp>
      <p:sp>
        <p:nvSpPr>
          <p:cNvPr id="16" name="TextBox 15">
            <a:extLst>
              <a:ext uri="{FF2B5EF4-FFF2-40B4-BE49-F238E27FC236}">
                <a16:creationId xmlns:a16="http://schemas.microsoft.com/office/drawing/2014/main" id="{59FA4F1E-295D-D98C-C9EE-10CD981ADC83}"/>
              </a:ext>
            </a:extLst>
          </p:cNvPr>
          <p:cNvSpPr txBox="1"/>
          <p:nvPr/>
        </p:nvSpPr>
        <p:spPr>
          <a:xfrm>
            <a:off x="4903886" y="5634767"/>
            <a:ext cx="3741313" cy="646331"/>
          </a:xfrm>
          <a:prstGeom prst="rect">
            <a:avLst/>
          </a:prstGeom>
          <a:noFill/>
          <a:ln>
            <a:solidFill>
              <a:srgbClr val="FF0000"/>
            </a:solidFill>
          </a:ln>
        </p:spPr>
        <p:txBody>
          <a:bodyPr wrap="square">
            <a:spAutoFit/>
          </a:bodyPr>
          <a:lstStyle/>
          <a:p>
            <a:pPr algn="ctr"/>
            <a:r>
              <a:rPr lang="en-BR" dirty="0">
                <a:solidFill>
                  <a:srgbClr val="FF0000"/>
                </a:solidFill>
              </a:rPr>
              <a:t>ativar preset e clear simultaneamente costuma ser uma condição proibida!</a:t>
            </a:r>
            <a:endParaRPr lang="en-US" dirty="0">
              <a:solidFill>
                <a:srgbClr val="FF0000"/>
              </a:solidFill>
            </a:endParaRPr>
          </a:p>
        </p:txBody>
      </p:sp>
      <p:sp>
        <p:nvSpPr>
          <p:cNvPr id="22" name="TextBox 21">
            <a:extLst>
              <a:ext uri="{FF2B5EF4-FFF2-40B4-BE49-F238E27FC236}">
                <a16:creationId xmlns:a16="http://schemas.microsoft.com/office/drawing/2014/main" id="{076B796E-A298-5F21-9B84-BA966F2CC941}"/>
              </a:ext>
            </a:extLst>
          </p:cNvPr>
          <p:cNvSpPr txBox="1"/>
          <p:nvPr/>
        </p:nvSpPr>
        <p:spPr>
          <a:xfrm>
            <a:off x="4913800" y="3181453"/>
            <a:ext cx="4572000" cy="369332"/>
          </a:xfrm>
          <a:prstGeom prst="rect">
            <a:avLst/>
          </a:prstGeom>
          <a:noFill/>
        </p:spPr>
        <p:txBody>
          <a:bodyPr wrap="square">
            <a:spAutoFit/>
          </a:bodyPr>
          <a:lstStyle/>
          <a:p>
            <a:endParaRPr lang="en-US" dirty="0"/>
          </a:p>
        </p:txBody>
      </p:sp>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CE8DFA0A-3E4A-38D9-59A3-135FD86B28EC}"/>
                  </a:ext>
                </a:extLst>
              </p:cNvPr>
              <p:cNvSpPr txBox="1"/>
              <p:nvPr/>
            </p:nvSpPr>
            <p:spPr>
              <a:xfrm>
                <a:off x="5031775" y="3071073"/>
                <a:ext cx="3916311" cy="401970"/>
              </a:xfrm>
              <a:prstGeom prst="rect">
                <a:avLst/>
              </a:prstGeom>
              <a:noFill/>
            </p:spPr>
            <p:txBody>
              <a:bodyPr wrap="square">
                <a:spAutoFit/>
              </a:bodyPr>
              <a:lstStyle/>
              <a:p>
                <a:pPr>
                  <a:buNone/>
                </a:pPr>
                <a14:m>
                  <m:oMath xmlns:m="http://schemas.openxmlformats.org/officeDocument/2006/math">
                    <m:bar>
                      <m:barPr>
                        <m:pos m:val="top"/>
                        <m:ctrlPr>
                          <a:rPr lang="pt-BR" b="1" i="1">
                            <a:latin typeface="Cambria Math" panose="02040503050406030204" pitchFamily="18" charset="0"/>
                          </a:rPr>
                        </m:ctrlPr>
                      </m:barPr>
                      <m:e>
                        <m:r>
                          <a:rPr lang="pt-BR" b="1" i="1">
                            <a:latin typeface="Cambria Math" panose="02040503050406030204" pitchFamily="18" charset="0"/>
                          </a:rPr>
                          <m:t>𝑷𝑹𝑬</m:t>
                        </m:r>
                      </m:e>
                    </m:bar>
                    <m:r>
                      <a:rPr lang="pt-BR" b="1" i="1" smtClean="0">
                        <a:latin typeface="Cambria Math" panose="02040503050406030204" pitchFamily="18" charset="0"/>
                      </a:rPr>
                      <m:t> </m:t>
                    </m:r>
                    <m:r>
                      <a:rPr lang="pt-BR" b="1" i="1" smtClean="0">
                        <a:latin typeface="Cambria Math" panose="02040503050406030204" pitchFamily="18" charset="0"/>
                      </a:rPr>
                      <m:t>𝒆</m:t>
                    </m:r>
                    <m:bar>
                      <m:barPr>
                        <m:pos m:val="top"/>
                        <m:ctrlPr>
                          <a:rPr lang="pt-BR" b="1" i="1" smtClean="0">
                            <a:latin typeface="Cambria Math" panose="02040503050406030204" pitchFamily="18" charset="0"/>
                          </a:rPr>
                        </m:ctrlPr>
                      </m:barPr>
                      <m:e>
                        <m:r>
                          <a:rPr lang="pt-BR" b="1" i="1" smtClean="0">
                            <a:latin typeface="Cambria Math" panose="02040503050406030204" pitchFamily="18" charset="0"/>
                          </a:rPr>
                          <m:t> </m:t>
                        </m:r>
                        <m:r>
                          <a:rPr lang="pt-BR" b="1" i="1" smtClean="0">
                            <a:latin typeface="Cambria Math" panose="02040503050406030204" pitchFamily="18" charset="0"/>
                          </a:rPr>
                          <m:t>𝑪𝑳𝑹</m:t>
                        </m:r>
                      </m:e>
                    </m:bar>
                  </m:oMath>
                </a14:m>
                <a:r>
                  <a:rPr lang="en-BR" b="1" dirty="0"/>
                  <a:t> são ativos em nível baixo</a:t>
                </a:r>
              </a:p>
            </p:txBody>
          </p:sp>
        </mc:Choice>
        <mc:Fallback>
          <p:sp>
            <p:nvSpPr>
              <p:cNvPr id="28" name="TextBox 27">
                <a:extLst>
                  <a:ext uri="{FF2B5EF4-FFF2-40B4-BE49-F238E27FC236}">
                    <a16:creationId xmlns:a16="http://schemas.microsoft.com/office/drawing/2014/main" id="{CE8DFA0A-3E4A-38D9-59A3-135FD86B28EC}"/>
                  </a:ext>
                </a:extLst>
              </p:cNvPr>
              <p:cNvSpPr txBox="1">
                <a:spLocks noRot="1" noChangeAspect="1" noMove="1" noResize="1" noEditPoints="1" noAdjustHandles="1" noChangeArrowheads="1" noChangeShapeType="1" noTextEdit="1"/>
              </p:cNvSpPr>
              <p:nvPr/>
            </p:nvSpPr>
            <p:spPr>
              <a:xfrm>
                <a:off x="5031775" y="3071073"/>
                <a:ext cx="3916311" cy="401970"/>
              </a:xfrm>
              <a:prstGeom prst="rect">
                <a:avLst/>
              </a:prstGeom>
              <a:blipFill>
                <a:blip r:embed="rId7"/>
                <a:stretch>
                  <a:fillRect b="-24242"/>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72741492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additive="base">
                                        <p:cTn id="20" dur="500" fill="hold"/>
                                        <p:tgtEl>
                                          <p:spTgt spid="14"/>
                                        </p:tgtEl>
                                        <p:attrNameLst>
                                          <p:attrName>ppt_x</p:attrName>
                                        </p:attrNameLst>
                                      </p:cBhvr>
                                      <p:tavLst>
                                        <p:tav tm="0">
                                          <p:val>
                                            <p:strVal val="1+#ppt_w/2"/>
                                          </p:val>
                                        </p:tav>
                                        <p:tav tm="100000">
                                          <p:val>
                                            <p:strVal val="#ppt_x"/>
                                          </p:val>
                                        </p:tav>
                                      </p:tavLst>
                                    </p:anim>
                                    <p:anim calcmode="lin" valueType="num">
                                      <p:cBhvr additive="base">
                                        <p:cTn id="21"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1+#ppt_w/2"/>
                                          </p:val>
                                        </p:tav>
                                        <p:tav tm="100000">
                                          <p:val>
                                            <p:strVal val="#ppt_x"/>
                                          </p:val>
                                        </p:tav>
                                      </p:tavLst>
                                    </p:anim>
                                    <p:anim calcmode="lin" valueType="num">
                                      <p:cBhvr additive="base">
                                        <p:cTn id="27"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checkerboard(across)">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Flip Flop</a:t>
            </a:r>
          </a:p>
        </p:txBody>
      </p:sp>
      <p:sp>
        <p:nvSpPr>
          <p:cNvPr id="3" name="Content Placeholder 2"/>
          <p:cNvSpPr>
            <a:spLocks noGrp="1"/>
          </p:cNvSpPr>
          <p:nvPr>
            <p:ph idx="1"/>
          </p:nvPr>
        </p:nvSpPr>
        <p:spPr>
          <a:xfrm>
            <a:off x="657225" y="1485900"/>
            <a:ext cx="8126305" cy="5023164"/>
          </a:xfrm>
        </p:spPr>
        <p:txBody>
          <a:bodyPr>
            <a:normAutofit/>
          </a:bodyPr>
          <a:lstStyle/>
          <a:p>
            <a:r>
              <a:rPr lang="pt-BR" sz="2000" dirty="0"/>
              <a:t>Outros tipos de </a:t>
            </a:r>
            <a:r>
              <a:rPr lang="pt-BR" sz="2000" dirty="0" err="1"/>
              <a:t>flip</a:t>
            </a:r>
            <a:r>
              <a:rPr lang="pt-BR" sz="2000" dirty="0"/>
              <a:t> </a:t>
            </a:r>
            <a:r>
              <a:rPr lang="pt-BR" sz="2000" dirty="0" err="1"/>
              <a:t>flops</a:t>
            </a:r>
            <a:r>
              <a:rPr lang="pt-BR" sz="2000" dirty="0"/>
              <a:t> comuns são:</a:t>
            </a:r>
          </a:p>
          <a:p>
            <a:r>
              <a:rPr lang="pt-BR" sz="2000" b="1" dirty="0"/>
              <a:t>Flip-flop </a:t>
            </a:r>
            <a:r>
              <a:rPr lang="pt-BR" sz="2000" b="1" dirty="0" err="1"/>
              <a:t>T</a:t>
            </a:r>
            <a:r>
              <a:rPr lang="pt-BR" sz="2000" b="1" dirty="0"/>
              <a:t> (</a:t>
            </a:r>
            <a:r>
              <a:rPr lang="pt-BR" sz="2000" b="1" dirty="0" err="1"/>
              <a:t>toggle</a:t>
            </a:r>
            <a:r>
              <a:rPr lang="pt-BR" sz="2000" b="1" dirty="0"/>
              <a:t>)</a:t>
            </a:r>
          </a:p>
          <a:p>
            <a:endParaRPr lang="pt-BR" sz="2000" dirty="0"/>
          </a:p>
          <a:p>
            <a:endParaRPr lang="pt-BR" sz="2000" dirty="0"/>
          </a:p>
          <a:p>
            <a:endParaRPr lang="pt-BR" sz="2000" dirty="0"/>
          </a:p>
          <a:p>
            <a:endParaRPr lang="pt-BR" sz="2000" dirty="0"/>
          </a:p>
          <a:p>
            <a:endParaRPr lang="pt-BR" sz="2000" dirty="0"/>
          </a:p>
          <a:p>
            <a:r>
              <a:rPr lang="pt-BR" sz="2000" b="1" dirty="0"/>
              <a:t>Flip-flop JK</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14</a:t>
            </a:fld>
            <a:endParaRPr lang="pt-BR" dirty="0"/>
          </a:p>
        </p:txBody>
      </p:sp>
      <p:pic>
        <p:nvPicPr>
          <p:cNvPr id="307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50981" t="16101" r="34130" b="55085"/>
          <a:stretch/>
        </p:blipFill>
        <p:spPr bwMode="auto">
          <a:xfrm>
            <a:off x="3319785" y="4530410"/>
            <a:ext cx="1937289" cy="210777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56432" t="25583" r="29512" b="44544"/>
          <a:stretch/>
        </p:blipFill>
        <p:spPr bwMode="auto">
          <a:xfrm>
            <a:off x="3428273" y="2086914"/>
            <a:ext cx="1828801" cy="218526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309940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Lendo e armazenando valores</a:t>
            </a:r>
          </a:p>
        </p:txBody>
      </p:sp>
      <p:sp>
        <p:nvSpPr>
          <p:cNvPr id="3" name="Espaço Reservado para Conteúdo 2"/>
          <p:cNvSpPr>
            <a:spLocks noGrp="1"/>
          </p:cNvSpPr>
          <p:nvPr>
            <p:ph idx="1"/>
          </p:nvPr>
        </p:nvSpPr>
        <p:spPr>
          <a:xfrm>
            <a:off x="657225" y="1485900"/>
            <a:ext cx="8029575" cy="648187"/>
          </a:xfrm>
        </p:spPr>
        <p:txBody>
          <a:bodyPr>
            <a:normAutofit/>
          </a:bodyPr>
          <a:lstStyle/>
          <a:p>
            <a:r>
              <a:rPr lang="pt-BR" sz="2000" dirty="0"/>
              <a:t>Uma célula de memória.</a:t>
            </a:r>
          </a:p>
        </p:txBody>
      </p:sp>
      <p:sp>
        <p:nvSpPr>
          <p:cNvPr id="4" name="Espaço Reservado para Texto 3"/>
          <p:cNvSpPr>
            <a:spLocks noGrp="1"/>
          </p:cNvSpPr>
          <p:nvPr>
            <p:ph type="body" sz="quarter" idx="13"/>
          </p:nvPr>
        </p:nvSpPr>
        <p:spPr/>
        <p:txBody>
          <a:bodyPr/>
          <a:lstStyle/>
          <a:p>
            <a:endParaRPr lang="pt-BR"/>
          </a:p>
        </p:txBody>
      </p:sp>
      <p:sp>
        <p:nvSpPr>
          <p:cNvPr id="5" name="Espaço Reservado para Número de Slide 4"/>
          <p:cNvSpPr>
            <a:spLocks noGrp="1"/>
          </p:cNvSpPr>
          <p:nvPr>
            <p:ph type="sldNum" sz="quarter" idx="4"/>
          </p:nvPr>
        </p:nvSpPr>
        <p:spPr/>
        <p:txBody>
          <a:bodyPr/>
          <a:lstStyle/>
          <a:p>
            <a:fld id="{7FFE5E5C-C80A-4D8D-A711-3102A7BA9258}" type="slidenum">
              <a:rPr lang="pt-BR" smtClean="0"/>
              <a:pPr/>
              <a:t>15</a:t>
            </a:fld>
            <a:endParaRPr lang="pt-BR" dirty="0"/>
          </a:p>
        </p:txBody>
      </p:sp>
      <p:cxnSp>
        <p:nvCxnSpPr>
          <p:cNvPr id="6" name="Straight Connector 30"/>
          <p:cNvCxnSpPr/>
          <p:nvPr/>
        </p:nvCxnSpPr>
        <p:spPr>
          <a:xfrm>
            <a:off x="3974136" y="4233094"/>
            <a:ext cx="1300719" cy="0"/>
          </a:xfrm>
          <a:prstGeom prst="line">
            <a:avLst/>
          </a:prstGeom>
          <a:ln w="28575">
            <a:headEnd type="none"/>
            <a:tailEnd type="none"/>
          </a:ln>
        </p:spPr>
        <p:style>
          <a:lnRef idx="1">
            <a:schemeClr val="dk1"/>
          </a:lnRef>
          <a:fillRef idx="0">
            <a:schemeClr val="dk1"/>
          </a:fillRef>
          <a:effectRef idx="0">
            <a:schemeClr val="dk1"/>
          </a:effectRef>
          <a:fontRef idx="minor">
            <a:schemeClr val="tx1"/>
          </a:fontRef>
        </p:style>
      </p:cxnSp>
      <p:cxnSp>
        <p:nvCxnSpPr>
          <p:cNvPr id="7" name="Straight Connector 31"/>
          <p:cNvCxnSpPr/>
          <p:nvPr/>
        </p:nvCxnSpPr>
        <p:spPr>
          <a:xfrm>
            <a:off x="4693979" y="4823742"/>
            <a:ext cx="580876"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9" name="Grupo 8"/>
          <p:cNvGrpSpPr/>
          <p:nvPr/>
        </p:nvGrpSpPr>
        <p:grpSpPr>
          <a:xfrm>
            <a:off x="5669106" y="4233094"/>
            <a:ext cx="1161752" cy="590648"/>
            <a:chOff x="1619399" y="4160904"/>
            <a:chExt cx="3080654" cy="590648"/>
          </a:xfrm>
        </p:grpSpPr>
        <p:cxnSp>
          <p:nvCxnSpPr>
            <p:cNvPr id="10" name="Straight Connector 30"/>
            <p:cNvCxnSpPr/>
            <p:nvPr/>
          </p:nvCxnSpPr>
          <p:spPr>
            <a:xfrm>
              <a:off x="1619399" y="4160904"/>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1" name="Straight Connector 31"/>
            <p:cNvCxnSpPr/>
            <p:nvPr/>
          </p:nvCxnSpPr>
          <p:spPr>
            <a:xfrm flipV="1">
              <a:off x="1619399" y="4739650"/>
              <a:ext cx="3080654" cy="11902"/>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12" name="Rectangle 32"/>
          <p:cNvSpPr/>
          <p:nvPr/>
        </p:nvSpPr>
        <p:spPr>
          <a:xfrm>
            <a:off x="4995590" y="3809645"/>
            <a:ext cx="941460" cy="1437546"/>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endParaRPr lang="pt-BR" b="1" noProof="1">
              <a:solidFill>
                <a:schemeClr val="tx1"/>
              </a:solidFill>
            </a:endParaRPr>
          </a:p>
          <a:p>
            <a:pPr algn="ctr">
              <a:lnSpc>
                <a:spcPct val="70000"/>
              </a:lnSpc>
            </a:pPr>
            <a:endParaRPr lang="pt-BR" sz="1000" b="1" noProof="1">
              <a:solidFill>
                <a:schemeClr val="tx1"/>
              </a:solidFill>
            </a:endParaRPr>
          </a:p>
          <a:p>
            <a:pPr algn="ctr">
              <a:lnSpc>
                <a:spcPct val="70000"/>
              </a:lnSpc>
            </a:pPr>
            <a:r>
              <a:rPr lang="pt-BR" b="1" noProof="1">
                <a:solidFill>
                  <a:schemeClr val="tx1"/>
                </a:solidFill>
              </a:rPr>
              <a:t>D       Q</a:t>
            </a:r>
          </a:p>
          <a:p>
            <a:pPr algn="ctr">
              <a:lnSpc>
                <a:spcPct val="70000"/>
              </a:lnSpc>
            </a:pPr>
            <a:endParaRPr lang="pt-BR" b="1" noProof="1">
              <a:solidFill>
                <a:schemeClr val="tx1"/>
              </a:solidFill>
            </a:endParaRPr>
          </a:p>
          <a:p>
            <a:pPr algn="ctr">
              <a:lnSpc>
                <a:spcPct val="70000"/>
              </a:lnSpc>
            </a:pPr>
            <a:endParaRPr lang="pt-BR" b="1" noProof="1">
              <a:solidFill>
                <a:schemeClr val="tx1"/>
              </a:solidFill>
            </a:endParaRPr>
          </a:p>
          <a:p>
            <a:pPr algn="ctr">
              <a:lnSpc>
                <a:spcPct val="70000"/>
              </a:lnSpc>
            </a:pPr>
            <a:r>
              <a:rPr lang="pt-BR" b="1" noProof="1">
                <a:solidFill>
                  <a:schemeClr val="tx1"/>
                </a:solidFill>
              </a:rPr>
              <a:t> Ck      Q’</a:t>
            </a:r>
          </a:p>
          <a:p>
            <a:pPr algn="ctr">
              <a:lnSpc>
                <a:spcPct val="70000"/>
              </a:lnSpc>
            </a:pPr>
            <a:endParaRPr lang="pt-BR" sz="1050" b="1" noProof="1">
              <a:solidFill>
                <a:schemeClr val="tx1"/>
              </a:solidFill>
            </a:endParaRPr>
          </a:p>
          <a:p>
            <a:pPr algn="ctr">
              <a:lnSpc>
                <a:spcPct val="70000"/>
              </a:lnSpc>
            </a:pPr>
            <a:endParaRPr lang="pt-BR" b="1" noProof="1">
              <a:solidFill>
                <a:schemeClr val="tx1"/>
              </a:solidFill>
            </a:endParaRPr>
          </a:p>
        </p:txBody>
      </p:sp>
      <p:sp>
        <p:nvSpPr>
          <p:cNvPr id="13" name="Isosceles Triangle 40"/>
          <p:cNvSpPr/>
          <p:nvPr/>
        </p:nvSpPr>
        <p:spPr>
          <a:xfrm rot="5400000">
            <a:off x="4973445" y="4764503"/>
            <a:ext cx="138770" cy="94675"/>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pic>
        <p:nvPicPr>
          <p:cNvPr id="20" name="Picture 2" descr="555 timer clock circuit"/>
          <p:cNvPicPr>
            <a:picLocks noChangeAspect="1" noChangeArrowheads="1"/>
          </p:cNvPicPr>
          <p:nvPr/>
        </p:nvPicPr>
        <p:blipFill rotWithShape="1">
          <a:blip r:embed="rId4">
            <a:extLst>
              <a:ext uri="{28A0092B-C50C-407E-A947-70E740481C1C}">
                <a14:useLocalDpi xmlns:a14="http://schemas.microsoft.com/office/drawing/2010/main" val="0"/>
              </a:ext>
            </a:extLst>
          </a:blip>
          <a:srcRect l="3096" t="38948" r="79167" b="53609"/>
          <a:stretch/>
        </p:blipFill>
        <p:spPr bwMode="auto">
          <a:xfrm>
            <a:off x="3974136" y="4729139"/>
            <a:ext cx="719843" cy="249412"/>
          </a:xfrm>
          <a:prstGeom prst="rect">
            <a:avLst/>
          </a:prstGeom>
          <a:noFill/>
          <a:extLst>
            <a:ext uri="{909E8E84-426E-40dd-AFC4-6F175D3DCCD1}">
              <a14:hiddenFill xmlns="" xmlns:a14="http://schemas.microsoft.com/office/drawing/2010/main">
                <a:solidFill>
                  <a:srgbClr val="FFFFFF"/>
                </a:solidFill>
              </a14:hiddenFill>
            </a:ext>
          </a:extLst>
        </p:spPr>
      </p:pic>
      <p:cxnSp>
        <p:nvCxnSpPr>
          <p:cNvPr id="27" name="Straight Connector 30"/>
          <p:cNvCxnSpPr/>
          <p:nvPr/>
        </p:nvCxnSpPr>
        <p:spPr>
          <a:xfrm>
            <a:off x="6249982" y="4233094"/>
            <a:ext cx="580876"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8" name="Grupo 7"/>
          <p:cNvGrpSpPr/>
          <p:nvPr/>
        </p:nvGrpSpPr>
        <p:grpSpPr>
          <a:xfrm>
            <a:off x="2648927" y="3102939"/>
            <a:ext cx="3601055" cy="1118686"/>
            <a:chOff x="2648927" y="3102939"/>
            <a:chExt cx="3601055" cy="1118686"/>
          </a:xfrm>
        </p:grpSpPr>
        <p:cxnSp>
          <p:nvCxnSpPr>
            <p:cNvPr id="28" name="Straight Connector 30"/>
            <p:cNvCxnSpPr/>
            <p:nvPr/>
          </p:nvCxnSpPr>
          <p:spPr>
            <a:xfrm>
              <a:off x="6249982" y="3102940"/>
              <a:ext cx="0" cy="1118685"/>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2648927" y="3102940"/>
              <a:ext cx="3601055"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0"/>
            <p:cNvCxnSpPr/>
            <p:nvPr/>
          </p:nvCxnSpPr>
          <p:spPr>
            <a:xfrm>
              <a:off x="2648927" y="4051700"/>
              <a:ext cx="580876"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0"/>
            <p:cNvCxnSpPr/>
            <p:nvPr/>
          </p:nvCxnSpPr>
          <p:spPr>
            <a:xfrm>
              <a:off x="2648927" y="3102939"/>
              <a:ext cx="0" cy="948761"/>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cxnSp>
        <p:nvCxnSpPr>
          <p:cNvPr id="36" name="Straight Connector 30"/>
          <p:cNvCxnSpPr/>
          <p:nvPr/>
        </p:nvCxnSpPr>
        <p:spPr>
          <a:xfrm>
            <a:off x="2183978" y="4452809"/>
            <a:ext cx="1070209"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14" name="Grupo 13"/>
          <p:cNvGrpSpPr/>
          <p:nvPr/>
        </p:nvGrpSpPr>
        <p:grpSpPr>
          <a:xfrm>
            <a:off x="3005925" y="3736495"/>
            <a:ext cx="991455" cy="1625959"/>
            <a:chOff x="3005925" y="3736495"/>
            <a:chExt cx="991455" cy="1625959"/>
          </a:xfrm>
        </p:grpSpPr>
        <p:cxnSp>
          <p:nvCxnSpPr>
            <p:cNvPr id="38" name="Straight Connector 30"/>
            <p:cNvCxnSpPr/>
            <p:nvPr/>
          </p:nvCxnSpPr>
          <p:spPr>
            <a:xfrm>
              <a:off x="3415502" y="4413693"/>
              <a:ext cx="0" cy="948761"/>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riângulo isósceles 23"/>
            <p:cNvSpPr/>
            <p:nvPr/>
          </p:nvSpPr>
          <p:spPr>
            <a:xfrm rot="5400000">
              <a:off x="3071305" y="3810163"/>
              <a:ext cx="999744" cy="852407"/>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6" name="Retângulo 25"/>
            <p:cNvSpPr/>
            <p:nvPr/>
          </p:nvSpPr>
          <p:spPr>
            <a:xfrm>
              <a:off x="3113977" y="4053217"/>
              <a:ext cx="603050" cy="369332"/>
            </a:xfrm>
            <a:prstGeom prst="rect">
              <a:avLst/>
            </a:prstGeom>
          </p:spPr>
          <p:txBody>
            <a:bodyPr wrap="none">
              <a:spAutoFit/>
            </a:bodyPr>
            <a:lstStyle/>
            <a:p>
              <a:r>
                <a:rPr lang="en-US" dirty="0"/>
                <a:t>Mux</a:t>
              </a:r>
              <a:endParaRPr lang="pt-BR" dirty="0"/>
            </a:p>
          </p:txBody>
        </p:sp>
        <p:sp>
          <p:nvSpPr>
            <p:cNvPr id="39" name="Retângulo 38"/>
            <p:cNvSpPr/>
            <p:nvPr/>
          </p:nvSpPr>
          <p:spPr>
            <a:xfrm>
              <a:off x="3005925" y="4860825"/>
              <a:ext cx="442750" cy="369332"/>
            </a:xfrm>
            <a:prstGeom prst="rect">
              <a:avLst/>
            </a:prstGeom>
          </p:spPr>
          <p:txBody>
            <a:bodyPr wrap="none">
              <a:spAutoFit/>
            </a:bodyPr>
            <a:lstStyle/>
            <a:p>
              <a:r>
                <a:rPr lang="en-US" dirty="0" err="1"/>
                <a:t>sel</a:t>
              </a:r>
              <a:endParaRPr lang="pt-BR" dirty="0"/>
            </a:p>
          </p:txBody>
        </p:sp>
      </p:grpSp>
      <p:grpSp>
        <p:nvGrpSpPr>
          <p:cNvPr id="25" name="Group 24"/>
          <p:cNvGrpSpPr/>
          <p:nvPr/>
        </p:nvGrpSpPr>
        <p:grpSpPr>
          <a:xfrm>
            <a:off x="274654" y="2841312"/>
            <a:ext cx="8253887" cy="3799733"/>
            <a:chOff x="274654" y="2841312"/>
            <a:chExt cx="8253887" cy="3799733"/>
          </a:xfrm>
        </p:grpSpPr>
        <p:cxnSp>
          <p:nvCxnSpPr>
            <p:cNvPr id="29" name="Straight Connector 30"/>
            <p:cNvCxnSpPr/>
            <p:nvPr/>
          </p:nvCxnSpPr>
          <p:spPr>
            <a:xfrm>
              <a:off x="1138642" y="4450663"/>
              <a:ext cx="1070209"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30"/>
            <p:cNvCxnSpPr/>
            <p:nvPr/>
          </p:nvCxnSpPr>
          <p:spPr>
            <a:xfrm>
              <a:off x="6792468" y="4231722"/>
              <a:ext cx="1070209"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0"/>
            <p:cNvCxnSpPr/>
            <p:nvPr/>
          </p:nvCxnSpPr>
          <p:spPr>
            <a:xfrm flipH="1" flipV="1">
              <a:off x="3404898" y="5267459"/>
              <a:ext cx="3226" cy="101568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5" name="Retângulo 38"/>
            <p:cNvSpPr/>
            <p:nvPr/>
          </p:nvSpPr>
          <p:spPr>
            <a:xfrm>
              <a:off x="274654" y="4225004"/>
              <a:ext cx="915379" cy="646331"/>
            </a:xfrm>
            <a:prstGeom prst="rect">
              <a:avLst/>
            </a:prstGeom>
          </p:spPr>
          <p:txBody>
            <a:bodyPr wrap="none">
              <a:spAutoFit/>
            </a:bodyPr>
            <a:lstStyle/>
            <a:p>
              <a:pPr algn="ctr"/>
              <a:r>
                <a:rPr lang="en-US" dirty="0"/>
                <a:t>entrada</a:t>
              </a:r>
            </a:p>
            <a:p>
              <a:pPr algn="ctr"/>
              <a:r>
                <a:rPr lang="en-US" dirty="0"/>
                <a:t>(in)</a:t>
              </a:r>
              <a:endParaRPr lang="pt-BR" dirty="0"/>
            </a:p>
          </p:txBody>
        </p:sp>
        <p:sp>
          <p:nvSpPr>
            <p:cNvPr id="37" name="Retângulo 38"/>
            <p:cNvSpPr/>
            <p:nvPr/>
          </p:nvSpPr>
          <p:spPr>
            <a:xfrm>
              <a:off x="7858165" y="4009090"/>
              <a:ext cx="670376" cy="646331"/>
            </a:xfrm>
            <a:prstGeom prst="rect">
              <a:avLst/>
            </a:prstGeom>
          </p:spPr>
          <p:txBody>
            <a:bodyPr wrap="none">
              <a:spAutoFit/>
            </a:bodyPr>
            <a:lstStyle/>
            <a:p>
              <a:r>
                <a:rPr lang="pt-BR" dirty="0"/>
                <a:t>saída</a:t>
              </a:r>
            </a:p>
            <a:p>
              <a:r>
                <a:rPr lang="en-US" dirty="0"/>
                <a:t>(out)</a:t>
              </a:r>
              <a:endParaRPr lang="pt-BR" dirty="0"/>
            </a:p>
          </p:txBody>
        </p:sp>
        <p:sp>
          <p:nvSpPr>
            <p:cNvPr id="40" name="Retângulo 38"/>
            <p:cNvSpPr/>
            <p:nvPr/>
          </p:nvSpPr>
          <p:spPr>
            <a:xfrm>
              <a:off x="3391304" y="5994714"/>
              <a:ext cx="959494" cy="646331"/>
            </a:xfrm>
            <a:prstGeom prst="rect">
              <a:avLst/>
            </a:prstGeom>
          </p:spPr>
          <p:txBody>
            <a:bodyPr wrap="none">
              <a:spAutoFit/>
            </a:bodyPr>
            <a:lstStyle/>
            <a:p>
              <a:pPr algn="ctr"/>
              <a:r>
                <a:rPr lang="en-US" dirty="0" err="1"/>
                <a:t>carregar</a:t>
              </a:r>
              <a:endParaRPr lang="en-US" dirty="0"/>
            </a:p>
            <a:p>
              <a:pPr algn="ctr"/>
              <a:r>
                <a:rPr lang="en-US" dirty="0"/>
                <a:t>(load)</a:t>
              </a:r>
              <a:endParaRPr lang="pt-BR" dirty="0"/>
            </a:p>
          </p:txBody>
        </p:sp>
        <p:sp>
          <p:nvSpPr>
            <p:cNvPr id="16" name="Rectangle 15"/>
            <p:cNvSpPr/>
            <p:nvPr/>
          </p:nvSpPr>
          <p:spPr>
            <a:xfrm>
              <a:off x="1665883" y="2841312"/>
              <a:ext cx="5306096" cy="3052293"/>
            </a:xfrm>
            <a:prstGeom prst="rect">
              <a:avLst/>
            </a:prstGeom>
            <a:solidFill>
              <a:schemeClr val="bg1">
                <a:lumMod val="50000"/>
                <a:alpha val="50196"/>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2" name="Straight Connector 30"/>
            <p:cNvCxnSpPr/>
            <p:nvPr/>
          </p:nvCxnSpPr>
          <p:spPr>
            <a:xfrm flipV="1">
              <a:off x="4704410" y="4812758"/>
              <a:ext cx="143" cy="147038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1" name="Isosceles Triangle 40"/>
            <p:cNvSpPr/>
            <p:nvPr/>
          </p:nvSpPr>
          <p:spPr>
            <a:xfrm>
              <a:off x="4599469" y="5562325"/>
              <a:ext cx="209882" cy="336526"/>
            </a:xfrm>
            <a:prstGeom prst="triangle">
              <a:avLst/>
            </a:prstGeom>
            <a:solidFill>
              <a:schemeClr val="bg1"/>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43" name="Retângulo 38"/>
            <p:cNvSpPr/>
            <p:nvPr/>
          </p:nvSpPr>
          <p:spPr>
            <a:xfrm>
              <a:off x="4712844" y="5991009"/>
              <a:ext cx="684803" cy="646331"/>
            </a:xfrm>
            <a:prstGeom prst="rect">
              <a:avLst/>
            </a:prstGeom>
          </p:spPr>
          <p:txBody>
            <a:bodyPr wrap="none">
              <a:spAutoFit/>
            </a:bodyPr>
            <a:lstStyle/>
            <a:p>
              <a:pPr algn="ctr"/>
              <a:r>
                <a:rPr lang="en-US" dirty="0"/>
                <a:t>Clock</a:t>
              </a:r>
            </a:p>
            <a:p>
              <a:pPr algn="ctr"/>
              <a:r>
                <a:rPr lang="en-US" dirty="0"/>
                <a:t>(</a:t>
              </a:r>
              <a:r>
                <a:rPr lang="en-US" dirty="0" err="1"/>
                <a:t>clk</a:t>
              </a:r>
              <a:r>
                <a:rPr lang="en-US" dirty="0"/>
                <a:t>)</a:t>
              </a:r>
              <a:endParaRPr lang="pt-BR" dirty="0"/>
            </a:p>
          </p:txBody>
        </p:sp>
      </p:gr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A820420-F1B3-29F6-FFD8-C46CB996E1FE}"/>
                  </a:ext>
                </a:extLst>
              </p:cNvPr>
              <p:cNvSpPr txBox="1"/>
              <p:nvPr/>
            </p:nvSpPr>
            <p:spPr>
              <a:xfrm>
                <a:off x="5466320" y="1796607"/>
                <a:ext cx="2475871" cy="686535"/>
              </a:xfrm>
              <a:prstGeom prst="rect">
                <a:avLst/>
              </a:prstGeom>
              <a:noFill/>
            </p:spPr>
            <p:txBody>
              <a:bodyPr wrap="none" lIns="0" tIns="0" rIns="0" bIns="0" rtlCol="0">
                <a:spAutoFit/>
              </a:bodyPr>
              <a:lstStyle/>
              <a:p>
                <a14:m>
                  <m:oMathPara xmlns:m="http://schemas.openxmlformats.org/officeDocument/2006/math">
                    <m:oMath>
                      <m:sSub>
                        <m:sSubPr>
                          <m:ctrlPr>
                            <a:rPr lang="pt-BR" sz="2000" b="0" i="1" smtClean="0">
                              <a:latin typeface="Cambria Math" panose="02040503050406030204" pitchFamily="18" charset="0"/>
                            </a:rPr>
                          </m:ctrlPr>
                        </m:sSubPr>
                        <m:e>
                          <m:r>
                            <a:rPr lang="pt-BR" sz="2000" b="0" i="1" smtClean="0">
                              <a:latin typeface="Cambria Math" panose="02040503050406030204" pitchFamily="18" charset="0"/>
                            </a:rPr>
                            <m:t>𝐷</m:t>
                          </m:r>
                        </m:e>
                        <m:sub>
                          <m:r>
                            <a:rPr lang="pt-BR" sz="2000" b="0" i="1" smtClean="0">
                              <a:latin typeface="Cambria Math" panose="02040503050406030204" pitchFamily="18" charset="0"/>
                            </a:rPr>
                            <m:t>𝐹𝐹</m:t>
                          </m:r>
                        </m:sub>
                      </m:sSub>
                      <m:r>
                        <a:rPr lang="pt-BR" sz="2000" b="0" i="1" smtClean="0">
                          <a:latin typeface="Cambria Math" panose="02040503050406030204" pitchFamily="18" charset="0"/>
                        </a:rPr>
                        <m:t>= </m:t>
                      </m:r>
                      <m:d>
                        <m:dPr>
                          <m:begChr m:val="{"/>
                          <m:endChr m:val=""/>
                          <m:ctrlPr>
                            <a:rPr lang="en-US" sz="2000" b="0" i="1" smtClean="0">
                              <a:latin typeface="Cambria Math" panose="02040503050406030204" pitchFamily="18" charset="0"/>
                            </a:rPr>
                          </m:ctrlPr>
                        </m:dPr>
                        <m:e>
                          <m:m>
                            <m:mPr>
                              <m:mcs>
                                <m:mc>
                                  <m:mcPr>
                                    <m:count m:val="2"/>
                                    <m:mcJc m:val="center"/>
                                  </m:mcPr>
                                </m:mc>
                              </m:mcs>
                              <m:ctrlPr>
                                <a:rPr lang="en-US" sz="2000" b="0" i="1" smtClean="0">
                                  <a:latin typeface="Cambria Math" panose="02040503050406030204" pitchFamily="18" charset="0"/>
                                </a:rPr>
                              </m:ctrlPr>
                            </m:mPr>
                            <m:mr>
                              <m:e>
                                <m:r>
                                  <m:rPr>
                                    <m:brk m:alnAt="7"/>
                                  </m:rPr>
                                  <a:rPr lang="pt-BR" sz="2000" b="0" i="1" smtClean="0">
                                    <a:latin typeface="Cambria Math" panose="02040503050406030204" pitchFamily="18" charset="0"/>
                                  </a:rPr>
                                  <m:t>𝑄</m:t>
                                </m:r>
                                <m:r>
                                  <m:rPr>
                                    <m:brk m:alnAt="7"/>
                                  </m:rPr>
                                  <a:rPr lang="pt-BR" sz="2000" b="0" i="1" smtClean="0">
                                    <a:latin typeface="Cambria Math" panose="02040503050406030204" pitchFamily="18" charset="0"/>
                                  </a:rPr>
                                  <m:t>,</m:t>
                                </m:r>
                              </m:e>
                              <m:e>
                                <m:r>
                                  <a:rPr lang="pt-BR" sz="2000" b="0" i="1" smtClean="0">
                                    <a:latin typeface="Cambria Math" panose="02040503050406030204" pitchFamily="18" charset="0"/>
                                  </a:rPr>
                                  <m:t>𝑙𝑜𝑎𝑑</m:t>
                                </m:r>
                                <m:r>
                                  <a:rPr lang="pt-BR" sz="2000" b="0" i="1" smtClean="0">
                                    <a:latin typeface="Cambria Math" panose="02040503050406030204" pitchFamily="18" charset="0"/>
                                  </a:rPr>
                                  <m:t>=0</m:t>
                                </m:r>
                              </m:e>
                            </m:mr>
                            <m:mr>
                              <m:e>
                                <m:r>
                                  <a:rPr lang="pt-BR" sz="2000" b="0" i="1" smtClean="0">
                                    <a:latin typeface="Cambria Math" panose="02040503050406030204" pitchFamily="18" charset="0"/>
                                  </a:rPr>
                                  <m:t>𝑖𝑛</m:t>
                                </m:r>
                              </m:e>
                              <m:e>
                                <m:r>
                                  <a:rPr lang="pt-BR" sz="2000" b="0" i="1" smtClean="0">
                                    <a:latin typeface="Cambria Math" panose="02040503050406030204" pitchFamily="18" charset="0"/>
                                  </a:rPr>
                                  <m:t>𝑙𝑜𝑎𝑑</m:t>
                                </m:r>
                                <m:r>
                                  <a:rPr lang="pt-BR" sz="2000" b="0" i="1" smtClean="0">
                                    <a:latin typeface="Cambria Math" panose="02040503050406030204" pitchFamily="18" charset="0"/>
                                  </a:rPr>
                                  <m:t>=1</m:t>
                                </m:r>
                              </m:e>
                            </m:mr>
                          </m:m>
                        </m:e>
                      </m:d>
                    </m:oMath>
                  </m:oMathPara>
                </a14:m>
                <a:endParaRPr lang="en-US" sz="2000" dirty="0"/>
              </a:p>
            </p:txBody>
          </p:sp>
        </mc:Choice>
        <mc:Fallback>
          <p:sp>
            <p:nvSpPr>
              <p:cNvPr id="18" name="TextBox 17">
                <a:extLst>
                  <a:ext uri="{FF2B5EF4-FFF2-40B4-BE49-F238E27FC236}">
                    <a16:creationId xmlns:a16="http://schemas.microsoft.com/office/drawing/2014/main" id="{BA820420-F1B3-29F6-FFD8-C46CB996E1FE}"/>
                  </a:ext>
                </a:extLst>
              </p:cNvPr>
              <p:cNvSpPr txBox="1">
                <a:spLocks noRot="1" noChangeAspect="1" noMove="1" noResize="1" noEditPoints="1" noAdjustHandles="1" noChangeArrowheads="1" noChangeShapeType="1" noTextEdit="1"/>
              </p:cNvSpPr>
              <p:nvPr/>
            </p:nvSpPr>
            <p:spPr>
              <a:xfrm>
                <a:off x="5466320" y="1796607"/>
                <a:ext cx="2475871" cy="686535"/>
              </a:xfrm>
              <a:prstGeom prst="rect">
                <a:avLst/>
              </a:prstGeom>
              <a:blipFill>
                <a:blip r:embed="rId5"/>
                <a:stretch>
                  <a:fillRect l="-18367" t="-225455" r="-2041" b="-325455"/>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28334440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21" presetClass="entr" presetSubtype="3"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heel(3)">
                                      <p:cBhvr>
                                        <p:cTn id="11" dur="2000"/>
                                        <p:tgtEl>
                                          <p:spTgt spid="8"/>
                                        </p:tgtEl>
                                      </p:cBhvr>
                                    </p:animEffect>
                                  </p:childTnLst>
                                </p:cTn>
                              </p:par>
                            </p:childTnLst>
                          </p:cTn>
                        </p:par>
                        <p:par>
                          <p:cTn id="12" fill="hold">
                            <p:stCondLst>
                              <p:cond delay="2500"/>
                            </p:stCondLst>
                            <p:childTnLst>
                              <p:par>
                                <p:cTn id="13" presetID="1"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dissolve">
                                      <p:cBhvr>
                                        <p:cTn id="1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Memórias RAM Atuais</a:t>
            </a:r>
          </a:p>
        </p:txBody>
      </p:sp>
      <p:sp>
        <p:nvSpPr>
          <p:cNvPr id="3" name="Content Placeholder 2"/>
          <p:cNvSpPr>
            <a:spLocks noGrp="1"/>
          </p:cNvSpPr>
          <p:nvPr>
            <p:ph idx="1"/>
          </p:nvPr>
        </p:nvSpPr>
        <p:spPr>
          <a:xfrm>
            <a:off x="239842" y="1400175"/>
            <a:ext cx="7069851" cy="5270447"/>
          </a:xfrm>
        </p:spPr>
        <p:txBody>
          <a:bodyPr>
            <a:noAutofit/>
          </a:bodyPr>
          <a:lstStyle/>
          <a:p>
            <a:r>
              <a:rPr lang="pt-BR" sz="2100" b="1" dirty="0"/>
              <a:t>SRAM (</a:t>
            </a:r>
            <a:r>
              <a:rPr lang="pt-BR" sz="2100" b="1" dirty="0" err="1"/>
              <a:t>Static</a:t>
            </a:r>
            <a:r>
              <a:rPr lang="pt-BR" sz="2100" b="1" dirty="0"/>
              <a:t> Random-Access </a:t>
            </a:r>
            <a:r>
              <a:rPr lang="pt-BR" sz="2100" b="1" dirty="0" err="1"/>
              <a:t>Memory</a:t>
            </a:r>
            <a:r>
              <a:rPr lang="pt-BR" sz="2100" b="1" dirty="0"/>
              <a:t>)</a:t>
            </a:r>
          </a:p>
          <a:p>
            <a:pPr>
              <a:spcBef>
                <a:spcPts val="0"/>
              </a:spcBef>
            </a:pPr>
            <a:r>
              <a:rPr lang="pt-BR" sz="2100" dirty="0"/>
              <a:t>Armazena cada bit em uma célula biestável, normalmente implementada com seis transistores. É rápida e não precisa de </a:t>
            </a:r>
            <a:r>
              <a:rPr lang="pt-BR" sz="2100" i="1" dirty="0" err="1"/>
              <a:t>refresh</a:t>
            </a:r>
            <a:r>
              <a:rPr lang="pt-BR" sz="2100" dirty="0"/>
              <a:t> </a:t>
            </a:r>
            <a:br>
              <a:rPr lang="pt-BR" sz="2100" dirty="0"/>
            </a:br>
            <a:r>
              <a:rPr lang="pt-BR" sz="2100" dirty="0"/>
              <a:t>enquanto estiver alimentada, sendo </a:t>
            </a:r>
            <a:br>
              <a:rPr lang="pt-BR" sz="2100" dirty="0"/>
            </a:br>
            <a:r>
              <a:rPr lang="pt-BR" sz="2100" dirty="0"/>
              <a:t>muito usada em caches e pequenas </a:t>
            </a:r>
          </a:p>
          <a:p>
            <a:pPr>
              <a:spcBef>
                <a:spcPts val="0"/>
              </a:spcBef>
            </a:pPr>
            <a:r>
              <a:rPr lang="pt-BR" sz="2100" dirty="0"/>
              <a:t>memórias internas.</a:t>
            </a:r>
          </a:p>
          <a:p>
            <a:pPr>
              <a:spcBef>
                <a:spcPts val="0"/>
              </a:spcBef>
            </a:pPr>
            <a:endParaRPr lang="pt-BR" sz="1050" dirty="0"/>
          </a:p>
          <a:p>
            <a:endParaRPr lang="pt-BR" sz="1200" b="1" dirty="0"/>
          </a:p>
          <a:p>
            <a:r>
              <a:rPr lang="pt-BR" sz="2100" b="1" dirty="0"/>
              <a:t>DRAM (Dynamic Random-Access </a:t>
            </a:r>
            <a:r>
              <a:rPr lang="pt-BR" sz="2100" b="1" dirty="0" err="1"/>
              <a:t>Memory</a:t>
            </a:r>
            <a:r>
              <a:rPr lang="pt-BR" sz="2100" b="1" dirty="0"/>
              <a:t>)</a:t>
            </a:r>
          </a:p>
          <a:p>
            <a:r>
              <a:rPr lang="en-BR" sz="2100" dirty="0"/>
              <a:t>Armazena cada bit como carga em um capacitor. Como a carga se dissipa, as células precisam ser periodicamente atualizadas (refresh). </a:t>
            </a:r>
            <a:br>
              <a:rPr lang="en-BR" sz="2100" dirty="0"/>
            </a:br>
            <a:r>
              <a:rPr lang="en-BR" sz="2100" dirty="0"/>
              <a:t>Sua maior densidade e menor custo </a:t>
            </a:r>
            <a:br>
              <a:rPr lang="en-BR" sz="2100" dirty="0"/>
            </a:br>
            <a:r>
              <a:rPr lang="en-BR" sz="2100" dirty="0"/>
              <a:t>por bit favorecem seu uso como </a:t>
            </a:r>
            <a:br>
              <a:rPr lang="en-BR" sz="2100" dirty="0"/>
            </a:br>
            <a:r>
              <a:rPr lang="en-BR" sz="2100" dirty="0"/>
              <a:t>memória principal.</a:t>
            </a:r>
            <a:endParaRPr lang="pt-BR" sz="21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16</a:t>
            </a:fld>
            <a:endParaRPr lang="pt-BR" dirty="0"/>
          </a:p>
        </p:txBody>
      </p:sp>
      <p:pic>
        <p:nvPicPr>
          <p:cNvPr id="2050" name="Picture 2" descr="The 75.6-millimeter square SRAM is based on a 512 x 16 Kbit macro."/>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09693" y="1782939"/>
            <a:ext cx="1767824" cy="1739539"/>
          </a:xfrm>
          <a:prstGeom prst="rect">
            <a:avLst/>
          </a:prstGeom>
          <a:noFill/>
          <a:extLst>
            <a:ext uri="{909E8E84-426E-40dd-AFC4-6F175D3DCCD1}">
              <a14:hiddenFill xmlns:a14="http://schemas.microsoft.com/office/drawing/2010/main" xmlns="">
                <a:solidFill>
                  <a:srgbClr val="FFFFFF"/>
                </a:solidFill>
              </a14:hiddenFill>
            </a:ext>
          </a:extLst>
        </p:spPr>
      </p:pic>
      <p:pic>
        <p:nvPicPr>
          <p:cNvPr id="2052" name="Picture 4" descr="https://upload.wikimedia.org/wikipedia/commons/thumb/3/31/SRAM_Cell_%286_Transistors%29.svg/400px-SRAM_Cell_%286_Transistors%29.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8989" y="2510971"/>
            <a:ext cx="1910704" cy="1433028"/>
          </a:xfrm>
          <a:prstGeom prst="rect">
            <a:avLst/>
          </a:prstGeom>
          <a:noFill/>
          <a:extLst>
            <a:ext uri="{909E8E84-426E-40dd-AFC4-6F175D3DCCD1}">
              <a14:hiddenFill xmlns:a14="http://schemas.microsoft.com/office/drawing/2010/main" xmlns="">
                <a:solidFill>
                  <a:srgbClr val="FFFFFF"/>
                </a:solidFill>
              </a14:hiddenFill>
            </a:ext>
          </a:extLst>
        </p:spPr>
      </p:pic>
      <p:pic>
        <p:nvPicPr>
          <p:cNvPr id="2054" name="Picture 6" descr="Intel i1103.JPG"/>
          <p:cNvPicPr>
            <a:picLocks noChangeAspect="1" noChangeArrowheads="1"/>
          </p:cNvPicPr>
          <p:nvPr/>
        </p:nvPicPr>
        <p:blipFill rotWithShape="1">
          <a:blip r:embed="rId5">
            <a:extLst>
              <a:ext uri="{28A0092B-C50C-407E-A947-70E740481C1C}">
                <a14:useLocalDpi xmlns:a14="http://schemas.microsoft.com/office/drawing/2010/main" val="0"/>
              </a:ext>
            </a:extLst>
          </a:blip>
          <a:srcRect l="18146" t="12997" r="7802" b="13194"/>
          <a:stretch/>
        </p:blipFill>
        <p:spPr bwMode="auto">
          <a:xfrm>
            <a:off x="5499144" y="5244525"/>
            <a:ext cx="1892256" cy="1433028"/>
          </a:xfrm>
          <a:prstGeom prst="rect">
            <a:avLst/>
          </a:prstGeom>
          <a:noFill/>
          <a:extLst>
            <a:ext uri="{909E8E84-426E-40dd-AFC4-6F175D3DCCD1}">
              <a14:hiddenFill xmlns:a14="http://schemas.microsoft.com/office/drawing/2010/main" xmlns="">
                <a:solidFill>
                  <a:srgbClr val="FFFFFF"/>
                </a:solidFill>
              </a14:hiddenFill>
            </a:ext>
          </a:extLst>
        </p:spPr>
      </p:pic>
      <p:pic>
        <p:nvPicPr>
          <p:cNvPr id="2056" name="Picture 8" descr="http://eduinf.waw.pl/inf/alg/002_struct/images/0041_12.jpg"/>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59053" y="4127604"/>
            <a:ext cx="1880840" cy="1187676"/>
          </a:xfrm>
          <a:prstGeom prst="rect">
            <a:avLst/>
          </a:prstGeom>
          <a:noFill/>
          <a:extLst>
            <a:ext uri="{909E8E84-426E-40dd-AFC4-6F175D3DCCD1}">
              <a14:hiddenFill xmlns:a14="http://schemas.microsoft.com/office/drawing/2010/main" xmlns="">
                <a:solidFill>
                  <a:srgbClr val="FFFFFF"/>
                </a:solidFill>
              </a14:hiddenFill>
            </a:ext>
          </a:extLst>
        </p:spPr>
      </p:pic>
      <p:pic>
        <p:nvPicPr>
          <p:cNvPr id="2058" name="Picture 10" descr="Samsung Electronics Starts Mass Producing Industry’s First 8-Gigabit Graphics DRAM (GDDR5)"/>
          <p:cNvPicPr>
            <a:picLocks noChangeAspect="1" noChangeArrowheads="1"/>
          </p:cNvPicPr>
          <p:nvPr/>
        </p:nvPicPr>
        <p:blipFill rotWithShape="1">
          <a:blip r:embed="rId7">
            <a:extLst>
              <a:ext uri="{BEBA8EAE-BF5A-486C-A8C5-ECC9F3942E4B}">
                <a14:imgProps xmlns:a14="http://schemas.microsoft.com/office/drawing/2010/main">
                  <a14:imgLayer r:embed="rId8">
                    <a14:imgEffect>
                      <a14:backgroundRemoval t="29531" b="52999" l="29362" r="49637"/>
                    </a14:imgEffect>
                  </a14:imgLayer>
                </a14:imgProps>
              </a:ext>
              <a:ext uri="{28A0092B-C50C-407E-A947-70E740481C1C}">
                <a14:useLocalDpi xmlns:a14="http://schemas.microsoft.com/office/drawing/2010/main" val="0"/>
              </a:ext>
            </a:extLst>
          </a:blip>
          <a:srcRect l="29103" t="29158" r="49708" b="47763"/>
          <a:stretch/>
        </p:blipFill>
        <p:spPr bwMode="auto">
          <a:xfrm>
            <a:off x="7679751" y="5392967"/>
            <a:ext cx="1283538" cy="86616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23625404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5696467" y="2144649"/>
            <a:ext cx="2888774" cy="3830593"/>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2400" dirty="0"/>
          </a:p>
        </p:txBody>
      </p:sp>
      <p:sp>
        <p:nvSpPr>
          <p:cNvPr id="2" name="Title 1"/>
          <p:cNvSpPr>
            <a:spLocks noGrp="1"/>
          </p:cNvSpPr>
          <p:nvPr>
            <p:ph type="title"/>
          </p:nvPr>
        </p:nvSpPr>
        <p:spPr/>
        <p:txBody>
          <a:bodyPr/>
          <a:lstStyle/>
          <a:p>
            <a:r>
              <a:rPr lang="pt-BR" dirty="0"/>
              <a:t>Hierarquia de Memórias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17</a:t>
            </a:fld>
            <a:endParaRPr lang="pt-BR" dirty="0"/>
          </a:p>
        </p:txBody>
      </p:sp>
      <p:sp>
        <p:nvSpPr>
          <p:cNvPr id="6" name="Rectangle 5"/>
          <p:cNvSpPr/>
          <p:nvPr/>
        </p:nvSpPr>
        <p:spPr>
          <a:xfrm>
            <a:off x="2142745" y="2144649"/>
            <a:ext cx="2888774" cy="3830593"/>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2400"/>
              <a:t>CPU</a:t>
            </a:r>
            <a:endParaRPr lang="pt-BR" sz="2400" dirty="0"/>
          </a:p>
        </p:txBody>
      </p:sp>
      <p:graphicFrame>
        <p:nvGraphicFramePr>
          <p:cNvPr id="8" name="Table 7"/>
          <p:cNvGraphicFramePr>
            <a:graphicFrameLocks noGrp="1"/>
          </p:cNvGraphicFramePr>
          <p:nvPr/>
        </p:nvGraphicFramePr>
        <p:xfrm>
          <a:off x="2543546" y="2803396"/>
          <a:ext cx="2023440" cy="259080"/>
        </p:xfrm>
        <a:graphic>
          <a:graphicData uri="http://schemas.openxmlformats.org/drawingml/2006/table">
            <a:tbl>
              <a:tblPr>
                <a:tableStyleId>{5C22544A-7EE6-4342-B048-85BDC9FD1C3A}</a:tableStyleId>
              </a:tblPr>
              <a:tblGrid>
                <a:gridCol w="126465">
                  <a:extLst>
                    <a:ext uri="{9D8B030D-6E8A-4147-A177-3AD203B41FA5}">
                      <a16:colId xmlns:a16="http://schemas.microsoft.com/office/drawing/2014/main" val="20000"/>
                    </a:ext>
                  </a:extLst>
                </a:gridCol>
                <a:gridCol w="126465">
                  <a:extLst>
                    <a:ext uri="{9D8B030D-6E8A-4147-A177-3AD203B41FA5}">
                      <a16:colId xmlns:a16="http://schemas.microsoft.com/office/drawing/2014/main" val="20001"/>
                    </a:ext>
                  </a:extLst>
                </a:gridCol>
                <a:gridCol w="126465">
                  <a:extLst>
                    <a:ext uri="{9D8B030D-6E8A-4147-A177-3AD203B41FA5}">
                      <a16:colId xmlns:a16="http://schemas.microsoft.com/office/drawing/2014/main" val="20002"/>
                    </a:ext>
                  </a:extLst>
                </a:gridCol>
                <a:gridCol w="126465">
                  <a:extLst>
                    <a:ext uri="{9D8B030D-6E8A-4147-A177-3AD203B41FA5}">
                      <a16:colId xmlns:a16="http://schemas.microsoft.com/office/drawing/2014/main" val="20003"/>
                    </a:ext>
                  </a:extLst>
                </a:gridCol>
                <a:gridCol w="126465">
                  <a:extLst>
                    <a:ext uri="{9D8B030D-6E8A-4147-A177-3AD203B41FA5}">
                      <a16:colId xmlns:a16="http://schemas.microsoft.com/office/drawing/2014/main" val="20004"/>
                    </a:ext>
                  </a:extLst>
                </a:gridCol>
                <a:gridCol w="126465">
                  <a:extLst>
                    <a:ext uri="{9D8B030D-6E8A-4147-A177-3AD203B41FA5}">
                      <a16:colId xmlns:a16="http://schemas.microsoft.com/office/drawing/2014/main" val="20005"/>
                    </a:ext>
                  </a:extLst>
                </a:gridCol>
                <a:gridCol w="126465">
                  <a:extLst>
                    <a:ext uri="{9D8B030D-6E8A-4147-A177-3AD203B41FA5}">
                      <a16:colId xmlns:a16="http://schemas.microsoft.com/office/drawing/2014/main" val="20006"/>
                    </a:ext>
                  </a:extLst>
                </a:gridCol>
                <a:gridCol w="126465">
                  <a:extLst>
                    <a:ext uri="{9D8B030D-6E8A-4147-A177-3AD203B41FA5}">
                      <a16:colId xmlns:a16="http://schemas.microsoft.com/office/drawing/2014/main" val="20007"/>
                    </a:ext>
                  </a:extLst>
                </a:gridCol>
                <a:gridCol w="126465">
                  <a:extLst>
                    <a:ext uri="{9D8B030D-6E8A-4147-A177-3AD203B41FA5}">
                      <a16:colId xmlns:a16="http://schemas.microsoft.com/office/drawing/2014/main" val="20008"/>
                    </a:ext>
                  </a:extLst>
                </a:gridCol>
                <a:gridCol w="126465">
                  <a:extLst>
                    <a:ext uri="{9D8B030D-6E8A-4147-A177-3AD203B41FA5}">
                      <a16:colId xmlns:a16="http://schemas.microsoft.com/office/drawing/2014/main" val="20009"/>
                    </a:ext>
                  </a:extLst>
                </a:gridCol>
                <a:gridCol w="126465">
                  <a:extLst>
                    <a:ext uri="{9D8B030D-6E8A-4147-A177-3AD203B41FA5}">
                      <a16:colId xmlns:a16="http://schemas.microsoft.com/office/drawing/2014/main" val="20010"/>
                    </a:ext>
                  </a:extLst>
                </a:gridCol>
                <a:gridCol w="126465">
                  <a:extLst>
                    <a:ext uri="{9D8B030D-6E8A-4147-A177-3AD203B41FA5}">
                      <a16:colId xmlns:a16="http://schemas.microsoft.com/office/drawing/2014/main" val="20011"/>
                    </a:ext>
                  </a:extLst>
                </a:gridCol>
                <a:gridCol w="126465">
                  <a:extLst>
                    <a:ext uri="{9D8B030D-6E8A-4147-A177-3AD203B41FA5}">
                      <a16:colId xmlns:a16="http://schemas.microsoft.com/office/drawing/2014/main" val="20012"/>
                    </a:ext>
                  </a:extLst>
                </a:gridCol>
                <a:gridCol w="126465">
                  <a:extLst>
                    <a:ext uri="{9D8B030D-6E8A-4147-A177-3AD203B41FA5}">
                      <a16:colId xmlns:a16="http://schemas.microsoft.com/office/drawing/2014/main" val="20013"/>
                    </a:ext>
                  </a:extLst>
                </a:gridCol>
                <a:gridCol w="126465">
                  <a:extLst>
                    <a:ext uri="{9D8B030D-6E8A-4147-A177-3AD203B41FA5}">
                      <a16:colId xmlns:a16="http://schemas.microsoft.com/office/drawing/2014/main" val="20014"/>
                    </a:ext>
                  </a:extLst>
                </a:gridCol>
                <a:gridCol w="126465">
                  <a:extLst>
                    <a:ext uri="{9D8B030D-6E8A-4147-A177-3AD203B41FA5}">
                      <a16:colId xmlns:a16="http://schemas.microsoft.com/office/drawing/2014/main" val="20015"/>
                    </a:ext>
                  </a:extLst>
                </a:gridCol>
              </a:tblGrid>
              <a:tr h="176314">
                <a:tc>
                  <a:txBody>
                    <a:bodyPr/>
                    <a:lstStyle/>
                    <a:p>
                      <a:endParaRPr lang="pt-BR" sz="1100" dirty="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dirty="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dirty="0"/>
                    </a:p>
                  </a:txBody>
                  <a:tcPr marL="36000" marR="36000">
                    <a:solidFill>
                      <a:schemeClr val="accent3">
                        <a:lumMod val="75000"/>
                      </a:schemeClr>
                    </a:solidFill>
                  </a:tcPr>
                </a:tc>
                <a:tc>
                  <a:txBody>
                    <a:bodyPr/>
                    <a:lstStyle/>
                    <a:p>
                      <a:endParaRPr lang="pt-BR" sz="1100" dirty="0"/>
                    </a:p>
                  </a:txBody>
                  <a:tcPr marL="36000" marR="36000">
                    <a:solidFill>
                      <a:schemeClr val="accent3">
                        <a:lumMod val="75000"/>
                      </a:schemeClr>
                    </a:solidFill>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nvGraphicFramePr>
        <p:xfrm>
          <a:off x="2543546" y="3112692"/>
          <a:ext cx="2023440" cy="259080"/>
        </p:xfrm>
        <a:graphic>
          <a:graphicData uri="http://schemas.openxmlformats.org/drawingml/2006/table">
            <a:tbl>
              <a:tblPr>
                <a:tableStyleId>{5C22544A-7EE6-4342-B048-85BDC9FD1C3A}</a:tableStyleId>
              </a:tblPr>
              <a:tblGrid>
                <a:gridCol w="126465">
                  <a:extLst>
                    <a:ext uri="{9D8B030D-6E8A-4147-A177-3AD203B41FA5}">
                      <a16:colId xmlns:a16="http://schemas.microsoft.com/office/drawing/2014/main" val="20000"/>
                    </a:ext>
                  </a:extLst>
                </a:gridCol>
                <a:gridCol w="126465">
                  <a:extLst>
                    <a:ext uri="{9D8B030D-6E8A-4147-A177-3AD203B41FA5}">
                      <a16:colId xmlns:a16="http://schemas.microsoft.com/office/drawing/2014/main" val="20001"/>
                    </a:ext>
                  </a:extLst>
                </a:gridCol>
                <a:gridCol w="126465">
                  <a:extLst>
                    <a:ext uri="{9D8B030D-6E8A-4147-A177-3AD203B41FA5}">
                      <a16:colId xmlns:a16="http://schemas.microsoft.com/office/drawing/2014/main" val="20002"/>
                    </a:ext>
                  </a:extLst>
                </a:gridCol>
                <a:gridCol w="126465">
                  <a:extLst>
                    <a:ext uri="{9D8B030D-6E8A-4147-A177-3AD203B41FA5}">
                      <a16:colId xmlns:a16="http://schemas.microsoft.com/office/drawing/2014/main" val="20003"/>
                    </a:ext>
                  </a:extLst>
                </a:gridCol>
                <a:gridCol w="126465">
                  <a:extLst>
                    <a:ext uri="{9D8B030D-6E8A-4147-A177-3AD203B41FA5}">
                      <a16:colId xmlns:a16="http://schemas.microsoft.com/office/drawing/2014/main" val="20004"/>
                    </a:ext>
                  </a:extLst>
                </a:gridCol>
                <a:gridCol w="126465">
                  <a:extLst>
                    <a:ext uri="{9D8B030D-6E8A-4147-A177-3AD203B41FA5}">
                      <a16:colId xmlns:a16="http://schemas.microsoft.com/office/drawing/2014/main" val="20005"/>
                    </a:ext>
                  </a:extLst>
                </a:gridCol>
                <a:gridCol w="126465">
                  <a:extLst>
                    <a:ext uri="{9D8B030D-6E8A-4147-A177-3AD203B41FA5}">
                      <a16:colId xmlns:a16="http://schemas.microsoft.com/office/drawing/2014/main" val="20006"/>
                    </a:ext>
                  </a:extLst>
                </a:gridCol>
                <a:gridCol w="126465">
                  <a:extLst>
                    <a:ext uri="{9D8B030D-6E8A-4147-A177-3AD203B41FA5}">
                      <a16:colId xmlns:a16="http://schemas.microsoft.com/office/drawing/2014/main" val="20007"/>
                    </a:ext>
                  </a:extLst>
                </a:gridCol>
                <a:gridCol w="126465">
                  <a:extLst>
                    <a:ext uri="{9D8B030D-6E8A-4147-A177-3AD203B41FA5}">
                      <a16:colId xmlns:a16="http://schemas.microsoft.com/office/drawing/2014/main" val="20008"/>
                    </a:ext>
                  </a:extLst>
                </a:gridCol>
                <a:gridCol w="126465">
                  <a:extLst>
                    <a:ext uri="{9D8B030D-6E8A-4147-A177-3AD203B41FA5}">
                      <a16:colId xmlns:a16="http://schemas.microsoft.com/office/drawing/2014/main" val="20009"/>
                    </a:ext>
                  </a:extLst>
                </a:gridCol>
                <a:gridCol w="126465">
                  <a:extLst>
                    <a:ext uri="{9D8B030D-6E8A-4147-A177-3AD203B41FA5}">
                      <a16:colId xmlns:a16="http://schemas.microsoft.com/office/drawing/2014/main" val="20010"/>
                    </a:ext>
                  </a:extLst>
                </a:gridCol>
                <a:gridCol w="126465">
                  <a:extLst>
                    <a:ext uri="{9D8B030D-6E8A-4147-A177-3AD203B41FA5}">
                      <a16:colId xmlns:a16="http://schemas.microsoft.com/office/drawing/2014/main" val="20011"/>
                    </a:ext>
                  </a:extLst>
                </a:gridCol>
                <a:gridCol w="126465">
                  <a:extLst>
                    <a:ext uri="{9D8B030D-6E8A-4147-A177-3AD203B41FA5}">
                      <a16:colId xmlns:a16="http://schemas.microsoft.com/office/drawing/2014/main" val="20012"/>
                    </a:ext>
                  </a:extLst>
                </a:gridCol>
                <a:gridCol w="126465">
                  <a:extLst>
                    <a:ext uri="{9D8B030D-6E8A-4147-A177-3AD203B41FA5}">
                      <a16:colId xmlns:a16="http://schemas.microsoft.com/office/drawing/2014/main" val="20013"/>
                    </a:ext>
                  </a:extLst>
                </a:gridCol>
                <a:gridCol w="126465">
                  <a:extLst>
                    <a:ext uri="{9D8B030D-6E8A-4147-A177-3AD203B41FA5}">
                      <a16:colId xmlns:a16="http://schemas.microsoft.com/office/drawing/2014/main" val="20014"/>
                    </a:ext>
                  </a:extLst>
                </a:gridCol>
                <a:gridCol w="126465">
                  <a:extLst>
                    <a:ext uri="{9D8B030D-6E8A-4147-A177-3AD203B41FA5}">
                      <a16:colId xmlns:a16="http://schemas.microsoft.com/office/drawing/2014/main" val="20015"/>
                    </a:ext>
                  </a:extLst>
                </a:gridCol>
              </a:tblGrid>
              <a:tr h="176314">
                <a:tc>
                  <a:txBody>
                    <a:bodyPr/>
                    <a:lstStyle/>
                    <a:p>
                      <a:endParaRPr lang="pt-BR" sz="1100" dirty="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dirty="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a:p>
                  </a:txBody>
                  <a:tcPr marL="36000" marR="36000">
                    <a:solidFill>
                      <a:schemeClr val="accent3">
                        <a:lumMod val="75000"/>
                      </a:schemeClr>
                    </a:solidFill>
                  </a:tcPr>
                </a:tc>
                <a:tc>
                  <a:txBody>
                    <a:bodyPr/>
                    <a:lstStyle/>
                    <a:p>
                      <a:endParaRPr lang="pt-BR" sz="1100" dirty="0"/>
                    </a:p>
                  </a:txBody>
                  <a:tcPr marL="36000" marR="36000">
                    <a:solidFill>
                      <a:schemeClr val="accent3">
                        <a:lumMod val="75000"/>
                      </a:schemeClr>
                    </a:solidFill>
                  </a:tcPr>
                </a:tc>
                <a:tc>
                  <a:txBody>
                    <a:bodyPr/>
                    <a:lstStyle/>
                    <a:p>
                      <a:endParaRPr lang="pt-BR" sz="1100" dirty="0"/>
                    </a:p>
                  </a:txBody>
                  <a:tcPr marL="36000" marR="36000">
                    <a:solidFill>
                      <a:schemeClr val="accent3">
                        <a:lumMod val="75000"/>
                      </a:schemeClr>
                    </a:solidFill>
                  </a:tcPr>
                </a:tc>
                <a:extLst>
                  <a:ext uri="{0D108BD9-81ED-4DB2-BD59-A6C34878D82A}">
                    <a16:rowId xmlns:a16="http://schemas.microsoft.com/office/drawing/2014/main" val="10000"/>
                  </a:ext>
                </a:extLst>
              </a:tr>
            </a:tbl>
          </a:graphicData>
        </a:graphic>
      </p:graphicFrame>
      <p:sp>
        <p:nvSpPr>
          <p:cNvPr id="10" name="Rectangle 9"/>
          <p:cNvSpPr/>
          <p:nvPr/>
        </p:nvSpPr>
        <p:spPr>
          <a:xfrm>
            <a:off x="2543542" y="3359415"/>
            <a:ext cx="2023443" cy="307777"/>
          </a:xfrm>
          <a:prstGeom prst="rect">
            <a:avLst/>
          </a:prstGeom>
        </p:spPr>
        <p:txBody>
          <a:bodyPr wrap="square">
            <a:spAutoFit/>
          </a:bodyPr>
          <a:lstStyle/>
          <a:p>
            <a:pPr algn="ctr"/>
            <a:r>
              <a:rPr lang="pt-BR" sz="1400" dirty="0"/>
              <a:t>Registradores</a:t>
            </a:r>
          </a:p>
        </p:txBody>
      </p:sp>
      <p:graphicFrame>
        <p:nvGraphicFramePr>
          <p:cNvPr id="11" name="Table 10"/>
          <p:cNvGraphicFramePr>
            <a:graphicFrameLocks noGrp="1"/>
          </p:cNvGraphicFramePr>
          <p:nvPr/>
        </p:nvGraphicFramePr>
        <p:xfrm>
          <a:off x="2543546" y="4096994"/>
          <a:ext cx="2023440" cy="1443360"/>
        </p:xfrm>
        <a:graphic>
          <a:graphicData uri="http://schemas.openxmlformats.org/drawingml/2006/table">
            <a:tbl>
              <a:tblPr>
                <a:tableStyleId>{5C22544A-7EE6-4342-B048-85BDC9FD1C3A}</a:tableStyleId>
              </a:tblPr>
              <a:tblGrid>
                <a:gridCol w="126465">
                  <a:extLst>
                    <a:ext uri="{9D8B030D-6E8A-4147-A177-3AD203B41FA5}">
                      <a16:colId xmlns:a16="http://schemas.microsoft.com/office/drawing/2014/main" val="20000"/>
                    </a:ext>
                  </a:extLst>
                </a:gridCol>
                <a:gridCol w="126465">
                  <a:extLst>
                    <a:ext uri="{9D8B030D-6E8A-4147-A177-3AD203B41FA5}">
                      <a16:colId xmlns:a16="http://schemas.microsoft.com/office/drawing/2014/main" val="20001"/>
                    </a:ext>
                  </a:extLst>
                </a:gridCol>
                <a:gridCol w="126465">
                  <a:extLst>
                    <a:ext uri="{9D8B030D-6E8A-4147-A177-3AD203B41FA5}">
                      <a16:colId xmlns:a16="http://schemas.microsoft.com/office/drawing/2014/main" val="20002"/>
                    </a:ext>
                  </a:extLst>
                </a:gridCol>
                <a:gridCol w="126465">
                  <a:extLst>
                    <a:ext uri="{9D8B030D-6E8A-4147-A177-3AD203B41FA5}">
                      <a16:colId xmlns:a16="http://schemas.microsoft.com/office/drawing/2014/main" val="20003"/>
                    </a:ext>
                  </a:extLst>
                </a:gridCol>
                <a:gridCol w="126465">
                  <a:extLst>
                    <a:ext uri="{9D8B030D-6E8A-4147-A177-3AD203B41FA5}">
                      <a16:colId xmlns:a16="http://schemas.microsoft.com/office/drawing/2014/main" val="20004"/>
                    </a:ext>
                  </a:extLst>
                </a:gridCol>
                <a:gridCol w="126465">
                  <a:extLst>
                    <a:ext uri="{9D8B030D-6E8A-4147-A177-3AD203B41FA5}">
                      <a16:colId xmlns:a16="http://schemas.microsoft.com/office/drawing/2014/main" val="20005"/>
                    </a:ext>
                  </a:extLst>
                </a:gridCol>
                <a:gridCol w="126465">
                  <a:extLst>
                    <a:ext uri="{9D8B030D-6E8A-4147-A177-3AD203B41FA5}">
                      <a16:colId xmlns:a16="http://schemas.microsoft.com/office/drawing/2014/main" val="20006"/>
                    </a:ext>
                  </a:extLst>
                </a:gridCol>
                <a:gridCol w="126465">
                  <a:extLst>
                    <a:ext uri="{9D8B030D-6E8A-4147-A177-3AD203B41FA5}">
                      <a16:colId xmlns:a16="http://schemas.microsoft.com/office/drawing/2014/main" val="20007"/>
                    </a:ext>
                  </a:extLst>
                </a:gridCol>
                <a:gridCol w="126465">
                  <a:extLst>
                    <a:ext uri="{9D8B030D-6E8A-4147-A177-3AD203B41FA5}">
                      <a16:colId xmlns:a16="http://schemas.microsoft.com/office/drawing/2014/main" val="20008"/>
                    </a:ext>
                  </a:extLst>
                </a:gridCol>
                <a:gridCol w="126465">
                  <a:extLst>
                    <a:ext uri="{9D8B030D-6E8A-4147-A177-3AD203B41FA5}">
                      <a16:colId xmlns:a16="http://schemas.microsoft.com/office/drawing/2014/main" val="20009"/>
                    </a:ext>
                  </a:extLst>
                </a:gridCol>
                <a:gridCol w="126465">
                  <a:extLst>
                    <a:ext uri="{9D8B030D-6E8A-4147-A177-3AD203B41FA5}">
                      <a16:colId xmlns:a16="http://schemas.microsoft.com/office/drawing/2014/main" val="20010"/>
                    </a:ext>
                  </a:extLst>
                </a:gridCol>
                <a:gridCol w="126465">
                  <a:extLst>
                    <a:ext uri="{9D8B030D-6E8A-4147-A177-3AD203B41FA5}">
                      <a16:colId xmlns:a16="http://schemas.microsoft.com/office/drawing/2014/main" val="20011"/>
                    </a:ext>
                  </a:extLst>
                </a:gridCol>
                <a:gridCol w="126465">
                  <a:extLst>
                    <a:ext uri="{9D8B030D-6E8A-4147-A177-3AD203B41FA5}">
                      <a16:colId xmlns:a16="http://schemas.microsoft.com/office/drawing/2014/main" val="20012"/>
                    </a:ext>
                  </a:extLst>
                </a:gridCol>
                <a:gridCol w="126465">
                  <a:extLst>
                    <a:ext uri="{9D8B030D-6E8A-4147-A177-3AD203B41FA5}">
                      <a16:colId xmlns:a16="http://schemas.microsoft.com/office/drawing/2014/main" val="20013"/>
                    </a:ext>
                  </a:extLst>
                </a:gridCol>
                <a:gridCol w="126465">
                  <a:extLst>
                    <a:ext uri="{9D8B030D-6E8A-4147-A177-3AD203B41FA5}">
                      <a16:colId xmlns:a16="http://schemas.microsoft.com/office/drawing/2014/main" val="20014"/>
                    </a:ext>
                  </a:extLst>
                </a:gridCol>
                <a:gridCol w="126465">
                  <a:extLst>
                    <a:ext uri="{9D8B030D-6E8A-4147-A177-3AD203B41FA5}">
                      <a16:colId xmlns:a16="http://schemas.microsoft.com/office/drawing/2014/main" val="20015"/>
                    </a:ext>
                  </a:extLst>
                </a:gridCol>
              </a:tblGrid>
              <a:tr h="144336">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extLst>
                  <a:ext uri="{0D108BD9-81ED-4DB2-BD59-A6C34878D82A}">
                    <a16:rowId xmlns:a16="http://schemas.microsoft.com/office/drawing/2014/main" val="10000"/>
                  </a:ext>
                </a:extLst>
              </a:tr>
              <a:tr h="144336">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extLst>
                  <a:ext uri="{0D108BD9-81ED-4DB2-BD59-A6C34878D82A}">
                    <a16:rowId xmlns:a16="http://schemas.microsoft.com/office/drawing/2014/main" val="10001"/>
                  </a:ext>
                </a:extLst>
              </a:tr>
              <a:tr h="144336">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extLst>
                  <a:ext uri="{0D108BD9-81ED-4DB2-BD59-A6C34878D82A}">
                    <a16:rowId xmlns:a16="http://schemas.microsoft.com/office/drawing/2014/main" val="10002"/>
                  </a:ext>
                </a:extLst>
              </a:tr>
              <a:tr h="144336">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extLst>
                  <a:ext uri="{0D108BD9-81ED-4DB2-BD59-A6C34878D82A}">
                    <a16:rowId xmlns:a16="http://schemas.microsoft.com/office/drawing/2014/main" val="10003"/>
                  </a:ext>
                </a:extLst>
              </a:tr>
              <a:tr h="144336">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extLst>
                  <a:ext uri="{0D108BD9-81ED-4DB2-BD59-A6C34878D82A}">
                    <a16:rowId xmlns:a16="http://schemas.microsoft.com/office/drawing/2014/main" val="10004"/>
                  </a:ext>
                </a:extLst>
              </a:tr>
              <a:tr h="144336">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extLst>
                  <a:ext uri="{0D108BD9-81ED-4DB2-BD59-A6C34878D82A}">
                    <a16:rowId xmlns:a16="http://schemas.microsoft.com/office/drawing/2014/main" val="10005"/>
                  </a:ext>
                </a:extLst>
              </a:tr>
              <a:tr h="144336">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extLst>
                  <a:ext uri="{0D108BD9-81ED-4DB2-BD59-A6C34878D82A}">
                    <a16:rowId xmlns:a16="http://schemas.microsoft.com/office/drawing/2014/main" val="10006"/>
                  </a:ext>
                </a:extLst>
              </a:tr>
              <a:tr h="144336">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extLst>
                  <a:ext uri="{0D108BD9-81ED-4DB2-BD59-A6C34878D82A}">
                    <a16:rowId xmlns:a16="http://schemas.microsoft.com/office/drawing/2014/main" val="10007"/>
                  </a:ext>
                </a:extLst>
              </a:tr>
              <a:tr h="144336">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extLst>
                  <a:ext uri="{0D108BD9-81ED-4DB2-BD59-A6C34878D82A}">
                    <a16:rowId xmlns:a16="http://schemas.microsoft.com/office/drawing/2014/main" val="10008"/>
                  </a:ext>
                </a:extLst>
              </a:tr>
              <a:tr h="144336">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tc>
                  <a:txBody>
                    <a:bodyPr/>
                    <a:lstStyle/>
                    <a:p>
                      <a:endParaRPr lang="pt-BR" sz="100" dirty="0"/>
                    </a:p>
                  </a:txBody>
                  <a:tcPr marL="36000" marR="36000">
                    <a:solidFill>
                      <a:srgbClr val="FF0000"/>
                    </a:solidFill>
                  </a:tcPr>
                </a:tc>
                <a:extLst>
                  <a:ext uri="{0D108BD9-81ED-4DB2-BD59-A6C34878D82A}">
                    <a16:rowId xmlns:a16="http://schemas.microsoft.com/office/drawing/2014/main" val="10009"/>
                  </a:ext>
                </a:extLst>
              </a:tr>
            </a:tbl>
          </a:graphicData>
        </a:graphic>
      </p:graphicFrame>
      <p:sp>
        <p:nvSpPr>
          <p:cNvPr id="12" name="Rectangle 11"/>
          <p:cNvSpPr/>
          <p:nvPr/>
        </p:nvSpPr>
        <p:spPr>
          <a:xfrm>
            <a:off x="2543542" y="5507666"/>
            <a:ext cx="2023443" cy="307777"/>
          </a:xfrm>
          <a:prstGeom prst="rect">
            <a:avLst/>
          </a:prstGeom>
        </p:spPr>
        <p:txBody>
          <a:bodyPr wrap="square">
            <a:spAutoFit/>
          </a:bodyPr>
          <a:lstStyle/>
          <a:p>
            <a:pPr algn="ctr"/>
            <a:r>
              <a:rPr lang="pt-BR" sz="1400" dirty="0"/>
              <a:t>SRAM (cache)</a:t>
            </a:r>
          </a:p>
        </p:txBody>
      </p:sp>
      <p:graphicFrame>
        <p:nvGraphicFramePr>
          <p:cNvPr id="13" name="Table 12"/>
          <p:cNvGraphicFramePr>
            <a:graphicFrameLocks noGrp="1"/>
          </p:cNvGraphicFramePr>
          <p:nvPr/>
        </p:nvGraphicFramePr>
        <p:xfrm>
          <a:off x="6097268" y="2527664"/>
          <a:ext cx="2023440" cy="3037840"/>
        </p:xfrm>
        <a:graphic>
          <a:graphicData uri="http://schemas.openxmlformats.org/drawingml/2006/table">
            <a:tbl>
              <a:tblPr>
                <a:tableStyleId>{5C22544A-7EE6-4342-B048-85BDC9FD1C3A}</a:tableStyleId>
              </a:tblPr>
              <a:tblGrid>
                <a:gridCol w="126465">
                  <a:extLst>
                    <a:ext uri="{9D8B030D-6E8A-4147-A177-3AD203B41FA5}">
                      <a16:colId xmlns:a16="http://schemas.microsoft.com/office/drawing/2014/main" val="20000"/>
                    </a:ext>
                  </a:extLst>
                </a:gridCol>
                <a:gridCol w="126465">
                  <a:extLst>
                    <a:ext uri="{9D8B030D-6E8A-4147-A177-3AD203B41FA5}">
                      <a16:colId xmlns:a16="http://schemas.microsoft.com/office/drawing/2014/main" val="20001"/>
                    </a:ext>
                  </a:extLst>
                </a:gridCol>
                <a:gridCol w="126465">
                  <a:extLst>
                    <a:ext uri="{9D8B030D-6E8A-4147-A177-3AD203B41FA5}">
                      <a16:colId xmlns:a16="http://schemas.microsoft.com/office/drawing/2014/main" val="20002"/>
                    </a:ext>
                  </a:extLst>
                </a:gridCol>
                <a:gridCol w="126465">
                  <a:extLst>
                    <a:ext uri="{9D8B030D-6E8A-4147-A177-3AD203B41FA5}">
                      <a16:colId xmlns:a16="http://schemas.microsoft.com/office/drawing/2014/main" val="20003"/>
                    </a:ext>
                  </a:extLst>
                </a:gridCol>
                <a:gridCol w="126465">
                  <a:extLst>
                    <a:ext uri="{9D8B030D-6E8A-4147-A177-3AD203B41FA5}">
                      <a16:colId xmlns:a16="http://schemas.microsoft.com/office/drawing/2014/main" val="20004"/>
                    </a:ext>
                  </a:extLst>
                </a:gridCol>
                <a:gridCol w="126465">
                  <a:extLst>
                    <a:ext uri="{9D8B030D-6E8A-4147-A177-3AD203B41FA5}">
                      <a16:colId xmlns:a16="http://schemas.microsoft.com/office/drawing/2014/main" val="20005"/>
                    </a:ext>
                  </a:extLst>
                </a:gridCol>
                <a:gridCol w="126465">
                  <a:extLst>
                    <a:ext uri="{9D8B030D-6E8A-4147-A177-3AD203B41FA5}">
                      <a16:colId xmlns:a16="http://schemas.microsoft.com/office/drawing/2014/main" val="20006"/>
                    </a:ext>
                  </a:extLst>
                </a:gridCol>
                <a:gridCol w="126465">
                  <a:extLst>
                    <a:ext uri="{9D8B030D-6E8A-4147-A177-3AD203B41FA5}">
                      <a16:colId xmlns:a16="http://schemas.microsoft.com/office/drawing/2014/main" val="20007"/>
                    </a:ext>
                  </a:extLst>
                </a:gridCol>
                <a:gridCol w="126465">
                  <a:extLst>
                    <a:ext uri="{9D8B030D-6E8A-4147-A177-3AD203B41FA5}">
                      <a16:colId xmlns:a16="http://schemas.microsoft.com/office/drawing/2014/main" val="20008"/>
                    </a:ext>
                  </a:extLst>
                </a:gridCol>
                <a:gridCol w="126465">
                  <a:extLst>
                    <a:ext uri="{9D8B030D-6E8A-4147-A177-3AD203B41FA5}">
                      <a16:colId xmlns:a16="http://schemas.microsoft.com/office/drawing/2014/main" val="20009"/>
                    </a:ext>
                  </a:extLst>
                </a:gridCol>
                <a:gridCol w="126465">
                  <a:extLst>
                    <a:ext uri="{9D8B030D-6E8A-4147-A177-3AD203B41FA5}">
                      <a16:colId xmlns:a16="http://schemas.microsoft.com/office/drawing/2014/main" val="20010"/>
                    </a:ext>
                  </a:extLst>
                </a:gridCol>
                <a:gridCol w="126465">
                  <a:extLst>
                    <a:ext uri="{9D8B030D-6E8A-4147-A177-3AD203B41FA5}">
                      <a16:colId xmlns:a16="http://schemas.microsoft.com/office/drawing/2014/main" val="20011"/>
                    </a:ext>
                  </a:extLst>
                </a:gridCol>
                <a:gridCol w="126465">
                  <a:extLst>
                    <a:ext uri="{9D8B030D-6E8A-4147-A177-3AD203B41FA5}">
                      <a16:colId xmlns:a16="http://schemas.microsoft.com/office/drawing/2014/main" val="20012"/>
                    </a:ext>
                  </a:extLst>
                </a:gridCol>
                <a:gridCol w="126465">
                  <a:extLst>
                    <a:ext uri="{9D8B030D-6E8A-4147-A177-3AD203B41FA5}">
                      <a16:colId xmlns:a16="http://schemas.microsoft.com/office/drawing/2014/main" val="20013"/>
                    </a:ext>
                  </a:extLst>
                </a:gridCol>
                <a:gridCol w="126465">
                  <a:extLst>
                    <a:ext uri="{9D8B030D-6E8A-4147-A177-3AD203B41FA5}">
                      <a16:colId xmlns:a16="http://schemas.microsoft.com/office/drawing/2014/main" val="20014"/>
                    </a:ext>
                  </a:extLst>
                </a:gridCol>
                <a:gridCol w="126465">
                  <a:extLst>
                    <a:ext uri="{9D8B030D-6E8A-4147-A177-3AD203B41FA5}">
                      <a16:colId xmlns:a16="http://schemas.microsoft.com/office/drawing/2014/main" val="20015"/>
                    </a:ext>
                  </a:extLst>
                </a:gridCol>
              </a:tblGrid>
              <a:tr h="0">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00"/>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01"/>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02"/>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03"/>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04"/>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05"/>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06"/>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07"/>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08"/>
                  </a:ext>
                </a:extLst>
              </a:tr>
              <a:tr h="0">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09"/>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10"/>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11"/>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12"/>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13"/>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14"/>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15"/>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16"/>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17"/>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18"/>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19"/>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20"/>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21"/>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22"/>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23"/>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24"/>
                  </a:ext>
                </a:extLst>
              </a:tr>
              <a:tr h="0">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tc>
                  <a:txBody>
                    <a:bodyPr/>
                    <a:lstStyle/>
                    <a:p>
                      <a:endParaRPr lang="pt-BR" sz="100" dirty="0"/>
                    </a:p>
                  </a:txBody>
                  <a:tcPr marL="36000" marR="36000">
                    <a:solidFill>
                      <a:schemeClr val="accent1">
                        <a:lumMod val="75000"/>
                      </a:schemeClr>
                    </a:solidFill>
                  </a:tcPr>
                </a:tc>
                <a:extLst>
                  <a:ext uri="{0D108BD9-81ED-4DB2-BD59-A6C34878D82A}">
                    <a16:rowId xmlns:a16="http://schemas.microsoft.com/office/drawing/2014/main" val="10025"/>
                  </a:ext>
                </a:extLst>
              </a:tr>
            </a:tbl>
          </a:graphicData>
        </a:graphic>
      </p:graphicFrame>
      <p:sp>
        <p:nvSpPr>
          <p:cNvPr id="15" name="Rectangle 14"/>
          <p:cNvSpPr/>
          <p:nvPr/>
        </p:nvSpPr>
        <p:spPr>
          <a:xfrm>
            <a:off x="6081439" y="5565504"/>
            <a:ext cx="2023443" cy="307777"/>
          </a:xfrm>
          <a:prstGeom prst="rect">
            <a:avLst/>
          </a:prstGeom>
        </p:spPr>
        <p:txBody>
          <a:bodyPr wrap="square">
            <a:spAutoFit/>
          </a:bodyPr>
          <a:lstStyle/>
          <a:p>
            <a:pPr algn="ctr"/>
            <a:r>
              <a:rPr lang="pt-BR" sz="1400" dirty="0"/>
              <a:t>DRAM (RAM)</a:t>
            </a:r>
          </a:p>
        </p:txBody>
      </p:sp>
      <p:sp>
        <p:nvSpPr>
          <p:cNvPr id="16" name="Content Placeholder 15"/>
          <p:cNvSpPr>
            <a:spLocks noGrp="1"/>
          </p:cNvSpPr>
          <p:nvPr>
            <p:ph idx="1"/>
          </p:nvPr>
        </p:nvSpPr>
        <p:spPr>
          <a:xfrm>
            <a:off x="657225" y="1485900"/>
            <a:ext cx="8029575" cy="257175"/>
          </a:xfrm>
        </p:spPr>
        <p:txBody>
          <a:bodyPr>
            <a:normAutofit fontScale="70000" lnSpcReduction="20000"/>
          </a:bodyPr>
          <a:lstStyle/>
          <a:p>
            <a:endParaRPr lang="pt-BR"/>
          </a:p>
        </p:txBody>
      </p:sp>
      <p:pic>
        <p:nvPicPr>
          <p:cNvPr id="17" name="Picture 16"/>
          <p:cNvPicPr>
            <a:picLocks noChangeAspect="1"/>
          </p:cNvPicPr>
          <p:nvPr/>
        </p:nvPicPr>
        <p:blipFill>
          <a:blip r:embed="rId4"/>
          <a:stretch>
            <a:fillRect/>
          </a:stretch>
        </p:blipFill>
        <p:spPr>
          <a:xfrm>
            <a:off x="181226" y="2693772"/>
            <a:ext cx="1272444" cy="973420"/>
          </a:xfrm>
          <a:prstGeom prst="rect">
            <a:avLst/>
          </a:prstGeom>
        </p:spPr>
      </p:pic>
      <p:pic>
        <p:nvPicPr>
          <p:cNvPr id="18" name="Picture 17"/>
          <p:cNvPicPr>
            <a:picLocks noChangeAspect="1"/>
          </p:cNvPicPr>
          <p:nvPr/>
        </p:nvPicPr>
        <p:blipFill>
          <a:blip r:embed="rId5"/>
          <a:stretch>
            <a:fillRect/>
          </a:stretch>
        </p:blipFill>
        <p:spPr>
          <a:xfrm>
            <a:off x="320355" y="4487568"/>
            <a:ext cx="1096244" cy="1176792"/>
          </a:xfrm>
          <a:prstGeom prst="rect">
            <a:avLst/>
          </a:prstGeom>
        </p:spPr>
      </p:pic>
      <p:cxnSp>
        <p:nvCxnSpPr>
          <p:cNvPr id="20" name="Straight Arrow Connector 19"/>
          <p:cNvCxnSpPr/>
          <p:nvPr/>
        </p:nvCxnSpPr>
        <p:spPr>
          <a:xfrm>
            <a:off x="1471741" y="3163330"/>
            <a:ext cx="495300" cy="0"/>
          </a:xfrm>
          <a:prstGeom prst="straightConnector1">
            <a:avLst/>
          </a:prstGeom>
          <a:ln w="762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1471741" y="5070386"/>
            <a:ext cx="495300" cy="0"/>
          </a:xfrm>
          <a:prstGeom prst="straightConnector1">
            <a:avLst/>
          </a:prstGeom>
          <a:ln w="762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096390" y="4123035"/>
            <a:ext cx="495300" cy="0"/>
          </a:xfrm>
          <a:prstGeom prst="straightConnector1">
            <a:avLst/>
          </a:prstGeom>
          <a:ln w="762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7589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ppt_x"/>
                                          </p:val>
                                        </p:tav>
                                        <p:tav tm="100000">
                                          <p:val>
                                            <p:strVal val="#ppt_x"/>
                                          </p:val>
                                        </p:tav>
                                      </p:tavLst>
                                    </p:anim>
                                    <p:anim calcmode="lin" valueType="num">
                                      <p:cBhvr additive="base">
                                        <p:cTn id="31" dur="500" fill="hold"/>
                                        <p:tgtEl>
                                          <p:spTgt spid="13"/>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fill="hold"/>
                                        <p:tgtEl>
                                          <p:spTgt spid="15"/>
                                        </p:tgtEl>
                                        <p:attrNameLst>
                                          <p:attrName>ppt_x</p:attrName>
                                        </p:attrNameLst>
                                      </p:cBhvr>
                                      <p:tavLst>
                                        <p:tav tm="0">
                                          <p:val>
                                            <p:strVal val="#ppt_x"/>
                                          </p:val>
                                        </p:tav>
                                        <p:tav tm="100000">
                                          <p:val>
                                            <p:strVal val="#ppt_x"/>
                                          </p:val>
                                        </p:tav>
                                      </p:tavLst>
                                    </p:anim>
                                    <p:anim calcmode="lin" valueType="num">
                                      <p:cBhvr additive="base">
                                        <p:cTn id="35" dur="500" fill="hold"/>
                                        <p:tgtEl>
                                          <p:spTgt spid="15"/>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additive="base">
                                        <p:cTn id="38" dur="500" fill="hold"/>
                                        <p:tgtEl>
                                          <p:spTgt spid="22"/>
                                        </p:tgtEl>
                                        <p:attrNameLst>
                                          <p:attrName>ppt_x</p:attrName>
                                        </p:attrNameLst>
                                      </p:cBhvr>
                                      <p:tavLst>
                                        <p:tav tm="0">
                                          <p:val>
                                            <p:strVal val="#ppt_x"/>
                                          </p:val>
                                        </p:tav>
                                        <p:tav tm="100000">
                                          <p:val>
                                            <p:strVal val="#ppt_x"/>
                                          </p:val>
                                        </p:tav>
                                      </p:tavLst>
                                    </p:anim>
                                    <p:anim calcmode="lin" valueType="num">
                                      <p:cBhvr additive="base">
                                        <p:cTn id="3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fill="hold"/>
                                        <p:tgtEl>
                                          <p:spTgt spid="17"/>
                                        </p:tgtEl>
                                        <p:attrNameLst>
                                          <p:attrName>ppt_x</p:attrName>
                                        </p:attrNameLst>
                                      </p:cBhvr>
                                      <p:tavLst>
                                        <p:tav tm="0">
                                          <p:val>
                                            <p:strVal val="#ppt_x"/>
                                          </p:val>
                                        </p:tav>
                                        <p:tav tm="100000">
                                          <p:val>
                                            <p:strVal val="#ppt_x"/>
                                          </p:val>
                                        </p:tav>
                                      </p:tavLst>
                                    </p:anim>
                                    <p:anim calcmode="lin" valueType="num">
                                      <p:cBhvr additive="base">
                                        <p:cTn id="45" dur="500" fill="hold"/>
                                        <p:tgtEl>
                                          <p:spTgt spid="17"/>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ppt_x"/>
                                          </p:val>
                                        </p:tav>
                                        <p:tav tm="100000">
                                          <p:val>
                                            <p:strVal val="#ppt_x"/>
                                          </p:val>
                                        </p:tav>
                                      </p:tavLst>
                                    </p:anim>
                                    <p:anim calcmode="lin" valueType="num">
                                      <p:cBhvr additive="base">
                                        <p:cTn id="49" dur="500" fill="hold"/>
                                        <p:tgtEl>
                                          <p:spTgt spid="18"/>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 calcmode="lin" valueType="num">
                                      <p:cBhvr additive="base">
                                        <p:cTn id="52" dur="500" fill="hold"/>
                                        <p:tgtEl>
                                          <p:spTgt spid="20"/>
                                        </p:tgtEl>
                                        <p:attrNameLst>
                                          <p:attrName>ppt_x</p:attrName>
                                        </p:attrNameLst>
                                      </p:cBhvr>
                                      <p:tavLst>
                                        <p:tav tm="0">
                                          <p:val>
                                            <p:strVal val="#ppt_x"/>
                                          </p:val>
                                        </p:tav>
                                        <p:tav tm="100000">
                                          <p:val>
                                            <p:strVal val="#ppt_x"/>
                                          </p:val>
                                        </p:tav>
                                      </p:tavLst>
                                    </p:anim>
                                    <p:anim calcmode="lin" valueType="num">
                                      <p:cBhvr additive="base">
                                        <p:cTn id="53" dur="500" fill="hold"/>
                                        <p:tgtEl>
                                          <p:spTgt spid="20"/>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0" grpId="0"/>
      <p:bldP spid="12"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Hierarquia de Memória</a:t>
            </a:r>
          </a:p>
        </p:txBody>
      </p:sp>
      <p:graphicFrame>
        <p:nvGraphicFramePr>
          <p:cNvPr id="6" name="Espaço Reservado para Conteúdo 5"/>
          <p:cNvGraphicFramePr>
            <a:graphicFrameLocks noGrp="1"/>
          </p:cNvGraphicFramePr>
          <p:nvPr>
            <p:ph idx="1"/>
          </p:nvPr>
        </p:nvGraphicFramePr>
        <p:xfrm>
          <a:off x="1416642" y="1514959"/>
          <a:ext cx="6734175"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Espaço Reservado para Texto 3"/>
          <p:cNvSpPr>
            <a:spLocks noGrp="1"/>
          </p:cNvSpPr>
          <p:nvPr>
            <p:ph type="body" sz="quarter" idx="13"/>
          </p:nvPr>
        </p:nvSpPr>
        <p:spPr/>
        <p:txBody>
          <a:bodyPr/>
          <a:lstStyle/>
          <a:p>
            <a:endParaRPr lang="pt-BR"/>
          </a:p>
        </p:txBody>
      </p:sp>
      <p:sp>
        <p:nvSpPr>
          <p:cNvPr id="5" name="Espaço Reservado para Número de Slide 4"/>
          <p:cNvSpPr>
            <a:spLocks noGrp="1"/>
          </p:cNvSpPr>
          <p:nvPr>
            <p:ph type="sldNum" sz="quarter" idx="4"/>
          </p:nvPr>
        </p:nvSpPr>
        <p:spPr/>
        <p:txBody>
          <a:bodyPr/>
          <a:lstStyle/>
          <a:p>
            <a:fld id="{7FFE5E5C-C80A-4D8D-A711-3102A7BA9258}" type="slidenum">
              <a:rPr lang="pt-BR" smtClean="0"/>
              <a:pPr/>
              <a:t>18</a:t>
            </a:fld>
            <a:endParaRPr lang="pt-BR" dirty="0"/>
          </a:p>
        </p:txBody>
      </p:sp>
      <p:cxnSp>
        <p:nvCxnSpPr>
          <p:cNvPr id="8" name="Conector de seta reta 7"/>
          <p:cNvCxnSpPr/>
          <p:nvPr/>
        </p:nvCxnSpPr>
        <p:spPr>
          <a:xfrm flipH="1" flipV="1">
            <a:off x="1007390" y="1844298"/>
            <a:ext cx="15498" cy="4184543"/>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Retângulo 8"/>
          <p:cNvSpPr/>
          <p:nvPr/>
        </p:nvSpPr>
        <p:spPr>
          <a:xfrm rot="16200000">
            <a:off x="-245446" y="3674960"/>
            <a:ext cx="2071721" cy="523220"/>
          </a:xfrm>
          <a:prstGeom prst="rect">
            <a:avLst/>
          </a:prstGeom>
        </p:spPr>
        <p:txBody>
          <a:bodyPr wrap="none">
            <a:spAutoFit/>
          </a:bodyPr>
          <a:lstStyle/>
          <a:p>
            <a:r>
              <a:rPr lang="pt-BR" sz="2800" dirty="0"/>
              <a:t>Preço por Bit</a:t>
            </a:r>
          </a:p>
        </p:txBody>
      </p:sp>
      <p:cxnSp>
        <p:nvCxnSpPr>
          <p:cNvPr id="10" name="Conector de seta reta 9"/>
          <p:cNvCxnSpPr/>
          <p:nvPr/>
        </p:nvCxnSpPr>
        <p:spPr>
          <a:xfrm rot="10800000" flipH="1" flipV="1">
            <a:off x="8367793" y="1844298"/>
            <a:ext cx="15498" cy="4184543"/>
          </a:xfrm>
          <a:prstGeom prst="straightConnector1">
            <a:avLst/>
          </a:prstGeom>
          <a:ln w="571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Retângulo 10"/>
          <p:cNvSpPr/>
          <p:nvPr/>
        </p:nvSpPr>
        <p:spPr>
          <a:xfrm rot="16200000">
            <a:off x="6337381" y="3674961"/>
            <a:ext cx="4698850" cy="523220"/>
          </a:xfrm>
          <a:prstGeom prst="rect">
            <a:avLst/>
          </a:prstGeom>
        </p:spPr>
        <p:txBody>
          <a:bodyPr wrap="none">
            <a:spAutoFit/>
          </a:bodyPr>
          <a:lstStyle/>
          <a:p>
            <a:r>
              <a:rPr lang="pt-BR" sz="2800" dirty="0"/>
              <a:t>Tempo de Acesso / Capacidade</a:t>
            </a:r>
          </a:p>
        </p:txBody>
      </p:sp>
    </p:spTree>
    <p:extLst>
      <p:ext uri="{BB962C8B-B14F-4D97-AF65-F5344CB8AC3E}">
        <p14:creationId xmlns:p14="http://schemas.microsoft.com/office/powerpoint/2010/main" val="151877580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Mantendo um bit</a:t>
            </a:r>
          </a:p>
        </p:txBody>
      </p:sp>
      <p:sp>
        <p:nvSpPr>
          <p:cNvPr id="3" name="Content Placeholder 2"/>
          <p:cNvSpPr>
            <a:spLocks noGrp="1"/>
          </p:cNvSpPr>
          <p:nvPr>
            <p:ph idx="1"/>
          </p:nvPr>
        </p:nvSpPr>
        <p:spPr>
          <a:xfrm>
            <a:off x="457201" y="1485900"/>
            <a:ext cx="8500744" cy="2522731"/>
          </a:xfrm>
        </p:spPr>
        <p:txBody>
          <a:bodyPr>
            <a:normAutofit/>
          </a:bodyPr>
          <a:lstStyle/>
          <a:p>
            <a:r>
              <a:rPr lang="pt-BR" sz="1900" dirty="0"/>
              <a:t>Um </a:t>
            </a:r>
            <a:r>
              <a:rPr lang="pt-BR" sz="1900" i="1" dirty="0" err="1"/>
              <a:t>binary</a:t>
            </a:r>
            <a:r>
              <a:rPr lang="pt-BR" sz="1900" i="1" dirty="0"/>
              <a:t> </a:t>
            </a:r>
            <a:r>
              <a:rPr lang="pt-BR" sz="1900" i="1" dirty="0" err="1"/>
              <a:t>cell</a:t>
            </a:r>
            <a:r>
              <a:rPr lang="pt-BR" sz="1900" i="1" dirty="0"/>
              <a:t> </a:t>
            </a:r>
            <a:r>
              <a:rPr lang="pt-BR" sz="1900" dirty="0"/>
              <a:t>é um elemento que mantém a memória de um bit e pode carregar um novo valor:</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19</a:t>
            </a:fld>
            <a:endParaRPr lang="pt-BR" dirty="0"/>
          </a:p>
        </p:txBody>
      </p:sp>
      <p:grpSp>
        <p:nvGrpSpPr>
          <p:cNvPr id="46" name="Group 45"/>
          <p:cNvGrpSpPr/>
          <p:nvPr/>
        </p:nvGrpSpPr>
        <p:grpSpPr>
          <a:xfrm>
            <a:off x="1967678" y="4944051"/>
            <a:ext cx="4881210" cy="1718332"/>
            <a:chOff x="1967678" y="4916741"/>
            <a:chExt cx="4881210" cy="1718332"/>
          </a:xfrm>
        </p:grpSpPr>
        <p:cxnSp>
          <p:nvCxnSpPr>
            <p:cNvPr id="38" name="Straight Connector 37"/>
            <p:cNvCxnSpPr/>
            <p:nvPr/>
          </p:nvCxnSpPr>
          <p:spPr>
            <a:xfrm>
              <a:off x="4315961" y="5707461"/>
              <a:ext cx="2273" cy="632939"/>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2893653" y="5745180"/>
              <a:ext cx="1177311"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4433" y="5314954"/>
              <a:ext cx="436531"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4070964" y="5314954"/>
              <a:ext cx="454927" cy="21627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4525891" y="5314954"/>
              <a:ext cx="1540327" cy="1025446"/>
              <a:chOff x="3117105" y="3576695"/>
              <a:chExt cx="1540327" cy="1025446"/>
            </a:xfrm>
          </p:grpSpPr>
          <p:cxnSp>
            <p:nvCxnSpPr>
              <p:cNvPr id="7" name="Straight Connector 6"/>
              <p:cNvCxnSpPr/>
              <p:nvPr/>
            </p:nvCxnSpPr>
            <p:spPr>
              <a:xfrm>
                <a:off x="3117105" y="3792973"/>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3117105" y="4383621"/>
                <a:ext cx="1540327"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418717" y="3576695"/>
                <a:ext cx="941460" cy="1025446"/>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b="1" noProof="1">
                    <a:solidFill>
                      <a:schemeClr val="tx1"/>
                    </a:solidFill>
                  </a:rPr>
                  <a:t>D       Q</a:t>
                </a:r>
              </a:p>
              <a:p>
                <a:pPr algn="ctr">
                  <a:lnSpc>
                    <a:spcPct val="70000"/>
                  </a:lnSpc>
                </a:pPr>
                <a:endParaRPr lang="pt-BR" b="1" noProof="1">
                  <a:solidFill>
                    <a:schemeClr val="tx1"/>
                  </a:solidFill>
                </a:endParaRPr>
              </a:p>
              <a:p>
                <a:pPr algn="ctr">
                  <a:lnSpc>
                    <a:spcPct val="70000"/>
                  </a:lnSpc>
                </a:pPr>
                <a:endParaRPr lang="pt-BR" b="1" noProof="1">
                  <a:solidFill>
                    <a:schemeClr val="tx1"/>
                  </a:solidFill>
                </a:endParaRPr>
              </a:p>
              <a:p>
                <a:pPr algn="ctr">
                  <a:lnSpc>
                    <a:spcPct val="70000"/>
                  </a:lnSpc>
                </a:pPr>
                <a:r>
                  <a:rPr lang="pt-BR" b="1" noProof="1">
                    <a:solidFill>
                      <a:schemeClr val="tx1"/>
                    </a:solidFill>
                  </a:rPr>
                  <a:t>Ck     Q’</a:t>
                </a:r>
              </a:p>
            </p:txBody>
          </p:sp>
          <p:sp>
            <p:nvSpPr>
              <p:cNvPr id="11" name="Isosceles Triangle 10"/>
              <p:cNvSpPr/>
              <p:nvPr/>
            </p:nvSpPr>
            <p:spPr>
              <a:xfrm rot="5400000">
                <a:off x="3399843" y="4336285"/>
                <a:ext cx="138770" cy="94675"/>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cxnSp>
          <p:nvCxnSpPr>
            <p:cNvPr id="12" name="Straight Connector 11"/>
            <p:cNvCxnSpPr/>
            <p:nvPr/>
          </p:nvCxnSpPr>
          <p:spPr>
            <a:xfrm>
              <a:off x="3634433" y="4916741"/>
              <a:ext cx="2280041"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5914474" y="4916741"/>
              <a:ext cx="0" cy="614491"/>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3634433" y="4916741"/>
              <a:ext cx="0" cy="398213"/>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5400000">
              <a:off x="3885393" y="5242436"/>
              <a:ext cx="869365" cy="577592"/>
            </a:xfrm>
            <a:prstGeom prst="triangle">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34" name="Rectangle 33"/>
            <p:cNvSpPr/>
            <p:nvPr/>
          </p:nvSpPr>
          <p:spPr>
            <a:xfrm>
              <a:off x="1967678" y="5518002"/>
              <a:ext cx="1045368" cy="369332"/>
            </a:xfrm>
            <a:prstGeom prst="rect">
              <a:avLst/>
            </a:prstGeom>
          </p:spPr>
          <p:txBody>
            <a:bodyPr wrap="square">
              <a:spAutoFit/>
            </a:bodyPr>
            <a:lstStyle/>
            <a:p>
              <a:pPr algn="ctr"/>
              <a:r>
                <a:rPr lang="pt-BR" b="1" noProof="1"/>
                <a:t>entrada</a:t>
              </a:r>
              <a:endParaRPr lang="pt-BR" dirty="0"/>
            </a:p>
          </p:txBody>
        </p:sp>
        <p:sp>
          <p:nvSpPr>
            <p:cNvPr id="35" name="Rectangle 34"/>
            <p:cNvSpPr/>
            <p:nvPr/>
          </p:nvSpPr>
          <p:spPr>
            <a:xfrm>
              <a:off x="5960733" y="5309698"/>
              <a:ext cx="888155" cy="369332"/>
            </a:xfrm>
            <a:prstGeom prst="rect">
              <a:avLst/>
            </a:prstGeom>
          </p:spPr>
          <p:txBody>
            <a:bodyPr wrap="square">
              <a:spAutoFit/>
            </a:bodyPr>
            <a:lstStyle/>
            <a:p>
              <a:pPr algn="ctr"/>
              <a:r>
                <a:rPr lang="pt-BR" b="1" noProof="1"/>
                <a:t>saída</a:t>
              </a:r>
              <a:endParaRPr lang="pt-BR" dirty="0"/>
            </a:p>
          </p:txBody>
        </p:sp>
        <p:sp>
          <p:nvSpPr>
            <p:cNvPr id="36" name="Rectangle 35"/>
            <p:cNvSpPr/>
            <p:nvPr/>
          </p:nvSpPr>
          <p:spPr>
            <a:xfrm>
              <a:off x="3977795" y="5336583"/>
              <a:ext cx="569387" cy="338554"/>
            </a:xfrm>
            <a:prstGeom prst="rect">
              <a:avLst/>
            </a:prstGeom>
          </p:spPr>
          <p:txBody>
            <a:bodyPr wrap="none">
              <a:spAutoFit/>
            </a:bodyPr>
            <a:lstStyle/>
            <a:p>
              <a:r>
                <a:rPr lang="pt-BR" sz="1600" b="1" dirty="0"/>
                <a:t>Mux</a:t>
              </a:r>
            </a:p>
          </p:txBody>
        </p:sp>
        <p:sp>
          <p:nvSpPr>
            <p:cNvPr id="37" name="Rectangle 36"/>
            <p:cNvSpPr/>
            <p:nvPr/>
          </p:nvSpPr>
          <p:spPr>
            <a:xfrm>
              <a:off x="3795550" y="6265741"/>
              <a:ext cx="1045368" cy="369332"/>
            </a:xfrm>
            <a:prstGeom prst="rect">
              <a:avLst/>
            </a:prstGeom>
          </p:spPr>
          <p:txBody>
            <a:bodyPr wrap="square">
              <a:spAutoFit/>
            </a:bodyPr>
            <a:lstStyle/>
            <a:p>
              <a:pPr algn="ctr"/>
              <a:r>
                <a:rPr lang="pt-BR" b="1" noProof="1"/>
                <a:t>sel</a:t>
              </a:r>
            </a:p>
          </p:txBody>
        </p:sp>
      </p:grpSp>
      <p:sp>
        <p:nvSpPr>
          <p:cNvPr id="40" name="Content Placeholder 2"/>
          <p:cNvSpPr txBox="1">
            <a:spLocks/>
          </p:cNvSpPr>
          <p:nvPr/>
        </p:nvSpPr>
        <p:spPr>
          <a:xfrm>
            <a:off x="457200" y="3782029"/>
            <a:ext cx="8500745" cy="1273555"/>
          </a:xfrm>
          <a:prstGeom prst="rect">
            <a:avLst/>
          </a:prstGeom>
        </p:spPr>
        <p:txBody>
          <a:bodyPr>
            <a:norm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pt-BR" sz="1900" dirty="0"/>
              <a:t>Uma forma de implementar o </a:t>
            </a:r>
            <a:r>
              <a:rPr lang="pt-BR" sz="1900" i="1" dirty="0" err="1"/>
              <a:t>binary</a:t>
            </a:r>
            <a:r>
              <a:rPr lang="pt-BR" sz="1900" i="1" dirty="0"/>
              <a:t> </a:t>
            </a:r>
            <a:r>
              <a:rPr lang="pt-BR" sz="1900" i="1" dirty="0" err="1"/>
              <a:t>cell</a:t>
            </a:r>
            <a:r>
              <a:rPr lang="pt-BR" sz="1900" i="1" dirty="0"/>
              <a:t> </a:t>
            </a:r>
            <a:r>
              <a:rPr lang="pt-BR" sz="1900" dirty="0"/>
              <a:t>é realimentar um </a:t>
            </a:r>
            <a:r>
              <a:rPr lang="pt-BR" sz="1900" i="1" dirty="0"/>
              <a:t>flip-flop </a:t>
            </a:r>
            <a:r>
              <a:rPr lang="pt-BR" sz="1900" dirty="0"/>
              <a:t>com sua saída, ou seja, colocar o sinal da saída na entrada. </a:t>
            </a:r>
            <a:br>
              <a:rPr lang="pt-BR" sz="1900" dirty="0"/>
            </a:br>
            <a:r>
              <a:rPr lang="en-BR" sz="1900" dirty="0"/>
              <a:t>Para controlar o carregamento, pode-se usar um multiplexador.</a:t>
            </a:r>
            <a:endParaRPr lang="pt-BR" sz="1900" dirty="0"/>
          </a:p>
        </p:txBody>
      </p:sp>
      <p:pic>
        <p:nvPicPr>
          <p:cNvPr id="44" name="Picture 43"/>
          <p:cNvPicPr>
            <a:picLocks noChangeAspect="1"/>
          </p:cNvPicPr>
          <p:nvPr/>
        </p:nvPicPr>
        <p:blipFill rotWithShape="1">
          <a:blip r:embed="rId3"/>
          <a:srcRect l="3842" t="11727" r="60961" b="47364"/>
          <a:stretch/>
        </p:blipFill>
        <p:spPr>
          <a:xfrm>
            <a:off x="1564466" y="2334476"/>
            <a:ext cx="2880320" cy="1122101"/>
          </a:xfrm>
          <a:prstGeom prst="rect">
            <a:avLst/>
          </a:prstGeom>
        </p:spPr>
      </p:pic>
      <p:pic>
        <p:nvPicPr>
          <p:cNvPr id="45" name="Picture 44"/>
          <p:cNvPicPr>
            <a:picLocks noChangeAspect="1"/>
          </p:cNvPicPr>
          <p:nvPr/>
        </p:nvPicPr>
        <p:blipFill rotWithShape="1">
          <a:blip r:embed="rId3"/>
          <a:srcRect l="3842" t="57545" r="60961" b="20017"/>
          <a:stretch/>
        </p:blipFill>
        <p:spPr>
          <a:xfrm>
            <a:off x="5408728" y="2669540"/>
            <a:ext cx="2880320" cy="615444"/>
          </a:xfrm>
          <a:prstGeom prst="rect">
            <a:avLst/>
          </a:prstGeom>
        </p:spPr>
      </p:pic>
    </p:spTree>
    <p:extLst>
      <p:ext uri="{BB962C8B-B14F-4D97-AF65-F5344CB8AC3E}">
        <p14:creationId xmlns:p14="http://schemas.microsoft.com/office/powerpoint/2010/main" val="344233848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Blocos de Bits</a:t>
            </a:r>
          </a:p>
        </p:txBody>
      </p:sp>
      <p:sp>
        <p:nvSpPr>
          <p:cNvPr id="3" name="Content Placeholder 2"/>
          <p:cNvSpPr>
            <a:spLocks noGrp="1"/>
          </p:cNvSpPr>
          <p:nvPr>
            <p:ph idx="1"/>
          </p:nvPr>
        </p:nvSpPr>
        <p:spPr>
          <a:xfrm>
            <a:off x="337457" y="1479297"/>
            <a:ext cx="8693922" cy="1506031"/>
          </a:xfrm>
        </p:spPr>
        <p:txBody>
          <a:bodyPr>
            <a:noAutofit/>
          </a:bodyPr>
          <a:lstStyle/>
          <a:p>
            <a:r>
              <a:rPr lang="pt-BR" sz="2100" dirty="0"/>
              <a:t>Combinando várias células binárias, podemos construir um registrador de vários bits, como 8, 16 ou 32 bits. A quantidade de bits armazenados é chamada de largura ou comprimento da palavra (</a:t>
            </a:r>
            <a:r>
              <a:rPr lang="en-US" sz="2100" noProof="0" dirty="0"/>
              <a:t>word length</a:t>
            </a:r>
            <a:r>
              <a:rPr lang="pt-BR" sz="2100" dirty="0"/>
              <a:t>).</a:t>
            </a:r>
          </a:p>
        </p:txBody>
      </p:sp>
      <p:sp>
        <p:nvSpPr>
          <p:cNvPr id="188" name="Text Placeholder 187"/>
          <p:cNvSpPr>
            <a:spLocks noGrp="1"/>
          </p:cNvSpPr>
          <p:nvPr>
            <p:ph type="body" sz="quarter" idx="13"/>
          </p:nvPr>
        </p:nvSpPr>
        <p:spPr/>
        <p:txBody>
          <a:bodyPr/>
          <a:lstStyle/>
          <a:p>
            <a:endParaRPr lang="pt-BR" dirty="0"/>
          </a:p>
        </p:txBody>
      </p:sp>
      <p:sp>
        <p:nvSpPr>
          <p:cNvPr id="189" name="Slide Number Placeholder 4"/>
          <p:cNvSpPr>
            <a:spLocks noGrp="1"/>
          </p:cNvSpPr>
          <p:nvPr>
            <p:ph type="sldNum" sz="quarter" idx="4"/>
          </p:nvPr>
        </p:nvSpPr>
        <p:spPr>
          <a:xfrm>
            <a:off x="84172" y="6402174"/>
            <a:ext cx="641516" cy="365125"/>
          </a:xfrm>
        </p:spPr>
        <p:txBody>
          <a:bodyPr/>
          <a:lstStyle/>
          <a:p>
            <a:fld id="{7FFE5E5C-C80A-4D8D-A711-3102A7BA9258}" type="slidenum">
              <a:rPr lang="pt-BR" smtClean="0"/>
              <a:pPr/>
              <a:t>20</a:t>
            </a:fld>
            <a:endParaRPr lang="pt-BR" dirty="0"/>
          </a:p>
        </p:txBody>
      </p:sp>
      <p:cxnSp>
        <p:nvCxnSpPr>
          <p:cNvPr id="89" name="Straight Connector 88"/>
          <p:cNvCxnSpPr/>
          <p:nvPr/>
        </p:nvCxnSpPr>
        <p:spPr>
          <a:xfrm>
            <a:off x="426293" y="5479791"/>
            <a:ext cx="7542486"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276" name="Group 275"/>
          <p:cNvGrpSpPr/>
          <p:nvPr/>
        </p:nvGrpSpPr>
        <p:grpSpPr>
          <a:xfrm>
            <a:off x="271948" y="5470721"/>
            <a:ext cx="301947" cy="651936"/>
            <a:chOff x="258951" y="4496734"/>
            <a:chExt cx="373882" cy="822349"/>
          </a:xfrm>
        </p:grpSpPr>
        <p:cxnSp>
          <p:nvCxnSpPr>
            <p:cNvPr id="269" name="Straight Connector 268"/>
            <p:cNvCxnSpPr/>
            <p:nvPr/>
          </p:nvCxnSpPr>
          <p:spPr>
            <a:xfrm>
              <a:off x="459839" y="4496734"/>
              <a:ext cx="0" cy="681556"/>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262" name="Group 261"/>
            <p:cNvGrpSpPr/>
            <p:nvPr/>
          </p:nvGrpSpPr>
          <p:grpSpPr>
            <a:xfrm>
              <a:off x="258951" y="4655746"/>
              <a:ext cx="373882" cy="373882"/>
              <a:chOff x="2633907" y="2153011"/>
              <a:chExt cx="3517210" cy="3517210"/>
            </a:xfrm>
          </p:grpSpPr>
          <p:sp>
            <p:nvSpPr>
              <p:cNvPr id="263" name="Oval 262"/>
              <p:cNvSpPr/>
              <p:nvPr/>
            </p:nvSpPr>
            <p:spPr>
              <a:xfrm>
                <a:off x="2633907" y="2153011"/>
                <a:ext cx="3517210" cy="3517210"/>
              </a:xfrm>
              <a:prstGeom prst="ellipse">
                <a:avLst/>
              </a:prstGeom>
              <a:solidFill>
                <a:schemeClr val="bg1"/>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264" name="Straight Connector 263"/>
              <p:cNvCxnSpPr/>
              <p:nvPr/>
            </p:nvCxnSpPr>
            <p:spPr>
              <a:xfrm>
                <a:off x="4396161" y="2937017"/>
                <a:ext cx="0" cy="1958011"/>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5" name="Straight Connector 264"/>
              <p:cNvCxnSpPr/>
              <p:nvPr/>
            </p:nvCxnSpPr>
            <p:spPr>
              <a:xfrm flipH="1">
                <a:off x="4396161" y="4901900"/>
                <a:ext cx="980831"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6" name="Straight Connector 265"/>
              <p:cNvCxnSpPr/>
              <p:nvPr/>
            </p:nvCxnSpPr>
            <p:spPr>
              <a:xfrm flipH="1">
                <a:off x="3415330" y="2937017"/>
                <a:ext cx="980831"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7" name="Straight Connector 266"/>
              <p:cNvCxnSpPr/>
              <p:nvPr/>
            </p:nvCxnSpPr>
            <p:spPr>
              <a:xfrm>
                <a:off x="3415330" y="2937017"/>
                <a:ext cx="0" cy="87316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8" name="Straight Connector 267"/>
              <p:cNvCxnSpPr/>
              <p:nvPr/>
            </p:nvCxnSpPr>
            <p:spPr>
              <a:xfrm>
                <a:off x="5376992" y="4028733"/>
                <a:ext cx="0" cy="87316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cxnSp>
          <p:nvCxnSpPr>
            <p:cNvPr id="270" name="Straight Connector 269"/>
            <p:cNvCxnSpPr/>
            <p:nvPr/>
          </p:nvCxnSpPr>
          <p:spPr>
            <a:xfrm>
              <a:off x="301482" y="5195258"/>
              <a:ext cx="316714"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2" name="Straight Connector 271"/>
            <p:cNvCxnSpPr/>
            <p:nvPr/>
          </p:nvCxnSpPr>
          <p:spPr>
            <a:xfrm>
              <a:off x="337530" y="5255583"/>
              <a:ext cx="244618"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4" name="Straight Connector 273"/>
            <p:cNvCxnSpPr/>
            <p:nvPr/>
          </p:nvCxnSpPr>
          <p:spPr>
            <a:xfrm>
              <a:off x="373552" y="5319083"/>
              <a:ext cx="167295"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grpSp>
      <p:cxnSp>
        <p:nvCxnSpPr>
          <p:cNvPr id="332" name="Straight Connector 331"/>
          <p:cNvCxnSpPr/>
          <p:nvPr/>
        </p:nvCxnSpPr>
        <p:spPr>
          <a:xfrm>
            <a:off x="560588" y="3953956"/>
            <a:ext cx="7752881"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8" name="Rectangle 457"/>
          <p:cNvSpPr/>
          <p:nvPr/>
        </p:nvSpPr>
        <p:spPr>
          <a:xfrm>
            <a:off x="34958" y="3728036"/>
            <a:ext cx="604998" cy="345634"/>
          </a:xfrm>
          <a:prstGeom prst="rect">
            <a:avLst/>
          </a:prstGeom>
        </p:spPr>
        <p:txBody>
          <a:bodyPr wrap="square">
            <a:spAutoFit/>
          </a:bodyPr>
          <a:lstStyle/>
          <a:p>
            <a:pPr algn="ctr"/>
            <a:r>
              <a:rPr lang="pt-BR" b="1" noProof="1"/>
              <a:t>load</a:t>
            </a:r>
            <a:endParaRPr lang="pt-BR" dirty="0"/>
          </a:p>
        </p:txBody>
      </p:sp>
      <p:grpSp>
        <p:nvGrpSpPr>
          <p:cNvPr id="13" name="Group 12"/>
          <p:cNvGrpSpPr/>
          <p:nvPr/>
        </p:nvGrpSpPr>
        <p:grpSpPr>
          <a:xfrm>
            <a:off x="7539274" y="3127298"/>
            <a:ext cx="1692502" cy="3053454"/>
            <a:chOff x="7565032" y="2766688"/>
            <a:chExt cx="1692502" cy="3053454"/>
          </a:xfrm>
        </p:grpSpPr>
        <p:cxnSp>
          <p:nvCxnSpPr>
            <p:cNvPr id="51" name="Straight Connector 50"/>
            <p:cNvCxnSpPr/>
            <p:nvPr/>
          </p:nvCxnSpPr>
          <p:spPr>
            <a:xfrm>
              <a:off x="8018851" y="4556711"/>
              <a:ext cx="701862"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8018851" y="4762553"/>
              <a:ext cx="604790"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8097487" y="4391042"/>
              <a:ext cx="523324" cy="553709"/>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400" b="1" noProof="1">
                  <a:solidFill>
                    <a:schemeClr val="tx1"/>
                  </a:solidFill>
                </a:rPr>
                <a:t>D   Q</a:t>
              </a:r>
            </a:p>
            <a:p>
              <a:pPr algn="ctr">
                <a:lnSpc>
                  <a:spcPct val="70000"/>
                </a:lnSpc>
              </a:pPr>
              <a:endParaRPr lang="pt-BR" sz="900" b="1" noProof="1">
                <a:solidFill>
                  <a:schemeClr val="tx1"/>
                </a:solidFill>
              </a:endParaRPr>
            </a:p>
            <a:p>
              <a:pPr algn="ctr">
                <a:lnSpc>
                  <a:spcPct val="70000"/>
                </a:lnSpc>
              </a:pPr>
              <a:r>
                <a:rPr lang="pt-BR" sz="1400" b="1" noProof="1">
                  <a:solidFill>
                    <a:schemeClr val="tx1"/>
                  </a:solidFill>
                </a:rPr>
                <a:t>  Ck Q’</a:t>
              </a:r>
            </a:p>
          </p:txBody>
        </p:sp>
        <p:sp>
          <p:nvSpPr>
            <p:cNvPr id="14" name="Isosceles Triangle 13"/>
            <p:cNvSpPr/>
            <p:nvPr/>
          </p:nvSpPr>
          <p:spPr>
            <a:xfrm rot="5400000">
              <a:off x="8083274" y="4733286"/>
              <a:ext cx="110013" cy="76459"/>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16" name="Straight Connector 15"/>
            <p:cNvCxnSpPr/>
            <p:nvPr/>
          </p:nvCxnSpPr>
          <p:spPr>
            <a:xfrm>
              <a:off x="8724161" y="4551442"/>
              <a:ext cx="0" cy="106595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208811" y="5527345"/>
              <a:ext cx="1048723" cy="292797"/>
            </a:xfrm>
            <a:prstGeom prst="rect">
              <a:avLst/>
            </a:prstGeom>
          </p:spPr>
          <p:txBody>
            <a:bodyPr wrap="square">
              <a:spAutoFit/>
            </a:bodyPr>
            <a:lstStyle/>
            <a:p>
              <a:pPr algn="ctr"/>
              <a:r>
                <a:rPr lang="pt-BR" b="1" noProof="1"/>
                <a:t> out[0]</a:t>
              </a:r>
              <a:endParaRPr lang="pt-BR" dirty="0"/>
            </a:p>
          </p:txBody>
        </p:sp>
        <p:cxnSp>
          <p:nvCxnSpPr>
            <p:cNvPr id="21" name="Straight Connector 20"/>
            <p:cNvCxnSpPr>
              <a:stCxn id="278" idx="3"/>
            </p:cNvCxnSpPr>
            <p:nvPr/>
          </p:nvCxnSpPr>
          <p:spPr>
            <a:xfrm>
              <a:off x="8018796" y="4045082"/>
              <a:ext cx="55" cy="51162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565032" y="2766688"/>
              <a:ext cx="745146" cy="292797"/>
            </a:xfrm>
            <a:prstGeom prst="rect">
              <a:avLst/>
            </a:prstGeom>
          </p:spPr>
          <p:txBody>
            <a:bodyPr wrap="square">
              <a:spAutoFit/>
            </a:bodyPr>
            <a:lstStyle/>
            <a:p>
              <a:pPr algn="ctr"/>
              <a:r>
                <a:rPr lang="pt-BR" b="1" noProof="1"/>
                <a:t> in[0]</a:t>
              </a:r>
              <a:endParaRPr lang="pt-BR" dirty="0"/>
            </a:p>
          </p:txBody>
        </p:sp>
        <p:cxnSp>
          <p:nvCxnSpPr>
            <p:cNvPr id="23" name="Straight Connector 22"/>
            <p:cNvCxnSpPr/>
            <p:nvPr/>
          </p:nvCxnSpPr>
          <p:spPr>
            <a:xfrm>
              <a:off x="8018851" y="4762553"/>
              <a:ext cx="0" cy="356629"/>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77" name="Straight Connector 276"/>
            <p:cNvCxnSpPr/>
            <p:nvPr/>
          </p:nvCxnSpPr>
          <p:spPr>
            <a:xfrm>
              <a:off x="8720713" y="3865859"/>
              <a:ext cx="0" cy="690851"/>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79" name="Straight Connector 278"/>
            <p:cNvCxnSpPr/>
            <p:nvPr/>
          </p:nvCxnSpPr>
          <p:spPr>
            <a:xfrm>
              <a:off x="7937605" y="3110706"/>
              <a:ext cx="0" cy="934376"/>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4" name="Straight Connector 283"/>
            <p:cNvCxnSpPr/>
            <p:nvPr/>
          </p:nvCxnSpPr>
          <p:spPr>
            <a:xfrm>
              <a:off x="8097487" y="3865859"/>
              <a:ext cx="630574" cy="407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6" name="Straight Connector 285"/>
            <p:cNvCxnSpPr/>
            <p:nvPr/>
          </p:nvCxnSpPr>
          <p:spPr>
            <a:xfrm>
              <a:off x="8102370" y="3865859"/>
              <a:ext cx="0" cy="168735"/>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3" name="Straight Connector 322"/>
            <p:cNvCxnSpPr/>
            <p:nvPr/>
          </p:nvCxnSpPr>
          <p:spPr>
            <a:xfrm>
              <a:off x="8037269" y="4169056"/>
              <a:ext cx="301958"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9" name="Straight Connector 328"/>
            <p:cNvCxnSpPr/>
            <p:nvPr/>
          </p:nvCxnSpPr>
          <p:spPr>
            <a:xfrm>
              <a:off x="8331544" y="3593163"/>
              <a:ext cx="0" cy="583227"/>
            </a:xfrm>
            <a:prstGeom prst="line">
              <a:avLst/>
            </a:prstGeom>
            <a:ln w="28575" cmpd="sng">
              <a:solidFill>
                <a:srgbClr val="000000"/>
              </a:solidFill>
              <a:headEnd type="oval"/>
              <a:tailEnd type="none"/>
            </a:ln>
            <a:effectLst/>
          </p:spPr>
          <p:style>
            <a:lnRef idx="2">
              <a:schemeClr val="accent1"/>
            </a:lnRef>
            <a:fillRef idx="0">
              <a:schemeClr val="accent1"/>
            </a:fillRef>
            <a:effectRef idx="1">
              <a:schemeClr val="accent1"/>
            </a:effectRef>
            <a:fontRef idx="minor">
              <a:schemeClr val="tx1"/>
            </a:fontRef>
          </p:style>
        </p:cxnSp>
        <p:sp>
          <p:nvSpPr>
            <p:cNvPr id="278" name="Isosceles Triangle 277"/>
            <p:cNvSpPr/>
            <p:nvPr/>
          </p:nvSpPr>
          <p:spPr>
            <a:xfrm rot="10800000">
              <a:off x="7870825" y="4045082"/>
              <a:ext cx="295942" cy="321064"/>
            </a:xfrm>
            <a:prstGeom prst="triangle">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165" name="Rectangle 164"/>
            <p:cNvSpPr/>
            <p:nvPr/>
          </p:nvSpPr>
          <p:spPr>
            <a:xfrm>
              <a:off x="7842249" y="3832443"/>
              <a:ext cx="935845" cy="1346974"/>
            </a:xfrm>
            <a:prstGeom prst="rect">
              <a:avLst/>
            </a:prstGeom>
            <a:noFill/>
            <a:ln w="12700" cmpd="sng">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endParaRPr lang="pt-BR" sz="1400" b="1" noProof="1">
                <a:solidFill>
                  <a:schemeClr val="tx1"/>
                </a:solidFill>
              </a:endParaRPr>
            </a:p>
          </p:txBody>
        </p:sp>
      </p:grpSp>
      <p:grpSp>
        <p:nvGrpSpPr>
          <p:cNvPr id="509" name="Group 508"/>
          <p:cNvGrpSpPr/>
          <p:nvPr/>
        </p:nvGrpSpPr>
        <p:grpSpPr>
          <a:xfrm>
            <a:off x="6545009" y="3129313"/>
            <a:ext cx="1692502" cy="3129989"/>
            <a:chOff x="7565032" y="2766688"/>
            <a:chExt cx="1692502" cy="3129989"/>
          </a:xfrm>
        </p:grpSpPr>
        <p:cxnSp>
          <p:nvCxnSpPr>
            <p:cNvPr id="510" name="Straight Connector 509"/>
            <p:cNvCxnSpPr/>
            <p:nvPr/>
          </p:nvCxnSpPr>
          <p:spPr>
            <a:xfrm>
              <a:off x="8018851" y="4556711"/>
              <a:ext cx="701862"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1" name="Straight Connector 510"/>
            <p:cNvCxnSpPr/>
            <p:nvPr/>
          </p:nvCxnSpPr>
          <p:spPr>
            <a:xfrm>
              <a:off x="8018851" y="4762553"/>
              <a:ext cx="604790"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12" name="Rectangle 511"/>
            <p:cNvSpPr/>
            <p:nvPr/>
          </p:nvSpPr>
          <p:spPr>
            <a:xfrm>
              <a:off x="8097487" y="4391042"/>
              <a:ext cx="523324" cy="553709"/>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400" b="1" noProof="1">
                  <a:solidFill>
                    <a:schemeClr val="tx1"/>
                  </a:solidFill>
                </a:rPr>
                <a:t>D   Q</a:t>
              </a:r>
            </a:p>
            <a:p>
              <a:pPr algn="ctr">
                <a:lnSpc>
                  <a:spcPct val="70000"/>
                </a:lnSpc>
              </a:pPr>
              <a:endParaRPr lang="pt-BR" sz="900" b="1" noProof="1">
                <a:solidFill>
                  <a:schemeClr val="tx1"/>
                </a:solidFill>
              </a:endParaRPr>
            </a:p>
            <a:p>
              <a:pPr algn="ctr">
                <a:lnSpc>
                  <a:spcPct val="70000"/>
                </a:lnSpc>
              </a:pPr>
              <a:r>
                <a:rPr lang="pt-BR" sz="1400" b="1" noProof="1">
                  <a:solidFill>
                    <a:schemeClr val="tx1"/>
                  </a:solidFill>
                </a:rPr>
                <a:t>  Ck Q’</a:t>
              </a:r>
            </a:p>
          </p:txBody>
        </p:sp>
        <p:sp>
          <p:nvSpPr>
            <p:cNvPr id="513" name="Isosceles Triangle 512"/>
            <p:cNvSpPr/>
            <p:nvPr/>
          </p:nvSpPr>
          <p:spPr>
            <a:xfrm rot="5400000">
              <a:off x="8083274" y="4733286"/>
              <a:ext cx="110013" cy="76459"/>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14" name="Straight Connector 513"/>
            <p:cNvCxnSpPr/>
            <p:nvPr/>
          </p:nvCxnSpPr>
          <p:spPr>
            <a:xfrm>
              <a:off x="8724161" y="4551442"/>
              <a:ext cx="0" cy="106595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15" name="Rectangle 514"/>
            <p:cNvSpPr/>
            <p:nvPr/>
          </p:nvSpPr>
          <p:spPr>
            <a:xfrm>
              <a:off x="8208811" y="5527345"/>
              <a:ext cx="1048723" cy="369332"/>
            </a:xfrm>
            <a:prstGeom prst="rect">
              <a:avLst/>
            </a:prstGeom>
          </p:spPr>
          <p:txBody>
            <a:bodyPr wrap="square">
              <a:spAutoFit/>
            </a:bodyPr>
            <a:lstStyle/>
            <a:p>
              <a:pPr algn="ctr"/>
              <a:r>
                <a:rPr lang="pt-BR" b="1" noProof="1"/>
                <a:t> out[1]</a:t>
              </a:r>
              <a:endParaRPr lang="pt-BR" dirty="0"/>
            </a:p>
          </p:txBody>
        </p:sp>
        <p:cxnSp>
          <p:nvCxnSpPr>
            <p:cNvPr id="516" name="Straight Connector 515"/>
            <p:cNvCxnSpPr>
              <a:stCxn id="525" idx="3"/>
            </p:cNvCxnSpPr>
            <p:nvPr/>
          </p:nvCxnSpPr>
          <p:spPr>
            <a:xfrm>
              <a:off x="8018796" y="4045082"/>
              <a:ext cx="55" cy="51162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17" name="Rectangle 516"/>
            <p:cNvSpPr/>
            <p:nvPr/>
          </p:nvSpPr>
          <p:spPr>
            <a:xfrm>
              <a:off x="7565032" y="2766688"/>
              <a:ext cx="745146" cy="369332"/>
            </a:xfrm>
            <a:prstGeom prst="rect">
              <a:avLst/>
            </a:prstGeom>
          </p:spPr>
          <p:txBody>
            <a:bodyPr wrap="square">
              <a:spAutoFit/>
            </a:bodyPr>
            <a:lstStyle/>
            <a:p>
              <a:pPr algn="ctr"/>
              <a:r>
                <a:rPr lang="pt-BR" b="1" noProof="1"/>
                <a:t> in[1]</a:t>
              </a:r>
              <a:endParaRPr lang="pt-BR" dirty="0"/>
            </a:p>
          </p:txBody>
        </p:sp>
        <p:cxnSp>
          <p:nvCxnSpPr>
            <p:cNvPr id="518" name="Straight Connector 517"/>
            <p:cNvCxnSpPr/>
            <p:nvPr/>
          </p:nvCxnSpPr>
          <p:spPr>
            <a:xfrm>
              <a:off x="8018851" y="4762553"/>
              <a:ext cx="0" cy="356629"/>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519" name="Straight Connector 518"/>
            <p:cNvCxnSpPr/>
            <p:nvPr/>
          </p:nvCxnSpPr>
          <p:spPr>
            <a:xfrm>
              <a:off x="8720713" y="3865859"/>
              <a:ext cx="0" cy="690851"/>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520" name="Straight Connector 519"/>
            <p:cNvCxnSpPr/>
            <p:nvPr/>
          </p:nvCxnSpPr>
          <p:spPr>
            <a:xfrm>
              <a:off x="7937605" y="3110706"/>
              <a:ext cx="0" cy="934376"/>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1" name="Straight Connector 520"/>
            <p:cNvCxnSpPr/>
            <p:nvPr/>
          </p:nvCxnSpPr>
          <p:spPr>
            <a:xfrm>
              <a:off x="8097487" y="3865859"/>
              <a:ext cx="630574" cy="407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2" name="Straight Connector 521"/>
            <p:cNvCxnSpPr/>
            <p:nvPr/>
          </p:nvCxnSpPr>
          <p:spPr>
            <a:xfrm>
              <a:off x="8102370" y="3865859"/>
              <a:ext cx="0" cy="168735"/>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3" name="Straight Connector 522"/>
            <p:cNvCxnSpPr/>
            <p:nvPr/>
          </p:nvCxnSpPr>
          <p:spPr>
            <a:xfrm>
              <a:off x="8037269" y="4169056"/>
              <a:ext cx="301958"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4" name="Straight Connector 523"/>
            <p:cNvCxnSpPr/>
            <p:nvPr/>
          </p:nvCxnSpPr>
          <p:spPr>
            <a:xfrm>
              <a:off x="8331544" y="3593163"/>
              <a:ext cx="0" cy="583227"/>
            </a:xfrm>
            <a:prstGeom prst="line">
              <a:avLst/>
            </a:prstGeom>
            <a:ln w="28575" cmpd="sng">
              <a:solidFill>
                <a:srgbClr val="000000"/>
              </a:solidFill>
              <a:headEnd type="oval"/>
              <a:tailEnd type="none"/>
            </a:ln>
            <a:effectLst/>
          </p:spPr>
          <p:style>
            <a:lnRef idx="2">
              <a:schemeClr val="accent1"/>
            </a:lnRef>
            <a:fillRef idx="0">
              <a:schemeClr val="accent1"/>
            </a:fillRef>
            <a:effectRef idx="1">
              <a:schemeClr val="accent1"/>
            </a:effectRef>
            <a:fontRef idx="minor">
              <a:schemeClr val="tx1"/>
            </a:fontRef>
          </p:style>
        </p:cxnSp>
        <p:sp>
          <p:nvSpPr>
            <p:cNvPr id="525" name="Isosceles Triangle 524"/>
            <p:cNvSpPr/>
            <p:nvPr/>
          </p:nvSpPr>
          <p:spPr>
            <a:xfrm rot="10800000">
              <a:off x="7870825" y="4045082"/>
              <a:ext cx="295942" cy="321064"/>
            </a:xfrm>
            <a:prstGeom prst="triangle">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526" name="Rectangle 525"/>
            <p:cNvSpPr/>
            <p:nvPr/>
          </p:nvSpPr>
          <p:spPr>
            <a:xfrm>
              <a:off x="7842249" y="3832443"/>
              <a:ext cx="935845" cy="1346974"/>
            </a:xfrm>
            <a:prstGeom prst="rect">
              <a:avLst/>
            </a:prstGeom>
            <a:noFill/>
            <a:ln w="12700" cmpd="sng">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endParaRPr lang="pt-BR" sz="1400" b="1" noProof="1">
                <a:solidFill>
                  <a:schemeClr val="tx1"/>
                </a:solidFill>
              </a:endParaRPr>
            </a:p>
          </p:txBody>
        </p:sp>
      </p:grpSp>
      <p:grpSp>
        <p:nvGrpSpPr>
          <p:cNvPr id="527" name="Group 526"/>
          <p:cNvGrpSpPr/>
          <p:nvPr/>
        </p:nvGrpSpPr>
        <p:grpSpPr>
          <a:xfrm>
            <a:off x="5558427" y="3129313"/>
            <a:ext cx="1692502" cy="3129989"/>
            <a:chOff x="7565032" y="2766688"/>
            <a:chExt cx="1692502" cy="3129989"/>
          </a:xfrm>
        </p:grpSpPr>
        <p:cxnSp>
          <p:nvCxnSpPr>
            <p:cNvPr id="528" name="Straight Connector 527"/>
            <p:cNvCxnSpPr/>
            <p:nvPr/>
          </p:nvCxnSpPr>
          <p:spPr>
            <a:xfrm>
              <a:off x="8018851" y="4556711"/>
              <a:ext cx="701862"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9" name="Straight Connector 528"/>
            <p:cNvCxnSpPr/>
            <p:nvPr/>
          </p:nvCxnSpPr>
          <p:spPr>
            <a:xfrm>
              <a:off x="8018851" y="4762553"/>
              <a:ext cx="604790"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0" name="Rectangle 529"/>
            <p:cNvSpPr/>
            <p:nvPr/>
          </p:nvSpPr>
          <p:spPr>
            <a:xfrm>
              <a:off x="8097487" y="4391042"/>
              <a:ext cx="523324" cy="553709"/>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400" b="1" noProof="1">
                  <a:solidFill>
                    <a:schemeClr val="tx1"/>
                  </a:solidFill>
                </a:rPr>
                <a:t>D   Q</a:t>
              </a:r>
            </a:p>
            <a:p>
              <a:pPr algn="ctr">
                <a:lnSpc>
                  <a:spcPct val="70000"/>
                </a:lnSpc>
              </a:pPr>
              <a:endParaRPr lang="pt-BR" sz="900" b="1" noProof="1">
                <a:solidFill>
                  <a:schemeClr val="tx1"/>
                </a:solidFill>
              </a:endParaRPr>
            </a:p>
            <a:p>
              <a:pPr algn="ctr">
                <a:lnSpc>
                  <a:spcPct val="70000"/>
                </a:lnSpc>
              </a:pPr>
              <a:r>
                <a:rPr lang="pt-BR" sz="1400" b="1" noProof="1">
                  <a:solidFill>
                    <a:schemeClr val="tx1"/>
                  </a:solidFill>
                </a:rPr>
                <a:t>  Ck Q’</a:t>
              </a:r>
            </a:p>
          </p:txBody>
        </p:sp>
        <p:sp>
          <p:nvSpPr>
            <p:cNvPr id="531" name="Isosceles Triangle 530"/>
            <p:cNvSpPr/>
            <p:nvPr/>
          </p:nvSpPr>
          <p:spPr>
            <a:xfrm rot="5400000">
              <a:off x="8083274" y="4733286"/>
              <a:ext cx="110013" cy="76459"/>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32" name="Straight Connector 531"/>
            <p:cNvCxnSpPr/>
            <p:nvPr/>
          </p:nvCxnSpPr>
          <p:spPr>
            <a:xfrm>
              <a:off x="8724161" y="4551442"/>
              <a:ext cx="0" cy="106595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3" name="Rectangle 532"/>
            <p:cNvSpPr/>
            <p:nvPr/>
          </p:nvSpPr>
          <p:spPr>
            <a:xfrm>
              <a:off x="8208811" y="5527345"/>
              <a:ext cx="1048723" cy="369332"/>
            </a:xfrm>
            <a:prstGeom prst="rect">
              <a:avLst/>
            </a:prstGeom>
          </p:spPr>
          <p:txBody>
            <a:bodyPr wrap="square">
              <a:spAutoFit/>
            </a:bodyPr>
            <a:lstStyle/>
            <a:p>
              <a:pPr algn="ctr"/>
              <a:r>
                <a:rPr lang="pt-BR" b="1" noProof="1"/>
                <a:t> out[2]</a:t>
              </a:r>
              <a:endParaRPr lang="pt-BR" dirty="0"/>
            </a:p>
          </p:txBody>
        </p:sp>
        <p:cxnSp>
          <p:nvCxnSpPr>
            <p:cNvPr id="534" name="Straight Connector 533"/>
            <p:cNvCxnSpPr>
              <a:stCxn id="543" idx="3"/>
            </p:cNvCxnSpPr>
            <p:nvPr/>
          </p:nvCxnSpPr>
          <p:spPr>
            <a:xfrm>
              <a:off x="8018796" y="4045082"/>
              <a:ext cx="55" cy="51162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5" name="Rectangle 534"/>
            <p:cNvSpPr/>
            <p:nvPr/>
          </p:nvSpPr>
          <p:spPr>
            <a:xfrm>
              <a:off x="7565032" y="2766688"/>
              <a:ext cx="745146" cy="369332"/>
            </a:xfrm>
            <a:prstGeom prst="rect">
              <a:avLst/>
            </a:prstGeom>
          </p:spPr>
          <p:txBody>
            <a:bodyPr wrap="square">
              <a:spAutoFit/>
            </a:bodyPr>
            <a:lstStyle/>
            <a:p>
              <a:pPr algn="ctr"/>
              <a:r>
                <a:rPr lang="pt-BR" b="1" noProof="1"/>
                <a:t> in[2]</a:t>
              </a:r>
              <a:endParaRPr lang="pt-BR" dirty="0"/>
            </a:p>
          </p:txBody>
        </p:sp>
        <p:cxnSp>
          <p:nvCxnSpPr>
            <p:cNvPr id="536" name="Straight Connector 535"/>
            <p:cNvCxnSpPr/>
            <p:nvPr/>
          </p:nvCxnSpPr>
          <p:spPr>
            <a:xfrm>
              <a:off x="8018851" y="4762553"/>
              <a:ext cx="0" cy="356629"/>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537" name="Straight Connector 536"/>
            <p:cNvCxnSpPr/>
            <p:nvPr/>
          </p:nvCxnSpPr>
          <p:spPr>
            <a:xfrm>
              <a:off x="8720713" y="3865859"/>
              <a:ext cx="0" cy="690851"/>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538" name="Straight Connector 537"/>
            <p:cNvCxnSpPr/>
            <p:nvPr/>
          </p:nvCxnSpPr>
          <p:spPr>
            <a:xfrm>
              <a:off x="7937605" y="3110706"/>
              <a:ext cx="0" cy="934376"/>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39" name="Straight Connector 538"/>
            <p:cNvCxnSpPr/>
            <p:nvPr/>
          </p:nvCxnSpPr>
          <p:spPr>
            <a:xfrm>
              <a:off x="8097487" y="3865859"/>
              <a:ext cx="630574" cy="407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0" name="Straight Connector 539"/>
            <p:cNvCxnSpPr/>
            <p:nvPr/>
          </p:nvCxnSpPr>
          <p:spPr>
            <a:xfrm>
              <a:off x="8102370" y="3865859"/>
              <a:ext cx="0" cy="168735"/>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1" name="Straight Connector 540"/>
            <p:cNvCxnSpPr/>
            <p:nvPr/>
          </p:nvCxnSpPr>
          <p:spPr>
            <a:xfrm>
              <a:off x="8037269" y="4169056"/>
              <a:ext cx="301958"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2" name="Straight Connector 541"/>
            <p:cNvCxnSpPr/>
            <p:nvPr/>
          </p:nvCxnSpPr>
          <p:spPr>
            <a:xfrm>
              <a:off x="8331544" y="3593163"/>
              <a:ext cx="0" cy="583227"/>
            </a:xfrm>
            <a:prstGeom prst="line">
              <a:avLst/>
            </a:prstGeom>
            <a:ln w="28575" cmpd="sng">
              <a:solidFill>
                <a:srgbClr val="000000"/>
              </a:solidFill>
              <a:headEnd type="oval"/>
              <a:tailEnd type="none"/>
            </a:ln>
            <a:effectLst/>
          </p:spPr>
          <p:style>
            <a:lnRef idx="2">
              <a:schemeClr val="accent1"/>
            </a:lnRef>
            <a:fillRef idx="0">
              <a:schemeClr val="accent1"/>
            </a:fillRef>
            <a:effectRef idx="1">
              <a:schemeClr val="accent1"/>
            </a:effectRef>
            <a:fontRef idx="minor">
              <a:schemeClr val="tx1"/>
            </a:fontRef>
          </p:style>
        </p:cxnSp>
        <p:sp>
          <p:nvSpPr>
            <p:cNvPr id="543" name="Isosceles Triangle 542"/>
            <p:cNvSpPr/>
            <p:nvPr/>
          </p:nvSpPr>
          <p:spPr>
            <a:xfrm rot="10800000">
              <a:off x="7870825" y="4045082"/>
              <a:ext cx="295942" cy="321064"/>
            </a:xfrm>
            <a:prstGeom prst="triangle">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544" name="Rectangle 543"/>
            <p:cNvSpPr/>
            <p:nvPr/>
          </p:nvSpPr>
          <p:spPr>
            <a:xfrm>
              <a:off x="7842249" y="3832443"/>
              <a:ext cx="935845" cy="1346974"/>
            </a:xfrm>
            <a:prstGeom prst="rect">
              <a:avLst/>
            </a:prstGeom>
            <a:noFill/>
            <a:ln w="12700" cmpd="sng">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endParaRPr lang="pt-BR" sz="1400" b="1" noProof="1">
                <a:solidFill>
                  <a:schemeClr val="tx1"/>
                </a:solidFill>
              </a:endParaRPr>
            </a:p>
          </p:txBody>
        </p:sp>
      </p:grpSp>
      <p:grpSp>
        <p:nvGrpSpPr>
          <p:cNvPr id="545" name="Group 544"/>
          <p:cNvGrpSpPr/>
          <p:nvPr/>
        </p:nvGrpSpPr>
        <p:grpSpPr>
          <a:xfrm>
            <a:off x="4564162" y="3131328"/>
            <a:ext cx="1692502" cy="3129989"/>
            <a:chOff x="7565032" y="2766688"/>
            <a:chExt cx="1692502" cy="3129989"/>
          </a:xfrm>
        </p:grpSpPr>
        <p:cxnSp>
          <p:nvCxnSpPr>
            <p:cNvPr id="546" name="Straight Connector 545"/>
            <p:cNvCxnSpPr/>
            <p:nvPr/>
          </p:nvCxnSpPr>
          <p:spPr>
            <a:xfrm>
              <a:off x="8018851" y="4556711"/>
              <a:ext cx="701862"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7" name="Straight Connector 546"/>
            <p:cNvCxnSpPr/>
            <p:nvPr/>
          </p:nvCxnSpPr>
          <p:spPr>
            <a:xfrm>
              <a:off x="8018851" y="4762553"/>
              <a:ext cx="604790"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48" name="Rectangle 547"/>
            <p:cNvSpPr/>
            <p:nvPr/>
          </p:nvSpPr>
          <p:spPr>
            <a:xfrm>
              <a:off x="8097487" y="4391042"/>
              <a:ext cx="523324" cy="553709"/>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400" b="1" noProof="1">
                  <a:solidFill>
                    <a:schemeClr val="tx1"/>
                  </a:solidFill>
                </a:rPr>
                <a:t>D   Q</a:t>
              </a:r>
            </a:p>
            <a:p>
              <a:pPr algn="ctr">
                <a:lnSpc>
                  <a:spcPct val="70000"/>
                </a:lnSpc>
              </a:pPr>
              <a:endParaRPr lang="pt-BR" sz="900" b="1" noProof="1">
                <a:solidFill>
                  <a:schemeClr val="tx1"/>
                </a:solidFill>
              </a:endParaRPr>
            </a:p>
            <a:p>
              <a:pPr algn="ctr">
                <a:lnSpc>
                  <a:spcPct val="70000"/>
                </a:lnSpc>
              </a:pPr>
              <a:r>
                <a:rPr lang="pt-BR" sz="1400" b="1" noProof="1">
                  <a:solidFill>
                    <a:schemeClr val="tx1"/>
                  </a:solidFill>
                </a:rPr>
                <a:t>  Ck Q’</a:t>
              </a:r>
            </a:p>
          </p:txBody>
        </p:sp>
        <p:sp>
          <p:nvSpPr>
            <p:cNvPr id="549" name="Isosceles Triangle 548"/>
            <p:cNvSpPr/>
            <p:nvPr/>
          </p:nvSpPr>
          <p:spPr>
            <a:xfrm rot="5400000">
              <a:off x="8083274" y="4733286"/>
              <a:ext cx="110013" cy="76459"/>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50" name="Straight Connector 549"/>
            <p:cNvCxnSpPr/>
            <p:nvPr/>
          </p:nvCxnSpPr>
          <p:spPr>
            <a:xfrm>
              <a:off x="8724161" y="4551442"/>
              <a:ext cx="0" cy="106595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51" name="Rectangle 550"/>
            <p:cNvSpPr/>
            <p:nvPr/>
          </p:nvSpPr>
          <p:spPr>
            <a:xfrm>
              <a:off x="8208811" y="5527345"/>
              <a:ext cx="1048723" cy="369332"/>
            </a:xfrm>
            <a:prstGeom prst="rect">
              <a:avLst/>
            </a:prstGeom>
          </p:spPr>
          <p:txBody>
            <a:bodyPr wrap="square">
              <a:spAutoFit/>
            </a:bodyPr>
            <a:lstStyle/>
            <a:p>
              <a:pPr algn="ctr"/>
              <a:r>
                <a:rPr lang="pt-BR" b="1" noProof="1"/>
                <a:t> out[3]</a:t>
              </a:r>
              <a:endParaRPr lang="pt-BR" dirty="0"/>
            </a:p>
          </p:txBody>
        </p:sp>
        <p:cxnSp>
          <p:nvCxnSpPr>
            <p:cNvPr id="552" name="Straight Connector 551"/>
            <p:cNvCxnSpPr>
              <a:stCxn id="561" idx="3"/>
            </p:cNvCxnSpPr>
            <p:nvPr/>
          </p:nvCxnSpPr>
          <p:spPr>
            <a:xfrm>
              <a:off x="8018796" y="4045082"/>
              <a:ext cx="55" cy="51162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53" name="Rectangle 552"/>
            <p:cNvSpPr/>
            <p:nvPr/>
          </p:nvSpPr>
          <p:spPr>
            <a:xfrm>
              <a:off x="7565032" y="2766688"/>
              <a:ext cx="745146" cy="369332"/>
            </a:xfrm>
            <a:prstGeom prst="rect">
              <a:avLst/>
            </a:prstGeom>
          </p:spPr>
          <p:txBody>
            <a:bodyPr wrap="square">
              <a:spAutoFit/>
            </a:bodyPr>
            <a:lstStyle/>
            <a:p>
              <a:pPr algn="ctr"/>
              <a:r>
                <a:rPr lang="pt-BR" b="1" noProof="1"/>
                <a:t> in[3]</a:t>
              </a:r>
              <a:endParaRPr lang="pt-BR" dirty="0"/>
            </a:p>
          </p:txBody>
        </p:sp>
        <p:cxnSp>
          <p:nvCxnSpPr>
            <p:cNvPr id="554" name="Straight Connector 553"/>
            <p:cNvCxnSpPr/>
            <p:nvPr/>
          </p:nvCxnSpPr>
          <p:spPr>
            <a:xfrm>
              <a:off x="8018851" y="4762553"/>
              <a:ext cx="0" cy="356629"/>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555" name="Straight Connector 554"/>
            <p:cNvCxnSpPr/>
            <p:nvPr/>
          </p:nvCxnSpPr>
          <p:spPr>
            <a:xfrm>
              <a:off x="8720713" y="3865859"/>
              <a:ext cx="0" cy="690851"/>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556" name="Straight Connector 555"/>
            <p:cNvCxnSpPr/>
            <p:nvPr/>
          </p:nvCxnSpPr>
          <p:spPr>
            <a:xfrm>
              <a:off x="7937605" y="3110706"/>
              <a:ext cx="0" cy="934376"/>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7" name="Straight Connector 556"/>
            <p:cNvCxnSpPr/>
            <p:nvPr/>
          </p:nvCxnSpPr>
          <p:spPr>
            <a:xfrm>
              <a:off x="8097487" y="3865859"/>
              <a:ext cx="630574" cy="407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8" name="Straight Connector 557"/>
            <p:cNvCxnSpPr/>
            <p:nvPr/>
          </p:nvCxnSpPr>
          <p:spPr>
            <a:xfrm>
              <a:off x="8102370" y="3865859"/>
              <a:ext cx="0" cy="168735"/>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9" name="Straight Connector 558"/>
            <p:cNvCxnSpPr/>
            <p:nvPr/>
          </p:nvCxnSpPr>
          <p:spPr>
            <a:xfrm>
              <a:off x="8037269" y="4169056"/>
              <a:ext cx="301958"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0" name="Straight Connector 559"/>
            <p:cNvCxnSpPr/>
            <p:nvPr/>
          </p:nvCxnSpPr>
          <p:spPr>
            <a:xfrm>
              <a:off x="8331544" y="3593163"/>
              <a:ext cx="0" cy="583227"/>
            </a:xfrm>
            <a:prstGeom prst="line">
              <a:avLst/>
            </a:prstGeom>
            <a:ln w="28575" cmpd="sng">
              <a:solidFill>
                <a:srgbClr val="000000"/>
              </a:solidFill>
              <a:headEnd type="oval"/>
              <a:tailEnd type="none"/>
            </a:ln>
            <a:effectLst/>
          </p:spPr>
          <p:style>
            <a:lnRef idx="2">
              <a:schemeClr val="accent1"/>
            </a:lnRef>
            <a:fillRef idx="0">
              <a:schemeClr val="accent1"/>
            </a:fillRef>
            <a:effectRef idx="1">
              <a:schemeClr val="accent1"/>
            </a:effectRef>
            <a:fontRef idx="minor">
              <a:schemeClr val="tx1"/>
            </a:fontRef>
          </p:style>
        </p:cxnSp>
        <p:sp>
          <p:nvSpPr>
            <p:cNvPr id="561" name="Isosceles Triangle 560"/>
            <p:cNvSpPr/>
            <p:nvPr/>
          </p:nvSpPr>
          <p:spPr>
            <a:xfrm rot="10800000">
              <a:off x="7870825" y="4045082"/>
              <a:ext cx="295942" cy="321064"/>
            </a:xfrm>
            <a:prstGeom prst="triangle">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562" name="Rectangle 561"/>
            <p:cNvSpPr/>
            <p:nvPr/>
          </p:nvSpPr>
          <p:spPr>
            <a:xfrm>
              <a:off x="7842249" y="3832443"/>
              <a:ext cx="935845" cy="1346974"/>
            </a:xfrm>
            <a:prstGeom prst="rect">
              <a:avLst/>
            </a:prstGeom>
            <a:noFill/>
            <a:ln w="12700" cmpd="sng">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endParaRPr lang="pt-BR" sz="1400" b="1" noProof="1">
                <a:solidFill>
                  <a:schemeClr val="tx1"/>
                </a:solidFill>
              </a:endParaRPr>
            </a:p>
          </p:txBody>
        </p:sp>
      </p:grpSp>
      <p:grpSp>
        <p:nvGrpSpPr>
          <p:cNvPr id="563" name="Group 562"/>
          <p:cNvGrpSpPr/>
          <p:nvPr/>
        </p:nvGrpSpPr>
        <p:grpSpPr>
          <a:xfrm>
            <a:off x="3571175" y="3129313"/>
            <a:ext cx="1692502" cy="3129989"/>
            <a:chOff x="7565032" y="2766688"/>
            <a:chExt cx="1692502" cy="3129989"/>
          </a:xfrm>
        </p:grpSpPr>
        <p:cxnSp>
          <p:nvCxnSpPr>
            <p:cNvPr id="564" name="Straight Connector 563"/>
            <p:cNvCxnSpPr/>
            <p:nvPr/>
          </p:nvCxnSpPr>
          <p:spPr>
            <a:xfrm>
              <a:off x="8018851" y="4556711"/>
              <a:ext cx="701862"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5" name="Straight Connector 564"/>
            <p:cNvCxnSpPr/>
            <p:nvPr/>
          </p:nvCxnSpPr>
          <p:spPr>
            <a:xfrm>
              <a:off x="8018851" y="4762553"/>
              <a:ext cx="604790"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66" name="Rectangle 565"/>
            <p:cNvSpPr/>
            <p:nvPr/>
          </p:nvSpPr>
          <p:spPr>
            <a:xfrm>
              <a:off x="8097487" y="4391042"/>
              <a:ext cx="523324" cy="553709"/>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400" b="1" noProof="1">
                  <a:solidFill>
                    <a:schemeClr val="tx1"/>
                  </a:solidFill>
                </a:rPr>
                <a:t>D   Q</a:t>
              </a:r>
            </a:p>
            <a:p>
              <a:pPr algn="ctr">
                <a:lnSpc>
                  <a:spcPct val="70000"/>
                </a:lnSpc>
              </a:pPr>
              <a:endParaRPr lang="pt-BR" sz="900" b="1" noProof="1">
                <a:solidFill>
                  <a:schemeClr val="tx1"/>
                </a:solidFill>
              </a:endParaRPr>
            </a:p>
            <a:p>
              <a:pPr algn="ctr">
                <a:lnSpc>
                  <a:spcPct val="70000"/>
                </a:lnSpc>
              </a:pPr>
              <a:r>
                <a:rPr lang="pt-BR" sz="1400" b="1" noProof="1">
                  <a:solidFill>
                    <a:schemeClr val="tx1"/>
                  </a:solidFill>
                </a:rPr>
                <a:t>  Ck Q’</a:t>
              </a:r>
            </a:p>
          </p:txBody>
        </p:sp>
        <p:sp>
          <p:nvSpPr>
            <p:cNvPr id="567" name="Isosceles Triangle 566"/>
            <p:cNvSpPr/>
            <p:nvPr/>
          </p:nvSpPr>
          <p:spPr>
            <a:xfrm rot="5400000">
              <a:off x="8083274" y="4733286"/>
              <a:ext cx="110013" cy="76459"/>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68" name="Straight Connector 567"/>
            <p:cNvCxnSpPr/>
            <p:nvPr/>
          </p:nvCxnSpPr>
          <p:spPr>
            <a:xfrm>
              <a:off x="8724161" y="4551442"/>
              <a:ext cx="0" cy="106595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69" name="Rectangle 568"/>
            <p:cNvSpPr/>
            <p:nvPr/>
          </p:nvSpPr>
          <p:spPr>
            <a:xfrm>
              <a:off x="8208811" y="5527345"/>
              <a:ext cx="1048723" cy="369332"/>
            </a:xfrm>
            <a:prstGeom prst="rect">
              <a:avLst/>
            </a:prstGeom>
          </p:spPr>
          <p:txBody>
            <a:bodyPr wrap="square">
              <a:spAutoFit/>
            </a:bodyPr>
            <a:lstStyle/>
            <a:p>
              <a:pPr algn="ctr"/>
              <a:r>
                <a:rPr lang="pt-BR" b="1" noProof="1"/>
                <a:t> out[4]</a:t>
              </a:r>
              <a:endParaRPr lang="pt-BR" dirty="0"/>
            </a:p>
          </p:txBody>
        </p:sp>
        <p:cxnSp>
          <p:nvCxnSpPr>
            <p:cNvPr id="570" name="Straight Connector 569"/>
            <p:cNvCxnSpPr>
              <a:stCxn id="579" idx="3"/>
            </p:cNvCxnSpPr>
            <p:nvPr/>
          </p:nvCxnSpPr>
          <p:spPr>
            <a:xfrm>
              <a:off x="8018796" y="4045082"/>
              <a:ext cx="55" cy="51162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71" name="Rectangle 570"/>
            <p:cNvSpPr/>
            <p:nvPr/>
          </p:nvSpPr>
          <p:spPr>
            <a:xfrm>
              <a:off x="7565032" y="2766688"/>
              <a:ext cx="745146" cy="369332"/>
            </a:xfrm>
            <a:prstGeom prst="rect">
              <a:avLst/>
            </a:prstGeom>
          </p:spPr>
          <p:txBody>
            <a:bodyPr wrap="square">
              <a:spAutoFit/>
            </a:bodyPr>
            <a:lstStyle/>
            <a:p>
              <a:pPr algn="ctr"/>
              <a:r>
                <a:rPr lang="pt-BR" b="1" noProof="1"/>
                <a:t> in[4]</a:t>
              </a:r>
              <a:endParaRPr lang="pt-BR" dirty="0"/>
            </a:p>
          </p:txBody>
        </p:sp>
        <p:cxnSp>
          <p:nvCxnSpPr>
            <p:cNvPr id="572" name="Straight Connector 571"/>
            <p:cNvCxnSpPr/>
            <p:nvPr/>
          </p:nvCxnSpPr>
          <p:spPr>
            <a:xfrm>
              <a:off x="8018851" y="4762553"/>
              <a:ext cx="0" cy="356629"/>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573" name="Straight Connector 572"/>
            <p:cNvCxnSpPr/>
            <p:nvPr/>
          </p:nvCxnSpPr>
          <p:spPr>
            <a:xfrm>
              <a:off x="8720713" y="3865859"/>
              <a:ext cx="0" cy="690851"/>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574" name="Straight Connector 573"/>
            <p:cNvCxnSpPr/>
            <p:nvPr/>
          </p:nvCxnSpPr>
          <p:spPr>
            <a:xfrm>
              <a:off x="7937605" y="3110706"/>
              <a:ext cx="0" cy="934376"/>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5" name="Straight Connector 574"/>
            <p:cNvCxnSpPr/>
            <p:nvPr/>
          </p:nvCxnSpPr>
          <p:spPr>
            <a:xfrm>
              <a:off x="8097487" y="3865859"/>
              <a:ext cx="630574" cy="407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6" name="Straight Connector 575"/>
            <p:cNvCxnSpPr/>
            <p:nvPr/>
          </p:nvCxnSpPr>
          <p:spPr>
            <a:xfrm>
              <a:off x="8102370" y="3865859"/>
              <a:ext cx="0" cy="168735"/>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7" name="Straight Connector 576"/>
            <p:cNvCxnSpPr/>
            <p:nvPr/>
          </p:nvCxnSpPr>
          <p:spPr>
            <a:xfrm>
              <a:off x="8037269" y="4169056"/>
              <a:ext cx="301958"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8" name="Straight Connector 577"/>
            <p:cNvCxnSpPr/>
            <p:nvPr/>
          </p:nvCxnSpPr>
          <p:spPr>
            <a:xfrm>
              <a:off x="8331544" y="3593163"/>
              <a:ext cx="0" cy="583227"/>
            </a:xfrm>
            <a:prstGeom prst="line">
              <a:avLst/>
            </a:prstGeom>
            <a:ln w="28575" cmpd="sng">
              <a:solidFill>
                <a:srgbClr val="000000"/>
              </a:solidFill>
              <a:headEnd type="oval"/>
              <a:tailEnd type="none"/>
            </a:ln>
            <a:effectLst/>
          </p:spPr>
          <p:style>
            <a:lnRef idx="2">
              <a:schemeClr val="accent1"/>
            </a:lnRef>
            <a:fillRef idx="0">
              <a:schemeClr val="accent1"/>
            </a:fillRef>
            <a:effectRef idx="1">
              <a:schemeClr val="accent1"/>
            </a:effectRef>
            <a:fontRef idx="minor">
              <a:schemeClr val="tx1"/>
            </a:fontRef>
          </p:style>
        </p:cxnSp>
        <p:sp>
          <p:nvSpPr>
            <p:cNvPr id="579" name="Isosceles Triangle 578"/>
            <p:cNvSpPr/>
            <p:nvPr/>
          </p:nvSpPr>
          <p:spPr>
            <a:xfrm rot="10800000">
              <a:off x="7870825" y="4045082"/>
              <a:ext cx="295942" cy="321064"/>
            </a:xfrm>
            <a:prstGeom prst="triangle">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580" name="Rectangle 579"/>
            <p:cNvSpPr/>
            <p:nvPr/>
          </p:nvSpPr>
          <p:spPr>
            <a:xfrm>
              <a:off x="7842249" y="3832443"/>
              <a:ext cx="935845" cy="1346974"/>
            </a:xfrm>
            <a:prstGeom prst="rect">
              <a:avLst/>
            </a:prstGeom>
            <a:noFill/>
            <a:ln w="12700" cmpd="sng">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endParaRPr lang="pt-BR" sz="1400" b="1" noProof="1">
                <a:solidFill>
                  <a:schemeClr val="tx1"/>
                </a:solidFill>
              </a:endParaRPr>
            </a:p>
          </p:txBody>
        </p:sp>
      </p:grpSp>
      <p:grpSp>
        <p:nvGrpSpPr>
          <p:cNvPr id="581" name="Group 580"/>
          <p:cNvGrpSpPr/>
          <p:nvPr/>
        </p:nvGrpSpPr>
        <p:grpSpPr>
          <a:xfrm>
            <a:off x="2576910" y="3131328"/>
            <a:ext cx="1692502" cy="3129989"/>
            <a:chOff x="7565032" y="2766688"/>
            <a:chExt cx="1692502" cy="3129989"/>
          </a:xfrm>
        </p:grpSpPr>
        <p:cxnSp>
          <p:nvCxnSpPr>
            <p:cNvPr id="582" name="Straight Connector 581"/>
            <p:cNvCxnSpPr/>
            <p:nvPr/>
          </p:nvCxnSpPr>
          <p:spPr>
            <a:xfrm>
              <a:off x="8018851" y="4556711"/>
              <a:ext cx="701862"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83" name="Straight Connector 582"/>
            <p:cNvCxnSpPr/>
            <p:nvPr/>
          </p:nvCxnSpPr>
          <p:spPr>
            <a:xfrm>
              <a:off x="8018851" y="4762553"/>
              <a:ext cx="604790"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4" name="Rectangle 583"/>
            <p:cNvSpPr/>
            <p:nvPr/>
          </p:nvSpPr>
          <p:spPr>
            <a:xfrm>
              <a:off x="8097487" y="4391042"/>
              <a:ext cx="523324" cy="553709"/>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400" b="1" noProof="1">
                  <a:solidFill>
                    <a:schemeClr val="tx1"/>
                  </a:solidFill>
                </a:rPr>
                <a:t>D   Q</a:t>
              </a:r>
            </a:p>
            <a:p>
              <a:pPr algn="ctr">
                <a:lnSpc>
                  <a:spcPct val="70000"/>
                </a:lnSpc>
              </a:pPr>
              <a:endParaRPr lang="pt-BR" sz="900" b="1" noProof="1">
                <a:solidFill>
                  <a:schemeClr val="tx1"/>
                </a:solidFill>
              </a:endParaRPr>
            </a:p>
            <a:p>
              <a:pPr algn="ctr">
                <a:lnSpc>
                  <a:spcPct val="70000"/>
                </a:lnSpc>
              </a:pPr>
              <a:r>
                <a:rPr lang="pt-BR" sz="1400" b="1" noProof="1">
                  <a:solidFill>
                    <a:schemeClr val="tx1"/>
                  </a:solidFill>
                </a:rPr>
                <a:t>  Ck Q’</a:t>
              </a:r>
            </a:p>
          </p:txBody>
        </p:sp>
        <p:sp>
          <p:nvSpPr>
            <p:cNvPr id="585" name="Isosceles Triangle 584"/>
            <p:cNvSpPr/>
            <p:nvPr/>
          </p:nvSpPr>
          <p:spPr>
            <a:xfrm rot="5400000">
              <a:off x="8083274" y="4733286"/>
              <a:ext cx="110013" cy="76459"/>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86" name="Straight Connector 585"/>
            <p:cNvCxnSpPr/>
            <p:nvPr/>
          </p:nvCxnSpPr>
          <p:spPr>
            <a:xfrm>
              <a:off x="8724161" y="4551442"/>
              <a:ext cx="0" cy="106595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7" name="Rectangle 586"/>
            <p:cNvSpPr/>
            <p:nvPr/>
          </p:nvSpPr>
          <p:spPr>
            <a:xfrm>
              <a:off x="8208811" y="5527345"/>
              <a:ext cx="1048723" cy="369332"/>
            </a:xfrm>
            <a:prstGeom prst="rect">
              <a:avLst/>
            </a:prstGeom>
          </p:spPr>
          <p:txBody>
            <a:bodyPr wrap="square">
              <a:spAutoFit/>
            </a:bodyPr>
            <a:lstStyle/>
            <a:p>
              <a:pPr algn="ctr"/>
              <a:r>
                <a:rPr lang="pt-BR" b="1" noProof="1"/>
                <a:t> out[5]</a:t>
              </a:r>
              <a:endParaRPr lang="pt-BR" dirty="0"/>
            </a:p>
          </p:txBody>
        </p:sp>
        <p:cxnSp>
          <p:nvCxnSpPr>
            <p:cNvPr id="588" name="Straight Connector 587"/>
            <p:cNvCxnSpPr>
              <a:stCxn id="597" idx="3"/>
            </p:cNvCxnSpPr>
            <p:nvPr/>
          </p:nvCxnSpPr>
          <p:spPr>
            <a:xfrm>
              <a:off x="8018796" y="4045082"/>
              <a:ext cx="55" cy="51162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9" name="Rectangle 588"/>
            <p:cNvSpPr/>
            <p:nvPr/>
          </p:nvSpPr>
          <p:spPr>
            <a:xfrm>
              <a:off x="7565032" y="2766688"/>
              <a:ext cx="745146" cy="369332"/>
            </a:xfrm>
            <a:prstGeom prst="rect">
              <a:avLst/>
            </a:prstGeom>
          </p:spPr>
          <p:txBody>
            <a:bodyPr wrap="square">
              <a:spAutoFit/>
            </a:bodyPr>
            <a:lstStyle/>
            <a:p>
              <a:pPr algn="ctr"/>
              <a:r>
                <a:rPr lang="pt-BR" b="1" noProof="1"/>
                <a:t> in[5]</a:t>
              </a:r>
              <a:endParaRPr lang="pt-BR" dirty="0"/>
            </a:p>
          </p:txBody>
        </p:sp>
        <p:cxnSp>
          <p:nvCxnSpPr>
            <p:cNvPr id="590" name="Straight Connector 589"/>
            <p:cNvCxnSpPr/>
            <p:nvPr/>
          </p:nvCxnSpPr>
          <p:spPr>
            <a:xfrm>
              <a:off x="8018851" y="4762553"/>
              <a:ext cx="0" cy="356629"/>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591" name="Straight Connector 590"/>
            <p:cNvCxnSpPr/>
            <p:nvPr/>
          </p:nvCxnSpPr>
          <p:spPr>
            <a:xfrm>
              <a:off x="8720713" y="3865859"/>
              <a:ext cx="0" cy="690851"/>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592" name="Straight Connector 591"/>
            <p:cNvCxnSpPr/>
            <p:nvPr/>
          </p:nvCxnSpPr>
          <p:spPr>
            <a:xfrm>
              <a:off x="7937605" y="3110706"/>
              <a:ext cx="0" cy="934376"/>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93" name="Straight Connector 592"/>
            <p:cNvCxnSpPr/>
            <p:nvPr/>
          </p:nvCxnSpPr>
          <p:spPr>
            <a:xfrm>
              <a:off x="8097487" y="3865859"/>
              <a:ext cx="630574" cy="407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94" name="Straight Connector 593"/>
            <p:cNvCxnSpPr/>
            <p:nvPr/>
          </p:nvCxnSpPr>
          <p:spPr>
            <a:xfrm>
              <a:off x="8102370" y="3865859"/>
              <a:ext cx="0" cy="168735"/>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95" name="Straight Connector 594"/>
            <p:cNvCxnSpPr/>
            <p:nvPr/>
          </p:nvCxnSpPr>
          <p:spPr>
            <a:xfrm>
              <a:off x="8037269" y="4169056"/>
              <a:ext cx="301958"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96" name="Straight Connector 595"/>
            <p:cNvCxnSpPr/>
            <p:nvPr/>
          </p:nvCxnSpPr>
          <p:spPr>
            <a:xfrm>
              <a:off x="8331544" y="3593163"/>
              <a:ext cx="0" cy="583227"/>
            </a:xfrm>
            <a:prstGeom prst="line">
              <a:avLst/>
            </a:prstGeom>
            <a:ln w="28575" cmpd="sng">
              <a:solidFill>
                <a:srgbClr val="000000"/>
              </a:solidFill>
              <a:headEnd type="oval"/>
              <a:tailEnd type="none"/>
            </a:ln>
            <a:effectLst/>
          </p:spPr>
          <p:style>
            <a:lnRef idx="2">
              <a:schemeClr val="accent1"/>
            </a:lnRef>
            <a:fillRef idx="0">
              <a:schemeClr val="accent1"/>
            </a:fillRef>
            <a:effectRef idx="1">
              <a:schemeClr val="accent1"/>
            </a:effectRef>
            <a:fontRef idx="minor">
              <a:schemeClr val="tx1"/>
            </a:fontRef>
          </p:style>
        </p:cxnSp>
        <p:sp>
          <p:nvSpPr>
            <p:cNvPr id="597" name="Isosceles Triangle 596"/>
            <p:cNvSpPr/>
            <p:nvPr/>
          </p:nvSpPr>
          <p:spPr>
            <a:xfrm rot="10800000">
              <a:off x="7870825" y="4045082"/>
              <a:ext cx="295942" cy="321064"/>
            </a:xfrm>
            <a:prstGeom prst="triangle">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598" name="Rectangle 597"/>
            <p:cNvSpPr/>
            <p:nvPr/>
          </p:nvSpPr>
          <p:spPr>
            <a:xfrm>
              <a:off x="7842249" y="3832443"/>
              <a:ext cx="935845" cy="1346974"/>
            </a:xfrm>
            <a:prstGeom prst="rect">
              <a:avLst/>
            </a:prstGeom>
            <a:noFill/>
            <a:ln w="12700" cmpd="sng">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endParaRPr lang="pt-BR" sz="1400" b="1" noProof="1">
                <a:solidFill>
                  <a:schemeClr val="tx1"/>
                </a:solidFill>
              </a:endParaRPr>
            </a:p>
          </p:txBody>
        </p:sp>
      </p:grpSp>
      <p:grpSp>
        <p:nvGrpSpPr>
          <p:cNvPr id="599" name="Group 598"/>
          <p:cNvGrpSpPr/>
          <p:nvPr/>
        </p:nvGrpSpPr>
        <p:grpSpPr>
          <a:xfrm>
            <a:off x="1590328" y="3131328"/>
            <a:ext cx="1692502" cy="3129989"/>
            <a:chOff x="7565032" y="2766688"/>
            <a:chExt cx="1692502" cy="3129989"/>
          </a:xfrm>
        </p:grpSpPr>
        <p:cxnSp>
          <p:nvCxnSpPr>
            <p:cNvPr id="600" name="Straight Connector 599"/>
            <p:cNvCxnSpPr/>
            <p:nvPr/>
          </p:nvCxnSpPr>
          <p:spPr>
            <a:xfrm>
              <a:off x="8018851" y="4556711"/>
              <a:ext cx="701862"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01" name="Straight Connector 600"/>
            <p:cNvCxnSpPr/>
            <p:nvPr/>
          </p:nvCxnSpPr>
          <p:spPr>
            <a:xfrm>
              <a:off x="8018851" y="4762553"/>
              <a:ext cx="604790"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2" name="Rectangle 601"/>
            <p:cNvSpPr/>
            <p:nvPr/>
          </p:nvSpPr>
          <p:spPr>
            <a:xfrm>
              <a:off x="8097487" y="4391042"/>
              <a:ext cx="523324" cy="553709"/>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400" b="1" noProof="1">
                  <a:solidFill>
                    <a:schemeClr val="tx1"/>
                  </a:solidFill>
                </a:rPr>
                <a:t>D   Q</a:t>
              </a:r>
            </a:p>
            <a:p>
              <a:pPr algn="ctr">
                <a:lnSpc>
                  <a:spcPct val="70000"/>
                </a:lnSpc>
              </a:pPr>
              <a:endParaRPr lang="pt-BR" sz="900" b="1" noProof="1">
                <a:solidFill>
                  <a:schemeClr val="tx1"/>
                </a:solidFill>
              </a:endParaRPr>
            </a:p>
            <a:p>
              <a:pPr algn="ctr">
                <a:lnSpc>
                  <a:spcPct val="70000"/>
                </a:lnSpc>
              </a:pPr>
              <a:r>
                <a:rPr lang="pt-BR" sz="1400" b="1" noProof="1">
                  <a:solidFill>
                    <a:schemeClr val="tx1"/>
                  </a:solidFill>
                </a:rPr>
                <a:t>  Ck Q’</a:t>
              </a:r>
            </a:p>
          </p:txBody>
        </p:sp>
        <p:sp>
          <p:nvSpPr>
            <p:cNvPr id="603" name="Isosceles Triangle 602"/>
            <p:cNvSpPr/>
            <p:nvPr/>
          </p:nvSpPr>
          <p:spPr>
            <a:xfrm rot="5400000">
              <a:off x="8083274" y="4733286"/>
              <a:ext cx="110013" cy="76459"/>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604" name="Straight Connector 603"/>
            <p:cNvCxnSpPr/>
            <p:nvPr/>
          </p:nvCxnSpPr>
          <p:spPr>
            <a:xfrm>
              <a:off x="8724161" y="4551442"/>
              <a:ext cx="0" cy="106595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5" name="Rectangle 604"/>
            <p:cNvSpPr/>
            <p:nvPr/>
          </p:nvSpPr>
          <p:spPr>
            <a:xfrm>
              <a:off x="8208811" y="5527345"/>
              <a:ext cx="1048723" cy="369332"/>
            </a:xfrm>
            <a:prstGeom prst="rect">
              <a:avLst/>
            </a:prstGeom>
          </p:spPr>
          <p:txBody>
            <a:bodyPr wrap="square">
              <a:spAutoFit/>
            </a:bodyPr>
            <a:lstStyle/>
            <a:p>
              <a:pPr algn="ctr"/>
              <a:r>
                <a:rPr lang="pt-BR" b="1" noProof="1"/>
                <a:t> out[6]</a:t>
              </a:r>
              <a:endParaRPr lang="pt-BR" dirty="0"/>
            </a:p>
          </p:txBody>
        </p:sp>
        <p:cxnSp>
          <p:nvCxnSpPr>
            <p:cNvPr id="606" name="Straight Connector 605"/>
            <p:cNvCxnSpPr>
              <a:stCxn id="615" idx="3"/>
            </p:cNvCxnSpPr>
            <p:nvPr/>
          </p:nvCxnSpPr>
          <p:spPr>
            <a:xfrm>
              <a:off x="8018796" y="4045082"/>
              <a:ext cx="55" cy="51162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7" name="Rectangle 606"/>
            <p:cNvSpPr/>
            <p:nvPr/>
          </p:nvSpPr>
          <p:spPr>
            <a:xfrm>
              <a:off x="7565032" y="2766688"/>
              <a:ext cx="745146" cy="369332"/>
            </a:xfrm>
            <a:prstGeom prst="rect">
              <a:avLst/>
            </a:prstGeom>
          </p:spPr>
          <p:txBody>
            <a:bodyPr wrap="square">
              <a:spAutoFit/>
            </a:bodyPr>
            <a:lstStyle/>
            <a:p>
              <a:pPr algn="ctr"/>
              <a:r>
                <a:rPr lang="pt-BR" b="1" noProof="1"/>
                <a:t> in[6]</a:t>
              </a:r>
              <a:endParaRPr lang="pt-BR" dirty="0"/>
            </a:p>
          </p:txBody>
        </p:sp>
        <p:cxnSp>
          <p:nvCxnSpPr>
            <p:cNvPr id="608" name="Straight Connector 607"/>
            <p:cNvCxnSpPr/>
            <p:nvPr/>
          </p:nvCxnSpPr>
          <p:spPr>
            <a:xfrm>
              <a:off x="8018851" y="4762553"/>
              <a:ext cx="0" cy="356629"/>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609" name="Straight Connector 608"/>
            <p:cNvCxnSpPr/>
            <p:nvPr/>
          </p:nvCxnSpPr>
          <p:spPr>
            <a:xfrm>
              <a:off x="8720713" y="3865859"/>
              <a:ext cx="0" cy="690851"/>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610" name="Straight Connector 609"/>
            <p:cNvCxnSpPr/>
            <p:nvPr/>
          </p:nvCxnSpPr>
          <p:spPr>
            <a:xfrm>
              <a:off x="7937605" y="3110706"/>
              <a:ext cx="0" cy="934376"/>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11" name="Straight Connector 610"/>
            <p:cNvCxnSpPr/>
            <p:nvPr/>
          </p:nvCxnSpPr>
          <p:spPr>
            <a:xfrm>
              <a:off x="8097487" y="3865859"/>
              <a:ext cx="630574" cy="407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12" name="Straight Connector 611"/>
            <p:cNvCxnSpPr/>
            <p:nvPr/>
          </p:nvCxnSpPr>
          <p:spPr>
            <a:xfrm>
              <a:off x="8102370" y="3865859"/>
              <a:ext cx="0" cy="168735"/>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13" name="Straight Connector 612"/>
            <p:cNvCxnSpPr/>
            <p:nvPr/>
          </p:nvCxnSpPr>
          <p:spPr>
            <a:xfrm>
              <a:off x="8037269" y="4169056"/>
              <a:ext cx="301958"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14" name="Straight Connector 613"/>
            <p:cNvCxnSpPr/>
            <p:nvPr/>
          </p:nvCxnSpPr>
          <p:spPr>
            <a:xfrm>
              <a:off x="8331544" y="3593163"/>
              <a:ext cx="0" cy="583227"/>
            </a:xfrm>
            <a:prstGeom prst="line">
              <a:avLst/>
            </a:prstGeom>
            <a:ln w="28575" cmpd="sng">
              <a:solidFill>
                <a:srgbClr val="000000"/>
              </a:solidFill>
              <a:headEnd type="oval"/>
              <a:tailEnd type="none"/>
            </a:ln>
            <a:effectLst/>
          </p:spPr>
          <p:style>
            <a:lnRef idx="2">
              <a:schemeClr val="accent1"/>
            </a:lnRef>
            <a:fillRef idx="0">
              <a:schemeClr val="accent1"/>
            </a:fillRef>
            <a:effectRef idx="1">
              <a:schemeClr val="accent1"/>
            </a:effectRef>
            <a:fontRef idx="minor">
              <a:schemeClr val="tx1"/>
            </a:fontRef>
          </p:style>
        </p:cxnSp>
        <p:sp>
          <p:nvSpPr>
            <p:cNvPr id="615" name="Isosceles Triangle 614"/>
            <p:cNvSpPr/>
            <p:nvPr/>
          </p:nvSpPr>
          <p:spPr>
            <a:xfrm rot="10800000">
              <a:off x="7870825" y="4045082"/>
              <a:ext cx="295942" cy="321064"/>
            </a:xfrm>
            <a:prstGeom prst="triangle">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616" name="Rectangle 615"/>
            <p:cNvSpPr/>
            <p:nvPr/>
          </p:nvSpPr>
          <p:spPr>
            <a:xfrm>
              <a:off x="7842249" y="3832443"/>
              <a:ext cx="935845" cy="1346974"/>
            </a:xfrm>
            <a:prstGeom prst="rect">
              <a:avLst/>
            </a:prstGeom>
            <a:noFill/>
            <a:ln w="12700" cmpd="sng">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endParaRPr lang="pt-BR" sz="1400" b="1" noProof="1">
                <a:solidFill>
                  <a:schemeClr val="tx1"/>
                </a:solidFill>
              </a:endParaRPr>
            </a:p>
          </p:txBody>
        </p:sp>
      </p:grpSp>
      <p:grpSp>
        <p:nvGrpSpPr>
          <p:cNvPr id="617" name="Group 616"/>
          <p:cNvGrpSpPr/>
          <p:nvPr/>
        </p:nvGrpSpPr>
        <p:grpSpPr>
          <a:xfrm>
            <a:off x="596063" y="3133343"/>
            <a:ext cx="1692502" cy="3129989"/>
            <a:chOff x="7565032" y="2766688"/>
            <a:chExt cx="1692502" cy="3129989"/>
          </a:xfrm>
        </p:grpSpPr>
        <p:cxnSp>
          <p:nvCxnSpPr>
            <p:cNvPr id="618" name="Straight Connector 617"/>
            <p:cNvCxnSpPr/>
            <p:nvPr/>
          </p:nvCxnSpPr>
          <p:spPr>
            <a:xfrm>
              <a:off x="8018851" y="4556711"/>
              <a:ext cx="701862"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19" name="Straight Connector 618"/>
            <p:cNvCxnSpPr/>
            <p:nvPr/>
          </p:nvCxnSpPr>
          <p:spPr>
            <a:xfrm>
              <a:off x="8018851" y="4762553"/>
              <a:ext cx="604790"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20" name="Rectangle 619"/>
            <p:cNvSpPr/>
            <p:nvPr/>
          </p:nvSpPr>
          <p:spPr>
            <a:xfrm>
              <a:off x="8097487" y="4391042"/>
              <a:ext cx="523324" cy="553709"/>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pt-BR" sz="1400" b="1" noProof="1">
                  <a:solidFill>
                    <a:schemeClr val="tx1"/>
                  </a:solidFill>
                </a:rPr>
                <a:t>D   Q</a:t>
              </a:r>
            </a:p>
            <a:p>
              <a:pPr algn="ctr">
                <a:lnSpc>
                  <a:spcPct val="70000"/>
                </a:lnSpc>
              </a:pPr>
              <a:endParaRPr lang="pt-BR" sz="900" b="1" noProof="1">
                <a:solidFill>
                  <a:schemeClr val="tx1"/>
                </a:solidFill>
              </a:endParaRPr>
            </a:p>
            <a:p>
              <a:pPr algn="ctr">
                <a:lnSpc>
                  <a:spcPct val="70000"/>
                </a:lnSpc>
              </a:pPr>
              <a:r>
                <a:rPr lang="pt-BR" sz="1400" b="1" noProof="1">
                  <a:solidFill>
                    <a:schemeClr val="tx1"/>
                  </a:solidFill>
                </a:rPr>
                <a:t>  Ck Q’</a:t>
              </a:r>
            </a:p>
          </p:txBody>
        </p:sp>
        <p:sp>
          <p:nvSpPr>
            <p:cNvPr id="621" name="Isosceles Triangle 620"/>
            <p:cNvSpPr/>
            <p:nvPr/>
          </p:nvSpPr>
          <p:spPr>
            <a:xfrm rot="5400000">
              <a:off x="8083274" y="4733286"/>
              <a:ext cx="110013" cy="76459"/>
            </a:xfrm>
            <a:prstGeom prst="triangle">
              <a:avLst/>
            </a:prstGeom>
            <a:solidFill>
              <a:srgbClr val="FFFFFF"/>
            </a:solidFill>
            <a:ln w="28575"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622" name="Straight Connector 621"/>
            <p:cNvCxnSpPr/>
            <p:nvPr/>
          </p:nvCxnSpPr>
          <p:spPr>
            <a:xfrm>
              <a:off x="8724161" y="4551442"/>
              <a:ext cx="0" cy="1065957"/>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23" name="Rectangle 622"/>
            <p:cNvSpPr/>
            <p:nvPr/>
          </p:nvSpPr>
          <p:spPr>
            <a:xfrm>
              <a:off x="8208811" y="5527345"/>
              <a:ext cx="1048723" cy="369332"/>
            </a:xfrm>
            <a:prstGeom prst="rect">
              <a:avLst/>
            </a:prstGeom>
          </p:spPr>
          <p:txBody>
            <a:bodyPr wrap="square">
              <a:spAutoFit/>
            </a:bodyPr>
            <a:lstStyle/>
            <a:p>
              <a:pPr algn="ctr"/>
              <a:r>
                <a:rPr lang="pt-BR" b="1" noProof="1"/>
                <a:t> out[7]</a:t>
              </a:r>
              <a:endParaRPr lang="pt-BR" dirty="0"/>
            </a:p>
          </p:txBody>
        </p:sp>
        <p:cxnSp>
          <p:nvCxnSpPr>
            <p:cNvPr id="624" name="Straight Connector 623"/>
            <p:cNvCxnSpPr>
              <a:stCxn id="633" idx="3"/>
            </p:cNvCxnSpPr>
            <p:nvPr/>
          </p:nvCxnSpPr>
          <p:spPr>
            <a:xfrm>
              <a:off x="8018796" y="4045082"/>
              <a:ext cx="55" cy="51162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25" name="Rectangle 624"/>
            <p:cNvSpPr/>
            <p:nvPr/>
          </p:nvSpPr>
          <p:spPr>
            <a:xfrm>
              <a:off x="7565032" y="2766688"/>
              <a:ext cx="745146" cy="369332"/>
            </a:xfrm>
            <a:prstGeom prst="rect">
              <a:avLst/>
            </a:prstGeom>
          </p:spPr>
          <p:txBody>
            <a:bodyPr wrap="square">
              <a:spAutoFit/>
            </a:bodyPr>
            <a:lstStyle/>
            <a:p>
              <a:pPr algn="ctr"/>
              <a:r>
                <a:rPr lang="pt-BR" b="1" noProof="1"/>
                <a:t> in[7]</a:t>
              </a:r>
              <a:endParaRPr lang="pt-BR" dirty="0"/>
            </a:p>
          </p:txBody>
        </p:sp>
        <p:cxnSp>
          <p:nvCxnSpPr>
            <p:cNvPr id="626" name="Straight Connector 625"/>
            <p:cNvCxnSpPr/>
            <p:nvPr/>
          </p:nvCxnSpPr>
          <p:spPr>
            <a:xfrm>
              <a:off x="8018851" y="4762553"/>
              <a:ext cx="0" cy="356629"/>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627" name="Straight Connector 626"/>
            <p:cNvCxnSpPr/>
            <p:nvPr/>
          </p:nvCxnSpPr>
          <p:spPr>
            <a:xfrm>
              <a:off x="8720713" y="3865859"/>
              <a:ext cx="0" cy="690851"/>
            </a:xfrm>
            <a:prstGeom prst="line">
              <a:avLst/>
            </a:prstGeom>
            <a:ln w="28575" cmpd="sng">
              <a:solidFill>
                <a:srgbClr val="000000"/>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628" name="Straight Connector 627"/>
            <p:cNvCxnSpPr/>
            <p:nvPr/>
          </p:nvCxnSpPr>
          <p:spPr>
            <a:xfrm>
              <a:off x="7937605" y="3110706"/>
              <a:ext cx="0" cy="934376"/>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29" name="Straight Connector 628"/>
            <p:cNvCxnSpPr/>
            <p:nvPr/>
          </p:nvCxnSpPr>
          <p:spPr>
            <a:xfrm>
              <a:off x="8097487" y="3865859"/>
              <a:ext cx="630574" cy="4078"/>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30" name="Straight Connector 629"/>
            <p:cNvCxnSpPr/>
            <p:nvPr/>
          </p:nvCxnSpPr>
          <p:spPr>
            <a:xfrm>
              <a:off x="8102370" y="3865859"/>
              <a:ext cx="0" cy="168735"/>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31" name="Straight Connector 630"/>
            <p:cNvCxnSpPr/>
            <p:nvPr/>
          </p:nvCxnSpPr>
          <p:spPr>
            <a:xfrm>
              <a:off x="8037269" y="4169056"/>
              <a:ext cx="301958" cy="0"/>
            </a:xfrm>
            <a:prstGeom prst="line">
              <a:avLst/>
            </a:prstGeom>
            <a:ln w="28575" cmpd="sng">
              <a:solidFill>
                <a:srgbClr val="000000"/>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32" name="Straight Connector 631"/>
            <p:cNvCxnSpPr/>
            <p:nvPr/>
          </p:nvCxnSpPr>
          <p:spPr>
            <a:xfrm>
              <a:off x="8331544" y="3593163"/>
              <a:ext cx="0" cy="583227"/>
            </a:xfrm>
            <a:prstGeom prst="line">
              <a:avLst/>
            </a:prstGeom>
            <a:ln w="28575" cmpd="sng">
              <a:solidFill>
                <a:srgbClr val="000000"/>
              </a:solidFill>
              <a:headEnd type="oval"/>
              <a:tailEnd type="none"/>
            </a:ln>
            <a:effectLst/>
          </p:spPr>
          <p:style>
            <a:lnRef idx="2">
              <a:schemeClr val="accent1"/>
            </a:lnRef>
            <a:fillRef idx="0">
              <a:schemeClr val="accent1"/>
            </a:fillRef>
            <a:effectRef idx="1">
              <a:schemeClr val="accent1"/>
            </a:effectRef>
            <a:fontRef idx="minor">
              <a:schemeClr val="tx1"/>
            </a:fontRef>
          </p:style>
        </p:cxnSp>
        <p:sp>
          <p:nvSpPr>
            <p:cNvPr id="633" name="Isosceles Triangle 632"/>
            <p:cNvSpPr/>
            <p:nvPr/>
          </p:nvSpPr>
          <p:spPr>
            <a:xfrm rot="10800000">
              <a:off x="7870825" y="4045082"/>
              <a:ext cx="295942" cy="321064"/>
            </a:xfrm>
            <a:prstGeom prst="triangle">
              <a:avLst/>
            </a:prstGeom>
            <a:solidFill>
              <a:srgbClr val="FFFFFF"/>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dirty="0"/>
            </a:p>
          </p:txBody>
        </p:sp>
        <p:sp>
          <p:nvSpPr>
            <p:cNvPr id="634" name="Rectangle 633"/>
            <p:cNvSpPr/>
            <p:nvPr/>
          </p:nvSpPr>
          <p:spPr>
            <a:xfrm>
              <a:off x="7842249" y="3832443"/>
              <a:ext cx="935845" cy="1346974"/>
            </a:xfrm>
            <a:prstGeom prst="rect">
              <a:avLst/>
            </a:prstGeom>
            <a:noFill/>
            <a:ln w="12700" cmpd="sng">
              <a:prstDash val="sysDash"/>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endParaRPr lang="pt-BR" sz="1400" b="1" noProof="1">
                <a:solidFill>
                  <a:schemeClr val="tx1"/>
                </a:solidFill>
              </a:endParaRPr>
            </a:p>
          </p:txBody>
        </p:sp>
      </p:grpSp>
      <p:sp>
        <p:nvSpPr>
          <p:cNvPr id="6" name="TextBox 5">
            <a:extLst>
              <a:ext uri="{FF2B5EF4-FFF2-40B4-BE49-F238E27FC236}">
                <a16:creationId xmlns:a16="http://schemas.microsoft.com/office/drawing/2014/main" id="{13663CE0-9200-7923-7FB1-83C420929645}"/>
              </a:ext>
            </a:extLst>
          </p:cNvPr>
          <p:cNvSpPr txBox="1"/>
          <p:nvPr/>
        </p:nvSpPr>
        <p:spPr>
          <a:xfrm>
            <a:off x="547708" y="5632394"/>
            <a:ext cx="817451" cy="338554"/>
          </a:xfrm>
          <a:prstGeom prst="rect">
            <a:avLst/>
          </a:prstGeom>
          <a:noFill/>
        </p:spPr>
        <p:txBody>
          <a:bodyPr wrap="square">
            <a:spAutoFit/>
          </a:bodyPr>
          <a:lstStyle/>
          <a:p>
            <a:r>
              <a:rPr lang="en-US" sz="1600" b="1" baseline="0" noProof="0" dirty="0"/>
              <a:t>Clock</a:t>
            </a:r>
            <a:endParaRPr lang="en-US" sz="1600" b="1" noProof="0" dirty="0"/>
          </a:p>
        </p:txBody>
      </p:sp>
    </p:spTree>
    <p:extLst>
      <p:ext uri="{BB962C8B-B14F-4D97-AF65-F5344CB8AC3E}">
        <p14:creationId xmlns:p14="http://schemas.microsoft.com/office/powerpoint/2010/main" val="137685518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1000"/>
                                  </p:stCondLst>
                                  <p:childTnLst>
                                    <p:set>
                                      <p:cBhvr>
                                        <p:cTn id="6" dur="1" fill="hold">
                                          <p:stCondLst>
                                            <p:cond delay="0"/>
                                          </p:stCondLst>
                                        </p:cTn>
                                        <p:tgtEl>
                                          <p:spTgt spid="509"/>
                                        </p:tgtEl>
                                        <p:attrNameLst>
                                          <p:attrName>style.visibility</p:attrName>
                                        </p:attrNameLst>
                                      </p:cBhvr>
                                      <p:to>
                                        <p:strVal val="visible"/>
                                      </p:to>
                                    </p:set>
                                    <p:anim calcmode="lin" valueType="num">
                                      <p:cBhvr additive="base">
                                        <p:cTn id="7" dur="500" fill="hold"/>
                                        <p:tgtEl>
                                          <p:spTgt spid="509"/>
                                        </p:tgtEl>
                                        <p:attrNameLst>
                                          <p:attrName>ppt_x</p:attrName>
                                        </p:attrNameLst>
                                      </p:cBhvr>
                                      <p:tavLst>
                                        <p:tav tm="0">
                                          <p:val>
                                            <p:strVal val="1+#ppt_w/2"/>
                                          </p:val>
                                        </p:tav>
                                        <p:tav tm="100000">
                                          <p:val>
                                            <p:strVal val="#ppt_x"/>
                                          </p:val>
                                        </p:tav>
                                      </p:tavLst>
                                    </p:anim>
                                    <p:anim calcmode="lin" valueType="num">
                                      <p:cBhvr additive="base">
                                        <p:cTn id="8" dur="500" fill="hold"/>
                                        <p:tgtEl>
                                          <p:spTgt spid="50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1000"/>
                                  </p:stCondLst>
                                  <p:childTnLst>
                                    <p:set>
                                      <p:cBhvr>
                                        <p:cTn id="10" dur="1" fill="hold">
                                          <p:stCondLst>
                                            <p:cond delay="0"/>
                                          </p:stCondLst>
                                        </p:cTn>
                                        <p:tgtEl>
                                          <p:spTgt spid="527"/>
                                        </p:tgtEl>
                                        <p:attrNameLst>
                                          <p:attrName>style.visibility</p:attrName>
                                        </p:attrNameLst>
                                      </p:cBhvr>
                                      <p:to>
                                        <p:strVal val="visible"/>
                                      </p:to>
                                    </p:set>
                                    <p:anim calcmode="lin" valueType="num">
                                      <p:cBhvr additive="base">
                                        <p:cTn id="11" dur="500" fill="hold"/>
                                        <p:tgtEl>
                                          <p:spTgt spid="527"/>
                                        </p:tgtEl>
                                        <p:attrNameLst>
                                          <p:attrName>ppt_x</p:attrName>
                                        </p:attrNameLst>
                                      </p:cBhvr>
                                      <p:tavLst>
                                        <p:tav tm="0">
                                          <p:val>
                                            <p:strVal val="1+#ppt_w/2"/>
                                          </p:val>
                                        </p:tav>
                                        <p:tav tm="100000">
                                          <p:val>
                                            <p:strVal val="#ppt_x"/>
                                          </p:val>
                                        </p:tav>
                                      </p:tavLst>
                                    </p:anim>
                                    <p:anim calcmode="lin" valueType="num">
                                      <p:cBhvr additive="base">
                                        <p:cTn id="12" dur="500" fill="hold"/>
                                        <p:tgtEl>
                                          <p:spTgt spid="527"/>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1000"/>
                                  </p:stCondLst>
                                  <p:childTnLst>
                                    <p:set>
                                      <p:cBhvr>
                                        <p:cTn id="14" dur="1" fill="hold">
                                          <p:stCondLst>
                                            <p:cond delay="0"/>
                                          </p:stCondLst>
                                        </p:cTn>
                                        <p:tgtEl>
                                          <p:spTgt spid="545"/>
                                        </p:tgtEl>
                                        <p:attrNameLst>
                                          <p:attrName>style.visibility</p:attrName>
                                        </p:attrNameLst>
                                      </p:cBhvr>
                                      <p:to>
                                        <p:strVal val="visible"/>
                                      </p:to>
                                    </p:set>
                                    <p:anim calcmode="lin" valueType="num">
                                      <p:cBhvr additive="base">
                                        <p:cTn id="15" dur="500" fill="hold"/>
                                        <p:tgtEl>
                                          <p:spTgt spid="545"/>
                                        </p:tgtEl>
                                        <p:attrNameLst>
                                          <p:attrName>ppt_x</p:attrName>
                                        </p:attrNameLst>
                                      </p:cBhvr>
                                      <p:tavLst>
                                        <p:tav tm="0">
                                          <p:val>
                                            <p:strVal val="1+#ppt_w/2"/>
                                          </p:val>
                                        </p:tav>
                                        <p:tav tm="100000">
                                          <p:val>
                                            <p:strVal val="#ppt_x"/>
                                          </p:val>
                                        </p:tav>
                                      </p:tavLst>
                                    </p:anim>
                                    <p:anim calcmode="lin" valueType="num">
                                      <p:cBhvr additive="base">
                                        <p:cTn id="16" dur="500" fill="hold"/>
                                        <p:tgtEl>
                                          <p:spTgt spid="545"/>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1000"/>
                                  </p:stCondLst>
                                  <p:childTnLst>
                                    <p:set>
                                      <p:cBhvr>
                                        <p:cTn id="18" dur="1" fill="hold">
                                          <p:stCondLst>
                                            <p:cond delay="0"/>
                                          </p:stCondLst>
                                        </p:cTn>
                                        <p:tgtEl>
                                          <p:spTgt spid="563"/>
                                        </p:tgtEl>
                                        <p:attrNameLst>
                                          <p:attrName>style.visibility</p:attrName>
                                        </p:attrNameLst>
                                      </p:cBhvr>
                                      <p:to>
                                        <p:strVal val="visible"/>
                                      </p:to>
                                    </p:set>
                                    <p:anim calcmode="lin" valueType="num">
                                      <p:cBhvr additive="base">
                                        <p:cTn id="19" dur="500" fill="hold"/>
                                        <p:tgtEl>
                                          <p:spTgt spid="563"/>
                                        </p:tgtEl>
                                        <p:attrNameLst>
                                          <p:attrName>ppt_x</p:attrName>
                                        </p:attrNameLst>
                                      </p:cBhvr>
                                      <p:tavLst>
                                        <p:tav tm="0">
                                          <p:val>
                                            <p:strVal val="1+#ppt_w/2"/>
                                          </p:val>
                                        </p:tav>
                                        <p:tav tm="100000">
                                          <p:val>
                                            <p:strVal val="#ppt_x"/>
                                          </p:val>
                                        </p:tav>
                                      </p:tavLst>
                                    </p:anim>
                                    <p:anim calcmode="lin" valueType="num">
                                      <p:cBhvr additive="base">
                                        <p:cTn id="20" dur="500" fill="hold"/>
                                        <p:tgtEl>
                                          <p:spTgt spid="563"/>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1000"/>
                                  </p:stCondLst>
                                  <p:childTnLst>
                                    <p:set>
                                      <p:cBhvr>
                                        <p:cTn id="22" dur="1" fill="hold">
                                          <p:stCondLst>
                                            <p:cond delay="0"/>
                                          </p:stCondLst>
                                        </p:cTn>
                                        <p:tgtEl>
                                          <p:spTgt spid="581"/>
                                        </p:tgtEl>
                                        <p:attrNameLst>
                                          <p:attrName>style.visibility</p:attrName>
                                        </p:attrNameLst>
                                      </p:cBhvr>
                                      <p:to>
                                        <p:strVal val="visible"/>
                                      </p:to>
                                    </p:set>
                                    <p:anim calcmode="lin" valueType="num">
                                      <p:cBhvr additive="base">
                                        <p:cTn id="23" dur="500" fill="hold"/>
                                        <p:tgtEl>
                                          <p:spTgt spid="581"/>
                                        </p:tgtEl>
                                        <p:attrNameLst>
                                          <p:attrName>ppt_x</p:attrName>
                                        </p:attrNameLst>
                                      </p:cBhvr>
                                      <p:tavLst>
                                        <p:tav tm="0">
                                          <p:val>
                                            <p:strVal val="1+#ppt_w/2"/>
                                          </p:val>
                                        </p:tav>
                                        <p:tav tm="100000">
                                          <p:val>
                                            <p:strVal val="#ppt_x"/>
                                          </p:val>
                                        </p:tav>
                                      </p:tavLst>
                                    </p:anim>
                                    <p:anim calcmode="lin" valueType="num">
                                      <p:cBhvr additive="base">
                                        <p:cTn id="24" dur="500" fill="hold"/>
                                        <p:tgtEl>
                                          <p:spTgt spid="581"/>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1000"/>
                                  </p:stCondLst>
                                  <p:childTnLst>
                                    <p:set>
                                      <p:cBhvr>
                                        <p:cTn id="26" dur="1" fill="hold">
                                          <p:stCondLst>
                                            <p:cond delay="0"/>
                                          </p:stCondLst>
                                        </p:cTn>
                                        <p:tgtEl>
                                          <p:spTgt spid="599"/>
                                        </p:tgtEl>
                                        <p:attrNameLst>
                                          <p:attrName>style.visibility</p:attrName>
                                        </p:attrNameLst>
                                      </p:cBhvr>
                                      <p:to>
                                        <p:strVal val="visible"/>
                                      </p:to>
                                    </p:set>
                                    <p:anim calcmode="lin" valueType="num">
                                      <p:cBhvr additive="base">
                                        <p:cTn id="27" dur="500" fill="hold"/>
                                        <p:tgtEl>
                                          <p:spTgt spid="599"/>
                                        </p:tgtEl>
                                        <p:attrNameLst>
                                          <p:attrName>ppt_x</p:attrName>
                                        </p:attrNameLst>
                                      </p:cBhvr>
                                      <p:tavLst>
                                        <p:tav tm="0">
                                          <p:val>
                                            <p:strVal val="1+#ppt_w/2"/>
                                          </p:val>
                                        </p:tav>
                                        <p:tav tm="100000">
                                          <p:val>
                                            <p:strVal val="#ppt_x"/>
                                          </p:val>
                                        </p:tav>
                                      </p:tavLst>
                                    </p:anim>
                                    <p:anim calcmode="lin" valueType="num">
                                      <p:cBhvr additive="base">
                                        <p:cTn id="28" dur="500" fill="hold"/>
                                        <p:tgtEl>
                                          <p:spTgt spid="599"/>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1000"/>
                                  </p:stCondLst>
                                  <p:childTnLst>
                                    <p:set>
                                      <p:cBhvr>
                                        <p:cTn id="30" dur="1" fill="hold">
                                          <p:stCondLst>
                                            <p:cond delay="0"/>
                                          </p:stCondLst>
                                        </p:cTn>
                                        <p:tgtEl>
                                          <p:spTgt spid="617"/>
                                        </p:tgtEl>
                                        <p:attrNameLst>
                                          <p:attrName>style.visibility</p:attrName>
                                        </p:attrNameLst>
                                      </p:cBhvr>
                                      <p:to>
                                        <p:strVal val="visible"/>
                                      </p:to>
                                    </p:set>
                                    <p:anim calcmode="lin" valueType="num">
                                      <p:cBhvr additive="base">
                                        <p:cTn id="31" dur="500" fill="hold"/>
                                        <p:tgtEl>
                                          <p:spTgt spid="617"/>
                                        </p:tgtEl>
                                        <p:attrNameLst>
                                          <p:attrName>ppt_x</p:attrName>
                                        </p:attrNameLst>
                                      </p:cBhvr>
                                      <p:tavLst>
                                        <p:tav tm="0">
                                          <p:val>
                                            <p:strVal val="1+#ppt_w/2"/>
                                          </p:val>
                                        </p:tav>
                                        <p:tav tm="100000">
                                          <p:val>
                                            <p:strVal val="#ppt_x"/>
                                          </p:val>
                                        </p:tav>
                                      </p:tavLst>
                                    </p:anim>
                                    <p:anim calcmode="lin" valueType="num">
                                      <p:cBhvr additive="base">
                                        <p:cTn id="32" dur="500" fill="hold"/>
                                        <p:tgtEl>
                                          <p:spTgt spid="6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Registrador</a:t>
            </a:r>
          </a:p>
        </p:txBody>
      </p:sp>
      <p:sp>
        <p:nvSpPr>
          <p:cNvPr id="3" name="Content Placeholder 2"/>
          <p:cNvSpPr>
            <a:spLocks noGrp="1"/>
          </p:cNvSpPr>
          <p:nvPr>
            <p:ph idx="1"/>
          </p:nvPr>
        </p:nvSpPr>
        <p:spPr>
          <a:xfrm>
            <a:off x="657225" y="1485899"/>
            <a:ext cx="8120869" cy="1751976"/>
          </a:xfrm>
        </p:spPr>
        <p:txBody>
          <a:bodyPr>
            <a:noAutofit/>
          </a:bodyPr>
          <a:lstStyle/>
          <a:p>
            <a:pPr algn="just"/>
            <a:r>
              <a:rPr lang="en-BR" sz="2400" dirty="0"/>
              <a:t>Registradores são elementos de armazenamento rápidos, internos ao processador, usados para guardar operandos, endereços, resultados e informações de controle. A largura dos registradores de propósito geral é uma das características usadas para classificar uma arquitetura como sendo de 8, 16, 32 ou 64 bits.</a:t>
            </a:r>
          </a:p>
        </p:txBody>
      </p:sp>
      <p:sp>
        <p:nvSpPr>
          <p:cNvPr id="188" name="Text Placeholder 187"/>
          <p:cNvSpPr>
            <a:spLocks noGrp="1"/>
          </p:cNvSpPr>
          <p:nvPr>
            <p:ph type="body" sz="quarter" idx="13"/>
          </p:nvPr>
        </p:nvSpPr>
        <p:spPr/>
        <p:txBody>
          <a:bodyPr/>
          <a:lstStyle/>
          <a:p>
            <a:endParaRPr lang="pt-BR" dirty="0"/>
          </a:p>
        </p:txBody>
      </p:sp>
      <p:sp>
        <p:nvSpPr>
          <p:cNvPr id="189" name="Slide Number Placeholder 4"/>
          <p:cNvSpPr>
            <a:spLocks noGrp="1"/>
          </p:cNvSpPr>
          <p:nvPr>
            <p:ph type="sldNum" sz="quarter" idx="4"/>
          </p:nvPr>
        </p:nvSpPr>
        <p:spPr>
          <a:xfrm>
            <a:off x="84172" y="6402174"/>
            <a:ext cx="641516" cy="365125"/>
          </a:xfrm>
        </p:spPr>
        <p:txBody>
          <a:bodyPr/>
          <a:lstStyle/>
          <a:p>
            <a:fld id="{7FFE5E5C-C80A-4D8D-A711-3102A7BA9258}" type="slidenum">
              <a:rPr lang="pt-BR" smtClean="0"/>
              <a:pPr/>
              <a:t>21</a:t>
            </a:fld>
            <a:endParaRPr lang="pt-BR" dirty="0"/>
          </a:p>
        </p:txBody>
      </p:sp>
      <p:pic>
        <p:nvPicPr>
          <p:cNvPr id="166" name="Picture 5"/>
          <p:cNvPicPr>
            <a:picLocks noChangeAspect="1"/>
          </p:cNvPicPr>
          <p:nvPr/>
        </p:nvPicPr>
        <p:blipFill rotWithShape="1">
          <a:blip r:embed="rId3"/>
          <a:srcRect t="23835" r="63417" b="14693"/>
          <a:stretch/>
        </p:blipFill>
        <p:spPr>
          <a:xfrm>
            <a:off x="2264477" y="4202791"/>
            <a:ext cx="4411300" cy="1723868"/>
          </a:xfrm>
          <a:prstGeom prst="rect">
            <a:avLst/>
          </a:prstGeom>
        </p:spPr>
      </p:pic>
      <p:sp>
        <p:nvSpPr>
          <p:cNvPr id="7" name="Rectangle 6"/>
          <p:cNvSpPr/>
          <p:nvPr/>
        </p:nvSpPr>
        <p:spPr>
          <a:xfrm>
            <a:off x="1452825" y="6217508"/>
            <a:ext cx="6529668" cy="369332"/>
          </a:xfrm>
          <a:prstGeom prst="rect">
            <a:avLst/>
          </a:prstGeom>
        </p:spPr>
        <p:txBody>
          <a:bodyPr wrap="square">
            <a:spAutoFit/>
          </a:bodyPr>
          <a:lstStyle/>
          <a:p>
            <a:r>
              <a:rPr lang="pt-BR" dirty="0">
                <a:solidFill>
                  <a:srgbClr val="FF0000"/>
                </a:solidFill>
              </a:rPr>
              <a:t>Dizemos que o estado do registrador é o valor nele armazenado!</a:t>
            </a:r>
          </a:p>
        </p:txBody>
      </p:sp>
    </p:spTree>
    <p:extLst>
      <p:ext uri="{BB962C8B-B14F-4D97-AF65-F5344CB8AC3E}">
        <p14:creationId xmlns:p14="http://schemas.microsoft.com/office/powerpoint/2010/main" val="246446945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81050"/>
            <a:ext cx="8524754" cy="619125"/>
          </a:xfrm>
        </p:spPr>
        <p:txBody>
          <a:bodyPr/>
          <a:lstStyle/>
          <a:p>
            <a:r>
              <a:rPr lang="pt-BR" sz="3100" dirty="0"/>
              <a:t>Memória RAM (</a:t>
            </a:r>
            <a:r>
              <a:rPr lang="en-US" sz="3100" dirty="0"/>
              <a:t>Random Access Memory</a:t>
            </a:r>
            <a:r>
              <a:rPr lang="pt-BR" sz="3100" dirty="0"/>
              <a:t>)</a:t>
            </a:r>
          </a:p>
        </p:txBody>
      </p:sp>
      <p:sp>
        <p:nvSpPr>
          <p:cNvPr id="3" name="Content Placeholder 2"/>
          <p:cNvSpPr>
            <a:spLocks noGrp="1"/>
          </p:cNvSpPr>
          <p:nvPr>
            <p:ph idx="1"/>
          </p:nvPr>
        </p:nvSpPr>
        <p:spPr>
          <a:xfrm>
            <a:off x="457200" y="1485900"/>
            <a:ext cx="8524753" cy="1613684"/>
          </a:xfrm>
        </p:spPr>
        <p:txBody>
          <a:bodyPr>
            <a:noAutofit/>
          </a:bodyPr>
          <a:lstStyle/>
          <a:p>
            <a:r>
              <a:rPr lang="pt-BR" sz="2200" dirty="0"/>
              <a:t>Juntando vários “registradores” é possível criar uma memória de qualquer tamanho. Um sistema de controle de endereçamento é necessário para se possam armazenar e recuperar dados em qualquer posição de memória.</a:t>
            </a:r>
          </a:p>
          <a:p>
            <a:endParaRPr lang="pt-BR" sz="22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22</a:t>
            </a:fld>
            <a:endParaRPr lang="pt-BR" dirty="0"/>
          </a:p>
        </p:txBody>
      </p:sp>
      <p:pic>
        <p:nvPicPr>
          <p:cNvPr id="6" name="Picture 5"/>
          <p:cNvPicPr>
            <a:picLocks noChangeAspect="1"/>
          </p:cNvPicPr>
          <p:nvPr/>
        </p:nvPicPr>
        <p:blipFill rotWithShape="1">
          <a:blip r:embed="rId2"/>
          <a:srcRect t="4068" b="2638"/>
          <a:stretch/>
        </p:blipFill>
        <p:spPr>
          <a:xfrm>
            <a:off x="2394727" y="2980842"/>
            <a:ext cx="3981359" cy="3662177"/>
          </a:xfrm>
          <a:prstGeom prst="rect">
            <a:avLst/>
          </a:prstGeom>
        </p:spPr>
      </p:pic>
    </p:spTree>
    <p:extLst>
      <p:ext uri="{BB962C8B-B14F-4D97-AF65-F5344CB8AC3E}">
        <p14:creationId xmlns:p14="http://schemas.microsoft.com/office/powerpoint/2010/main" val="181612305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Counter (PC)</a:t>
            </a:r>
          </a:p>
        </p:txBody>
      </p:sp>
      <p:sp>
        <p:nvSpPr>
          <p:cNvPr id="3" name="Content Placeholder 2"/>
          <p:cNvSpPr>
            <a:spLocks noGrp="1"/>
          </p:cNvSpPr>
          <p:nvPr>
            <p:ph idx="1"/>
          </p:nvPr>
        </p:nvSpPr>
        <p:spPr>
          <a:xfrm>
            <a:off x="457200" y="1485900"/>
            <a:ext cx="8401987" cy="4724400"/>
          </a:xfrm>
        </p:spPr>
        <p:txBody>
          <a:bodyPr>
            <a:normAutofit/>
          </a:bodyPr>
          <a:lstStyle/>
          <a:p>
            <a:pPr algn="just"/>
            <a:r>
              <a:rPr lang="pt-BR" sz="2100" dirty="0"/>
              <a:t>O </a:t>
            </a:r>
            <a:r>
              <a:rPr lang="en-US" sz="2100" i="1" dirty="0"/>
              <a:t>Program Counter </a:t>
            </a:r>
            <a:r>
              <a:rPr lang="en-BR" sz="2100" dirty="0"/>
              <a:t>é um registrador que contém o endereço da instrução a ser executada. Em execução sequencial ele é incrementado. Saltos, chamadas, retornos, exceções e reset podem carregar outro endereço.</a:t>
            </a:r>
            <a:endParaRPr lang="pt-BR" sz="2100" dirty="0"/>
          </a:p>
          <a:p>
            <a:pPr algn="just"/>
            <a:endParaRPr lang="en-US" sz="2100" dirty="0"/>
          </a:p>
          <a:p>
            <a:pPr algn="just"/>
            <a:endParaRPr lang="pt-BR" sz="21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23</a:t>
            </a:fld>
            <a:endParaRPr lang="pt-BR" dirty="0"/>
          </a:p>
        </p:txBody>
      </p:sp>
      <p:pic>
        <p:nvPicPr>
          <p:cNvPr id="6" name="Picture 5"/>
          <p:cNvPicPr>
            <a:picLocks noChangeAspect="1"/>
          </p:cNvPicPr>
          <p:nvPr/>
        </p:nvPicPr>
        <p:blipFill rotWithShape="1">
          <a:blip r:embed="rId2"/>
          <a:srcRect t="56106"/>
          <a:stretch/>
        </p:blipFill>
        <p:spPr>
          <a:xfrm>
            <a:off x="1794835" y="4572054"/>
            <a:ext cx="5988220" cy="2285946"/>
          </a:xfrm>
          <a:prstGeom prst="rect">
            <a:avLst/>
          </a:prstGeom>
        </p:spPr>
      </p:pic>
      <p:pic>
        <p:nvPicPr>
          <p:cNvPr id="7" name="Picture 6"/>
          <p:cNvPicPr>
            <a:picLocks noChangeAspect="1"/>
          </p:cNvPicPr>
          <p:nvPr/>
        </p:nvPicPr>
        <p:blipFill rotWithShape="1">
          <a:blip r:embed="rId2"/>
          <a:srcRect l="37155" r="18484" b="80857"/>
          <a:stretch/>
        </p:blipFill>
        <p:spPr>
          <a:xfrm>
            <a:off x="634368" y="3037397"/>
            <a:ext cx="3577935" cy="1342783"/>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27CACFF-86DC-7B0B-9EAA-82E82A2E2806}"/>
                  </a:ext>
                </a:extLst>
              </p:cNvPr>
              <p:cNvSpPr txBox="1"/>
              <p:nvPr/>
            </p:nvSpPr>
            <p:spPr>
              <a:xfrm>
                <a:off x="4572000" y="2964974"/>
                <a:ext cx="3851439" cy="1387431"/>
              </a:xfrm>
              <a:prstGeom prst="rect">
                <a:avLst/>
              </a:prstGeom>
              <a:noFill/>
            </p:spPr>
            <p:txBody>
              <a:bodyPr wrap="none" lIns="0" tIns="0" rIns="0" bIns="0" rtlCol="0">
                <a:spAutoFit/>
              </a:bodyPr>
              <a:lstStyle/>
              <a:p>
                <a:pPr/>
                <a14:m>
                  <m:oMathPara xmlns:m="http://schemas.openxmlformats.org/officeDocument/2006/math">
                    <m:oMathParaPr>
                      <m:jc m:val="left"/>
                    </m:oMathParaPr>
                    <m:oMath>
                      <m:sSup>
                        <m:sSupPr>
                          <m:ctrlPr>
                            <a:rPr lang="pt-BR" sz="2000" i="1">
                              <a:latin typeface="Cambria Math" panose="02040503050406030204" pitchFamily="18" charset="0"/>
                            </a:rPr>
                          </m:ctrlPr>
                        </m:sSupPr>
                        <m:e>
                          <m:r>
                            <a:rPr lang="pt-BR" sz="2000" i="1">
                              <a:latin typeface="Cambria Math" panose="02040503050406030204" pitchFamily="18" charset="0"/>
                            </a:rPr>
                            <m:t>𝑃𝐶</m:t>
                          </m:r>
                        </m:e>
                        <m:sup>
                          <m:r>
                            <a:rPr lang="pt-BR" sz="2000" b="0" i="1" smtClean="0">
                              <a:latin typeface="Cambria Math" panose="02040503050406030204" pitchFamily="18" charset="0"/>
                            </a:rPr>
                            <m:t>+</m:t>
                          </m:r>
                        </m:sup>
                      </m:sSup>
                      <m:r>
                        <a:rPr lang="pt-BR" sz="2000" b="0" i="1" smtClean="0">
                          <a:latin typeface="Cambria Math" panose="02040503050406030204" pitchFamily="18" charset="0"/>
                        </a:rPr>
                        <m:t>= </m:t>
                      </m:r>
                      <m:d>
                        <m:dPr>
                          <m:begChr m:val="{"/>
                          <m:endChr m:val=""/>
                          <m:ctrlPr>
                            <a:rPr lang="en-US" sz="2000" b="0" i="1" smtClean="0">
                              <a:latin typeface="Cambria Math" panose="02040503050406030204" pitchFamily="18" charset="0"/>
                            </a:rPr>
                          </m:ctrlPr>
                        </m:dPr>
                        <m:e>
                          <m:m>
                            <m:mPr>
                              <m:mcs>
                                <m:mc>
                                  <m:mcPr>
                                    <m:count m:val="2"/>
                                    <m:mcJc m:val="center"/>
                                  </m:mcPr>
                                </m:mc>
                              </m:mcs>
                              <m:ctrlPr>
                                <a:rPr lang="en-US" sz="2000" b="0" i="1" smtClean="0">
                                  <a:latin typeface="Cambria Math" panose="02040503050406030204" pitchFamily="18" charset="0"/>
                                </a:rPr>
                              </m:ctrlPr>
                            </m:mPr>
                            <m:mr>
                              <m:e>
                                <m:r>
                                  <m:rPr>
                                    <m:brk m:alnAt="7"/>
                                  </m:rPr>
                                  <a:rPr lang="pt-BR" sz="2000" b="0" i="1" smtClean="0">
                                    <a:latin typeface="Cambria Math" panose="02040503050406030204" pitchFamily="18" charset="0"/>
                                  </a:rPr>
                                  <m:t>0</m:t>
                                </m:r>
                                <m:r>
                                  <m:rPr>
                                    <m:brk m:alnAt="7"/>
                                  </m:rPr>
                                  <a:rPr lang="pt-BR" sz="2000" b="0" i="1" smtClean="0">
                                    <a:latin typeface="Cambria Math" panose="02040503050406030204" pitchFamily="18" charset="0"/>
                                  </a:rPr>
                                  <m:t>,</m:t>
                                </m:r>
                              </m:e>
                              <m:e>
                                <m:r>
                                  <a:rPr lang="pt-BR" sz="2000" b="0" i="1" smtClean="0">
                                    <a:latin typeface="Cambria Math" panose="02040503050406030204" pitchFamily="18" charset="0"/>
                                  </a:rPr>
                                  <m:t>𝑟𝑒𝑠𝑒𝑡</m:t>
                                </m:r>
                                <m:r>
                                  <a:rPr lang="pt-BR" sz="2000" b="0" i="1" smtClean="0">
                                    <a:latin typeface="Cambria Math" panose="02040503050406030204" pitchFamily="18" charset="0"/>
                                  </a:rPr>
                                  <m:t>=1</m:t>
                                </m:r>
                              </m:e>
                            </m:mr>
                            <m:mr>
                              <m:e>
                                <m:r>
                                  <a:rPr lang="pt-BR" sz="2000" b="0" i="1" smtClean="0">
                                    <a:latin typeface="Cambria Math" panose="02040503050406030204" pitchFamily="18" charset="0"/>
                                  </a:rPr>
                                  <m:t>𝑖𝑛</m:t>
                                </m:r>
                                <m:r>
                                  <a:rPr lang="pt-BR" sz="2000" b="0" i="1" smtClean="0">
                                    <a:latin typeface="Cambria Math" panose="02040503050406030204" pitchFamily="18" charset="0"/>
                                  </a:rPr>
                                  <m:t>,</m:t>
                                </m:r>
                              </m:e>
                              <m:e>
                                <m:r>
                                  <a:rPr lang="pt-BR" sz="2000" b="0" i="1" smtClean="0">
                                    <a:latin typeface="Cambria Math" panose="02040503050406030204" pitchFamily="18" charset="0"/>
                                  </a:rPr>
                                  <m:t>𝑙𝑜𝑎𝑑</m:t>
                                </m:r>
                                <m:r>
                                  <a:rPr lang="pt-BR" sz="2000" b="0" i="1" smtClean="0">
                                    <a:latin typeface="Cambria Math" panose="02040503050406030204" pitchFamily="18" charset="0"/>
                                  </a:rPr>
                                  <m:t>=1</m:t>
                                </m:r>
                              </m:e>
                            </m:mr>
                            <m:mr>
                              <m:e>
                                <m:r>
                                  <a:rPr lang="pt-BR" sz="2000" b="0" i="1" smtClean="0">
                                    <a:latin typeface="Cambria Math" panose="02040503050406030204" pitchFamily="18" charset="0"/>
                                  </a:rPr>
                                  <m:t>𝑃𝐶</m:t>
                                </m:r>
                                <m:r>
                                  <a:rPr lang="pt-BR" sz="2000" b="0" i="1" smtClean="0">
                                    <a:latin typeface="Cambria Math" panose="02040503050406030204" pitchFamily="18" charset="0"/>
                                  </a:rPr>
                                  <m:t>+1,</m:t>
                                </m:r>
                              </m:e>
                              <m:e>
                                <m:r>
                                  <a:rPr lang="pt-BR" sz="2000" b="0" i="1" smtClean="0">
                                    <a:latin typeface="Cambria Math" panose="02040503050406030204" pitchFamily="18" charset="0"/>
                                  </a:rPr>
                                  <m:t>𝑖𝑛𝑐</m:t>
                                </m:r>
                                <m:r>
                                  <a:rPr lang="pt-BR" sz="2000" b="0" i="1" smtClean="0">
                                    <a:latin typeface="Cambria Math" panose="02040503050406030204" pitchFamily="18" charset="0"/>
                                  </a:rPr>
                                  <m:t>=1</m:t>
                                </m:r>
                              </m:e>
                            </m:mr>
                            <m:mr>
                              <m:e>
                                <m:r>
                                  <a:rPr lang="pt-BR" sz="2000" b="0" i="1" smtClean="0">
                                    <a:latin typeface="Cambria Math" panose="02040503050406030204" pitchFamily="18" charset="0"/>
                                  </a:rPr>
                                  <m:t>𝑃𝐶</m:t>
                                </m:r>
                                <m:r>
                                  <a:rPr lang="pt-BR" sz="2000" b="0" i="1" smtClean="0">
                                    <a:latin typeface="Cambria Math" panose="02040503050406030204" pitchFamily="18" charset="0"/>
                                  </a:rPr>
                                  <m:t>,</m:t>
                                </m:r>
                              </m:e>
                              <m:e>
                                <m:r>
                                  <a:rPr lang="pt-BR" sz="2000" b="0" i="1" smtClean="0">
                                    <a:latin typeface="Cambria Math" panose="02040503050406030204" pitchFamily="18" charset="0"/>
                                  </a:rPr>
                                  <m:t>𝑐𝑎𝑠𝑜</m:t>
                                </m:r>
                                <m:r>
                                  <a:rPr lang="pt-BR" sz="2000" b="0" i="1" smtClean="0">
                                    <a:latin typeface="Cambria Math" panose="02040503050406030204" pitchFamily="18" charset="0"/>
                                  </a:rPr>
                                  <m:t> </m:t>
                                </m:r>
                                <m:r>
                                  <a:rPr lang="pt-BR" sz="2000" b="0" i="1" smtClean="0">
                                    <a:latin typeface="Cambria Math" panose="02040503050406030204" pitchFamily="18" charset="0"/>
                                  </a:rPr>
                                  <m:t>𝑐𝑜𝑛𝑡𝑟</m:t>
                                </m:r>
                                <m:r>
                                  <a:rPr lang="pt-BR" sz="2000" i="1">
                                    <a:latin typeface="Cambria Math" panose="02040503050406030204" pitchFamily="18" charset="0"/>
                                  </a:rPr>
                                  <m:t>á</m:t>
                                </m:r>
                                <m:r>
                                  <a:rPr lang="pt-BR" sz="2000" b="0" i="1" smtClean="0">
                                    <a:latin typeface="Cambria Math" panose="02040503050406030204" pitchFamily="18" charset="0"/>
                                  </a:rPr>
                                  <m:t>𝑟𝑖𝑜</m:t>
                                </m:r>
                              </m:e>
                            </m:mr>
                          </m:m>
                        </m:e>
                      </m:d>
                    </m:oMath>
                  </m:oMathPara>
                </a14:m>
                <a:endParaRPr lang="en-US" sz="2000" dirty="0"/>
              </a:p>
            </p:txBody>
          </p:sp>
        </mc:Choice>
        <mc:Fallback>
          <p:sp>
            <p:nvSpPr>
              <p:cNvPr id="11" name="TextBox 10">
                <a:extLst>
                  <a:ext uri="{FF2B5EF4-FFF2-40B4-BE49-F238E27FC236}">
                    <a16:creationId xmlns:a16="http://schemas.microsoft.com/office/drawing/2014/main" id="{927CACFF-86DC-7B0B-9EAA-82E82A2E2806}"/>
                  </a:ext>
                </a:extLst>
              </p:cNvPr>
              <p:cNvSpPr txBox="1">
                <a:spLocks noRot="1" noChangeAspect="1" noMove="1" noResize="1" noEditPoints="1" noAdjustHandles="1" noChangeArrowheads="1" noChangeShapeType="1" noTextEdit="1"/>
              </p:cNvSpPr>
              <p:nvPr/>
            </p:nvSpPr>
            <p:spPr>
              <a:xfrm>
                <a:off x="4572000" y="2964974"/>
                <a:ext cx="3851439" cy="1387431"/>
              </a:xfrm>
              <a:prstGeom prst="rect">
                <a:avLst/>
              </a:prstGeom>
              <a:blipFill>
                <a:blip r:embed="rId3"/>
                <a:stretch>
                  <a:fillRect l="-2303" b="-1818"/>
                </a:stretch>
              </a:blipFill>
            </p:spPr>
            <p:txBody>
              <a:bodyPr/>
              <a:lstStyle/>
              <a:p>
                <a:r>
                  <a:rPr lang="en-US">
                    <a:noFill/>
                  </a:rPr>
                  <a:t> </a:t>
                </a:r>
              </a:p>
            </p:txBody>
          </p:sp>
        </mc:Fallback>
      </mc:AlternateContent>
    </p:spTree>
    <p:extLst>
      <p:ext uri="{BB962C8B-B14F-4D97-AF65-F5344CB8AC3E}">
        <p14:creationId xmlns:p14="http://schemas.microsoft.com/office/powerpoint/2010/main" val="304139218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8364"/>
            <a:ext cx="8229600" cy="962025"/>
          </a:xfrm>
        </p:spPr>
        <p:txBody>
          <a:bodyPr/>
          <a:lstStyle/>
          <a:p>
            <a:r>
              <a:rPr lang="pt-BR" dirty="0"/>
              <a:t>Registradores Seriais e Paralelos</a:t>
            </a:r>
          </a:p>
        </p:txBody>
      </p:sp>
      <p:sp>
        <p:nvSpPr>
          <p:cNvPr id="3" name="Content Placeholder 2"/>
          <p:cNvSpPr>
            <a:spLocks noGrp="1"/>
          </p:cNvSpPr>
          <p:nvPr>
            <p:ph idx="1"/>
          </p:nvPr>
        </p:nvSpPr>
        <p:spPr>
          <a:xfrm>
            <a:off x="725688" y="1356516"/>
            <a:ext cx="7564991" cy="1440756"/>
          </a:xfrm>
        </p:spPr>
        <p:txBody>
          <a:bodyPr>
            <a:noAutofit/>
          </a:bodyPr>
          <a:lstStyle/>
          <a:p>
            <a:pPr algn="just"/>
            <a:r>
              <a:rPr lang="en-BR" sz="2300" dirty="0"/>
              <a:t>Registradores podem receber e fornecer dados em formato serial ou paralelo. Registradores de deslocamento movem os bits entre seus estágios, permitindo conversões entre esses formatos.</a:t>
            </a:r>
            <a:endParaRPr lang="pt-BR" sz="2300" dirty="0"/>
          </a:p>
        </p:txBody>
      </p:sp>
      <p:sp>
        <p:nvSpPr>
          <p:cNvPr id="188" name="Text Placeholder 187"/>
          <p:cNvSpPr>
            <a:spLocks noGrp="1"/>
          </p:cNvSpPr>
          <p:nvPr>
            <p:ph type="body" sz="quarter" idx="13"/>
          </p:nvPr>
        </p:nvSpPr>
        <p:spPr/>
        <p:txBody>
          <a:bodyPr/>
          <a:lstStyle/>
          <a:p>
            <a:endParaRPr lang="pt-BR" dirty="0"/>
          </a:p>
        </p:txBody>
      </p:sp>
      <p:sp>
        <p:nvSpPr>
          <p:cNvPr id="189" name="Slide Number Placeholder 4"/>
          <p:cNvSpPr>
            <a:spLocks noGrp="1"/>
          </p:cNvSpPr>
          <p:nvPr>
            <p:ph type="sldNum" sz="quarter" idx="4"/>
          </p:nvPr>
        </p:nvSpPr>
        <p:spPr>
          <a:xfrm>
            <a:off x="84172" y="6402174"/>
            <a:ext cx="641516" cy="365125"/>
          </a:xfrm>
        </p:spPr>
        <p:txBody>
          <a:bodyPr/>
          <a:lstStyle/>
          <a:p>
            <a:fld id="{7FFE5E5C-C80A-4D8D-A711-3102A7BA9258}" type="slidenum">
              <a:rPr lang="pt-BR" smtClean="0"/>
              <a:pPr/>
              <a:t>24</a:t>
            </a:fld>
            <a:endParaRPr lang="pt-BR" dirty="0"/>
          </a:p>
        </p:txBody>
      </p:sp>
      <p:grpSp>
        <p:nvGrpSpPr>
          <p:cNvPr id="25" name="Grupo 24"/>
          <p:cNvGrpSpPr/>
          <p:nvPr/>
        </p:nvGrpSpPr>
        <p:grpSpPr>
          <a:xfrm>
            <a:off x="177442" y="5626490"/>
            <a:ext cx="4257207" cy="941850"/>
            <a:chOff x="1098772" y="2594672"/>
            <a:chExt cx="6633785" cy="1389694"/>
          </a:xfrm>
        </p:grpSpPr>
        <p:grpSp>
          <p:nvGrpSpPr>
            <p:cNvPr id="5" name="Grupo 4"/>
            <p:cNvGrpSpPr/>
            <p:nvPr/>
          </p:nvGrpSpPr>
          <p:grpSpPr>
            <a:xfrm>
              <a:off x="5194297" y="2755893"/>
              <a:ext cx="1194811" cy="1066800"/>
              <a:chOff x="4840918" y="5053781"/>
              <a:chExt cx="1194811" cy="1066800"/>
            </a:xfrm>
          </p:grpSpPr>
          <p:cxnSp>
            <p:nvCxnSpPr>
              <p:cNvPr id="26" name="Straight Connector 31"/>
              <p:cNvCxnSpPr/>
              <p:nvPr/>
            </p:nvCxnSpPr>
            <p:spPr>
              <a:xfrm>
                <a:off x="4840918" y="50537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4843418" y="52061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1"/>
              <p:cNvCxnSpPr/>
              <p:nvPr/>
            </p:nvCxnSpPr>
            <p:spPr>
              <a:xfrm>
                <a:off x="4845918" y="53585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1"/>
              <p:cNvCxnSpPr/>
              <p:nvPr/>
            </p:nvCxnSpPr>
            <p:spPr>
              <a:xfrm>
                <a:off x="4848418" y="55109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1"/>
              <p:cNvCxnSpPr/>
              <p:nvPr/>
            </p:nvCxnSpPr>
            <p:spPr>
              <a:xfrm>
                <a:off x="4850918" y="56633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1"/>
              <p:cNvCxnSpPr/>
              <p:nvPr/>
            </p:nvCxnSpPr>
            <p:spPr>
              <a:xfrm>
                <a:off x="4853418" y="58157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1"/>
              <p:cNvCxnSpPr/>
              <p:nvPr/>
            </p:nvCxnSpPr>
            <p:spPr>
              <a:xfrm>
                <a:off x="4855918" y="59681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1"/>
              <p:cNvCxnSpPr/>
              <p:nvPr/>
            </p:nvCxnSpPr>
            <p:spPr>
              <a:xfrm>
                <a:off x="4858418" y="61205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cxnSp>
          <p:nvCxnSpPr>
            <p:cNvPr id="9" name="Straight Connector 31"/>
            <p:cNvCxnSpPr/>
            <p:nvPr/>
          </p:nvCxnSpPr>
          <p:spPr>
            <a:xfrm>
              <a:off x="2542494" y="328335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upo 3"/>
            <p:cNvGrpSpPr/>
            <p:nvPr/>
          </p:nvGrpSpPr>
          <p:grpSpPr>
            <a:xfrm>
              <a:off x="3366426" y="2594672"/>
              <a:ext cx="2173550" cy="1389694"/>
              <a:chOff x="3013046" y="5012480"/>
              <a:chExt cx="2947687" cy="1025446"/>
            </a:xfrm>
          </p:grpSpPr>
          <p:sp>
            <p:nvSpPr>
              <p:cNvPr id="23" name="Rectangle 8"/>
              <p:cNvSpPr/>
              <p:nvPr/>
            </p:nvSpPr>
            <p:spPr>
              <a:xfrm>
                <a:off x="3013046" y="5012480"/>
                <a:ext cx="2947687" cy="1025446"/>
              </a:xfrm>
              <a:prstGeom prst="rect">
                <a:avLst/>
              </a:prstGeom>
              <a:solidFill>
                <a:schemeClr val="bg1">
                  <a:lumMod val="95000"/>
                </a:schemeClr>
              </a:solid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en-US" b="1" noProof="1">
                    <a:solidFill>
                      <a:schemeClr val="tx1"/>
                    </a:solidFill>
                  </a:rPr>
                  <a:t>Registrador</a:t>
                </a:r>
              </a:p>
              <a:p>
                <a:pPr algn="ctr">
                  <a:lnSpc>
                    <a:spcPct val="70000"/>
                  </a:lnSpc>
                </a:pPr>
                <a:r>
                  <a:rPr lang="en-US" b="1" noProof="1">
                    <a:solidFill>
                      <a:schemeClr val="tx1"/>
                    </a:solidFill>
                  </a:rPr>
                  <a:t>SIPO</a:t>
                </a:r>
                <a:endParaRPr lang="pt-BR" b="1" noProof="1">
                  <a:solidFill>
                    <a:schemeClr val="tx1"/>
                  </a:solidFill>
                </a:endParaRPr>
              </a:p>
            </p:txBody>
          </p:sp>
          <p:sp>
            <p:nvSpPr>
              <p:cNvPr id="24" name="Isosceles Triangle 10"/>
              <p:cNvSpPr/>
              <p:nvPr/>
            </p:nvSpPr>
            <p:spPr>
              <a:xfrm>
                <a:off x="4417504" y="5935289"/>
                <a:ext cx="138770" cy="94675"/>
              </a:xfrm>
              <a:prstGeom prst="triangle">
                <a:avLst/>
              </a:prstGeom>
              <a:solidFill>
                <a:srgbClr val="FFFFFF"/>
              </a:solidFill>
              <a:ln w="28575" cmpd="sng">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sp>
          <p:nvSpPr>
            <p:cNvPr id="17" name="Rectangle 33"/>
            <p:cNvSpPr/>
            <p:nvPr/>
          </p:nvSpPr>
          <p:spPr>
            <a:xfrm>
              <a:off x="1098772" y="2977030"/>
              <a:ext cx="1565390" cy="544947"/>
            </a:xfrm>
            <a:prstGeom prst="rect">
              <a:avLst/>
            </a:prstGeom>
            <a:ln>
              <a:noFill/>
            </a:ln>
          </p:spPr>
          <p:txBody>
            <a:bodyPr wrap="square">
              <a:spAutoFit/>
            </a:bodyPr>
            <a:lstStyle/>
            <a:p>
              <a:pPr algn="ctr"/>
              <a:r>
                <a:rPr lang="pt-BR" b="1" noProof="1"/>
                <a:t>entrada</a:t>
              </a:r>
              <a:endParaRPr lang="pt-BR" dirty="0"/>
            </a:p>
          </p:txBody>
        </p:sp>
        <p:sp>
          <p:nvSpPr>
            <p:cNvPr id="40" name="Rectangle 33"/>
            <p:cNvSpPr/>
            <p:nvPr/>
          </p:nvSpPr>
          <p:spPr>
            <a:xfrm>
              <a:off x="6313454" y="3043384"/>
              <a:ext cx="1419103" cy="544947"/>
            </a:xfrm>
            <a:prstGeom prst="rect">
              <a:avLst/>
            </a:prstGeom>
            <a:ln>
              <a:noFill/>
            </a:ln>
          </p:spPr>
          <p:txBody>
            <a:bodyPr wrap="square">
              <a:spAutoFit/>
            </a:bodyPr>
            <a:lstStyle/>
            <a:p>
              <a:pPr algn="ctr"/>
              <a:r>
                <a:rPr lang="pt-BR" b="1" noProof="1"/>
                <a:t>saídas</a:t>
              </a:r>
              <a:endParaRPr lang="pt-BR" dirty="0"/>
            </a:p>
          </p:txBody>
        </p:sp>
      </p:grpSp>
      <p:grpSp>
        <p:nvGrpSpPr>
          <p:cNvPr id="58" name="Grupo 57"/>
          <p:cNvGrpSpPr/>
          <p:nvPr/>
        </p:nvGrpSpPr>
        <p:grpSpPr>
          <a:xfrm>
            <a:off x="163218" y="3677638"/>
            <a:ext cx="4257207" cy="941850"/>
            <a:chOff x="1098772" y="2594672"/>
            <a:chExt cx="6633785" cy="1389694"/>
          </a:xfrm>
        </p:grpSpPr>
        <p:cxnSp>
          <p:nvCxnSpPr>
            <p:cNvPr id="70" name="Straight Connector 31"/>
            <p:cNvCxnSpPr/>
            <p:nvPr/>
          </p:nvCxnSpPr>
          <p:spPr>
            <a:xfrm>
              <a:off x="5204296" y="3232788"/>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0" name="Straight Connector 31"/>
            <p:cNvCxnSpPr/>
            <p:nvPr/>
          </p:nvCxnSpPr>
          <p:spPr>
            <a:xfrm>
              <a:off x="2542494" y="328335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61" name="Grupo 60"/>
            <p:cNvGrpSpPr/>
            <p:nvPr/>
          </p:nvGrpSpPr>
          <p:grpSpPr>
            <a:xfrm>
              <a:off x="3366426" y="2594672"/>
              <a:ext cx="2173550" cy="1389694"/>
              <a:chOff x="3013046" y="5012480"/>
              <a:chExt cx="2947687" cy="1025446"/>
            </a:xfrm>
          </p:grpSpPr>
          <p:sp>
            <p:nvSpPr>
              <p:cNvPr id="65" name="Rectangle 8"/>
              <p:cNvSpPr/>
              <p:nvPr/>
            </p:nvSpPr>
            <p:spPr>
              <a:xfrm>
                <a:off x="3013046" y="5012480"/>
                <a:ext cx="2947687" cy="1025446"/>
              </a:xfrm>
              <a:prstGeom prst="rect">
                <a:avLst/>
              </a:prstGeom>
              <a:solidFill>
                <a:schemeClr val="bg1">
                  <a:lumMod val="95000"/>
                </a:schemeClr>
              </a:solid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en-US" b="1" noProof="1">
                    <a:solidFill>
                      <a:schemeClr val="tx1"/>
                    </a:solidFill>
                  </a:rPr>
                  <a:t>Registrador</a:t>
                </a:r>
              </a:p>
              <a:p>
                <a:pPr algn="ctr">
                  <a:lnSpc>
                    <a:spcPct val="70000"/>
                  </a:lnSpc>
                </a:pPr>
                <a:r>
                  <a:rPr lang="en-US" b="1" noProof="1">
                    <a:solidFill>
                      <a:schemeClr val="tx1"/>
                    </a:solidFill>
                  </a:rPr>
                  <a:t>SISO</a:t>
                </a:r>
                <a:endParaRPr lang="pt-BR" b="1" noProof="1">
                  <a:solidFill>
                    <a:schemeClr val="tx1"/>
                  </a:solidFill>
                </a:endParaRPr>
              </a:p>
            </p:txBody>
          </p:sp>
          <p:sp>
            <p:nvSpPr>
              <p:cNvPr id="64" name="Isosceles Triangle 10"/>
              <p:cNvSpPr/>
              <p:nvPr/>
            </p:nvSpPr>
            <p:spPr>
              <a:xfrm>
                <a:off x="4417504" y="5935289"/>
                <a:ext cx="138770" cy="94675"/>
              </a:xfrm>
              <a:prstGeom prst="triangle">
                <a:avLst/>
              </a:prstGeom>
              <a:solidFill>
                <a:srgbClr val="FFFFFF"/>
              </a:solidFill>
              <a:ln w="28575" cmpd="sng">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sp>
          <p:nvSpPr>
            <p:cNvPr id="62" name="Rectangle 33"/>
            <p:cNvSpPr/>
            <p:nvPr/>
          </p:nvSpPr>
          <p:spPr>
            <a:xfrm>
              <a:off x="1098772" y="2977030"/>
              <a:ext cx="1565390" cy="544947"/>
            </a:xfrm>
            <a:prstGeom prst="rect">
              <a:avLst/>
            </a:prstGeom>
            <a:ln>
              <a:noFill/>
            </a:ln>
          </p:spPr>
          <p:txBody>
            <a:bodyPr wrap="square">
              <a:spAutoFit/>
            </a:bodyPr>
            <a:lstStyle/>
            <a:p>
              <a:pPr algn="ctr"/>
              <a:r>
                <a:rPr lang="pt-BR" b="1" noProof="1"/>
                <a:t>entrada</a:t>
              </a:r>
              <a:endParaRPr lang="pt-BR" dirty="0"/>
            </a:p>
          </p:txBody>
        </p:sp>
        <p:sp>
          <p:nvSpPr>
            <p:cNvPr id="63" name="Rectangle 33"/>
            <p:cNvSpPr/>
            <p:nvPr/>
          </p:nvSpPr>
          <p:spPr>
            <a:xfrm>
              <a:off x="6313454" y="2932796"/>
              <a:ext cx="1419103" cy="544947"/>
            </a:xfrm>
            <a:prstGeom prst="rect">
              <a:avLst/>
            </a:prstGeom>
            <a:ln>
              <a:noFill/>
            </a:ln>
          </p:spPr>
          <p:txBody>
            <a:bodyPr wrap="square">
              <a:spAutoFit/>
            </a:bodyPr>
            <a:lstStyle/>
            <a:p>
              <a:pPr algn="ctr"/>
              <a:r>
                <a:rPr lang="pt-BR" b="1" noProof="1"/>
                <a:t>saída</a:t>
              </a:r>
              <a:endParaRPr lang="pt-BR" dirty="0"/>
            </a:p>
          </p:txBody>
        </p:sp>
      </p:grpSp>
      <p:grpSp>
        <p:nvGrpSpPr>
          <p:cNvPr id="56" name="Grupo 55"/>
          <p:cNvGrpSpPr/>
          <p:nvPr/>
        </p:nvGrpSpPr>
        <p:grpSpPr>
          <a:xfrm>
            <a:off x="4764429" y="2965806"/>
            <a:ext cx="4216353" cy="1648250"/>
            <a:chOff x="4734449" y="2375062"/>
            <a:chExt cx="4216353" cy="1648250"/>
          </a:xfrm>
        </p:grpSpPr>
        <p:cxnSp>
          <p:nvCxnSpPr>
            <p:cNvPr id="102" name="Straight Connector 31"/>
            <p:cNvCxnSpPr/>
            <p:nvPr/>
          </p:nvCxnSpPr>
          <p:spPr>
            <a:xfrm flipV="1">
              <a:off x="6943924" y="2702973"/>
              <a:ext cx="0" cy="849414"/>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3" name="Rectangle 33"/>
            <p:cNvSpPr/>
            <p:nvPr/>
          </p:nvSpPr>
          <p:spPr>
            <a:xfrm>
              <a:off x="6441651" y="2375062"/>
              <a:ext cx="1004546" cy="369332"/>
            </a:xfrm>
            <a:prstGeom prst="rect">
              <a:avLst/>
            </a:prstGeom>
            <a:ln>
              <a:noFill/>
            </a:ln>
          </p:spPr>
          <p:txBody>
            <a:bodyPr wrap="square">
              <a:spAutoFit/>
            </a:bodyPr>
            <a:lstStyle/>
            <a:p>
              <a:pPr algn="ctr"/>
              <a:r>
                <a:rPr lang="pt-BR" b="1" noProof="1"/>
                <a:t>load</a:t>
              </a:r>
              <a:endParaRPr lang="pt-BR" dirty="0"/>
            </a:p>
          </p:txBody>
        </p:sp>
        <p:grpSp>
          <p:nvGrpSpPr>
            <p:cNvPr id="90" name="Grupo 89"/>
            <p:cNvGrpSpPr/>
            <p:nvPr/>
          </p:nvGrpSpPr>
          <p:grpSpPr>
            <a:xfrm>
              <a:off x="7435035" y="3213995"/>
              <a:ext cx="761985" cy="723012"/>
              <a:chOff x="4840918" y="5053781"/>
              <a:chExt cx="1194811" cy="1066800"/>
            </a:xfrm>
          </p:grpSpPr>
          <p:cxnSp>
            <p:nvCxnSpPr>
              <p:cNvPr id="91" name="Straight Connector 31"/>
              <p:cNvCxnSpPr/>
              <p:nvPr/>
            </p:nvCxnSpPr>
            <p:spPr>
              <a:xfrm>
                <a:off x="4840918" y="50537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2" name="Straight Connector 31"/>
              <p:cNvCxnSpPr/>
              <p:nvPr/>
            </p:nvCxnSpPr>
            <p:spPr>
              <a:xfrm>
                <a:off x="4843418" y="52061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3" name="Straight Connector 31"/>
              <p:cNvCxnSpPr/>
              <p:nvPr/>
            </p:nvCxnSpPr>
            <p:spPr>
              <a:xfrm>
                <a:off x="4845918" y="53585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4" name="Straight Connector 31"/>
              <p:cNvCxnSpPr/>
              <p:nvPr/>
            </p:nvCxnSpPr>
            <p:spPr>
              <a:xfrm>
                <a:off x="4848418" y="55109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5" name="Straight Connector 31"/>
              <p:cNvCxnSpPr/>
              <p:nvPr/>
            </p:nvCxnSpPr>
            <p:spPr>
              <a:xfrm>
                <a:off x="4850918" y="56633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6" name="Straight Connector 31"/>
              <p:cNvCxnSpPr/>
              <p:nvPr/>
            </p:nvCxnSpPr>
            <p:spPr>
              <a:xfrm>
                <a:off x="4853418" y="58157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7" name="Straight Connector 31"/>
              <p:cNvCxnSpPr/>
              <p:nvPr/>
            </p:nvCxnSpPr>
            <p:spPr>
              <a:xfrm>
                <a:off x="4855918" y="59681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8" name="Straight Connector 31"/>
              <p:cNvCxnSpPr/>
              <p:nvPr/>
            </p:nvCxnSpPr>
            <p:spPr>
              <a:xfrm>
                <a:off x="4858418" y="61205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5" name="Grupo 74"/>
            <p:cNvGrpSpPr/>
            <p:nvPr/>
          </p:nvGrpSpPr>
          <p:grpSpPr>
            <a:xfrm>
              <a:off x="5738665" y="3211495"/>
              <a:ext cx="761985" cy="723012"/>
              <a:chOff x="4840918" y="5053781"/>
              <a:chExt cx="1194811" cy="1066800"/>
            </a:xfrm>
          </p:grpSpPr>
          <p:cxnSp>
            <p:nvCxnSpPr>
              <p:cNvPr id="82" name="Straight Connector 31"/>
              <p:cNvCxnSpPr/>
              <p:nvPr/>
            </p:nvCxnSpPr>
            <p:spPr>
              <a:xfrm>
                <a:off x="4840918" y="50537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3" name="Straight Connector 31"/>
              <p:cNvCxnSpPr/>
              <p:nvPr/>
            </p:nvCxnSpPr>
            <p:spPr>
              <a:xfrm>
                <a:off x="4843418" y="52061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4" name="Straight Connector 31"/>
              <p:cNvCxnSpPr/>
              <p:nvPr/>
            </p:nvCxnSpPr>
            <p:spPr>
              <a:xfrm>
                <a:off x="4845918" y="53585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5" name="Straight Connector 31"/>
              <p:cNvCxnSpPr/>
              <p:nvPr/>
            </p:nvCxnSpPr>
            <p:spPr>
              <a:xfrm>
                <a:off x="4848418" y="55109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6" name="Straight Connector 31"/>
              <p:cNvCxnSpPr/>
              <p:nvPr/>
            </p:nvCxnSpPr>
            <p:spPr>
              <a:xfrm>
                <a:off x="4850918" y="56633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7" name="Straight Connector 31"/>
              <p:cNvCxnSpPr/>
              <p:nvPr/>
            </p:nvCxnSpPr>
            <p:spPr>
              <a:xfrm>
                <a:off x="4853418" y="58157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8" name="Straight Connector 31"/>
              <p:cNvCxnSpPr/>
              <p:nvPr/>
            </p:nvCxnSpPr>
            <p:spPr>
              <a:xfrm>
                <a:off x="4855918" y="59681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9" name="Straight Connector 31"/>
              <p:cNvCxnSpPr/>
              <p:nvPr/>
            </p:nvCxnSpPr>
            <p:spPr>
              <a:xfrm>
                <a:off x="4858418" y="61205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7" name="Grupo 76"/>
            <p:cNvGrpSpPr/>
            <p:nvPr/>
          </p:nvGrpSpPr>
          <p:grpSpPr>
            <a:xfrm>
              <a:off x="6250838" y="3081462"/>
              <a:ext cx="1386172" cy="941850"/>
              <a:chOff x="3013046" y="5012480"/>
              <a:chExt cx="2947687" cy="1025446"/>
            </a:xfrm>
          </p:grpSpPr>
          <p:sp>
            <p:nvSpPr>
              <p:cNvPr id="81" name="Rectangle 8"/>
              <p:cNvSpPr/>
              <p:nvPr/>
            </p:nvSpPr>
            <p:spPr>
              <a:xfrm>
                <a:off x="3013046" y="5012480"/>
                <a:ext cx="2947687" cy="1025446"/>
              </a:xfrm>
              <a:prstGeom prst="rect">
                <a:avLst/>
              </a:prstGeom>
              <a:solidFill>
                <a:schemeClr val="bg1">
                  <a:lumMod val="95000"/>
                </a:schemeClr>
              </a:solid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en-US" b="1" noProof="1">
                    <a:solidFill>
                      <a:schemeClr val="tx1"/>
                    </a:solidFill>
                  </a:rPr>
                  <a:t>Registrador</a:t>
                </a:r>
              </a:p>
              <a:p>
                <a:pPr algn="ctr">
                  <a:lnSpc>
                    <a:spcPct val="70000"/>
                  </a:lnSpc>
                </a:pPr>
                <a:r>
                  <a:rPr lang="en-US" b="1" noProof="1">
                    <a:solidFill>
                      <a:schemeClr val="tx1"/>
                    </a:solidFill>
                  </a:rPr>
                  <a:t>PIPO</a:t>
                </a:r>
                <a:endParaRPr lang="pt-BR" b="1" noProof="1">
                  <a:solidFill>
                    <a:schemeClr val="tx1"/>
                  </a:solidFill>
                </a:endParaRPr>
              </a:p>
            </p:txBody>
          </p:sp>
          <p:sp>
            <p:nvSpPr>
              <p:cNvPr id="80" name="Isosceles Triangle 10"/>
              <p:cNvSpPr/>
              <p:nvPr/>
            </p:nvSpPr>
            <p:spPr>
              <a:xfrm>
                <a:off x="4417504" y="5935289"/>
                <a:ext cx="138770" cy="94675"/>
              </a:xfrm>
              <a:prstGeom prst="triangle">
                <a:avLst/>
              </a:prstGeom>
              <a:solidFill>
                <a:srgbClr val="FFFFFF"/>
              </a:solidFill>
              <a:ln w="28575" cmpd="sng">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sp>
          <p:nvSpPr>
            <p:cNvPr id="78" name="Rectangle 33"/>
            <p:cNvSpPr/>
            <p:nvPr/>
          </p:nvSpPr>
          <p:spPr>
            <a:xfrm>
              <a:off x="4734449" y="3358110"/>
              <a:ext cx="1128672" cy="369332"/>
            </a:xfrm>
            <a:prstGeom prst="rect">
              <a:avLst/>
            </a:prstGeom>
            <a:ln>
              <a:noFill/>
            </a:ln>
          </p:spPr>
          <p:txBody>
            <a:bodyPr wrap="square">
              <a:spAutoFit/>
            </a:bodyPr>
            <a:lstStyle/>
            <a:p>
              <a:pPr algn="ctr"/>
              <a:r>
                <a:rPr lang="pt-BR" b="1" noProof="1"/>
                <a:t>entradas</a:t>
              </a:r>
              <a:endParaRPr lang="pt-BR" dirty="0"/>
            </a:p>
          </p:txBody>
        </p:sp>
        <p:sp>
          <p:nvSpPr>
            <p:cNvPr id="79" name="Rectangle 33"/>
            <p:cNvSpPr/>
            <p:nvPr/>
          </p:nvSpPr>
          <p:spPr>
            <a:xfrm>
              <a:off x="8130105" y="3340601"/>
              <a:ext cx="820697" cy="369332"/>
            </a:xfrm>
            <a:prstGeom prst="rect">
              <a:avLst/>
            </a:prstGeom>
            <a:ln>
              <a:noFill/>
            </a:ln>
          </p:spPr>
          <p:txBody>
            <a:bodyPr wrap="square">
              <a:spAutoFit/>
            </a:bodyPr>
            <a:lstStyle/>
            <a:p>
              <a:pPr algn="ctr"/>
              <a:r>
                <a:rPr lang="pt-BR" b="1" noProof="1"/>
                <a:t>saídas</a:t>
              </a:r>
              <a:endParaRPr lang="pt-BR" dirty="0"/>
            </a:p>
          </p:txBody>
        </p:sp>
      </p:grpSp>
      <p:grpSp>
        <p:nvGrpSpPr>
          <p:cNvPr id="57" name="Grupo 56"/>
          <p:cNvGrpSpPr/>
          <p:nvPr/>
        </p:nvGrpSpPr>
        <p:grpSpPr>
          <a:xfrm>
            <a:off x="4764429" y="5011218"/>
            <a:ext cx="4092315" cy="1564435"/>
            <a:chOff x="4734449" y="4420474"/>
            <a:chExt cx="4092315" cy="1564435"/>
          </a:xfrm>
        </p:grpSpPr>
        <p:cxnSp>
          <p:nvCxnSpPr>
            <p:cNvPr id="99" name="Straight Connector 31"/>
            <p:cNvCxnSpPr/>
            <p:nvPr/>
          </p:nvCxnSpPr>
          <p:spPr>
            <a:xfrm flipV="1">
              <a:off x="6976553" y="4748385"/>
              <a:ext cx="0" cy="849414"/>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1" name="Grupo 40"/>
            <p:cNvGrpSpPr/>
            <p:nvPr/>
          </p:nvGrpSpPr>
          <p:grpSpPr>
            <a:xfrm>
              <a:off x="5738665" y="5173092"/>
              <a:ext cx="761985" cy="723012"/>
              <a:chOff x="4840918" y="5053781"/>
              <a:chExt cx="1194811" cy="1066800"/>
            </a:xfrm>
          </p:grpSpPr>
          <p:cxnSp>
            <p:nvCxnSpPr>
              <p:cNvPr id="42" name="Straight Connector 31"/>
              <p:cNvCxnSpPr/>
              <p:nvPr/>
            </p:nvCxnSpPr>
            <p:spPr>
              <a:xfrm>
                <a:off x="4840918" y="50537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31"/>
              <p:cNvCxnSpPr/>
              <p:nvPr/>
            </p:nvCxnSpPr>
            <p:spPr>
              <a:xfrm>
                <a:off x="4843418" y="52061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31"/>
              <p:cNvCxnSpPr/>
              <p:nvPr/>
            </p:nvCxnSpPr>
            <p:spPr>
              <a:xfrm>
                <a:off x="4845918" y="53585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31"/>
              <p:cNvCxnSpPr/>
              <p:nvPr/>
            </p:nvCxnSpPr>
            <p:spPr>
              <a:xfrm>
                <a:off x="4848418" y="55109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31"/>
              <p:cNvCxnSpPr/>
              <p:nvPr/>
            </p:nvCxnSpPr>
            <p:spPr>
              <a:xfrm>
                <a:off x="4850918" y="56633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31"/>
              <p:cNvCxnSpPr/>
              <p:nvPr/>
            </p:nvCxnSpPr>
            <p:spPr>
              <a:xfrm>
                <a:off x="4853418" y="58157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31"/>
              <p:cNvCxnSpPr/>
              <p:nvPr/>
            </p:nvCxnSpPr>
            <p:spPr>
              <a:xfrm>
                <a:off x="4855918" y="59681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31"/>
              <p:cNvCxnSpPr/>
              <p:nvPr/>
            </p:nvCxnSpPr>
            <p:spPr>
              <a:xfrm>
                <a:off x="4858418" y="6120581"/>
                <a:ext cx="1177311"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cxnSp>
          <p:nvCxnSpPr>
            <p:cNvPr id="50" name="Straight Connector 31"/>
            <p:cNvCxnSpPr/>
            <p:nvPr/>
          </p:nvCxnSpPr>
          <p:spPr>
            <a:xfrm>
              <a:off x="7445785" y="5513984"/>
              <a:ext cx="750825" cy="0"/>
            </a:xfrm>
            <a:prstGeom prst="line">
              <a:avLst/>
            </a:prstGeom>
            <a:ln w="28575" cmpd="sng">
              <a:solidFill>
                <a:schemeClr val="bg1">
                  <a:lumMod val="5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51" name="Grupo 50"/>
            <p:cNvGrpSpPr/>
            <p:nvPr/>
          </p:nvGrpSpPr>
          <p:grpSpPr>
            <a:xfrm>
              <a:off x="6250838" y="5043059"/>
              <a:ext cx="1386172" cy="941850"/>
              <a:chOff x="3013046" y="5012480"/>
              <a:chExt cx="2947687" cy="1025446"/>
            </a:xfrm>
          </p:grpSpPr>
          <p:sp>
            <p:nvSpPr>
              <p:cNvPr id="53" name="Rectangle 8"/>
              <p:cNvSpPr/>
              <p:nvPr/>
            </p:nvSpPr>
            <p:spPr>
              <a:xfrm>
                <a:off x="3013046" y="5012480"/>
                <a:ext cx="2947687" cy="1025446"/>
              </a:xfrm>
              <a:prstGeom prst="rect">
                <a:avLst/>
              </a:prstGeom>
              <a:solidFill>
                <a:schemeClr val="bg1">
                  <a:lumMod val="95000"/>
                </a:schemeClr>
              </a:solidFill>
              <a:ln>
                <a:solidFill>
                  <a:schemeClr val="bg1">
                    <a:lumMod val="50000"/>
                  </a:schemeClr>
                </a:solid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ct val="70000"/>
                  </a:lnSpc>
                </a:pPr>
                <a:r>
                  <a:rPr lang="en-US" b="1" noProof="1">
                    <a:solidFill>
                      <a:schemeClr val="tx1"/>
                    </a:solidFill>
                  </a:rPr>
                  <a:t>Registrador</a:t>
                </a:r>
              </a:p>
              <a:p>
                <a:pPr algn="ctr">
                  <a:lnSpc>
                    <a:spcPct val="70000"/>
                  </a:lnSpc>
                </a:pPr>
                <a:r>
                  <a:rPr lang="en-US" b="1" noProof="1">
                    <a:solidFill>
                      <a:schemeClr val="tx1"/>
                    </a:solidFill>
                  </a:rPr>
                  <a:t>PISO</a:t>
                </a:r>
                <a:endParaRPr lang="pt-BR" b="1" noProof="1">
                  <a:solidFill>
                    <a:schemeClr val="tx1"/>
                  </a:solidFill>
                </a:endParaRPr>
              </a:p>
            </p:txBody>
          </p:sp>
          <p:sp>
            <p:nvSpPr>
              <p:cNvPr id="52" name="Isosceles Triangle 10"/>
              <p:cNvSpPr/>
              <p:nvPr/>
            </p:nvSpPr>
            <p:spPr>
              <a:xfrm>
                <a:off x="4417504" y="5935289"/>
                <a:ext cx="138770" cy="94675"/>
              </a:xfrm>
              <a:prstGeom prst="triangle">
                <a:avLst/>
              </a:prstGeom>
              <a:solidFill>
                <a:srgbClr val="FFFFFF"/>
              </a:solidFill>
              <a:ln w="28575" cmpd="sng">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sp>
          <p:nvSpPr>
            <p:cNvPr id="54" name="Rectangle 33"/>
            <p:cNvSpPr/>
            <p:nvPr/>
          </p:nvSpPr>
          <p:spPr>
            <a:xfrm>
              <a:off x="4734449" y="5319707"/>
              <a:ext cx="1128672" cy="369332"/>
            </a:xfrm>
            <a:prstGeom prst="rect">
              <a:avLst/>
            </a:prstGeom>
            <a:ln>
              <a:noFill/>
            </a:ln>
          </p:spPr>
          <p:txBody>
            <a:bodyPr wrap="square">
              <a:spAutoFit/>
            </a:bodyPr>
            <a:lstStyle/>
            <a:p>
              <a:pPr algn="ctr"/>
              <a:r>
                <a:rPr lang="pt-BR" b="1" noProof="1"/>
                <a:t>entradas</a:t>
              </a:r>
              <a:endParaRPr lang="pt-BR" dirty="0"/>
            </a:p>
          </p:txBody>
        </p:sp>
        <p:sp>
          <p:nvSpPr>
            <p:cNvPr id="55" name="Rectangle 33"/>
            <p:cNvSpPr/>
            <p:nvPr/>
          </p:nvSpPr>
          <p:spPr>
            <a:xfrm>
              <a:off x="8130105" y="5302198"/>
              <a:ext cx="696659" cy="369332"/>
            </a:xfrm>
            <a:prstGeom prst="rect">
              <a:avLst/>
            </a:prstGeom>
            <a:ln>
              <a:noFill/>
            </a:ln>
          </p:spPr>
          <p:txBody>
            <a:bodyPr wrap="square">
              <a:spAutoFit/>
            </a:bodyPr>
            <a:lstStyle/>
            <a:p>
              <a:pPr algn="ctr"/>
              <a:r>
                <a:rPr lang="pt-BR" b="1" noProof="1"/>
                <a:t>saída</a:t>
              </a:r>
              <a:endParaRPr lang="pt-BR" dirty="0"/>
            </a:p>
          </p:txBody>
        </p:sp>
        <p:sp>
          <p:nvSpPr>
            <p:cNvPr id="101" name="Rectangle 33"/>
            <p:cNvSpPr/>
            <p:nvPr/>
          </p:nvSpPr>
          <p:spPr>
            <a:xfrm>
              <a:off x="6628223" y="4420474"/>
              <a:ext cx="696659" cy="369332"/>
            </a:xfrm>
            <a:prstGeom prst="rect">
              <a:avLst/>
            </a:prstGeom>
            <a:ln>
              <a:noFill/>
            </a:ln>
          </p:spPr>
          <p:txBody>
            <a:bodyPr wrap="square">
              <a:spAutoFit/>
            </a:bodyPr>
            <a:lstStyle/>
            <a:p>
              <a:pPr algn="ctr"/>
              <a:r>
                <a:rPr lang="pt-BR" b="1" noProof="1"/>
                <a:t>load</a:t>
              </a:r>
              <a:endParaRPr lang="pt-BR" dirty="0"/>
            </a:p>
          </p:txBody>
        </p:sp>
      </p:grpSp>
    </p:spTree>
    <p:extLst>
      <p:ext uri="{BB962C8B-B14F-4D97-AF65-F5344CB8AC3E}">
        <p14:creationId xmlns:p14="http://schemas.microsoft.com/office/powerpoint/2010/main" val="161053543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Exemplo de SIPO</a:t>
            </a:r>
          </a:p>
        </p:txBody>
      </p:sp>
      <p:sp>
        <p:nvSpPr>
          <p:cNvPr id="3" name="Espaço Reservado para Conteúdo 2"/>
          <p:cNvSpPr>
            <a:spLocks noGrp="1"/>
          </p:cNvSpPr>
          <p:nvPr>
            <p:ph idx="1"/>
          </p:nvPr>
        </p:nvSpPr>
        <p:spPr>
          <a:xfrm>
            <a:off x="657225" y="1485900"/>
            <a:ext cx="8029575" cy="687674"/>
          </a:xfrm>
        </p:spPr>
        <p:txBody>
          <a:bodyPr>
            <a:normAutofit/>
          </a:bodyPr>
          <a:lstStyle/>
          <a:p>
            <a:r>
              <a:rPr lang="en-US" sz="2400" dirty="0"/>
              <a:t>Serial In Parallel Out</a:t>
            </a:r>
          </a:p>
        </p:txBody>
      </p:sp>
      <p:sp>
        <p:nvSpPr>
          <p:cNvPr id="4" name="Espaço Reservado para Texto 3"/>
          <p:cNvSpPr>
            <a:spLocks noGrp="1"/>
          </p:cNvSpPr>
          <p:nvPr>
            <p:ph type="body" sz="quarter" idx="13"/>
          </p:nvPr>
        </p:nvSpPr>
        <p:spPr/>
        <p:txBody>
          <a:bodyPr/>
          <a:lstStyle/>
          <a:p>
            <a:endParaRPr lang="pt-BR"/>
          </a:p>
        </p:txBody>
      </p:sp>
      <p:sp>
        <p:nvSpPr>
          <p:cNvPr id="5" name="Espaço Reservado para Número de Slide 4"/>
          <p:cNvSpPr>
            <a:spLocks noGrp="1"/>
          </p:cNvSpPr>
          <p:nvPr>
            <p:ph type="sldNum" sz="quarter" idx="4"/>
          </p:nvPr>
        </p:nvSpPr>
        <p:spPr/>
        <p:txBody>
          <a:bodyPr/>
          <a:lstStyle/>
          <a:p>
            <a:fld id="{7FFE5E5C-C80A-4D8D-A711-3102A7BA9258}" type="slidenum">
              <a:rPr lang="pt-BR" smtClean="0"/>
              <a:pPr/>
              <a:t>25</a:t>
            </a:fld>
            <a:endParaRPr lang="pt-BR" dirty="0"/>
          </a:p>
        </p:txBody>
      </p:sp>
      <p:sp>
        <p:nvSpPr>
          <p:cNvPr id="6" name="AutoShape 2" descr="https://www.ibiblio.org/kuphaldt/electricCircuits/Digital/04404.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8" name="AutoShape 4" descr="https://www.ibiblio.org/kuphaldt/electricCircuits/Digital/04404.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9" name="Imagem 8"/>
          <p:cNvPicPr>
            <a:picLocks noChangeAspect="1"/>
          </p:cNvPicPr>
          <p:nvPr/>
        </p:nvPicPr>
        <p:blipFill rotWithShape="1">
          <a:blip r:embed="rId3">
            <a:extLst>
              <a:ext uri="{28A0092B-C50C-407E-A947-70E740481C1C}">
                <a14:useLocalDpi xmlns:a14="http://schemas.microsoft.com/office/drawing/2010/main" val="0"/>
              </a:ext>
            </a:extLst>
          </a:blip>
          <a:srcRect b="10668"/>
          <a:stretch/>
        </p:blipFill>
        <p:spPr>
          <a:xfrm>
            <a:off x="860997" y="2008682"/>
            <a:ext cx="7389380" cy="4192873"/>
          </a:xfrm>
          <a:prstGeom prst="rect">
            <a:avLst/>
          </a:prstGeom>
        </p:spPr>
      </p:pic>
      <p:sp>
        <p:nvSpPr>
          <p:cNvPr id="10" name="Retângulo 9"/>
          <p:cNvSpPr/>
          <p:nvPr/>
        </p:nvSpPr>
        <p:spPr>
          <a:xfrm>
            <a:off x="457200" y="2863121"/>
            <a:ext cx="8117174" cy="554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16486935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O </a:t>
            </a:r>
            <a:r>
              <a:rPr lang="pt-BR" dirty="0"/>
              <a:t>uso de registradores</a:t>
            </a:r>
          </a:p>
        </p:txBody>
      </p:sp>
      <p:sp>
        <p:nvSpPr>
          <p:cNvPr id="3" name="Content Placeholder 2"/>
          <p:cNvSpPr>
            <a:spLocks noGrp="1"/>
          </p:cNvSpPr>
          <p:nvPr>
            <p:ph idx="1"/>
          </p:nvPr>
        </p:nvSpPr>
        <p:spPr>
          <a:xfrm>
            <a:off x="657225" y="1485900"/>
            <a:ext cx="8029575" cy="4724400"/>
          </a:xfrm>
        </p:spPr>
        <p:txBody>
          <a:bodyPr>
            <a:normAutofit/>
          </a:bodyPr>
          <a:lstStyle/>
          <a:p>
            <a:pPr marL="285750" indent="-285750">
              <a:buFont typeface="Arial" panose="020B0604020202020204" pitchFamily="34" charset="0"/>
              <a:buChar char="•"/>
            </a:pPr>
            <a:r>
              <a:rPr lang="en-BR" sz="2000" dirty="0"/>
              <a:t>Em arquiteturas load-store, as operações aritméticas e lógicas atuam sobre registradores; </a:t>
            </a:r>
          </a:p>
          <a:p>
            <a:pPr marL="285750" indent="-285750">
              <a:buFont typeface="Arial" panose="020B0604020202020204" pitchFamily="34" charset="0"/>
              <a:buChar char="•"/>
            </a:pPr>
            <a:r>
              <a:rPr lang="en-BR" sz="2000" dirty="0"/>
              <a:t>Evitam acessos frequentes aos níveis mais lentos da hierarquia de memória.</a:t>
            </a:r>
          </a:p>
          <a:p>
            <a:pPr marL="285750" indent="-285750">
              <a:buFont typeface="Arial" panose="020B0604020202020204" pitchFamily="34" charset="0"/>
              <a:buChar char="•"/>
            </a:pPr>
            <a:r>
              <a:rPr lang="en-BR" sz="2000" dirty="0"/>
              <a:t>O acesso a registradores costuma ter baixa latência e é integrado ao pipeline do processador.</a:t>
            </a:r>
          </a:p>
          <a:p>
            <a:endParaRPr lang="pt-BR" sz="2000" dirty="0"/>
          </a:p>
          <a:p>
            <a:r>
              <a:rPr lang="pt-BR" sz="2000" dirty="0"/>
              <a:t>Caches podem ser usados</a:t>
            </a:r>
          </a:p>
          <a:p>
            <a:r>
              <a:rPr lang="pt-BR" sz="2000" dirty="0"/>
              <a:t>para uma solução meio-termo:</a:t>
            </a:r>
          </a:p>
          <a:p>
            <a:endParaRPr lang="pt-BR" sz="20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26</a:t>
            </a:fld>
            <a:endParaRPr lang="pt-BR" dirty="0"/>
          </a:p>
        </p:txBody>
      </p:sp>
      <p:pic>
        <p:nvPicPr>
          <p:cNvPr id="8194" name="Picture 2" descr="http://cdn.arstechnica.net/wp-content/uploads/2014/08/Screen-Shot-2014-08-28-at-3.27.22-PM.png"/>
          <p:cNvPicPr>
            <a:picLocks noChangeAspect="1" noChangeArrowheads="1"/>
          </p:cNvPicPr>
          <p:nvPr/>
        </p:nvPicPr>
        <p:blipFill rotWithShape="1">
          <a:blip r:embed="rId3">
            <a:extLst>
              <a:ext uri="{28A0092B-C50C-407E-A947-70E740481C1C}">
                <a14:useLocalDpi xmlns:a14="http://schemas.microsoft.com/office/drawing/2010/main" val="0"/>
              </a:ext>
            </a:extLst>
          </a:blip>
          <a:srcRect l="29565" t="20482" r="32386" b="2661"/>
          <a:stretch/>
        </p:blipFill>
        <p:spPr bwMode="auto">
          <a:xfrm>
            <a:off x="5534972" y="3686570"/>
            <a:ext cx="2270311" cy="2583697"/>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tângulo 5"/>
          <p:cNvSpPr/>
          <p:nvPr/>
        </p:nvSpPr>
        <p:spPr>
          <a:xfrm>
            <a:off x="5595730" y="6188567"/>
            <a:ext cx="2148794" cy="646331"/>
          </a:xfrm>
          <a:prstGeom prst="rect">
            <a:avLst/>
          </a:prstGeom>
        </p:spPr>
        <p:txBody>
          <a:bodyPr wrap="none">
            <a:spAutoFit/>
          </a:bodyPr>
          <a:lstStyle/>
          <a:p>
            <a:pPr algn="ctr"/>
            <a:r>
              <a:rPr lang="en-BR" dirty="0"/>
              <a:t>Intel Core i7-5960X </a:t>
            </a:r>
          </a:p>
          <a:p>
            <a:pPr algn="ctr"/>
            <a:r>
              <a:rPr lang="en-US" dirty="0"/>
              <a:t>P</a:t>
            </a:r>
            <a:r>
              <a:rPr lang="en-BR" dirty="0"/>
              <a:t>roc. de oito núcleos</a:t>
            </a:r>
          </a:p>
        </p:txBody>
      </p:sp>
    </p:spTree>
    <p:extLst>
      <p:ext uri="{BB962C8B-B14F-4D97-AF65-F5344CB8AC3E}">
        <p14:creationId xmlns:p14="http://schemas.microsoft.com/office/powerpoint/2010/main" val="103428281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BA0E24"/>
        </a:solidFill>
        <a:effectLst/>
      </p:bgPr>
    </p:bg>
    <p:spTree>
      <p:nvGrpSpPr>
        <p:cNvPr id="1" name=""/>
        <p:cNvGrpSpPr/>
        <p:nvPr/>
      </p:nvGrpSpPr>
      <p:grpSpPr>
        <a:xfrm>
          <a:off x="0" y="0"/>
          <a:ext cx="0" cy="0"/>
          <a:chOff x="0" y="0"/>
          <a:chExt cx="0" cy="0"/>
        </a:xfrm>
      </p:grpSpPr>
      <p:sp useBgFill="1">
        <p:nvSpPr>
          <p:cNvPr id="2" name="Rectangle 1"/>
          <p:cNvSpPr>
            <a:spLocks/>
          </p:cNvSpPr>
          <p:nvPr/>
        </p:nvSpPr>
        <p:spPr>
          <a:xfrm>
            <a:off x="0" y="0"/>
            <a:ext cx="9144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3039534" y="3636044"/>
            <a:ext cx="3061054" cy="461665"/>
          </a:xfrm>
          <a:prstGeom prst="rect">
            <a:avLst/>
          </a:prstGeom>
        </p:spPr>
        <p:txBody>
          <a:bodyPr wrap="none">
            <a:spAutoFit/>
          </a:bodyPr>
          <a:lstStyle/>
          <a:p>
            <a:pPr lvl="0" algn="ctr">
              <a:spcBef>
                <a:spcPct val="0"/>
              </a:spcBef>
              <a:defRPr/>
            </a:pPr>
            <a:r>
              <a:rPr lang="en-US" sz="2400" dirty="0">
                <a:solidFill>
                  <a:schemeClr val="bg1"/>
                </a:solidFill>
                <a:latin typeface="Verdana"/>
                <a:cs typeface="Verdana"/>
              </a:rPr>
              <a:t>www.insper.edu.br</a:t>
            </a:r>
            <a:endParaRPr lang="en-US" dirty="0">
              <a:solidFill>
                <a:schemeClr val="bg1"/>
              </a:solidFill>
              <a:latin typeface="Verdana"/>
              <a:cs typeface="Verdana"/>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03298" y="2844822"/>
            <a:ext cx="1732955" cy="6125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MIT Whirlwind 1</a:t>
            </a:r>
          </a:p>
        </p:txBody>
      </p:sp>
      <p:sp>
        <p:nvSpPr>
          <p:cNvPr id="3" name="Content Placeholder 2"/>
          <p:cNvSpPr>
            <a:spLocks noGrp="1"/>
          </p:cNvSpPr>
          <p:nvPr>
            <p:ph idx="1"/>
          </p:nvPr>
        </p:nvSpPr>
        <p:spPr>
          <a:xfrm>
            <a:off x="657225" y="1485900"/>
            <a:ext cx="8029575" cy="2390543"/>
          </a:xfrm>
        </p:spPr>
        <p:txBody>
          <a:bodyPr>
            <a:normAutofit/>
          </a:bodyPr>
          <a:lstStyle/>
          <a:p>
            <a:r>
              <a:rPr lang="pt-BR" sz="2200" dirty="0"/>
              <a:t>O MIT Whirlwind 1 foi um computador a válvula construído em 1946, capaz de processar dados em tempo real usando técnicas de paralelismo. O Whirlwind usava um sistema de armazenamento de dados usando uma matriz 3D de núcleos de ferrite (</a:t>
            </a:r>
            <a:r>
              <a:rPr lang="en-US" sz="2200" dirty="0"/>
              <a:t>magnetic cores</a:t>
            </a:r>
            <a:r>
              <a:rPr lang="pt-BR" sz="2200" dirty="0"/>
              <a:t>).</a:t>
            </a:r>
          </a:p>
          <a:p>
            <a:endParaRPr lang="pt-BR" sz="22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28</a:t>
            </a:fld>
            <a:endParaRPr lang="pt-BR" dirty="0"/>
          </a:p>
        </p:txBody>
      </p:sp>
      <p:pic>
        <p:nvPicPr>
          <p:cNvPr id="7" name="Picture 6" descr="computer2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032" y="3749350"/>
            <a:ext cx="3504806" cy="2650922"/>
          </a:xfrm>
          <a:prstGeom prst="rect">
            <a:avLst/>
          </a:prstGeom>
        </p:spPr>
      </p:pic>
      <p:pic>
        <p:nvPicPr>
          <p:cNvPr id="8" name="Picture 7" descr="core_memory_2.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1522" y="3735239"/>
            <a:ext cx="3997550" cy="2665033"/>
          </a:xfrm>
          <a:prstGeom prst="rect">
            <a:avLst/>
          </a:prstGeom>
        </p:spPr>
      </p:pic>
    </p:spTree>
    <p:extLst>
      <p:ext uri="{BB962C8B-B14F-4D97-AF65-F5344CB8AC3E}">
        <p14:creationId xmlns:p14="http://schemas.microsoft.com/office/powerpoint/2010/main" val="122042490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3.69573E-6 -3.90549E-6 L 0.00435 -0.00393 " pathEditMode="relative" ptsTypes="AA">
                                      <p:cBhvr>
                                        <p:cTn id="6" dur="2000" fill="hold"/>
                                        <p:tgtEl>
                                          <p:spTgt spid="7"/>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2.25425E-6 1.45935E-7 L 0.01146 -0.00417 " pathEditMode="relative" ptsTypes="AA">
                                      <p:cBhvr>
                                        <p:cTn id="8" dur="2000" fill="hold"/>
                                        <p:tgtEl>
                                          <p:spTgt spid="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descr="sage-fig-01.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8211" y="2695541"/>
            <a:ext cx="5748420" cy="2252896"/>
          </a:xfrm>
          <a:prstGeom prst="rect">
            <a:avLst/>
          </a:prstGeom>
        </p:spPr>
      </p:pic>
      <p:sp>
        <p:nvSpPr>
          <p:cNvPr id="2" name="Title 1"/>
          <p:cNvSpPr>
            <a:spLocks noGrp="1"/>
          </p:cNvSpPr>
          <p:nvPr>
            <p:ph type="title"/>
          </p:nvPr>
        </p:nvSpPr>
        <p:spPr/>
        <p:txBody>
          <a:bodyPr/>
          <a:lstStyle/>
          <a:p>
            <a:r>
              <a:rPr lang="pt-BR" dirty="0"/>
              <a:t>SAGE</a:t>
            </a:r>
          </a:p>
        </p:txBody>
      </p:sp>
      <p:sp>
        <p:nvSpPr>
          <p:cNvPr id="3" name="Content Placeholder 2"/>
          <p:cNvSpPr>
            <a:spLocks noGrp="1"/>
          </p:cNvSpPr>
          <p:nvPr>
            <p:ph idx="1"/>
          </p:nvPr>
        </p:nvSpPr>
        <p:spPr>
          <a:xfrm>
            <a:off x="657225" y="1485900"/>
            <a:ext cx="8219406" cy="4724400"/>
          </a:xfrm>
        </p:spPr>
        <p:txBody>
          <a:bodyPr/>
          <a:lstStyle/>
          <a:p>
            <a:r>
              <a:rPr lang="pt-BR" dirty="0" err="1"/>
              <a:t>Semi-Automatic</a:t>
            </a:r>
            <a:r>
              <a:rPr lang="pt-BR" dirty="0"/>
              <a:t> </a:t>
            </a:r>
            <a:r>
              <a:rPr lang="pt-BR" dirty="0" err="1"/>
              <a:t>Ground</a:t>
            </a:r>
            <a:r>
              <a:rPr lang="pt-BR" dirty="0"/>
              <a:t> </a:t>
            </a:r>
            <a:r>
              <a:rPr lang="pt-BR" dirty="0" err="1"/>
              <a:t>Environment</a:t>
            </a:r>
            <a:r>
              <a:rPr lang="pt-BR" dirty="0"/>
              <a:t> (SAGE) foi uma rede de computadores espalhada pelos EUA, cada centro possuía dois computadores AN/FSQ-7 de 32 bits produzido com 60.000 válvulas.</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29</a:t>
            </a:fld>
            <a:endParaRPr lang="pt-BR" dirty="0"/>
          </a:p>
        </p:txBody>
      </p:sp>
      <p:pic>
        <p:nvPicPr>
          <p:cNvPr id="7" name="Picture 6" descr="SAGE_computer.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1662" y="2521750"/>
            <a:ext cx="4684936" cy="3688549"/>
          </a:xfrm>
          <a:prstGeom prst="rect">
            <a:avLst/>
          </a:prstGeom>
        </p:spPr>
      </p:pic>
      <p:pic>
        <p:nvPicPr>
          <p:cNvPr id="6" name="Picture 5" descr="VacuumTubes7236-SAGE.jpg"/>
          <p:cNvPicPr>
            <a:picLocks noChangeAspect="1"/>
          </p:cNvPicPr>
          <p:nvPr/>
        </p:nvPicPr>
        <p:blipFill rotWithShape="1">
          <a:blip r:embed="rId5">
            <a:extLst>
              <a:ext uri="{28A0092B-C50C-407E-A947-70E740481C1C}">
                <a14:useLocalDpi xmlns:a14="http://schemas.microsoft.com/office/drawing/2010/main" val="0"/>
              </a:ext>
            </a:extLst>
          </a:blip>
          <a:srcRect l="30350" r="27650"/>
          <a:stretch/>
        </p:blipFill>
        <p:spPr>
          <a:xfrm>
            <a:off x="4237789" y="4663575"/>
            <a:ext cx="1604211" cy="1956672"/>
          </a:xfrm>
          <a:prstGeom prst="rect">
            <a:avLst/>
          </a:prstGeom>
        </p:spPr>
      </p:pic>
    </p:spTree>
    <p:extLst>
      <p:ext uri="{BB962C8B-B14F-4D97-AF65-F5344CB8AC3E}">
        <p14:creationId xmlns:p14="http://schemas.microsoft.com/office/powerpoint/2010/main" val="334574705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0" fill="hold"/>
                                        <p:tgtEl>
                                          <p:spTgt spid="8"/>
                                        </p:tgtEl>
                                        <p:attrNameLst>
                                          <p:attrName>ppt_w</p:attrName>
                                        </p:attrNameLst>
                                      </p:cBhvr>
                                      <p:tavLst>
                                        <p:tav tm="0">
                                          <p:val>
                                            <p:fltVal val="0"/>
                                          </p:val>
                                        </p:tav>
                                        <p:tav tm="100000">
                                          <p:val>
                                            <p:strVal val="#ppt_w"/>
                                          </p:val>
                                        </p:tav>
                                      </p:tavLst>
                                    </p:anim>
                                    <p:anim calcmode="lin" valueType="num">
                                      <p:cBhvr>
                                        <p:cTn id="8" dur="5000" fill="hold"/>
                                        <p:tgtEl>
                                          <p:spTgt spid="8"/>
                                        </p:tgtEl>
                                        <p:attrNameLst>
                                          <p:attrName>ppt_h</p:attrName>
                                        </p:attrNameLst>
                                      </p:cBhvr>
                                      <p:tavLst>
                                        <p:tav tm="0">
                                          <p:val>
                                            <p:fltVal val="0"/>
                                          </p:val>
                                        </p:tav>
                                        <p:tav tm="100000">
                                          <p:val>
                                            <p:strVal val="#ppt_h"/>
                                          </p:val>
                                        </p:tav>
                                      </p:tavLst>
                                    </p:anim>
                                    <p:animEffect transition="in" filter="fade">
                                      <p:cBhvr>
                                        <p:cTn id="9" dur="5000"/>
                                        <p:tgtEl>
                                          <p:spTgt spid="8"/>
                                        </p:tgtEl>
                                      </p:cBhvr>
                                    </p:animEffect>
                                    <p:anim calcmode="lin" valueType="num">
                                      <p:cBhvr>
                                        <p:cTn id="10" dur="5000" fill="hold"/>
                                        <p:tgtEl>
                                          <p:spTgt spid="8"/>
                                        </p:tgtEl>
                                        <p:attrNameLst>
                                          <p:attrName>ppt_x</p:attrName>
                                        </p:attrNameLst>
                                      </p:cBhvr>
                                      <p:tavLst>
                                        <p:tav tm="0">
                                          <p:val>
                                            <p:fltVal val="0.5"/>
                                          </p:val>
                                        </p:tav>
                                        <p:tav tm="100000">
                                          <p:val>
                                            <p:strVal val="#ppt_x"/>
                                          </p:val>
                                        </p:tav>
                                      </p:tavLst>
                                    </p:anim>
                                    <p:anim calcmode="lin" valueType="num">
                                      <p:cBhvr>
                                        <p:cTn id="11" dur="5000" fill="hold"/>
                                        <p:tgtEl>
                                          <p:spTgt spid="8"/>
                                        </p:tgtEl>
                                        <p:attrNameLst>
                                          <p:attrName>ppt_y</p:attrName>
                                        </p:attrNameLst>
                                      </p:cBhvr>
                                      <p:tavLst>
                                        <p:tav tm="0">
                                          <p:val>
                                            <p:fltVal val="0.5"/>
                                          </p:val>
                                        </p:tav>
                                        <p:tav tm="100000">
                                          <p:val>
                                            <p:strVal val="#ppt_y"/>
                                          </p:val>
                                        </p:tav>
                                      </p:tavLst>
                                    </p:anim>
                                  </p:childTnLst>
                                </p:cTn>
                              </p:par>
                            </p:childTnLst>
                          </p:cTn>
                        </p:par>
                        <p:par>
                          <p:cTn id="12" fill="hold">
                            <p:stCondLst>
                              <p:cond delay="5000"/>
                            </p:stCondLst>
                            <p:childTnLst>
                              <p:par>
                                <p:cTn id="13" presetID="42"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3000"/>
                                        <p:tgtEl>
                                          <p:spTgt spid="7"/>
                                        </p:tgtEl>
                                      </p:cBhvr>
                                    </p:animEffect>
                                    <p:anim calcmode="lin" valueType="num">
                                      <p:cBhvr>
                                        <p:cTn id="16" dur="3000" fill="hold"/>
                                        <p:tgtEl>
                                          <p:spTgt spid="7"/>
                                        </p:tgtEl>
                                        <p:attrNameLst>
                                          <p:attrName>ppt_x</p:attrName>
                                        </p:attrNameLst>
                                      </p:cBhvr>
                                      <p:tavLst>
                                        <p:tav tm="0">
                                          <p:val>
                                            <p:strVal val="#ppt_x"/>
                                          </p:val>
                                        </p:tav>
                                        <p:tav tm="100000">
                                          <p:val>
                                            <p:strVal val="#ppt_x"/>
                                          </p:val>
                                        </p:tav>
                                      </p:tavLst>
                                    </p:anim>
                                    <p:anim calcmode="lin" valueType="num">
                                      <p:cBhvr>
                                        <p:cTn id="17" dur="3000" fill="hold"/>
                                        <p:tgtEl>
                                          <p:spTgt spid="7"/>
                                        </p:tgtEl>
                                        <p:attrNameLst>
                                          <p:attrName>ppt_y</p:attrName>
                                        </p:attrNameLst>
                                      </p:cBhvr>
                                      <p:tavLst>
                                        <p:tav tm="0">
                                          <p:val>
                                            <p:strVal val="#ppt_y+.1"/>
                                          </p:val>
                                        </p:tav>
                                        <p:tav tm="100000">
                                          <p:val>
                                            <p:strVal val="#ppt_y"/>
                                          </p:val>
                                        </p:tav>
                                      </p:tavLst>
                                    </p:anim>
                                  </p:childTnLst>
                                </p:cTn>
                              </p:par>
                            </p:childTnLst>
                          </p:cTn>
                        </p:par>
                        <p:par>
                          <p:cTn id="18" fill="hold">
                            <p:stCondLst>
                              <p:cond delay="8000"/>
                            </p:stCondLst>
                            <p:childTnLst>
                              <p:par>
                                <p:cTn id="19" presetID="23" presetClass="entr" presetSubtype="272"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3000" fill="hold"/>
                                        <p:tgtEl>
                                          <p:spTgt spid="6"/>
                                        </p:tgtEl>
                                        <p:attrNameLst>
                                          <p:attrName>ppt_w</p:attrName>
                                        </p:attrNameLst>
                                      </p:cBhvr>
                                      <p:tavLst>
                                        <p:tav tm="0">
                                          <p:val>
                                            <p:strVal val="2/3*#ppt_w"/>
                                          </p:val>
                                        </p:tav>
                                        <p:tav tm="100000">
                                          <p:val>
                                            <p:strVal val="#ppt_w"/>
                                          </p:val>
                                        </p:tav>
                                      </p:tavLst>
                                    </p:anim>
                                    <p:anim calcmode="lin" valueType="num">
                                      <p:cBhvr>
                                        <p:cTn id="22" dur="3000" fill="hold"/>
                                        <p:tgtEl>
                                          <p:spTgt spid="6"/>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CRAY</a:t>
            </a:r>
          </a:p>
        </p:txBody>
      </p:sp>
      <p:sp>
        <p:nvSpPr>
          <p:cNvPr id="3" name="Content Placeholder 2"/>
          <p:cNvSpPr>
            <a:spLocks noGrp="1"/>
          </p:cNvSpPr>
          <p:nvPr>
            <p:ph idx="1"/>
          </p:nvPr>
        </p:nvSpPr>
        <p:spPr/>
        <p:txBody>
          <a:bodyPr/>
          <a:lstStyle/>
          <a:p>
            <a:r>
              <a:rPr lang="pt-BR" dirty="0" err="1"/>
              <a:t>Cray</a:t>
            </a:r>
            <a:r>
              <a:rPr lang="pt-BR" dirty="0"/>
              <a:t> Inc. builds </a:t>
            </a:r>
            <a:r>
              <a:rPr lang="pt-BR" dirty="0" err="1"/>
              <a:t>on</a:t>
            </a:r>
            <a:r>
              <a:rPr lang="pt-BR" dirty="0"/>
              <a:t> a </a:t>
            </a:r>
            <a:r>
              <a:rPr lang="pt-BR" dirty="0" err="1"/>
              <a:t>rich</a:t>
            </a:r>
            <a:r>
              <a:rPr lang="pt-BR" dirty="0"/>
              <a:t> </a:t>
            </a:r>
            <a:r>
              <a:rPr lang="pt-BR" dirty="0" err="1"/>
              <a:t>history</a:t>
            </a:r>
            <a:r>
              <a:rPr lang="pt-BR" dirty="0"/>
              <a:t> </a:t>
            </a:r>
            <a:r>
              <a:rPr lang="pt-BR" dirty="0" err="1"/>
              <a:t>that</a:t>
            </a:r>
            <a:r>
              <a:rPr lang="pt-BR" dirty="0"/>
              <a:t> </a:t>
            </a:r>
            <a:r>
              <a:rPr lang="pt-BR" dirty="0" err="1"/>
              <a:t>extends</a:t>
            </a:r>
            <a:r>
              <a:rPr lang="pt-BR" dirty="0"/>
              <a:t> </a:t>
            </a:r>
            <a:r>
              <a:rPr lang="pt-BR" dirty="0" err="1"/>
              <a:t>back</a:t>
            </a:r>
            <a:r>
              <a:rPr lang="pt-BR" dirty="0"/>
              <a:t> </a:t>
            </a:r>
            <a:r>
              <a:rPr lang="pt-BR" dirty="0" err="1"/>
              <a:t>to</a:t>
            </a:r>
            <a:r>
              <a:rPr lang="pt-BR" dirty="0"/>
              <a:t> 1972 </a:t>
            </a:r>
            <a:r>
              <a:rPr lang="pt-BR" dirty="0" err="1"/>
              <a:t>when</a:t>
            </a:r>
            <a:r>
              <a:rPr lang="pt-BR" dirty="0"/>
              <a:t> </a:t>
            </a:r>
            <a:r>
              <a:rPr lang="pt-BR" dirty="0" err="1"/>
              <a:t>legendary</a:t>
            </a:r>
            <a:r>
              <a:rPr lang="pt-BR" dirty="0"/>
              <a:t> Seymour </a:t>
            </a:r>
            <a:r>
              <a:rPr lang="pt-BR" dirty="0" err="1"/>
              <a:t>Cray</a:t>
            </a:r>
            <a:r>
              <a:rPr lang="pt-BR" dirty="0"/>
              <a:t>, </a:t>
            </a:r>
            <a:r>
              <a:rPr lang="pt-BR" dirty="0" err="1"/>
              <a:t>the</a:t>
            </a:r>
            <a:r>
              <a:rPr lang="pt-BR" dirty="0"/>
              <a:t> </a:t>
            </a:r>
            <a:r>
              <a:rPr lang="pt-BR" dirty="0" err="1"/>
              <a:t>legendary</a:t>
            </a:r>
            <a:r>
              <a:rPr lang="pt-BR" dirty="0"/>
              <a:t> "</a:t>
            </a:r>
            <a:r>
              <a:rPr lang="pt-BR" dirty="0" err="1"/>
              <a:t>father</a:t>
            </a:r>
            <a:r>
              <a:rPr lang="pt-BR" dirty="0"/>
              <a:t> </a:t>
            </a:r>
            <a:r>
              <a:rPr lang="pt-BR" dirty="0" err="1"/>
              <a:t>of</a:t>
            </a:r>
            <a:r>
              <a:rPr lang="pt-BR" dirty="0"/>
              <a:t> </a:t>
            </a:r>
            <a:r>
              <a:rPr lang="pt-BR" dirty="0" err="1"/>
              <a:t>supercomputing</a:t>
            </a:r>
            <a:r>
              <a:rPr lang="pt-BR" dirty="0"/>
              <a:t>," </a:t>
            </a:r>
            <a:r>
              <a:rPr lang="pt-BR" dirty="0" err="1"/>
              <a:t>founded</a:t>
            </a:r>
            <a:r>
              <a:rPr lang="pt-BR" dirty="0"/>
              <a:t> </a:t>
            </a:r>
            <a:r>
              <a:rPr lang="pt-BR" dirty="0" err="1"/>
              <a:t>Cray</a:t>
            </a:r>
            <a:r>
              <a:rPr lang="pt-BR" dirty="0"/>
              <a:t> </a:t>
            </a:r>
            <a:r>
              <a:rPr lang="pt-BR" dirty="0" err="1"/>
              <a:t>Research</a:t>
            </a:r>
            <a:r>
              <a:rPr lang="pt-BR" dirty="0"/>
              <a:t>. R&amp;D </a:t>
            </a:r>
            <a:r>
              <a:rPr lang="pt-BR" dirty="0" err="1"/>
              <a:t>and</a:t>
            </a:r>
            <a:r>
              <a:rPr lang="pt-BR" dirty="0"/>
              <a:t> </a:t>
            </a:r>
            <a:r>
              <a:rPr lang="pt-BR" dirty="0" err="1"/>
              <a:t>manufacturing</a:t>
            </a:r>
            <a:r>
              <a:rPr lang="pt-BR" dirty="0"/>
              <a:t> </a:t>
            </a:r>
            <a:r>
              <a:rPr lang="pt-BR" dirty="0" err="1"/>
              <a:t>were</a:t>
            </a:r>
            <a:r>
              <a:rPr lang="pt-BR" dirty="0"/>
              <a:t> </a:t>
            </a:r>
            <a:r>
              <a:rPr lang="pt-BR" dirty="0" err="1"/>
              <a:t>based</a:t>
            </a:r>
            <a:r>
              <a:rPr lang="pt-BR" dirty="0"/>
              <a:t> in </a:t>
            </a:r>
            <a:r>
              <a:rPr lang="pt-BR" dirty="0" err="1"/>
              <a:t>his</a:t>
            </a:r>
            <a:r>
              <a:rPr lang="pt-BR" dirty="0"/>
              <a:t> </a:t>
            </a:r>
            <a:r>
              <a:rPr lang="pt-BR" dirty="0" err="1"/>
              <a:t>hometown</a:t>
            </a:r>
            <a:r>
              <a:rPr lang="pt-BR" dirty="0"/>
              <a:t> </a:t>
            </a:r>
            <a:r>
              <a:rPr lang="pt-BR" dirty="0" err="1"/>
              <a:t>of</a:t>
            </a:r>
            <a:r>
              <a:rPr lang="pt-BR" dirty="0"/>
              <a:t> </a:t>
            </a:r>
            <a:r>
              <a:rPr lang="pt-BR" dirty="0" err="1"/>
              <a:t>Chippewa</a:t>
            </a:r>
            <a:r>
              <a:rPr lang="pt-BR" dirty="0"/>
              <a:t> Falls, Wisconsin; business </a:t>
            </a:r>
            <a:r>
              <a:rPr lang="pt-BR" dirty="0" err="1"/>
              <a:t>headquarters</a:t>
            </a:r>
            <a:r>
              <a:rPr lang="pt-BR" dirty="0"/>
              <a:t> </a:t>
            </a:r>
            <a:r>
              <a:rPr lang="pt-BR" dirty="0" err="1"/>
              <a:t>were</a:t>
            </a:r>
            <a:r>
              <a:rPr lang="pt-BR" dirty="0"/>
              <a:t> in Minneapolis, Minnesota.</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30</a:t>
            </a:fld>
            <a:endParaRPr lang="pt-BR" dirty="0"/>
          </a:p>
        </p:txBody>
      </p:sp>
    </p:spTree>
    <p:extLst>
      <p:ext uri="{BB962C8B-B14F-4D97-AF65-F5344CB8AC3E}">
        <p14:creationId xmlns:p14="http://schemas.microsoft.com/office/powerpoint/2010/main" val="3404162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9.85|5.913|6.507|5.77|4.658001|5.827"/>
</p:tagLst>
</file>

<file path=ppt/tags/tag2.xml><?xml version="1.0" encoding="utf-8"?>
<p:tagLst xmlns:a="http://schemas.openxmlformats.org/drawingml/2006/main" xmlns:r="http://schemas.openxmlformats.org/officeDocument/2006/relationships" xmlns:p="http://schemas.openxmlformats.org/presentationml/2006/main">
  <p:tag name="TIMING" val="|31.519"/>
</p:tagLst>
</file>

<file path=ppt/tags/tag3.xml><?xml version="1.0" encoding="utf-8"?>
<p:tagLst xmlns:a="http://schemas.openxmlformats.org/drawingml/2006/main" xmlns:r="http://schemas.openxmlformats.org/officeDocument/2006/relationships" xmlns:p="http://schemas.openxmlformats.org/presentationml/2006/main">
  <p:tag name="TIMING" val="|19.506"/>
</p:tagLst>
</file>

<file path=ppt/tags/tag4.xml><?xml version="1.0" encoding="utf-8"?>
<p:tagLst xmlns:a="http://schemas.openxmlformats.org/drawingml/2006/main" xmlns:r="http://schemas.openxmlformats.org/officeDocument/2006/relationships" xmlns:p="http://schemas.openxmlformats.org/presentationml/2006/main">
  <p:tag name="TIMING" val="|5.183|10.092|12.466|15.43|3.223|4.055"/>
</p:tagLst>
</file>

<file path=ppt/tags/tag5.xml><?xml version="1.0" encoding="utf-8"?>
<p:tagLst xmlns:a="http://schemas.openxmlformats.org/drawingml/2006/main" xmlns:r="http://schemas.openxmlformats.org/officeDocument/2006/relationships" xmlns:p="http://schemas.openxmlformats.org/presentationml/2006/main">
  <p:tag name="TIMING" val="|9.224|7.506"/>
</p:tagLst>
</file>

<file path=ppt/tags/tag6.xml><?xml version="1.0" encoding="utf-8"?>
<p:tagLst xmlns:a="http://schemas.openxmlformats.org/drawingml/2006/main" xmlns:r="http://schemas.openxmlformats.org/officeDocument/2006/relationships" xmlns:p="http://schemas.openxmlformats.org/presentationml/2006/main">
  <p:tag name="TIMING" val="|7.458|9.618|10.581|14.371"/>
</p:tagLst>
</file>

<file path=ppt/theme/theme1.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20242</TotalTime>
  <Words>4468</Words>
  <Application>Microsoft Macintosh PowerPoint</Application>
  <PresentationFormat>On-screen Show (4:3)</PresentationFormat>
  <Paragraphs>483</Paragraphs>
  <Slides>30</Slides>
  <Notes>26</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Cambria Math</vt:lpstr>
      <vt:lpstr>Lucida Calligraphy</vt:lpstr>
      <vt:lpstr>Verdana</vt:lpstr>
      <vt:lpstr>Personalizar design</vt:lpstr>
      <vt:lpstr>PowerPoint Presentation</vt:lpstr>
      <vt:lpstr>Colossus</vt:lpstr>
      <vt:lpstr>Clock</vt:lpstr>
      <vt:lpstr>Osciladores</vt:lpstr>
      <vt:lpstr>Lógica Combinacional e Sequencial</vt:lpstr>
      <vt:lpstr>Circuitos Biestáveis</vt:lpstr>
      <vt:lpstr>Tipos de Circuitos Biestáveis</vt:lpstr>
      <vt:lpstr>Flip-flops e Latches</vt:lpstr>
      <vt:lpstr>Latch tipo D</vt:lpstr>
      <vt:lpstr>Acionamento por pulso (subida)</vt:lpstr>
      <vt:lpstr>Acionamento por pulso (descida)</vt:lpstr>
      <vt:lpstr>Flip Flop</vt:lpstr>
      <vt:lpstr>Entradas síncronas e assíncronas</vt:lpstr>
      <vt:lpstr>Flip Flop</vt:lpstr>
      <vt:lpstr>Lendo e armazenando valores</vt:lpstr>
      <vt:lpstr>Memórias RAM Atuais</vt:lpstr>
      <vt:lpstr>Hierarquia de Memórias</vt:lpstr>
      <vt:lpstr>Hierarquia de Memória</vt:lpstr>
      <vt:lpstr>Mantendo um bit</vt:lpstr>
      <vt:lpstr>Blocos de Bits</vt:lpstr>
      <vt:lpstr>Registrador</vt:lpstr>
      <vt:lpstr>Memória RAM (Random Access Memory)</vt:lpstr>
      <vt:lpstr>Program Counter (PC)</vt:lpstr>
      <vt:lpstr>Registradores Seriais e Paralelos</vt:lpstr>
      <vt:lpstr>Exemplo de SIPO</vt:lpstr>
      <vt:lpstr>O uso de registradores</vt:lpstr>
      <vt:lpstr>PowerPoint Presentation</vt:lpstr>
      <vt:lpstr>MIT Whirlwind 1</vt:lpstr>
      <vt:lpstr>SAGE</vt:lpstr>
      <vt:lpstr>CRAY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Lógica Sequencial e Memórias  </dc:title>
  <dc:subject/>
  <dc:creator>Luciano Pereira Soares</dc:creator>
  <cp:keywords/>
  <dc:description/>
  <cp:lastModifiedBy>Luciano Pereira Soares</cp:lastModifiedBy>
  <cp:revision>775</cp:revision>
  <cp:lastPrinted>2015-05-25T01:17:28Z</cp:lastPrinted>
  <dcterms:created xsi:type="dcterms:W3CDTF">2014-04-17T20:05:08Z</dcterms:created>
  <dcterms:modified xsi:type="dcterms:W3CDTF">2026-09-15T01:29:59Z</dcterms:modified>
  <cp:category/>
</cp:coreProperties>
</file>