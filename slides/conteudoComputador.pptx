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0"/>
  </p:notesMasterIdLst>
  <p:handoutMasterIdLst>
    <p:handoutMasterId r:id="rId21"/>
  </p:handoutMasterIdLst>
  <p:sldIdLst>
    <p:sldId id="460" r:id="rId2"/>
    <p:sldId id="406" r:id="rId3"/>
    <p:sldId id="334" r:id="rId4"/>
    <p:sldId id="519" r:id="rId5"/>
    <p:sldId id="497" r:id="rId6"/>
    <p:sldId id="498" r:id="rId7"/>
    <p:sldId id="461" r:id="rId8"/>
    <p:sldId id="527" r:id="rId9"/>
    <p:sldId id="525" r:id="rId10"/>
    <p:sldId id="468" r:id="rId11"/>
    <p:sldId id="526" r:id="rId12"/>
    <p:sldId id="528" r:id="rId13"/>
    <p:sldId id="529" r:id="rId14"/>
    <p:sldId id="530" r:id="rId15"/>
    <p:sldId id="262" r:id="rId16"/>
    <p:sldId id="523" r:id="rId17"/>
    <p:sldId id="524" r:id="rId18"/>
    <p:sldId id="51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83264" autoAdjust="0"/>
  </p:normalViewPr>
  <p:slideViewPr>
    <p:cSldViewPr snapToGrid="0" snapToObjects="1" showGuides="1">
      <p:cViewPr varScale="1">
        <p:scale>
          <a:sx n="99" d="100"/>
          <a:sy n="99" d="100"/>
        </p:scale>
        <p:origin x="2432" y="18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10/8/26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08/10/2026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pt.wikipedia.org/wiki/Unidade_central_de_processamento" TargetMode="External"/><Relationship Id="rId13" Type="http://schemas.openxmlformats.org/officeDocument/2006/relationships/hyperlink" Target="https://pt.wikipedia.org/wiki/D%C3%A9cada_de_1980" TargetMode="External"/><Relationship Id="rId18" Type="http://schemas.openxmlformats.org/officeDocument/2006/relationships/hyperlink" Target="http://www.4004.com/mcs4-masks-schematics-sim.html" TargetMode="External"/><Relationship Id="rId3" Type="http://schemas.openxmlformats.org/officeDocument/2006/relationships/hyperlink" Target="https://pt.wikipedia.org/wiki/Microprocessador" TargetMode="External"/><Relationship Id="rId7" Type="http://schemas.openxmlformats.org/officeDocument/2006/relationships/hyperlink" Target="https://pt.wikipedia.org/wiki/1975" TargetMode="External"/><Relationship Id="rId12" Type="http://schemas.openxmlformats.org/officeDocument/2006/relationships/hyperlink" Target="https://pt.wikipedia.org/wiki/Computador_dom%C3%A9stico" TargetMode="External"/><Relationship Id="rId17" Type="http://schemas.openxmlformats.org/officeDocument/2006/relationships/hyperlink" Target="https://en.wikipedia.org/wiki/MOS_Technology_6502" TargetMode="External"/><Relationship Id="rId2" Type="http://schemas.openxmlformats.org/officeDocument/2006/relationships/slide" Target="../slides/slide3.xml"/><Relationship Id="rId16" Type="http://schemas.openxmlformats.org/officeDocument/2006/relationships/hyperlink" Target="https://pt.wikipedia.org/wiki/Sistemas_embarcados" TargetMode="External"/><Relationship Id="rId1" Type="http://schemas.openxmlformats.org/officeDocument/2006/relationships/notesMaster" Target="../notesMasters/notesMaster1.xml"/><Relationship Id="rId6" Type="http://schemas.openxmlformats.org/officeDocument/2006/relationships/hyperlink" Target="https://pt.wikipedia.org/wiki/MOS_Technology" TargetMode="External"/><Relationship Id="rId11" Type="http://schemas.openxmlformats.org/officeDocument/2006/relationships/hyperlink" Target="https://pt.wikipedia.org/wiki/Zilog_Z80" TargetMode="External"/><Relationship Id="rId5" Type="http://schemas.openxmlformats.org/officeDocument/2006/relationships/hyperlink" Target="https://pt.wikipedia.org/wiki/Chuck_Peddle" TargetMode="External"/><Relationship Id="rId15" Type="http://schemas.openxmlformats.org/officeDocument/2006/relationships/hyperlink" Target="https://pt.wikipedia.org/wiki/Synertek" TargetMode="External"/><Relationship Id="rId10" Type="http://schemas.openxmlformats.org/officeDocument/2006/relationships/hyperlink" Target="https://pt.wikipedia.org/wiki/Intel" TargetMode="External"/><Relationship Id="rId19" Type="http://schemas.openxmlformats.org/officeDocument/2006/relationships/hyperlink" Target="http://www.4004.com/" TargetMode="External"/><Relationship Id="rId4" Type="http://schemas.openxmlformats.org/officeDocument/2006/relationships/hyperlink" Target="https://pt.wikipedia.org/wiki/8_bit" TargetMode="External"/><Relationship Id="rId9" Type="http://schemas.openxmlformats.org/officeDocument/2006/relationships/hyperlink" Target="https://pt.wikipedia.org/wiki/Motorola" TargetMode="External"/><Relationship Id="rId14" Type="http://schemas.openxmlformats.org/officeDocument/2006/relationships/hyperlink" Target="https://pt.wikipedia.org/wiki/Rockwell_International"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www.goodreads.com</a:t>
            </a:r>
            <a:r>
              <a:rPr lang="pt-BR" dirty="0"/>
              <a:t>/</a:t>
            </a:r>
            <a:r>
              <a:rPr lang="pt-BR" dirty="0" err="1"/>
              <a:t>author</a:t>
            </a:r>
            <a:r>
              <a:rPr lang="pt-BR" dirty="0"/>
              <a:t>/</a:t>
            </a:r>
            <a:r>
              <a:rPr lang="pt-BR" dirty="0" err="1"/>
              <a:t>quotes</a:t>
            </a:r>
            <a:r>
              <a:rPr lang="pt-BR" dirty="0"/>
              <a:t>/87041.Alan_Turing</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19358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Diversos microprocessadores surgiram,</a:t>
            </a:r>
            <a:r>
              <a:rPr lang="pt-BR" baseline="0" dirty="0"/>
              <a:t> aqui estão alguns dos 3 primeiros o CADC, que é considerado por muitos o primeiro microprocessadores, e era usado nos caças F14. Posteriormente a Texas </a:t>
            </a:r>
            <a:r>
              <a:rPr lang="pt-BR" baseline="0" dirty="0" err="1"/>
              <a:t>Instruments</a:t>
            </a:r>
            <a:r>
              <a:rPr lang="pt-BR" baseline="0" dirty="0"/>
              <a:t> lançou um microprocessador conhecido como TMS1000 e a Four-</a:t>
            </a:r>
            <a:r>
              <a:rPr lang="pt-BR" baseline="0" dirty="0" err="1"/>
              <a:t>Phase</a:t>
            </a:r>
            <a:r>
              <a:rPr lang="pt-BR" baseline="0" dirty="0"/>
              <a:t> o AL1. </a:t>
            </a:r>
            <a:endParaRPr lang="pt-BR" dirty="0"/>
          </a:p>
          <a:p>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Microprocessor</a:t>
            </a:r>
            <a:endParaRPr lang="pt-BR" dirty="0"/>
          </a:p>
          <a:p>
            <a:r>
              <a:rPr lang="pt-BR" dirty="0" err="1"/>
              <a:t>http</a:t>
            </a:r>
            <a:r>
              <a:rPr lang="pt-BR" dirty="0"/>
              <a:t>://2.bp.blogspot.com/_3nimRnzxQgI/TSUtP6yexNI/</a:t>
            </a:r>
            <a:r>
              <a:rPr lang="pt-BR" dirty="0" err="1"/>
              <a:t>AAAAAAAAAHg</a:t>
            </a:r>
            <a:r>
              <a:rPr lang="pt-BR" dirty="0"/>
              <a:t>/8hPNFfmLCPU/s1600/</a:t>
            </a:r>
            <a:r>
              <a:rPr lang="pt-BR" dirty="0" err="1"/>
              <a:t>airspeed_cadc.jpg</a:t>
            </a:r>
            <a:endParaRPr lang="pt-BR" dirty="0"/>
          </a:p>
          <a:p>
            <a:r>
              <a:rPr lang="pt-BR" dirty="0" err="1"/>
              <a:t>http</a:t>
            </a:r>
            <a:r>
              <a:rPr lang="pt-BR" dirty="0"/>
              <a:t>://</a:t>
            </a:r>
            <a:r>
              <a:rPr lang="pt-BR" dirty="0" err="1"/>
              <a:t>hascomuter.blogspot.com.br</a:t>
            </a:r>
            <a:r>
              <a:rPr lang="pt-BR" dirty="0"/>
              <a:t>/2011/01/</a:t>
            </a:r>
            <a:r>
              <a:rPr lang="pt-BR" dirty="0" err="1"/>
              <a:t>cadc.html</a:t>
            </a:r>
            <a:endParaRPr lang="pt-BR" dirty="0"/>
          </a:p>
          <a:p>
            <a:r>
              <a:rPr lang="pt-BR" dirty="0" err="1"/>
              <a:t>https</a:t>
            </a:r>
            <a:r>
              <a:rPr lang="pt-BR" dirty="0"/>
              <a:t>://</a:t>
            </a:r>
            <a:r>
              <a:rPr lang="pt-BR" dirty="0" err="1"/>
              <a:t>upload.wikimedia.org</a:t>
            </a:r>
            <a:r>
              <a:rPr lang="pt-BR" dirty="0"/>
              <a:t>/</a:t>
            </a:r>
            <a:r>
              <a:rPr lang="pt-BR" dirty="0" err="1"/>
              <a:t>wikipedia</a:t>
            </a:r>
            <a:r>
              <a:rPr lang="pt-BR" dirty="0"/>
              <a:t>/</a:t>
            </a:r>
            <a:r>
              <a:rPr lang="pt-BR" dirty="0" err="1"/>
              <a:t>commons</a:t>
            </a:r>
            <a:r>
              <a:rPr lang="pt-BR" dirty="0"/>
              <a:t>/9/9c/AL1_-_Four-Phase_Systems_Inc.jpg</a:t>
            </a:r>
          </a:p>
          <a:p>
            <a:r>
              <a:rPr lang="pt-BR" dirty="0" err="1"/>
              <a:t>http</a:t>
            </a:r>
            <a:r>
              <a:rPr lang="pt-BR" dirty="0"/>
              <a:t>://</a:t>
            </a:r>
            <a:r>
              <a:rPr lang="pt-BR" dirty="0" err="1"/>
              <a:t>www.datamath.org</a:t>
            </a:r>
            <a:r>
              <a:rPr lang="pt-BR" dirty="0"/>
              <a:t>/</a:t>
            </a:r>
            <a:r>
              <a:rPr lang="pt-BR" dirty="0" err="1"/>
              <a:t>Story</a:t>
            </a:r>
            <a:r>
              <a:rPr lang="pt-BR" dirty="0"/>
              <a:t>/</a:t>
            </a:r>
            <a:r>
              <a:rPr lang="pt-BR" dirty="0" err="1"/>
              <a:t>Images</a:t>
            </a:r>
            <a:r>
              <a:rPr lang="pt-BR" dirty="0"/>
              <a:t>/TMS1000_DICE.jpg</a:t>
            </a:r>
          </a:p>
          <a:p>
            <a:r>
              <a:rPr lang="pt-BR" dirty="0" err="1"/>
              <a:t>http</a:t>
            </a:r>
            <a:r>
              <a:rPr lang="pt-BR" dirty="0"/>
              <a:t>://</a:t>
            </a:r>
            <a:r>
              <a:rPr lang="pt-BR" dirty="0" err="1"/>
              <a:t>www.datamath.org</a:t>
            </a:r>
            <a:r>
              <a:rPr lang="pt-BR" dirty="0"/>
              <a:t>/</a:t>
            </a:r>
            <a:r>
              <a:rPr lang="pt-BR" dirty="0" err="1"/>
              <a:t>Story</a:t>
            </a:r>
            <a:r>
              <a:rPr lang="pt-BR" dirty="0"/>
              <a:t>/</a:t>
            </a:r>
            <a:r>
              <a:rPr lang="pt-BR" dirty="0" err="1"/>
              <a:t>Intel.htm</a:t>
            </a:r>
            <a:endParaRPr lang="pt-BR" dirty="0"/>
          </a:p>
          <a:p>
            <a:r>
              <a:rPr lang="pt-BR" dirty="0" err="1"/>
              <a:t>http</a:t>
            </a:r>
            <a:r>
              <a:rPr lang="pt-BR" dirty="0"/>
              <a:t>://</a:t>
            </a:r>
            <a:r>
              <a:rPr lang="pt-BR" dirty="0" err="1"/>
              <a:t>archive.computerhistory.org</a:t>
            </a:r>
            <a:r>
              <a:rPr lang="pt-BR" dirty="0"/>
              <a:t>/</a:t>
            </a:r>
            <a:r>
              <a:rPr lang="pt-BR" dirty="0" err="1"/>
              <a:t>resources</a:t>
            </a:r>
            <a:r>
              <a:rPr lang="pt-BR" dirty="0"/>
              <a:t>/</a:t>
            </a:r>
            <a:r>
              <a:rPr lang="pt-BR" dirty="0" err="1"/>
              <a:t>access</a:t>
            </a:r>
            <a:r>
              <a:rPr lang="pt-BR" dirty="0"/>
              <a:t>/</a:t>
            </a:r>
            <a:r>
              <a:rPr lang="pt-BR" dirty="0" err="1"/>
              <a:t>physical-object</a:t>
            </a:r>
            <a:r>
              <a:rPr lang="pt-BR" dirty="0"/>
              <a:t>/2011/01/102716269.01.01.lg.JPG</a:t>
            </a:r>
          </a:p>
          <a:p>
            <a:r>
              <a:rPr lang="pt-BR" dirty="0" err="1"/>
              <a:t>http</a:t>
            </a:r>
            <a:r>
              <a:rPr lang="pt-BR" dirty="0"/>
              <a:t>://</a:t>
            </a:r>
            <a:r>
              <a:rPr lang="pt-BR" dirty="0" err="1"/>
              <a:t>www.kitsune.addr.com</a:t>
            </a:r>
            <a:r>
              <a:rPr lang="pt-BR" dirty="0"/>
              <a:t>/</a:t>
            </a:r>
            <a:r>
              <a:rPr lang="pt-BR" dirty="0" err="1"/>
              <a:t>Rifts</a:t>
            </a:r>
            <a:r>
              <a:rPr lang="pt-BR" dirty="0"/>
              <a:t>/</a:t>
            </a:r>
            <a:r>
              <a:rPr lang="pt-BR" dirty="0" err="1"/>
              <a:t>Rifts</a:t>
            </a:r>
            <a:r>
              <a:rPr lang="pt-BR" dirty="0"/>
              <a:t>-Earth-</a:t>
            </a:r>
            <a:r>
              <a:rPr lang="pt-BR" dirty="0" err="1"/>
              <a:t>Vehicles</a:t>
            </a:r>
            <a:r>
              <a:rPr lang="pt-BR" dirty="0"/>
              <a:t>/</a:t>
            </a:r>
            <a:r>
              <a:rPr lang="pt-BR" dirty="0" err="1"/>
              <a:t>Technowizard</a:t>
            </a:r>
            <a:r>
              <a:rPr lang="pt-BR" dirty="0"/>
              <a:t>/TW-F-14_Phoenix_Tomcat_Jet_Fighter.htm</a:t>
            </a:r>
          </a:p>
          <a:p>
            <a:r>
              <a:rPr lang="pt-BR" dirty="0" err="1"/>
              <a:t>http</a:t>
            </a:r>
            <a:r>
              <a:rPr lang="pt-BR" dirty="0"/>
              <a:t>://</a:t>
            </a:r>
            <a:r>
              <a:rPr lang="pt-BR" dirty="0" err="1"/>
              <a:t>www.cpu-world.com</a:t>
            </a:r>
            <a:r>
              <a:rPr lang="pt-BR" dirty="0"/>
              <a:t>/</a:t>
            </a:r>
            <a:r>
              <a:rPr lang="pt-BR" dirty="0" err="1"/>
              <a:t>CPUs</a:t>
            </a:r>
            <a:r>
              <a:rPr lang="pt-BR" dirty="0"/>
              <a:t>/TMS1000/</a:t>
            </a:r>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3956674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Em 1969 a Intel projetou um conjunto de quatro chips (MCS-4):  ROM(4001), RAM(4002), Shift </a:t>
            </a:r>
            <a:r>
              <a:rPr lang="pt-BR" sz="1200" dirty="0" err="1"/>
              <a:t>Register</a:t>
            </a:r>
            <a:r>
              <a:rPr lang="pt-BR" sz="1200" dirty="0"/>
              <a:t>(4003) e CPU(4004).</a:t>
            </a:r>
            <a:br>
              <a:rPr lang="pt-BR" sz="1200" dirty="0"/>
            </a:br>
            <a:r>
              <a:rPr lang="pt-BR" sz="1200" dirty="0"/>
              <a:t>O Intel 4004 é uma CPU de 4 bits (palavra) para aplicações orientadas a BCD (</a:t>
            </a:r>
            <a:r>
              <a:rPr lang="pt-BR" sz="1200" dirty="0" err="1"/>
              <a:t>Binary-Coded</a:t>
            </a:r>
            <a:r>
              <a:rPr lang="pt-BR" sz="1200" dirty="0"/>
              <a:t> Decimal), suportando um </a:t>
            </a:r>
            <a:r>
              <a:rPr lang="pt-BR" sz="1200" i="1" dirty="0"/>
              <a:t>clock</a:t>
            </a:r>
            <a:r>
              <a:rPr lang="pt-BR" sz="1200" dirty="0"/>
              <a:t> máximo de 740 kHz, com 2.300 transistores de 10mm. Hoje já temos tecnologia de 10nm</a:t>
            </a:r>
            <a:r>
              <a:rPr lang="pt-BR" sz="1200" baseline="0" dirty="0"/>
              <a:t> relativamente acessível. Ou seja, os transistores diminuíram numa ordem de um milhão de vezes. Outro </a:t>
            </a:r>
            <a:r>
              <a:rPr lang="pt-BR" sz="1200" baseline="0" dirty="0" err="1"/>
              <a:t>mircroprocessador</a:t>
            </a:r>
            <a:r>
              <a:rPr lang="pt-BR" sz="1200" baseline="0" dirty="0"/>
              <a:t> que alavancou o progresso da computação para os consumidores final, foi o MOS 6502, esse </a:t>
            </a:r>
            <a:r>
              <a:rPr lang="pt-BR" sz="1200" baseline="0" dirty="0" err="1"/>
              <a:t>processoador</a:t>
            </a:r>
            <a:r>
              <a:rPr lang="pt-BR" sz="1200" baseline="0" dirty="0"/>
              <a:t> foi usado em diversos vídeo games, e no famoso Apple 2, esse já com 8 bits tinha um custo muito menor que os concorrentes da época. Finalmente temos o </a:t>
            </a:r>
            <a:r>
              <a:rPr lang="pt-BR" sz="1200" baseline="0" dirty="0" err="1"/>
              <a:t>Zilog</a:t>
            </a:r>
            <a:r>
              <a:rPr lang="pt-BR" sz="1200" baseline="0" dirty="0"/>
              <a:t> 80, ou Z80, como falamos normalmente, esse processador já foi um dos mais usados no mundo, também com 8 bits, for largamente usado em aplicações domésticas, porém também em aplicações militares e </a:t>
            </a:r>
            <a:r>
              <a:rPr lang="pt-BR" sz="1200" baseline="0" dirty="0" err="1"/>
              <a:t>aerospaciais</a:t>
            </a:r>
            <a:r>
              <a:rPr lang="pt-BR" sz="1200" baseline="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pt-BR" sz="1200" baseline="0" dirty="0" err="1"/>
              <a:t>http</a:t>
            </a:r>
            <a:r>
              <a:rPr lang="pt-BR" sz="1200" baseline="0" dirty="0"/>
              <a:t>://</a:t>
            </a:r>
            <a:r>
              <a:rPr lang="pt-BR" sz="1200" baseline="0" dirty="0" err="1"/>
              <a:t>www.ebay.co.uk</a:t>
            </a:r>
            <a:r>
              <a:rPr lang="pt-BR" sz="1200" baseline="0" dirty="0"/>
              <a:t>/</a:t>
            </a:r>
            <a:r>
              <a:rPr lang="pt-BR" sz="1200" baseline="0" dirty="0" err="1"/>
              <a:t>itm</a:t>
            </a:r>
            <a:r>
              <a:rPr lang="pt-BR" sz="1200" baseline="0" dirty="0"/>
              <a:t>/Zilog-Z84C3006PEC-Z80-6MHz-CTC-28-Pin-DIP-IC-/261389111706</a:t>
            </a:r>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baseline="0" dirty="0"/>
          </a:p>
          <a:p>
            <a:r>
              <a:rPr lang="en-US" sz="1200" b="0" i="0" kern="1200" dirty="0">
                <a:solidFill>
                  <a:schemeClr val="tx1"/>
                </a:solidFill>
                <a:effectLst/>
                <a:latin typeface="+mn-lt"/>
                <a:ea typeface="+mn-ea"/>
                <a:cs typeface="+mn-cs"/>
              </a:rPr>
              <a:t>O </a:t>
            </a:r>
            <a:r>
              <a:rPr lang="en-US" sz="1200" b="1" i="0" kern="1200" dirty="0">
                <a:solidFill>
                  <a:schemeClr val="tx1"/>
                </a:solidFill>
                <a:effectLst/>
                <a:latin typeface="+mn-lt"/>
                <a:ea typeface="+mn-ea"/>
                <a:cs typeface="+mn-cs"/>
              </a:rPr>
              <a:t>MOS Technology 6502</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é</a:t>
            </a:r>
            <a:r>
              <a:rPr lang="en-US" sz="1200" b="0" i="0" kern="1200" dirty="0">
                <a:solidFill>
                  <a:schemeClr val="tx1"/>
                </a:solidFill>
                <a:effectLst/>
                <a:latin typeface="+mn-lt"/>
                <a:ea typeface="+mn-ea"/>
                <a:cs typeface="+mn-cs"/>
              </a:rPr>
              <a:t> um </a:t>
            </a:r>
            <a:r>
              <a:rPr lang="en-US" sz="1200" b="0" i="0" u="none" strike="noStrike" kern="1200" dirty="0">
                <a:solidFill>
                  <a:schemeClr val="tx1"/>
                </a:solidFill>
                <a:effectLst/>
                <a:latin typeface="+mn-lt"/>
                <a:ea typeface="+mn-ea"/>
                <a:cs typeface="+mn-cs"/>
                <a:hlinkClick r:id="rId3" tooltip="Microprocessador"/>
              </a:rPr>
              <a:t>microprocessador</a:t>
            </a:r>
            <a:r>
              <a:rPr lang="en-US" sz="1200" b="0" i="0" kern="1200" dirty="0">
                <a:solidFill>
                  <a:schemeClr val="tx1"/>
                </a:solidFill>
                <a:effectLst/>
                <a:latin typeface="+mn-lt"/>
                <a:ea typeface="+mn-ea"/>
                <a:cs typeface="+mn-cs"/>
              </a:rPr>
              <a:t> de </a:t>
            </a:r>
            <a:r>
              <a:rPr lang="en-US" sz="1200" b="0" i="0" u="none" strike="noStrike" kern="1200" dirty="0">
                <a:solidFill>
                  <a:schemeClr val="tx1"/>
                </a:solidFill>
                <a:effectLst/>
                <a:latin typeface="+mn-lt"/>
                <a:ea typeface="+mn-ea"/>
                <a:cs typeface="+mn-cs"/>
                <a:hlinkClick r:id="rId4" tooltip="8 bit"/>
              </a:rPr>
              <a:t>8 bits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projetado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tooltip="Chuck Peddle"/>
              </a:rPr>
              <a:t>Chuck Peddle</a:t>
            </a:r>
            <a:r>
              <a:rPr lang="en-US" sz="1200" b="0" i="0" kern="1200" dirty="0">
                <a:solidFill>
                  <a:schemeClr val="tx1"/>
                </a:solidFill>
                <a:effectLst/>
                <a:latin typeface="+mn-lt"/>
                <a:ea typeface="+mn-ea"/>
                <a:cs typeface="+mn-cs"/>
              </a:rPr>
              <a:t> para a </a:t>
            </a:r>
            <a:r>
              <a:rPr lang="en-US" sz="1200" b="0" i="1" u="none" strike="noStrike" kern="1200" dirty="0">
                <a:solidFill>
                  <a:schemeClr val="tx1"/>
                </a:solidFill>
                <a:effectLst/>
                <a:latin typeface="+mn-lt"/>
                <a:ea typeface="+mn-ea"/>
                <a:cs typeface="+mn-cs"/>
                <a:hlinkClick r:id="rId6" tooltip="MOS Technology"/>
              </a:rPr>
              <a:t>MOS Technology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7" tooltip="1975"/>
              </a:rPr>
              <a:t>1975</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apresentado</a:t>
            </a:r>
            <a:r>
              <a:rPr lang="en-US" sz="1200" b="0" i="0" kern="1200" dirty="0">
                <a:solidFill>
                  <a:schemeClr val="tx1"/>
                </a:solidFill>
                <a:effectLst/>
                <a:latin typeface="+mn-lt"/>
                <a:ea typeface="+mn-ea"/>
                <a:cs typeface="+mn-cs"/>
              </a:rPr>
              <a:t>, era a </a:t>
            </a:r>
            <a:r>
              <a:rPr lang="en-US" sz="1200" b="0" i="0" u="none" strike="noStrike" kern="1200" dirty="0">
                <a:solidFill>
                  <a:schemeClr val="tx1"/>
                </a:solidFill>
                <a:effectLst/>
                <a:latin typeface="+mn-lt"/>
                <a:ea typeface="+mn-ea"/>
                <a:cs typeface="+mn-cs"/>
                <a:hlinkClick r:id="rId8" tooltip="Unidade central de processamento"/>
              </a:rPr>
              <a:t>UCP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completa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barata</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mercado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custando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cerca</a:t>
            </a:r>
            <a:r>
              <a:rPr lang="en-US" sz="1200" b="0" i="0" kern="1200" dirty="0">
                <a:solidFill>
                  <a:schemeClr val="tx1"/>
                </a:solidFill>
                <a:effectLst/>
                <a:latin typeface="+mn-lt"/>
                <a:ea typeface="+mn-ea"/>
                <a:cs typeface="+mn-cs"/>
              </a:rPr>
              <a:t> de 1/6 (</a:t>
            </a:r>
            <a:r>
              <a:rPr lang="en-US" sz="1200" b="0" i="0" kern="1200" dirty="0" err="1">
                <a:solidFill>
                  <a:schemeClr val="tx1"/>
                </a:solidFill>
                <a:effectLst/>
                <a:latin typeface="+mn-lt"/>
                <a:ea typeface="+mn-ea"/>
                <a:cs typeface="+mn-cs"/>
              </a:rPr>
              <a:t>ou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menos</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preço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dispositivos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similares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feitos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grandes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empresas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concorrentes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9" tooltip="Motorola"/>
              </a:rPr>
              <a:t>Motorola</a:t>
            </a:r>
            <a:r>
              <a:rPr lang="en-US" sz="1200" b="0" i="0" kern="1200" dirty="0">
                <a:solidFill>
                  <a:schemeClr val="tx1"/>
                </a:solidFill>
                <a:effectLst/>
                <a:latin typeface="+mn-lt"/>
                <a:ea typeface="+mn-ea"/>
                <a:cs typeface="+mn-cs"/>
              </a:rPr>
              <a:t> e </a:t>
            </a:r>
            <a:r>
              <a:rPr lang="en-US" sz="1200" b="0" i="0" u="none" strike="noStrike" kern="1200" dirty="0">
                <a:solidFill>
                  <a:schemeClr val="tx1"/>
                </a:solidFill>
                <a:effectLst/>
                <a:latin typeface="+mn-lt"/>
                <a:ea typeface="+mn-ea"/>
                <a:cs typeface="+mn-cs"/>
                <a:hlinkClick r:id="rId10" tooltip="Intel"/>
              </a:rPr>
              <a:t>Intel</a:t>
            </a:r>
            <a:r>
              <a:rPr lang="en-US" sz="1200" b="0" i="0" kern="1200" dirty="0">
                <a:solidFill>
                  <a:schemeClr val="tx1"/>
                </a:solidFill>
                <a:effectLst/>
                <a:latin typeface="+mn-lt"/>
                <a:ea typeface="+mn-ea"/>
                <a:cs typeface="+mn-cs"/>
              </a:rPr>
              <a:t>. Era </a:t>
            </a:r>
            <a:r>
              <a:rPr lang="en-US" sz="1200" b="0" i="0" kern="1200" dirty="0" err="1">
                <a:solidFill>
                  <a:schemeClr val="tx1"/>
                </a:solidFill>
                <a:effectLst/>
                <a:latin typeface="+mn-lt"/>
                <a:ea typeface="+mn-ea"/>
                <a:cs typeface="+mn-cs"/>
              </a:rPr>
              <a:t>ainda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rápido</a:t>
            </a:r>
            <a:r>
              <a:rPr lang="en-US" sz="1200" b="0" i="0" kern="1200" dirty="0">
                <a:solidFill>
                  <a:schemeClr val="tx1"/>
                </a:solidFill>
                <a:effectLst/>
                <a:latin typeface="+mn-lt"/>
                <a:ea typeface="+mn-ea"/>
                <a:cs typeface="+mn-cs"/>
              </a:rPr>
              <a:t> do que a </a:t>
            </a:r>
            <a:r>
              <a:rPr lang="en-US" sz="1200" b="0" i="0" kern="1200" dirty="0" err="1">
                <a:solidFill>
                  <a:schemeClr val="tx1"/>
                </a:solidFill>
                <a:effectLst/>
                <a:latin typeface="+mn-lt"/>
                <a:ea typeface="+mn-ea"/>
                <a:cs typeface="+mn-cs"/>
              </a:rPr>
              <a:t>maioria</a:t>
            </a:r>
            <a:r>
              <a:rPr lang="en-US" sz="1200" b="0" i="0" kern="1200" dirty="0">
                <a:solidFill>
                  <a:schemeClr val="tx1"/>
                </a:solidFill>
                <a:effectLst/>
                <a:latin typeface="+mn-lt"/>
                <a:ea typeface="+mn-ea"/>
                <a:cs typeface="+mn-cs"/>
              </a:rPr>
              <a:t> deles, e, </a:t>
            </a:r>
            <a:r>
              <a:rPr lang="en-US" sz="1200" b="0" i="0" kern="1200" dirty="0" err="1">
                <a:solidFill>
                  <a:schemeClr val="tx1"/>
                </a:solidFill>
                <a:effectLst/>
                <a:latin typeface="+mn-lt"/>
                <a:ea typeface="+mn-ea"/>
                <a:cs typeface="+mn-cs"/>
              </a:rPr>
              <a:t>juntamente</a:t>
            </a:r>
            <a:r>
              <a:rPr lang="en-US" sz="1200" b="0" i="0" kern="1200" dirty="0">
                <a:solidFill>
                  <a:schemeClr val="tx1"/>
                </a:solidFill>
                <a:effectLst/>
                <a:latin typeface="+mn-lt"/>
                <a:ea typeface="+mn-ea"/>
                <a:cs typeface="+mn-cs"/>
              </a:rPr>
              <a:t> com o </a:t>
            </a:r>
            <a:r>
              <a:rPr lang="en-US" sz="1200" b="0" i="0" u="none" strike="noStrike" kern="1200" dirty="0">
                <a:solidFill>
                  <a:schemeClr val="tx1"/>
                </a:solidFill>
                <a:effectLst/>
                <a:latin typeface="+mn-lt"/>
                <a:ea typeface="+mn-ea"/>
                <a:cs typeface="+mn-cs"/>
                <a:hlinkClick r:id="rId11" tooltip="Zilog Z80"/>
              </a:rPr>
              <a:t>Zilog Z80</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origem</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uma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série</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projetos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computadores</a:t>
            </a:r>
            <a:r>
              <a:rPr lang="en-US" sz="1200" b="0" i="0" kern="1200" dirty="0">
                <a:solidFill>
                  <a:schemeClr val="tx1"/>
                </a:solidFill>
                <a:effectLst/>
                <a:latin typeface="+mn-lt"/>
                <a:ea typeface="+mn-ea"/>
                <a:cs typeface="+mn-cs"/>
              </a:rPr>
              <a:t> que </a:t>
            </a:r>
            <a:r>
              <a:rPr lang="en-US" sz="1200" b="0" i="0" kern="1200" dirty="0" err="1">
                <a:solidFill>
                  <a:schemeClr val="tx1"/>
                </a:solidFill>
                <a:effectLst/>
                <a:latin typeface="+mn-lt"/>
                <a:ea typeface="+mn-ea"/>
                <a:cs typeface="+mn-cs"/>
              </a:rPr>
              <a:t>eventualmente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resultaram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revolução</a:t>
            </a:r>
            <a:r>
              <a:rPr lang="en-US" sz="1200" b="0" i="0" kern="1200" dirty="0">
                <a:solidFill>
                  <a:schemeClr val="tx1"/>
                </a:solidFill>
                <a:effectLst/>
                <a:latin typeface="+mn-lt"/>
                <a:ea typeface="+mn-ea"/>
                <a:cs typeface="+mn-cs"/>
              </a:rPr>
              <a:t> dos </a:t>
            </a:r>
            <a:r>
              <a:rPr lang="en-US" sz="1200" b="0" i="0" u="none" strike="noStrike" kern="1200" dirty="0">
                <a:solidFill>
                  <a:schemeClr val="tx1"/>
                </a:solidFill>
                <a:effectLst/>
                <a:latin typeface="+mn-lt"/>
                <a:ea typeface="+mn-ea"/>
                <a:cs typeface="+mn-cs"/>
                <a:hlinkClick r:id="rId12" tooltip="Computador doméstico"/>
              </a:rPr>
              <a:t>computadores domésticos</a:t>
            </a:r>
            <a:r>
              <a:rPr lang="en-US" sz="1200" b="0" i="0" kern="1200" dirty="0">
                <a:solidFill>
                  <a:schemeClr val="tx1"/>
                </a:solidFill>
                <a:effectLst/>
                <a:latin typeface="+mn-lt"/>
                <a:ea typeface="+mn-ea"/>
                <a:cs typeface="+mn-cs"/>
              </a:rPr>
              <a:t> dos </a:t>
            </a:r>
            <a:r>
              <a:rPr lang="en-US" sz="1200" b="0" i="0" kern="1200" dirty="0" err="1">
                <a:solidFill>
                  <a:schemeClr val="tx1"/>
                </a:solidFill>
                <a:effectLst/>
                <a:latin typeface="+mn-lt"/>
                <a:ea typeface="+mn-ea"/>
                <a:cs typeface="+mn-cs"/>
              </a:rPr>
              <a:t>anos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3" tooltip="Década de 1980"/>
              </a:rPr>
              <a:t>1980</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fabricação</a:t>
            </a:r>
            <a:r>
              <a:rPr lang="en-US" sz="1200" b="0" i="0" kern="1200" dirty="0">
                <a:solidFill>
                  <a:schemeClr val="tx1"/>
                </a:solidFill>
                <a:effectLst/>
                <a:latin typeface="+mn-lt"/>
                <a:ea typeface="+mn-ea"/>
                <a:cs typeface="+mn-cs"/>
              </a:rPr>
              <a:t> do 6502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também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suprida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originalmente</a:t>
            </a:r>
            <a:r>
              <a:rPr lang="en-US" sz="1200" b="0" i="0" kern="1200" dirty="0">
                <a:solidFill>
                  <a:schemeClr val="tx1"/>
                </a:solidFill>
                <a:effectLst/>
                <a:latin typeface="+mn-lt"/>
                <a:ea typeface="+mn-ea"/>
                <a:cs typeface="+mn-cs"/>
              </a:rPr>
              <a:t> pela </a:t>
            </a:r>
            <a:r>
              <a:rPr lang="en-US" sz="1200" b="0" i="0" u="none" strike="noStrike" kern="1200" dirty="0">
                <a:solidFill>
                  <a:schemeClr val="tx1"/>
                </a:solidFill>
                <a:effectLst/>
                <a:latin typeface="+mn-lt"/>
                <a:ea typeface="+mn-ea"/>
                <a:cs typeface="+mn-cs"/>
                <a:hlinkClick r:id="rId14" tooltip="Rockwell International"/>
              </a:rPr>
              <a:t>Rockwell</a:t>
            </a:r>
            <a:r>
              <a:rPr lang="en-US" sz="1200" b="0" i="0" kern="1200" dirty="0">
                <a:solidFill>
                  <a:schemeClr val="tx1"/>
                </a:solidFill>
                <a:effectLst/>
                <a:latin typeface="+mn-lt"/>
                <a:ea typeface="+mn-ea"/>
                <a:cs typeface="+mn-cs"/>
              </a:rPr>
              <a:t> e </a:t>
            </a:r>
            <a:r>
              <a:rPr lang="en-US" sz="1200" b="0" i="0" u="none" strike="noStrike" kern="1200" dirty="0">
                <a:solidFill>
                  <a:schemeClr val="tx1"/>
                </a:solidFill>
                <a:effectLst/>
                <a:latin typeface="+mn-lt"/>
                <a:ea typeface="+mn-ea"/>
                <a:cs typeface="+mn-cs"/>
                <a:hlinkClick r:id="rId15" tooltip="Synertek"/>
              </a:rPr>
              <a:t>Synertek</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posteriormente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licenciada</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várias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outras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empresas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ainda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produzido</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uso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6" tooltip="Sistemas embarcados"/>
              </a:rPr>
              <a:t>sistemas embarcados</a:t>
            </a:r>
            <a:r>
              <a:rPr lang="en-US" sz="1200" b="0" i="0" kern="1200" dirty="0">
                <a:solidFill>
                  <a:schemeClr val="tx1"/>
                </a:solidFill>
                <a:effectLst/>
                <a:latin typeface="+mn-lt"/>
                <a:ea typeface="+mn-ea"/>
                <a:cs typeface="+mn-cs"/>
              </a:rPr>
              <a:t>.</a:t>
            </a:r>
          </a:p>
          <a:p>
            <a:endParaRPr lang="en-US" dirty="0"/>
          </a:p>
          <a:p>
            <a:r>
              <a:rPr lang="en-US" dirty="0"/>
              <a:t>MOS Technology 6502</a:t>
            </a:r>
          </a:p>
          <a:p>
            <a:r>
              <a:rPr lang="en-US" dirty="0">
                <a:hlinkClick r:id="rId17"/>
              </a:rPr>
              <a:t>https://en.wikipedia.org/wiki/MOS_Technology_6502</a:t>
            </a:r>
            <a:endParaRPr lang="en-US" dirty="0"/>
          </a:p>
          <a:p>
            <a:r>
              <a:rPr lang="en-US" dirty="0"/>
              <a:t>https://</a:t>
            </a:r>
            <a:r>
              <a:rPr lang="en-US" dirty="0" err="1"/>
              <a:t>pt.wikipedia.org</a:t>
            </a:r>
            <a:r>
              <a:rPr lang="en-US" dirty="0"/>
              <a:t>/wiki/6502</a:t>
            </a:r>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dirty="0"/>
          </a:p>
          <a:p>
            <a:endParaRPr lang="pt-BR" dirty="0"/>
          </a:p>
          <a:p>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Federico_Faggin</a:t>
            </a:r>
            <a:endParaRPr lang="pt-BR" dirty="0"/>
          </a:p>
          <a:p>
            <a:r>
              <a:rPr lang="pt-BR" dirty="0">
                <a:hlinkClick r:id="rId18"/>
              </a:rPr>
              <a:t>http://www.4004.com/mcs4-masks-schematics-sim.html</a:t>
            </a:r>
            <a:endParaRPr lang="pt-BR" dirty="0"/>
          </a:p>
          <a:p>
            <a:r>
              <a:rPr lang="pl-PL" dirty="0">
                <a:hlinkClick r:id="rId19"/>
              </a:rPr>
              <a:t>http://www.4004.com/</a:t>
            </a:r>
            <a:endParaRPr lang="pl-PL"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/Intel_4004</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://www.intel4004.com/4004_original_schematics.htm</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2747083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a:p>
            <a:endParaRPr lang="pt-BR" dirty="0"/>
          </a:p>
          <a:p>
            <a:r>
              <a:rPr lang="pt-BR" dirty="0" err="1"/>
              <a:t>http</a:t>
            </a:r>
            <a:r>
              <a:rPr lang="pt-BR" dirty="0"/>
              <a:t>://</a:t>
            </a:r>
            <a:r>
              <a:rPr lang="pt-BR" dirty="0" err="1"/>
              <a:t>www.goldparser.org</a:t>
            </a:r>
            <a:r>
              <a:rPr lang="pt-BR" dirty="0"/>
              <a:t>/</a:t>
            </a:r>
            <a:r>
              <a:rPr lang="pt-BR" dirty="0" err="1"/>
              <a:t>articles</a:t>
            </a:r>
            <a:r>
              <a:rPr lang="pt-BR" dirty="0"/>
              <a:t>/byte-</a:t>
            </a:r>
            <a:r>
              <a:rPr lang="pt-BR" dirty="0" err="1"/>
              <a:t>ordering.htm</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3773503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Os elementos de caminho de dados,</a:t>
            </a:r>
            <a:r>
              <a:rPr lang="pt-BR" sz="1200" baseline="0" dirty="0"/>
              <a:t> ou como falamos em inglês os </a:t>
            </a:r>
            <a:r>
              <a:rPr lang="en-US" sz="1200" dirty="0" err="1"/>
              <a:t>datapath</a:t>
            </a:r>
            <a:r>
              <a:rPr lang="en-US" sz="1200" dirty="0"/>
              <a:t> elements</a:t>
            </a:r>
            <a:r>
              <a:rPr lang="pt-BR" sz="1200" dirty="0"/>
              <a:t>, são as unidade usada para operar ou manter valores. Por exemplo: ALU, Registradores, Memórias.</a:t>
            </a:r>
            <a:r>
              <a:rPr lang="pt-BR" sz="1200" baseline="0" dirty="0"/>
              <a:t> Os dados dos computadores, que são os bits, trafegam nessas linhas, e conforme for podem ser armazenados em algum desses elementos, como por exemplo os registradores, ou passar e se transformar como as unidades lógicas aritmética. </a:t>
            </a:r>
            <a:r>
              <a:rPr lang="pt-BR" sz="1200" dirty="0"/>
              <a:t>Uma forma de analisar o caminho de dados é por</a:t>
            </a:r>
            <a:r>
              <a:rPr lang="pt-BR" sz="1200" baseline="0" dirty="0"/>
              <a:t> uma </a:t>
            </a:r>
            <a:r>
              <a:rPr lang="pt-BR" sz="1200" dirty="0"/>
              <a:t>instrução, e quais tipos de elementos são necessários para executar ela. Por exemplo</a:t>
            </a:r>
            <a:r>
              <a:rPr lang="pt-BR" sz="1200" baseline="0" dirty="0"/>
              <a:t> para </a:t>
            </a:r>
            <a:r>
              <a:rPr lang="pt-BR" sz="1200" b="1" dirty="0"/>
              <a:t>Mudar valor do </a:t>
            </a:r>
            <a:r>
              <a:rPr lang="pt-BR" sz="1200" b="1" dirty="0" err="1"/>
              <a:t>Program</a:t>
            </a:r>
            <a:r>
              <a:rPr lang="pt-BR" sz="1200" b="1" dirty="0"/>
              <a:t> </a:t>
            </a:r>
            <a:r>
              <a:rPr lang="pt-BR" sz="1200" b="1" dirty="0" err="1"/>
              <a:t>Counter</a:t>
            </a:r>
            <a:r>
              <a:rPr lang="pt-BR" sz="1200" b="1" dirty="0"/>
              <a:t>,</a:t>
            </a:r>
            <a:r>
              <a:rPr lang="pt-BR" sz="1200" b="1" baseline="0" dirty="0"/>
              <a:t> temos de </a:t>
            </a:r>
            <a:r>
              <a:rPr lang="pt-BR" sz="1200" b="1" baseline="0" dirty="0" err="1"/>
              <a:t>after</a:t>
            </a:r>
            <a:r>
              <a:rPr lang="pt-BR" sz="1200" b="1" baseline="0" dirty="0"/>
              <a:t> alguns registradores, por exemplo.</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149027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Conforme a arquitetura de cada computador, um número específico de registradores é disponibilizado. As arquiteturas também possuem registradores específicos para certas instruções.</a:t>
            </a:r>
            <a:r>
              <a:rPr lang="pt-BR" sz="1200" baseline="0" dirty="0"/>
              <a:t> </a:t>
            </a:r>
            <a:r>
              <a:rPr lang="pt-BR" sz="1200" dirty="0"/>
              <a:t>Normalmente as arquiteturas possuem alguns registradores, que são usados para armazenarem dados temporários.</a:t>
            </a:r>
          </a:p>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Algumas arquiteturas possuem </a:t>
            </a:r>
            <a:r>
              <a:rPr lang="pt-BR" sz="1200" u="sng" dirty="0"/>
              <a:t>instruções,</a:t>
            </a:r>
            <a:r>
              <a:rPr lang="pt-BR" sz="1200" dirty="0"/>
              <a:t> onde os endereços que ela agirão já devem estar definidos em certos registradores, ou</a:t>
            </a:r>
            <a:r>
              <a:rPr lang="pt-BR" sz="1200" baseline="0" dirty="0"/>
              <a:t> seja tal instrução em linguagem de maquina só funciona com certo registrador, por exemplo: </a:t>
            </a:r>
            <a:r>
              <a:rPr lang="pt-BR" sz="1200" dirty="0"/>
              <a:t>o endereço para</a:t>
            </a:r>
            <a:r>
              <a:rPr lang="pt-BR" sz="1200" baseline="0" dirty="0"/>
              <a:t> apontar</a:t>
            </a:r>
            <a:r>
              <a:rPr lang="pt-BR" sz="1200" dirty="0"/>
              <a:t> memória precisa ser colocado antes em um registrador específico para poder ser usado.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1730540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Inicialmente o </a:t>
            </a:r>
            <a:r>
              <a:rPr lang="pt-BR" dirty="0" err="1"/>
              <a:t>Program</a:t>
            </a:r>
            <a:r>
              <a:rPr lang="pt-BR" dirty="0"/>
              <a:t> </a:t>
            </a:r>
            <a:r>
              <a:rPr lang="pt-BR" dirty="0" err="1"/>
              <a:t>Counter</a:t>
            </a:r>
            <a:r>
              <a:rPr lang="pt-BR" dirty="0"/>
              <a:t> aponta um endereço da memória que</a:t>
            </a:r>
            <a:r>
              <a:rPr lang="pt-BR" baseline="0" dirty="0"/>
              <a:t> contem o </a:t>
            </a:r>
            <a:r>
              <a:rPr lang="pt-BR" dirty="0"/>
              <a:t>programa, e a instrução, que nesse momento é só um conjunto de bits é disponibilizadas, essa ação chamamos</a:t>
            </a:r>
            <a:r>
              <a:rPr lang="pt-BR" baseline="0" dirty="0"/>
              <a:t> de FETCH, ou seja a busca, ou leitura de uma </a:t>
            </a:r>
            <a:r>
              <a:rPr lang="pt-BR" baseline="0" dirty="0" err="1"/>
              <a:t>intrução</a:t>
            </a:r>
            <a:r>
              <a:rPr lang="pt-BR" baseline="0" dirty="0"/>
              <a:t>.</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1467044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547984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 </a:t>
            </a:r>
            <a:r>
              <a:rPr lang="en-US" sz="1200" b="0" i="0" kern="1200" dirty="0" err="1">
                <a:solidFill>
                  <a:schemeClr val="tx1"/>
                </a:solidFill>
                <a:effectLst/>
                <a:latin typeface="+mn-lt"/>
                <a:ea typeface="+mn-ea"/>
                <a:cs typeface="+mn-cs"/>
              </a:rPr>
              <a:t>lançamento</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computador</a:t>
            </a:r>
            <a:r>
              <a:rPr lang="en-US" sz="1200" b="0" i="0" kern="1200" dirty="0">
                <a:solidFill>
                  <a:schemeClr val="tx1"/>
                </a:solidFill>
                <a:effectLst/>
                <a:latin typeface="+mn-lt"/>
                <a:ea typeface="+mn-ea"/>
                <a:cs typeface="+mn-cs"/>
              </a:rPr>
              <a:t> PDP-1 (Programmed Data Processor-1)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1959 </a:t>
            </a:r>
            <a:r>
              <a:rPr lang="en-US" sz="1200" b="0" i="0" kern="1200" dirty="0" err="1">
                <a:solidFill>
                  <a:schemeClr val="tx1"/>
                </a:solidFill>
                <a:effectLst/>
                <a:latin typeface="+mn-lt"/>
                <a:ea typeface="+mn-ea"/>
                <a:cs typeface="+mn-cs"/>
              </a:rPr>
              <a:t>marcou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uma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mudança</a:t>
            </a:r>
            <a:r>
              <a:rPr lang="en-US" sz="1200" b="0" i="0" kern="1200" dirty="0">
                <a:solidFill>
                  <a:schemeClr val="tx1"/>
                </a:solidFill>
                <a:effectLst/>
                <a:latin typeface="+mn-lt"/>
                <a:ea typeface="+mn-ea"/>
                <a:cs typeface="+mn-cs"/>
              </a:rPr>
              <a:t> radical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filosofia</a:t>
            </a:r>
            <a:r>
              <a:rPr lang="en-US" sz="1200" b="0" i="0" kern="1200" dirty="0">
                <a:solidFill>
                  <a:schemeClr val="tx1"/>
                </a:solidFill>
                <a:effectLst/>
                <a:latin typeface="+mn-lt"/>
                <a:ea typeface="+mn-ea"/>
                <a:cs typeface="+mn-cs"/>
              </a:rPr>
              <a:t> do design de </a:t>
            </a:r>
            <a:r>
              <a:rPr lang="en-US" sz="1200" b="0" i="0" kern="1200" dirty="0" err="1">
                <a:solidFill>
                  <a:schemeClr val="tx1"/>
                </a:solidFill>
                <a:effectLst/>
                <a:latin typeface="+mn-lt"/>
                <a:ea typeface="+mn-ea"/>
                <a:cs typeface="+mn-cs"/>
              </a:rPr>
              <a:t>computadores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primeiro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computador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comercial</a:t>
            </a:r>
            <a:r>
              <a:rPr lang="en-US" sz="1200" b="0" i="0" kern="1200" dirty="0">
                <a:solidFill>
                  <a:schemeClr val="tx1"/>
                </a:solidFill>
                <a:effectLst/>
                <a:latin typeface="+mn-lt"/>
                <a:ea typeface="+mn-ea"/>
                <a:cs typeface="+mn-cs"/>
              </a:rPr>
              <a:t> que se </a:t>
            </a:r>
            <a:r>
              <a:rPr lang="en-US" sz="1200" b="0" i="0" kern="1200" dirty="0" err="1">
                <a:solidFill>
                  <a:schemeClr val="tx1"/>
                </a:solidFill>
                <a:effectLst/>
                <a:latin typeface="+mn-lt"/>
                <a:ea typeface="+mn-ea"/>
                <a:cs typeface="+mn-cs"/>
              </a:rPr>
              <a:t>concentrou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interação</a:t>
            </a:r>
            <a:r>
              <a:rPr lang="en-US" sz="1200" b="0" i="0" kern="1200" dirty="0">
                <a:solidFill>
                  <a:schemeClr val="tx1"/>
                </a:solidFill>
                <a:effectLst/>
                <a:latin typeface="+mn-lt"/>
                <a:ea typeface="+mn-ea"/>
                <a:cs typeface="+mn-cs"/>
              </a:rPr>
              <a:t> com o </a:t>
            </a:r>
            <a:r>
              <a:rPr lang="en-US" sz="1200" b="0" i="0" kern="1200" dirty="0" err="1">
                <a:solidFill>
                  <a:schemeClr val="tx1"/>
                </a:solidFill>
                <a:effectLst/>
                <a:latin typeface="+mn-lt"/>
                <a:ea typeface="+mn-ea"/>
                <a:cs typeface="+mn-cs"/>
              </a:rPr>
              <a:t>usuário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vez</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uso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eficiente</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ciclos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computadores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www.computerhistory.org</a:t>
            </a:r>
            <a:r>
              <a:rPr lang="pt-BR" dirty="0"/>
              <a:t>/</a:t>
            </a:r>
            <a:r>
              <a:rPr lang="pt-BR" dirty="0" err="1"/>
              <a:t>collections</a:t>
            </a:r>
            <a:r>
              <a:rPr lang="pt-BR" dirty="0"/>
              <a:t>/</a:t>
            </a:r>
            <a:r>
              <a:rPr lang="pt-BR" dirty="0" err="1"/>
              <a:t>catalog</a:t>
            </a:r>
            <a:r>
              <a:rPr lang="pt-BR" dirty="0"/>
              <a:t>/102664157</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www.computerhistory.org</a:t>
            </a:r>
            <a:r>
              <a:rPr lang="pt-BR" dirty="0"/>
              <a:t>/</a:t>
            </a:r>
            <a:r>
              <a:rPr lang="pt-BR" dirty="0" err="1"/>
              <a:t>collections</a:t>
            </a:r>
            <a:r>
              <a:rPr lang="pt-BR" dirty="0"/>
              <a:t>/</a:t>
            </a:r>
            <a:r>
              <a:rPr lang="pt-BR" dirty="0" err="1"/>
              <a:t>catalog</a:t>
            </a:r>
            <a:r>
              <a:rPr lang="pt-BR" dirty="0"/>
              <a:t>/102663940</a:t>
            </a:r>
          </a:p>
          <a:p>
            <a:r>
              <a:rPr lang="pt-BR" sz="1200" b="0" i="0" kern="1200" dirty="0" err="1">
                <a:solidFill>
                  <a:schemeClr val="tx1"/>
                </a:solidFill>
                <a:effectLst/>
                <a:latin typeface="+mn-lt"/>
                <a:ea typeface="+mn-ea"/>
                <a:cs typeface="+mn-cs"/>
              </a:rPr>
              <a:t>https</a:t>
            </a:r>
            <a:r>
              <a:rPr lang="pt-BR" sz="1200" b="0" i="0" kern="1200" dirty="0">
                <a:solidFill>
                  <a:schemeClr val="tx1"/>
                </a:solidFill>
                <a:effectLst/>
                <a:latin typeface="+mn-lt"/>
                <a:ea typeface="+mn-ea"/>
                <a:cs typeface="+mn-cs"/>
              </a:rPr>
              <a:t>://</a:t>
            </a:r>
            <a:r>
              <a:rPr lang="pt-BR" sz="1200" b="0" i="0" kern="1200" dirty="0" err="1">
                <a:solidFill>
                  <a:schemeClr val="tx1"/>
                </a:solidFill>
                <a:effectLst/>
                <a:latin typeface="+mn-lt"/>
                <a:ea typeface="+mn-ea"/>
                <a:cs typeface="+mn-cs"/>
              </a:rPr>
              <a:t>en.wikipedia.org</a:t>
            </a:r>
            <a:r>
              <a:rPr lang="pt-BR" sz="1200" b="0" i="0" kern="1200" dirty="0">
                <a:solidFill>
                  <a:schemeClr val="tx1"/>
                </a:solidFill>
                <a:effectLst/>
                <a:latin typeface="+mn-lt"/>
                <a:ea typeface="+mn-ea"/>
                <a:cs typeface="+mn-cs"/>
              </a:rPr>
              <a:t>/</a:t>
            </a:r>
            <a:r>
              <a:rPr lang="pt-BR" sz="1200" b="0" i="0" kern="1200" dirty="0" err="1">
                <a:solidFill>
                  <a:schemeClr val="tx1"/>
                </a:solidFill>
                <a:effectLst/>
                <a:latin typeface="+mn-lt"/>
                <a:ea typeface="+mn-ea"/>
                <a:cs typeface="+mn-cs"/>
              </a:rPr>
              <a:t>wiki</a:t>
            </a:r>
            <a:r>
              <a:rPr lang="pt-BR" sz="1200" b="0" i="0" kern="1200" dirty="0">
                <a:solidFill>
                  <a:schemeClr val="tx1"/>
                </a:solidFill>
                <a:effectLst/>
                <a:latin typeface="+mn-lt"/>
                <a:ea typeface="+mn-ea"/>
                <a:cs typeface="+mn-cs"/>
              </a:rPr>
              <a:t>/PDP-1</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think that at this point, I need to remind readers about what computers were like in 1965. There were no microprocessors, and no personal computers. Most computers of the day were huge multi-million dollar machines, into which programs and data were entered on punched ("Hollerith") cards. I had no access to such machines.</a:t>
            </a:r>
          </a:p>
          <a:p>
            <a:r>
              <a:rPr lang="en-US" sz="1200" b="0" i="0" kern="1200" dirty="0">
                <a:solidFill>
                  <a:schemeClr val="tx1"/>
                </a:solidFill>
                <a:effectLst/>
                <a:latin typeface="+mn-lt"/>
                <a:ea typeface="+mn-ea"/>
                <a:cs typeface="+mn-cs"/>
              </a:rPr>
              <a:t>However, advances in technology had brought the price of computing down considerably, with the introduction of smaller machines called "minicomputers." One of the early minicomputers was the "PDP-1," made by a company called Digital Equipment Corporation ("DEC"), in Maynard, MA. It shrank the computer to about the size of only three refrigerators side by side (to be precise, 17 square feet), and a basic model could be obtained for only $120,000. The PDP-1 was programmed in what is called "assembly language", The input of programs and data to the PDP-1 was via fan-folded punched paper tape, </a:t>
            </a:r>
          </a:p>
          <a:p>
            <a:endParaRPr lang="pt-BR" dirty="0"/>
          </a:p>
          <a:p>
            <a:endParaRPr lang="pt-BR" dirty="0"/>
          </a:p>
          <a:p>
            <a:r>
              <a:rPr lang="pt-BR" dirty="0" err="1"/>
              <a:t>http</a:t>
            </a:r>
            <a:r>
              <a:rPr lang="pt-BR" dirty="0"/>
              <a:t>://</a:t>
            </a:r>
            <a:r>
              <a:rPr lang="pt-BR" dirty="0" err="1"/>
              <a:t>www.computerhistory.org</a:t>
            </a:r>
            <a:r>
              <a:rPr lang="pt-BR" dirty="0"/>
              <a:t>/</a:t>
            </a:r>
            <a:r>
              <a:rPr lang="pt-BR" dirty="0" err="1"/>
              <a:t>collections</a:t>
            </a:r>
            <a:r>
              <a:rPr lang="pt-BR" dirty="0"/>
              <a:t>/decpdp-1/</a:t>
            </a:r>
          </a:p>
          <a:p>
            <a:r>
              <a:rPr lang="pt-BR" dirty="0" err="1"/>
              <a:t>http</a:t>
            </a:r>
            <a:r>
              <a:rPr lang="pt-BR" dirty="0"/>
              <a:t>://</a:t>
            </a:r>
            <a:r>
              <a:rPr lang="pt-BR" dirty="0" err="1"/>
              <a:t>camprobinsoncrusoe.org</a:t>
            </a:r>
            <a:r>
              <a:rPr lang="pt-BR" dirty="0"/>
              <a:t>/</a:t>
            </a:r>
            <a:r>
              <a:rPr lang="pt-BR" dirty="0" err="1"/>
              <a:t>compcamp.htm</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1527891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Em 1964 a IBM lança o System/360 (</a:t>
            </a:r>
            <a:r>
              <a:rPr lang="pt-BR" sz="1200" dirty="0" err="1"/>
              <a:t>S</a:t>
            </a:r>
            <a:r>
              <a:rPr lang="pt-BR" sz="1200" dirty="0"/>
              <a:t>/360) uma família de mainframes. O termo "360" foi escolhido para enfatizar a natureza versátil do computador. Esses computadores serviram de padrão para as tecnologias da época, e até hoje a compatibilidade é mantida com os servidores </a:t>
            </a:r>
            <a:r>
              <a:rPr lang="pt-BR" sz="1200" dirty="0" err="1"/>
              <a:t>z</a:t>
            </a:r>
            <a:r>
              <a:rPr lang="pt-BR" sz="1200" dirty="0"/>
              <a:t> Systems.</a:t>
            </a:r>
          </a:p>
          <a:p>
            <a:endParaRPr lang="pt-BR" dirty="0"/>
          </a:p>
          <a:p>
            <a:endParaRPr lang="pt-BR" dirty="0"/>
          </a:p>
          <a:p>
            <a:r>
              <a:rPr lang="pt-BR" dirty="0"/>
              <a:t>IBM </a:t>
            </a:r>
            <a:r>
              <a:rPr lang="pt-BR" dirty="0" err="1"/>
              <a:t>dominated</a:t>
            </a:r>
            <a:r>
              <a:rPr lang="pt-BR" dirty="0"/>
              <a:t> </a:t>
            </a:r>
            <a:r>
              <a:rPr lang="pt-BR" dirty="0" err="1"/>
              <a:t>computing</a:t>
            </a:r>
            <a:r>
              <a:rPr lang="pt-BR" dirty="0"/>
              <a:t> in 1961, </a:t>
            </a:r>
            <a:r>
              <a:rPr lang="pt-BR" dirty="0" err="1"/>
              <a:t>with</a:t>
            </a:r>
            <a:r>
              <a:rPr lang="pt-BR" dirty="0"/>
              <a:t> </a:t>
            </a:r>
            <a:r>
              <a:rPr lang="pt-BR" dirty="0" err="1"/>
              <a:t>about</a:t>
            </a:r>
            <a:r>
              <a:rPr lang="pt-BR" dirty="0"/>
              <a:t> </a:t>
            </a:r>
            <a:r>
              <a:rPr lang="pt-BR" dirty="0" err="1"/>
              <a:t>two-thirds</a:t>
            </a:r>
            <a:r>
              <a:rPr lang="pt-BR" dirty="0"/>
              <a:t> </a:t>
            </a:r>
            <a:r>
              <a:rPr lang="pt-BR" dirty="0" err="1"/>
              <a:t>of</a:t>
            </a:r>
            <a:r>
              <a:rPr lang="pt-BR" dirty="0"/>
              <a:t> </a:t>
            </a:r>
            <a:r>
              <a:rPr lang="pt-BR" dirty="0" err="1"/>
              <a:t>the</a:t>
            </a:r>
            <a:r>
              <a:rPr lang="pt-BR" dirty="0"/>
              <a:t> American </a:t>
            </a:r>
            <a:r>
              <a:rPr lang="pt-BR" dirty="0" err="1"/>
              <a:t>market</a:t>
            </a:r>
            <a:r>
              <a:rPr lang="pt-BR" dirty="0"/>
              <a:t>. </a:t>
            </a:r>
            <a:r>
              <a:rPr lang="pt-BR" dirty="0" err="1"/>
              <a:t>But</a:t>
            </a:r>
            <a:r>
              <a:rPr lang="pt-BR" dirty="0"/>
              <a:t> </a:t>
            </a:r>
            <a:r>
              <a:rPr lang="pt-BR" dirty="0" err="1"/>
              <a:t>could</a:t>
            </a:r>
            <a:r>
              <a:rPr lang="pt-BR" dirty="0"/>
              <a:t> IBM </a:t>
            </a:r>
            <a:r>
              <a:rPr lang="pt-BR" dirty="0" err="1"/>
              <a:t>hold</a:t>
            </a:r>
            <a:r>
              <a:rPr lang="pt-BR" dirty="0"/>
              <a:t> </a:t>
            </a:r>
            <a:r>
              <a:rPr lang="pt-BR" dirty="0" err="1"/>
              <a:t>onto</a:t>
            </a:r>
            <a:r>
              <a:rPr lang="pt-BR" dirty="0"/>
              <a:t> its lead? Its </a:t>
            </a:r>
            <a:r>
              <a:rPr lang="pt-BR" dirty="0" err="1"/>
              <a:t>product</a:t>
            </a:r>
            <a:r>
              <a:rPr lang="pt-BR" dirty="0"/>
              <a:t> </a:t>
            </a:r>
            <a:r>
              <a:rPr lang="pt-BR" dirty="0" err="1"/>
              <a:t>line</a:t>
            </a:r>
            <a:r>
              <a:rPr lang="pt-BR" dirty="0"/>
              <a:t> </a:t>
            </a:r>
            <a:r>
              <a:rPr lang="pt-BR" dirty="0" err="1"/>
              <a:t>was</a:t>
            </a:r>
            <a:r>
              <a:rPr lang="pt-BR" dirty="0"/>
              <a:t> </a:t>
            </a:r>
            <a:r>
              <a:rPr lang="pt-BR" dirty="0" err="1"/>
              <a:t>fragmented</a:t>
            </a:r>
            <a:r>
              <a:rPr lang="pt-BR" dirty="0"/>
              <a:t> </a:t>
            </a:r>
            <a:r>
              <a:rPr lang="pt-BR" dirty="0" err="1"/>
              <a:t>with</a:t>
            </a:r>
            <a:r>
              <a:rPr lang="pt-BR" dirty="0"/>
              <a:t> </a:t>
            </a:r>
            <a:r>
              <a:rPr lang="pt-BR" dirty="0" err="1"/>
              <a:t>incompatible</a:t>
            </a:r>
            <a:r>
              <a:rPr lang="pt-BR" dirty="0"/>
              <a:t> </a:t>
            </a:r>
            <a:r>
              <a:rPr lang="pt-BR" dirty="0" err="1"/>
              <a:t>machines</a:t>
            </a:r>
            <a:r>
              <a:rPr lang="pt-BR" dirty="0"/>
              <a:t>, </a:t>
            </a:r>
            <a:r>
              <a:rPr lang="pt-BR" dirty="0" err="1"/>
              <a:t>poorly</a:t>
            </a:r>
            <a:r>
              <a:rPr lang="pt-BR" dirty="0"/>
              <a:t> </a:t>
            </a:r>
            <a:r>
              <a:rPr lang="pt-BR" dirty="0" err="1"/>
              <a:t>suited</a:t>
            </a:r>
            <a:r>
              <a:rPr lang="pt-BR" dirty="0"/>
              <a:t> </a:t>
            </a:r>
            <a:r>
              <a:rPr lang="pt-BR" dirty="0" err="1"/>
              <a:t>to</a:t>
            </a:r>
            <a:r>
              <a:rPr lang="pt-BR" dirty="0"/>
              <a:t> </a:t>
            </a:r>
            <a:r>
              <a:rPr lang="pt-BR" dirty="0" err="1"/>
              <a:t>offer</a:t>
            </a:r>
            <a:r>
              <a:rPr lang="pt-BR" dirty="0"/>
              <a:t> </a:t>
            </a:r>
            <a:r>
              <a:rPr lang="pt-BR" dirty="0" err="1"/>
              <a:t>companies</a:t>
            </a:r>
            <a:r>
              <a:rPr lang="pt-BR" dirty="0"/>
              <a:t> a single, </a:t>
            </a:r>
            <a:r>
              <a:rPr lang="pt-BR" dirty="0" err="1"/>
              <a:t>unified</a:t>
            </a:r>
            <a:r>
              <a:rPr lang="pt-BR" dirty="0"/>
              <a:t>, </a:t>
            </a:r>
            <a:r>
              <a:rPr lang="pt-BR" dirty="0" err="1"/>
              <a:t>easily</a:t>
            </a:r>
            <a:r>
              <a:rPr lang="pt-BR" dirty="0"/>
              <a:t> </a:t>
            </a:r>
            <a:r>
              <a:rPr lang="pt-BR" dirty="0" err="1"/>
              <a:t>expandable</a:t>
            </a:r>
            <a:r>
              <a:rPr lang="pt-BR" dirty="0"/>
              <a:t> system.</a:t>
            </a:r>
          </a:p>
          <a:p>
            <a:endParaRPr lang="pt-BR" dirty="0"/>
          </a:p>
          <a:p>
            <a:r>
              <a:rPr lang="pt-BR" dirty="0" err="1"/>
              <a:t>http</a:t>
            </a:r>
            <a:r>
              <a:rPr lang="pt-BR" dirty="0"/>
              <a:t>://</a:t>
            </a:r>
            <a:r>
              <a:rPr lang="pt-BR" dirty="0" err="1"/>
              <a:t>www.computerhistory.org</a:t>
            </a:r>
            <a:r>
              <a:rPr lang="pt-BR" dirty="0"/>
              <a:t>/</a:t>
            </a:r>
            <a:r>
              <a:rPr lang="pt-BR" dirty="0" err="1"/>
              <a:t>revolution</a:t>
            </a:r>
            <a:r>
              <a:rPr lang="pt-BR" dirty="0"/>
              <a:t>/mainframe-</a:t>
            </a:r>
            <a:r>
              <a:rPr lang="pt-BR" dirty="0" err="1"/>
              <a:t>computers</a:t>
            </a:r>
            <a:r>
              <a:rPr lang="pt-BR" dirty="0"/>
              <a:t>/7/161</a:t>
            </a:r>
          </a:p>
          <a:p>
            <a:r>
              <a:rPr lang="pt-BR" dirty="0" err="1"/>
              <a:t>http</a:t>
            </a:r>
            <a:r>
              <a:rPr lang="pt-BR" dirty="0"/>
              <a:t>://</a:t>
            </a:r>
            <a:r>
              <a:rPr lang="pt-BR" dirty="0" err="1"/>
              <a:t>www.computermuseum.li</a:t>
            </a:r>
            <a:r>
              <a:rPr lang="pt-BR" dirty="0"/>
              <a:t>/</a:t>
            </a:r>
            <a:r>
              <a:rPr lang="pt-BR" dirty="0" err="1"/>
              <a:t>Testpage</a:t>
            </a:r>
            <a:r>
              <a:rPr lang="pt-BR" dirty="0"/>
              <a:t>/IBM-360-1964.htm</a:t>
            </a:r>
          </a:p>
          <a:p>
            <a:r>
              <a:rPr lang="pt-BR" dirty="0" err="1"/>
              <a:t>http</a:t>
            </a:r>
            <a:r>
              <a:rPr lang="pt-BR" dirty="0"/>
              <a:t>://www-03.ibm.com/systems/</a:t>
            </a:r>
            <a:r>
              <a:rPr lang="pt-BR" dirty="0" err="1"/>
              <a:t>z</a:t>
            </a:r>
            <a:r>
              <a:rPr lang="pt-BR" dirty="0"/>
              <a:t>/</a:t>
            </a:r>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3234104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Uma arquitetura em particular,</a:t>
            </a:r>
            <a:r>
              <a:rPr lang="pt-BR" sz="1200" baseline="0" dirty="0"/>
              <a:t> e a que falamos </a:t>
            </a:r>
            <a:r>
              <a:rPr lang="en-US" sz="1200" b="1" dirty="0"/>
              <a:t>Single-Cycle </a:t>
            </a:r>
            <a:r>
              <a:rPr lang="en-US" sz="1200" b="1" dirty="0" err="1"/>
              <a:t>Datapath</a:t>
            </a:r>
            <a:r>
              <a:rPr lang="en-US" sz="1200" b="1" dirty="0"/>
              <a:t> and Control</a:t>
            </a:r>
            <a:r>
              <a:rPr lang="pt-BR" sz="1200" b="0" baseline="0" dirty="0"/>
              <a:t> </a:t>
            </a:r>
            <a:r>
              <a:rPr lang="pt-BR" sz="1200" b="0" baseline="0" dirty="0" err="1"/>
              <a:t>cycle</a:t>
            </a:r>
            <a:r>
              <a:rPr lang="pt-BR" sz="1200" baseline="0" dirty="0"/>
              <a:t> </a:t>
            </a:r>
            <a:r>
              <a:rPr lang="pt-BR" sz="1200" dirty="0"/>
              <a:t>É uma implementação na qual as instruções são sempre executadas em somente ciclo de clock.</a:t>
            </a:r>
            <a:r>
              <a:rPr lang="pt-BR" sz="1200" baseline="0" dirty="0"/>
              <a:t> </a:t>
            </a:r>
            <a:r>
              <a:rPr lang="pt-BR" sz="1200" dirty="0"/>
              <a:t>Um dos cuidados com essa implementação, é que ao se juntar os elementos de caminho de dados (</a:t>
            </a:r>
            <a:r>
              <a:rPr lang="pt-BR" sz="1200" dirty="0" err="1"/>
              <a:t>datapath</a:t>
            </a:r>
            <a:r>
              <a:rPr lang="pt-BR" sz="1200" dirty="0"/>
              <a:t>), estes não podem aparecer/serem usados mais de uma vez no processo de execução das instruções. Uma alternativa usada é duplicar o elemento conforme necessário.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err="1"/>
              <a:t>https</a:t>
            </a:r>
            <a:r>
              <a:rPr lang="pt-BR" sz="1200" dirty="0"/>
              <a:t>://</a:t>
            </a:r>
            <a:r>
              <a:rPr lang="pt-BR" sz="1200" dirty="0" err="1"/>
              <a:t>embeddedmicro.com</a:t>
            </a:r>
            <a:r>
              <a:rPr lang="pt-BR" sz="1200" dirty="0"/>
              <a:t>/</a:t>
            </a:r>
            <a:r>
              <a:rPr lang="pt-BR" sz="1200" dirty="0" err="1"/>
              <a:t>tutorials</a:t>
            </a:r>
            <a:r>
              <a:rPr lang="pt-BR" sz="1200" dirty="0"/>
              <a:t>/</a:t>
            </a:r>
            <a:r>
              <a:rPr lang="pt-BR" sz="1200" dirty="0" err="1"/>
              <a:t>mojo</a:t>
            </a:r>
            <a:r>
              <a:rPr lang="pt-BR" sz="1200" dirty="0"/>
              <a:t>/timing</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18</a:t>
            </a:fld>
            <a:endParaRPr lang="pt-BR"/>
          </a:p>
        </p:txBody>
      </p:sp>
    </p:spTree>
    <p:extLst>
      <p:ext uri="{BB962C8B-B14F-4D97-AF65-F5344CB8AC3E}">
        <p14:creationId xmlns:p14="http://schemas.microsoft.com/office/powerpoint/2010/main" val="2335775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10/8/26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10/8/26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10/8/26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10/8/26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10/8/26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10/8/26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2.tiff"/><Relationship Id="rId3" Type="http://schemas.openxmlformats.org/officeDocument/2006/relationships/notesSlide" Target="../notesSlides/notesSlide3.xml"/><Relationship Id="rId7" Type="http://schemas.openxmlformats.org/officeDocument/2006/relationships/image" Target="../media/image11.jpg"/><Relationship Id="rId2" Type="http://schemas.openxmlformats.org/officeDocument/2006/relationships/slideLayout" Target="../slideLayouts/slideLayout2.xml"/><Relationship Id="rId1" Type="http://schemas.openxmlformats.org/officeDocument/2006/relationships/tags" Target="../tags/tag1.xml"/><Relationship Id="rId6" Type="http://schemas.microsoft.com/office/2007/relationships/hdphoto" Target="../media/hdphoto4.wdp"/><Relationship Id="rId5" Type="http://schemas.openxmlformats.org/officeDocument/2006/relationships/image" Target="../media/image10.png"/><Relationship Id="rId4" Type="http://schemas.openxmlformats.org/officeDocument/2006/relationships/image" Target="../media/image9.JPG"/><Relationship Id="rId9" Type="http://schemas.openxmlformats.org/officeDocument/2006/relationships/image" Target="../media/image13.tiff"/></Relationships>
</file>

<file path=ppt/slides/_rels/slide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a:latin typeface="Verdana"/>
                <a:cs typeface="Verdana"/>
              </a:rPr>
              <a:t>Conteúdo 13 </a:t>
            </a:r>
            <a:r>
              <a:rPr lang="pt-BR" dirty="0">
                <a:latin typeface="Verdana"/>
                <a:cs typeface="Verdana"/>
              </a:rPr>
              <a:t>– Montagem de Computador</a:t>
            </a:r>
          </a:p>
          <a:p>
            <a:endParaRPr lang="pt-BR" dirty="0"/>
          </a:p>
        </p:txBody>
      </p:sp>
      <p:sp>
        <p:nvSpPr>
          <p:cNvPr id="5" name="Rectangle 4"/>
          <p:cNvSpPr/>
          <p:nvPr/>
        </p:nvSpPr>
        <p:spPr>
          <a:xfrm>
            <a:off x="141668" y="4539921"/>
            <a:ext cx="8976574" cy="892552"/>
          </a:xfrm>
          <a:prstGeom prst="rect">
            <a:avLst/>
          </a:prstGeom>
        </p:spPr>
        <p:txBody>
          <a:bodyPr wrap="square">
            <a:spAutoFit/>
          </a:bodyPr>
          <a:lstStyle/>
          <a:p>
            <a:r>
              <a:rPr lang="pt-BR" sz="1700" dirty="0">
                <a:solidFill>
                  <a:schemeClr val="bg1"/>
                </a:solidFill>
              </a:rPr>
              <a:t>"Às vezes, são as pessoas de quem esperamos nada que fazem coisas que ninguém esperaria."</a:t>
            </a:r>
          </a:p>
          <a:p>
            <a:r>
              <a:rPr lang="en-US" sz="1700" dirty="0">
                <a:solidFill>
                  <a:schemeClr val="bg1"/>
                </a:solidFill>
              </a:rPr>
              <a:t>"Sometimes it is the people no one can imagine anything of who do the things no one can imagine."</a:t>
            </a:r>
          </a:p>
          <a:p>
            <a:r>
              <a:rPr lang="pt-BR" sz="1700" noProof="0" dirty="0">
                <a:solidFill>
                  <a:schemeClr val="bg1"/>
                </a:solidFill>
              </a:rPr>
              <a:t>Fala do filme O Jogo da Imitação sobre Alan Turing (1912–1954), Cientista da Computação Britânico</a:t>
            </a:r>
          </a:p>
        </p:txBody>
      </p:sp>
      <p:sp>
        <p:nvSpPr>
          <p:cNvPr id="8" name="Espaço Reservado para Conteúdo 3"/>
          <p:cNvSpPr>
            <a:spLocks noGrp="1"/>
          </p:cNvSpPr>
          <p:nvPr>
            <p:ph idx="14"/>
          </p:nvPr>
        </p:nvSpPr>
        <p:spPr>
          <a:xfrm>
            <a:off x="900111" y="6233375"/>
            <a:ext cx="7343775" cy="361099"/>
          </a:xfrm>
        </p:spPr>
        <p:txBody>
          <a:bodyPr>
            <a:normAutofit/>
          </a:bodyPr>
          <a:lstStyle/>
          <a:p>
            <a:pPr algn="r"/>
            <a:r>
              <a:rPr lang="pt-BR"/>
              <a:t>Engenharia </a:t>
            </a:r>
            <a:r>
              <a:rPr lang="pt-BR" dirty="0"/>
              <a:t>-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Tree>
    <p:extLst>
      <p:ext uri="{BB962C8B-B14F-4D97-AF65-F5344CB8AC3E}">
        <p14:creationId xmlns:p14="http://schemas.microsoft.com/office/powerpoint/2010/main" val="914090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Marcos iniciais dos microprocessadores</a:t>
            </a:r>
          </a:p>
        </p:txBody>
      </p:sp>
      <p:sp>
        <p:nvSpPr>
          <p:cNvPr id="3" name="Content Placeholder 2"/>
          <p:cNvSpPr>
            <a:spLocks noGrp="1"/>
          </p:cNvSpPr>
          <p:nvPr>
            <p:ph idx="1"/>
          </p:nvPr>
        </p:nvSpPr>
        <p:spPr>
          <a:xfrm>
            <a:off x="457200" y="1485900"/>
            <a:ext cx="8650238" cy="4724400"/>
          </a:xfrm>
        </p:spPr>
        <p:txBody>
          <a:bodyPr>
            <a:normAutofit/>
          </a:bodyPr>
          <a:lstStyle/>
          <a:p>
            <a:pPr marL="342900" indent="-342900">
              <a:buFont typeface="Arial"/>
              <a:buChar char="•"/>
            </a:pPr>
            <a:r>
              <a:rPr lang="en-US" sz="2200" noProof="0" dirty="0"/>
              <a:t>Garrett </a:t>
            </a:r>
            <a:r>
              <a:rPr lang="en-US" sz="2200" noProof="0" dirty="0" err="1"/>
              <a:t>AiResearch's</a:t>
            </a:r>
            <a:r>
              <a:rPr lang="en-US" sz="2200" noProof="0" dirty="0"/>
              <a:t> Central Air Data Computer (CADC)</a:t>
            </a:r>
          </a:p>
          <a:p>
            <a:pPr marL="342900" indent="-342900">
              <a:buFont typeface="Arial"/>
              <a:buChar char="•"/>
            </a:pPr>
            <a:r>
              <a:rPr lang="en-US" sz="2200" noProof="0" dirty="0"/>
              <a:t>Texas Instruments TMS 1000 </a:t>
            </a:r>
          </a:p>
          <a:p>
            <a:pPr marL="342900" indent="-342900">
              <a:buFont typeface="Arial"/>
              <a:buChar char="•"/>
            </a:pPr>
            <a:r>
              <a:rPr lang="en-US" sz="2200" noProof="0" dirty="0"/>
              <a:t>Four-Phase Systems AL1</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6" name="Picture 5" descr="airspeed_cadc.jpg"/>
          <p:cNvPicPr>
            <a:picLocks noChangeAspect="1"/>
          </p:cNvPicPr>
          <p:nvPr/>
        </p:nvPicPr>
        <p:blipFill>
          <a:blip r:embed="rId3">
            <a:extLst>
              <a:ext uri="{BEBA8EAE-BF5A-486C-A8C5-ECC9F3942E4B}">
                <a14:imgProps xmlns:a14="http://schemas.microsoft.com/office/drawing/2010/main">
                  <a14:imgLayer r:embed="rId4">
                    <a14:imgEffect>
                      <a14:backgroundRemoval t="2344" b="97656" l="1875" r="97500"/>
                    </a14:imgEffect>
                  </a14:imgLayer>
                </a14:imgProps>
              </a:ext>
              <a:ext uri="{28A0092B-C50C-407E-A947-70E740481C1C}">
                <a14:useLocalDpi xmlns:a14="http://schemas.microsoft.com/office/drawing/2010/main" val="0"/>
              </a:ext>
            </a:extLst>
          </a:blip>
          <a:stretch>
            <a:fillRect/>
          </a:stretch>
        </p:blipFill>
        <p:spPr>
          <a:xfrm>
            <a:off x="657225" y="3755173"/>
            <a:ext cx="2446618" cy="1957294"/>
          </a:xfrm>
          <a:prstGeom prst="rect">
            <a:avLst/>
          </a:prstGeom>
        </p:spPr>
      </p:pic>
      <p:pic>
        <p:nvPicPr>
          <p:cNvPr id="7" name="Picture 6" descr="AL1_-_Four-Phase_Systems_Inc.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1151" y="4209214"/>
            <a:ext cx="2609725" cy="1957294"/>
          </a:xfrm>
          <a:prstGeom prst="rect">
            <a:avLst/>
          </a:prstGeom>
        </p:spPr>
      </p:pic>
      <p:sp>
        <p:nvSpPr>
          <p:cNvPr id="8" name="Rectangle 7"/>
          <p:cNvSpPr/>
          <p:nvPr/>
        </p:nvSpPr>
        <p:spPr>
          <a:xfrm>
            <a:off x="4531051" y="6210300"/>
            <a:ext cx="532267" cy="369332"/>
          </a:xfrm>
          <a:prstGeom prst="rect">
            <a:avLst/>
          </a:prstGeom>
        </p:spPr>
        <p:txBody>
          <a:bodyPr wrap="none">
            <a:spAutoFit/>
          </a:bodyPr>
          <a:lstStyle/>
          <a:p>
            <a:r>
              <a:rPr lang="pt-BR" dirty="0"/>
              <a:t>AL1</a:t>
            </a:r>
          </a:p>
        </p:txBody>
      </p:sp>
      <p:pic>
        <p:nvPicPr>
          <p:cNvPr id="9" name="Picture 8" descr="TMS1000_DICE.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3576" y="3720352"/>
            <a:ext cx="2053224" cy="2076824"/>
          </a:xfrm>
          <a:prstGeom prst="rect">
            <a:avLst/>
          </a:prstGeom>
        </p:spPr>
      </p:pic>
      <p:sp>
        <p:nvSpPr>
          <p:cNvPr id="10" name="Rectangle 9"/>
          <p:cNvSpPr/>
          <p:nvPr/>
        </p:nvSpPr>
        <p:spPr>
          <a:xfrm>
            <a:off x="7235138" y="5797176"/>
            <a:ext cx="1068547" cy="369332"/>
          </a:xfrm>
          <a:prstGeom prst="rect">
            <a:avLst/>
          </a:prstGeom>
        </p:spPr>
        <p:txBody>
          <a:bodyPr wrap="none">
            <a:spAutoFit/>
          </a:bodyPr>
          <a:lstStyle/>
          <a:p>
            <a:r>
              <a:rPr lang="pt-BR" dirty="0"/>
              <a:t>TMS1000</a:t>
            </a:r>
          </a:p>
        </p:txBody>
      </p:sp>
      <p:pic>
        <p:nvPicPr>
          <p:cNvPr id="11" name="Picture 10" descr="L_TI-TMS1000JDLC.jpg"/>
          <p:cNvPicPr>
            <a:picLocks noChangeAspect="1"/>
          </p:cNvPicPr>
          <p:nvPr/>
        </p:nvPicPr>
        <p:blipFill>
          <a:blip r:embed="rId7">
            <a:extLst>
              <a:ext uri="{BEBA8EAE-BF5A-486C-A8C5-ECC9F3942E4B}">
                <a14:imgProps xmlns:a14="http://schemas.microsoft.com/office/drawing/2010/main">
                  <a14:imgLayer r:embed="rId8">
                    <a14:imgEffect>
                      <a14:backgroundRemoval t="2500" b="96154" l="1816" r="97821"/>
                    </a14:imgEffect>
                  </a14:imgLayer>
                </a14:imgProps>
              </a:ext>
              <a:ext uri="{28A0092B-C50C-407E-A947-70E740481C1C}">
                <a14:useLocalDpi xmlns:a14="http://schemas.microsoft.com/office/drawing/2010/main" val="0"/>
              </a:ext>
            </a:extLst>
          </a:blip>
          <a:stretch>
            <a:fillRect/>
          </a:stretch>
        </p:blipFill>
        <p:spPr>
          <a:xfrm>
            <a:off x="6110876" y="2834626"/>
            <a:ext cx="2361480" cy="1486646"/>
          </a:xfrm>
          <a:prstGeom prst="rect">
            <a:avLst/>
          </a:prstGeom>
        </p:spPr>
      </p:pic>
      <p:sp>
        <p:nvSpPr>
          <p:cNvPr id="13" name="Rectangle 12"/>
          <p:cNvSpPr/>
          <p:nvPr/>
        </p:nvSpPr>
        <p:spPr>
          <a:xfrm>
            <a:off x="1512421" y="5637762"/>
            <a:ext cx="710451" cy="369332"/>
          </a:xfrm>
          <a:prstGeom prst="rect">
            <a:avLst/>
          </a:prstGeom>
        </p:spPr>
        <p:txBody>
          <a:bodyPr wrap="none">
            <a:spAutoFit/>
          </a:bodyPr>
          <a:lstStyle/>
          <a:p>
            <a:r>
              <a:rPr lang="pt-BR" dirty="0"/>
              <a:t>CADC</a:t>
            </a:r>
          </a:p>
        </p:txBody>
      </p:sp>
      <p:pic>
        <p:nvPicPr>
          <p:cNvPr id="14" name="Picture 13" descr="F-14_Tomcat-2.jpg"/>
          <p:cNvPicPr>
            <a:picLocks noChangeAspect="1"/>
          </p:cNvPicPr>
          <p:nvPr/>
        </p:nvPicPr>
        <p:blipFill>
          <a:blip r:embed="rId9">
            <a:extLst>
              <a:ext uri="{BEBA8EAE-BF5A-486C-A8C5-ECC9F3942E4B}">
                <a14:imgProps xmlns:a14="http://schemas.microsoft.com/office/drawing/2010/main">
                  <a14:imgLayer r:embed="rId10">
                    <a14:imgEffect>
                      <a14:backgroundRemoval t="6090" b="97596" l="3250" r="96833"/>
                    </a14:imgEffect>
                  </a14:imgLayer>
                </a14:imgProps>
              </a:ext>
              <a:ext uri="{28A0092B-C50C-407E-A947-70E740481C1C}">
                <a14:useLocalDpi xmlns:a14="http://schemas.microsoft.com/office/drawing/2010/main" val="0"/>
              </a:ext>
            </a:extLst>
          </a:blip>
          <a:stretch>
            <a:fillRect/>
          </a:stretch>
        </p:blipFill>
        <p:spPr>
          <a:xfrm>
            <a:off x="36562" y="2948940"/>
            <a:ext cx="3324430" cy="1728704"/>
          </a:xfrm>
          <a:prstGeom prst="rect">
            <a:avLst/>
          </a:prstGeom>
        </p:spPr>
      </p:pic>
    </p:spTree>
    <p:extLst>
      <p:ext uri="{BB962C8B-B14F-4D97-AF65-F5344CB8AC3E}">
        <p14:creationId xmlns:p14="http://schemas.microsoft.com/office/powerpoint/2010/main" val="136560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3000" fill="hold"/>
                                        <p:tgtEl>
                                          <p:spTgt spid="6"/>
                                        </p:tgtEl>
                                        <p:attrNameLst>
                                          <p:attrName>ppt_w</p:attrName>
                                        </p:attrNameLst>
                                      </p:cBhvr>
                                      <p:tavLst>
                                        <p:tav tm="0">
                                          <p:val>
                                            <p:fltVal val="0"/>
                                          </p:val>
                                        </p:tav>
                                        <p:tav tm="100000">
                                          <p:val>
                                            <p:strVal val="#ppt_w"/>
                                          </p:val>
                                        </p:tav>
                                      </p:tavLst>
                                    </p:anim>
                                    <p:anim calcmode="lin" valueType="num">
                                      <p:cBhvr>
                                        <p:cTn id="8" dur="3000" fill="hold"/>
                                        <p:tgtEl>
                                          <p:spTgt spid="6"/>
                                        </p:tgtEl>
                                        <p:attrNameLst>
                                          <p:attrName>ppt_h</p:attrName>
                                        </p:attrNameLst>
                                      </p:cBhvr>
                                      <p:tavLst>
                                        <p:tav tm="0">
                                          <p:val>
                                            <p:fltVal val="0"/>
                                          </p:val>
                                        </p:tav>
                                        <p:tav tm="100000">
                                          <p:val>
                                            <p:strVal val="#ppt_h"/>
                                          </p:val>
                                        </p:tav>
                                      </p:tavLst>
                                    </p:anim>
                                    <p:animEffect transition="in" filter="fade">
                                      <p:cBhvr>
                                        <p:cTn id="9" dur="30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3000" fill="hold"/>
                                        <p:tgtEl>
                                          <p:spTgt spid="7"/>
                                        </p:tgtEl>
                                        <p:attrNameLst>
                                          <p:attrName>ppt_w</p:attrName>
                                        </p:attrNameLst>
                                      </p:cBhvr>
                                      <p:tavLst>
                                        <p:tav tm="0">
                                          <p:val>
                                            <p:fltVal val="0"/>
                                          </p:val>
                                        </p:tav>
                                        <p:tav tm="100000">
                                          <p:val>
                                            <p:strVal val="#ppt_w"/>
                                          </p:val>
                                        </p:tav>
                                      </p:tavLst>
                                    </p:anim>
                                    <p:anim calcmode="lin" valueType="num">
                                      <p:cBhvr>
                                        <p:cTn id="13" dur="3000" fill="hold"/>
                                        <p:tgtEl>
                                          <p:spTgt spid="7"/>
                                        </p:tgtEl>
                                        <p:attrNameLst>
                                          <p:attrName>ppt_h</p:attrName>
                                        </p:attrNameLst>
                                      </p:cBhvr>
                                      <p:tavLst>
                                        <p:tav tm="0">
                                          <p:val>
                                            <p:fltVal val="0"/>
                                          </p:val>
                                        </p:tav>
                                        <p:tav tm="100000">
                                          <p:val>
                                            <p:strVal val="#ppt_h"/>
                                          </p:val>
                                        </p:tav>
                                      </p:tavLst>
                                    </p:anim>
                                    <p:animEffect transition="in" filter="fade">
                                      <p:cBhvr>
                                        <p:cTn id="14" dur="3000"/>
                                        <p:tgtEl>
                                          <p:spTgt spid="7"/>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3000" fill="hold"/>
                                        <p:tgtEl>
                                          <p:spTgt spid="9"/>
                                        </p:tgtEl>
                                        <p:attrNameLst>
                                          <p:attrName>ppt_w</p:attrName>
                                        </p:attrNameLst>
                                      </p:cBhvr>
                                      <p:tavLst>
                                        <p:tav tm="0">
                                          <p:val>
                                            <p:fltVal val="0"/>
                                          </p:val>
                                        </p:tav>
                                        <p:tav tm="100000">
                                          <p:val>
                                            <p:strVal val="#ppt_w"/>
                                          </p:val>
                                        </p:tav>
                                      </p:tavLst>
                                    </p:anim>
                                    <p:anim calcmode="lin" valueType="num">
                                      <p:cBhvr>
                                        <p:cTn id="18" dur="3000" fill="hold"/>
                                        <p:tgtEl>
                                          <p:spTgt spid="9"/>
                                        </p:tgtEl>
                                        <p:attrNameLst>
                                          <p:attrName>ppt_h</p:attrName>
                                        </p:attrNameLst>
                                      </p:cBhvr>
                                      <p:tavLst>
                                        <p:tav tm="0">
                                          <p:val>
                                            <p:fltVal val="0"/>
                                          </p:val>
                                        </p:tav>
                                        <p:tav tm="100000">
                                          <p:val>
                                            <p:strVal val="#ppt_h"/>
                                          </p:val>
                                        </p:tav>
                                      </p:tavLst>
                                    </p:anim>
                                    <p:animEffect transition="in" filter="fade">
                                      <p:cBhvr>
                                        <p:cTn id="19" dur="3000"/>
                                        <p:tgtEl>
                                          <p:spTgt spid="9"/>
                                        </p:tgtEl>
                                      </p:cBhvr>
                                    </p:animEffect>
                                  </p:childTnLst>
                                </p:cTn>
                              </p:par>
                            </p:childTnLst>
                          </p:cTn>
                        </p:par>
                        <p:par>
                          <p:cTn id="20" fill="hold">
                            <p:stCondLst>
                              <p:cond delay="3000"/>
                            </p:stCondLst>
                            <p:childTnLst>
                              <p:par>
                                <p:cTn id="21" presetID="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0-#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0-#ppt_h/2"/>
                                          </p:val>
                                        </p:tav>
                                        <p:tav tm="100000">
                                          <p:val>
                                            <p:strVal val="#ppt_y"/>
                                          </p:val>
                                        </p:tav>
                                      </p:tavLst>
                                    </p:anim>
                                  </p:childTnLst>
                                </p:cTn>
                              </p:par>
                            </p:childTnLst>
                          </p:cTn>
                        </p:par>
                        <p:par>
                          <p:cTn id="29" fill="hold">
                            <p:stCondLst>
                              <p:cond delay="350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3972" y="4985372"/>
            <a:ext cx="2850835" cy="1842613"/>
          </a:xfrm>
          <a:prstGeom prst="rect">
            <a:avLst/>
          </a:prstGeom>
        </p:spPr>
      </p:pic>
      <p:sp>
        <p:nvSpPr>
          <p:cNvPr id="2" name="Title 1"/>
          <p:cNvSpPr>
            <a:spLocks noGrp="1"/>
          </p:cNvSpPr>
          <p:nvPr>
            <p:ph type="title"/>
          </p:nvPr>
        </p:nvSpPr>
        <p:spPr/>
        <p:txBody>
          <a:bodyPr/>
          <a:lstStyle/>
          <a:p>
            <a:r>
              <a:rPr lang="pt-BR" dirty="0"/>
              <a:t>Intel 4004, MOS 6502, Z80</a:t>
            </a:r>
          </a:p>
        </p:txBody>
      </p:sp>
      <p:sp>
        <p:nvSpPr>
          <p:cNvPr id="3" name="Content Placeholder 2"/>
          <p:cNvSpPr>
            <a:spLocks noGrp="1"/>
          </p:cNvSpPr>
          <p:nvPr>
            <p:ph idx="1"/>
          </p:nvPr>
        </p:nvSpPr>
        <p:spPr>
          <a:xfrm>
            <a:off x="457200" y="1485899"/>
            <a:ext cx="8507288" cy="5159599"/>
          </a:xfrm>
        </p:spPr>
        <p:txBody>
          <a:bodyPr>
            <a:normAutofit/>
          </a:bodyPr>
          <a:lstStyle/>
          <a:p>
            <a:r>
              <a:rPr lang="en-US" sz="2000" b="1" noProof="1"/>
              <a:t>Intel 4004</a:t>
            </a:r>
          </a:p>
          <a:p>
            <a:r>
              <a:rPr lang="en-US" sz="2000" noProof="1"/>
              <a:t>Chips (MCS-4):</a:t>
            </a:r>
          </a:p>
          <a:p>
            <a:pPr marL="538163" indent="-333375">
              <a:buFont typeface="Arial" charset="0"/>
              <a:buChar char="•"/>
            </a:pPr>
            <a:r>
              <a:rPr lang="en-US" sz="2000" noProof="1"/>
              <a:t>ROM(4001)</a:t>
            </a:r>
          </a:p>
          <a:p>
            <a:pPr marL="538163" indent="-333375">
              <a:buFont typeface="Arial" charset="0"/>
              <a:buChar char="•"/>
            </a:pPr>
            <a:r>
              <a:rPr lang="en-US" sz="2000" noProof="1"/>
              <a:t>RAM(4002)</a:t>
            </a:r>
          </a:p>
          <a:p>
            <a:pPr marL="538163" indent="-333375">
              <a:buFont typeface="Arial" charset="0"/>
              <a:buChar char="•"/>
            </a:pPr>
            <a:r>
              <a:rPr lang="en-US" sz="2000" noProof="1"/>
              <a:t>Shift Register(4003)</a:t>
            </a:r>
          </a:p>
          <a:p>
            <a:pPr marL="538163" indent="-333375">
              <a:buFont typeface="Arial" charset="0"/>
              <a:buChar char="•"/>
            </a:pPr>
            <a:r>
              <a:rPr lang="en-US" sz="2000" noProof="1"/>
              <a:t>CPU(4004)</a:t>
            </a:r>
          </a:p>
          <a:p>
            <a:pPr marL="538163" indent="-333375">
              <a:buFont typeface="Arial" charset="0"/>
              <a:buChar char="•"/>
            </a:pPr>
            <a:endParaRPr lang="en-US" sz="2800" noProof="1"/>
          </a:p>
          <a:p>
            <a:pPr marL="12700"/>
            <a:r>
              <a:rPr lang="en-US" sz="2000" b="1" noProof="1"/>
              <a:t>MOS 6502</a:t>
            </a:r>
            <a:br>
              <a:rPr lang="pt-BR" sz="2000" b="1" dirty="0"/>
            </a:br>
            <a:endParaRPr lang="pt-BR" sz="2000" b="1" dirty="0"/>
          </a:p>
          <a:p>
            <a:pPr marL="12700"/>
            <a:endParaRPr lang="pt-BR" sz="2000" b="1" dirty="0"/>
          </a:p>
          <a:p>
            <a:pPr marL="12700"/>
            <a:endParaRPr lang="pt-BR" sz="2000" b="1" dirty="0"/>
          </a:p>
          <a:p>
            <a:pPr marL="12700"/>
            <a:r>
              <a:rPr lang="pt-BR" sz="2000" b="1" dirty="0" err="1"/>
              <a:t>Zilog</a:t>
            </a:r>
            <a:r>
              <a:rPr lang="pt-BR" sz="2000" b="1" dirty="0"/>
              <a:t> Z80</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8" name="Picture 7" descr="control_logic_block.jpg"/>
          <p:cNvPicPr>
            <a:picLocks noChangeAspect="1"/>
          </p:cNvPicPr>
          <p:nvPr/>
        </p:nvPicPr>
        <p:blipFill>
          <a:blip r:embed="rId5">
            <a:extLst>
              <a:ext uri="{BEBA8EAE-BF5A-486C-A8C5-ECC9F3942E4B}">
                <a14:imgProps xmlns:a14="http://schemas.microsoft.com/office/drawing/2010/main">
                  <a14:imgLayer r:embed="rId6">
                    <a14:imgEffect>
                      <a14:backgroundRemoval t="2043" b="98077" l="563" r="99125"/>
                    </a14:imgEffect>
                  </a14:imgLayer>
                </a14:imgProps>
              </a:ext>
              <a:ext uri="{28A0092B-C50C-407E-A947-70E740481C1C}">
                <a14:useLocalDpi xmlns:a14="http://schemas.microsoft.com/office/drawing/2010/main" val="0"/>
              </a:ext>
            </a:extLst>
          </a:blip>
          <a:stretch>
            <a:fillRect/>
          </a:stretch>
        </p:blipFill>
        <p:spPr>
          <a:xfrm rot="120000">
            <a:off x="4520561" y="1741165"/>
            <a:ext cx="3464104" cy="1801334"/>
          </a:xfrm>
          <a:prstGeom prst="rect">
            <a:avLst/>
          </a:prstGeom>
        </p:spPr>
      </p:pic>
      <p:pic>
        <p:nvPicPr>
          <p:cNvPr id="7" name="Picture 6" descr="4004-composite-thumb.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45579" y="2629449"/>
            <a:ext cx="1536969" cy="1126057"/>
          </a:xfrm>
          <a:prstGeom prst="rect">
            <a:avLst/>
          </a:prstGeom>
        </p:spPr>
      </p:pic>
      <p:pic>
        <p:nvPicPr>
          <p:cNvPr id="9" name="Picture 8"/>
          <p:cNvPicPr>
            <a:picLocks noChangeAspect="1"/>
          </p:cNvPicPr>
          <p:nvPr/>
        </p:nvPicPr>
        <p:blipFill>
          <a:blip r:embed="rId8"/>
          <a:stretch>
            <a:fillRect/>
          </a:stretch>
        </p:blipFill>
        <p:spPr>
          <a:xfrm>
            <a:off x="4778423" y="3913676"/>
            <a:ext cx="2966384" cy="1078685"/>
          </a:xfrm>
          <a:prstGeom prst="rect">
            <a:avLst/>
          </a:prstGeom>
        </p:spPr>
      </p:pic>
      <p:pic>
        <p:nvPicPr>
          <p:cNvPr id="10" name="Picture 9"/>
          <p:cNvPicPr>
            <a:picLocks noChangeAspect="1"/>
          </p:cNvPicPr>
          <p:nvPr/>
        </p:nvPicPr>
        <p:blipFill>
          <a:blip r:embed="rId9">
            <a:clrChange>
              <a:clrFrom>
                <a:srgbClr val="FFFFFF"/>
              </a:clrFrom>
              <a:clrTo>
                <a:srgbClr val="FFFFFF">
                  <a:alpha val="0"/>
                </a:srgbClr>
              </a:clrTo>
            </a:clrChange>
          </a:blip>
          <a:stretch>
            <a:fillRect/>
          </a:stretch>
        </p:blipFill>
        <p:spPr>
          <a:xfrm>
            <a:off x="6755038" y="462845"/>
            <a:ext cx="2304790" cy="1730688"/>
          </a:xfrm>
          <a:prstGeom prst="rect">
            <a:avLst/>
          </a:prstGeom>
        </p:spPr>
      </p:pic>
    </p:spTree>
    <p:custDataLst>
      <p:tags r:id="rId1"/>
    </p:custDataLst>
    <p:extLst>
      <p:ext uri="{BB962C8B-B14F-4D97-AF65-F5344CB8AC3E}">
        <p14:creationId xmlns:p14="http://schemas.microsoft.com/office/powerpoint/2010/main" val="630340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Little Endian vs Big Endian</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grpSp>
        <p:nvGrpSpPr>
          <p:cNvPr id="8" name="Group 7"/>
          <p:cNvGrpSpPr/>
          <p:nvPr/>
        </p:nvGrpSpPr>
        <p:grpSpPr>
          <a:xfrm>
            <a:off x="618347" y="1944711"/>
            <a:ext cx="7864604" cy="4220594"/>
            <a:chOff x="2066517" y="3507492"/>
            <a:chExt cx="4952535" cy="2657812"/>
          </a:xfrm>
        </p:grpSpPr>
        <p:pic>
          <p:nvPicPr>
            <p:cNvPr id="6" name="Picture 5" descr="diagram-little-vs-big-endian.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6517" y="3507492"/>
              <a:ext cx="4952535" cy="2657812"/>
            </a:xfrm>
            <a:prstGeom prst="rect">
              <a:avLst/>
            </a:prstGeom>
          </p:spPr>
        </p:pic>
        <p:sp>
          <p:nvSpPr>
            <p:cNvPr id="7" name="Rectangle 6"/>
            <p:cNvSpPr/>
            <p:nvPr/>
          </p:nvSpPr>
          <p:spPr>
            <a:xfrm>
              <a:off x="2323868" y="3529742"/>
              <a:ext cx="4554035" cy="503918"/>
            </a:xfrm>
            <a:prstGeom prst="rect">
              <a:avLst/>
            </a:prstGeom>
            <a:solidFill>
              <a:srgbClr val="FFFFFF"/>
            </a:solidFill>
          </p:spPr>
          <p:txBody>
            <a:bodyPr wrap="none">
              <a:spAutoFit/>
            </a:bodyPr>
            <a:lstStyle/>
            <a:p>
              <a:r>
                <a:rPr lang="pt-BR" sz="4600" b="1" dirty="0"/>
                <a:t>Armazenando o valor D7C4</a:t>
              </a:r>
              <a:r>
                <a:rPr lang="pt-BR" sz="4600" b="1" baseline="-25000" dirty="0"/>
                <a:t>16</a:t>
              </a:r>
            </a:p>
          </p:txBody>
        </p:sp>
      </p:grpSp>
    </p:spTree>
    <p:extLst>
      <p:ext uri="{BB962C8B-B14F-4D97-AF65-F5344CB8AC3E}">
        <p14:creationId xmlns:p14="http://schemas.microsoft.com/office/powerpoint/2010/main" val="1985616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Caminho de Dados (</a:t>
            </a:r>
            <a:r>
              <a:rPr lang="pt-BR" dirty="0" err="1"/>
              <a:t>Datapath</a:t>
            </a:r>
            <a:r>
              <a:rPr lang="pt-BR" dirty="0"/>
              <a:t>)</a:t>
            </a:r>
          </a:p>
        </p:txBody>
      </p:sp>
      <p:sp>
        <p:nvSpPr>
          <p:cNvPr id="3" name="Content Placeholder 2"/>
          <p:cNvSpPr>
            <a:spLocks noGrp="1"/>
          </p:cNvSpPr>
          <p:nvPr>
            <p:ph idx="1"/>
          </p:nvPr>
        </p:nvSpPr>
        <p:spPr>
          <a:xfrm>
            <a:off x="657225" y="1499130"/>
            <a:ext cx="8029575" cy="4724400"/>
          </a:xfrm>
        </p:spPr>
        <p:txBody>
          <a:bodyPr>
            <a:normAutofit/>
          </a:bodyPr>
          <a:lstStyle/>
          <a:p>
            <a:r>
              <a:rPr lang="pt-BR" sz="2400" dirty="0"/>
              <a:t>Elementos de Caminho de Dados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pic>
        <p:nvPicPr>
          <p:cNvPr id="6" name="Picture 5"/>
          <p:cNvPicPr>
            <a:picLocks noChangeAspect="1"/>
          </p:cNvPicPr>
          <p:nvPr/>
        </p:nvPicPr>
        <p:blipFill rotWithShape="1">
          <a:blip r:embed="rId3"/>
          <a:srcRect l="21229" t="11677" r="5349" b="6961"/>
          <a:stretch/>
        </p:blipFill>
        <p:spPr>
          <a:xfrm>
            <a:off x="1886755" y="2043190"/>
            <a:ext cx="5504948" cy="4473520"/>
          </a:xfrm>
          <a:prstGeom prst="rect">
            <a:avLst/>
          </a:prstGeom>
        </p:spPr>
      </p:pic>
    </p:spTree>
    <p:extLst>
      <p:ext uri="{BB962C8B-B14F-4D97-AF65-F5344CB8AC3E}">
        <p14:creationId xmlns:p14="http://schemas.microsoft.com/office/powerpoint/2010/main" val="903365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Tipos de registradores</a:t>
            </a:r>
          </a:p>
        </p:txBody>
      </p:sp>
      <p:sp>
        <p:nvSpPr>
          <p:cNvPr id="3" name="Content Placeholder 2"/>
          <p:cNvSpPr>
            <a:spLocks noGrp="1"/>
          </p:cNvSpPr>
          <p:nvPr>
            <p:ph idx="1"/>
          </p:nvPr>
        </p:nvSpPr>
        <p:spPr>
          <a:xfrm>
            <a:off x="657225" y="1485900"/>
            <a:ext cx="8232132" cy="4724400"/>
          </a:xfrm>
        </p:spPr>
        <p:txBody>
          <a:bodyPr>
            <a:noAutofit/>
          </a:bodyPr>
          <a:lstStyle/>
          <a:p>
            <a:r>
              <a:rPr lang="pt-BR" sz="2800" b="1" dirty="0"/>
              <a:t>Registradores de Dados:</a:t>
            </a:r>
          </a:p>
          <a:p>
            <a:r>
              <a:rPr lang="pt-BR" sz="2800" dirty="0"/>
              <a:t>Registradores usados para armazenar dados temporários.</a:t>
            </a:r>
          </a:p>
          <a:p>
            <a:endParaRPr lang="pt-BR" sz="2800" dirty="0"/>
          </a:p>
          <a:p>
            <a:r>
              <a:rPr lang="pt-BR" sz="2800" b="1" dirty="0"/>
              <a:t>Registradores de Endereçamento:</a:t>
            </a:r>
          </a:p>
          <a:p>
            <a:r>
              <a:rPr lang="pt-BR" sz="2800" dirty="0"/>
              <a:t>Registradores usados para armazenar endereços de memórias a serem usados por instruções futuras.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spTree>
    <p:extLst>
      <p:ext uri="{BB962C8B-B14F-4D97-AF65-F5344CB8AC3E}">
        <p14:creationId xmlns:p14="http://schemas.microsoft.com/office/powerpoint/2010/main" val="1860991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BR" dirty="0"/>
              <a:t>Etapas de execução de uma instrução</a:t>
            </a:r>
            <a:endParaRPr lang="pt-BR" dirty="0"/>
          </a:p>
        </p:txBody>
      </p:sp>
      <p:sp>
        <p:nvSpPr>
          <p:cNvPr id="3" name="Content Placeholder 2"/>
          <p:cNvSpPr>
            <a:spLocks noGrp="1"/>
          </p:cNvSpPr>
          <p:nvPr>
            <p:ph idx="1"/>
          </p:nvPr>
        </p:nvSpPr>
        <p:spPr/>
        <p:txBody>
          <a:bodyPr>
            <a:normAutofit/>
          </a:bodyPr>
          <a:lstStyle/>
          <a:p>
            <a:r>
              <a:rPr lang="pt-BR" sz="2400" dirty="0"/>
              <a:t>O que acontece:</a:t>
            </a:r>
          </a:p>
          <a:p>
            <a:endParaRPr lang="pt-BR" sz="2400" dirty="0"/>
          </a:p>
          <a:p>
            <a:r>
              <a:rPr lang="pt-BR" sz="2400" b="1" dirty="0"/>
              <a:t>FETCH</a:t>
            </a:r>
            <a:r>
              <a:rPr lang="pt-BR" sz="2400" dirty="0"/>
              <a:t>: Lê uma instrução da memória</a:t>
            </a:r>
          </a:p>
          <a:p>
            <a:r>
              <a:rPr lang="pt-BR" sz="2400" b="1" dirty="0"/>
              <a:t>DECODE</a:t>
            </a:r>
            <a:r>
              <a:rPr lang="pt-BR" sz="2400" dirty="0"/>
              <a:t>: decodifica a instrução</a:t>
            </a:r>
          </a:p>
          <a:p>
            <a:r>
              <a:rPr lang="pt-BR" sz="2400" b="1" dirty="0"/>
              <a:t>READ</a:t>
            </a:r>
            <a:r>
              <a:rPr lang="pt-BR" sz="2400" dirty="0"/>
              <a:t>: Lê os operandos (registradores)</a:t>
            </a:r>
          </a:p>
          <a:p>
            <a:r>
              <a:rPr lang="pt-BR" sz="2400" b="1" dirty="0"/>
              <a:t>EXECUTE</a:t>
            </a:r>
            <a:r>
              <a:rPr lang="pt-BR" sz="2400" dirty="0"/>
              <a:t>: realiza a operação</a:t>
            </a:r>
          </a:p>
          <a:p>
            <a:r>
              <a:rPr lang="pt-BR" sz="2400" b="1" dirty="0"/>
              <a:t>WRITE-BACK</a:t>
            </a:r>
            <a:r>
              <a:rPr lang="pt-BR" sz="2400" dirty="0"/>
              <a:t>: grava o resultado da operação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spTree>
    <p:extLst>
      <p:ext uri="{BB962C8B-B14F-4D97-AF65-F5344CB8AC3E}">
        <p14:creationId xmlns:p14="http://schemas.microsoft.com/office/powerpoint/2010/main" val="1690386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DF3A-C085-B642-B8B0-97A10C9FB06B}"/>
              </a:ext>
            </a:extLst>
          </p:cNvPr>
          <p:cNvSpPr>
            <a:spLocks noGrp="1"/>
          </p:cNvSpPr>
          <p:nvPr>
            <p:ph type="title"/>
          </p:nvPr>
        </p:nvSpPr>
        <p:spPr/>
        <p:txBody>
          <a:bodyPr/>
          <a:lstStyle/>
          <a:p>
            <a:r>
              <a:rPr lang="en-US" dirty="0"/>
              <a:t>NOP</a:t>
            </a:r>
          </a:p>
        </p:txBody>
      </p:sp>
      <p:sp>
        <p:nvSpPr>
          <p:cNvPr id="3" name="Content Placeholder 2">
            <a:extLst>
              <a:ext uri="{FF2B5EF4-FFF2-40B4-BE49-F238E27FC236}">
                <a16:creationId xmlns:a16="http://schemas.microsoft.com/office/drawing/2014/main" id="{4B409CE7-EFC7-2BBE-9E65-E1EADF3658D8}"/>
              </a:ext>
            </a:extLst>
          </p:cNvPr>
          <p:cNvSpPr>
            <a:spLocks noGrp="1"/>
          </p:cNvSpPr>
          <p:nvPr>
            <p:ph idx="1"/>
          </p:nvPr>
        </p:nvSpPr>
        <p:spPr/>
        <p:txBody>
          <a:bodyPr>
            <a:normAutofit/>
          </a:bodyPr>
          <a:lstStyle/>
          <a:p>
            <a:r>
              <a:rPr lang="en-US" sz="2000" b="1" dirty="0"/>
              <a:t>No Operation</a:t>
            </a:r>
          </a:p>
          <a:p>
            <a:endParaRPr lang="en-US" sz="2000" b="1" dirty="0"/>
          </a:p>
          <a:p>
            <a:r>
              <a:rPr lang="pt-BR" sz="2000" noProof="0" dirty="0"/>
              <a:t>instrução que não faz nada na CPU</a:t>
            </a:r>
          </a:p>
        </p:txBody>
      </p:sp>
      <p:sp>
        <p:nvSpPr>
          <p:cNvPr id="4" name="Text Placeholder 3">
            <a:extLst>
              <a:ext uri="{FF2B5EF4-FFF2-40B4-BE49-F238E27FC236}">
                <a16:creationId xmlns:a16="http://schemas.microsoft.com/office/drawing/2014/main" id="{2FFA7549-3744-6B07-0A30-896F7C1EC540}"/>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62EC9C00-C3FB-D9E5-C159-C1BCDEB5A812}"/>
              </a:ext>
            </a:extLst>
          </p:cNvPr>
          <p:cNvSpPr>
            <a:spLocks noGrp="1"/>
          </p:cNvSpPr>
          <p:nvPr>
            <p:ph type="sldNum" sz="quarter" idx="4"/>
          </p:nvPr>
        </p:nvSpPr>
        <p:spPr/>
        <p:txBody>
          <a:bodyPr/>
          <a:lstStyle/>
          <a:p>
            <a:fld id="{7FFE5E5C-C80A-4D8D-A711-3102A7BA9258}" type="slidenum">
              <a:rPr lang="pt-BR" smtClean="0"/>
              <a:pPr/>
              <a:t>8</a:t>
            </a:fld>
            <a:endParaRPr lang="pt-BR" dirty="0"/>
          </a:p>
        </p:txBody>
      </p:sp>
    </p:spTree>
    <p:extLst>
      <p:ext uri="{BB962C8B-B14F-4D97-AF65-F5344CB8AC3E}">
        <p14:creationId xmlns:p14="http://schemas.microsoft.com/office/powerpoint/2010/main" val="126723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2130B-2D5E-F4EB-CD17-8270FF1FC2AF}"/>
              </a:ext>
            </a:extLst>
          </p:cNvPr>
          <p:cNvSpPr>
            <a:spLocks noGrp="1"/>
          </p:cNvSpPr>
          <p:nvPr>
            <p:ph type="title"/>
          </p:nvPr>
        </p:nvSpPr>
        <p:spPr/>
        <p:txBody>
          <a:bodyPr/>
          <a:lstStyle/>
          <a:p>
            <a:r>
              <a:rPr lang="pt-BR" noProof="1"/>
              <a:t>Como realizar tais operações na CPU</a:t>
            </a:r>
          </a:p>
        </p:txBody>
      </p:sp>
      <p:sp>
        <p:nvSpPr>
          <p:cNvPr id="4" name="Text Placeholder 3">
            <a:extLst>
              <a:ext uri="{FF2B5EF4-FFF2-40B4-BE49-F238E27FC236}">
                <a16:creationId xmlns:a16="http://schemas.microsoft.com/office/drawing/2014/main" id="{3727012E-9990-6882-5EAE-A1B49B924CBA}"/>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0D6412C9-5784-4D34-9B03-FBBE16BDCF37}"/>
              </a:ext>
            </a:extLst>
          </p:cNvPr>
          <p:cNvSpPr>
            <a:spLocks noGrp="1"/>
          </p:cNvSpPr>
          <p:nvPr>
            <p:ph type="sldNum" sz="quarter" idx="4"/>
          </p:nvPr>
        </p:nvSpPr>
        <p:spPr/>
        <p:txBody>
          <a:bodyPr/>
          <a:lstStyle/>
          <a:p>
            <a:fld id="{7FFE5E5C-C80A-4D8D-A711-3102A7BA9258}" type="slidenum">
              <a:rPr lang="pt-BR" smtClean="0"/>
              <a:pPr/>
              <a:t>9</a:t>
            </a:fld>
            <a:endParaRPr lang="pt-BR" dirty="0"/>
          </a:p>
        </p:txBody>
      </p:sp>
      <p:pic>
        <p:nvPicPr>
          <p:cNvPr id="6" name="Picture 5">
            <a:extLst>
              <a:ext uri="{FF2B5EF4-FFF2-40B4-BE49-F238E27FC236}">
                <a16:creationId xmlns:a16="http://schemas.microsoft.com/office/drawing/2014/main" id="{9B7B4048-F538-F3E2-72EE-E943416F4BEB}"/>
              </a:ext>
            </a:extLst>
          </p:cNvPr>
          <p:cNvPicPr>
            <a:picLocks noChangeAspect="1"/>
          </p:cNvPicPr>
          <p:nvPr/>
        </p:nvPicPr>
        <p:blipFill>
          <a:blip r:embed="rId2"/>
          <a:stretch>
            <a:fillRect/>
          </a:stretch>
        </p:blipFill>
        <p:spPr>
          <a:xfrm>
            <a:off x="3108638" y="1743075"/>
            <a:ext cx="3123282" cy="2638635"/>
          </a:xfrm>
          <a:prstGeom prst="rect">
            <a:avLst/>
          </a:prstGeom>
        </p:spPr>
      </p:pic>
      <p:pic>
        <p:nvPicPr>
          <p:cNvPr id="7" name="Picture 6">
            <a:extLst>
              <a:ext uri="{FF2B5EF4-FFF2-40B4-BE49-F238E27FC236}">
                <a16:creationId xmlns:a16="http://schemas.microsoft.com/office/drawing/2014/main" id="{71FF3572-EA35-6216-F5E0-481DD05E1A19}"/>
              </a:ext>
            </a:extLst>
          </p:cNvPr>
          <p:cNvPicPr>
            <a:picLocks noChangeAspect="1"/>
          </p:cNvPicPr>
          <p:nvPr/>
        </p:nvPicPr>
        <p:blipFill>
          <a:blip r:embed="rId3"/>
          <a:stretch>
            <a:fillRect/>
          </a:stretch>
        </p:blipFill>
        <p:spPr>
          <a:xfrm>
            <a:off x="3108638" y="4705350"/>
            <a:ext cx="3123282" cy="1371600"/>
          </a:xfrm>
          <a:prstGeom prst="rect">
            <a:avLst/>
          </a:prstGeom>
        </p:spPr>
      </p:pic>
    </p:spTree>
    <p:extLst>
      <p:ext uri="{BB962C8B-B14F-4D97-AF65-F5344CB8AC3E}">
        <p14:creationId xmlns:p14="http://schemas.microsoft.com/office/powerpoint/2010/main" val="3872421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JUMP</a:t>
            </a:r>
          </a:p>
        </p:txBody>
      </p:sp>
      <p:sp>
        <p:nvSpPr>
          <p:cNvPr id="3" name="Content Placeholder 2"/>
          <p:cNvSpPr>
            <a:spLocks noGrp="1"/>
          </p:cNvSpPr>
          <p:nvPr>
            <p:ph idx="1"/>
          </p:nvPr>
        </p:nvSpPr>
        <p:spPr/>
        <p:txBody>
          <a:bodyPr>
            <a:normAutofit/>
          </a:bodyPr>
          <a:lstStyle/>
          <a:p>
            <a:r>
              <a:rPr lang="pt-BR" sz="2400" dirty="0"/>
              <a:t>Devido a instrução alterar o contador de programa (</a:t>
            </a:r>
            <a:r>
              <a:rPr lang="en-US" sz="2400" noProof="0" dirty="0"/>
              <a:t>Program Counter</a:t>
            </a:r>
            <a:r>
              <a:rPr lang="pt-BR" sz="2400" dirty="0"/>
              <a:t>), maiores cuidados devem ser tomados.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pic>
        <p:nvPicPr>
          <p:cNvPr id="6" name="Picture 5"/>
          <p:cNvPicPr>
            <a:picLocks noChangeAspect="1"/>
          </p:cNvPicPr>
          <p:nvPr/>
        </p:nvPicPr>
        <p:blipFill rotWithShape="1">
          <a:blip r:embed="rId2"/>
          <a:srcRect l="2393" t="12790" r="4051" b="18286"/>
          <a:stretch/>
        </p:blipFill>
        <p:spPr>
          <a:xfrm>
            <a:off x="2592826" y="3342068"/>
            <a:ext cx="5024766" cy="2851816"/>
          </a:xfrm>
          <a:prstGeom prst="rect">
            <a:avLst/>
          </a:prstGeom>
        </p:spPr>
      </p:pic>
    </p:spTree>
    <p:extLst>
      <p:ext uri="{BB962C8B-B14F-4D97-AF65-F5344CB8AC3E}">
        <p14:creationId xmlns:p14="http://schemas.microsoft.com/office/powerpoint/2010/main" val="199870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DF2C-7E15-BEFC-DFC3-A5FD1EFB6C0D}"/>
              </a:ext>
            </a:extLst>
          </p:cNvPr>
          <p:cNvSpPr>
            <a:spLocks noGrp="1"/>
          </p:cNvSpPr>
          <p:nvPr>
            <p:ph type="title"/>
          </p:nvPr>
        </p:nvSpPr>
        <p:spPr/>
        <p:txBody>
          <a:bodyPr/>
          <a:lstStyle/>
          <a:p>
            <a:r>
              <a:rPr lang="en-US" dirty="0"/>
              <a:t>Program Counter</a:t>
            </a:r>
          </a:p>
        </p:txBody>
      </p:sp>
      <p:graphicFrame>
        <p:nvGraphicFramePr>
          <p:cNvPr id="7" name="Content Placeholder 6">
            <a:extLst>
              <a:ext uri="{FF2B5EF4-FFF2-40B4-BE49-F238E27FC236}">
                <a16:creationId xmlns:a16="http://schemas.microsoft.com/office/drawing/2014/main" id="{CE1A990F-E09D-3091-0F21-02166B948E11}"/>
              </a:ext>
            </a:extLst>
          </p:cNvPr>
          <p:cNvGraphicFramePr>
            <a:graphicFrameLocks noGrp="1"/>
          </p:cNvGraphicFramePr>
          <p:nvPr>
            <p:ph idx="1"/>
            <p:extLst>
              <p:ext uri="{D42A27DB-BD31-4B8C-83A1-F6EECF244321}">
                <p14:modId xmlns:p14="http://schemas.microsoft.com/office/powerpoint/2010/main" val="3230759642"/>
              </p:ext>
            </p:extLst>
          </p:nvPr>
        </p:nvGraphicFramePr>
        <p:xfrm>
          <a:off x="5626100" y="1843774"/>
          <a:ext cx="2913062" cy="4114800"/>
        </p:xfrm>
        <a:graphic>
          <a:graphicData uri="http://schemas.openxmlformats.org/drawingml/2006/table">
            <a:tbl>
              <a:tblPr>
                <a:tableStyleId>{2D5ABB26-0587-4C30-8999-92F81FD0307C}</a:tableStyleId>
              </a:tblPr>
              <a:tblGrid>
                <a:gridCol w="488301">
                  <a:extLst>
                    <a:ext uri="{9D8B030D-6E8A-4147-A177-3AD203B41FA5}">
                      <a16:colId xmlns:a16="http://schemas.microsoft.com/office/drawing/2014/main" val="2945040995"/>
                    </a:ext>
                  </a:extLst>
                </a:gridCol>
                <a:gridCol w="2424761">
                  <a:extLst>
                    <a:ext uri="{9D8B030D-6E8A-4147-A177-3AD203B41FA5}">
                      <a16:colId xmlns:a16="http://schemas.microsoft.com/office/drawing/2014/main" val="1390370635"/>
                    </a:ext>
                  </a:extLst>
                </a:gridCol>
              </a:tblGrid>
              <a:tr h="150495">
                <a:tc>
                  <a:txBody>
                    <a:bodyPr/>
                    <a:lstStyle/>
                    <a:p>
                      <a:pPr algn="r"/>
                      <a:r>
                        <a:rPr lang="en-US" dirty="0"/>
                        <a:t>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1110111010010000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9199929"/>
                  </a:ext>
                </a:extLst>
              </a:tr>
              <a:tr h="150495">
                <a:tc>
                  <a:txBody>
                    <a:bodyPr/>
                    <a:lstStyle/>
                    <a:p>
                      <a:pPr algn="r"/>
                      <a:r>
                        <a:rPr lang="en-US" dirty="0"/>
                        <a:t>1</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0100000000000000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3000203"/>
                  </a:ext>
                </a:extLst>
              </a:tr>
              <a:tr h="150495">
                <a:tc>
                  <a:txBody>
                    <a:bodyPr/>
                    <a:lstStyle/>
                    <a:p>
                      <a:pPr algn="r"/>
                      <a:r>
                        <a:rPr lang="en-US" dirty="0"/>
                        <a:t>2</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1110001100001000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5323075"/>
                  </a:ext>
                </a:extLst>
              </a:tr>
              <a:tr h="150495">
                <a:tc>
                  <a:txBody>
                    <a:bodyPr/>
                    <a:lstStyle/>
                    <a:p>
                      <a:pPr algn="r"/>
                      <a:r>
                        <a:rPr lang="en-US" dirty="0"/>
                        <a:t>3</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0100000000000010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1994285"/>
                  </a:ext>
                </a:extLst>
              </a:tr>
              <a:tr h="150495">
                <a:tc>
                  <a:txBody>
                    <a:bodyPr/>
                    <a:lstStyle/>
                    <a:p>
                      <a:pPr algn="r"/>
                      <a:r>
                        <a:rPr lang="en-US" dirty="0"/>
                        <a:t>4</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1110001100001000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6654587"/>
                  </a:ext>
                </a:extLst>
              </a:tr>
              <a:tr h="150495">
                <a:tc>
                  <a:txBody>
                    <a:bodyPr/>
                    <a:lstStyle/>
                    <a:p>
                      <a:pPr algn="r"/>
                      <a:r>
                        <a:rPr lang="en-US" dirty="0"/>
                        <a:t>5</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0100000000000100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8609179"/>
                  </a:ext>
                </a:extLst>
              </a:tr>
              <a:tr h="150495">
                <a:tc>
                  <a:txBody>
                    <a:bodyPr/>
                    <a:lstStyle/>
                    <a:p>
                      <a:pPr algn="r"/>
                      <a:r>
                        <a:rPr lang="en-US" dirty="0"/>
                        <a:t>6</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1110001100001000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7369711"/>
                  </a:ext>
                </a:extLst>
              </a:tr>
              <a:tr h="150495">
                <a:tc>
                  <a:txBody>
                    <a:bodyPr/>
                    <a:lstStyle/>
                    <a:p>
                      <a:pPr algn="r"/>
                      <a:r>
                        <a:rPr lang="en-US" dirty="0"/>
                        <a:t>7</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0000000000001011</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288128"/>
                  </a:ext>
                </a:extLst>
              </a:tr>
              <a:tr h="150495">
                <a:tc>
                  <a:txBody>
                    <a:bodyPr/>
                    <a:lstStyle/>
                    <a:p>
                      <a:pPr algn="r"/>
                      <a:r>
                        <a:rPr lang="en-US" dirty="0"/>
                        <a:t>8</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1110000000000111</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0214372"/>
                  </a:ext>
                </a:extLst>
              </a:tr>
              <a:tr h="150495">
                <a:tc>
                  <a:txBody>
                    <a:bodyPr/>
                    <a:lstStyle/>
                    <a:p>
                      <a:pPr algn="r"/>
                      <a:r>
                        <a:rPr lang="en-US" dirty="0"/>
                        <a:t>9</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1110101010000000</a:t>
                      </a:r>
                      <a:endParaRPr lang="en-US" dirty="0">
                        <a:latin typeface="Courier" charset="0"/>
                        <a:ea typeface="Courier" charset="0"/>
                        <a:cs typeface="Courier" charset="0"/>
                      </a:endParaRP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3525156"/>
                  </a:ext>
                </a:extLst>
              </a:tr>
              <a:tr h="150495">
                <a:tc>
                  <a:txBody>
                    <a:bodyPr/>
                    <a:lstStyle/>
                    <a:p>
                      <a:pPr algn="r"/>
                      <a:r>
                        <a:rPr lang="en-US" dirty="0"/>
                        <a:t>10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1110111010010000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2741822"/>
                  </a:ext>
                </a:extLst>
              </a:tr>
              <a:tr h="150495">
                <a:tc>
                  <a:txBody>
                    <a:bodyPr/>
                    <a:lstStyle/>
                    <a:p>
                      <a:pPr algn="r"/>
                      <a:r>
                        <a:rPr lang="en-US" dirty="0"/>
                        <a:t>11</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0100000000000000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9582523"/>
                  </a:ext>
                </a:extLst>
              </a:tr>
              <a:tr h="150495">
                <a:tc>
                  <a:txBody>
                    <a:bodyPr/>
                    <a:lstStyle/>
                    <a:p>
                      <a:pPr algn="r"/>
                      <a:r>
                        <a:rPr lang="en-US" dirty="0"/>
                        <a:t>12</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1110001100001000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3199469"/>
                  </a:ext>
                </a:extLst>
              </a:tr>
              <a:tr h="150495">
                <a:tc>
                  <a:txBody>
                    <a:bodyPr/>
                    <a:lstStyle/>
                    <a:p>
                      <a:pPr algn="r"/>
                      <a:r>
                        <a:rPr lang="en-US" dirty="0"/>
                        <a:t>13</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0100000000000010</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3830222"/>
                  </a:ext>
                </a:extLst>
              </a:tr>
              <a:tr h="150495">
                <a:tc>
                  <a:txBody>
                    <a:bodyPr/>
                    <a:lstStyle/>
                    <a:p>
                      <a:pPr algn="r"/>
                      <a:r>
                        <a:rPr lang="en-US" dirty="0"/>
                        <a:t>…</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latin typeface="Courier" charset="0"/>
                          <a:ea typeface="Courier" charset="0"/>
                          <a:cs typeface="Courier" charset="0"/>
                        </a:rPr>
                        <a:t>…</a:t>
                      </a:r>
                    </a:p>
                  </a:txBody>
                  <a:tcPr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0838359"/>
                  </a:ext>
                </a:extLst>
              </a:tr>
            </a:tbl>
          </a:graphicData>
        </a:graphic>
      </p:graphicFrame>
      <p:sp>
        <p:nvSpPr>
          <p:cNvPr id="4" name="Text Placeholder 3">
            <a:extLst>
              <a:ext uri="{FF2B5EF4-FFF2-40B4-BE49-F238E27FC236}">
                <a16:creationId xmlns:a16="http://schemas.microsoft.com/office/drawing/2014/main" id="{85B61B64-3439-3410-7940-583BD08D8733}"/>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A11C0D0B-680D-BC5C-4879-EA2C766DDF4A}"/>
              </a:ext>
            </a:extLst>
          </p:cNvPr>
          <p:cNvSpPr>
            <a:spLocks noGrp="1"/>
          </p:cNvSpPr>
          <p:nvPr>
            <p:ph type="sldNum" sz="quarter" idx="4"/>
          </p:nvPr>
        </p:nvSpPr>
        <p:spPr/>
        <p:txBody>
          <a:bodyPr/>
          <a:lstStyle/>
          <a:p>
            <a:fld id="{7FFE5E5C-C80A-4D8D-A711-3102A7BA9258}" type="slidenum">
              <a:rPr lang="pt-BR" smtClean="0"/>
              <a:pPr/>
              <a:t>11</a:t>
            </a:fld>
            <a:endParaRPr lang="pt-BR" dirty="0"/>
          </a:p>
        </p:txBody>
      </p:sp>
      <p:sp>
        <p:nvSpPr>
          <p:cNvPr id="8" name="Down Arrow 7">
            <a:extLst>
              <a:ext uri="{FF2B5EF4-FFF2-40B4-BE49-F238E27FC236}">
                <a16:creationId xmlns:a16="http://schemas.microsoft.com/office/drawing/2014/main" id="{E8980BB0-DC95-CE85-D1F6-7FF738CEE02E}"/>
              </a:ext>
            </a:extLst>
          </p:cNvPr>
          <p:cNvSpPr/>
          <p:nvPr/>
        </p:nvSpPr>
        <p:spPr>
          <a:xfrm>
            <a:off x="5448300" y="1843774"/>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FD8FF37D-EFA2-3A92-E3F4-EED095500E18}"/>
              </a:ext>
            </a:extLst>
          </p:cNvPr>
          <p:cNvSpPr/>
          <p:nvPr/>
        </p:nvSpPr>
        <p:spPr>
          <a:xfrm>
            <a:off x="5448300" y="2116249"/>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59EFA97-B1F0-F6DA-F8B1-9A123A7E66C9}"/>
              </a:ext>
            </a:extLst>
          </p:cNvPr>
          <p:cNvSpPr/>
          <p:nvPr/>
        </p:nvSpPr>
        <p:spPr>
          <a:xfrm>
            <a:off x="5448300" y="2384986"/>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198A989D-474A-327B-40FB-2B558F8BB5A2}"/>
              </a:ext>
            </a:extLst>
          </p:cNvPr>
          <p:cNvSpPr/>
          <p:nvPr/>
        </p:nvSpPr>
        <p:spPr>
          <a:xfrm>
            <a:off x="5448300" y="2657461"/>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6C637DEC-D7E5-10CD-B80F-C402D6112037}"/>
              </a:ext>
            </a:extLst>
          </p:cNvPr>
          <p:cNvSpPr/>
          <p:nvPr/>
        </p:nvSpPr>
        <p:spPr>
          <a:xfrm>
            <a:off x="5448300" y="2932193"/>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A411598-4ED9-1725-C27A-94F8E0150AB1}"/>
              </a:ext>
            </a:extLst>
          </p:cNvPr>
          <p:cNvSpPr/>
          <p:nvPr/>
        </p:nvSpPr>
        <p:spPr>
          <a:xfrm>
            <a:off x="5448300" y="3204668"/>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13E802CE-D051-5495-1BC9-441AD327D3EF}"/>
              </a:ext>
            </a:extLst>
          </p:cNvPr>
          <p:cNvSpPr/>
          <p:nvPr/>
        </p:nvSpPr>
        <p:spPr>
          <a:xfrm>
            <a:off x="5448300" y="3473405"/>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E0624B35-243E-DB91-2408-C3F742E764A8}"/>
              </a:ext>
            </a:extLst>
          </p:cNvPr>
          <p:cNvSpPr/>
          <p:nvPr/>
        </p:nvSpPr>
        <p:spPr>
          <a:xfrm>
            <a:off x="5448300" y="3745880"/>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DEF73922-4A45-A095-8C69-3B4B14045F19}"/>
              </a:ext>
            </a:extLst>
          </p:cNvPr>
          <p:cNvSpPr/>
          <p:nvPr/>
        </p:nvSpPr>
        <p:spPr>
          <a:xfrm>
            <a:off x="5448300" y="4018355"/>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Turn Arrow 17">
            <a:extLst>
              <a:ext uri="{FF2B5EF4-FFF2-40B4-BE49-F238E27FC236}">
                <a16:creationId xmlns:a16="http://schemas.microsoft.com/office/drawing/2014/main" id="{674BA3B4-35CA-9028-053D-9FCDBD1795C9}"/>
              </a:ext>
            </a:extLst>
          </p:cNvPr>
          <p:cNvSpPr/>
          <p:nvPr/>
        </p:nvSpPr>
        <p:spPr>
          <a:xfrm rot="16200000" flipH="1">
            <a:off x="4902207" y="4463781"/>
            <a:ext cx="811682" cy="458304"/>
          </a:xfrm>
          <a:prstGeom prst="uturnArrow">
            <a:avLst>
              <a:gd name="adj1" fmla="val 16781"/>
              <a:gd name="adj2" fmla="val 25000"/>
              <a:gd name="adj3" fmla="val 25000"/>
              <a:gd name="adj4" fmla="val 34161"/>
              <a:gd name="adj5" fmla="val 1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Down Arrow 18">
            <a:extLst>
              <a:ext uri="{FF2B5EF4-FFF2-40B4-BE49-F238E27FC236}">
                <a16:creationId xmlns:a16="http://schemas.microsoft.com/office/drawing/2014/main" id="{C8846105-BFA1-B187-1B3B-876BB046EA3F}"/>
              </a:ext>
            </a:extLst>
          </p:cNvPr>
          <p:cNvSpPr/>
          <p:nvPr/>
        </p:nvSpPr>
        <p:spPr>
          <a:xfrm>
            <a:off x="5433667" y="5137533"/>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B294B3C4-F9B5-3CD9-E506-F381F98B68CD}"/>
              </a:ext>
            </a:extLst>
          </p:cNvPr>
          <p:cNvSpPr/>
          <p:nvPr/>
        </p:nvSpPr>
        <p:spPr>
          <a:xfrm>
            <a:off x="5433667" y="5406270"/>
            <a:ext cx="177800" cy="2687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45ACFB6-A74C-58F0-B415-1D2E393D9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882" y="2519354"/>
            <a:ext cx="4490566" cy="24924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64FEA0-B235-5406-A204-FE6B9B7CDA35}"/>
              </a:ext>
            </a:extLst>
          </p:cNvPr>
          <p:cNvSpPr txBox="1"/>
          <p:nvPr/>
        </p:nvSpPr>
        <p:spPr>
          <a:xfrm>
            <a:off x="3506206" y="6548635"/>
            <a:ext cx="4572000" cy="276999"/>
          </a:xfrm>
          <a:prstGeom prst="rect">
            <a:avLst/>
          </a:prstGeom>
          <a:noFill/>
        </p:spPr>
        <p:txBody>
          <a:bodyPr wrap="square">
            <a:spAutoFit/>
          </a:bodyPr>
          <a:lstStyle/>
          <a:p>
            <a:pPr algn="r"/>
            <a:r>
              <a:rPr lang="pt-BR" sz="1200" noProof="0" dirty="0"/>
              <a:t>Instruções Z0 (16 bits)</a:t>
            </a:r>
          </a:p>
        </p:txBody>
      </p:sp>
    </p:spTree>
    <p:extLst>
      <p:ext uri="{BB962C8B-B14F-4D97-AF65-F5344CB8AC3E}">
        <p14:creationId xmlns:p14="http://schemas.microsoft.com/office/powerpoint/2010/main" val="164120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CA5C-AA3A-5762-8378-1BD3591EF482}"/>
              </a:ext>
            </a:extLst>
          </p:cNvPr>
          <p:cNvSpPr>
            <a:spLocks noGrp="1"/>
          </p:cNvSpPr>
          <p:nvPr>
            <p:ph type="title"/>
          </p:nvPr>
        </p:nvSpPr>
        <p:spPr/>
        <p:txBody>
          <a:bodyPr/>
          <a:lstStyle/>
          <a:p>
            <a:r>
              <a:rPr lang="pt-BR" noProof="1"/>
              <a:t>Operações de Salto</a:t>
            </a:r>
          </a:p>
        </p:txBody>
      </p:sp>
      <p:sp>
        <p:nvSpPr>
          <p:cNvPr id="3" name="Content Placeholder 2">
            <a:extLst>
              <a:ext uri="{FF2B5EF4-FFF2-40B4-BE49-F238E27FC236}">
                <a16:creationId xmlns:a16="http://schemas.microsoft.com/office/drawing/2014/main" id="{CA17E147-7DED-1A0E-D166-C6E0A6965F8E}"/>
              </a:ext>
            </a:extLst>
          </p:cNvPr>
          <p:cNvSpPr>
            <a:spLocks noGrp="1"/>
          </p:cNvSpPr>
          <p:nvPr>
            <p:ph idx="1"/>
          </p:nvPr>
        </p:nvSpPr>
        <p:spPr/>
        <p:txBody>
          <a:bodyPr>
            <a:normAutofit/>
          </a:bodyPr>
          <a:lstStyle/>
          <a:p>
            <a:r>
              <a:rPr lang="pt-BR" sz="2800" noProof="1"/>
              <a:t>Salto incondicional</a:t>
            </a:r>
            <a:endParaRPr lang="pt-BR" sz="2800" i="1" noProof="1"/>
          </a:p>
          <a:p>
            <a:pPr marL="285750" indent="-285750">
              <a:buFont typeface="Arial" panose="020B0604020202020204" pitchFamily="34" charset="0"/>
              <a:buChar char="•"/>
            </a:pPr>
            <a:r>
              <a:rPr lang="pt-BR" sz="2000" b="1" i="1" noProof="1"/>
              <a:t>jmp</a:t>
            </a:r>
            <a:endParaRPr lang="pt-BR" sz="2000" noProof="1"/>
          </a:p>
          <a:p>
            <a:endParaRPr lang="pt-BR" sz="2000" noProof="1"/>
          </a:p>
          <a:p>
            <a:r>
              <a:rPr lang="pt-BR" sz="2800" noProof="1"/>
              <a:t>Salto condicional</a:t>
            </a:r>
          </a:p>
          <a:p>
            <a:pPr marL="285750" indent="-285750">
              <a:buFont typeface="Arial" panose="020B0604020202020204" pitchFamily="34" charset="0"/>
              <a:buChar char="•"/>
            </a:pPr>
            <a:r>
              <a:rPr lang="pt-BR" sz="2000" b="1" i="1" noProof="1"/>
              <a:t>je %D</a:t>
            </a:r>
            <a:r>
              <a:rPr lang="pt-BR" sz="2000" noProof="1"/>
              <a:t>: Salta se valor de </a:t>
            </a:r>
            <a:r>
              <a:rPr lang="pt-BR" sz="2000" b="1" i="1" noProof="1"/>
              <a:t>%D </a:t>
            </a:r>
            <a:r>
              <a:rPr lang="pt-BR" sz="2000" noProof="1"/>
              <a:t>é igual a </a:t>
            </a:r>
            <a:r>
              <a:rPr lang="pt-BR" sz="2000" b="1" i="1" noProof="1"/>
              <a:t>0</a:t>
            </a:r>
            <a:endParaRPr lang="pt-BR" sz="2000" noProof="1"/>
          </a:p>
          <a:p>
            <a:pPr marL="285750" indent="-285750">
              <a:buFont typeface="Arial" panose="020B0604020202020204" pitchFamily="34" charset="0"/>
              <a:buChar char="•"/>
            </a:pPr>
            <a:r>
              <a:rPr lang="pt-BR" sz="2000" b="1" i="1" noProof="1"/>
              <a:t>jne %D</a:t>
            </a:r>
            <a:r>
              <a:rPr lang="pt-BR" sz="2000" noProof="1"/>
              <a:t>: Salta se valor de </a:t>
            </a:r>
            <a:r>
              <a:rPr lang="pt-BR" sz="2000" b="1" i="1" noProof="1"/>
              <a:t>%D</a:t>
            </a:r>
            <a:r>
              <a:rPr lang="pt-BR" sz="2000" noProof="1"/>
              <a:t> for diferente de </a:t>
            </a:r>
            <a:r>
              <a:rPr lang="pt-BR" sz="2000" b="1" i="1" noProof="1"/>
              <a:t>0</a:t>
            </a:r>
            <a:endParaRPr lang="pt-BR" sz="2000" noProof="1"/>
          </a:p>
          <a:p>
            <a:pPr marL="285750" indent="-285750">
              <a:buFont typeface="Arial" panose="020B0604020202020204" pitchFamily="34" charset="0"/>
              <a:buChar char="•"/>
            </a:pPr>
            <a:r>
              <a:rPr lang="pt-BR" sz="2000" b="1" i="1" noProof="1"/>
              <a:t>jg %D</a:t>
            </a:r>
            <a:r>
              <a:rPr lang="pt-BR" sz="2000" noProof="1"/>
              <a:t>: Salta se valor de </a:t>
            </a:r>
            <a:r>
              <a:rPr lang="pt-BR" sz="2000" b="1" i="1" noProof="1"/>
              <a:t>%D</a:t>
            </a:r>
            <a:r>
              <a:rPr lang="pt-BR" sz="2000" noProof="1"/>
              <a:t> for maior que </a:t>
            </a:r>
            <a:r>
              <a:rPr lang="pt-BR" sz="2000" b="1" i="1" noProof="1"/>
              <a:t>0</a:t>
            </a:r>
            <a:endParaRPr lang="pt-BR" sz="2000" noProof="1"/>
          </a:p>
          <a:p>
            <a:pPr marL="285750" indent="-285750">
              <a:buFont typeface="Arial" panose="020B0604020202020204" pitchFamily="34" charset="0"/>
              <a:buChar char="•"/>
            </a:pPr>
            <a:r>
              <a:rPr lang="pt-BR" sz="2000" b="1" i="1" noProof="1"/>
              <a:t>jl %D</a:t>
            </a:r>
            <a:r>
              <a:rPr lang="pt-BR" sz="2000" noProof="1"/>
              <a:t>: Salta se valor de </a:t>
            </a:r>
            <a:r>
              <a:rPr lang="pt-BR" sz="2000" b="1" i="1" noProof="1"/>
              <a:t>%D</a:t>
            </a:r>
            <a:r>
              <a:rPr lang="pt-BR" sz="2000" noProof="1"/>
              <a:t> for menor que </a:t>
            </a:r>
            <a:r>
              <a:rPr lang="pt-BR" sz="2000" b="1" i="1" noProof="1"/>
              <a:t>0</a:t>
            </a:r>
            <a:endParaRPr lang="pt-BR" sz="2000" noProof="1"/>
          </a:p>
          <a:p>
            <a:pPr marL="285750" indent="-285750">
              <a:buFont typeface="Arial" panose="020B0604020202020204" pitchFamily="34" charset="0"/>
              <a:buChar char="•"/>
            </a:pPr>
            <a:r>
              <a:rPr lang="pt-BR" sz="2000" b="1" i="1" noProof="1"/>
              <a:t>jge %D</a:t>
            </a:r>
            <a:r>
              <a:rPr lang="pt-BR" sz="2000" noProof="1"/>
              <a:t>: Salta se valor de </a:t>
            </a:r>
            <a:r>
              <a:rPr lang="pt-BR" sz="2000" b="1" i="1" noProof="1"/>
              <a:t>%D</a:t>
            </a:r>
            <a:r>
              <a:rPr lang="pt-BR" sz="2000" noProof="1"/>
              <a:t> for maior ou igual a </a:t>
            </a:r>
            <a:r>
              <a:rPr lang="pt-BR" sz="2000" b="1" i="1" noProof="1"/>
              <a:t>0</a:t>
            </a:r>
            <a:endParaRPr lang="pt-BR" sz="2000" noProof="1"/>
          </a:p>
          <a:p>
            <a:pPr marL="285750" indent="-285750">
              <a:buFont typeface="Arial" panose="020B0604020202020204" pitchFamily="34" charset="0"/>
              <a:buChar char="•"/>
            </a:pPr>
            <a:r>
              <a:rPr lang="pt-BR" sz="2000" b="1" i="1" noProof="1"/>
              <a:t>jle %D</a:t>
            </a:r>
            <a:r>
              <a:rPr lang="pt-BR" sz="2000" noProof="1"/>
              <a:t>: Salta se valor de </a:t>
            </a:r>
            <a:r>
              <a:rPr lang="pt-BR" sz="2000" b="1" i="1" noProof="1"/>
              <a:t>%D</a:t>
            </a:r>
            <a:r>
              <a:rPr lang="pt-BR" sz="2000" noProof="1"/>
              <a:t> for menor ou igual a </a:t>
            </a:r>
            <a:r>
              <a:rPr lang="pt-BR" sz="2000" b="1" i="1" noProof="1"/>
              <a:t>0</a:t>
            </a:r>
            <a:endParaRPr lang="pt-BR" sz="2000" noProof="1"/>
          </a:p>
          <a:p>
            <a:endParaRPr lang="pt-BR" sz="2000" noProof="1"/>
          </a:p>
        </p:txBody>
      </p:sp>
      <p:sp>
        <p:nvSpPr>
          <p:cNvPr id="4" name="Text Placeholder 3">
            <a:extLst>
              <a:ext uri="{FF2B5EF4-FFF2-40B4-BE49-F238E27FC236}">
                <a16:creationId xmlns:a16="http://schemas.microsoft.com/office/drawing/2014/main" id="{92E485EA-EACE-CCD8-63FF-95600EC7F685}"/>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EA4F4031-9064-F537-7A6F-8785FA1ED4BD}"/>
              </a:ext>
            </a:extLst>
          </p:cNvPr>
          <p:cNvSpPr>
            <a:spLocks noGrp="1"/>
          </p:cNvSpPr>
          <p:nvPr>
            <p:ph type="sldNum" sz="quarter" idx="4"/>
          </p:nvPr>
        </p:nvSpPr>
        <p:spPr/>
        <p:txBody>
          <a:bodyPr/>
          <a:lstStyle/>
          <a:p>
            <a:fld id="{7FFE5E5C-C80A-4D8D-A711-3102A7BA9258}" type="slidenum">
              <a:rPr lang="pt-BR" smtClean="0"/>
              <a:pPr/>
              <a:t>12</a:t>
            </a:fld>
            <a:endParaRPr lang="pt-BR" dirty="0"/>
          </a:p>
        </p:txBody>
      </p:sp>
    </p:spTree>
    <p:extLst>
      <p:ext uri="{BB962C8B-B14F-4D97-AF65-F5344CB8AC3E}">
        <p14:creationId xmlns:p14="http://schemas.microsoft.com/office/powerpoint/2010/main" val="2724337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11CE-5537-003B-7A53-1D87941C75FC}"/>
              </a:ext>
            </a:extLst>
          </p:cNvPr>
          <p:cNvSpPr>
            <a:spLocks noGrp="1"/>
          </p:cNvSpPr>
          <p:nvPr>
            <p:ph type="title"/>
          </p:nvPr>
        </p:nvSpPr>
        <p:spPr>
          <a:xfrm>
            <a:off x="457200" y="781050"/>
            <a:ext cx="8229600" cy="619125"/>
          </a:xfrm>
        </p:spPr>
        <p:txBody>
          <a:bodyPr>
            <a:normAutofit/>
          </a:bodyPr>
          <a:lstStyle/>
          <a:p>
            <a:r>
              <a:rPr lang="pt-BR" noProof="0" dirty="0"/>
              <a:t>Como funciona o Salto?</a:t>
            </a:r>
          </a:p>
        </p:txBody>
      </p:sp>
      <p:pic>
        <p:nvPicPr>
          <p:cNvPr id="8" name="Graphic 7">
            <a:extLst>
              <a:ext uri="{FF2B5EF4-FFF2-40B4-BE49-F238E27FC236}">
                <a16:creationId xmlns:a16="http://schemas.microsoft.com/office/drawing/2014/main" id="{CEAD69D1-23AB-91A5-B367-E4F9169CF1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4704" y="1321396"/>
            <a:ext cx="7193367" cy="5080778"/>
          </a:xfrm>
          <a:prstGeom prst="rect">
            <a:avLst/>
          </a:prstGeom>
        </p:spPr>
      </p:pic>
      <p:sp>
        <p:nvSpPr>
          <p:cNvPr id="13" name="Text Placeholder 3">
            <a:extLst>
              <a:ext uri="{FF2B5EF4-FFF2-40B4-BE49-F238E27FC236}">
                <a16:creationId xmlns:a16="http://schemas.microsoft.com/office/drawing/2014/main" id="{C9AFD495-446C-F117-9F1D-41743E996ED1}"/>
              </a:ext>
            </a:extLst>
          </p:cNvPr>
          <p:cNvSpPr>
            <a:spLocks noGrp="1"/>
          </p:cNvSpPr>
          <p:nvPr>
            <p:ph type="body" sz="quarter" idx="13"/>
          </p:nvPr>
        </p:nvSpPr>
        <p:spPr>
          <a:xfrm>
            <a:off x="161925" y="85725"/>
            <a:ext cx="7229475" cy="352425"/>
          </a:xfrm>
        </p:spPr>
        <p:txBody>
          <a:bodyPr/>
          <a:lstStyle/>
          <a:p>
            <a:endParaRPr lang="en-US"/>
          </a:p>
        </p:txBody>
      </p:sp>
      <p:sp>
        <p:nvSpPr>
          <p:cNvPr id="5" name="Slide Number Placeholder 4">
            <a:extLst>
              <a:ext uri="{FF2B5EF4-FFF2-40B4-BE49-F238E27FC236}">
                <a16:creationId xmlns:a16="http://schemas.microsoft.com/office/drawing/2014/main" id="{0FF94CCD-BA21-2152-D7FD-79DA4374DD3E}"/>
              </a:ext>
            </a:extLst>
          </p:cNvPr>
          <p:cNvSpPr>
            <a:spLocks noGrp="1"/>
          </p:cNvSpPr>
          <p:nvPr>
            <p:ph type="sldNum" sz="quarter" idx="4"/>
          </p:nvPr>
        </p:nvSpPr>
        <p:spPr>
          <a:xfrm>
            <a:off x="84172" y="6402174"/>
            <a:ext cx="641516" cy="365125"/>
          </a:xfrm>
        </p:spPr>
        <p:txBody>
          <a:bodyPr anchor="ctr">
            <a:normAutofit/>
          </a:bodyPr>
          <a:lstStyle/>
          <a:p>
            <a:pPr>
              <a:spcAft>
                <a:spcPts val="600"/>
              </a:spcAft>
            </a:pPr>
            <a:fld id="{7FFE5E5C-C80A-4D8D-A711-3102A7BA9258}" type="slidenum">
              <a:rPr lang="pt-BR" smtClean="0"/>
              <a:pPr>
                <a:spcAft>
                  <a:spcPts val="600"/>
                </a:spcAft>
              </a:pPr>
              <a:t>13</a:t>
            </a:fld>
            <a:endParaRPr lang="pt-BR"/>
          </a:p>
        </p:txBody>
      </p:sp>
    </p:spTree>
    <p:extLst>
      <p:ext uri="{BB962C8B-B14F-4D97-AF65-F5344CB8AC3E}">
        <p14:creationId xmlns:p14="http://schemas.microsoft.com/office/powerpoint/2010/main" val="916580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DFCFD-2A46-A1F9-C219-A2733E56A0EA}"/>
              </a:ext>
            </a:extLst>
          </p:cNvPr>
          <p:cNvSpPr>
            <a:spLocks noGrp="1"/>
          </p:cNvSpPr>
          <p:nvPr>
            <p:ph type="title"/>
          </p:nvPr>
        </p:nvSpPr>
        <p:spPr/>
        <p:txBody>
          <a:bodyPr/>
          <a:lstStyle/>
          <a:p>
            <a:r>
              <a:rPr lang="pt-BR" noProof="1"/>
              <a:t>Exemplo </a:t>
            </a:r>
          </a:p>
        </p:txBody>
      </p:sp>
      <p:sp>
        <p:nvSpPr>
          <p:cNvPr id="4" name="Text Placeholder 3">
            <a:extLst>
              <a:ext uri="{FF2B5EF4-FFF2-40B4-BE49-F238E27FC236}">
                <a16:creationId xmlns:a16="http://schemas.microsoft.com/office/drawing/2014/main" id="{87D25C45-5D49-8CA2-DBAF-466A8A28A962}"/>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10BE333A-9AB2-2C65-50A2-9F5C7C8224E9}"/>
              </a:ext>
            </a:extLst>
          </p:cNvPr>
          <p:cNvSpPr>
            <a:spLocks noGrp="1"/>
          </p:cNvSpPr>
          <p:nvPr>
            <p:ph type="sldNum" sz="quarter" idx="4"/>
          </p:nvPr>
        </p:nvSpPr>
        <p:spPr/>
        <p:txBody>
          <a:bodyPr/>
          <a:lstStyle/>
          <a:p>
            <a:fld id="{7FFE5E5C-C80A-4D8D-A711-3102A7BA9258}" type="slidenum">
              <a:rPr lang="pt-BR" smtClean="0"/>
              <a:pPr/>
              <a:t>14</a:t>
            </a:fld>
            <a:endParaRPr lang="pt-BR" dirty="0"/>
          </a:p>
        </p:txBody>
      </p:sp>
      <p:sp>
        <p:nvSpPr>
          <p:cNvPr id="7" name="TextBox 6">
            <a:extLst>
              <a:ext uri="{FF2B5EF4-FFF2-40B4-BE49-F238E27FC236}">
                <a16:creationId xmlns:a16="http://schemas.microsoft.com/office/drawing/2014/main" id="{22A320B7-4367-7085-E6B0-9FC3911D9241}"/>
              </a:ext>
            </a:extLst>
          </p:cNvPr>
          <p:cNvSpPr txBox="1"/>
          <p:nvPr/>
        </p:nvSpPr>
        <p:spPr>
          <a:xfrm>
            <a:off x="265782" y="1699832"/>
            <a:ext cx="2385391" cy="1077218"/>
          </a:xfrm>
          <a:prstGeom prst="rect">
            <a:avLst/>
          </a:prstGeom>
          <a:noFill/>
          <a:ln>
            <a:solidFill>
              <a:schemeClr val="tx1"/>
            </a:solidFill>
            <a:prstDash val="sysDash"/>
          </a:ln>
        </p:spPr>
        <p:txBody>
          <a:bodyPr wrap="square">
            <a:spAutoFit/>
          </a:bodyPr>
          <a:lstStyle/>
          <a:p>
            <a:pPr algn="l">
              <a:buNone/>
            </a:pPr>
            <a:r>
              <a:rPr lang="en-US" sz="1600" b="0" i="0" dirty="0">
                <a:solidFill>
                  <a:srgbClr val="006CE0"/>
                </a:solidFill>
                <a:effectLst/>
                <a:latin typeface="Fira Mono" panose="020B0509050000020004" pitchFamily="49" charset="0"/>
              </a:rPr>
              <a:t>if</a:t>
            </a:r>
            <a:r>
              <a:rPr lang="en-US" sz="1600" b="0" i="0" dirty="0">
                <a:solidFill>
                  <a:srgbClr val="0D0D07"/>
                </a:solidFill>
                <a:effectLst/>
                <a:latin typeface="Fira Mono" panose="020B0509050000020004" pitchFamily="49" charset="0"/>
              </a:rPr>
              <a:t> RAM</a:t>
            </a:r>
            <a:r>
              <a:rPr lang="en-US" sz="1600" b="0" i="0" dirty="0">
                <a:solidFill>
                  <a:srgbClr val="5F7386"/>
                </a:solidFill>
                <a:effectLst/>
                <a:latin typeface="Fira Mono" panose="020B0509050000020004" pitchFamily="49" charset="0"/>
              </a:rPr>
              <a:t>[</a:t>
            </a:r>
            <a:r>
              <a:rPr lang="en-US" sz="1600" b="0" i="0" dirty="0">
                <a:solidFill>
                  <a:srgbClr val="7C55C3"/>
                </a:solidFill>
                <a:effectLst/>
                <a:latin typeface="Fira Mono" panose="020B0509050000020004" pitchFamily="49" charset="0"/>
              </a:rPr>
              <a:t>1</a:t>
            </a:r>
            <a:r>
              <a:rPr lang="en-US" sz="1600" b="0" i="0" dirty="0">
                <a:solidFill>
                  <a:srgbClr val="5F7386"/>
                </a:solidFill>
                <a:effectLst/>
                <a:latin typeface="Fira Mono" panose="020B0509050000020004" pitchFamily="49" charset="0"/>
              </a:rPr>
              <a:t>]</a:t>
            </a:r>
            <a:r>
              <a:rPr lang="en-US" sz="1600" b="0" i="0" dirty="0">
                <a:solidFill>
                  <a:srgbClr val="0D0D07"/>
                </a:solidFill>
                <a:effectLst/>
                <a:latin typeface="Fira Mono" panose="020B0509050000020004" pitchFamily="49" charset="0"/>
              </a:rPr>
              <a:t> </a:t>
            </a:r>
            <a:r>
              <a:rPr lang="en-US" sz="1600" b="0" i="0" dirty="0">
                <a:solidFill>
                  <a:srgbClr val="F92472"/>
                </a:solidFill>
                <a:effectLst/>
                <a:latin typeface="Fira Mono" panose="020B0509050000020004" pitchFamily="49" charset="0"/>
              </a:rPr>
              <a:t>&gt;</a:t>
            </a:r>
            <a:r>
              <a:rPr lang="en-US" sz="1600" b="0" i="0" dirty="0">
                <a:solidFill>
                  <a:srgbClr val="0D0D07"/>
                </a:solidFill>
                <a:effectLst/>
                <a:latin typeface="Fira Mono" panose="020B0509050000020004" pitchFamily="49" charset="0"/>
              </a:rPr>
              <a:t> </a:t>
            </a:r>
            <a:r>
              <a:rPr lang="en-US" sz="1600" b="0" i="0" dirty="0">
                <a:solidFill>
                  <a:srgbClr val="7C55C3"/>
                </a:solidFill>
                <a:effectLst/>
                <a:latin typeface="Fira Mono" panose="020B0509050000020004" pitchFamily="49" charset="0"/>
              </a:rPr>
              <a:t>0</a:t>
            </a:r>
            <a:r>
              <a:rPr lang="en-US" sz="1600" b="0" i="0" dirty="0">
                <a:solidFill>
                  <a:srgbClr val="5F7386"/>
                </a:solidFill>
                <a:effectLst/>
                <a:latin typeface="Fira Mono" panose="020B0509050000020004" pitchFamily="49" charset="0"/>
              </a:rPr>
              <a:t>:</a:t>
            </a:r>
            <a:endParaRPr lang="en-US" sz="1600" b="0" i="0" dirty="0">
              <a:solidFill>
                <a:srgbClr val="0D0D07"/>
              </a:solidFill>
              <a:effectLst/>
              <a:latin typeface="Fira Mono" panose="020B0509050000020004" pitchFamily="49" charset="0"/>
            </a:endParaRPr>
          </a:p>
          <a:p>
            <a:pPr algn="l">
              <a:buNone/>
            </a:pPr>
            <a:r>
              <a:rPr lang="en-US" sz="1600" b="0" i="0" dirty="0">
                <a:solidFill>
                  <a:srgbClr val="0D0D07"/>
                </a:solidFill>
                <a:effectLst/>
                <a:latin typeface="Fira Mono" panose="020B0509050000020004" pitchFamily="49" charset="0"/>
              </a:rPr>
              <a:t>    RAM</a:t>
            </a:r>
            <a:r>
              <a:rPr lang="en-US" sz="1600" b="0" i="0" dirty="0">
                <a:solidFill>
                  <a:srgbClr val="5F7386"/>
                </a:solidFill>
                <a:effectLst/>
                <a:latin typeface="Fira Mono" panose="020B0509050000020004" pitchFamily="49" charset="0"/>
              </a:rPr>
              <a:t>[</a:t>
            </a:r>
            <a:r>
              <a:rPr lang="en-US" sz="1600" b="0" i="0" dirty="0">
                <a:solidFill>
                  <a:srgbClr val="7C55C3"/>
                </a:solidFill>
                <a:effectLst/>
                <a:latin typeface="Fira Mono" panose="020B0509050000020004" pitchFamily="49" charset="0"/>
              </a:rPr>
              <a:t>2</a:t>
            </a:r>
            <a:r>
              <a:rPr lang="en-US" sz="1600" b="0" i="0" dirty="0">
                <a:solidFill>
                  <a:srgbClr val="5F7386"/>
                </a:solidFill>
                <a:effectLst/>
                <a:latin typeface="Fira Mono" panose="020B0509050000020004" pitchFamily="49" charset="0"/>
              </a:rPr>
              <a:t>]</a:t>
            </a:r>
            <a:r>
              <a:rPr lang="en-US" sz="1600" b="0" i="0" dirty="0">
                <a:solidFill>
                  <a:srgbClr val="0D0D07"/>
                </a:solidFill>
                <a:effectLst/>
                <a:latin typeface="Fira Mono" panose="020B0509050000020004" pitchFamily="49" charset="0"/>
              </a:rPr>
              <a:t> </a:t>
            </a:r>
            <a:r>
              <a:rPr lang="en-US" sz="1600" b="0" i="0" dirty="0">
                <a:solidFill>
                  <a:srgbClr val="F92472"/>
                </a:solidFill>
                <a:effectLst/>
                <a:latin typeface="Fira Mono" panose="020B0509050000020004" pitchFamily="49" charset="0"/>
              </a:rPr>
              <a:t>=</a:t>
            </a:r>
            <a:r>
              <a:rPr lang="en-US" sz="1600" b="0" i="0" dirty="0">
                <a:solidFill>
                  <a:srgbClr val="0D0D07"/>
                </a:solidFill>
                <a:effectLst/>
                <a:latin typeface="Fira Mono" panose="020B0509050000020004" pitchFamily="49" charset="0"/>
              </a:rPr>
              <a:t> </a:t>
            </a:r>
            <a:r>
              <a:rPr lang="en-US" sz="1600" b="0" i="0" dirty="0">
                <a:solidFill>
                  <a:srgbClr val="7C55C3"/>
                </a:solidFill>
                <a:effectLst/>
                <a:latin typeface="Fira Mono" panose="020B0509050000020004" pitchFamily="49" charset="0"/>
              </a:rPr>
              <a:t>1</a:t>
            </a:r>
            <a:endParaRPr lang="en-US" sz="1600" b="0" i="0" dirty="0">
              <a:solidFill>
                <a:srgbClr val="0D0D07"/>
              </a:solidFill>
              <a:effectLst/>
              <a:latin typeface="Fira Mono" panose="020B0509050000020004" pitchFamily="49" charset="0"/>
            </a:endParaRPr>
          </a:p>
          <a:p>
            <a:pPr algn="l">
              <a:buNone/>
            </a:pPr>
            <a:r>
              <a:rPr lang="en-US" sz="1600" b="0" i="0" dirty="0">
                <a:solidFill>
                  <a:srgbClr val="006CE0"/>
                </a:solidFill>
                <a:effectLst/>
                <a:latin typeface="Fira Mono" panose="020B0509050000020004" pitchFamily="49" charset="0"/>
              </a:rPr>
              <a:t>else</a:t>
            </a:r>
            <a:r>
              <a:rPr lang="en-US" sz="1600" b="0" i="0" dirty="0">
                <a:solidFill>
                  <a:srgbClr val="5F7386"/>
                </a:solidFill>
                <a:effectLst/>
                <a:latin typeface="Fira Mono" panose="020B0509050000020004" pitchFamily="49" charset="0"/>
              </a:rPr>
              <a:t>:</a:t>
            </a:r>
            <a:endParaRPr lang="en-US" sz="1600" b="0" i="0" dirty="0">
              <a:solidFill>
                <a:srgbClr val="0D0D07"/>
              </a:solidFill>
              <a:effectLst/>
              <a:latin typeface="Fira Mono" panose="020B0509050000020004" pitchFamily="49" charset="0"/>
            </a:endParaRPr>
          </a:p>
          <a:p>
            <a:pPr algn="l">
              <a:buNone/>
            </a:pPr>
            <a:r>
              <a:rPr lang="en-US" sz="1600" b="0" i="0" dirty="0">
                <a:solidFill>
                  <a:srgbClr val="0D0D07"/>
                </a:solidFill>
                <a:effectLst/>
                <a:latin typeface="Fira Mono" panose="020B0509050000020004" pitchFamily="49" charset="0"/>
              </a:rPr>
              <a:t>    RAM</a:t>
            </a:r>
            <a:r>
              <a:rPr lang="en-US" sz="1600" b="0" i="0" dirty="0">
                <a:solidFill>
                  <a:srgbClr val="5F7386"/>
                </a:solidFill>
                <a:effectLst/>
                <a:latin typeface="Fira Mono" panose="020B0509050000020004" pitchFamily="49" charset="0"/>
              </a:rPr>
              <a:t>[</a:t>
            </a:r>
            <a:r>
              <a:rPr lang="en-US" sz="1600" b="0" i="0" dirty="0">
                <a:solidFill>
                  <a:srgbClr val="7C55C3"/>
                </a:solidFill>
                <a:effectLst/>
                <a:latin typeface="Fira Mono" panose="020B0509050000020004" pitchFamily="49" charset="0"/>
              </a:rPr>
              <a:t>2</a:t>
            </a:r>
            <a:r>
              <a:rPr lang="en-US" sz="1600" b="0" i="0" dirty="0">
                <a:solidFill>
                  <a:srgbClr val="5F7386"/>
                </a:solidFill>
                <a:effectLst/>
                <a:latin typeface="Fira Mono" panose="020B0509050000020004" pitchFamily="49" charset="0"/>
              </a:rPr>
              <a:t>]</a:t>
            </a:r>
            <a:r>
              <a:rPr lang="en-US" sz="1600" b="0" i="0" dirty="0">
                <a:solidFill>
                  <a:srgbClr val="0D0D07"/>
                </a:solidFill>
                <a:effectLst/>
                <a:latin typeface="Fira Mono" panose="020B0509050000020004" pitchFamily="49" charset="0"/>
              </a:rPr>
              <a:t> </a:t>
            </a:r>
            <a:r>
              <a:rPr lang="en-US" sz="1600" b="0" i="0" dirty="0">
                <a:solidFill>
                  <a:srgbClr val="F92472"/>
                </a:solidFill>
                <a:effectLst/>
                <a:latin typeface="Fira Mono" panose="020B0509050000020004" pitchFamily="49" charset="0"/>
              </a:rPr>
              <a:t>=</a:t>
            </a:r>
            <a:r>
              <a:rPr lang="en-US" sz="1600" b="0" i="0" dirty="0">
                <a:solidFill>
                  <a:srgbClr val="0D0D07"/>
                </a:solidFill>
                <a:effectLst/>
                <a:latin typeface="Fira Mono" panose="020B0509050000020004" pitchFamily="49" charset="0"/>
              </a:rPr>
              <a:t> </a:t>
            </a:r>
            <a:r>
              <a:rPr lang="en-US" sz="1600" b="0" i="0" dirty="0">
                <a:solidFill>
                  <a:srgbClr val="7C55C3"/>
                </a:solidFill>
                <a:effectLst/>
                <a:latin typeface="Fira Mono" panose="020B0509050000020004" pitchFamily="49" charset="0"/>
              </a:rPr>
              <a:t>2</a:t>
            </a:r>
            <a:endParaRPr lang="en-US" sz="1600" b="0" i="0" dirty="0">
              <a:solidFill>
                <a:srgbClr val="0D0D07"/>
              </a:solidFill>
              <a:effectLst/>
              <a:latin typeface="Courier New" panose="02070309020205020404" pitchFamily="49" charset="0"/>
            </a:endParaRPr>
          </a:p>
        </p:txBody>
      </p:sp>
      <p:sp>
        <p:nvSpPr>
          <p:cNvPr id="9" name="TextBox 8">
            <a:extLst>
              <a:ext uri="{FF2B5EF4-FFF2-40B4-BE49-F238E27FC236}">
                <a16:creationId xmlns:a16="http://schemas.microsoft.com/office/drawing/2014/main" id="{6B96DF92-3FB8-16A8-CFF3-E7080F7618B1}"/>
              </a:ext>
            </a:extLst>
          </p:cNvPr>
          <p:cNvSpPr txBox="1"/>
          <p:nvPr/>
        </p:nvSpPr>
        <p:spPr>
          <a:xfrm>
            <a:off x="2830078" y="1699832"/>
            <a:ext cx="6194653" cy="4185761"/>
          </a:xfrm>
          <a:prstGeom prst="rect">
            <a:avLst/>
          </a:prstGeom>
          <a:noFill/>
          <a:ln>
            <a:solidFill>
              <a:schemeClr val="tx1"/>
            </a:solidFill>
            <a:prstDash val="sysDash"/>
          </a:ln>
        </p:spPr>
        <p:txBody>
          <a:bodyPr wrap="square">
            <a:spAutoFit/>
          </a:bodyPr>
          <a:lstStyle/>
          <a:p>
            <a:pPr algn="l">
              <a:buNone/>
            </a:pPr>
            <a:r>
              <a:rPr lang="en-US" sz="1400" b="0" i="0" noProof="1">
                <a:solidFill>
                  <a:srgbClr val="009900"/>
                </a:solidFill>
                <a:effectLst/>
                <a:latin typeface="Fira Mono" panose="020B0509050000020004" pitchFamily="49" charset="0"/>
              </a:rPr>
              <a:t>leaw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7C55C3"/>
                </a:solidFill>
                <a:effectLst/>
                <a:latin typeface="Fira Mono" panose="020B0509050000020004" pitchFamily="49" charset="0"/>
              </a:rPr>
              <a:t>1</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faz %A apontar para RAM[1]</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movw</a:t>
            </a:r>
            <a:r>
              <a:rPr lang="en-US" sz="1400" b="0" i="0" noProof="1">
                <a:solidFill>
                  <a:srgbClr val="0D0D07"/>
                </a:solidFill>
                <a:effectLst/>
                <a:latin typeface="Fira Mono" panose="020B0509050000020004" pitchFamily="49" charset="0"/>
              </a:rPr>
              <a:t> </a:t>
            </a:r>
            <a:r>
              <a:rPr lang="en-US" sz="1400" b="0" i="0" noProof="1">
                <a:solidFill>
                  <a:srgbClr val="5F7386"/>
                </a:solidFill>
                <a:effectLst/>
                <a:latin typeface="Fira Mono" panose="020B0509050000020004" pitchFamily="49" charset="0"/>
              </a:rPr>
              <a:t>(</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D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carrega o valor de RAM[1] em %D</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leaw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ELSE</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precisamos carregar em %A o valor do salto</a:t>
            </a:r>
            <a:endParaRPr lang="en-US" sz="14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jle</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D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salta se valor em %D for menor ou igual a zero</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nop</a:t>
            </a: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if</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leaw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7C55C3"/>
                </a:solidFill>
                <a:effectLst/>
                <a:latin typeface="Fira Mono" panose="020B0509050000020004" pitchFamily="49" charset="0"/>
              </a:rPr>
              <a:t>2</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movw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7C55C3"/>
                </a:solidFill>
                <a:effectLst/>
                <a:latin typeface="Fira Mono" panose="020B0509050000020004" pitchFamily="49" charset="0"/>
              </a:rPr>
              <a:t>1</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5F7386"/>
                </a:solidFill>
                <a:effectLst/>
                <a:latin typeface="Fira Mono" panose="020B0509050000020004" pitchFamily="49" charset="0"/>
              </a:rPr>
              <a:t>(</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leaw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END</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agora não podemos executar o trecho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jmp</a:t>
            </a: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do else, vamos pular para o fim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nop</a:t>
            </a: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do código</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ELSE: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else</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leaw</a:t>
            </a:r>
            <a:r>
              <a:rPr lang="en-US" sz="1400" b="0" i="0" noProof="1">
                <a:solidFill>
                  <a:srgbClr val="0D0D07"/>
                </a:solidFill>
                <a:effectLst/>
                <a:latin typeface="Fira Mono" panose="020B0509050000020004" pitchFamily="49" charset="0"/>
              </a:rPr>
              <a:t> </a:t>
            </a:r>
            <a:r>
              <a:rPr lang="en-US" sz="1400" b="0" i="0" noProof="1">
                <a:solidFill>
                  <a:srgbClr val="006CE0"/>
                </a:solidFill>
                <a:effectLst/>
                <a:latin typeface="Fira Mono" panose="020B0509050000020004" pitchFamily="49" charset="0"/>
              </a:rPr>
              <a:t>$</a:t>
            </a:r>
            <a:r>
              <a:rPr lang="en-US" sz="1400" b="0" i="0" noProof="1">
                <a:solidFill>
                  <a:srgbClr val="7C55C3"/>
                </a:solidFill>
                <a:effectLst/>
                <a:latin typeface="Fira Mono" panose="020B0509050000020004" pitchFamily="49" charset="0"/>
              </a:rPr>
              <a:t>2</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09900"/>
                </a:solidFill>
                <a:effectLst/>
                <a:latin typeface="Fira Mono" panose="020B0509050000020004" pitchFamily="49" charset="0"/>
              </a:rPr>
              <a:t>movw</a:t>
            </a:r>
            <a:r>
              <a:rPr lang="en-US" sz="1400" b="0" i="0" noProof="1">
                <a:solidFill>
                  <a:srgbClr val="0D0D07"/>
                </a:solidFill>
                <a:effectLst/>
                <a:latin typeface="Fira Mono" panose="020B0509050000020004" pitchFamily="49" charset="0"/>
              </a:rPr>
              <a:t> </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400" b="0" i="0" noProof="1">
                <a:solidFill>
                  <a:srgbClr val="5F7386"/>
                </a:solidFill>
                <a:effectLst/>
                <a:latin typeface="Fira Mono" panose="020B0509050000020004" pitchFamily="49" charset="0"/>
              </a:rPr>
              <a:t>(</a:t>
            </a:r>
            <a:r>
              <a:rPr lang="en-US" sz="1400" b="0" i="0" noProof="1">
                <a:solidFill>
                  <a:srgbClr val="F92472"/>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A</a:t>
            </a:r>
            <a:r>
              <a:rPr lang="en-US" sz="1400" b="0" i="0" noProof="1">
                <a:solidFill>
                  <a:srgbClr val="5F7386"/>
                </a:solidFill>
                <a:effectLst/>
                <a:latin typeface="Fira Mono" panose="020B0509050000020004" pitchFamily="49" charset="0"/>
              </a:rPr>
              <a:t>)</a:t>
            </a: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 grava 2 no endereço 2 (reusando registrador)</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a:t>
            </a:r>
            <a:endParaRPr lang="en-US" sz="1200" b="0" i="0" noProof="1">
              <a:solidFill>
                <a:srgbClr val="0D0D07"/>
              </a:solidFill>
              <a:effectLst/>
              <a:latin typeface="Fira Mono" panose="020B0509050000020004" pitchFamily="49" charset="0"/>
            </a:endParaRPr>
          </a:p>
          <a:p>
            <a:pPr algn="l">
              <a:buNone/>
            </a:pPr>
            <a:r>
              <a:rPr lang="en-US" sz="1400" b="0" i="0" noProof="1">
                <a:solidFill>
                  <a:srgbClr val="0D0D07"/>
                </a:solidFill>
                <a:effectLst/>
                <a:latin typeface="Fira Mono" panose="020B0509050000020004" pitchFamily="49" charset="0"/>
              </a:rPr>
              <a:t>END:          </a:t>
            </a:r>
            <a:r>
              <a:rPr lang="en-US" sz="1200" b="0" i="0" noProof="1">
                <a:solidFill>
                  <a:srgbClr val="0D0D07"/>
                </a:solidFill>
                <a:effectLst/>
                <a:latin typeface="Fira Mono" panose="020B0509050000020004" pitchFamily="49" charset="0"/>
              </a:rPr>
              <a:t> </a:t>
            </a:r>
            <a:r>
              <a:rPr lang="en-US" sz="1200" b="0" i="0" noProof="1">
                <a:solidFill>
                  <a:srgbClr val="8B919C"/>
                </a:solidFill>
                <a:effectLst/>
                <a:latin typeface="Fira Mono" panose="020B0509050000020004" pitchFamily="49" charset="0"/>
              </a:rPr>
              <a:t>;</a:t>
            </a:r>
            <a:endParaRPr lang="en-US" sz="1200" b="0" i="0" noProof="1">
              <a:solidFill>
                <a:srgbClr val="0D0D07"/>
              </a:solidFill>
              <a:effectLst/>
              <a:latin typeface="Courier New" panose="02070309020205020404" pitchFamily="49" charset="0"/>
            </a:endParaRPr>
          </a:p>
        </p:txBody>
      </p:sp>
    </p:spTree>
    <p:extLst>
      <p:ext uri="{BB962C8B-B14F-4D97-AF65-F5344CB8AC3E}">
        <p14:creationId xmlns:p14="http://schemas.microsoft.com/office/powerpoint/2010/main" val="148469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PDP-1 (</a:t>
            </a:r>
            <a:r>
              <a:rPr lang="en-US" dirty="0"/>
              <a:t>Programmed Data Processor-1</a:t>
            </a:r>
            <a:r>
              <a:rPr lang="pt-BR" dirty="0"/>
              <a:t>) </a:t>
            </a:r>
          </a:p>
        </p:txBody>
      </p:sp>
      <p:sp>
        <p:nvSpPr>
          <p:cNvPr id="3" name="Content Placeholder 2"/>
          <p:cNvSpPr>
            <a:spLocks noGrp="1"/>
          </p:cNvSpPr>
          <p:nvPr>
            <p:ph idx="1"/>
          </p:nvPr>
        </p:nvSpPr>
        <p:spPr/>
        <p:txBody>
          <a:bodyPr>
            <a:normAutofit/>
          </a:bodyPr>
          <a:lstStyle/>
          <a:p>
            <a:r>
              <a:rPr lang="pt-BR" sz="2400" b="1" dirty="0"/>
              <a:t>Lançado em 1959</a:t>
            </a:r>
          </a:p>
          <a:p>
            <a:r>
              <a:rPr lang="pt-BR" sz="2400" b="1" dirty="0"/>
              <a:t>Focado na interação com o usuário</a:t>
            </a:r>
          </a:p>
          <a:p>
            <a:endParaRPr lang="pt-BR" sz="2400" dirty="0"/>
          </a:p>
          <a:p>
            <a:r>
              <a:rPr lang="pt-BR" sz="2400" dirty="0"/>
              <a:t>Características:</a:t>
            </a:r>
          </a:p>
          <a:p>
            <a:pPr marL="342900" indent="-342900">
              <a:buFont typeface="Arial" charset="0"/>
              <a:buChar char="•"/>
            </a:pPr>
            <a:r>
              <a:rPr lang="pt-BR" sz="2000" dirty="0"/>
              <a:t>palavra = 18 bits</a:t>
            </a:r>
          </a:p>
          <a:p>
            <a:pPr marL="342900" indent="-342900">
              <a:buFont typeface="Arial" charset="0"/>
              <a:buChar char="•"/>
            </a:pPr>
            <a:r>
              <a:rPr lang="pt-BR" sz="2000" dirty="0"/>
              <a:t>memória = 4096 palavras</a:t>
            </a:r>
          </a:p>
          <a:p>
            <a:pPr marL="342900" indent="-342900">
              <a:buFont typeface="Arial" charset="0"/>
              <a:buChar char="•"/>
            </a:pPr>
            <a:r>
              <a:rPr lang="pt-BR" sz="2000" dirty="0"/>
              <a:t>clock = ~200 kHz</a:t>
            </a:r>
          </a:p>
          <a:p>
            <a:pPr marL="342900" indent="-342900">
              <a:buFont typeface="Arial" charset="0"/>
              <a:buChar char="•"/>
            </a:pPr>
            <a:r>
              <a:rPr lang="pt-BR" sz="2000" dirty="0"/>
              <a:t>2700 transistores</a:t>
            </a:r>
          </a:p>
          <a:p>
            <a:pPr marL="342900" indent="-342900">
              <a:buFont typeface="Arial" charset="0"/>
              <a:buChar char="•"/>
            </a:pPr>
            <a:r>
              <a:rPr lang="pt-BR" sz="2000" dirty="0"/>
              <a:t>3000 diodos</a:t>
            </a:r>
          </a:p>
          <a:p>
            <a:pPr marL="342900" indent="-342900">
              <a:buFont typeface="Arial" charset="0"/>
              <a:buChar char="•"/>
            </a:pPr>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pic>
        <p:nvPicPr>
          <p:cNvPr id="6" name="Picture 5" descr="decpdp-1.jpg"/>
          <p:cNvPicPr>
            <a:picLocks noChangeAspect="1"/>
          </p:cNvPicPr>
          <p:nvPr/>
        </p:nvPicPr>
        <p:blipFill rotWithShape="1">
          <a:blip r:embed="rId3">
            <a:extLst>
              <a:ext uri="{28A0092B-C50C-407E-A947-70E740481C1C}">
                <a14:useLocalDpi xmlns:a14="http://schemas.microsoft.com/office/drawing/2010/main" val="0"/>
              </a:ext>
            </a:extLst>
          </a:blip>
          <a:srcRect l="10160"/>
          <a:stretch/>
        </p:blipFill>
        <p:spPr>
          <a:xfrm>
            <a:off x="4672012" y="2931494"/>
            <a:ext cx="4042502" cy="2249829"/>
          </a:xfrm>
          <a:prstGeom prst="rect">
            <a:avLst/>
          </a:prstGeom>
        </p:spPr>
      </p:pic>
    </p:spTree>
    <p:extLst>
      <p:ext uri="{BB962C8B-B14F-4D97-AF65-F5344CB8AC3E}">
        <p14:creationId xmlns:p14="http://schemas.microsoft.com/office/powerpoint/2010/main" val="1932398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IBM </a:t>
            </a:r>
            <a:r>
              <a:rPr lang="pt-BR" dirty="0" err="1"/>
              <a:t>S</a:t>
            </a:r>
            <a:r>
              <a:rPr lang="pt-BR" dirty="0"/>
              <a:t>/360</a:t>
            </a:r>
          </a:p>
        </p:txBody>
      </p:sp>
      <p:sp>
        <p:nvSpPr>
          <p:cNvPr id="3" name="Content Placeholder 2"/>
          <p:cNvSpPr>
            <a:spLocks noGrp="1"/>
          </p:cNvSpPr>
          <p:nvPr>
            <p:ph idx="1"/>
          </p:nvPr>
        </p:nvSpPr>
        <p:spPr>
          <a:xfrm>
            <a:off x="657225" y="1485900"/>
            <a:ext cx="8289216" cy="4724400"/>
          </a:xfrm>
        </p:spPr>
        <p:txBody>
          <a:bodyPr>
            <a:normAutofit/>
          </a:bodyPr>
          <a:lstStyle/>
          <a:p>
            <a:r>
              <a:rPr lang="pt-BR" sz="2400" dirty="0"/>
              <a:t>Lançado 1964 o mainframe System/360</a:t>
            </a:r>
          </a:p>
          <a:p>
            <a:r>
              <a:rPr lang="pt-BR" sz="2400" dirty="0"/>
              <a:t>Compatibilidade mantida com </a:t>
            </a:r>
            <a:r>
              <a:rPr lang="pt-BR" sz="2400" dirty="0" err="1"/>
              <a:t>z</a:t>
            </a:r>
            <a:r>
              <a:rPr lang="pt-BR" sz="2400" dirty="0"/>
              <a:t> Systems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pic>
        <p:nvPicPr>
          <p:cNvPr id="7" name="Picture 6" descr="102635888-03-0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725" y="3018662"/>
            <a:ext cx="4116792" cy="3087594"/>
          </a:xfrm>
          <a:prstGeom prst="rect">
            <a:avLst/>
          </a:prstGeom>
        </p:spPr>
      </p:pic>
      <p:pic>
        <p:nvPicPr>
          <p:cNvPr id="8" name="Picture 7" descr="B9315832051Z.1_20150113161844_000_GQP9LRFC2.1-0.jp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43676" y="2674823"/>
            <a:ext cx="2790265" cy="3720353"/>
          </a:xfrm>
          <a:prstGeom prst="rect">
            <a:avLst/>
          </a:prstGeom>
        </p:spPr>
      </p:pic>
      <p:sp>
        <p:nvSpPr>
          <p:cNvPr id="9" name="Rectangle 8"/>
          <p:cNvSpPr/>
          <p:nvPr/>
        </p:nvSpPr>
        <p:spPr>
          <a:xfrm>
            <a:off x="6361017" y="6078104"/>
            <a:ext cx="943099" cy="369332"/>
          </a:xfrm>
          <a:prstGeom prst="rect">
            <a:avLst/>
          </a:prstGeom>
        </p:spPr>
        <p:txBody>
          <a:bodyPr wrap="none">
            <a:spAutoFit/>
          </a:bodyPr>
          <a:lstStyle/>
          <a:p>
            <a:r>
              <a:rPr lang="pt-BR" dirty="0"/>
              <a:t>IBM z13</a:t>
            </a:r>
          </a:p>
        </p:txBody>
      </p:sp>
      <p:sp>
        <p:nvSpPr>
          <p:cNvPr id="10" name="Rectangle 9"/>
          <p:cNvSpPr/>
          <p:nvPr/>
        </p:nvSpPr>
        <p:spPr>
          <a:xfrm>
            <a:off x="2541950" y="6113466"/>
            <a:ext cx="730864" cy="369332"/>
          </a:xfrm>
          <a:prstGeom prst="rect">
            <a:avLst/>
          </a:prstGeom>
        </p:spPr>
        <p:txBody>
          <a:bodyPr wrap="none">
            <a:spAutoFit/>
          </a:bodyPr>
          <a:lstStyle/>
          <a:p>
            <a:r>
              <a:rPr lang="pt-BR" dirty="0" err="1"/>
              <a:t>S</a:t>
            </a:r>
            <a:r>
              <a:rPr lang="pt-BR" dirty="0"/>
              <a:t>/360</a:t>
            </a:r>
          </a:p>
        </p:txBody>
      </p:sp>
    </p:spTree>
    <p:extLst>
      <p:ext uri="{BB962C8B-B14F-4D97-AF65-F5344CB8AC3E}">
        <p14:creationId xmlns:p14="http://schemas.microsoft.com/office/powerpoint/2010/main" val="339731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Single-Cycle </a:t>
            </a:r>
            <a:r>
              <a:rPr lang="en-US" dirty="0" err="1"/>
              <a:t>Datapath</a:t>
            </a:r>
            <a:r>
              <a:rPr lang="en-US" dirty="0"/>
              <a:t> and Control</a:t>
            </a:r>
          </a:p>
        </p:txBody>
      </p:sp>
      <p:sp>
        <p:nvSpPr>
          <p:cNvPr id="3" name="Content Placeholder 2"/>
          <p:cNvSpPr>
            <a:spLocks noGrp="1"/>
          </p:cNvSpPr>
          <p:nvPr>
            <p:ph idx="1"/>
          </p:nvPr>
        </p:nvSpPr>
        <p:spPr/>
        <p:txBody>
          <a:bodyPr>
            <a:normAutofit/>
          </a:bodyPr>
          <a:lstStyle/>
          <a:p>
            <a:r>
              <a:rPr lang="pt-BR" sz="2400" dirty="0"/>
              <a:t>Ou simplesmente: </a:t>
            </a:r>
            <a:r>
              <a:rPr lang="en-US" sz="2400" dirty="0"/>
              <a:t>Single Clock Cycle</a:t>
            </a:r>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18</a:t>
            </a:fld>
            <a:endParaRPr lang="pt-BR" dirty="0"/>
          </a:p>
        </p:txBody>
      </p:sp>
      <p:pic>
        <p:nvPicPr>
          <p:cNvPr id="6" name="Picture 5"/>
          <p:cNvPicPr>
            <a:picLocks noChangeAspect="1"/>
          </p:cNvPicPr>
          <p:nvPr/>
        </p:nvPicPr>
        <p:blipFill>
          <a:blip r:embed="rId3"/>
          <a:stretch>
            <a:fillRect/>
          </a:stretch>
        </p:blipFill>
        <p:spPr>
          <a:xfrm>
            <a:off x="495300" y="2811798"/>
            <a:ext cx="8191500" cy="2882900"/>
          </a:xfrm>
          <a:prstGeom prst="rect">
            <a:avLst/>
          </a:prstGeom>
        </p:spPr>
      </p:pic>
    </p:spTree>
    <p:extLst>
      <p:ext uri="{BB962C8B-B14F-4D97-AF65-F5344CB8AC3E}">
        <p14:creationId xmlns:p14="http://schemas.microsoft.com/office/powerpoint/2010/main" val="1265965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09.771"/>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27789</TotalTime>
  <Words>2104</Words>
  <Application>Microsoft Macintosh PowerPoint</Application>
  <PresentationFormat>On-screen Show (4:3)</PresentationFormat>
  <Paragraphs>226</Paragraphs>
  <Slides>18</Slides>
  <Notes>11</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Courier</vt:lpstr>
      <vt:lpstr>Courier New</vt:lpstr>
      <vt:lpstr>Fira Mono</vt:lpstr>
      <vt:lpstr>Verdana</vt:lpstr>
      <vt:lpstr>Personalizar design</vt:lpstr>
      <vt:lpstr>PowerPoint Presentation</vt:lpstr>
      <vt:lpstr>Marcos iniciais dos microprocessadores</vt:lpstr>
      <vt:lpstr>Intel 4004, MOS 6502, Z80</vt:lpstr>
      <vt:lpstr>Little Endian vs Big Endian</vt:lpstr>
      <vt:lpstr>Caminho de Dados (Datapath)</vt:lpstr>
      <vt:lpstr>Tipos de registradores</vt:lpstr>
      <vt:lpstr>Etapas de execução de uma instrução</vt:lpstr>
      <vt:lpstr>NOP</vt:lpstr>
      <vt:lpstr>Como realizar tais operações na CPU</vt:lpstr>
      <vt:lpstr>JUMP</vt:lpstr>
      <vt:lpstr>Program Counter</vt:lpstr>
      <vt:lpstr>Operações de Salto</vt:lpstr>
      <vt:lpstr>Como funciona o Salto?</vt:lpstr>
      <vt:lpstr>Exemplo </vt:lpstr>
      <vt:lpstr>PowerPoint Presentation</vt:lpstr>
      <vt:lpstr>PDP-1 (Programmed Data Processor-1) </vt:lpstr>
      <vt:lpstr>IBM S/360</vt:lpstr>
      <vt:lpstr>Single-Cycle Datapath and Control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Pereira Soares</cp:lastModifiedBy>
  <cp:revision>690</cp:revision>
  <cp:lastPrinted>2015-05-25T01:17:28Z</cp:lastPrinted>
  <dcterms:created xsi:type="dcterms:W3CDTF">2014-04-17T20:05:08Z</dcterms:created>
  <dcterms:modified xsi:type="dcterms:W3CDTF">2026-10-09T01:59:04Z</dcterms:modified>
  <cp:category/>
</cp:coreProperties>
</file>